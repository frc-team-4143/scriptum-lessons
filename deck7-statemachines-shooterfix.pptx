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deck 7. Last time the flywheel learned to hold its speed. Today the shooter gets organized: we give it a state machine so it can never feed a game piece into a slow wheel, and we connect it to the controller with commands. The hands-on part is the State Machines and Commands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First the idea of a state machine with everyday examples, then the Java that writes one, then the shooter's own machine, then commands and buttons. By the end of the lesson, holding one button spins the shooter up and only feeds once it's at speed. Ask: what's something at home that has modes? (Microwave, washing machine, phone ringer.)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code: what a state machine is, and how to draw one. Everyday examples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traffic light is a state machine. It's always in exactly one state: red, green or yellow. Never two at once, never none. Each state has a job: stop, go, get ready to stop. The arrows are the transitions, and each has a reason: here, a timer running out. Notice what's missing: there's no arrow from red straight to yellow, so it can't happen. Ask: which state is the light in right now on this slide? (Red, the outlined box.) What would happen to drivers if red could jump to yellow?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words to learn. A state is a mode the mechanism can be in, and each state has one job: what the motors and outputs do while it's in that state. A transition is a move from one state to another, and it always has a reason, called its condition: a button, a sensor, a timer. Robots use finite state machines: a short, fixed list of states. Activity: have students name the states of a washing machine (fill, wash, rinse, spin, done) and the condition for each move.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docs' dimmer switch, and the old training's example. Four states, each setting a brightness number. The on button steps up: OFF to DIMMED to NORMAL to BRIGHT. The off button goes straight back to OFF from any of them. Notice the arrows decide everything: pressing on while BRIGHT does nothing, because there's no arrow out of BRIGHT for the on button. Ask: the light is in NORMAL. The driver presses on twice. Where does it end up? (BRIGHT: the second press has no arrow.)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example from Dozer's guide: an intake. IDLE to INTAKING when the driver asks. INTAKING to HOLDING only when the sensor sees a game piece. HOLDING to EJECTING when the driver wants it out. Letting go goes back to IDLE. Look at what's missing: no arrow from IDLE straight to HOLDING. That's on purpose: you can't be holding a piece you never pulled in. Activity: have pairs draw the machine for a door (CLOSED, OPENING, OPEN, CLOSING) on paper before showing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subsystems keep two states apart. The wanted state is what the driver or a command asks for. The real state, system_state_, is where the mechanism actually is. Every 20 ms the subsystem looks at what's wanted, checks its rules, and picks the real state it's allowed to be in. Then a switch makes the motors do that state's job. So a driver mashing buttons can't break anything: the rules decide. Ask: the driver wants SHOOT but the wheel is stopped. What's the real state? (SPIN_UP.)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pieces of Java. You met enum and switch on the drivetrain; today you write your own. The boolean operators are new.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enum is a list of every state a subsystem is allowed to be in. ShooterStates has three: IDLE, SPIN_UP and SHOOT. Nothing else exists, so you can't mistype one: Java catches SHOT before the robot runs. The enum lives in ShooterConstants. You write ShooterStates.SHOOT to name one. Compare: using numbers 0, 1, 2 for states works, but what does 2 mean six months from now?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switch is a menu: look at a value and run the matching case. Here it looks at the lamp's state. Each case does one job, then break says: done, leave the switch. default catches anything not listed. Putting case OFF and default together means: OFF, or anything unexpected, turns the lamp off. That's the safe answer. Ask: what brightness does the lamp get in DIM? (0.3.)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drivetrain in this lesson is already a state machine, and it's the pattern you copy. Two states: IDLE and ARCADE. Robot.java asks for IDLE when disabled and ARCADE when teleop starts. The drivetrain has no special rules, so MWLib's default handleStateTransition just copies the wanted state. updateLogic runs every 20 ms and the switch does each state's job. Read it first: the shooter's switch looks just like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 switch bug: forgetting break. Without it, Java doesn't stop at the end of a case: it falls through and runs the next case too. Here, SPIN_UP is supposed to keep the roller still, but with no break it runs on into SHOOT's code and starts feeding into a slow wheel. Exactly what the state machine was meant to stop. The fix is one word. Ask: in the lamp switch, why is it fine that case OFF has no break? (Nothing is in it: it falls into default on purpose.)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Transitions need yes-or-no questions. A boolean is true or false. A comparison like speed &gt;= 291 gives a boolean. Three operators combine them: &amp;&amp; means and (both must be true), || means or (either one), ! means not (flips it). The old training's intake used one: if we're intaking AND a game piece is detected, go to IDLE. Activity: read each line on the right aloud as an English sentence.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real thing. The shooter from Control Theory gets three states and four rules.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shooter needs this. Last lesson the driver held one button to spin up and another to feed. Nothing stopped them feeding into a wheel that wasn't up to speed, so the shot falls short. And the subsystem read the buttons itself, which gets messy as robots grow. Two mechanisms: the flywheel launches, the roller feeds game pieces into it. The state machine decides when each may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shooter's whole machine. IDLE: everything stopped. SPIN_UP: flywheel only, roller waits. SHOOT: flywheel and roller. Rules: wanting SHOOT moves IDLE to SPIN_UP. SPIN_UP moves to SHOOT once isAtSpeed() is true. A launch slows the wheel: if hasDipped(), SHOOT drops back to SPIN_UP. Letting go of the button wants IDLE, which goes straight to IDLE from anywhere. There's no IDLE to SHOOT arrow: that's the whole point. Activity: have three students stand as the states and one hold a token for the current state; call out events.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transition conditions are yes-or-no methods, already written for you. The target is 300 radians per second. isAtSpeed: true once the flywheel is within 3 percent, so at 291 or more. hasDipped: true when it falls more than 8 percent below, under 276. The gap between them stops the state flickering back and forth. Names like isAtSpeed read like English inside an if. Ask: the wheel is at 285. Which is true? (Neither: not at speed, not dipped. The state stays where it 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in the method MWLib calls every loop with the wanted state. First: if IDLE is wanted, go to IDLE, no matter what. That's the safe answer and it always wins. Otherwise the driver wants to shoot, so take one safe step from wherever we are: IDLE steps to SPIN_UP, SPIN_UP steps to SHOOT only if isAtSpeed(), SHOOT steps back to SPIN_UP if hasDipped(). The lesson's solution writes each case on three lines; it's squeezed here to fit. Ask: why is there no case that sets SHOOT from IDLE?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method: what the motors do in each state. Same shape as the drivetrain's switch. IDLE stops both. SPIN_UP runs the flywheel with runFlywheel(), the control code from last lesson, and keeps the roller still. SHOOT runs the flywheel and feeds with the roller at half power. Keep the two jobs separate: the rules pick the state, the switch acts on it. No motor code in the rules.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whole shot, as the flywheel speed graph. 1: the driver holds the button, IDLE steps to SPIN_UP and the wheel speeds up. 2: it crosses 291, isAtSpeed() is true, SHOOT: the roller feeds. 3: a game piece launches and drags the wheel under 276, hasDipped(), back to SPIN_UP; the roller stops. 4: back above 291, SHOOT again. 5: button let go, IDLE, the wheel coasts down. The band under the graph is the state. The lesson's checks time step 1 to 2 and count the SHOOTs.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it like a detective, one loop at a time. Cover the state column and have the class fill it in from the wanted state and the speed. Row 2 is the one people get wrong: the driver wants SHOOT, but from IDLE the rules only allow SPIN_UP. Row 5 shows the dip after a launch.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mistakes Dozer sees most. A state with no way out: you can get in but no rule leaves, so the mechanism is stuck. No default: an unexpected state leaves motors running. Motor code inside the rules: now two places decide what the motors do. Forgetting break: one case runs into the next. When a mechanism acts strangely, first ask: which state is it in? The logged State tells you. Ask: in our shooter, how do you get out of SHOOT? (hasDipped, or wanting IDLE.)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machines scale up. On the 2025 Reefscape robot, a game state manager ran the auto scoring sequence. It sat above the subsystems and told all of them what to do, one state at a time, starting from TELEOP_CONTROL and looping back when it finished. Every state had its own instructions. Ask: what would PRE_FIRE_WAIT be waiting for? (Probably everything to be lined up and at speed before firing. It's a SPIN_UP for the whole robot.)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shooter knows how to behave. Now: how does a button tell it what we want? With a command.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command is a small action the robot can take. Buttons start commands, and commands tell subsystems what they want. On our team the rule is: commands stay thin. They just set a wanted state. All the real behavior lives in the subsystem's state machine. That's why the shooter no longer reads buttons itself. Ask: if the shoot logic lived in the command, what would the autonomous code have to copy? (All of it. With a state machine, auto just asks for SHOOT too.)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every command runs like a little state machine, driven by WPILib's command scheduler every 20 ms. When it's scheduled, initialize runs once. Then execute runs every loop. After each execute the scheduler asks isFinished: if false, execute again; if true, end runs once. end also runs if the command is interrupted, for example when you let go of the button. Ask: which part runs over and over? (execute.)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build a command you hand it some code to run later. A lambda is a tiny method with no name: empty parentheses for no inputs, an arrow, then what to do. The key idea: writing a lambda does not run it. It's a note you hand over: when this command starts, do this. Compare the two lines on the right: the first changes the state right now; the second is a note for later. Activity: write a sticky note “when the bell rings, stand up”, hand it to a student, and ring the bell later.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WPILib can build simple commands from lambdas, no new class needed. Each fills in a different part of the life cycle, shown in red. runOnce runs its lambda in initialize and finishes straight away. run runs its lambda in execute, every loop, until interrupted. startEnd runs one lambda at the start and another at the end. This lesson uses runOnce and startEnd. Ask: which one would you use to ring a bell once? To keep a fan on while a button is held?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of the lesson. shoot() returns a command built with startEnd. 1: get the one shooter subsystem. 2: when the command starts, ask for SHOOT. 3: when it ends, ask for IDLE. That's all: no speeds, no rollers. The state machine does the rest. Because it's bound with whileTrue, it starts when you press and ends when you let go.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command fakes a game piece going through. In the simulation, simulateBallLaunch() pushes back on the flywheel, the way a real game piece drags it down. runOnce runs it one time and finishes straight away. It's an instant command: there's nothing to keep doing. You'll use it to test the dip rule: tap A while shooting and the shooter should fall back to SPIN_UP and recover.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step: connect buttons to the two commands, then watch the states change.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OI.java is the Operator Interface: everything the drivers do. The controller is now a CommandXboxController, an Xbox controller whose buttons can start commands. configureBindings runs once at startup. 1: the controller. 2: right bumper, whileTrue, shoot. 3: A, onTrue, the fake launch. Note the commands are built once here, at startup, not every loop.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bind, drawn over time. The top row is the button: up while held. whileTrue: the command runs exactly while the button is held and is interrupted when you let go, so its end runs. That's shoot. onTrue: the command starts once on each press. Our launch command finishes right away. toggleOnTrue: one press starts it, the next press stops it. Ask: which would suit a climber that should keep pulling after the driver lets go? (onTrue or toggleOnTrue.)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it all together. 1: the driver holds the right bumper. 2: whileTrue starts shoot(), whose start lambda sets wanted to SHOOT. 3: next loop the rules see IDLE and step to SPIN_UP; the flywheel runs. 4: once isAtSpeed(), SHOOT: the roller feeds. 5: the driver lets go, the command is interrupted, its end lambda sets wanted to IDLE, and the rules go straight to IDLE. Ask: which of these five steps touched a motor directly? (Only the subsystem's switch ever does.)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it in Scriptum. Start, enable Teleop. No gamepad? U is the right bumper and K is the A button. Hold U: in AdvantageScope, Shooter State goes SPIN_UP, then SHOOT. Keep holding and tap K: it falls back to SPIN_UP and returns to SHOOT, and ShotCount goes up to 2. On the real robot you do the same with an Xbox controller and AdvantageScope on the laptop.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hands-on part: the State Machines and Commands lesson in Scriptum's FRC Robot track. Part 1 is the state machine in ShooterSubsystem, part 2 the commands and bindings. Press Verify on each checkpoint: the first reads your OI code, the other two watch the shooter while you hold U and tap K. The README suggests about 3 hours. Bonuses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 subsystem on our robots is built this way: an enum of states, rules that pick the state, a switch that acts on it, and thin commands that say what's wanted. Next deck the robot learns to see AprilTags. The Java lessons in the middle are optional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5.png"/><Relationship Id="rId6" Type="http://schemas.openxmlformats.org/officeDocument/2006/relationships/image" Target="../media/image16.png"/><Relationship Id="rId7"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13.png"/><Relationship Id="rId7" Type="http://schemas.openxmlformats.org/officeDocument/2006/relationships/image" Target="../media/image17.png"/><Relationship Id="rId8"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7.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7</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State Machines and Commands</a:t>
            </a:r>
          </a:p>
        </p:txBody>
      </p:sp>
      <p:sp>
        <p:nvSpPr>
          <p:cNvPr id="6" name="TextBox 5"/>
          <p:cNvSpPr txBox="1"/>
          <p:nvPr/>
        </p:nvSpPr>
        <p:spPr>
          <a:xfrm>
            <a:off x="914400" y="4953000"/>
            <a:ext cx="104775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Give the shooter a state machine, then control it with commands bound to buttons.</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One state at a time. Even I can manage that!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states to buttons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toplights.png"/>
          <p:cNvPicPr>
            <a:picLocks noChangeAspect="1"/>
          </p:cNvPicPr>
          <p:nvPr/>
        </p:nvPicPr>
        <p:blipFill>
          <a:blip r:embed="rId3"/>
          <a:stretch>
            <a:fillRect/>
          </a:stretch>
        </p:blipFill>
        <p:spPr>
          <a:xfrm>
            <a:off x="1363980" y="3238500"/>
            <a:ext cx="548640" cy="6858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State machines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States, transitions and diagrams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de-slash.png"/>
          <p:cNvPicPr>
            <a:picLocks noChangeAspect="1"/>
          </p:cNvPicPr>
          <p:nvPr/>
        </p:nvPicPr>
        <p:blipFill>
          <a:blip r:embed="rId4"/>
          <a:stretch>
            <a:fillRect/>
          </a:stretch>
        </p:blipFill>
        <p:spPr>
          <a:xfrm>
            <a:off x="4614182" y="3238500"/>
            <a:ext cx="734786"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Java for states</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enum, switch and boolean logic</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iagram-2.png"/>
          <p:cNvPicPr>
            <a:picLocks noChangeAspect="1"/>
          </p:cNvPicPr>
          <p:nvPr/>
        </p:nvPicPr>
        <p:blipFill>
          <a:blip r:embed="rId5"/>
          <a:stretch>
            <a:fillRect/>
          </a:stretch>
        </p:blipFill>
        <p:spPr>
          <a:xfrm>
            <a:off x="8039100" y="3238500"/>
            <a:ext cx="57150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The shooter's machine</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IDLE, SPIN_UP and SHOOT</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end.png"/>
          <p:cNvPicPr>
            <a:picLocks noChangeAspect="1"/>
          </p:cNvPicPr>
          <p:nvPr/>
        </p:nvPicPr>
        <p:blipFill>
          <a:blip r:embed="rId6"/>
          <a:stretch>
            <a:fillRect/>
          </a:stretch>
        </p:blipFill>
        <p:spPr>
          <a:xfrm>
            <a:off x="11325225" y="3238500"/>
            <a:ext cx="685800" cy="685800"/>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Commands</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Small actions, built from lambdas</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ontroller.png"/>
          <p:cNvPicPr>
            <a:picLocks noChangeAspect="1"/>
          </p:cNvPicPr>
          <p:nvPr/>
        </p:nvPicPr>
        <p:blipFill>
          <a:blip r:embed="rId7"/>
          <a:stretch>
            <a:fillRect/>
          </a:stretch>
        </p:blipFill>
        <p:spPr>
          <a:xfrm>
            <a:off x="14630400" y="3294089"/>
            <a:ext cx="762000" cy="574623"/>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Buttons to commands</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whileTrue, onTrue, and trying it</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hold one button and the shooter spins up, then feeds only once it's at speed.</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State machines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Always in exactly one state, with clear rules for moving on</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 traffic light never shows red and green at once. Neither do 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traffic light is a state machine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6400" y="4000500"/>
            <a:ext cx="3619500" cy="1905000"/>
          </a:xfrm>
          <a:prstGeom prst="roundRect">
            <a:avLst>
              <a:gd name="adj" fmla="val 11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752600" y="4000500"/>
            <a:ext cx="3467100" cy="19050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
            </a:r>
          </a:p>
        </p:txBody>
      </p:sp>
      <p:sp>
        <p:nvSpPr>
          <p:cNvPr id="7" name="Rounded Rectangle 6"/>
          <p:cNvSpPr/>
          <p:nvPr/>
        </p:nvSpPr>
        <p:spPr>
          <a:xfrm>
            <a:off x="1828800" y="3829050"/>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828800" y="382905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9" name="Oval 8"/>
          <p:cNvSpPr/>
          <p:nvPr/>
        </p:nvSpPr>
        <p:spPr>
          <a:xfrm>
            <a:off x="2057400" y="4572000"/>
            <a:ext cx="762000" cy="762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0" y="4457700"/>
            <a:ext cx="20955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RED</a:t>
            </a:r>
          </a:p>
        </p:txBody>
      </p:sp>
      <p:sp>
        <p:nvSpPr>
          <p:cNvPr id="11" name="TextBox 10"/>
          <p:cNvSpPr txBox="1"/>
          <p:nvPr/>
        </p:nvSpPr>
        <p:spPr>
          <a:xfrm>
            <a:off x="3048000" y="4991100"/>
            <a:ext cx="2095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Cars stop</a:t>
            </a:r>
          </a:p>
        </p:txBody>
      </p:sp>
      <p:sp>
        <p:nvSpPr>
          <p:cNvPr id="12" name="Rounded Rectangle 11"/>
          <p:cNvSpPr/>
          <p:nvPr/>
        </p:nvSpPr>
        <p:spPr>
          <a:xfrm>
            <a:off x="7334250" y="4000500"/>
            <a:ext cx="3619500" cy="1905000"/>
          </a:xfrm>
          <a:prstGeom prst="roundRect">
            <a:avLst>
              <a:gd name="adj" fmla="val 11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10450" y="4000500"/>
            <a:ext cx="3467100" cy="19050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
            </a:r>
          </a:p>
        </p:txBody>
      </p:sp>
      <p:sp>
        <p:nvSpPr>
          <p:cNvPr id="14" name="Oval 13"/>
          <p:cNvSpPr/>
          <p:nvPr/>
        </p:nvSpPr>
        <p:spPr>
          <a:xfrm>
            <a:off x="7715250" y="4572000"/>
            <a:ext cx="762000" cy="7620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05850" y="4457700"/>
            <a:ext cx="20955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GREEN</a:t>
            </a:r>
          </a:p>
        </p:txBody>
      </p:sp>
      <p:sp>
        <p:nvSpPr>
          <p:cNvPr id="16" name="TextBox 15"/>
          <p:cNvSpPr txBox="1"/>
          <p:nvPr/>
        </p:nvSpPr>
        <p:spPr>
          <a:xfrm>
            <a:off x="8705850" y="4991100"/>
            <a:ext cx="2095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Cars go</a:t>
            </a:r>
          </a:p>
        </p:txBody>
      </p:sp>
      <p:sp>
        <p:nvSpPr>
          <p:cNvPr id="17" name="Rounded Rectangle 16"/>
          <p:cNvSpPr/>
          <p:nvPr/>
        </p:nvSpPr>
        <p:spPr>
          <a:xfrm>
            <a:off x="12992100" y="4000500"/>
            <a:ext cx="3619500" cy="1905000"/>
          </a:xfrm>
          <a:prstGeom prst="roundRect">
            <a:avLst>
              <a:gd name="adj" fmla="val 11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068300" y="4000500"/>
            <a:ext cx="3467100" cy="19050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
            </a:r>
          </a:p>
        </p:txBody>
      </p:sp>
      <p:sp>
        <p:nvSpPr>
          <p:cNvPr id="19" name="Oval 18"/>
          <p:cNvSpPr/>
          <p:nvPr/>
        </p:nvSpPr>
        <p:spPr>
          <a:xfrm>
            <a:off x="13373100" y="4572000"/>
            <a:ext cx="762000" cy="7620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363700" y="4457700"/>
            <a:ext cx="20955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YELLOW</a:t>
            </a:r>
          </a:p>
        </p:txBody>
      </p:sp>
      <p:sp>
        <p:nvSpPr>
          <p:cNvPr id="21" name="TextBox 20"/>
          <p:cNvSpPr txBox="1"/>
          <p:nvPr/>
        </p:nvSpPr>
        <p:spPr>
          <a:xfrm>
            <a:off x="14363700" y="4991100"/>
            <a:ext cx="2095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Get ready to stop</a:t>
            </a:r>
          </a:p>
        </p:txBody>
      </p:sp>
      <p:sp>
        <p:nvSpPr>
          <p:cNvPr id="22" name="Rectangle 21"/>
          <p:cNvSpPr/>
          <p:nvPr/>
        </p:nvSpPr>
        <p:spPr>
          <a:xfrm>
            <a:off x="5372100" y="4933950"/>
            <a:ext cx="17487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708660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950744" y="4403884"/>
            <a:ext cx="7286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950744" y="4403884"/>
            <a:ext cx="7286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timer</a:t>
            </a:r>
          </a:p>
        </p:txBody>
      </p:sp>
      <p:sp>
        <p:nvSpPr>
          <p:cNvPr id="26" name="Rectangle 25"/>
          <p:cNvSpPr/>
          <p:nvPr/>
        </p:nvSpPr>
        <p:spPr>
          <a:xfrm>
            <a:off x="11029950" y="4933950"/>
            <a:ext cx="17487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sosceles Triangle 26"/>
          <p:cNvSpPr/>
          <p:nvPr/>
        </p:nvSpPr>
        <p:spPr>
          <a:xfrm rot="5400000">
            <a:off x="1274445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608594" y="4403884"/>
            <a:ext cx="7286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1608594" y="4403884"/>
            <a:ext cx="7286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timer</a:t>
            </a:r>
          </a:p>
        </p:txBody>
      </p:sp>
      <p:sp>
        <p:nvSpPr>
          <p:cNvPr id="30" name="Rectangle 29"/>
          <p:cNvSpPr/>
          <p:nvPr/>
        </p:nvSpPr>
        <p:spPr>
          <a:xfrm>
            <a:off x="14782800" y="5886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flipH="1">
            <a:off x="14766275" y="6153150"/>
            <a:ext cx="35575"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4659996" y="6264062"/>
            <a:ext cx="106279"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4484350" y="6373579"/>
            <a:ext cx="175646"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4241547" y="6480324"/>
            <a:ext cx="242803"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3934639" y="6582955"/>
            <a:ext cx="306908"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3567485" y="6680181"/>
            <a:ext cx="367154"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3144704" y="6770779"/>
            <a:ext cx="422781"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12671612" y="6853610"/>
            <a:ext cx="473092"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12154158" y="6927632"/>
            <a:ext cx="517454"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1598849" y="6991915"/>
            <a:ext cx="555309"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1012669" y="7045650"/>
            <a:ext cx="586180"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0402990" y="7088161"/>
            <a:ext cx="609679"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9777478" y="7118914"/>
            <a:ext cx="625512"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9144000" y="7137521"/>
            <a:ext cx="633478"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8510522" y="7137521"/>
            <a:ext cx="633478"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7885010" y="7118914"/>
            <a:ext cx="625512"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7275331" y="7088161"/>
            <a:ext cx="609679"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6689151" y="7045650"/>
            <a:ext cx="586180"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6133842" y="6991915"/>
            <a:ext cx="555309"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5616388" y="6927632"/>
            <a:ext cx="517454"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5143296" y="6853610"/>
            <a:ext cx="473092"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720515" y="6770779"/>
            <a:ext cx="422781"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353361" y="6680181"/>
            <a:ext cx="367154"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046453" y="6582955"/>
            <a:ext cx="306908"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3803650" y="6480324"/>
            <a:ext cx="242803"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3628004" y="6373579"/>
            <a:ext cx="175646"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3521725" y="6264062"/>
            <a:ext cx="106279"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3486150" y="6153150"/>
            <a:ext cx="35575"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3467100" y="6023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Isosceles Triangle 59"/>
          <p:cNvSpPr/>
          <p:nvPr/>
        </p:nvSpPr>
        <p:spPr>
          <a:xfrm>
            <a:off x="3409950" y="59055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8779669" y="6975634"/>
            <a:ext cx="7286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8779669" y="6975634"/>
            <a:ext cx="7286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timer</a:t>
            </a:r>
          </a:p>
        </p:txBody>
      </p:sp>
      <p:sp>
        <p:nvSpPr>
          <p:cNvPr id="63" name="Rectangle 62"/>
          <p:cNvSpPr/>
          <p:nvPr/>
        </p:nvSpPr>
        <p:spPr>
          <a:xfrm>
            <a:off x="4038600" y="3733800"/>
            <a:ext cx="38100" cy="2857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4" name="Connector 63"/>
          <p:cNvCxnSpPr/>
          <p:nvPr/>
        </p:nvCxnSpPr>
        <p:spPr>
          <a:xfrm flipV="1">
            <a:off x="4057650" y="3663267"/>
            <a:ext cx="31982" cy="8958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185175" y="3488594"/>
            <a:ext cx="157904" cy="862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561357" y="3327171"/>
            <a:ext cx="275907" cy="785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167331" y="3187094"/>
            <a:ext cx="380076" cy="6690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972713" y="3075386"/>
            <a:ext cx="465186" cy="5192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6937115" y="2997649"/>
            <a:ext cx="526970" cy="3433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012181" y="2957781"/>
            <a:ext cx="562328" cy="150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144000" y="2952750"/>
            <a:ext cx="569491" cy="503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275819" y="2972810"/>
            <a:ext cx="548096" cy="2483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1350885" y="3031985"/>
            <a:ext cx="499216" cy="4340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2315287" y="3127307"/>
            <a:ext cx="425306" cy="597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120669" y="3253996"/>
            <a:ext cx="330067" cy="7317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726643" y="3405700"/>
            <a:ext cx="218278" cy="82894"/>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4102825" y="3574811"/>
            <a:ext cx="95543" cy="8845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14211300" y="3714750"/>
            <a:ext cx="38100" cy="16764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Isosceles Triangle 78"/>
          <p:cNvSpPr/>
          <p:nvPr/>
        </p:nvSpPr>
        <p:spPr>
          <a:xfrm rot="10800000">
            <a:off x="14154150" y="3848100"/>
            <a:ext cx="152400" cy="152400"/>
          </a:xfrm>
          <a:prstGeom prst="triangl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7169944" y="2784634"/>
            <a:ext cx="432911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7169944" y="2784634"/>
            <a:ext cx="432911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No RED → YELLOW arrow, so it can't happen</a:t>
            </a:r>
          </a:p>
        </p:txBody>
      </p:sp>
      <p:sp>
        <p:nvSpPr>
          <p:cNvPr id="82" name="Oval 81"/>
          <p:cNvSpPr/>
          <p:nvPr/>
        </p:nvSpPr>
        <p:spPr>
          <a:xfrm>
            <a:off x="6553200" y="27432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553200" y="2743200"/>
            <a:ext cx="419100" cy="419100"/>
          </a:xfrm>
          <a:prstGeom prst="rect">
            <a:avLst/>
          </a:prstGeom>
          <a:noFill/>
        </p:spPr>
        <p:txBody>
          <a:bodyPr wrap="square" lIns="0" rIns="0" tIns="0" bIns="0" anchor="ctr">
            <a:spAutoFit/>
          </a:bodyPr>
          <a:lstStyle/>
          <a:p>
            <a:pPr algn="ctr"/>
            <a:r>
              <a:rPr sz="1800" b="1" i="0">
                <a:solidFill>
                  <a:srgbClr val="FFFFFF"/>
                </a:solidFill>
                <a:latin typeface="Geist"/>
                <a:ea typeface="Geist"/>
                <a:cs typeface="Geist"/>
              </a:rPr>
              <a:t>✕</a:t>
            </a:r>
          </a:p>
        </p:txBody>
      </p:sp>
      <p:sp>
        <p:nvSpPr>
          <p:cNvPr id="84" name="Rounded Rectangle 83"/>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5" name="Picture 84" descr="stoplights.png"/>
          <p:cNvPicPr>
            <a:picLocks noChangeAspect="1"/>
          </p:cNvPicPr>
          <p:nvPr/>
        </p:nvPicPr>
        <p:blipFill>
          <a:blip r:embed="rId3"/>
          <a:stretch>
            <a:fillRect/>
          </a:stretch>
        </p:blipFill>
        <p:spPr>
          <a:xfrm>
            <a:off x="1333500" y="8305800"/>
            <a:ext cx="426720" cy="533400"/>
          </a:xfrm>
          <a:prstGeom prst="rect">
            <a:avLst/>
          </a:prstGeom>
        </p:spPr>
      </p:pic>
      <p:sp>
        <p:nvSpPr>
          <p:cNvPr id="86" name="TextBox 85"/>
          <p:cNvSpPr txBox="1"/>
          <p:nvPr/>
        </p:nvSpPr>
        <p:spPr>
          <a:xfrm>
            <a:off x="2190750" y="80962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Two rules:  </a:t>
            </a:r>
            <a:r>
              <a:rPr sz="2100" b="0" i="0">
                <a:solidFill>
                  <a:srgbClr val="F0E8E8"/>
                </a:solidFill>
                <a:latin typeface="Geist"/>
                <a:ea typeface="Geist"/>
                <a:cs typeface="Geist"/>
              </a:rPr>
              <a:t>always exactly one state, and only the moves you draw an arrow for.</a:t>
            </a:r>
          </a:p>
        </p:txBody>
      </p:sp>
      <p:sp>
        <p:nvSpPr>
          <p:cNvPr id="87" name="TextBox 8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8" name="TextBox 8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States and transitions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086350" cy="4191000"/>
          </a:xfrm>
          <a:prstGeom prst="roundRect">
            <a:avLst>
              <a:gd name="adj" fmla="val 363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ui-radios.png"/>
          <p:cNvPicPr>
            <a:picLocks noChangeAspect="1"/>
          </p:cNvPicPr>
          <p:nvPr/>
        </p:nvPicPr>
        <p:blipFill>
          <a:blip r:embed="rId3"/>
          <a:stretch>
            <a:fillRect/>
          </a:stretch>
        </p:blipFill>
        <p:spPr>
          <a:xfrm>
            <a:off x="1295400" y="3238500"/>
            <a:ext cx="653143" cy="609600"/>
          </a:xfrm>
          <a:prstGeom prst="rect">
            <a:avLst/>
          </a:prstGeom>
        </p:spPr>
      </p:pic>
      <p:sp>
        <p:nvSpPr>
          <p:cNvPr id="7" name="TextBox 6"/>
          <p:cNvSpPr txBox="1"/>
          <p:nvPr/>
        </p:nvSpPr>
        <p:spPr>
          <a:xfrm>
            <a:off x="1295400" y="4114800"/>
            <a:ext cx="432435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State</a:t>
            </a:r>
          </a:p>
        </p:txBody>
      </p:sp>
      <p:sp>
        <p:nvSpPr>
          <p:cNvPr id="8" name="TextBox 7"/>
          <p:cNvSpPr txBox="1"/>
          <p:nvPr/>
        </p:nvSpPr>
        <p:spPr>
          <a:xfrm>
            <a:off x="1295400" y="4726305"/>
            <a:ext cx="4324350" cy="23622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mode the mechanism can be in. Each state has one job: what the motors do while it's in it.
Only one state at a time.</a:t>
            </a:r>
          </a:p>
        </p:txBody>
      </p:sp>
      <p:sp>
        <p:nvSpPr>
          <p:cNvPr id="9" name="Rounded Rectangle 8"/>
          <p:cNvSpPr/>
          <p:nvPr/>
        </p:nvSpPr>
        <p:spPr>
          <a:xfrm>
            <a:off x="6305550" y="2857500"/>
            <a:ext cx="5086350" cy="4191000"/>
          </a:xfrm>
          <a:prstGeom prst="roundRect">
            <a:avLst>
              <a:gd name="adj" fmla="val 363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rrow-right.png"/>
          <p:cNvPicPr>
            <a:picLocks noChangeAspect="1"/>
          </p:cNvPicPr>
          <p:nvPr/>
        </p:nvPicPr>
        <p:blipFill>
          <a:blip r:embed="rId4"/>
          <a:stretch>
            <a:fillRect/>
          </a:stretch>
        </p:blipFill>
        <p:spPr>
          <a:xfrm>
            <a:off x="6686550" y="3238500"/>
            <a:ext cx="948267" cy="609600"/>
          </a:xfrm>
          <a:prstGeom prst="rect">
            <a:avLst/>
          </a:prstGeom>
        </p:spPr>
      </p:pic>
      <p:sp>
        <p:nvSpPr>
          <p:cNvPr id="11" name="TextBox 10"/>
          <p:cNvSpPr txBox="1"/>
          <p:nvPr/>
        </p:nvSpPr>
        <p:spPr>
          <a:xfrm>
            <a:off x="6686550" y="4114800"/>
            <a:ext cx="432435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Transition</a:t>
            </a:r>
          </a:p>
        </p:txBody>
      </p:sp>
      <p:sp>
        <p:nvSpPr>
          <p:cNvPr id="12" name="TextBox 11"/>
          <p:cNvSpPr txBox="1"/>
          <p:nvPr/>
        </p:nvSpPr>
        <p:spPr>
          <a:xfrm>
            <a:off x="6686550" y="4726305"/>
            <a:ext cx="4324350" cy="23622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move from one state to another. Each one has a reason, called its condition:
a button, a sensor, a timer.</a:t>
            </a:r>
          </a:p>
        </p:txBody>
      </p:sp>
      <p:sp>
        <p:nvSpPr>
          <p:cNvPr id="13" name="Rounded Rectangle 12"/>
          <p:cNvSpPr/>
          <p:nvPr/>
        </p:nvSpPr>
        <p:spPr>
          <a:xfrm>
            <a:off x="11811000" y="2857500"/>
            <a:ext cx="5562600" cy="4191000"/>
          </a:xfrm>
          <a:prstGeom prst="roundRect">
            <a:avLst>
              <a:gd name="adj" fmla="val 363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192000" y="3200400"/>
            <a:ext cx="476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 WASHING MACHINE</a:t>
            </a:r>
          </a:p>
        </p:txBody>
      </p:sp>
      <p:sp>
        <p:nvSpPr>
          <p:cNvPr id="15" name="Rounded Rectangle 14"/>
          <p:cNvSpPr/>
          <p:nvPr/>
        </p:nvSpPr>
        <p:spPr>
          <a:xfrm>
            <a:off x="12382500" y="365760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382500" y="365760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FILL</a:t>
            </a:r>
          </a:p>
        </p:txBody>
      </p:sp>
      <p:sp>
        <p:nvSpPr>
          <p:cNvPr id="17" name="Rectangle 16"/>
          <p:cNvSpPr/>
          <p:nvPr/>
        </p:nvSpPr>
        <p:spPr>
          <a:xfrm>
            <a:off x="13320712" y="408146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10800000">
            <a:off x="13258800" y="41529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2382500" y="4324350"/>
            <a:ext cx="1905000" cy="419100"/>
          </a:xfrm>
          <a:prstGeom prst="roundRect">
            <a:avLst>
              <a:gd name="adj" fmla="val 31818"/>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382500" y="432435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WASH</a:t>
            </a:r>
          </a:p>
        </p:txBody>
      </p:sp>
      <p:sp>
        <p:nvSpPr>
          <p:cNvPr id="21" name="Rectangle 20"/>
          <p:cNvSpPr/>
          <p:nvPr/>
        </p:nvSpPr>
        <p:spPr>
          <a:xfrm>
            <a:off x="13320712" y="474821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10800000">
            <a:off x="13258800" y="48196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82500" y="499110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382500" y="499110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RINSE</a:t>
            </a:r>
          </a:p>
        </p:txBody>
      </p:sp>
      <p:sp>
        <p:nvSpPr>
          <p:cNvPr id="25" name="Rectangle 24"/>
          <p:cNvSpPr/>
          <p:nvPr/>
        </p:nvSpPr>
        <p:spPr>
          <a:xfrm>
            <a:off x="13320712" y="541496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10800000">
            <a:off x="13258800" y="54864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2382500" y="565785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382500" y="565785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SPIN</a:t>
            </a:r>
          </a:p>
        </p:txBody>
      </p:sp>
      <p:sp>
        <p:nvSpPr>
          <p:cNvPr id="29" name="Rectangle 28"/>
          <p:cNvSpPr/>
          <p:nvPr/>
        </p:nvSpPr>
        <p:spPr>
          <a:xfrm>
            <a:off x="13320712" y="608171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10800000">
            <a:off x="13258800" y="61531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2382500" y="632460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2382500" y="632460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DONE</a:t>
            </a:r>
          </a:p>
        </p:txBody>
      </p:sp>
      <p:sp>
        <p:nvSpPr>
          <p:cNvPr id="33" name="TextBox 32"/>
          <p:cNvSpPr txBox="1"/>
          <p:nvPr/>
        </p:nvSpPr>
        <p:spPr>
          <a:xfrm>
            <a:off x="14478000" y="405765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tub full</a:t>
            </a:r>
          </a:p>
        </p:txBody>
      </p:sp>
      <p:sp>
        <p:nvSpPr>
          <p:cNvPr id="34" name="TextBox 33"/>
          <p:cNvSpPr txBox="1"/>
          <p:nvPr/>
        </p:nvSpPr>
        <p:spPr>
          <a:xfrm>
            <a:off x="14478000" y="472440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timer done</a:t>
            </a:r>
          </a:p>
        </p:txBody>
      </p:sp>
      <p:sp>
        <p:nvSpPr>
          <p:cNvPr id="35" name="TextBox 34"/>
          <p:cNvSpPr txBox="1"/>
          <p:nvPr/>
        </p:nvSpPr>
        <p:spPr>
          <a:xfrm>
            <a:off x="14478000" y="539115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timer done</a:t>
            </a:r>
          </a:p>
        </p:txBody>
      </p:sp>
      <p:sp>
        <p:nvSpPr>
          <p:cNvPr id="36" name="TextBox 35"/>
          <p:cNvSpPr txBox="1"/>
          <p:nvPr/>
        </p:nvSpPr>
        <p:spPr>
          <a:xfrm>
            <a:off x="14478000" y="605790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water out</a:t>
            </a:r>
          </a:p>
        </p:txBody>
      </p:sp>
      <p:sp>
        <p:nvSpPr>
          <p:cNvPr id="37" name="Rounded Rectangle 36"/>
          <p:cNvSpPr/>
          <p:nvPr/>
        </p:nvSpPr>
        <p:spPr>
          <a:xfrm>
            <a:off x="914400" y="7620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robot.png"/>
          <p:cNvPicPr>
            <a:picLocks noChangeAspect="1"/>
          </p:cNvPicPr>
          <p:nvPr/>
        </p:nvPicPr>
        <p:blipFill>
          <a:blip r:embed="rId5"/>
          <a:stretch>
            <a:fillRect/>
          </a:stretch>
        </p:blipFill>
        <p:spPr>
          <a:xfrm>
            <a:off x="1333500" y="7829550"/>
            <a:ext cx="568960" cy="533400"/>
          </a:xfrm>
          <a:prstGeom prst="rect">
            <a:avLst/>
          </a:prstGeom>
        </p:spPr>
      </p:pic>
      <p:sp>
        <p:nvSpPr>
          <p:cNvPr id="39" name="TextBox 38"/>
          <p:cNvSpPr txBox="1"/>
          <p:nvPr/>
        </p:nvSpPr>
        <p:spPr>
          <a:xfrm>
            <a:off x="2190750" y="7620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 a robot:  </a:t>
            </a:r>
            <a:r>
              <a:rPr sz="2100" b="0" i="0">
                <a:solidFill>
                  <a:srgbClr val="F0E8E8"/>
                </a:solidFill>
                <a:latin typeface="Geist"/>
                <a:ea typeface="Geist"/>
                <a:cs typeface="Geist"/>
              </a:rPr>
              <a:t>a short, fixed list of states, so you always know what every motor is doing.</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Draw it first: a dimmer switch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048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OFF</a:t>
            </a:r>
          </a:p>
        </p:txBody>
      </p:sp>
      <p:sp>
        <p:nvSpPr>
          <p:cNvPr id="7" name="TextBox 6"/>
          <p:cNvSpPr txBox="1"/>
          <p:nvPr/>
        </p:nvSpPr>
        <p:spPr>
          <a:xfrm>
            <a:off x="1028700"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0</a:t>
            </a:r>
          </a:p>
        </p:txBody>
      </p:sp>
      <p:sp>
        <p:nvSpPr>
          <p:cNvPr id="8" name="Rounded Rectangle 7"/>
          <p:cNvSpPr/>
          <p:nvPr/>
        </p:nvSpPr>
        <p:spPr>
          <a:xfrm>
            <a:off x="5381625" y="3143250"/>
            <a:ext cx="3048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57825"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DIMMED</a:t>
            </a:r>
          </a:p>
        </p:txBody>
      </p:sp>
      <p:sp>
        <p:nvSpPr>
          <p:cNvPr id="10" name="TextBox 9"/>
          <p:cNvSpPr txBox="1"/>
          <p:nvPr/>
        </p:nvSpPr>
        <p:spPr>
          <a:xfrm>
            <a:off x="5495925"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1</a:t>
            </a:r>
          </a:p>
        </p:txBody>
      </p:sp>
      <p:sp>
        <p:nvSpPr>
          <p:cNvPr id="11" name="Rounded Rectangle 10"/>
          <p:cNvSpPr/>
          <p:nvPr/>
        </p:nvSpPr>
        <p:spPr>
          <a:xfrm>
            <a:off x="9848850" y="3143250"/>
            <a:ext cx="3048000" cy="1619250"/>
          </a:xfrm>
          <a:prstGeom prst="roundRect">
            <a:avLst>
              <a:gd name="adj" fmla="val 12941"/>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25050"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NORMAL</a:t>
            </a:r>
          </a:p>
        </p:txBody>
      </p:sp>
      <p:sp>
        <p:nvSpPr>
          <p:cNvPr id="13" name="TextBox 12"/>
          <p:cNvSpPr txBox="1"/>
          <p:nvPr/>
        </p:nvSpPr>
        <p:spPr>
          <a:xfrm>
            <a:off x="9963150"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2</a:t>
            </a:r>
          </a:p>
        </p:txBody>
      </p:sp>
      <p:sp>
        <p:nvSpPr>
          <p:cNvPr id="14" name="Rounded Rectangle 13"/>
          <p:cNvSpPr/>
          <p:nvPr/>
        </p:nvSpPr>
        <p:spPr>
          <a:xfrm>
            <a:off x="10001250" y="2971800"/>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01250" y="297180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6" name="Rounded Rectangle 15"/>
          <p:cNvSpPr/>
          <p:nvPr/>
        </p:nvSpPr>
        <p:spPr>
          <a:xfrm>
            <a:off x="14325600" y="3143250"/>
            <a:ext cx="3048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401800"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BRIGHT</a:t>
            </a:r>
          </a:p>
        </p:txBody>
      </p:sp>
      <p:sp>
        <p:nvSpPr>
          <p:cNvPr id="18" name="TextBox 17"/>
          <p:cNvSpPr txBox="1"/>
          <p:nvPr/>
        </p:nvSpPr>
        <p:spPr>
          <a:xfrm>
            <a:off x="14439900"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3</a:t>
            </a:r>
          </a:p>
        </p:txBody>
      </p:sp>
      <p:sp>
        <p:nvSpPr>
          <p:cNvPr id="19" name="Rectangle 18"/>
          <p:cNvSpPr/>
          <p:nvPr/>
        </p:nvSpPr>
        <p:spPr>
          <a:xfrm>
            <a:off x="4019550" y="3933825"/>
            <a:ext cx="1167765"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5153025"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57700" y="3403759"/>
            <a:ext cx="4286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457700" y="3403759"/>
            <a:ext cx="4286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on</a:t>
            </a:r>
          </a:p>
        </p:txBody>
      </p:sp>
      <p:sp>
        <p:nvSpPr>
          <p:cNvPr id="23" name="Rectangle 22"/>
          <p:cNvSpPr/>
          <p:nvPr/>
        </p:nvSpPr>
        <p:spPr>
          <a:xfrm>
            <a:off x="8486775" y="3933825"/>
            <a:ext cx="1167765"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9620250"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24925" y="3403759"/>
            <a:ext cx="4286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924925" y="3403759"/>
            <a:ext cx="4286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on</a:t>
            </a:r>
          </a:p>
        </p:txBody>
      </p:sp>
      <p:sp>
        <p:nvSpPr>
          <p:cNvPr id="27" name="Rectangle 26"/>
          <p:cNvSpPr/>
          <p:nvPr/>
        </p:nvSpPr>
        <p:spPr>
          <a:xfrm>
            <a:off x="12954000" y="3933825"/>
            <a:ext cx="11772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14097000"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3396912" y="3403759"/>
            <a:ext cx="4286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396912" y="3403759"/>
            <a:ext cx="4286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on</a:t>
            </a:r>
          </a:p>
        </p:txBody>
      </p:sp>
      <p:sp>
        <p:nvSpPr>
          <p:cNvPr id="31" name="Rectangle 30"/>
          <p:cNvSpPr/>
          <p:nvPr/>
        </p:nvSpPr>
        <p:spPr>
          <a:xfrm>
            <a:off x="6505575" y="4743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2" name="Connector 31"/>
          <p:cNvCxnSpPr/>
          <p:nvPr/>
        </p:nvCxnSpPr>
        <p:spPr>
          <a:xfrm flipH="1">
            <a:off x="6513875" y="5010150"/>
            <a:ext cx="10750"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481758" y="5078404"/>
            <a:ext cx="32117"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428680" y="5145799"/>
            <a:ext cx="53078"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355308" y="5211488"/>
            <a:ext cx="73372"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6262564" y="5274646"/>
            <a:ext cx="9274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6151614" y="5334477"/>
            <a:ext cx="110950"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6023854" y="5390229"/>
            <a:ext cx="127760"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5880891" y="5441202"/>
            <a:ext cx="142963"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5724523" y="5486754"/>
            <a:ext cx="156368"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5556715" y="5526313"/>
            <a:ext cx="167808"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5379578" y="5559381"/>
            <a:ext cx="177137"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5195340" y="5585541"/>
            <a:ext cx="184238"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5006317" y="5604466"/>
            <a:ext cx="189023"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795838" y="5596867"/>
            <a:ext cx="2295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4604408" y="5600700"/>
            <a:ext cx="2295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7" name="Connector 46"/>
          <p:cNvCxnSpPr/>
          <p:nvPr/>
        </p:nvCxnSpPr>
        <p:spPr>
          <a:xfrm flipH="1" flipV="1">
            <a:off x="4434435" y="5604466"/>
            <a:ext cx="189023"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4250197" y="5585541"/>
            <a:ext cx="184238"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073060" y="5559381"/>
            <a:ext cx="177137"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3905252" y="5526313"/>
            <a:ext cx="167808"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3748884" y="5486754"/>
            <a:ext cx="156368"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3605921" y="5441202"/>
            <a:ext cx="142963"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3478161" y="5390229"/>
            <a:ext cx="127760"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3367211" y="5334477"/>
            <a:ext cx="110950"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3274467" y="5274646"/>
            <a:ext cx="9274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3201095" y="5211488"/>
            <a:ext cx="73372"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3148017" y="5145799"/>
            <a:ext cx="53078"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3115900" y="5078404"/>
            <a:ext cx="32117"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3105150" y="5010150"/>
            <a:ext cx="10750"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3086100" y="4880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Isosceles Triangle 60"/>
          <p:cNvSpPr/>
          <p:nvPr/>
        </p:nvSpPr>
        <p:spPr>
          <a:xfrm>
            <a:off x="3028950" y="47625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972800" y="4743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3" name="Connector 62"/>
          <p:cNvCxnSpPr/>
          <p:nvPr/>
        </p:nvCxnSpPr>
        <p:spPr>
          <a:xfrm flipH="1">
            <a:off x="10964959" y="5010150"/>
            <a:ext cx="26891" cy="1535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0884624" y="5163720"/>
            <a:ext cx="80335" cy="1516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0751854" y="5315360"/>
            <a:ext cx="132770" cy="1478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0568321" y="5463161"/>
            <a:ext cx="183533" cy="14210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0336332" y="5605265"/>
            <a:ext cx="231989" cy="1346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0058803" y="5739885"/>
            <a:ext cx="277529" cy="12544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9739226" y="5865329"/>
            <a:ext cx="319577" cy="114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9381619" y="5980018"/>
            <a:ext cx="357607" cy="1024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8990480" y="6082510"/>
            <a:ext cx="391139" cy="890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8570726" y="6171517"/>
            <a:ext cx="419754" cy="744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8127638" y="6245919"/>
            <a:ext cx="443088" cy="588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7666786" y="6304780"/>
            <a:ext cx="460852" cy="425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7193966" y="6347361"/>
            <a:ext cx="472820" cy="2576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15125" y="6373126"/>
            <a:ext cx="478841" cy="862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6236284" y="6373126"/>
            <a:ext cx="478841" cy="862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5763464" y="6347361"/>
            <a:ext cx="472820" cy="2576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5302612" y="6304780"/>
            <a:ext cx="460852" cy="425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4859524" y="6245919"/>
            <a:ext cx="443088" cy="588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4439770" y="6171517"/>
            <a:ext cx="419754" cy="744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48631" y="6082510"/>
            <a:ext cx="391139" cy="890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3691024" y="5980018"/>
            <a:ext cx="357607" cy="1024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371447" y="5865329"/>
            <a:ext cx="319577" cy="114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3093918" y="5739885"/>
            <a:ext cx="277529" cy="12544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2861929" y="5605265"/>
            <a:ext cx="231989" cy="1346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2678396" y="5463161"/>
            <a:ext cx="183533" cy="14210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2545626" y="5315360"/>
            <a:ext cx="132770" cy="1478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2465291" y="5163720"/>
            <a:ext cx="80335" cy="1516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2438400" y="5010150"/>
            <a:ext cx="26891" cy="1535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1" name="Rectangle 90"/>
          <p:cNvSpPr/>
          <p:nvPr/>
        </p:nvSpPr>
        <p:spPr>
          <a:xfrm>
            <a:off x="2419350" y="4880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Isosceles Triangle 91"/>
          <p:cNvSpPr/>
          <p:nvPr/>
        </p:nvSpPr>
        <p:spPr>
          <a:xfrm>
            <a:off x="2362200" y="47625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5449550" y="4743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4" name="Connector 93"/>
          <p:cNvCxnSpPr/>
          <p:nvPr/>
        </p:nvCxnSpPr>
        <p:spPr>
          <a:xfrm flipH="1">
            <a:off x="15425538" y="5010150"/>
            <a:ext cx="43062" cy="2388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15296894" y="5249037"/>
            <a:ext cx="128644" cy="2358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a:off x="15084286" y="5484921"/>
            <a:ext cx="212608" cy="22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a:off x="14790388" y="5714833"/>
            <a:ext cx="293898" cy="2210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a:off x="14418895" y="5935884"/>
            <a:ext cx="371493" cy="2094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a:off x="13974478" y="6145294"/>
            <a:ext cx="444417" cy="1951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a:off x="13462728" y="6340428"/>
            <a:ext cx="511750" cy="1784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12890079" y="6518833"/>
            <a:ext cx="572649" cy="15943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12263733" y="6678266"/>
            <a:ext cx="626346" cy="1384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a:off x="11591567" y="6816721"/>
            <a:ext cx="672166" cy="1157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a:off x="10882033" y="6932457"/>
            <a:ext cx="709534" cy="915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a:off x="10144054" y="7024019"/>
            <a:ext cx="737979" cy="662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a:off x="9386911" y="7090256"/>
            <a:ext cx="757143" cy="4007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8620125" y="7130334"/>
            <a:ext cx="766786" cy="1341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7853339" y="7130334"/>
            <a:ext cx="766786" cy="1341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7096196" y="7090256"/>
            <a:ext cx="757143" cy="4007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6358217" y="7024019"/>
            <a:ext cx="737979" cy="662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5648683" y="6932457"/>
            <a:ext cx="709534" cy="915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4976517" y="6816721"/>
            <a:ext cx="672166" cy="1157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4350171" y="6678266"/>
            <a:ext cx="626346" cy="1384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3777522" y="6518833"/>
            <a:ext cx="572649" cy="15943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3265772" y="6340428"/>
            <a:ext cx="511750" cy="1784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2821355" y="6145294"/>
            <a:ext cx="444417" cy="1951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flipV="1">
            <a:off x="2449862" y="5935884"/>
            <a:ext cx="371493" cy="2094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flipV="1">
            <a:off x="2155964" y="5714833"/>
            <a:ext cx="293898" cy="2210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flipV="1">
            <a:off x="1943356" y="5484921"/>
            <a:ext cx="212608" cy="22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flipV="1">
            <a:off x="1814712" y="5249037"/>
            <a:ext cx="128644" cy="2358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flipV="1">
            <a:off x="1771650" y="5010150"/>
            <a:ext cx="43062" cy="2388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1752600" y="4880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Isosceles Triangle 122"/>
          <p:cNvSpPr/>
          <p:nvPr/>
        </p:nvSpPr>
        <p:spPr>
          <a:xfrm>
            <a:off x="1695450" y="47625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7805738" y="6975634"/>
            <a:ext cx="162877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7805738" y="6975634"/>
            <a:ext cx="162877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off (from any)</a:t>
            </a:r>
          </a:p>
        </p:txBody>
      </p:sp>
      <p:sp>
        <p:nvSpPr>
          <p:cNvPr id="126" name="TextBox 125"/>
          <p:cNvSpPr txBox="1"/>
          <p:nvPr/>
        </p:nvSpPr>
        <p:spPr>
          <a:xfrm>
            <a:off x="914400" y="8191500"/>
            <a:ext cx="14287500" cy="47625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No arrow for </a:t>
            </a:r>
            <a:r>
              <a:rPr sz="1950" b="1" i="0">
                <a:solidFill>
                  <a:srgbClr val="9A7878"/>
                </a:solidFill>
                <a:latin typeface="Geist"/>
                <a:ea typeface="Geist"/>
                <a:cs typeface="Geist"/>
              </a:rPr>
              <a:t>on</a:t>
            </a:r>
            <a:r>
              <a:rPr sz="1950" b="0" i="0">
                <a:solidFill>
                  <a:srgbClr val="9A7878"/>
                </a:solidFill>
                <a:latin typeface="Geist"/>
                <a:ea typeface="Geist"/>
                <a:cs typeface="Geist"/>
              </a:rPr>
              <a:t> out of BRIGHT, so pressing it there does nothing.</a:t>
            </a:r>
          </a:p>
        </p:txBody>
      </p:sp>
      <p:sp>
        <p:nvSpPr>
          <p:cNvPr id="127" name="TextBox 1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28" name="TextBox 1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robot intake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76250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IDLE</a:t>
            </a:r>
          </a:p>
        </p:txBody>
      </p:sp>
      <p:sp>
        <p:nvSpPr>
          <p:cNvPr id="7" name="TextBox 6"/>
          <p:cNvSpPr txBox="1"/>
          <p:nvPr/>
        </p:nvSpPr>
        <p:spPr>
          <a:xfrm>
            <a:off x="10287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rollers stopped</a:t>
            </a:r>
          </a:p>
        </p:txBody>
      </p:sp>
      <p:sp>
        <p:nvSpPr>
          <p:cNvPr id="8" name="Rounded Rectangle 7"/>
          <p:cNvSpPr/>
          <p:nvPr/>
        </p:nvSpPr>
        <p:spPr>
          <a:xfrm>
            <a:off x="5448300" y="4762500"/>
            <a:ext cx="2857500" cy="1333500"/>
          </a:xfrm>
          <a:prstGeom prst="roundRect">
            <a:avLst>
              <a:gd name="adj" fmla="val 15714"/>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5245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INTAKING</a:t>
            </a:r>
          </a:p>
        </p:txBody>
      </p:sp>
      <p:sp>
        <p:nvSpPr>
          <p:cNvPr id="10" name="TextBox 9"/>
          <p:cNvSpPr txBox="1"/>
          <p:nvPr/>
        </p:nvSpPr>
        <p:spPr>
          <a:xfrm>
            <a:off x="55626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pull a piece in</a:t>
            </a:r>
          </a:p>
        </p:txBody>
      </p:sp>
      <p:sp>
        <p:nvSpPr>
          <p:cNvPr id="11" name="Rounded Rectangle 10"/>
          <p:cNvSpPr/>
          <p:nvPr/>
        </p:nvSpPr>
        <p:spPr>
          <a:xfrm>
            <a:off x="5600700" y="4591050"/>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00700" y="459105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3" name="Rounded Rectangle 12"/>
          <p:cNvSpPr/>
          <p:nvPr/>
        </p:nvSpPr>
        <p:spPr>
          <a:xfrm>
            <a:off x="9982200" y="476250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0584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HOLDING</a:t>
            </a:r>
          </a:p>
        </p:txBody>
      </p:sp>
      <p:sp>
        <p:nvSpPr>
          <p:cNvPr id="15" name="TextBox 14"/>
          <p:cNvSpPr txBox="1"/>
          <p:nvPr/>
        </p:nvSpPr>
        <p:spPr>
          <a:xfrm>
            <a:off x="100965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keep it</a:t>
            </a:r>
          </a:p>
        </p:txBody>
      </p:sp>
      <p:sp>
        <p:nvSpPr>
          <p:cNvPr id="16" name="Rounded Rectangle 15"/>
          <p:cNvSpPr/>
          <p:nvPr/>
        </p:nvSpPr>
        <p:spPr>
          <a:xfrm>
            <a:off x="14516100" y="476250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5923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EJECTING</a:t>
            </a:r>
          </a:p>
        </p:txBody>
      </p:sp>
      <p:sp>
        <p:nvSpPr>
          <p:cNvPr id="18" name="TextBox 17"/>
          <p:cNvSpPr txBox="1"/>
          <p:nvPr/>
        </p:nvSpPr>
        <p:spPr>
          <a:xfrm>
            <a:off x="146304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push it out</a:t>
            </a:r>
          </a:p>
        </p:txBody>
      </p:sp>
      <p:sp>
        <p:nvSpPr>
          <p:cNvPr id="19" name="Rectangle 18"/>
          <p:cNvSpPr/>
          <p:nvPr/>
        </p:nvSpPr>
        <p:spPr>
          <a:xfrm>
            <a:off x="3829050" y="5410200"/>
            <a:ext cx="1424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5219700" y="5353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1900" y="4629150"/>
            <a:ext cx="1676400" cy="6667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wants</a:t>
            </a:r>
          </a:p>
          <a:p>
            <a:pPr algn="ctr"/>
            <a:r>
              <a:rPr sz="1575" b="0" i="0">
                <a:solidFill>
                  <a:srgbClr val="9A7878"/>
                </a:solidFill>
                <a:latin typeface="Geist"/>
                <a:ea typeface="Geist"/>
                <a:cs typeface="Geist"/>
              </a:rPr>
              <a:t>intake</a:t>
            </a:r>
          </a:p>
        </p:txBody>
      </p:sp>
      <p:sp>
        <p:nvSpPr>
          <p:cNvPr id="22" name="Rectangle 21"/>
          <p:cNvSpPr/>
          <p:nvPr/>
        </p:nvSpPr>
        <p:spPr>
          <a:xfrm>
            <a:off x="8362950" y="5410200"/>
            <a:ext cx="1424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9753600" y="5353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5800" y="4629150"/>
            <a:ext cx="1676400" cy="666750"/>
          </a:xfrm>
          <a:prstGeom prst="rect">
            <a:avLst/>
          </a:prstGeom>
          <a:noFill/>
        </p:spPr>
        <p:txBody>
          <a:bodyPr wrap="square" lIns="0" rIns="0" tIns="0" bIns="0" anchor="t">
            <a:spAutoFit/>
          </a:bodyPr>
          <a:lstStyle/>
          <a:p>
            <a:pPr algn="ctr"/>
            <a:r>
              <a:rPr sz="1575" b="1" i="0">
                <a:solidFill>
                  <a:srgbClr val="CC2200"/>
                </a:solidFill>
                <a:latin typeface="Geist"/>
                <a:ea typeface="Geist"/>
                <a:cs typeface="Geist"/>
              </a:rPr>
              <a:t>sensor sees</a:t>
            </a:r>
          </a:p>
          <a:p>
            <a:pPr algn="ctr"/>
            <a:r>
              <a:rPr sz="1575" b="1" i="0">
                <a:solidFill>
                  <a:srgbClr val="CC2200"/>
                </a:solidFill>
                <a:latin typeface="Geist"/>
                <a:ea typeface="Geist"/>
                <a:cs typeface="Geist"/>
              </a:rPr>
              <a:t>a piece</a:t>
            </a:r>
          </a:p>
        </p:txBody>
      </p:sp>
      <p:sp>
        <p:nvSpPr>
          <p:cNvPr id="25" name="Rectangle 24"/>
          <p:cNvSpPr/>
          <p:nvPr/>
        </p:nvSpPr>
        <p:spPr>
          <a:xfrm>
            <a:off x="12896850" y="5410200"/>
            <a:ext cx="1424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14287500" y="5353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839700" y="4629150"/>
            <a:ext cx="1676400" cy="6667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wants</a:t>
            </a:r>
          </a:p>
          <a:p>
            <a:pPr algn="ctr"/>
            <a:r>
              <a:rPr sz="1575" b="0" i="0">
                <a:solidFill>
                  <a:srgbClr val="9A7878"/>
                </a:solidFill>
                <a:latin typeface="Geist"/>
                <a:ea typeface="Geist"/>
                <a:cs typeface="Geist"/>
              </a:rPr>
              <a:t>eject</a:t>
            </a:r>
          </a:p>
        </p:txBody>
      </p:sp>
      <p:sp>
        <p:nvSpPr>
          <p:cNvPr id="28" name="Rectangle 27"/>
          <p:cNvSpPr/>
          <p:nvPr/>
        </p:nvSpPr>
        <p:spPr>
          <a:xfrm>
            <a:off x="6858000" y="60769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9" name="Connector 28"/>
          <p:cNvCxnSpPr/>
          <p:nvPr/>
        </p:nvCxnSpPr>
        <p:spPr>
          <a:xfrm flipH="1">
            <a:off x="6863994" y="6343650"/>
            <a:ext cx="13056" cy="895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6824989" y="6433233"/>
            <a:ext cx="39005" cy="884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760527" y="6521689"/>
            <a:ext cx="64462" cy="862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6671417" y="6607906"/>
            <a:ext cx="89110" cy="82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558780" y="6690800"/>
            <a:ext cx="112637" cy="785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424034" y="6769329"/>
            <a:ext cx="134746" cy="7317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268872" y="6842504"/>
            <a:ext cx="155162" cy="669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6095245" y="6909406"/>
            <a:ext cx="173627" cy="597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905338" y="6969193"/>
            <a:ext cx="189907" cy="519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5701538" y="7021114"/>
            <a:ext cx="203800" cy="434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5486408" y="7064515"/>
            <a:ext cx="215130" cy="343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5262654" y="7098851"/>
            <a:ext cx="223754" cy="2483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5033089" y="7123690"/>
            <a:ext cx="229565" cy="150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4800600" y="7138719"/>
            <a:ext cx="232489" cy="50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4568111" y="7138719"/>
            <a:ext cx="232489" cy="50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4338546" y="7123690"/>
            <a:ext cx="229565" cy="150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114792" y="7098851"/>
            <a:ext cx="223754" cy="2483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3899662" y="7064515"/>
            <a:ext cx="215130" cy="343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3695862" y="7021114"/>
            <a:ext cx="203800" cy="434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3505955" y="6969193"/>
            <a:ext cx="189907" cy="519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3332328" y="6909406"/>
            <a:ext cx="173627" cy="597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3177166" y="6842504"/>
            <a:ext cx="155162" cy="669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3042420" y="6769329"/>
            <a:ext cx="134746" cy="7317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929783" y="6690800"/>
            <a:ext cx="112637" cy="785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840673" y="6607906"/>
            <a:ext cx="89110" cy="82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776211" y="6521689"/>
            <a:ext cx="64462" cy="862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737206" y="6433233"/>
            <a:ext cx="39005" cy="884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724150" y="6343650"/>
            <a:ext cx="13056" cy="895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2705100" y="62141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Isosceles Triangle 57"/>
          <p:cNvSpPr/>
          <p:nvPr/>
        </p:nvSpPr>
        <p:spPr>
          <a:xfrm>
            <a:off x="2647950" y="60960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336256" y="6975634"/>
            <a:ext cx="92868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4336256" y="6975634"/>
            <a:ext cx="928688"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lets go</a:t>
            </a:r>
          </a:p>
        </p:txBody>
      </p:sp>
      <p:sp>
        <p:nvSpPr>
          <p:cNvPr id="61" name="Rectangle 60"/>
          <p:cNvSpPr/>
          <p:nvPr/>
        </p:nvSpPr>
        <p:spPr>
          <a:xfrm>
            <a:off x="15925800" y="60769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2" name="Connector 61"/>
          <p:cNvCxnSpPr/>
          <p:nvPr/>
        </p:nvCxnSpPr>
        <p:spPr>
          <a:xfrm flipH="1">
            <a:off x="15900890" y="6343650"/>
            <a:ext cx="43960" cy="206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5769562" y="6550544"/>
            <a:ext cx="131328" cy="2042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5552519" y="6754835"/>
            <a:ext cx="217043" cy="1991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5252489" y="6953956"/>
            <a:ext cx="300030" cy="19144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4873245" y="7145402"/>
            <a:ext cx="379244" cy="18136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4419558" y="7326765"/>
            <a:ext cx="453687" cy="1690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3897131" y="7495766"/>
            <a:ext cx="522427" cy="154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3312535" y="7650277"/>
            <a:ext cx="584596" cy="1380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12673122" y="7788357"/>
            <a:ext cx="639413" cy="11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1986933" y="7908269"/>
            <a:ext cx="686189" cy="1002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1262597" y="8008505"/>
            <a:ext cx="724336" cy="793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0509222" y="8087805"/>
            <a:ext cx="753375" cy="573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9736283" y="8145171"/>
            <a:ext cx="772939" cy="347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8953500" y="8179881"/>
            <a:ext cx="782783" cy="11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8170717" y="8179881"/>
            <a:ext cx="782783" cy="11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7397778" y="8145171"/>
            <a:ext cx="772939" cy="347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6644403" y="8087805"/>
            <a:ext cx="753375" cy="573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5920067" y="8008505"/>
            <a:ext cx="724336" cy="793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5233878" y="7908269"/>
            <a:ext cx="686189" cy="1002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4594465" y="7788357"/>
            <a:ext cx="639413" cy="11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09869" y="7650277"/>
            <a:ext cx="584596" cy="1380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3487442" y="7495766"/>
            <a:ext cx="522427" cy="154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033755" y="7326765"/>
            <a:ext cx="453687" cy="1690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2654511" y="7145402"/>
            <a:ext cx="379244" cy="18136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2354481" y="6953956"/>
            <a:ext cx="300030" cy="19144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2137438" y="6754835"/>
            <a:ext cx="217043" cy="1991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2006110" y="6550544"/>
            <a:ext cx="131328" cy="2042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962150" y="6343650"/>
            <a:ext cx="43960" cy="206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1943100" y="62141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Isosceles Triangle 90"/>
          <p:cNvSpPr/>
          <p:nvPr/>
        </p:nvSpPr>
        <p:spPr>
          <a:xfrm>
            <a:off x="1885950" y="60960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8489156" y="8023384"/>
            <a:ext cx="92868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8489156" y="8023384"/>
            <a:ext cx="928688"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lets go</a:t>
            </a:r>
          </a:p>
        </p:txBody>
      </p:sp>
      <p:sp>
        <p:nvSpPr>
          <p:cNvPr id="94" name="Rectangle 93"/>
          <p:cNvSpPr/>
          <p:nvPr/>
        </p:nvSpPr>
        <p:spPr>
          <a:xfrm>
            <a:off x="2705100" y="4495800"/>
            <a:ext cx="38100" cy="2857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5" name="Connector 94"/>
          <p:cNvCxnSpPr/>
          <p:nvPr/>
        </p:nvCxnSpPr>
        <p:spPr>
          <a:xfrm flipV="1">
            <a:off x="2724150" y="4382609"/>
            <a:ext cx="27310" cy="1322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833048" y="4124757"/>
            <a:ext cx="134839" cy="127274"/>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154282" y="3886467"/>
            <a:ext cx="235606" cy="11592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671743" y="3679686"/>
            <a:ext cx="324559" cy="9876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4359484" y="3514784"/>
            <a:ext cx="397238" cy="7664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183019" y="3400029"/>
            <a:ext cx="449997" cy="506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6101053" y="3341177"/>
            <a:ext cx="480190" cy="2218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7067550" y="3333750"/>
            <a:ext cx="486307" cy="742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8034047" y="3363363"/>
            <a:ext cx="468037" cy="3666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8952081" y="3450716"/>
            <a:ext cx="426297" cy="6406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775616" y="3591429"/>
            <a:ext cx="363182" cy="8825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0463357" y="3778446"/>
            <a:ext cx="281855" cy="10802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10980818" y="4002390"/>
            <a:ext cx="186395" cy="12236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1302052" y="4252031"/>
            <a:ext cx="81588" cy="13057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1391900" y="4476750"/>
            <a:ext cx="38100" cy="16764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Isosceles Triangle 109"/>
          <p:cNvSpPr/>
          <p:nvPr/>
        </p:nvSpPr>
        <p:spPr>
          <a:xfrm rot="10800000">
            <a:off x="11334750" y="4610100"/>
            <a:ext cx="152400" cy="152400"/>
          </a:xfrm>
          <a:prstGeom prst="triangl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ounded Rectangle 110"/>
          <p:cNvSpPr/>
          <p:nvPr/>
        </p:nvSpPr>
        <p:spPr>
          <a:xfrm>
            <a:off x="5693569" y="3165634"/>
            <a:ext cx="31289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5693569" y="3165634"/>
            <a:ext cx="31289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No IDLE → HOLDING: on purpose</a:t>
            </a:r>
          </a:p>
        </p:txBody>
      </p:sp>
      <p:sp>
        <p:nvSpPr>
          <p:cNvPr id="113" name="Oval 112"/>
          <p:cNvSpPr/>
          <p:nvPr/>
        </p:nvSpPr>
        <p:spPr>
          <a:xfrm>
            <a:off x="5048250" y="31242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048250" y="3124200"/>
            <a:ext cx="419100" cy="419100"/>
          </a:xfrm>
          <a:prstGeom prst="rect">
            <a:avLst/>
          </a:prstGeom>
          <a:noFill/>
        </p:spPr>
        <p:txBody>
          <a:bodyPr wrap="square" lIns="0" rIns="0" tIns="0" bIns="0" anchor="ctr">
            <a:spAutoFit/>
          </a:bodyPr>
          <a:lstStyle/>
          <a:p>
            <a:pPr algn="ctr"/>
            <a:r>
              <a:rPr sz="1800" b="1" i="0">
                <a:solidFill>
                  <a:srgbClr val="FFFFFF"/>
                </a:solidFill>
                <a:latin typeface="Geist"/>
                <a:ea typeface="Geist"/>
                <a:cs typeface="Geist"/>
              </a:rPr>
              <a:t>✕</a:t>
            </a:r>
          </a:p>
        </p:txBody>
      </p:sp>
      <p:sp>
        <p:nvSpPr>
          <p:cNvPr id="115" name="TextBox 11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6" name="TextBox 1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want vs. where you are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Driver or command</a:t>
            </a:r>
          </a:p>
        </p:txBody>
      </p:sp>
      <p:sp>
        <p:nvSpPr>
          <p:cNvPr id="7" name="TextBox 6"/>
          <p:cNvSpPr txBox="1"/>
          <p:nvPr/>
        </p:nvSpPr>
        <p:spPr>
          <a:xfrm>
            <a:off x="990600" y="4191000"/>
            <a:ext cx="2876550" cy="571500"/>
          </a:xfrm>
          <a:prstGeom prst="rect">
            <a:avLst/>
          </a:prstGeom>
          <a:noFill/>
        </p:spPr>
        <p:txBody>
          <a:bodyPr wrap="square" lIns="0" rIns="0" tIns="0" bIns="0" anchor="ctr">
            <a:spAutoFit/>
          </a:bodyPr>
          <a:lstStyle/>
          <a:p>
            <a:pPr algn="ctr"/>
            <a:r>
              <a:rPr sz="1800" b="0" i="0">
                <a:solidFill>
                  <a:srgbClr val="9A7878"/>
                </a:solidFill>
                <a:latin typeface="Geist"/>
                <a:ea typeface="Geist"/>
                <a:cs typeface="Geist"/>
              </a:rPr>
              <a:t>asks for a state</a:t>
            </a:r>
          </a:p>
        </p:txBody>
      </p:sp>
      <p:sp>
        <p:nvSpPr>
          <p:cNvPr id="8" name="Rectangle 7"/>
          <p:cNvSpPr/>
          <p:nvPr/>
        </p:nvSpPr>
        <p:spPr>
          <a:xfrm>
            <a:off x="39624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0767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672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624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Wanted state</a:t>
            </a:r>
          </a:p>
        </p:txBody>
      </p:sp>
      <p:sp>
        <p:nvSpPr>
          <p:cNvPr id="12" name="TextBox 11"/>
          <p:cNvSpPr txBox="1"/>
          <p:nvPr/>
        </p:nvSpPr>
        <p:spPr>
          <a:xfrm>
            <a:off x="4343400" y="4191000"/>
            <a:ext cx="2876550" cy="571500"/>
          </a:xfrm>
          <a:prstGeom prst="rect">
            <a:avLst/>
          </a:prstGeom>
          <a:noFill/>
        </p:spPr>
        <p:txBody>
          <a:bodyPr wrap="square" lIns="0" rIns="0" tIns="0" bIns="0" anchor="ctr">
            <a:spAutoFit/>
          </a:bodyPr>
          <a:lstStyle/>
          <a:p>
            <a:pPr algn="ctr"/>
            <a:r>
              <a:rPr sz="2400" b="1" i="0">
                <a:solidFill>
                  <a:srgbClr val="E8C27A"/>
                </a:solidFill>
                <a:latin typeface="Geist Mono"/>
                <a:ea typeface="Geist Mono"/>
                <a:cs typeface="Geist Mono"/>
              </a:rPr>
              <a:t>SHOOT</a:t>
            </a:r>
          </a:p>
        </p:txBody>
      </p:sp>
      <p:sp>
        <p:nvSpPr>
          <p:cNvPr id="13" name="Rectangle 12"/>
          <p:cNvSpPr/>
          <p:nvPr/>
        </p:nvSpPr>
        <p:spPr>
          <a:xfrm>
            <a:off x="73152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74295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200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152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The rules</a:t>
            </a:r>
          </a:p>
        </p:txBody>
      </p:sp>
      <p:sp>
        <p:nvSpPr>
          <p:cNvPr id="17" name="TextBox 16"/>
          <p:cNvSpPr txBox="1"/>
          <p:nvPr/>
        </p:nvSpPr>
        <p:spPr>
          <a:xfrm>
            <a:off x="7696200" y="4191000"/>
            <a:ext cx="2876550" cy="571500"/>
          </a:xfrm>
          <a:prstGeom prst="rect">
            <a:avLst/>
          </a:prstGeom>
          <a:noFill/>
        </p:spPr>
        <p:txBody>
          <a:bodyPr wrap="square" lIns="0" rIns="0" tIns="0" bIns="0" anchor="ctr">
            <a:spAutoFit/>
          </a:bodyPr>
          <a:lstStyle/>
          <a:p>
            <a:pPr algn="ctr"/>
            <a:r>
              <a:rPr sz="1500" b="0" i="0">
                <a:solidFill>
                  <a:srgbClr val="9A7878"/>
                </a:solidFill>
                <a:latin typeface="Geist Mono"/>
                <a:ea typeface="Geist Mono"/>
                <a:cs typeface="Geist Mono"/>
              </a:rPr>
              <a:t>handleStateTransition()</a:t>
            </a:r>
          </a:p>
        </p:txBody>
      </p:sp>
      <p:sp>
        <p:nvSpPr>
          <p:cNvPr id="18" name="Rectangle 17"/>
          <p:cNvSpPr/>
          <p:nvPr/>
        </p:nvSpPr>
        <p:spPr>
          <a:xfrm>
            <a:off x="106680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07823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72800" y="3048000"/>
            <a:ext cx="3028950" cy="2286000"/>
          </a:xfrm>
          <a:prstGeom prst="roundRect">
            <a:avLst>
              <a:gd name="adj" fmla="val 75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0680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Real state</a:t>
            </a:r>
          </a:p>
        </p:txBody>
      </p:sp>
      <p:sp>
        <p:nvSpPr>
          <p:cNvPr id="22" name="TextBox 21"/>
          <p:cNvSpPr txBox="1"/>
          <p:nvPr/>
        </p:nvSpPr>
        <p:spPr>
          <a:xfrm>
            <a:off x="11049000" y="4191000"/>
            <a:ext cx="2876550" cy="571500"/>
          </a:xfrm>
          <a:prstGeom prst="rect">
            <a:avLst/>
          </a:prstGeom>
          <a:noFill/>
        </p:spPr>
        <p:txBody>
          <a:bodyPr wrap="square" lIns="0" rIns="0" tIns="0" bIns="0" anchor="ctr">
            <a:spAutoFit/>
          </a:bodyPr>
          <a:lstStyle/>
          <a:p>
            <a:pPr algn="ctr"/>
            <a:r>
              <a:rPr sz="2400" b="1" i="0">
                <a:solidFill>
                  <a:srgbClr val="E8C27A"/>
                </a:solidFill>
                <a:latin typeface="Geist Mono"/>
                <a:ea typeface="Geist Mono"/>
                <a:cs typeface="Geist Mono"/>
              </a:rPr>
              <a:t>SPIN_UP</a:t>
            </a:r>
          </a:p>
        </p:txBody>
      </p:sp>
      <p:sp>
        <p:nvSpPr>
          <p:cNvPr id="23" name="Rectangle 22"/>
          <p:cNvSpPr/>
          <p:nvPr/>
        </p:nvSpPr>
        <p:spPr>
          <a:xfrm>
            <a:off x="140208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141351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43256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44208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The switch</a:t>
            </a:r>
          </a:p>
        </p:txBody>
      </p:sp>
      <p:sp>
        <p:nvSpPr>
          <p:cNvPr id="27" name="TextBox 26"/>
          <p:cNvSpPr txBox="1"/>
          <p:nvPr/>
        </p:nvSpPr>
        <p:spPr>
          <a:xfrm>
            <a:off x="14401800" y="4191000"/>
            <a:ext cx="2876550" cy="571500"/>
          </a:xfrm>
          <a:prstGeom prst="rect">
            <a:avLst/>
          </a:prstGeom>
          <a:noFill/>
        </p:spPr>
        <p:txBody>
          <a:bodyPr wrap="square" lIns="0" rIns="0" tIns="0" bIns="0" anchor="ctr">
            <a:spAutoFit/>
          </a:bodyPr>
          <a:lstStyle/>
          <a:p>
            <a:pPr algn="ctr"/>
            <a:r>
              <a:rPr sz="1500" b="0" i="0">
                <a:solidFill>
                  <a:srgbClr val="9A7878"/>
                </a:solidFill>
                <a:latin typeface="Geist Mono"/>
                <a:ea typeface="Geist Mono"/>
                <a:cs typeface="Geist Mono"/>
              </a:rPr>
              <a:t>updateLogic()</a:t>
            </a:r>
          </a:p>
        </p:txBody>
      </p:sp>
      <p:sp>
        <p:nvSpPr>
          <p:cNvPr id="28" name="TextBox 27"/>
          <p:cNvSpPr txBox="1"/>
          <p:nvPr/>
        </p:nvSpPr>
        <p:spPr>
          <a:xfrm>
            <a:off x="914400" y="5524500"/>
            <a:ext cx="164592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every 20 ms, for every subsystem</a:t>
            </a:r>
          </a:p>
        </p:txBody>
      </p:sp>
      <p:sp>
        <p:nvSpPr>
          <p:cNvPr id="29" name="Rounded Rectangle 28"/>
          <p:cNvSpPr/>
          <p:nvPr/>
        </p:nvSpPr>
        <p:spPr>
          <a:xfrm>
            <a:off x="914400" y="6191250"/>
            <a:ext cx="52832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295400" y="657225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Wanted</a:t>
            </a:r>
          </a:p>
        </p:txBody>
      </p:sp>
      <p:sp>
        <p:nvSpPr>
          <p:cNvPr id="31" name="TextBox 30"/>
          <p:cNvSpPr txBox="1"/>
          <p:nvPr/>
        </p:nvSpPr>
        <p:spPr>
          <a:xfrm>
            <a:off x="1295400" y="7158990"/>
            <a:ext cx="4521200" cy="1333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What someone asks for. Set with setWantedState().</a:t>
            </a:r>
          </a:p>
        </p:txBody>
      </p:sp>
      <p:sp>
        <p:nvSpPr>
          <p:cNvPr id="32" name="Rounded Rectangle 31"/>
          <p:cNvSpPr/>
          <p:nvPr/>
        </p:nvSpPr>
        <p:spPr>
          <a:xfrm>
            <a:off x="6502400" y="6191250"/>
            <a:ext cx="5283200" cy="2286000"/>
          </a:xfrm>
          <a:prstGeom prst="roundRect">
            <a:avLst>
              <a:gd name="adj" fmla="val 6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83400" y="657225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Real</a:t>
            </a:r>
          </a:p>
        </p:txBody>
      </p:sp>
      <p:sp>
        <p:nvSpPr>
          <p:cNvPr id="34" name="TextBox 33"/>
          <p:cNvSpPr txBox="1"/>
          <p:nvPr/>
        </p:nvSpPr>
        <p:spPr>
          <a:xfrm>
            <a:off x="6883400" y="7158990"/>
            <a:ext cx="4521200" cy="1333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Where it actually is: system_state_. Only the rules change it.</a:t>
            </a:r>
          </a:p>
        </p:txBody>
      </p:sp>
      <p:sp>
        <p:nvSpPr>
          <p:cNvPr id="35" name="Rounded Rectangle 34"/>
          <p:cNvSpPr/>
          <p:nvPr/>
        </p:nvSpPr>
        <p:spPr>
          <a:xfrm>
            <a:off x="12090400" y="6191250"/>
            <a:ext cx="52832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471400" y="657225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Why two?</a:t>
            </a:r>
          </a:p>
        </p:txBody>
      </p:sp>
      <p:sp>
        <p:nvSpPr>
          <p:cNvPr id="37" name="TextBox 36"/>
          <p:cNvSpPr txBox="1"/>
          <p:nvPr/>
        </p:nvSpPr>
        <p:spPr>
          <a:xfrm>
            <a:off x="12471400" y="7158990"/>
            <a:ext cx="4521200" cy="1333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wheel needs time to spin up. Asking can't skip that.</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Java for state machines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enum lists the states, switch acts on them, booleans decide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An enum is a menu with no typos allowed. I like that.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enum: the list of states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096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ShooterConstants.java</a:t>
            </a:r>
          </a:p>
        </p:txBody>
      </p:sp>
      <p:sp>
        <p:nvSpPr>
          <p:cNvPr id="6" name="Rounded Rectangle 5"/>
          <p:cNvSpPr/>
          <p:nvPr/>
        </p:nvSpPr>
        <p:spPr>
          <a:xfrm>
            <a:off x="914400" y="3143250"/>
            <a:ext cx="10096500" cy="4216718"/>
          </a:xfrm>
          <a:prstGeom prst="roundRect">
            <a:avLst>
              <a:gd name="adj" fmla="val 361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675822"/>
            <a:ext cx="10058400" cy="38385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675822"/>
            <a:ext cx="57150" cy="38385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443538"/>
            <a:ext cx="10058400" cy="38385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443538"/>
            <a:ext cx="57150" cy="38385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211252"/>
            <a:ext cx="10058400" cy="38385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211252"/>
            <a:ext cx="57150" cy="38385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524250"/>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The things the shooter can be doing. */</a:t>
            </a:r>
          </a:p>
        </p:txBody>
      </p:sp>
      <p:sp>
        <p:nvSpPr>
          <p:cNvPr id="14" name="TextBox 13"/>
          <p:cNvSpPr txBox="1"/>
          <p:nvPr/>
        </p:nvSpPr>
        <p:spPr>
          <a:xfrm>
            <a:off x="1295400" y="3908108"/>
            <a:ext cx="9563100" cy="383858"/>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enum</a:t>
            </a:r>
            <a:r>
              <a:rPr sz="1950" b="0" i="0">
                <a:solidFill>
                  <a:srgbClr val="F0E8E8"/>
                </a:solidFill>
                <a:latin typeface="Geist Mono"/>
                <a:ea typeface="Geist Mono"/>
                <a:cs typeface="Geist Mono"/>
              </a:rPr>
              <a:t> ShooterStates {</a:t>
            </a:r>
          </a:p>
        </p:txBody>
      </p:sp>
      <p:sp>
        <p:nvSpPr>
          <p:cNvPr id="15" name="TextBox 14"/>
          <p:cNvSpPr txBox="1"/>
          <p:nvPr/>
        </p:nvSpPr>
        <p:spPr>
          <a:xfrm>
            <a:off x="1295400" y="4291965"/>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Everything stopped. */</a:t>
            </a:r>
          </a:p>
        </p:txBody>
      </p:sp>
      <p:sp>
        <p:nvSpPr>
          <p:cNvPr id="16" name="TextBox 15"/>
          <p:cNvSpPr txBox="1"/>
          <p:nvPr/>
        </p:nvSpPr>
        <p:spPr>
          <a:xfrm>
            <a:off x="1295400" y="4675822"/>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IDLE,</a:t>
            </a:r>
          </a:p>
        </p:txBody>
      </p:sp>
      <p:sp>
        <p:nvSpPr>
          <p:cNvPr id="17" name="TextBox 16"/>
          <p:cNvSpPr txBox="1"/>
          <p:nvPr/>
        </p:nvSpPr>
        <p:spPr>
          <a:xfrm>
            <a:off x="1295400" y="5059680"/>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Getting the flywheel up to speed. */</a:t>
            </a:r>
          </a:p>
        </p:txBody>
      </p:sp>
      <p:sp>
        <p:nvSpPr>
          <p:cNvPr id="18" name="TextBox 17"/>
          <p:cNvSpPr txBox="1"/>
          <p:nvPr/>
        </p:nvSpPr>
        <p:spPr>
          <a:xfrm>
            <a:off x="1295400" y="5443538"/>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SPIN_UP,</a:t>
            </a:r>
          </a:p>
        </p:txBody>
      </p:sp>
      <p:sp>
        <p:nvSpPr>
          <p:cNvPr id="19" name="TextBox 18"/>
          <p:cNvSpPr txBox="1"/>
          <p:nvPr/>
        </p:nvSpPr>
        <p:spPr>
          <a:xfrm>
            <a:off x="1295400" y="5827395"/>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At speed, so the roller feeds. */</a:t>
            </a:r>
          </a:p>
        </p:txBody>
      </p:sp>
      <p:sp>
        <p:nvSpPr>
          <p:cNvPr id="20" name="TextBox 19"/>
          <p:cNvSpPr txBox="1"/>
          <p:nvPr/>
        </p:nvSpPr>
        <p:spPr>
          <a:xfrm>
            <a:off x="1295400" y="6211252"/>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SHOOT</a:t>
            </a:r>
          </a:p>
        </p:txBody>
      </p:sp>
      <p:sp>
        <p:nvSpPr>
          <p:cNvPr id="21" name="TextBox 20"/>
          <p:cNvSpPr txBox="1"/>
          <p:nvPr/>
        </p:nvSpPr>
        <p:spPr>
          <a:xfrm>
            <a:off x="1295400" y="6595110"/>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2" name="Oval 21"/>
          <p:cNvSpPr/>
          <p:nvPr/>
        </p:nvSpPr>
        <p:spPr>
          <a:xfrm>
            <a:off x="10401300" y="390953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01300" y="390953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0401300" y="467725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01300" y="467725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10401300" y="621268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01300" y="621268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pic>
        <p:nvPicPr>
          <p:cNvPr id="28" name="Picture 27" descr="code-slash.png"/>
          <p:cNvPicPr>
            <a:picLocks noChangeAspect="1"/>
          </p:cNvPicPr>
          <p:nvPr/>
        </p:nvPicPr>
        <p:blipFill>
          <a:blip r:embed="rId3"/>
          <a:stretch>
            <a:fillRect/>
          </a:stretch>
        </p:blipFill>
        <p:spPr>
          <a:xfrm>
            <a:off x="914400" y="8420100"/>
            <a:ext cx="224518" cy="209550"/>
          </a:xfrm>
          <a:prstGeom prst="rect">
            <a:avLst/>
          </a:prstGeom>
        </p:spPr>
      </p:pic>
      <p:sp>
        <p:nvSpPr>
          <p:cNvPr id="29" name="TextBox 28"/>
          <p:cNvSpPr txBox="1"/>
          <p:nvPr/>
        </p:nvSpPr>
        <p:spPr>
          <a:xfrm>
            <a:off x="1295400" y="8382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Variables (enums)</a:t>
            </a:r>
          </a:p>
        </p:txBody>
      </p:sp>
      <p:sp>
        <p:nvSpPr>
          <p:cNvPr id="30" name="Oval 29"/>
          <p:cNvSpPr/>
          <p:nvPr/>
        </p:nvSpPr>
        <p:spPr>
          <a:xfrm>
            <a:off x="116776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TextBox 31"/>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enum</a:t>
            </a:r>
          </a:p>
        </p:txBody>
      </p:sp>
      <p:sp>
        <p:nvSpPr>
          <p:cNvPr id="33" name="TextBox 32"/>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type with a fixed list of values</a:t>
            </a:r>
          </a:p>
        </p:txBody>
      </p:sp>
      <p:sp>
        <p:nvSpPr>
          <p:cNvPr id="34" name="Oval 33"/>
          <p:cNvSpPr/>
          <p:nvPr/>
        </p:nvSpPr>
        <p:spPr>
          <a:xfrm>
            <a:off x="116776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6776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TextBox 35"/>
          <p:cNvSpPr txBox="1"/>
          <p:nvPr/>
        </p:nvSpPr>
        <p:spPr>
          <a:xfrm>
            <a:off x="12287250" y="4438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value per state</a:t>
            </a:r>
          </a:p>
        </p:txBody>
      </p:sp>
      <p:sp>
        <p:nvSpPr>
          <p:cNvPr id="37" name="TextBox 36"/>
          <p:cNvSpPr txBox="1"/>
          <p:nvPr/>
        </p:nvSpPr>
        <p:spPr>
          <a:xfrm>
            <a:off x="12287250" y="4857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Each with a comment saying what it means</a:t>
            </a:r>
          </a:p>
        </p:txBody>
      </p:sp>
      <p:sp>
        <p:nvSpPr>
          <p:cNvPr id="38" name="Oval 37"/>
          <p:cNvSpPr/>
          <p:nvPr/>
        </p:nvSpPr>
        <p:spPr>
          <a:xfrm>
            <a:off x="1167765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6776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TextBox 39"/>
          <p:cNvSpPr txBox="1"/>
          <p:nvPr/>
        </p:nvSpPr>
        <p:spPr>
          <a:xfrm>
            <a:off x="12287250" y="6057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Use it by name</a:t>
            </a:r>
          </a:p>
        </p:txBody>
      </p:sp>
      <p:sp>
        <p:nvSpPr>
          <p:cNvPr id="41" name="TextBox 40"/>
          <p:cNvSpPr txBox="1"/>
          <p:nvPr/>
        </p:nvSpPr>
        <p:spPr>
          <a:xfrm>
            <a:off x="12287250" y="6477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ShooterStates.SHOOT. A typo won't compile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switch: one job per state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8191500" cy="4821936"/>
          </a:xfrm>
          <a:prstGeom prst="roundRect">
            <a:avLst>
              <a:gd name="adj" fmla="val 316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33450" y="4877562"/>
            <a:ext cx="8153400" cy="33832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877562"/>
            <a:ext cx="57150" cy="33832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215890"/>
            <a:ext cx="8153400" cy="33832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215890"/>
            <a:ext cx="57150" cy="33832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554218"/>
            <a:ext cx="8153400" cy="33832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5554218"/>
            <a:ext cx="57150" cy="33832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3524250"/>
            <a:ext cx="7658100" cy="338328"/>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switch</a:t>
            </a:r>
            <a:r>
              <a:rPr sz="1800" b="0" i="0">
                <a:solidFill>
                  <a:srgbClr val="F0E8E8"/>
                </a:solidFill>
                <a:latin typeface="Geist Mono"/>
                <a:ea typeface="Geist Mono"/>
                <a:cs typeface="Geist Mono"/>
              </a:rPr>
              <a:t> (system_state_) {</a:t>
            </a:r>
          </a:p>
        </p:txBody>
      </p:sp>
      <p:sp>
        <p:nvSpPr>
          <p:cNvPr id="13" name="TextBox 12"/>
          <p:cNvSpPr txBox="1"/>
          <p:nvPr/>
        </p:nvSpPr>
        <p:spPr>
          <a:xfrm>
            <a:off x="1295400" y="3862578"/>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ON:</a:t>
            </a:r>
          </a:p>
        </p:txBody>
      </p:sp>
      <p:sp>
        <p:nvSpPr>
          <p:cNvPr id="14" name="TextBox 13"/>
          <p:cNvSpPr txBox="1"/>
          <p:nvPr/>
        </p:nvSpPr>
        <p:spPr>
          <a:xfrm>
            <a:off x="1295400" y="4200906"/>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lamp.setBrightness(</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a:t>
            </a:r>
          </a:p>
        </p:txBody>
      </p:sp>
      <p:sp>
        <p:nvSpPr>
          <p:cNvPr id="15" name="TextBox 14"/>
          <p:cNvSpPr txBox="1"/>
          <p:nvPr/>
        </p:nvSpPr>
        <p:spPr>
          <a:xfrm>
            <a:off x="1295400" y="4539234"/>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6" name="TextBox 15"/>
          <p:cNvSpPr txBox="1"/>
          <p:nvPr/>
        </p:nvSpPr>
        <p:spPr>
          <a:xfrm>
            <a:off x="1295400" y="4877562"/>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DIM:</a:t>
            </a:r>
          </a:p>
        </p:txBody>
      </p:sp>
      <p:sp>
        <p:nvSpPr>
          <p:cNvPr id="17" name="TextBox 16"/>
          <p:cNvSpPr txBox="1"/>
          <p:nvPr/>
        </p:nvSpPr>
        <p:spPr>
          <a:xfrm>
            <a:off x="1295400" y="5215890"/>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lamp.setBrightness(</a:t>
            </a:r>
            <a:r>
              <a:rPr sz="1800" b="0" i="0">
                <a:solidFill>
                  <a:srgbClr val="E8C27A"/>
                </a:solidFill>
                <a:latin typeface="Geist Mono"/>
                <a:ea typeface="Geist Mono"/>
                <a:cs typeface="Geist Mono"/>
              </a:rPr>
              <a:t>0.3</a:t>
            </a:r>
            <a:r>
              <a:rPr sz="1800" b="0" i="0">
                <a:solidFill>
                  <a:srgbClr val="F0E8E8"/>
                </a:solidFill>
                <a:latin typeface="Geist Mono"/>
                <a:ea typeface="Geist Mono"/>
                <a:cs typeface="Geist Mono"/>
              </a:rPr>
              <a:t>);</a:t>
            </a:r>
          </a:p>
        </p:txBody>
      </p:sp>
      <p:sp>
        <p:nvSpPr>
          <p:cNvPr id="18" name="TextBox 17"/>
          <p:cNvSpPr txBox="1"/>
          <p:nvPr/>
        </p:nvSpPr>
        <p:spPr>
          <a:xfrm>
            <a:off x="1295400" y="5554218"/>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9" name="TextBox 18"/>
          <p:cNvSpPr txBox="1"/>
          <p:nvPr/>
        </p:nvSpPr>
        <p:spPr>
          <a:xfrm>
            <a:off x="1295400" y="5892546"/>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OFF:</a:t>
            </a:r>
          </a:p>
        </p:txBody>
      </p:sp>
      <p:sp>
        <p:nvSpPr>
          <p:cNvPr id="20" name="TextBox 19"/>
          <p:cNvSpPr txBox="1"/>
          <p:nvPr/>
        </p:nvSpPr>
        <p:spPr>
          <a:xfrm>
            <a:off x="1295400" y="6230874"/>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default</a:t>
            </a:r>
            <a:r>
              <a:rPr sz="1800" b="0" i="0">
                <a:solidFill>
                  <a:srgbClr val="F0E8E8"/>
                </a:solidFill>
                <a:latin typeface="Geist Mono"/>
                <a:ea typeface="Geist Mono"/>
                <a:cs typeface="Geist Mono"/>
              </a:rPr>
              <a:t>:</a:t>
            </a:r>
          </a:p>
        </p:txBody>
      </p:sp>
      <p:sp>
        <p:nvSpPr>
          <p:cNvPr id="21" name="TextBox 20"/>
          <p:cNvSpPr txBox="1"/>
          <p:nvPr/>
        </p:nvSpPr>
        <p:spPr>
          <a:xfrm>
            <a:off x="1295400" y="6569202"/>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lamp.setBrightness(</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22" name="TextBox 21"/>
          <p:cNvSpPr txBox="1"/>
          <p:nvPr/>
        </p:nvSpPr>
        <p:spPr>
          <a:xfrm>
            <a:off x="1295400" y="6907530"/>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23" name="TextBox 22"/>
          <p:cNvSpPr txBox="1"/>
          <p:nvPr/>
        </p:nvSpPr>
        <p:spPr>
          <a:xfrm>
            <a:off x="1295400" y="7245858"/>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4" name="Oval 23"/>
          <p:cNvSpPr/>
          <p:nvPr/>
        </p:nvSpPr>
        <p:spPr>
          <a:xfrm>
            <a:off x="8496300" y="350291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96300" y="350291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Oval 25"/>
          <p:cNvSpPr/>
          <p:nvPr/>
        </p:nvSpPr>
        <p:spPr>
          <a:xfrm>
            <a:off x="8496300" y="485622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96300" y="485622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Oval 27"/>
          <p:cNvSpPr/>
          <p:nvPr/>
        </p:nvSpPr>
        <p:spPr>
          <a:xfrm>
            <a:off x="8496300" y="553288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96300" y="553288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Oval 29"/>
          <p:cNvSpPr/>
          <p:nvPr/>
        </p:nvSpPr>
        <p:spPr>
          <a:xfrm>
            <a:off x="8496300" y="62095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96300" y="62095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pic>
        <p:nvPicPr>
          <p:cNvPr id="32" name="Picture 31" descr="code-slash.png"/>
          <p:cNvPicPr>
            <a:picLocks noChangeAspect="1"/>
          </p:cNvPicPr>
          <p:nvPr/>
        </p:nvPicPr>
        <p:blipFill>
          <a:blip r:embed="rId3"/>
          <a:stretch>
            <a:fillRect/>
          </a:stretch>
        </p:blipFill>
        <p:spPr>
          <a:xfrm>
            <a:off x="914400" y="8610600"/>
            <a:ext cx="224518" cy="209550"/>
          </a:xfrm>
          <a:prstGeom prst="rect">
            <a:avLst/>
          </a:prstGeom>
        </p:spPr>
      </p:pic>
      <p:sp>
        <p:nvSpPr>
          <p:cNvPr id="33" name="TextBox 32"/>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 (switch)</a:t>
            </a:r>
          </a:p>
        </p:txBody>
      </p:sp>
      <p:sp>
        <p:nvSpPr>
          <p:cNvPr id="34" name="TextBox 33"/>
          <p:cNvSpPr txBox="1"/>
          <p:nvPr/>
        </p:nvSpPr>
        <p:spPr>
          <a:xfrm>
            <a:off x="9810750" y="2857500"/>
            <a:ext cx="75628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system_state_ is DIM</a:t>
            </a:r>
          </a:p>
        </p:txBody>
      </p:sp>
      <p:sp>
        <p:nvSpPr>
          <p:cNvPr id="35" name="Rounded Rectangle 34"/>
          <p:cNvSpPr/>
          <p:nvPr/>
        </p:nvSpPr>
        <p:spPr>
          <a:xfrm>
            <a:off x="9810750" y="3524250"/>
            <a:ext cx="3619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039350" y="3524250"/>
            <a:ext cx="3238500" cy="8191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case ON</a:t>
            </a:r>
          </a:p>
        </p:txBody>
      </p:sp>
      <p:sp>
        <p:nvSpPr>
          <p:cNvPr id="37" name="Rounded Rectangle 36"/>
          <p:cNvSpPr/>
          <p:nvPr/>
        </p:nvSpPr>
        <p:spPr>
          <a:xfrm>
            <a:off x="9810750" y="4572000"/>
            <a:ext cx="3619500" cy="819150"/>
          </a:xfrm>
          <a:prstGeom prst="roundRect">
            <a:avLst>
              <a:gd name="adj" fmla="val 16279"/>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039350" y="4572000"/>
            <a:ext cx="3238500" cy="8191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case DIM</a:t>
            </a:r>
          </a:p>
        </p:txBody>
      </p:sp>
      <p:sp>
        <p:nvSpPr>
          <p:cNvPr id="39" name="Rectangle 38"/>
          <p:cNvSpPr/>
          <p:nvPr/>
        </p:nvSpPr>
        <p:spPr>
          <a:xfrm>
            <a:off x="13525500" y="4962525"/>
            <a:ext cx="73914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Isosceles Triangle 39"/>
          <p:cNvSpPr/>
          <p:nvPr/>
        </p:nvSpPr>
        <p:spPr>
          <a:xfrm rot="5400000">
            <a:off x="14230350" y="490537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4497050" y="4572000"/>
            <a:ext cx="2857500" cy="819150"/>
          </a:xfrm>
          <a:prstGeom prst="roundRect">
            <a:avLst>
              <a:gd name="adj" fmla="val 16279"/>
            </a:avLst>
          </a:prstGeom>
          <a:solidFill>
            <a:srgbClr val="0A0A0A"/>
          </a:solidFill>
          <a:ln w="1905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4497050" y="4572000"/>
            <a:ext cx="2857500" cy="819150"/>
          </a:xfrm>
          <a:prstGeom prst="rect">
            <a:avLst/>
          </a:prstGeom>
          <a:noFill/>
        </p:spPr>
        <p:txBody>
          <a:bodyPr wrap="square" lIns="0" rIns="0" tIns="0" bIns="0" anchor="ctr">
            <a:spAutoFit/>
          </a:bodyPr>
          <a:lstStyle/>
          <a:p>
            <a:pPr algn="ctr"/>
            <a:r>
              <a:rPr sz="1950" b="0" i="0">
                <a:solidFill>
                  <a:srgbClr val="F0E8E8"/>
                </a:solidFill>
                <a:latin typeface="Geist"/>
                <a:ea typeface="Geist"/>
                <a:cs typeface="Geist"/>
              </a:rPr>
              <a:t>brightness 0.3</a:t>
            </a:r>
          </a:p>
        </p:txBody>
      </p:sp>
      <p:sp>
        <p:nvSpPr>
          <p:cNvPr id="43" name="Rounded Rectangle 42"/>
          <p:cNvSpPr/>
          <p:nvPr/>
        </p:nvSpPr>
        <p:spPr>
          <a:xfrm>
            <a:off x="9810750" y="5619750"/>
            <a:ext cx="3619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39350" y="5619750"/>
            <a:ext cx="3238500" cy="8191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OFF / default</a:t>
            </a:r>
          </a:p>
        </p:txBody>
      </p:sp>
      <p:sp>
        <p:nvSpPr>
          <p:cNvPr id="45" name="Oval 44"/>
          <p:cNvSpPr/>
          <p:nvPr/>
        </p:nvSpPr>
        <p:spPr>
          <a:xfrm>
            <a:off x="9810750" y="685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10750" y="685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7" name="TextBox 46"/>
          <p:cNvSpPr txBox="1"/>
          <p:nvPr/>
        </p:nvSpPr>
        <p:spPr>
          <a:xfrm>
            <a:off x="10420350" y="681990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Look at the state</a:t>
            </a:r>
          </a:p>
        </p:txBody>
      </p:sp>
      <p:sp>
        <p:nvSpPr>
          <p:cNvPr id="48" name="TextBox 47"/>
          <p:cNvSpPr txBox="1"/>
          <p:nvPr/>
        </p:nvSpPr>
        <p:spPr>
          <a:xfrm>
            <a:off x="10420350" y="723900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49" name="Oval 48"/>
          <p:cNvSpPr/>
          <p:nvPr/>
        </p:nvSpPr>
        <p:spPr>
          <a:xfrm>
            <a:off x="9810750" y="72961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10750" y="72961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1" name="TextBox 50"/>
          <p:cNvSpPr txBox="1"/>
          <p:nvPr/>
        </p:nvSpPr>
        <p:spPr>
          <a:xfrm>
            <a:off x="10420350" y="725805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Run the matching case</a:t>
            </a:r>
          </a:p>
        </p:txBody>
      </p:sp>
      <p:sp>
        <p:nvSpPr>
          <p:cNvPr id="52" name="TextBox 51"/>
          <p:cNvSpPr txBox="1"/>
          <p:nvPr/>
        </p:nvSpPr>
        <p:spPr>
          <a:xfrm>
            <a:off x="10420350" y="767715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53" name="Oval 52"/>
          <p:cNvSpPr/>
          <p:nvPr/>
        </p:nvSpPr>
        <p:spPr>
          <a:xfrm>
            <a:off x="9810750" y="77343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10750" y="77343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5" name="TextBox 54"/>
          <p:cNvSpPr txBox="1"/>
          <p:nvPr/>
        </p:nvSpPr>
        <p:spPr>
          <a:xfrm>
            <a:off x="10420350" y="769620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break: leave the switch</a:t>
            </a:r>
          </a:p>
        </p:txBody>
      </p:sp>
      <p:sp>
        <p:nvSpPr>
          <p:cNvPr id="56" name="TextBox 55"/>
          <p:cNvSpPr txBox="1"/>
          <p:nvPr/>
        </p:nvSpPr>
        <p:spPr>
          <a:xfrm>
            <a:off x="10420350" y="811530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57" name="Oval 56"/>
          <p:cNvSpPr/>
          <p:nvPr/>
        </p:nvSpPr>
        <p:spPr>
          <a:xfrm>
            <a:off x="9810750" y="81724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8172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9" name="TextBox 58"/>
          <p:cNvSpPr txBox="1"/>
          <p:nvPr/>
        </p:nvSpPr>
        <p:spPr>
          <a:xfrm>
            <a:off x="10420350" y="813435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default: anything else</a:t>
            </a:r>
          </a:p>
        </p:txBody>
      </p:sp>
      <p:sp>
        <p:nvSpPr>
          <p:cNvPr id="60" name="TextBox 59"/>
          <p:cNvSpPr txBox="1"/>
          <p:nvPr/>
        </p:nvSpPr>
        <p:spPr>
          <a:xfrm>
            <a:off x="10420350" y="855345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61" name="TextBox 6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2" name="TextBox 6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 this first: the drivetrain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6" name="Rounded Rectangle 5"/>
          <p:cNvSpPr/>
          <p:nvPr/>
        </p:nvSpPr>
        <p:spPr>
          <a:xfrm>
            <a:off x="914400" y="3143250"/>
            <a:ext cx="10477500" cy="4533900"/>
          </a:xfrm>
          <a:prstGeom prst="roundRect">
            <a:avLst>
              <a:gd name="adj" fmla="val 33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2100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2100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5529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552950"/>
            <a:ext cx="57150" cy="3429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99441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updateLogic(</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timestamp) {</a:t>
            </a:r>
          </a:p>
        </p:txBody>
      </p:sp>
      <p:sp>
        <p:nvSpPr>
          <p:cNvPr id="12" name="TextBox 11"/>
          <p:cNvSpPr txBox="1"/>
          <p:nvPr/>
        </p:nvSpPr>
        <p:spPr>
          <a:xfrm>
            <a:off x="1295400" y="38671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switch</a:t>
            </a:r>
            <a:r>
              <a:rPr sz="1800" b="0" i="0">
                <a:solidFill>
                  <a:srgbClr val="F0E8E8"/>
                </a:solidFill>
                <a:latin typeface="Geist Mono"/>
                <a:ea typeface="Geist Mono"/>
                <a:cs typeface="Geist Mono"/>
              </a:rPr>
              <a:t> (system_state_) {</a:t>
            </a:r>
          </a:p>
        </p:txBody>
      </p:sp>
      <p:sp>
        <p:nvSpPr>
          <p:cNvPr id="13" name="TextBox 12"/>
          <p:cNvSpPr txBox="1"/>
          <p:nvPr/>
        </p:nvSpPr>
        <p:spPr>
          <a:xfrm>
            <a:off x="1295400" y="42100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ARCADE:</a:t>
            </a:r>
          </a:p>
        </p:txBody>
      </p:sp>
      <p:sp>
        <p:nvSpPr>
          <p:cNvPr id="14" name="TextBox 13"/>
          <p:cNvSpPr txBox="1"/>
          <p:nvPr/>
        </p:nvSpPr>
        <p:spPr>
          <a:xfrm>
            <a:off x="1295400" y="45529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drive_.arcadeDrive(OI.getForward(), OI.getTurn());</a:t>
            </a:r>
          </a:p>
        </p:txBody>
      </p:sp>
      <p:sp>
        <p:nvSpPr>
          <p:cNvPr id="15" name="TextBox 14"/>
          <p:cNvSpPr txBox="1"/>
          <p:nvPr/>
        </p:nvSpPr>
        <p:spPr>
          <a:xfrm>
            <a:off x="1295400" y="48958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6" name="TextBox 15"/>
          <p:cNvSpPr txBox="1"/>
          <p:nvPr/>
        </p:nvSpPr>
        <p:spPr>
          <a:xfrm>
            <a:off x="1295400" y="52387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IDLE:</a:t>
            </a:r>
          </a:p>
        </p:txBody>
      </p:sp>
      <p:sp>
        <p:nvSpPr>
          <p:cNvPr id="17" name="TextBox 16"/>
          <p:cNvSpPr txBox="1"/>
          <p:nvPr/>
        </p:nvSpPr>
        <p:spPr>
          <a:xfrm>
            <a:off x="1295400" y="55816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default</a:t>
            </a:r>
            <a:r>
              <a:rPr sz="1800" b="0" i="0">
                <a:solidFill>
                  <a:srgbClr val="F0E8E8"/>
                </a:solidFill>
                <a:latin typeface="Geist Mono"/>
                <a:ea typeface="Geist Mono"/>
                <a:cs typeface="Geist Mono"/>
              </a:rPr>
              <a:t>:</a:t>
            </a:r>
          </a:p>
        </p:txBody>
      </p:sp>
      <p:sp>
        <p:nvSpPr>
          <p:cNvPr id="18" name="TextBox 17"/>
          <p:cNvSpPr txBox="1"/>
          <p:nvPr/>
        </p:nvSpPr>
        <p:spPr>
          <a:xfrm>
            <a:off x="1295400" y="59245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19" name="TextBox 18"/>
          <p:cNvSpPr txBox="1"/>
          <p:nvPr/>
        </p:nvSpPr>
        <p:spPr>
          <a:xfrm>
            <a:off x="1295400" y="62674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20" name="TextBox 19"/>
          <p:cNvSpPr txBox="1"/>
          <p:nvPr/>
        </p:nvSpPr>
        <p:spPr>
          <a:xfrm>
            <a:off x="1295400" y="66103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1" name="TextBox 20"/>
          <p:cNvSpPr txBox="1"/>
          <p:nvPr/>
        </p:nvSpPr>
        <p:spPr>
          <a:xfrm>
            <a:off x="1295400" y="69532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2" name="Oval 21"/>
          <p:cNvSpPr/>
          <p:nvPr/>
        </p:nvSpPr>
        <p:spPr>
          <a:xfrm>
            <a:off x="10782300" y="38481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82300" y="3848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0782300" y="45339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82300" y="4533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10782300" y="55626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2300" y="55626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Rounded Rectangle 27"/>
          <p:cNvSpPr/>
          <p:nvPr/>
        </p:nvSpPr>
        <p:spPr>
          <a:xfrm>
            <a:off x="11906250" y="2857500"/>
            <a:ext cx="546735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287250" y="3200400"/>
            <a:ext cx="476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WHO ASKS FOR WHICH</a:t>
            </a:r>
          </a:p>
        </p:txBody>
      </p:sp>
      <p:sp>
        <p:nvSpPr>
          <p:cNvPr id="30" name="TextBox 29"/>
          <p:cNvSpPr txBox="1"/>
          <p:nvPr/>
        </p:nvSpPr>
        <p:spPr>
          <a:xfrm>
            <a:off x="12287250" y="3810000"/>
            <a:ext cx="4762500" cy="3810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disabledInit()</a:t>
            </a:r>
          </a:p>
        </p:txBody>
      </p:sp>
      <p:sp>
        <p:nvSpPr>
          <p:cNvPr id="31" name="Rectangle 30"/>
          <p:cNvSpPr/>
          <p:nvPr/>
        </p:nvSpPr>
        <p:spPr>
          <a:xfrm>
            <a:off x="12463462" y="4291012"/>
            <a:ext cx="28575" cy="3105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sosceles Triangle 31"/>
          <p:cNvSpPr/>
          <p:nvPr/>
        </p:nvSpPr>
        <p:spPr>
          <a:xfrm rot="10800000">
            <a:off x="12401550" y="45720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2287250" y="4800600"/>
            <a:ext cx="2286000" cy="571500"/>
          </a:xfrm>
          <a:prstGeom prst="roundRect">
            <a:avLst>
              <a:gd name="adj" fmla="val 2333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287250" y="4800600"/>
            <a:ext cx="2286000" cy="57150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IDLE</a:t>
            </a:r>
          </a:p>
        </p:txBody>
      </p:sp>
      <p:sp>
        <p:nvSpPr>
          <p:cNvPr id="35" name="TextBox 34"/>
          <p:cNvSpPr txBox="1"/>
          <p:nvPr/>
        </p:nvSpPr>
        <p:spPr>
          <a:xfrm>
            <a:off x="14763750" y="4800600"/>
            <a:ext cx="2476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wanted</a:t>
            </a:r>
          </a:p>
        </p:txBody>
      </p:sp>
      <p:sp>
        <p:nvSpPr>
          <p:cNvPr id="36" name="TextBox 35"/>
          <p:cNvSpPr txBox="1"/>
          <p:nvPr/>
        </p:nvSpPr>
        <p:spPr>
          <a:xfrm>
            <a:off x="12287250" y="5715000"/>
            <a:ext cx="4762500" cy="3810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teleopInit()</a:t>
            </a:r>
          </a:p>
        </p:txBody>
      </p:sp>
      <p:sp>
        <p:nvSpPr>
          <p:cNvPr id="37" name="Rectangle 36"/>
          <p:cNvSpPr/>
          <p:nvPr/>
        </p:nvSpPr>
        <p:spPr>
          <a:xfrm>
            <a:off x="12463462" y="6196012"/>
            <a:ext cx="28575" cy="3105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Isosceles Triangle 37"/>
          <p:cNvSpPr/>
          <p:nvPr/>
        </p:nvSpPr>
        <p:spPr>
          <a:xfrm rot="10800000">
            <a:off x="12401550" y="64770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2287250" y="6705600"/>
            <a:ext cx="2286000" cy="571500"/>
          </a:xfrm>
          <a:prstGeom prst="roundRect">
            <a:avLst>
              <a:gd name="adj" fmla="val 23333"/>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287250" y="6705600"/>
            <a:ext cx="2286000" cy="57150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ARCADE</a:t>
            </a:r>
          </a:p>
        </p:txBody>
      </p:sp>
      <p:sp>
        <p:nvSpPr>
          <p:cNvPr id="41" name="TextBox 40"/>
          <p:cNvSpPr txBox="1"/>
          <p:nvPr/>
        </p:nvSpPr>
        <p:spPr>
          <a:xfrm>
            <a:off x="14763750" y="6705600"/>
            <a:ext cx="2476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wanted</a:t>
            </a:r>
          </a:p>
        </p:txBody>
      </p:sp>
      <p:sp>
        <p:nvSpPr>
          <p:cNvPr id="42" name="TextBox 41"/>
          <p:cNvSpPr txBox="1"/>
          <p:nvPr/>
        </p:nvSpPr>
        <p:spPr>
          <a:xfrm>
            <a:off x="12287250" y="7524750"/>
            <a:ext cx="4762500" cy="5715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Set in Robot.java</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Gotcha: the missing break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10096500" cy="4476750"/>
          </a:xfrm>
          <a:prstGeom prst="roundRect">
            <a:avLst>
              <a:gd name="adj" fmla="val 34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33450" y="5010150"/>
            <a:ext cx="10058400" cy="3714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010150"/>
            <a:ext cx="57150" cy="3714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524250"/>
            <a:ext cx="9563100" cy="37147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switch</a:t>
            </a:r>
            <a:r>
              <a:rPr sz="1950" b="0" i="0">
                <a:solidFill>
                  <a:srgbClr val="F0E8E8"/>
                </a:solidFill>
                <a:latin typeface="Geist Mono"/>
                <a:ea typeface="Geist Mono"/>
                <a:cs typeface="Geist Mono"/>
              </a:rPr>
              <a:t> (system_state_) {</a:t>
            </a:r>
          </a:p>
        </p:txBody>
      </p:sp>
      <p:sp>
        <p:nvSpPr>
          <p:cNvPr id="9" name="TextBox 8"/>
          <p:cNvSpPr txBox="1"/>
          <p:nvPr/>
        </p:nvSpPr>
        <p:spPr>
          <a:xfrm>
            <a:off x="1295400" y="389572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case</a:t>
            </a:r>
            <a:r>
              <a:rPr sz="1950" b="0" i="0">
                <a:solidFill>
                  <a:srgbClr val="F0E8E8"/>
                </a:solidFill>
                <a:latin typeface="Geist Mono"/>
                <a:ea typeface="Geist Mono"/>
                <a:cs typeface="Geist Mono"/>
              </a:rPr>
              <a:t> SPIN_UP:</a:t>
            </a:r>
          </a:p>
        </p:txBody>
      </p:sp>
      <p:sp>
        <p:nvSpPr>
          <p:cNvPr id="10" name="TextBox 9"/>
          <p:cNvSpPr txBox="1"/>
          <p:nvPr/>
        </p:nvSpPr>
        <p:spPr>
          <a:xfrm>
            <a:off x="1295400" y="426720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runFlywheel();</a:t>
            </a:r>
          </a:p>
        </p:txBody>
      </p:sp>
      <p:sp>
        <p:nvSpPr>
          <p:cNvPr id="11" name="TextBox 10"/>
          <p:cNvSpPr txBox="1"/>
          <p:nvPr/>
        </p:nvSpPr>
        <p:spPr>
          <a:xfrm>
            <a:off x="1295400" y="463867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roller_.setTargetDutyCycle(</a:t>
            </a:r>
            <a:r>
              <a:rPr sz="1950" b="0" i="0">
                <a:solidFill>
                  <a:srgbClr val="E8C27A"/>
                </a:solidFill>
                <a:latin typeface="Geist Mono"/>
                <a:ea typeface="Geist Mono"/>
                <a:cs typeface="Geist Mono"/>
              </a:rPr>
              <a:t>0.0</a:t>
            </a:r>
            <a:r>
              <a:rPr sz="1950" b="0" i="0">
                <a:solidFill>
                  <a:srgbClr val="F0E8E8"/>
                </a:solidFill>
                <a:latin typeface="Geist Mono"/>
                <a:ea typeface="Geist Mono"/>
                <a:cs typeface="Geist Mono"/>
              </a:rPr>
              <a:t>);</a:t>
            </a:r>
          </a:p>
        </p:txBody>
      </p:sp>
      <p:sp>
        <p:nvSpPr>
          <p:cNvPr id="12" name="TextBox 11"/>
          <p:cNvSpPr txBox="1"/>
          <p:nvPr/>
        </p:nvSpPr>
        <p:spPr>
          <a:xfrm>
            <a:off x="1295400" y="501015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1">
                <a:solidFill>
                  <a:srgbClr val="9A7878"/>
                </a:solidFill>
                <a:latin typeface="Geist Mono"/>
                <a:ea typeface="Geist Mono"/>
                <a:cs typeface="Geist Mono"/>
              </a:rPr>
              <a:t>// forgot break!</a:t>
            </a:r>
          </a:p>
        </p:txBody>
      </p:sp>
      <p:sp>
        <p:nvSpPr>
          <p:cNvPr id="13" name="TextBox 12"/>
          <p:cNvSpPr txBox="1"/>
          <p:nvPr/>
        </p:nvSpPr>
        <p:spPr>
          <a:xfrm>
            <a:off x="1295400" y="538162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case</a:t>
            </a:r>
            <a:r>
              <a:rPr sz="1950" b="0" i="0">
                <a:solidFill>
                  <a:srgbClr val="F0E8E8"/>
                </a:solidFill>
                <a:latin typeface="Geist Mono"/>
                <a:ea typeface="Geist Mono"/>
                <a:cs typeface="Geist Mono"/>
              </a:rPr>
              <a:t> SHOOT:</a:t>
            </a:r>
          </a:p>
        </p:txBody>
      </p:sp>
      <p:sp>
        <p:nvSpPr>
          <p:cNvPr id="14" name="TextBox 13"/>
          <p:cNvSpPr txBox="1"/>
          <p:nvPr/>
        </p:nvSpPr>
        <p:spPr>
          <a:xfrm>
            <a:off x="1295400" y="575310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runFlywheel();</a:t>
            </a:r>
          </a:p>
        </p:txBody>
      </p:sp>
      <p:sp>
        <p:nvSpPr>
          <p:cNvPr id="15" name="TextBox 14"/>
          <p:cNvSpPr txBox="1"/>
          <p:nvPr/>
        </p:nvSpPr>
        <p:spPr>
          <a:xfrm>
            <a:off x="1295400" y="612457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roller_.setTargetDutyCycle(</a:t>
            </a:r>
            <a:r>
              <a:rPr sz="1950" b="0" i="0">
                <a:solidFill>
                  <a:srgbClr val="E8C27A"/>
                </a:solidFill>
                <a:latin typeface="Geist Mono"/>
                <a:ea typeface="Geist Mono"/>
                <a:cs typeface="Geist Mono"/>
              </a:rPr>
              <a:t>0.5</a:t>
            </a:r>
            <a:r>
              <a:rPr sz="1950" b="0" i="0">
                <a:solidFill>
                  <a:srgbClr val="F0E8E8"/>
                </a:solidFill>
                <a:latin typeface="Geist Mono"/>
                <a:ea typeface="Geist Mono"/>
                <a:cs typeface="Geist Mono"/>
              </a:rPr>
              <a:t>);</a:t>
            </a:r>
          </a:p>
        </p:txBody>
      </p:sp>
      <p:sp>
        <p:nvSpPr>
          <p:cNvPr id="16" name="TextBox 15"/>
          <p:cNvSpPr txBox="1"/>
          <p:nvPr/>
        </p:nvSpPr>
        <p:spPr>
          <a:xfrm>
            <a:off x="1295400" y="649605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break</a:t>
            </a:r>
            <a:r>
              <a:rPr sz="1950" b="0" i="0">
                <a:solidFill>
                  <a:srgbClr val="F0E8E8"/>
                </a:solidFill>
                <a:latin typeface="Geist Mono"/>
                <a:ea typeface="Geist Mono"/>
                <a:cs typeface="Geist Mono"/>
              </a:rPr>
              <a:t>;</a:t>
            </a:r>
          </a:p>
        </p:txBody>
      </p:sp>
      <p:sp>
        <p:nvSpPr>
          <p:cNvPr id="17" name="TextBox 16"/>
          <p:cNvSpPr txBox="1"/>
          <p:nvPr/>
        </p:nvSpPr>
        <p:spPr>
          <a:xfrm>
            <a:off x="1295400" y="686752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8" name="Oval 17"/>
          <p:cNvSpPr/>
          <p:nvPr/>
        </p:nvSpPr>
        <p:spPr>
          <a:xfrm>
            <a:off x="10401300" y="500538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01300" y="50053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Rectangle 19"/>
          <p:cNvSpPr/>
          <p:nvPr/>
        </p:nvSpPr>
        <p:spPr>
          <a:xfrm>
            <a:off x="11277600" y="5176838"/>
            <a:ext cx="41910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658600" y="5176838"/>
            <a:ext cx="38100" cy="781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414760" y="5919788"/>
            <a:ext cx="28194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16200000">
            <a:off x="11296650" y="5862638"/>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30050" y="5381625"/>
            <a:ext cx="1905000" cy="57150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falls</a:t>
            </a:r>
          </a:p>
          <a:p>
            <a:pPr algn="l"/>
            <a:r>
              <a:rPr sz="1650" b="1" i="0">
                <a:solidFill>
                  <a:srgbClr val="CC2200"/>
                </a:solidFill>
                <a:latin typeface="Geist"/>
                <a:ea typeface="Geist"/>
                <a:cs typeface="Geist"/>
              </a:rPr>
              <a:t>through</a:t>
            </a:r>
          </a:p>
        </p:txBody>
      </p:sp>
      <p:sp>
        <p:nvSpPr>
          <p:cNvPr id="25" name="Rounded Rectangle 24"/>
          <p:cNvSpPr/>
          <p:nvPr/>
        </p:nvSpPr>
        <p:spPr>
          <a:xfrm>
            <a:off x="13716000" y="2857500"/>
            <a:ext cx="3657600" cy="3238500"/>
          </a:xfrm>
          <a:prstGeom prst="roundRect">
            <a:avLst>
              <a:gd name="adj" fmla="val 470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4058900" y="3200400"/>
            <a:ext cx="314325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WHAT HAPPENS</a:t>
            </a:r>
          </a:p>
        </p:txBody>
      </p:sp>
      <p:sp>
        <p:nvSpPr>
          <p:cNvPr id="27" name="TextBox 26"/>
          <p:cNvSpPr txBox="1"/>
          <p:nvPr/>
        </p:nvSpPr>
        <p:spPr>
          <a:xfrm>
            <a:off x="14058900" y="3714750"/>
            <a:ext cx="3048000" cy="22860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In SPIN_UP the roller is set to 0, then straight away to 0.5. It feeds into a slow wheel.</a:t>
            </a:r>
          </a:p>
        </p:txBody>
      </p:sp>
      <p:pic>
        <p:nvPicPr>
          <p:cNvPr id="28" name="Picture 27" descr="dozer_wide_left.png"/>
          <p:cNvPicPr>
            <a:picLocks noChangeAspect="1"/>
          </p:cNvPicPr>
          <p:nvPr/>
        </p:nvPicPr>
        <p:blipFill>
          <a:blip r:embed="rId3"/>
          <a:stretch>
            <a:fillRect/>
          </a:stretch>
        </p:blipFill>
        <p:spPr>
          <a:xfrm>
            <a:off x="15049500" y="6286500"/>
            <a:ext cx="2190750" cy="1346530"/>
          </a:xfrm>
          <a:prstGeom prst="rect">
            <a:avLst/>
          </a:prstGeom>
        </p:spPr>
      </p:pic>
      <p:sp>
        <p:nvSpPr>
          <p:cNvPr id="29" name="Rounded Rectangle 28"/>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33500" y="809625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Fix:  </a:t>
            </a:r>
            <a:r>
              <a:rPr sz="2100" b="0" i="0">
                <a:solidFill>
                  <a:srgbClr val="F0E8E8"/>
                </a:solidFill>
                <a:latin typeface="Geist"/>
                <a:ea typeface="Geist"/>
                <a:cs typeface="Geist"/>
              </a:rPr>
              <a:t>end every case with break. Only leave it out on purpose, like case OFF: default:.</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Yes or no: boolean logic</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857500"/>
            <a:ext cx="1333500" cy="1143000"/>
          </a:xfrm>
          <a:prstGeom prst="rect">
            <a:avLst/>
          </a:prstGeom>
          <a:noFill/>
        </p:spPr>
        <p:txBody>
          <a:bodyPr wrap="square" lIns="0" rIns="0" tIns="0" bIns="0" anchor="ctr">
            <a:spAutoFit/>
          </a:bodyPr>
          <a:lstStyle/>
          <a:p>
            <a:pPr algn="ctr"/>
            <a:r>
              <a:rPr sz="3600" b="1" i="0">
                <a:solidFill>
                  <a:srgbClr val="CC2200"/>
                </a:solidFill>
                <a:latin typeface="Geist Mono"/>
                <a:ea typeface="Geist Mono"/>
                <a:cs typeface="Geist Mono"/>
              </a:rPr>
              <a:t>&amp;&amp;</a:t>
            </a:r>
          </a:p>
        </p:txBody>
      </p:sp>
      <p:sp>
        <p:nvSpPr>
          <p:cNvPr id="7" name="TextBox 6"/>
          <p:cNvSpPr txBox="1"/>
          <p:nvPr/>
        </p:nvSpPr>
        <p:spPr>
          <a:xfrm>
            <a:off x="2381250" y="3028950"/>
            <a:ext cx="2857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and</a:t>
            </a:r>
          </a:p>
        </p:txBody>
      </p:sp>
      <p:sp>
        <p:nvSpPr>
          <p:cNvPr id="8" name="TextBox 7"/>
          <p:cNvSpPr txBox="1"/>
          <p:nvPr/>
        </p:nvSpPr>
        <p:spPr>
          <a:xfrm>
            <a:off x="2381250" y="3467100"/>
            <a:ext cx="3429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both must be true</a:t>
            </a:r>
          </a:p>
        </p:txBody>
      </p:sp>
      <p:sp>
        <p:nvSpPr>
          <p:cNvPr id="9" name="TextBox 8"/>
          <p:cNvSpPr txBox="1"/>
          <p:nvPr/>
        </p:nvSpPr>
        <p:spPr>
          <a:xfrm>
            <a:off x="5619750" y="2857500"/>
            <a:ext cx="3714750" cy="1143000"/>
          </a:xfrm>
          <a:prstGeom prst="rect">
            <a:avLst/>
          </a:prstGeom>
          <a:noFill/>
        </p:spPr>
        <p:txBody>
          <a:bodyPr wrap="square" lIns="0" rIns="0" tIns="0" bIns="0" anchor="ctr">
            <a:spAutoFit/>
          </a:bodyPr>
          <a:lstStyle/>
          <a:p>
            <a:pPr algn="l"/>
            <a:r>
              <a:rPr sz="1650" b="0" i="0">
                <a:solidFill>
                  <a:srgbClr val="E8C27A"/>
                </a:solidFill>
                <a:latin typeface="Geist Mono"/>
                <a:ea typeface="Geist Mono"/>
                <a:cs typeface="Geist Mono"/>
              </a:rPr>
              <a:t>true &amp;&amp; false  →  false</a:t>
            </a:r>
          </a:p>
        </p:txBody>
      </p:sp>
      <p:sp>
        <p:nvSpPr>
          <p:cNvPr id="10" name="Rounded Rectangle 9"/>
          <p:cNvSpPr/>
          <p:nvPr/>
        </p:nvSpPr>
        <p:spPr>
          <a:xfrm>
            <a:off x="914400" y="4191000"/>
            <a:ext cx="8572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4191000"/>
            <a:ext cx="1333500" cy="1143000"/>
          </a:xfrm>
          <a:prstGeom prst="rect">
            <a:avLst/>
          </a:prstGeom>
          <a:noFill/>
        </p:spPr>
        <p:txBody>
          <a:bodyPr wrap="square" lIns="0" rIns="0" tIns="0" bIns="0" anchor="ctr">
            <a:spAutoFit/>
          </a:bodyPr>
          <a:lstStyle/>
          <a:p>
            <a:pPr algn="ctr"/>
            <a:r>
              <a:rPr sz="3600" b="1" i="0">
                <a:solidFill>
                  <a:srgbClr val="CC2200"/>
                </a:solidFill>
                <a:latin typeface="Geist Mono"/>
                <a:ea typeface="Geist Mono"/>
                <a:cs typeface="Geist Mono"/>
              </a:rPr>
              <a:t>||</a:t>
            </a:r>
          </a:p>
        </p:txBody>
      </p:sp>
      <p:sp>
        <p:nvSpPr>
          <p:cNvPr id="12" name="TextBox 11"/>
          <p:cNvSpPr txBox="1"/>
          <p:nvPr/>
        </p:nvSpPr>
        <p:spPr>
          <a:xfrm>
            <a:off x="2381250" y="4362450"/>
            <a:ext cx="2857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or</a:t>
            </a:r>
          </a:p>
        </p:txBody>
      </p:sp>
      <p:sp>
        <p:nvSpPr>
          <p:cNvPr id="13" name="TextBox 12"/>
          <p:cNvSpPr txBox="1"/>
          <p:nvPr/>
        </p:nvSpPr>
        <p:spPr>
          <a:xfrm>
            <a:off x="2381250" y="4800600"/>
            <a:ext cx="3429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either one is enough</a:t>
            </a:r>
          </a:p>
        </p:txBody>
      </p:sp>
      <p:sp>
        <p:nvSpPr>
          <p:cNvPr id="14" name="TextBox 13"/>
          <p:cNvSpPr txBox="1"/>
          <p:nvPr/>
        </p:nvSpPr>
        <p:spPr>
          <a:xfrm>
            <a:off x="5619750" y="4191000"/>
            <a:ext cx="3714750" cy="1143000"/>
          </a:xfrm>
          <a:prstGeom prst="rect">
            <a:avLst/>
          </a:prstGeom>
          <a:noFill/>
        </p:spPr>
        <p:txBody>
          <a:bodyPr wrap="square" lIns="0" rIns="0" tIns="0" bIns="0" anchor="ctr">
            <a:spAutoFit/>
          </a:bodyPr>
          <a:lstStyle/>
          <a:p>
            <a:pPr algn="l"/>
            <a:r>
              <a:rPr sz="1650" b="0" i="0">
                <a:solidFill>
                  <a:srgbClr val="E8C27A"/>
                </a:solidFill>
                <a:latin typeface="Geist Mono"/>
                <a:ea typeface="Geist Mono"/>
                <a:cs typeface="Geist Mono"/>
              </a:rPr>
              <a:t>true || false  →  true</a:t>
            </a:r>
          </a:p>
        </p:txBody>
      </p:sp>
      <p:sp>
        <p:nvSpPr>
          <p:cNvPr id="15" name="Rounded Rectangle 14"/>
          <p:cNvSpPr/>
          <p:nvPr/>
        </p:nvSpPr>
        <p:spPr>
          <a:xfrm>
            <a:off x="914400" y="5524500"/>
            <a:ext cx="8572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5524500"/>
            <a:ext cx="1333500" cy="1143000"/>
          </a:xfrm>
          <a:prstGeom prst="rect">
            <a:avLst/>
          </a:prstGeom>
          <a:noFill/>
        </p:spPr>
        <p:txBody>
          <a:bodyPr wrap="square" lIns="0" rIns="0" tIns="0" bIns="0" anchor="ctr">
            <a:spAutoFit/>
          </a:bodyPr>
          <a:lstStyle/>
          <a:p>
            <a:pPr algn="ctr"/>
            <a:r>
              <a:rPr sz="3600" b="1" i="0">
                <a:solidFill>
                  <a:srgbClr val="CC2200"/>
                </a:solidFill>
                <a:latin typeface="Geist Mono"/>
                <a:ea typeface="Geist Mono"/>
                <a:cs typeface="Geist Mono"/>
              </a:rPr>
              <a:t>!</a:t>
            </a:r>
          </a:p>
        </p:txBody>
      </p:sp>
      <p:sp>
        <p:nvSpPr>
          <p:cNvPr id="17" name="TextBox 16"/>
          <p:cNvSpPr txBox="1"/>
          <p:nvPr/>
        </p:nvSpPr>
        <p:spPr>
          <a:xfrm>
            <a:off x="2381250" y="5695950"/>
            <a:ext cx="2857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not</a:t>
            </a:r>
          </a:p>
        </p:txBody>
      </p:sp>
      <p:sp>
        <p:nvSpPr>
          <p:cNvPr id="18" name="TextBox 17"/>
          <p:cNvSpPr txBox="1"/>
          <p:nvPr/>
        </p:nvSpPr>
        <p:spPr>
          <a:xfrm>
            <a:off x="2381250" y="6134100"/>
            <a:ext cx="3429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flips it</a:t>
            </a:r>
          </a:p>
        </p:txBody>
      </p:sp>
      <p:sp>
        <p:nvSpPr>
          <p:cNvPr id="19" name="TextBox 18"/>
          <p:cNvSpPr txBox="1"/>
          <p:nvPr/>
        </p:nvSpPr>
        <p:spPr>
          <a:xfrm>
            <a:off x="5619750" y="5524500"/>
            <a:ext cx="3714750" cy="1143000"/>
          </a:xfrm>
          <a:prstGeom prst="rect">
            <a:avLst/>
          </a:prstGeom>
          <a:noFill/>
        </p:spPr>
        <p:txBody>
          <a:bodyPr wrap="square" lIns="0" rIns="0" tIns="0" bIns="0" anchor="ctr">
            <a:spAutoFit/>
          </a:bodyPr>
          <a:lstStyle/>
          <a:p>
            <a:pPr algn="l"/>
            <a:r>
              <a:rPr sz="1650" b="0" i="0">
                <a:solidFill>
                  <a:srgbClr val="E8C27A"/>
                </a:solidFill>
                <a:latin typeface="Geist Mono"/>
                <a:ea typeface="Geist Mono"/>
                <a:cs typeface="Geist Mono"/>
              </a:rPr>
              <a:t>!true  →  false</a:t>
            </a:r>
          </a:p>
        </p:txBody>
      </p:sp>
      <p:sp>
        <p:nvSpPr>
          <p:cNvPr id="20" name="TextBox 19"/>
          <p:cNvSpPr txBox="1"/>
          <p:nvPr/>
        </p:nvSpPr>
        <p:spPr>
          <a:xfrm>
            <a:off x="9906000" y="2724150"/>
            <a:ext cx="7467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An old intake rule</a:t>
            </a:r>
          </a:p>
        </p:txBody>
      </p:sp>
      <p:sp>
        <p:nvSpPr>
          <p:cNvPr id="21" name="Rounded Rectangle 20"/>
          <p:cNvSpPr/>
          <p:nvPr/>
        </p:nvSpPr>
        <p:spPr>
          <a:xfrm>
            <a:off x="9906000" y="3143250"/>
            <a:ext cx="7467600" cy="2103120"/>
          </a:xfrm>
          <a:prstGeom prst="roundRect">
            <a:avLst>
              <a:gd name="adj" fmla="val 724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87000" y="3524250"/>
            <a:ext cx="693420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(system_state_ == IntakeStates.INTAKE</a:t>
            </a:r>
          </a:p>
        </p:txBody>
      </p:sp>
      <p:sp>
        <p:nvSpPr>
          <p:cNvPr id="23" name="TextBox 22"/>
          <p:cNvSpPr txBox="1"/>
          <p:nvPr/>
        </p:nvSpPr>
        <p:spPr>
          <a:xfrm>
            <a:off x="10287000" y="3859530"/>
            <a:ext cx="6934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&amp;&amp; isGamePieceDetected()) {</a:t>
            </a:r>
          </a:p>
        </p:txBody>
      </p:sp>
      <p:sp>
        <p:nvSpPr>
          <p:cNvPr id="24" name="TextBox 23"/>
          <p:cNvSpPr txBox="1"/>
          <p:nvPr/>
        </p:nvSpPr>
        <p:spPr>
          <a:xfrm>
            <a:off x="10287000" y="4194810"/>
            <a:ext cx="6934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system_state_ = IntakeStates.IDLE;</a:t>
            </a:r>
          </a:p>
        </p:txBody>
      </p:sp>
      <p:sp>
        <p:nvSpPr>
          <p:cNvPr id="25" name="TextBox 24"/>
          <p:cNvSpPr txBox="1"/>
          <p:nvPr/>
        </p:nvSpPr>
        <p:spPr>
          <a:xfrm>
            <a:off x="10287000" y="4530090"/>
            <a:ext cx="6934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6" name="TextBox 25"/>
          <p:cNvSpPr txBox="1"/>
          <p:nvPr/>
        </p:nvSpPr>
        <p:spPr>
          <a:xfrm>
            <a:off x="9906000" y="6096000"/>
            <a:ext cx="7467600" cy="952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Read it: </a:t>
            </a:r>
            <a:r>
              <a:rPr sz="1950" b="1" i="0">
                <a:solidFill>
                  <a:srgbClr val="F0E8E8"/>
                </a:solidFill>
                <a:latin typeface="Geist"/>
                <a:ea typeface="Geist"/>
                <a:cs typeface="Geist"/>
              </a:rPr>
              <a:t>if</a:t>
            </a:r>
            <a:r>
              <a:rPr sz="1950" b="0" i="0">
                <a:solidFill>
                  <a:srgbClr val="F0E8E8"/>
                </a:solidFill>
                <a:latin typeface="Geist"/>
                <a:ea typeface="Geist"/>
                <a:cs typeface="Geist"/>
              </a:rPr>
              <a:t> intaking </a:t>
            </a:r>
            <a:r>
              <a:rPr sz="1950" b="1" i="0">
                <a:solidFill>
                  <a:srgbClr val="F0E8E8"/>
                </a:solidFill>
                <a:latin typeface="Geist"/>
                <a:ea typeface="Geist"/>
                <a:cs typeface="Geist"/>
              </a:rPr>
              <a:t>and</a:t>
            </a:r>
            <a:r>
              <a:rPr sz="1950" b="0" i="0">
                <a:solidFill>
                  <a:srgbClr val="F0E8E8"/>
                </a:solidFill>
                <a:latin typeface="Geist"/>
                <a:ea typeface="Geist"/>
                <a:cs typeface="Geist"/>
              </a:rPr>
              <a:t> a piece is detected, </a:t>
            </a:r>
            <a:r>
              <a:rPr sz="1950" b="1" i="0">
                <a:solidFill>
                  <a:srgbClr val="F0E8E8"/>
                </a:solidFill>
                <a:latin typeface="Geist"/>
                <a:ea typeface="Geist"/>
                <a:cs typeface="Geist"/>
              </a:rPr>
              <a:t>go idle</a:t>
            </a:r>
            <a:r>
              <a:rPr sz="1950" b="0" i="0">
                <a:solidFill>
                  <a:srgbClr val="F0E8E8"/>
                </a:solidFill>
                <a:latin typeface="Geist"/>
                <a:ea typeface="Geist"/>
                <a:cs typeface="Geist"/>
              </a:rPr>
              <a:t>.</a:t>
            </a:r>
          </a:p>
        </p:txBody>
      </p:sp>
      <p:sp>
        <p:nvSpPr>
          <p:cNvPr id="27" name="Rounded Rectangle 26"/>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ightbulb.png"/>
          <p:cNvPicPr>
            <a:picLocks noChangeAspect="1"/>
          </p:cNvPicPr>
          <p:nvPr/>
        </p:nvPicPr>
        <p:blipFill>
          <a:blip r:embed="rId3"/>
          <a:stretch>
            <a:fillRect/>
          </a:stretch>
        </p:blipFill>
        <p:spPr>
          <a:xfrm>
            <a:off x="1333500" y="8020050"/>
            <a:ext cx="400050" cy="533400"/>
          </a:xfrm>
          <a:prstGeom prst="rect">
            <a:avLst/>
          </a:prstGeom>
        </p:spPr>
      </p:pic>
      <p:sp>
        <p:nvSpPr>
          <p:cNvPr id="29" name="TextBox 28"/>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Tip:  </a:t>
            </a:r>
            <a:r>
              <a:rPr sz="2100" b="0" i="0">
                <a:solidFill>
                  <a:srgbClr val="F0E8E8"/>
                </a:solidFill>
                <a:latin typeface="Geist"/>
                <a:ea typeface="Geist"/>
                <a:cs typeface="Geist"/>
              </a:rPr>
              <a:t>== compares (is it equal?). A single = stores a value.</a:t>
            </a:r>
          </a:p>
        </p:txBody>
      </p:sp>
      <p:pic>
        <p:nvPicPr>
          <p:cNvPr id="30" name="Picture 29" descr="code-slash.png"/>
          <p:cNvPicPr>
            <a:picLocks noChangeAspect="1"/>
          </p:cNvPicPr>
          <p:nvPr/>
        </p:nvPicPr>
        <p:blipFill>
          <a:blip r:embed="rId4"/>
          <a:stretch>
            <a:fillRect/>
          </a:stretch>
        </p:blipFill>
        <p:spPr>
          <a:xfrm>
            <a:off x="914400" y="7105650"/>
            <a:ext cx="224518" cy="209550"/>
          </a:xfrm>
          <a:prstGeom prst="rect">
            <a:avLst/>
          </a:prstGeom>
        </p:spPr>
      </p:pic>
      <p:sp>
        <p:nvSpPr>
          <p:cNvPr id="31" name="TextBox 30"/>
          <p:cNvSpPr txBox="1"/>
          <p:nvPr/>
        </p:nvSpPr>
        <p:spPr>
          <a:xfrm>
            <a:off x="1295400" y="70675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The shooter's state machine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Never feed a game piece into a slow flywheel</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 car can't start at 60 mph. A flywheel can't start at full speed either.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mechanisms, one rule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H="1" flipV="1">
            <a:off x="4576392" y="6537880"/>
            <a:ext cx="233733" cy="15320"/>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4346658" y="6492183"/>
            <a:ext cx="229734" cy="45697"/>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4124854" y="6416891"/>
            <a:ext cx="221804" cy="75292"/>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3914775" y="6313292"/>
            <a:ext cx="210079" cy="10359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3720016" y="6183158"/>
            <a:ext cx="194759" cy="13013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3543909" y="6028716"/>
            <a:ext cx="176107" cy="154442"/>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3389467" y="5852609"/>
            <a:ext cx="154442" cy="176107"/>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259333" y="5657850"/>
            <a:ext cx="130134" cy="19475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155734" y="5447771"/>
            <a:ext cx="103599" cy="21007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3080442" y="5225967"/>
            <a:ext cx="75292" cy="22180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034745" y="4996233"/>
            <a:ext cx="45697" cy="22973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3019425" y="4762500"/>
            <a:ext cx="15320" cy="233733"/>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019425" y="4528767"/>
            <a:ext cx="15320" cy="233733"/>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034745" y="4299033"/>
            <a:ext cx="45697" cy="22973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080442" y="4077229"/>
            <a:ext cx="75292" cy="22180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155734" y="3867150"/>
            <a:ext cx="103599" cy="21007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4748212" y="6510338"/>
            <a:ext cx="2676525" cy="85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3762375" y="3714750"/>
            <a:ext cx="2095500" cy="209550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5063137" y="4531999"/>
            <a:ext cx="607229" cy="1627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877919" y="3902259"/>
            <a:ext cx="162707" cy="6072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4180385" y="4132760"/>
            <a:ext cx="444522" cy="444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949884" y="4830294"/>
            <a:ext cx="607229" cy="1627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4579624" y="5015512"/>
            <a:ext cx="162707" cy="6072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995343" y="4947718"/>
            <a:ext cx="444522" cy="444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4621530" y="4573905"/>
            <a:ext cx="377190" cy="37719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5448300" y="3657148"/>
            <a:ext cx="104012" cy="6697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552312" y="3724123"/>
            <a:ext cx="97040" cy="7672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649352" y="3800852"/>
            <a:ext cx="89156" cy="8576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738508" y="3886615"/>
            <a:ext cx="80435" cy="9399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818943" y="3980607"/>
            <a:ext cx="70957" cy="10133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889900" y="4081945"/>
            <a:ext cx="60813" cy="10773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50713" y="4189675"/>
            <a:ext cx="50098" cy="1131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00811" y="4302787"/>
            <a:ext cx="38912" cy="11743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039723" y="4420218"/>
            <a:ext cx="27361" cy="12064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067084" y="4540864"/>
            <a:ext cx="15553" cy="12272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058824" y="4639780"/>
            <a:ext cx="47625" cy="171283"/>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H="1">
            <a:off x="6077845" y="4787250"/>
            <a:ext cx="8390" cy="12342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057545" y="4910675"/>
            <a:ext cx="20300" cy="12203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6025527" y="5032708"/>
            <a:ext cx="32018" cy="1194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982090" y="5152203"/>
            <a:ext cx="43437" cy="11583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5927644" y="5268036"/>
            <a:ext cx="54446" cy="1110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5787866" y="5379121"/>
            <a:ext cx="139778" cy="203801"/>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6324600" y="5124450"/>
            <a:ext cx="876300" cy="87630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flipV="1">
            <a:off x="6868555" y="5466209"/>
            <a:ext cx="253932" cy="680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791100" y="5202863"/>
            <a:ext cx="68041" cy="25393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6499404" y="5299254"/>
            <a:ext cx="185891" cy="18589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403013" y="5590950"/>
            <a:ext cx="253932" cy="680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6666359" y="5668405"/>
            <a:ext cx="68041" cy="25393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840205" y="5640055"/>
            <a:ext cx="185891" cy="18589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6683883" y="5483733"/>
            <a:ext cx="157734" cy="157734"/>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6189913" y="5278500"/>
            <a:ext cx="33486" cy="7560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6223399" y="5208122"/>
            <a:ext cx="43410" cy="7037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266809" y="5144267"/>
            <a:ext cx="52534" cy="638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6319343" y="5088109"/>
            <a:ext cx="60693" cy="561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6380036" y="5040681"/>
            <a:ext cx="67734" cy="4742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6447770" y="5002855"/>
            <a:ext cx="73530" cy="3782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6521300" y="4975329"/>
            <a:ext cx="77972" cy="2752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6599272" y="4958608"/>
            <a:ext cx="80980" cy="167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680252" y="4953000"/>
            <a:ext cx="82498" cy="56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762750" y="4953000"/>
            <a:ext cx="82498" cy="56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845248" y="4958608"/>
            <a:ext cx="80980" cy="167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926228" y="4975329"/>
            <a:ext cx="77972" cy="2752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004200" y="5002855"/>
            <a:ext cx="73530" cy="3782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077730" y="5040681"/>
            <a:ext cx="67734" cy="4742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145464" y="5088109"/>
            <a:ext cx="60693" cy="561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206157" y="5144267"/>
            <a:ext cx="52534" cy="638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258691" y="5208122"/>
            <a:ext cx="76896" cy="145983"/>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6153150" y="5867400"/>
            <a:ext cx="647700" cy="6477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385435" y="6172200"/>
            <a:ext cx="691515"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Isosceles Triangle 74"/>
          <p:cNvSpPr/>
          <p:nvPr/>
        </p:nvSpPr>
        <p:spPr>
          <a:xfrm rot="16200000">
            <a:off x="5267325" y="6115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362726" y="5225367"/>
            <a:ext cx="647700" cy="6477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214550" y="3924840"/>
            <a:ext cx="647700" cy="6477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195625" y="34581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919525" y="30390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5643425" y="29247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367325" y="31152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091225" y="3610515"/>
            <a:ext cx="133350" cy="1333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476625" y="6743700"/>
            <a:ext cx="2667000" cy="3810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Flywheel</a:t>
            </a:r>
          </a:p>
        </p:txBody>
      </p:sp>
      <p:sp>
        <p:nvSpPr>
          <p:cNvPr id="84" name="TextBox 83"/>
          <p:cNvSpPr txBox="1"/>
          <p:nvPr/>
        </p:nvSpPr>
        <p:spPr>
          <a:xfrm>
            <a:off x="3476625" y="7143750"/>
            <a:ext cx="2667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launches it</a:t>
            </a:r>
          </a:p>
        </p:txBody>
      </p:sp>
      <p:sp>
        <p:nvSpPr>
          <p:cNvPr id="85" name="TextBox 84"/>
          <p:cNvSpPr txBox="1"/>
          <p:nvPr/>
        </p:nvSpPr>
        <p:spPr>
          <a:xfrm>
            <a:off x="5619750" y="6743700"/>
            <a:ext cx="2286000" cy="3810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Roller</a:t>
            </a:r>
          </a:p>
        </p:txBody>
      </p:sp>
      <p:sp>
        <p:nvSpPr>
          <p:cNvPr id="86" name="TextBox 85"/>
          <p:cNvSpPr txBox="1"/>
          <p:nvPr/>
        </p:nvSpPr>
        <p:spPr>
          <a:xfrm>
            <a:off x="5619750" y="7143750"/>
            <a:ext cx="2286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feeds it in</a:t>
            </a:r>
          </a:p>
        </p:txBody>
      </p:sp>
      <p:sp>
        <p:nvSpPr>
          <p:cNvPr id="87" name="TextBox 86"/>
          <p:cNvSpPr txBox="1"/>
          <p:nvPr/>
        </p:nvSpPr>
        <p:spPr>
          <a:xfrm>
            <a:off x="7381875" y="3476625"/>
            <a:ext cx="1905000" cy="323850"/>
          </a:xfrm>
          <a:prstGeom prst="rect">
            <a:avLst/>
          </a:prstGeom>
          <a:noFill/>
        </p:spPr>
        <p:txBody>
          <a:bodyPr wrap="square" lIns="0" rIns="0" tIns="0" bIns="0" anchor="t">
            <a:spAutoFit/>
          </a:bodyPr>
          <a:lstStyle/>
          <a:p>
            <a:pPr algn="l"/>
            <a:r>
              <a:rPr sz="1650" b="0" i="0">
                <a:solidFill>
                  <a:srgbClr val="E8C27A"/>
                </a:solidFill>
                <a:latin typeface="Geist"/>
                <a:ea typeface="Geist"/>
                <a:cs typeface="Geist"/>
              </a:rPr>
              <a:t>game piece</a:t>
            </a:r>
          </a:p>
        </p:txBody>
      </p:sp>
      <p:sp>
        <p:nvSpPr>
          <p:cNvPr id="88" name="TextBox 87"/>
          <p:cNvSpPr txBox="1"/>
          <p:nvPr/>
        </p:nvSpPr>
        <p:spPr>
          <a:xfrm>
            <a:off x="10096500" y="3048000"/>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Flywheel</a:t>
            </a:r>
            <a:r>
              <a:rPr sz="2250" b="0" i="0">
                <a:solidFill>
                  <a:srgbClr val="F0E8E8"/>
                </a:solidFill>
                <a:latin typeface="Geist"/>
                <a:ea typeface="Geist"/>
                <a:cs typeface="Geist"/>
              </a:rPr>
              <a:t>: must be at speed first</a:t>
            </a:r>
          </a:p>
        </p:txBody>
      </p:sp>
      <p:sp>
        <p:nvSpPr>
          <p:cNvPr id="89" name="TextBox 88"/>
          <p:cNvSpPr txBox="1"/>
          <p:nvPr/>
        </p:nvSpPr>
        <p:spPr>
          <a:xfrm>
            <a:off x="10096500" y="3705225"/>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Roller</a:t>
            </a:r>
            <a:r>
              <a:rPr sz="2250" b="0" i="0">
                <a:solidFill>
                  <a:srgbClr val="F0E8E8"/>
                </a:solidFill>
                <a:latin typeface="Geist"/>
                <a:ea typeface="Geist"/>
                <a:cs typeface="Geist"/>
              </a:rPr>
              <a:t>: only feeds when it is</a:t>
            </a:r>
          </a:p>
        </p:txBody>
      </p:sp>
      <p:sp>
        <p:nvSpPr>
          <p:cNvPr id="90" name="TextBox 89"/>
          <p:cNvSpPr txBox="1"/>
          <p:nvPr/>
        </p:nvSpPr>
        <p:spPr>
          <a:xfrm>
            <a:off x="10096500" y="4362450"/>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driver just says </a:t>
            </a:r>
            <a:r>
              <a:rPr sz="2250" b="1" i="0">
                <a:solidFill>
                  <a:srgbClr val="F0E8E8"/>
                </a:solidFill>
                <a:latin typeface="Geist"/>
                <a:ea typeface="Geist"/>
                <a:cs typeface="Geist"/>
              </a:rPr>
              <a:t>“shoot”</a:t>
            </a:r>
          </a:p>
        </p:txBody>
      </p:sp>
      <p:sp>
        <p:nvSpPr>
          <p:cNvPr id="91" name="TextBox 90"/>
          <p:cNvSpPr txBox="1"/>
          <p:nvPr/>
        </p:nvSpPr>
        <p:spPr>
          <a:xfrm>
            <a:off x="10096500" y="5019675"/>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a:t>
            </a:r>
            <a:r>
              <a:rPr sz="2250" b="1" i="0">
                <a:solidFill>
                  <a:srgbClr val="F0E8E8"/>
                </a:solidFill>
                <a:latin typeface="Geist"/>
                <a:ea typeface="Geist"/>
                <a:cs typeface="Geist"/>
              </a:rPr>
              <a:t>state machine</a:t>
            </a:r>
            <a:r>
              <a:rPr sz="2250" b="0" i="0">
                <a:solidFill>
                  <a:srgbClr val="F0E8E8"/>
                </a:solidFill>
                <a:latin typeface="Geist"/>
                <a:ea typeface="Geist"/>
                <a:cs typeface="Geist"/>
              </a:rPr>
              <a:t> decides the safe order</a:t>
            </a:r>
          </a:p>
        </p:txBody>
      </p:sp>
      <p:sp>
        <p:nvSpPr>
          <p:cNvPr id="92" name="Rounded Rectangle 91"/>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3" name="Picture 92" descr="fan.png"/>
          <p:cNvPicPr>
            <a:picLocks noChangeAspect="1"/>
          </p:cNvPicPr>
          <p:nvPr/>
        </p:nvPicPr>
        <p:blipFill>
          <a:blip r:embed="rId3"/>
          <a:stretch>
            <a:fillRect/>
          </a:stretch>
        </p:blipFill>
        <p:spPr>
          <a:xfrm>
            <a:off x="1333500" y="8353425"/>
            <a:ext cx="533400" cy="533400"/>
          </a:xfrm>
          <a:prstGeom prst="rect">
            <a:avLst/>
          </a:prstGeom>
        </p:spPr>
      </p:pic>
      <p:sp>
        <p:nvSpPr>
          <p:cNvPr id="94" name="TextBox 93"/>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rule:  </a:t>
            </a:r>
            <a:r>
              <a:rPr sz="2100" b="0" i="0">
                <a:solidFill>
                  <a:srgbClr val="F0E8E8"/>
                </a:solidFill>
                <a:latin typeface="Geist"/>
                <a:ea typeface="Geist"/>
                <a:cs typeface="Geist"/>
              </a:rPr>
              <a:t>never feed a game piece into a slow flywheel.</a:t>
            </a:r>
          </a:p>
        </p:txBody>
      </p:sp>
      <p:sp>
        <p:nvSpPr>
          <p:cNvPr id="95" name="TextBox 9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6" name="TextBox 9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IDLE, SPIN_UP, SHOOT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762500"/>
            <a:ext cx="3810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5207127"/>
            <a:ext cx="3657600" cy="44577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IDLE</a:t>
            </a:r>
          </a:p>
        </p:txBody>
      </p:sp>
      <p:sp>
        <p:nvSpPr>
          <p:cNvPr id="7" name="TextBox 6"/>
          <p:cNvSpPr txBox="1"/>
          <p:nvPr/>
        </p:nvSpPr>
        <p:spPr>
          <a:xfrm>
            <a:off x="1028700" y="5686425"/>
            <a:ext cx="3581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everything stopped</a:t>
            </a:r>
          </a:p>
        </p:txBody>
      </p:sp>
      <p:sp>
        <p:nvSpPr>
          <p:cNvPr id="8" name="Rounded Rectangle 7"/>
          <p:cNvSpPr/>
          <p:nvPr/>
        </p:nvSpPr>
        <p:spPr>
          <a:xfrm>
            <a:off x="7239000" y="4762500"/>
            <a:ext cx="3810000" cy="1619250"/>
          </a:xfrm>
          <a:prstGeom prst="roundRect">
            <a:avLst>
              <a:gd name="adj" fmla="val 12941"/>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0" y="5207127"/>
            <a:ext cx="3657600" cy="44577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SPIN_UP</a:t>
            </a:r>
          </a:p>
        </p:txBody>
      </p:sp>
      <p:sp>
        <p:nvSpPr>
          <p:cNvPr id="10" name="TextBox 9"/>
          <p:cNvSpPr txBox="1"/>
          <p:nvPr/>
        </p:nvSpPr>
        <p:spPr>
          <a:xfrm>
            <a:off x="7353300" y="5686425"/>
            <a:ext cx="3581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flywheel only</a:t>
            </a:r>
          </a:p>
        </p:txBody>
      </p:sp>
      <p:sp>
        <p:nvSpPr>
          <p:cNvPr id="11" name="Rounded Rectangle 10"/>
          <p:cNvSpPr/>
          <p:nvPr/>
        </p:nvSpPr>
        <p:spPr>
          <a:xfrm>
            <a:off x="7391400" y="4591050"/>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91400" y="459105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3" name="Rounded Rectangle 12"/>
          <p:cNvSpPr/>
          <p:nvPr/>
        </p:nvSpPr>
        <p:spPr>
          <a:xfrm>
            <a:off x="13563600" y="4762500"/>
            <a:ext cx="3810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639800" y="5207127"/>
            <a:ext cx="3657600" cy="44577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SHOOT</a:t>
            </a:r>
          </a:p>
        </p:txBody>
      </p:sp>
      <p:sp>
        <p:nvSpPr>
          <p:cNvPr id="15" name="TextBox 14"/>
          <p:cNvSpPr txBox="1"/>
          <p:nvPr/>
        </p:nvSpPr>
        <p:spPr>
          <a:xfrm>
            <a:off x="13677900" y="5686425"/>
            <a:ext cx="3581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flywheel + roller</a:t>
            </a:r>
          </a:p>
        </p:txBody>
      </p:sp>
      <p:sp>
        <p:nvSpPr>
          <p:cNvPr id="16" name="Rectangle 15"/>
          <p:cNvSpPr/>
          <p:nvPr/>
        </p:nvSpPr>
        <p:spPr>
          <a:xfrm>
            <a:off x="4781550" y="5553075"/>
            <a:ext cx="22631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5400000">
            <a:off x="7010400" y="5495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17331" y="5023009"/>
            <a:ext cx="132873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17331" y="5023009"/>
            <a:ext cx="1328738"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wants SHOOT</a:t>
            </a:r>
          </a:p>
        </p:txBody>
      </p:sp>
      <p:sp>
        <p:nvSpPr>
          <p:cNvPr id="20" name="Rectangle 19"/>
          <p:cNvSpPr/>
          <p:nvPr/>
        </p:nvSpPr>
        <p:spPr>
          <a:xfrm>
            <a:off x="11101388" y="5548312"/>
            <a:ext cx="2272665"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13335000" y="549592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1531918" y="5023009"/>
            <a:ext cx="154876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531918" y="5023009"/>
            <a:ext cx="1548765" cy="336232"/>
          </a:xfrm>
          <a:prstGeom prst="rect">
            <a:avLst/>
          </a:prstGeom>
          <a:noFill/>
        </p:spPr>
        <p:txBody>
          <a:bodyPr wrap="square" lIns="0" rIns="0" tIns="0" bIns="0" anchor="ctr">
            <a:spAutoFit/>
          </a:bodyPr>
          <a:lstStyle/>
          <a:p>
            <a:pPr algn="ctr"/>
            <a:r>
              <a:rPr sz="1575" b="0" i="0">
                <a:solidFill>
                  <a:srgbClr val="CC2200"/>
                </a:solidFill>
                <a:latin typeface="Geist Mono"/>
                <a:ea typeface="Geist Mono"/>
                <a:cs typeface="Geist Mono"/>
              </a:rPr>
              <a:t>isAtSpeed()</a:t>
            </a:r>
          </a:p>
        </p:txBody>
      </p:sp>
      <p:sp>
        <p:nvSpPr>
          <p:cNvPr id="24" name="Rectangle 23"/>
          <p:cNvSpPr/>
          <p:nvPr/>
        </p:nvSpPr>
        <p:spPr>
          <a:xfrm>
            <a:off x="14687550" y="449580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 name="Connector 24"/>
          <p:cNvCxnSpPr/>
          <p:nvPr/>
        </p:nvCxnSpPr>
        <p:spPr>
          <a:xfrm flipH="1" flipV="1">
            <a:off x="14691507" y="4446596"/>
            <a:ext cx="15093"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4646419" y="4379201"/>
            <a:ext cx="45088"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4571903" y="4313512"/>
            <a:ext cx="74516"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14468896" y="4250354"/>
            <a:ext cx="103007"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14338692" y="4190523"/>
            <a:ext cx="13020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14182930" y="4134771"/>
            <a:ext cx="155762"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14003568" y="4083798"/>
            <a:ext cx="179362"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13802863" y="4038246"/>
            <a:ext cx="200705"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13583337" y="3998687"/>
            <a:ext cx="219526"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13347751" y="3965619"/>
            <a:ext cx="235586"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3099069" y="3939459"/>
            <a:ext cx="248682"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12840417" y="3920534"/>
            <a:ext cx="258652"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12575048" y="3909083"/>
            <a:ext cx="265369"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2287250" y="3890033"/>
            <a:ext cx="306848"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2018502" y="3886200"/>
            <a:ext cx="306848"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0" name="Connector 39"/>
          <p:cNvCxnSpPr/>
          <p:nvPr/>
        </p:nvCxnSpPr>
        <p:spPr>
          <a:xfrm flipH="1">
            <a:off x="11772183" y="3909083"/>
            <a:ext cx="265369"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1513531" y="3920534"/>
            <a:ext cx="258652"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1264849" y="3939459"/>
            <a:ext cx="248682"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11029263" y="3965619"/>
            <a:ext cx="235586"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10809737" y="3998687"/>
            <a:ext cx="219526"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0609032" y="4038246"/>
            <a:ext cx="200705"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10429670" y="4083798"/>
            <a:ext cx="179362"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10273908" y="4134771"/>
            <a:ext cx="155762"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0143704" y="4190523"/>
            <a:ext cx="13020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0040697" y="4250354"/>
            <a:ext cx="103007"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9966181" y="4313512"/>
            <a:ext cx="74516"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9921093" y="4379201"/>
            <a:ext cx="45088"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9906000" y="4446596"/>
            <a:ext cx="15093"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9886950" y="447675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Isosceles Triangle 53"/>
          <p:cNvSpPr/>
          <p:nvPr/>
        </p:nvSpPr>
        <p:spPr>
          <a:xfrm rot="10800000">
            <a:off x="9829800" y="46101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1531918" y="3737134"/>
            <a:ext cx="154876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1531918" y="3737134"/>
            <a:ext cx="1548765" cy="336232"/>
          </a:xfrm>
          <a:prstGeom prst="rect">
            <a:avLst/>
          </a:prstGeom>
          <a:noFill/>
        </p:spPr>
        <p:txBody>
          <a:bodyPr wrap="square" lIns="0" rIns="0" tIns="0" bIns="0" anchor="ctr">
            <a:spAutoFit/>
          </a:bodyPr>
          <a:lstStyle/>
          <a:p>
            <a:pPr algn="ctr"/>
            <a:r>
              <a:rPr sz="1575" b="0" i="0">
                <a:solidFill>
                  <a:srgbClr val="F0E8E8"/>
                </a:solidFill>
                <a:latin typeface="Geist Mono"/>
                <a:ea typeface="Geist Mono"/>
                <a:cs typeface="Geist Mono"/>
              </a:rPr>
              <a:t>hasDipped()</a:t>
            </a:r>
          </a:p>
        </p:txBody>
      </p:sp>
      <p:sp>
        <p:nvSpPr>
          <p:cNvPr id="57" name="Rectangle 56"/>
          <p:cNvSpPr/>
          <p:nvPr/>
        </p:nvSpPr>
        <p:spPr>
          <a:xfrm>
            <a:off x="2800350" y="4495800"/>
            <a:ext cx="38100" cy="2857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8" name="Connector 57"/>
          <p:cNvCxnSpPr/>
          <p:nvPr/>
        </p:nvCxnSpPr>
        <p:spPr>
          <a:xfrm flipV="1">
            <a:off x="2819400" y="4339950"/>
            <a:ext cx="43062" cy="1749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991106" y="3998921"/>
            <a:ext cx="212608" cy="1683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497612" y="3683763"/>
            <a:ext cx="371493" cy="1533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313522" y="3410278"/>
            <a:ext cx="511750" cy="13061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397921" y="3192182"/>
            <a:ext cx="626346" cy="10136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6696433" y="3040410"/>
            <a:ext cx="709534" cy="6703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143946" y="2962572"/>
            <a:ext cx="757143" cy="2934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667875" y="2952750"/>
            <a:ext cx="766786" cy="98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1191804" y="2991915"/>
            <a:ext cx="737979" cy="4849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2639317" y="3107447"/>
            <a:ext cx="672166" cy="8473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3937829" y="3293551"/>
            <a:ext cx="572649" cy="11672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5022228" y="3540897"/>
            <a:ext cx="444417" cy="14286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5838138" y="3837080"/>
            <a:ext cx="293898" cy="1618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6344644" y="4167250"/>
            <a:ext cx="128644" cy="1727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6497300" y="4476750"/>
            <a:ext cx="38100" cy="16764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Isosceles Triangle 72"/>
          <p:cNvSpPr/>
          <p:nvPr/>
        </p:nvSpPr>
        <p:spPr>
          <a:xfrm rot="10800000">
            <a:off x="16440150" y="4610100"/>
            <a:ext cx="152400" cy="152400"/>
          </a:xfrm>
          <a:prstGeom prst="triangl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5945981" y="2898934"/>
            <a:ext cx="172878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5945981" y="2898934"/>
            <a:ext cx="1728788"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No IDLE → SHOOT</a:t>
            </a:r>
          </a:p>
        </p:txBody>
      </p:sp>
      <p:sp>
        <p:nvSpPr>
          <p:cNvPr id="76" name="Oval 75"/>
          <p:cNvSpPr/>
          <p:nvPr/>
        </p:nvSpPr>
        <p:spPr>
          <a:xfrm>
            <a:off x="5172075" y="29146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72075" y="2914650"/>
            <a:ext cx="419100" cy="419100"/>
          </a:xfrm>
          <a:prstGeom prst="rect">
            <a:avLst/>
          </a:prstGeom>
          <a:noFill/>
        </p:spPr>
        <p:txBody>
          <a:bodyPr wrap="square" lIns="0" rIns="0" tIns="0" bIns="0" anchor="ctr">
            <a:spAutoFit/>
          </a:bodyPr>
          <a:lstStyle/>
          <a:p>
            <a:pPr algn="ctr"/>
            <a:r>
              <a:rPr sz="1800" b="1" i="0">
                <a:solidFill>
                  <a:srgbClr val="FFFFFF"/>
                </a:solidFill>
                <a:latin typeface="Geist"/>
                <a:ea typeface="Geist"/>
                <a:cs typeface="Geist"/>
              </a:rPr>
              <a:t>✕</a:t>
            </a:r>
          </a:p>
        </p:txBody>
      </p:sp>
      <p:sp>
        <p:nvSpPr>
          <p:cNvPr id="78" name="Rectangle 77"/>
          <p:cNvSpPr/>
          <p:nvPr/>
        </p:nvSpPr>
        <p:spPr>
          <a:xfrm>
            <a:off x="9124950" y="636270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9" name="Connector 78"/>
          <p:cNvCxnSpPr/>
          <p:nvPr/>
        </p:nvCxnSpPr>
        <p:spPr>
          <a:xfrm flipH="1">
            <a:off x="9125613" y="6629400"/>
            <a:ext cx="18387" cy="7891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9070685" y="6708318"/>
            <a:ext cx="54928" cy="779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8979905" y="6786244"/>
            <a:ext cx="90780" cy="759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8854416" y="6862197"/>
            <a:ext cx="125489" cy="730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8695795" y="6935223"/>
            <a:ext cx="158621" cy="691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8506037" y="7004403"/>
            <a:ext cx="189758" cy="6446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8287529" y="7068867"/>
            <a:ext cx="218508" cy="589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8043018" y="7127804"/>
            <a:ext cx="244511" cy="526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7775580" y="7180474"/>
            <a:ext cx="267438" cy="457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7488577" y="7226214"/>
            <a:ext cx="287003" cy="382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a:off x="7185619" y="7264448"/>
            <a:ext cx="302958" cy="302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a:off x="6870515" y="7294696"/>
            <a:ext cx="315104" cy="2188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6547229" y="7316578"/>
            <a:ext cx="323286" cy="132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6200775" y="7310768"/>
            <a:ext cx="365504"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5873371" y="7315200"/>
            <a:ext cx="365504"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4" name="Connector 93"/>
          <p:cNvCxnSpPr/>
          <p:nvPr/>
        </p:nvCxnSpPr>
        <p:spPr>
          <a:xfrm flipH="1" flipV="1">
            <a:off x="5569135" y="7316578"/>
            <a:ext cx="323286" cy="132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5254031" y="7294696"/>
            <a:ext cx="315104" cy="2188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4951073" y="7264448"/>
            <a:ext cx="302958" cy="302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4664070" y="7226214"/>
            <a:ext cx="287003" cy="382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4396632" y="7180474"/>
            <a:ext cx="267438" cy="457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4152121" y="7127804"/>
            <a:ext cx="244511" cy="526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3933613" y="7068867"/>
            <a:ext cx="218508" cy="589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3743855" y="7004403"/>
            <a:ext cx="189758" cy="6446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3585234" y="6935223"/>
            <a:ext cx="158621" cy="691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3459745" y="6862197"/>
            <a:ext cx="125489" cy="730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3368965" y="6786244"/>
            <a:ext cx="90780" cy="759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3314037" y="6708318"/>
            <a:ext cx="54928" cy="779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3295650" y="6629400"/>
            <a:ext cx="18387" cy="7891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3276600" y="649986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Isosceles Triangle 107"/>
          <p:cNvSpPr/>
          <p:nvPr/>
        </p:nvSpPr>
        <p:spPr>
          <a:xfrm>
            <a:off x="3219450" y="6381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5449550" y="636270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0" name="Connector 109"/>
          <p:cNvCxnSpPr/>
          <p:nvPr/>
        </p:nvCxnSpPr>
        <p:spPr>
          <a:xfrm flipH="1">
            <a:off x="15427335" y="6629400"/>
            <a:ext cx="41265" cy="1749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a:off x="15304059" y="6804300"/>
            <a:ext cx="123276" cy="1727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a:off x="15100322" y="6977000"/>
            <a:ext cx="203737" cy="1683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a:off x="14818686" y="7145329"/>
            <a:ext cx="281636" cy="1618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a:off x="14462693" y="7307170"/>
            <a:ext cx="355993" cy="1533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a:off x="14036820" y="7460487"/>
            <a:ext cx="425873" cy="1428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13546422" y="7603353"/>
            <a:ext cx="490398" cy="130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12997667" y="7733972"/>
            <a:ext cx="548755" cy="1167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a:off x="12397455" y="7850699"/>
            <a:ext cx="600212" cy="10136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11753335" y="7952068"/>
            <a:ext cx="644120" cy="84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a:off x="11073406" y="8036803"/>
            <a:ext cx="679929" cy="670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a:off x="10366219" y="8103840"/>
            <a:ext cx="707187" cy="484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a:off x="9640667" y="8152335"/>
            <a:ext cx="725552" cy="293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H="1">
            <a:off x="8905875" y="8181678"/>
            <a:ext cx="734792" cy="98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flipV="1">
            <a:off x="8171083" y="8181678"/>
            <a:ext cx="734792" cy="98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flipV="1">
            <a:off x="7445531" y="8152335"/>
            <a:ext cx="725552" cy="293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H="1" flipV="1">
            <a:off x="6738344" y="8103840"/>
            <a:ext cx="707187" cy="484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H="1" flipV="1">
            <a:off x="6058415" y="8036803"/>
            <a:ext cx="679929" cy="670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H="1" flipV="1">
            <a:off x="5414295" y="7952068"/>
            <a:ext cx="644120" cy="84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flipV="1">
            <a:off x="4814083" y="7850699"/>
            <a:ext cx="600212" cy="10136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H="1" flipV="1">
            <a:off x="4265328" y="7733972"/>
            <a:ext cx="548755" cy="1167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flipV="1">
            <a:off x="3774930" y="7603353"/>
            <a:ext cx="490398" cy="130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H="1" flipV="1">
            <a:off x="3349057" y="7460487"/>
            <a:ext cx="425873" cy="1428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H="1" flipV="1">
            <a:off x="2993064" y="7307170"/>
            <a:ext cx="355993" cy="1533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H="1" flipV="1">
            <a:off x="2711428" y="7145329"/>
            <a:ext cx="281636" cy="1618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flipV="1">
            <a:off x="2507691" y="6977000"/>
            <a:ext cx="203737" cy="1683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H="1" flipV="1">
            <a:off x="2384415" y="6804300"/>
            <a:ext cx="123276" cy="1727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H="1" flipV="1">
            <a:off x="2343150" y="6629400"/>
            <a:ext cx="41265" cy="1749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2324100" y="649986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Isosceles Triangle 138"/>
          <p:cNvSpPr/>
          <p:nvPr/>
        </p:nvSpPr>
        <p:spPr>
          <a:xfrm>
            <a:off x="2266950" y="6381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ounded Rectangle 139"/>
          <p:cNvSpPr/>
          <p:nvPr/>
        </p:nvSpPr>
        <p:spPr>
          <a:xfrm>
            <a:off x="7491412" y="8023384"/>
            <a:ext cx="28289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7491412" y="8023384"/>
            <a:ext cx="28289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wants IDLE (button let go)</a:t>
            </a:r>
          </a:p>
        </p:txBody>
      </p:sp>
      <p:sp>
        <p:nvSpPr>
          <p:cNvPr id="142" name="TextBox 1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3" name="TextBox 1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yes-or-no questions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64592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3143250"/>
            <a:ext cx="16459200" cy="3505200"/>
          </a:xfrm>
          <a:prstGeom prst="roundRect">
            <a:avLst>
              <a:gd name="adj" fmla="val 434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24250"/>
            <a:ext cx="159258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boolean</a:t>
            </a:r>
            <a:r>
              <a:rPr sz="1800" b="0" i="0">
                <a:solidFill>
                  <a:srgbClr val="F0E8E8"/>
                </a:solidFill>
                <a:latin typeface="Geist Mono"/>
                <a:ea typeface="Geist Mono"/>
                <a:cs typeface="Geist Mono"/>
              </a:rPr>
              <a:t> isAtSpeed() {</a:t>
            </a:r>
          </a:p>
        </p:txBody>
      </p:sp>
      <p:sp>
        <p:nvSpPr>
          <p:cNvPr id="8" name="TextBox 7"/>
          <p:cNvSpPr txBox="1"/>
          <p:nvPr/>
        </p:nvSpPr>
        <p:spPr>
          <a:xfrm>
            <a:off x="1295400" y="38671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flywheel_.getCurrentVelocity()</a:t>
            </a:r>
          </a:p>
        </p:txBody>
      </p:sp>
      <p:sp>
        <p:nvSpPr>
          <p:cNvPr id="9" name="TextBox 8"/>
          <p:cNvSpPr txBox="1"/>
          <p:nvPr/>
        </p:nvSpPr>
        <p:spPr>
          <a:xfrm>
            <a:off x="1295400" y="42100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&gt;= CONSTANTS.SHOOT_VELOCITY * (</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 - CONSTANTS.AT_SPEED_TOLERANCE);</a:t>
            </a:r>
          </a:p>
        </p:txBody>
      </p:sp>
      <p:sp>
        <p:nvSpPr>
          <p:cNvPr id="10" name="TextBox 9"/>
          <p:cNvSpPr txBox="1"/>
          <p:nvPr/>
        </p:nvSpPr>
        <p:spPr>
          <a:xfrm>
            <a:off x="1295400" y="45529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1" name="TextBox 10"/>
          <p:cNvSpPr txBox="1"/>
          <p:nvPr/>
        </p:nvSpPr>
        <p:spPr>
          <a:xfrm>
            <a:off x="1295400" y="4895850"/>
            <a:ext cx="159258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boolean</a:t>
            </a:r>
            <a:r>
              <a:rPr sz="1800" b="0" i="0">
                <a:solidFill>
                  <a:srgbClr val="F0E8E8"/>
                </a:solidFill>
                <a:latin typeface="Geist Mono"/>
                <a:ea typeface="Geist Mono"/>
                <a:cs typeface="Geist Mono"/>
              </a:rPr>
              <a:t> hasDipped() {</a:t>
            </a:r>
          </a:p>
        </p:txBody>
      </p:sp>
      <p:sp>
        <p:nvSpPr>
          <p:cNvPr id="12" name="TextBox 11"/>
          <p:cNvSpPr txBox="1"/>
          <p:nvPr/>
        </p:nvSpPr>
        <p:spPr>
          <a:xfrm>
            <a:off x="1295400" y="52387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flywheel_.getCurrentVelocity()</a:t>
            </a:r>
          </a:p>
        </p:txBody>
      </p:sp>
      <p:sp>
        <p:nvSpPr>
          <p:cNvPr id="13" name="TextBox 12"/>
          <p:cNvSpPr txBox="1"/>
          <p:nvPr/>
        </p:nvSpPr>
        <p:spPr>
          <a:xfrm>
            <a:off x="1295400" y="55816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&lt; CONSTANTS.SHOOT_VELOCITY * (</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 - CONSTANTS.DIP_TOLERANCE);</a:t>
            </a:r>
          </a:p>
        </p:txBody>
      </p:sp>
      <p:sp>
        <p:nvSpPr>
          <p:cNvPr id="14" name="TextBox 13"/>
          <p:cNvSpPr txBox="1"/>
          <p:nvPr/>
        </p:nvSpPr>
        <p:spPr>
          <a:xfrm>
            <a:off x="1295400" y="59245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5" name="Oval 14"/>
          <p:cNvSpPr/>
          <p:nvPr/>
        </p:nvSpPr>
        <p:spPr>
          <a:xfrm>
            <a:off x="16764000" y="35052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764000" y="35052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Oval 16"/>
          <p:cNvSpPr/>
          <p:nvPr/>
        </p:nvSpPr>
        <p:spPr>
          <a:xfrm>
            <a:off x="16764000" y="48768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764000" y="48768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 name="Rectangle 18"/>
          <p:cNvSpPr/>
          <p:nvPr/>
        </p:nvSpPr>
        <p:spPr>
          <a:xfrm>
            <a:off x="1638300" y="7677150"/>
            <a:ext cx="15011400" cy="762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2557760" y="7677150"/>
            <a:ext cx="4053840" cy="762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676400" y="7677150"/>
            <a:ext cx="7680960" cy="762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243060" y="7600950"/>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7962900"/>
            <a:ext cx="3810000" cy="323850"/>
          </a:xfrm>
          <a:prstGeom prst="rect">
            <a:avLst/>
          </a:prstGeom>
          <a:noFill/>
        </p:spPr>
        <p:txBody>
          <a:bodyPr wrap="square" lIns="0" rIns="0" tIns="0" bIns="0" anchor="t">
            <a:spAutoFit/>
          </a:bodyPr>
          <a:lstStyle/>
          <a:p>
            <a:pPr algn="ctr"/>
            <a:r>
              <a:rPr sz="1650" b="1" i="0">
                <a:solidFill>
                  <a:srgbClr val="CC2200"/>
                </a:solidFill>
                <a:latin typeface="Geist"/>
                <a:ea typeface="Geist"/>
                <a:cs typeface="Geist"/>
              </a:rPr>
              <a:t>276: hasDipped() below</a:t>
            </a:r>
          </a:p>
        </p:txBody>
      </p:sp>
      <p:sp>
        <p:nvSpPr>
          <p:cNvPr id="24" name="Oval 23"/>
          <p:cNvSpPr/>
          <p:nvPr/>
        </p:nvSpPr>
        <p:spPr>
          <a:xfrm>
            <a:off x="12443460" y="7600950"/>
            <a:ext cx="228600" cy="2286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52760" y="7962900"/>
            <a:ext cx="3810000" cy="323850"/>
          </a:xfrm>
          <a:prstGeom prst="rect">
            <a:avLst/>
          </a:prstGeom>
          <a:noFill/>
        </p:spPr>
        <p:txBody>
          <a:bodyPr wrap="square" lIns="0" rIns="0" tIns="0" bIns="0" anchor="t">
            <a:spAutoFit/>
          </a:bodyPr>
          <a:lstStyle/>
          <a:p>
            <a:pPr algn="ctr"/>
            <a:r>
              <a:rPr sz="1650" b="1" i="0">
                <a:solidFill>
                  <a:srgbClr val="198754"/>
                </a:solidFill>
                <a:latin typeface="Geist"/>
                <a:ea typeface="Geist"/>
                <a:cs typeface="Geist"/>
              </a:rPr>
              <a:t>291: isAtSpeed() above</a:t>
            </a:r>
          </a:p>
        </p:txBody>
      </p:sp>
      <p:sp>
        <p:nvSpPr>
          <p:cNvPr id="26" name="Oval 25"/>
          <p:cNvSpPr/>
          <p:nvPr/>
        </p:nvSpPr>
        <p:spPr>
          <a:xfrm>
            <a:off x="14363700" y="7600950"/>
            <a:ext cx="228600" cy="2286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573000" y="7105650"/>
            <a:ext cx="3810000" cy="3238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300: target</a:t>
            </a:r>
          </a:p>
        </p:txBody>
      </p:sp>
      <p:sp>
        <p:nvSpPr>
          <p:cNvPr id="28" name="TextBox 27"/>
          <p:cNvSpPr txBox="1"/>
          <p:nvPr/>
        </p:nvSpPr>
        <p:spPr>
          <a:xfrm>
            <a:off x="9624060" y="7105650"/>
            <a:ext cx="2667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neither: stay put</a:t>
            </a:r>
          </a:p>
        </p:txBody>
      </p:sp>
      <p:sp>
        <p:nvSpPr>
          <p:cNvPr id="29" name="TextBox 28"/>
          <p:cNvSpPr txBox="1"/>
          <p:nvPr/>
        </p:nvSpPr>
        <p:spPr>
          <a:xfrm>
            <a:off x="1676400" y="8477250"/>
            <a:ext cx="571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flywheel speed (rad/s)</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1: the transition rules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2001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3143250"/>
            <a:ext cx="12001500" cy="4911090"/>
          </a:xfrm>
          <a:prstGeom prst="roundRect">
            <a:avLst>
              <a:gd name="adj" fmla="val 310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01440"/>
            <a:ext cx="11963400" cy="37719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01440"/>
            <a:ext cx="57150" cy="37719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278630"/>
            <a:ext cx="11963400" cy="37719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278630"/>
            <a:ext cx="57150" cy="37719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655820"/>
            <a:ext cx="11963400" cy="37719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655820"/>
            <a:ext cx="57150" cy="37719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524250"/>
            <a:ext cx="11468100" cy="37719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void</a:t>
            </a:r>
            <a:r>
              <a:rPr sz="1650" b="0" i="0">
                <a:solidFill>
                  <a:srgbClr val="F0E8E8"/>
                </a:solidFill>
                <a:latin typeface="Geist Mono"/>
                <a:ea typeface="Geist Mono"/>
                <a:cs typeface="Geist Mono"/>
              </a:rPr>
              <a:t> handleStateTransition(ShooterStates wanted) {</a:t>
            </a:r>
          </a:p>
        </p:txBody>
      </p:sp>
      <p:sp>
        <p:nvSpPr>
          <p:cNvPr id="14" name="TextBox 13"/>
          <p:cNvSpPr txBox="1"/>
          <p:nvPr/>
        </p:nvSpPr>
        <p:spPr>
          <a:xfrm>
            <a:off x="1295400" y="390144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(wanted == ShooterStates.IDLE) {</a:t>
            </a:r>
          </a:p>
        </p:txBody>
      </p:sp>
      <p:sp>
        <p:nvSpPr>
          <p:cNvPr id="15" name="TextBox 14"/>
          <p:cNvSpPr txBox="1"/>
          <p:nvPr/>
        </p:nvSpPr>
        <p:spPr>
          <a:xfrm>
            <a:off x="1295400" y="427863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system_state_ = ShooterStates.IDLE;</a:t>
            </a:r>
          </a:p>
        </p:txBody>
      </p:sp>
      <p:sp>
        <p:nvSpPr>
          <p:cNvPr id="16" name="TextBox 15"/>
          <p:cNvSpPr txBox="1"/>
          <p:nvPr/>
        </p:nvSpPr>
        <p:spPr>
          <a:xfrm>
            <a:off x="1295400" y="465582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a:t>
            </a:r>
          </a:p>
        </p:txBody>
      </p:sp>
      <p:sp>
        <p:nvSpPr>
          <p:cNvPr id="17" name="TextBox 16"/>
          <p:cNvSpPr txBox="1"/>
          <p:nvPr/>
        </p:nvSpPr>
        <p:spPr>
          <a:xfrm>
            <a:off x="1295400" y="503301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8" name="TextBox 17"/>
          <p:cNvSpPr txBox="1"/>
          <p:nvPr/>
        </p:nvSpPr>
        <p:spPr>
          <a:xfrm>
            <a:off x="1295400" y="541020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switch</a:t>
            </a:r>
            <a:r>
              <a:rPr sz="1650" b="0" i="0">
                <a:solidFill>
                  <a:srgbClr val="F0E8E8"/>
                </a:solidFill>
                <a:latin typeface="Geist Mono"/>
                <a:ea typeface="Geist Mono"/>
                <a:cs typeface="Geist Mono"/>
              </a:rPr>
              <a:t> (system_state_) {</a:t>
            </a:r>
          </a:p>
        </p:txBody>
      </p:sp>
      <p:sp>
        <p:nvSpPr>
          <p:cNvPr id="19" name="TextBox 18"/>
          <p:cNvSpPr txBox="1"/>
          <p:nvPr/>
        </p:nvSpPr>
        <p:spPr>
          <a:xfrm>
            <a:off x="1295400" y="578739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IDLE:    system_state_ = ShooterStates.SPIN_UP;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0" name="TextBox 19"/>
          <p:cNvSpPr txBox="1"/>
          <p:nvPr/>
        </p:nvSpPr>
        <p:spPr>
          <a:xfrm>
            <a:off x="1295400" y="616458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SPIN_UP: </a:t>
            </a:r>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(isAtSpeed()) system_state_ = ShooterStates.SHOOT;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1" name="TextBox 20"/>
          <p:cNvSpPr txBox="1"/>
          <p:nvPr/>
        </p:nvSpPr>
        <p:spPr>
          <a:xfrm>
            <a:off x="1295400" y="654177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SHOOT:   </a:t>
            </a:r>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(hasDipped()) system_state_ = ShooterStates.SPIN_UP;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2" name="TextBox 21"/>
          <p:cNvSpPr txBox="1"/>
          <p:nvPr/>
        </p:nvSpPr>
        <p:spPr>
          <a:xfrm>
            <a:off x="1295400" y="691896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23" name="TextBox 22"/>
          <p:cNvSpPr txBox="1"/>
          <p:nvPr/>
        </p:nvSpPr>
        <p:spPr>
          <a:xfrm>
            <a:off x="1295400" y="729615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4" name="Oval 23"/>
          <p:cNvSpPr/>
          <p:nvPr/>
        </p:nvSpPr>
        <p:spPr>
          <a:xfrm>
            <a:off x="12306300" y="389953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306300" y="389953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Oval 25"/>
          <p:cNvSpPr/>
          <p:nvPr/>
        </p:nvSpPr>
        <p:spPr>
          <a:xfrm>
            <a:off x="12306300" y="578548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06300" y="578548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Oval 27"/>
          <p:cNvSpPr/>
          <p:nvPr/>
        </p:nvSpPr>
        <p:spPr>
          <a:xfrm>
            <a:off x="12306300" y="61626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306300" y="61626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Oval 29"/>
          <p:cNvSpPr/>
          <p:nvPr/>
        </p:nvSpPr>
        <p:spPr>
          <a:xfrm>
            <a:off x="12306300" y="653986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306300" y="653986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2" name="Oval 31"/>
          <p:cNvSpPr/>
          <p:nvPr/>
        </p:nvSpPr>
        <p:spPr>
          <a:xfrm>
            <a:off x="13430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430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4" name="TextBox 33"/>
          <p:cNvSpPr txBox="1"/>
          <p:nvPr/>
        </p:nvSpPr>
        <p:spPr>
          <a:xfrm>
            <a:off x="14039850" y="28194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IDLE wins</a:t>
            </a:r>
          </a:p>
        </p:txBody>
      </p:sp>
      <p:sp>
        <p:nvSpPr>
          <p:cNvPr id="35" name="TextBox 34"/>
          <p:cNvSpPr txBox="1"/>
          <p:nvPr/>
        </p:nvSpPr>
        <p:spPr>
          <a:xfrm>
            <a:off x="14039850" y="32385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Wanting IDLE goes straight there</a:t>
            </a:r>
          </a:p>
        </p:txBody>
      </p:sp>
      <p:sp>
        <p:nvSpPr>
          <p:cNvPr id="36" name="Oval 35"/>
          <p:cNvSpPr/>
          <p:nvPr/>
        </p:nvSpPr>
        <p:spPr>
          <a:xfrm>
            <a:off x="13430250" y="4191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430250" y="419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8" name="TextBox 37"/>
          <p:cNvSpPr txBox="1"/>
          <p:nvPr/>
        </p:nvSpPr>
        <p:spPr>
          <a:xfrm>
            <a:off x="14039850" y="41529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step up</a:t>
            </a:r>
          </a:p>
        </p:txBody>
      </p:sp>
      <p:sp>
        <p:nvSpPr>
          <p:cNvPr id="39" name="TextBox 38"/>
          <p:cNvSpPr txBox="1"/>
          <p:nvPr/>
        </p:nvSpPr>
        <p:spPr>
          <a:xfrm>
            <a:off x="14039850" y="45720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IDLE can only go to SPIN_UP</a:t>
            </a:r>
          </a:p>
        </p:txBody>
      </p:sp>
      <p:sp>
        <p:nvSpPr>
          <p:cNvPr id="40" name="Oval 39"/>
          <p:cNvSpPr/>
          <p:nvPr/>
        </p:nvSpPr>
        <p:spPr>
          <a:xfrm>
            <a:off x="13430250" y="5524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430250" y="5524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2" name="TextBox 41"/>
          <p:cNvSpPr txBox="1"/>
          <p:nvPr/>
        </p:nvSpPr>
        <p:spPr>
          <a:xfrm>
            <a:off x="14039850" y="54864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At speed?</a:t>
            </a:r>
          </a:p>
        </p:txBody>
      </p:sp>
      <p:sp>
        <p:nvSpPr>
          <p:cNvPr id="43" name="TextBox 42"/>
          <p:cNvSpPr txBox="1"/>
          <p:nvPr/>
        </p:nvSpPr>
        <p:spPr>
          <a:xfrm>
            <a:off x="14039850" y="59055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Then SHOOT</a:t>
            </a:r>
          </a:p>
        </p:txBody>
      </p:sp>
      <p:sp>
        <p:nvSpPr>
          <p:cNvPr id="44" name="Oval 43"/>
          <p:cNvSpPr/>
          <p:nvPr/>
        </p:nvSpPr>
        <p:spPr>
          <a:xfrm>
            <a:off x="13430250" y="685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430250" y="685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6" name="TextBox 45"/>
          <p:cNvSpPr txBox="1"/>
          <p:nvPr/>
        </p:nvSpPr>
        <p:spPr>
          <a:xfrm>
            <a:off x="14039850" y="68199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Dipped?</a:t>
            </a:r>
          </a:p>
        </p:txBody>
      </p:sp>
      <p:sp>
        <p:nvSpPr>
          <p:cNvPr id="47" name="TextBox 46"/>
          <p:cNvSpPr txBox="1"/>
          <p:nvPr/>
        </p:nvSpPr>
        <p:spPr>
          <a:xfrm>
            <a:off x="14039850" y="72390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Back to SPIN_UP</a:t>
            </a:r>
          </a:p>
        </p:txBody>
      </p:sp>
      <p:pic>
        <p:nvPicPr>
          <p:cNvPr id="48" name="Picture 47" descr="code-slash.png"/>
          <p:cNvPicPr>
            <a:picLocks noChangeAspect="1"/>
          </p:cNvPicPr>
          <p:nvPr/>
        </p:nvPicPr>
        <p:blipFill>
          <a:blip r:embed="rId3"/>
          <a:stretch>
            <a:fillRect/>
          </a:stretch>
        </p:blipFill>
        <p:spPr>
          <a:xfrm>
            <a:off x="914400" y="8610600"/>
            <a:ext cx="224518" cy="209550"/>
          </a:xfrm>
          <a:prstGeom prst="rect">
            <a:avLst/>
          </a:prstGeom>
        </p:spPr>
      </p:pic>
      <p:sp>
        <p:nvSpPr>
          <p:cNvPr id="49" name="TextBox 48"/>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 (switch)</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1: what each state does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430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  ·  updateLogic()</a:t>
            </a:r>
          </a:p>
        </p:txBody>
      </p:sp>
      <p:sp>
        <p:nvSpPr>
          <p:cNvPr id="6" name="Rounded Rectangle 5"/>
          <p:cNvSpPr/>
          <p:nvPr/>
        </p:nvSpPr>
        <p:spPr>
          <a:xfrm>
            <a:off x="914400" y="3143250"/>
            <a:ext cx="11430000" cy="4533900"/>
          </a:xfrm>
          <a:prstGeom prst="roundRect">
            <a:avLst>
              <a:gd name="adj" fmla="val 33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410200"/>
            <a:ext cx="113919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410200"/>
            <a:ext cx="57150" cy="3143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724525"/>
            <a:ext cx="113919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724525"/>
            <a:ext cx="57150" cy="3143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896600" cy="31432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switch</a:t>
            </a:r>
            <a:r>
              <a:rPr sz="1650" b="0" i="0">
                <a:solidFill>
                  <a:srgbClr val="F0E8E8"/>
                </a:solidFill>
                <a:latin typeface="Geist Mono"/>
                <a:ea typeface="Geist Mono"/>
                <a:cs typeface="Geist Mono"/>
              </a:rPr>
              <a:t> (system_state_) {</a:t>
            </a:r>
          </a:p>
        </p:txBody>
      </p:sp>
      <p:sp>
        <p:nvSpPr>
          <p:cNvPr id="12" name="TextBox 11"/>
          <p:cNvSpPr txBox="1"/>
          <p:nvPr/>
        </p:nvSpPr>
        <p:spPr>
          <a:xfrm>
            <a:off x="1295400" y="383857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SPIN_UP:</a:t>
            </a:r>
          </a:p>
        </p:txBody>
      </p:sp>
      <p:sp>
        <p:nvSpPr>
          <p:cNvPr id="13" name="TextBox 12"/>
          <p:cNvSpPr txBox="1"/>
          <p:nvPr/>
        </p:nvSpPr>
        <p:spPr>
          <a:xfrm>
            <a:off x="1295400" y="415290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runFlywheel();</a:t>
            </a:r>
          </a:p>
        </p:txBody>
      </p:sp>
      <p:sp>
        <p:nvSpPr>
          <p:cNvPr id="14" name="TextBox 13"/>
          <p:cNvSpPr txBox="1"/>
          <p:nvPr/>
        </p:nvSpPr>
        <p:spPr>
          <a:xfrm>
            <a:off x="1295400" y="446722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roller_.setTargetDutyCycle(</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15" name="TextBox 14"/>
          <p:cNvSpPr txBox="1"/>
          <p:nvPr/>
        </p:nvSpPr>
        <p:spPr>
          <a:xfrm>
            <a:off x="1295400" y="478155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16" name="TextBox 15"/>
          <p:cNvSpPr txBox="1"/>
          <p:nvPr/>
        </p:nvSpPr>
        <p:spPr>
          <a:xfrm>
            <a:off x="1295400" y="509587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SHOOT:</a:t>
            </a:r>
          </a:p>
        </p:txBody>
      </p:sp>
      <p:sp>
        <p:nvSpPr>
          <p:cNvPr id="17" name="TextBox 16"/>
          <p:cNvSpPr txBox="1"/>
          <p:nvPr/>
        </p:nvSpPr>
        <p:spPr>
          <a:xfrm>
            <a:off x="1295400" y="541020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runFlywheel();</a:t>
            </a:r>
          </a:p>
        </p:txBody>
      </p:sp>
      <p:sp>
        <p:nvSpPr>
          <p:cNvPr id="18" name="TextBox 17"/>
          <p:cNvSpPr txBox="1"/>
          <p:nvPr/>
        </p:nvSpPr>
        <p:spPr>
          <a:xfrm>
            <a:off x="1295400" y="572452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roller_.setTargetDutyCycle(CONSTANTS.INDEX_DUTY_CYCLE);</a:t>
            </a:r>
          </a:p>
        </p:txBody>
      </p:sp>
      <p:sp>
        <p:nvSpPr>
          <p:cNvPr id="19" name="TextBox 18"/>
          <p:cNvSpPr txBox="1"/>
          <p:nvPr/>
        </p:nvSpPr>
        <p:spPr>
          <a:xfrm>
            <a:off x="1295400" y="603885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0" name="TextBox 19"/>
          <p:cNvSpPr txBox="1"/>
          <p:nvPr/>
        </p:nvSpPr>
        <p:spPr>
          <a:xfrm>
            <a:off x="1295400" y="635317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IDLE:</a:t>
            </a:r>
          </a:p>
        </p:txBody>
      </p:sp>
      <p:sp>
        <p:nvSpPr>
          <p:cNvPr id="21" name="TextBox 20"/>
          <p:cNvSpPr txBox="1"/>
          <p:nvPr/>
        </p:nvSpPr>
        <p:spPr>
          <a:xfrm>
            <a:off x="1295400" y="666750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default</a:t>
            </a:r>
            <a:r>
              <a:rPr sz="1650" b="0" i="0">
                <a:solidFill>
                  <a:srgbClr val="F0E8E8"/>
                </a:solidFill>
                <a:latin typeface="Geist Mono"/>
                <a:ea typeface="Geist Mono"/>
                <a:cs typeface="Geist Mono"/>
              </a:rPr>
              <a:t>:</a:t>
            </a:r>
          </a:p>
        </p:txBody>
      </p:sp>
      <p:sp>
        <p:nvSpPr>
          <p:cNvPr id="22" name="TextBox 21"/>
          <p:cNvSpPr txBox="1"/>
          <p:nvPr/>
        </p:nvSpPr>
        <p:spPr>
          <a:xfrm>
            <a:off x="1295400" y="698182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flywheel_.setTargetDutyCycle(</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23" name="Oval 22"/>
          <p:cNvSpPr/>
          <p:nvPr/>
        </p:nvSpPr>
        <p:spPr>
          <a:xfrm>
            <a:off x="11734800" y="38052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734800" y="38052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Oval 24"/>
          <p:cNvSpPr/>
          <p:nvPr/>
        </p:nvSpPr>
        <p:spPr>
          <a:xfrm>
            <a:off x="11734800" y="50625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734800" y="50625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 name="Oval 26"/>
          <p:cNvSpPr/>
          <p:nvPr/>
        </p:nvSpPr>
        <p:spPr>
          <a:xfrm>
            <a:off x="11734800" y="63198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734800" y="63198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9" name="Rounded Rectangle 28"/>
          <p:cNvSpPr/>
          <p:nvPr/>
        </p:nvSpPr>
        <p:spPr>
          <a:xfrm>
            <a:off x="12858750" y="2857500"/>
            <a:ext cx="4514850" cy="5334000"/>
          </a:xfrm>
          <a:prstGeom prst="roundRect">
            <a:avLst>
              <a:gd name="adj" fmla="val 337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239750" y="3200400"/>
            <a:ext cx="381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STATE  →  MOTORS</a:t>
            </a:r>
          </a:p>
        </p:txBody>
      </p:sp>
      <p:sp>
        <p:nvSpPr>
          <p:cNvPr id="31" name="TextBox 30"/>
          <p:cNvSpPr txBox="1"/>
          <p:nvPr/>
        </p:nvSpPr>
        <p:spPr>
          <a:xfrm>
            <a:off x="13239750" y="3810000"/>
            <a:ext cx="3810000" cy="3810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SPIN_UP</a:t>
            </a:r>
          </a:p>
        </p:txBody>
      </p:sp>
      <p:sp>
        <p:nvSpPr>
          <p:cNvPr id="32" name="Rounded Rectangle 31"/>
          <p:cNvSpPr/>
          <p:nvPr/>
        </p:nvSpPr>
        <p:spPr>
          <a:xfrm>
            <a:off x="13239750" y="4286250"/>
            <a:ext cx="1714500" cy="5143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239750" y="4286250"/>
            <a:ext cx="1714500" cy="514350"/>
          </a:xfrm>
          <a:prstGeom prst="rect">
            <a:avLst/>
          </a:prstGeom>
          <a:noFill/>
        </p:spPr>
        <p:txBody>
          <a:bodyPr wrap="square" lIns="0" rIns="0" tIns="0" bIns="0" anchor="ctr">
            <a:spAutoFit/>
          </a:bodyPr>
          <a:lstStyle/>
          <a:p>
            <a:pPr algn="ctr"/>
            <a:r>
              <a:rPr sz="1650" b="1" i="0">
                <a:solidFill>
                  <a:srgbClr val="FFFFFF"/>
                </a:solidFill>
                <a:latin typeface="Geist"/>
                <a:ea typeface="Geist"/>
                <a:cs typeface="Geist"/>
              </a:rPr>
              <a:t>flywheel on</a:t>
            </a:r>
          </a:p>
        </p:txBody>
      </p:sp>
      <p:sp>
        <p:nvSpPr>
          <p:cNvPr id="34" name="Rounded Rectangle 33"/>
          <p:cNvSpPr/>
          <p:nvPr/>
        </p:nvSpPr>
        <p:spPr>
          <a:xfrm>
            <a:off x="15144750" y="4286250"/>
            <a:ext cx="1714500"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5144750" y="4286250"/>
            <a:ext cx="1714500" cy="514350"/>
          </a:xfrm>
          <a:prstGeom prst="rect">
            <a:avLst/>
          </a:prstGeom>
          <a:noFill/>
        </p:spPr>
        <p:txBody>
          <a:bodyPr wrap="square" lIns="0" rIns="0" tIns="0" bIns="0" anchor="ctr">
            <a:spAutoFit/>
          </a:bodyPr>
          <a:lstStyle/>
          <a:p>
            <a:pPr algn="ctr"/>
            <a:r>
              <a:rPr sz="1650" b="0" i="0">
                <a:solidFill>
                  <a:srgbClr val="9A7878"/>
                </a:solidFill>
                <a:latin typeface="Geist"/>
                <a:ea typeface="Geist"/>
                <a:cs typeface="Geist"/>
              </a:rPr>
              <a:t>roller off</a:t>
            </a:r>
          </a:p>
        </p:txBody>
      </p:sp>
      <p:sp>
        <p:nvSpPr>
          <p:cNvPr id="36" name="TextBox 35"/>
          <p:cNvSpPr txBox="1"/>
          <p:nvPr/>
        </p:nvSpPr>
        <p:spPr>
          <a:xfrm>
            <a:off x="13239750" y="5238750"/>
            <a:ext cx="3810000" cy="3810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SHOOT</a:t>
            </a:r>
          </a:p>
        </p:txBody>
      </p:sp>
      <p:sp>
        <p:nvSpPr>
          <p:cNvPr id="37" name="Rounded Rectangle 36"/>
          <p:cNvSpPr/>
          <p:nvPr/>
        </p:nvSpPr>
        <p:spPr>
          <a:xfrm>
            <a:off x="13239750" y="5715000"/>
            <a:ext cx="1714500" cy="5143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3239750" y="5715000"/>
            <a:ext cx="1714500" cy="514350"/>
          </a:xfrm>
          <a:prstGeom prst="rect">
            <a:avLst/>
          </a:prstGeom>
          <a:noFill/>
        </p:spPr>
        <p:txBody>
          <a:bodyPr wrap="square" lIns="0" rIns="0" tIns="0" bIns="0" anchor="ctr">
            <a:spAutoFit/>
          </a:bodyPr>
          <a:lstStyle/>
          <a:p>
            <a:pPr algn="ctr"/>
            <a:r>
              <a:rPr sz="1650" b="1" i="0">
                <a:solidFill>
                  <a:srgbClr val="FFFFFF"/>
                </a:solidFill>
                <a:latin typeface="Geist"/>
                <a:ea typeface="Geist"/>
                <a:cs typeface="Geist"/>
              </a:rPr>
              <a:t>flywheel on</a:t>
            </a:r>
          </a:p>
        </p:txBody>
      </p:sp>
      <p:sp>
        <p:nvSpPr>
          <p:cNvPr id="39" name="Rounded Rectangle 38"/>
          <p:cNvSpPr/>
          <p:nvPr/>
        </p:nvSpPr>
        <p:spPr>
          <a:xfrm>
            <a:off x="15144750" y="5715000"/>
            <a:ext cx="1714500" cy="5143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5144750" y="5715000"/>
            <a:ext cx="1714500" cy="514350"/>
          </a:xfrm>
          <a:prstGeom prst="rect">
            <a:avLst/>
          </a:prstGeom>
          <a:noFill/>
        </p:spPr>
        <p:txBody>
          <a:bodyPr wrap="square" lIns="0" rIns="0" tIns="0" bIns="0" anchor="ctr">
            <a:spAutoFit/>
          </a:bodyPr>
          <a:lstStyle/>
          <a:p>
            <a:pPr algn="ctr"/>
            <a:r>
              <a:rPr sz="1650" b="1" i="0">
                <a:solidFill>
                  <a:srgbClr val="FFFFFF"/>
                </a:solidFill>
                <a:latin typeface="Geist"/>
                <a:ea typeface="Geist"/>
                <a:cs typeface="Geist"/>
              </a:rPr>
              <a:t>roller on</a:t>
            </a:r>
          </a:p>
        </p:txBody>
      </p:sp>
      <p:sp>
        <p:nvSpPr>
          <p:cNvPr id="41" name="TextBox 40"/>
          <p:cNvSpPr txBox="1"/>
          <p:nvPr/>
        </p:nvSpPr>
        <p:spPr>
          <a:xfrm>
            <a:off x="13239750" y="6667500"/>
            <a:ext cx="3810000" cy="3810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IDLE</a:t>
            </a:r>
          </a:p>
        </p:txBody>
      </p:sp>
      <p:sp>
        <p:nvSpPr>
          <p:cNvPr id="42" name="Rounded Rectangle 41"/>
          <p:cNvSpPr/>
          <p:nvPr/>
        </p:nvSpPr>
        <p:spPr>
          <a:xfrm>
            <a:off x="13239750" y="7143750"/>
            <a:ext cx="1714500"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3239750" y="7143750"/>
            <a:ext cx="1714500" cy="514350"/>
          </a:xfrm>
          <a:prstGeom prst="rect">
            <a:avLst/>
          </a:prstGeom>
          <a:noFill/>
        </p:spPr>
        <p:txBody>
          <a:bodyPr wrap="square" lIns="0" rIns="0" tIns="0" bIns="0" anchor="ctr">
            <a:spAutoFit/>
          </a:bodyPr>
          <a:lstStyle/>
          <a:p>
            <a:pPr algn="ctr"/>
            <a:r>
              <a:rPr sz="1650" b="0" i="0">
                <a:solidFill>
                  <a:srgbClr val="9A7878"/>
                </a:solidFill>
                <a:latin typeface="Geist"/>
                <a:ea typeface="Geist"/>
                <a:cs typeface="Geist"/>
              </a:rPr>
              <a:t>flywheel off</a:t>
            </a:r>
          </a:p>
        </p:txBody>
      </p:sp>
      <p:sp>
        <p:nvSpPr>
          <p:cNvPr id="44" name="Rounded Rectangle 43"/>
          <p:cNvSpPr/>
          <p:nvPr/>
        </p:nvSpPr>
        <p:spPr>
          <a:xfrm>
            <a:off x="15144750" y="7143750"/>
            <a:ext cx="1714500"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5144750" y="7143750"/>
            <a:ext cx="1714500" cy="514350"/>
          </a:xfrm>
          <a:prstGeom prst="rect">
            <a:avLst/>
          </a:prstGeom>
          <a:noFill/>
        </p:spPr>
        <p:txBody>
          <a:bodyPr wrap="square" lIns="0" rIns="0" tIns="0" bIns="0" anchor="ctr">
            <a:spAutoFit/>
          </a:bodyPr>
          <a:lstStyle/>
          <a:p>
            <a:pPr algn="ctr"/>
            <a:r>
              <a:rPr sz="1650" b="0" i="0">
                <a:solidFill>
                  <a:srgbClr val="9A7878"/>
                </a:solidFill>
                <a:latin typeface="Geist"/>
                <a:ea typeface="Geist"/>
                <a:cs typeface="Geist"/>
              </a:rPr>
              <a:t>roller off</a:t>
            </a: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shot, step by step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667000"/>
            <a:ext cx="118110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95475" y="6848475"/>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47750" y="6705600"/>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1895475" y="5598319"/>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47750" y="5455444"/>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1895475" y="4348162"/>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47750" y="4205288"/>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1895475" y="3098006"/>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47750" y="2955131"/>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1895475" y="3210520"/>
            <a:ext cx="10306050" cy="19050"/>
          </a:xfrm>
          <a:prstGeom prst="rect">
            <a:avLst/>
          </a:prstGeom>
          <a:solidFill>
            <a:srgbClr val="198754"/>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895475" y="3398044"/>
            <a:ext cx="10306050" cy="19050"/>
          </a:xfrm>
          <a:prstGeom prst="rect">
            <a:avLst/>
          </a:prstGeom>
          <a:solidFill>
            <a:srgbClr val="E0554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430000" y="2896195"/>
            <a:ext cx="762000" cy="266700"/>
          </a:xfrm>
          <a:prstGeom prst="rect">
            <a:avLst/>
          </a:prstGeom>
          <a:noFill/>
        </p:spPr>
        <p:txBody>
          <a:bodyPr wrap="square" lIns="0" rIns="0" tIns="0" bIns="0" anchor="t">
            <a:spAutoFit/>
          </a:bodyPr>
          <a:lstStyle/>
          <a:p>
            <a:pPr algn="r"/>
            <a:r>
              <a:rPr sz="1350" b="0" i="0">
                <a:solidFill>
                  <a:srgbClr val="198754"/>
                </a:solidFill>
                <a:latin typeface="Geist Mono"/>
                <a:ea typeface="Geist Mono"/>
                <a:cs typeface="Geist Mono"/>
              </a:rPr>
              <a:t>291</a:t>
            </a:r>
          </a:p>
        </p:txBody>
      </p:sp>
      <p:sp>
        <p:nvSpPr>
          <p:cNvPr id="17" name="TextBox 16"/>
          <p:cNvSpPr txBox="1"/>
          <p:nvPr/>
        </p:nvSpPr>
        <p:spPr>
          <a:xfrm>
            <a:off x="11430000" y="3445669"/>
            <a:ext cx="762000" cy="266700"/>
          </a:xfrm>
          <a:prstGeom prst="rect">
            <a:avLst/>
          </a:prstGeom>
          <a:noFill/>
        </p:spPr>
        <p:txBody>
          <a:bodyPr wrap="square" lIns="0" rIns="0" tIns="0" bIns="0" anchor="t">
            <a:spAutoFit/>
          </a:bodyPr>
          <a:lstStyle/>
          <a:p>
            <a:pPr algn="r"/>
            <a:r>
              <a:rPr sz="1350" b="0" i="0">
                <a:solidFill>
                  <a:srgbClr val="E05540"/>
                </a:solidFill>
                <a:latin typeface="Geist Mono"/>
                <a:ea typeface="Geist Mono"/>
                <a:cs typeface="Geist Mono"/>
              </a:rPr>
              <a:t>276</a:t>
            </a:r>
          </a:p>
        </p:txBody>
      </p:sp>
      <p:sp>
        <p:nvSpPr>
          <p:cNvPr id="18" name="Rectangle 17"/>
          <p:cNvSpPr/>
          <p:nvPr/>
        </p:nvSpPr>
        <p:spPr>
          <a:xfrm>
            <a:off x="1876425"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925411"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974396"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023382"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072368"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121354"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170339"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2219325"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268311"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317296"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366282"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415268"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2464254"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513239"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562225" y="68294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3" name="Connector 32"/>
          <p:cNvCxnSpPr/>
          <p:nvPr/>
        </p:nvCxnSpPr>
        <p:spPr>
          <a:xfrm flipV="1">
            <a:off x="2639786" y="6569650"/>
            <a:ext cx="48985" cy="2883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688771" y="6303470"/>
            <a:ext cx="48986" cy="2661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737757" y="6057754"/>
            <a:ext cx="48986" cy="2457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786743" y="5830931"/>
            <a:ext cx="48986" cy="2268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835729" y="5621546"/>
            <a:ext cx="48985" cy="2093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884714" y="5428259"/>
            <a:ext cx="48986" cy="1932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33700" y="5249833"/>
            <a:ext cx="48986" cy="1784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982686" y="5085125"/>
            <a:ext cx="48985" cy="1647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031671" y="4933080"/>
            <a:ext cx="48986" cy="1520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080657" y="4792725"/>
            <a:ext cx="48986" cy="1403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129643" y="4663162"/>
            <a:ext cx="48986" cy="1295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178629" y="4543559"/>
            <a:ext cx="48985" cy="1196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227614" y="4433152"/>
            <a:ext cx="48986" cy="11040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276600" y="4331233"/>
            <a:ext cx="48986" cy="1019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325586" y="4237151"/>
            <a:ext cx="48985" cy="940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374571" y="4150301"/>
            <a:ext cx="48986" cy="868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423557" y="4070129"/>
            <a:ext cx="48986" cy="801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472543" y="3996121"/>
            <a:ext cx="48986" cy="740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521529" y="3927803"/>
            <a:ext cx="48985" cy="683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570514" y="3864738"/>
            <a:ext cx="48986" cy="630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619500" y="3806521"/>
            <a:ext cx="48986" cy="582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668486" y="3752780"/>
            <a:ext cx="48985" cy="537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717471" y="3703171"/>
            <a:ext cx="48986" cy="496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766457" y="3657376"/>
            <a:ext cx="48986" cy="457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815443" y="3615102"/>
            <a:ext cx="48986" cy="422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864429" y="3576078"/>
            <a:ext cx="48985" cy="390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913414" y="3540055"/>
            <a:ext cx="48986" cy="360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962400" y="3506801"/>
            <a:ext cx="48986" cy="332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011386" y="3476103"/>
            <a:ext cx="48985" cy="3069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060371" y="3447766"/>
            <a:ext cx="48986" cy="283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109357" y="3421608"/>
            <a:ext cx="48986" cy="261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158343" y="3397460"/>
            <a:ext cx="48986" cy="241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207329" y="3375169"/>
            <a:ext cx="48985" cy="222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256314" y="3354592"/>
            <a:ext cx="48986" cy="205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05300" y="3335597"/>
            <a:ext cx="48986" cy="189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354286" y="3318063"/>
            <a:ext cx="48985" cy="175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03271" y="3301876"/>
            <a:ext cx="48986" cy="161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452257" y="3286935"/>
            <a:ext cx="48986" cy="149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501243" y="3273141"/>
            <a:ext cx="48986" cy="137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550229" y="3260409"/>
            <a:ext cx="48985" cy="127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599214" y="3248655"/>
            <a:ext cx="48986" cy="117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648200" y="3237805"/>
            <a:ext cx="48986" cy="108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697186" y="3227789"/>
            <a:ext cx="48985" cy="100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4746171" y="3218543"/>
            <a:ext cx="48986" cy="92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795157" y="3210008"/>
            <a:ext cx="48986" cy="853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844143" y="3202129"/>
            <a:ext cx="48986" cy="787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4893129" y="3194856"/>
            <a:ext cx="48985" cy="727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4942114" y="3188142"/>
            <a:ext cx="48986" cy="671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4991100" y="3181945"/>
            <a:ext cx="48986" cy="619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040086" y="3176223"/>
            <a:ext cx="48985" cy="57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089071" y="3170942"/>
            <a:ext cx="48986" cy="52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5138057" y="3166067"/>
            <a:ext cx="48986" cy="487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5158468" y="313749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207454" y="3132991"/>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256439" y="312883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305425" y="312500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354411" y="312146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403396" y="3118194"/>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452382" y="311517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5501368" y="311239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5550354" y="310982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5599339" y="310744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5648325" y="310525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5697311" y="310323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5746296" y="310136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5795282" y="309964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5844268" y="309805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5893254" y="309658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5942239" y="3095231"/>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5991225" y="3093980"/>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6040211" y="309282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6089196" y="309175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6138182" y="3090774"/>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6187168" y="308986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6236154" y="308902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6285139" y="308825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6334125" y="308753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6383111" y="308687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6432096" y="308626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6481082" y="308570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6530068" y="308518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6579054" y="308470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6628039" y="308426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6677025" y="308385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6726011" y="3083481"/>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8" name="Connector 117"/>
          <p:cNvCxnSpPr/>
          <p:nvPr/>
        </p:nvCxnSpPr>
        <p:spPr>
          <a:xfrm>
            <a:off x="6803571" y="3111708"/>
            <a:ext cx="48986" cy="2153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852557" y="3327010"/>
            <a:ext cx="48986" cy="2153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901543" y="3542311"/>
            <a:ext cx="48986" cy="2153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950529" y="3707632"/>
            <a:ext cx="48985" cy="499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999514" y="3661494"/>
            <a:ext cx="48986" cy="4613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048500" y="3618903"/>
            <a:ext cx="48986" cy="425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097486" y="3579587"/>
            <a:ext cx="48985" cy="393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146471" y="3543294"/>
            <a:ext cx="48986" cy="362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7195457" y="3509791"/>
            <a:ext cx="48986" cy="335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7244443" y="3478864"/>
            <a:ext cx="48986" cy="309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7293429" y="3450314"/>
            <a:ext cx="48985" cy="285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7342414" y="3423960"/>
            <a:ext cx="48986" cy="263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7391400" y="3399632"/>
            <a:ext cx="48986" cy="2432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7440386" y="3377174"/>
            <a:ext cx="48985" cy="224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7489371" y="3356443"/>
            <a:ext cx="48986" cy="2073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7538357" y="3337306"/>
            <a:ext cx="48986" cy="191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7587343" y="3319640"/>
            <a:ext cx="48986" cy="176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7636329" y="3303332"/>
            <a:ext cx="48985" cy="163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7685314" y="3288278"/>
            <a:ext cx="48986" cy="150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7734300" y="3274382"/>
            <a:ext cx="48986" cy="138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7783286" y="3261554"/>
            <a:ext cx="48985" cy="1282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7832271" y="3249712"/>
            <a:ext cx="48986" cy="1184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7881257" y="3238780"/>
            <a:ext cx="48986" cy="109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7930243" y="3228689"/>
            <a:ext cx="48986" cy="100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7979229" y="3219374"/>
            <a:ext cx="48985" cy="93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8028214" y="3210775"/>
            <a:ext cx="48986" cy="859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8077200" y="3202838"/>
            <a:ext cx="48986" cy="79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8126186" y="3195510"/>
            <a:ext cx="48985" cy="732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8175171" y="3188746"/>
            <a:ext cx="48986" cy="67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8224157" y="3182502"/>
            <a:ext cx="48986" cy="62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8273143" y="3176738"/>
            <a:ext cx="48986" cy="57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8322129" y="3171417"/>
            <a:ext cx="48985" cy="53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8371114" y="3166505"/>
            <a:ext cx="48986" cy="49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51" name="Rectangle 150"/>
          <p:cNvSpPr/>
          <p:nvPr/>
        </p:nvSpPr>
        <p:spPr>
          <a:xfrm>
            <a:off x="8391525" y="3137930"/>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8440511" y="313339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8489496" y="3129211"/>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8538482" y="312534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8587468" y="3121780"/>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8636454" y="311848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8685439" y="311544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8734425" y="311264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8783411" y="311005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8832396" y="310766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8881382" y="310545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8930368" y="310341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8979354" y="310153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9028339" y="3099801"/>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9077325" y="309819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9126311" y="309671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9175296" y="309535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9224282" y="309409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9273268" y="3092929"/>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9322254" y="309185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9371239" y="3090863"/>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9420225" y="308994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9469211" y="308910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9518196" y="308832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9567182" y="308760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9616168" y="3086938"/>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9665154" y="3086324"/>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9714139" y="3085757"/>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9763125" y="308523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ectangle 179"/>
          <p:cNvSpPr/>
          <p:nvPr/>
        </p:nvSpPr>
        <p:spPr>
          <a:xfrm>
            <a:off x="9812111" y="3084752"/>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ectangle 180"/>
          <p:cNvSpPr/>
          <p:nvPr/>
        </p:nvSpPr>
        <p:spPr>
          <a:xfrm>
            <a:off x="9861096" y="3084306"/>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ectangle 181"/>
          <p:cNvSpPr/>
          <p:nvPr/>
        </p:nvSpPr>
        <p:spPr>
          <a:xfrm>
            <a:off x="9910082" y="3083895"/>
            <a:ext cx="106136"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83" name="Connector 182"/>
          <p:cNvCxnSpPr/>
          <p:nvPr/>
        </p:nvCxnSpPr>
        <p:spPr>
          <a:xfrm>
            <a:off x="9987643" y="3112090"/>
            <a:ext cx="48986" cy="8232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0036629" y="3194415"/>
            <a:ext cx="48985" cy="805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0085614" y="3274930"/>
            <a:ext cx="48986" cy="787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10134600" y="3353675"/>
            <a:ext cx="48986" cy="770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10183586" y="3430690"/>
            <a:ext cx="48985" cy="753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10232571" y="3506013"/>
            <a:ext cx="48986" cy="736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0281557" y="3579680"/>
            <a:ext cx="48986" cy="720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10330543" y="3651728"/>
            <a:ext cx="48986" cy="704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10379529" y="3722192"/>
            <a:ext cx="48985" cy="689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10428514" y="3791108"/>
            <a:ext cx="48986" cy="674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10477500" y="3858510"/>
            <a:ext cx="48986" cy="659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6486" y="3924430"/>
            <a:ext cx="48985" cy="644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575471" y="3988902"/>
            <a:ext cx="48986" cy="630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0624457" y="4051956"/>
            <a:ext cx="48986" cy="6166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673443" y="4113625"/>
            <a:ext cx="48986" cy="6031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722429" y="4173938"/>
            <a:ext cx="48985" cy="5898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771414" y="4232926"/>
            <a:ext cx="48986" cy="5769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10820400" y="4290618"/>
            <a:ext cx="48986" cy="564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10869386" y="4347042"/>
            <a:ext cx="48985" cy="5518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10918371" y="4402225"/>
            <a:ext cx="48986" cy="539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10967357" y="4456196"/>
            <a:ext cx="48986" cy="527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11016343" y="4508981"/>
            <a:ext cx="48986" cy="5162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11065329" y="4560606"/>
            <a:ext cx="48985" cy="5049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11114314" y="4611096"/>
            <a:ext cx="48986" cy="493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11163300" y="4660476"/>
            <a:ext cx="48986" cy="482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11212286" y="4708771"/>
            <a:ext cx="48985" cy="472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11261271" y="4756005"/>
            <a:ext cx="48986" cy="461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11310257" y="4802201"/>
            <a:ext cx="48986" cy="451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11359243" y="4847382"/>
            <a:ext cx="48986" cy="441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11408229" y="4891569"/>
            <a:ext cx="48985" cy="432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11457214" y="4934786"/>
            <a:ext cx="48986" cy="422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11506200" y="4977053"/>
            <a:ext cx="48986" cy="413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11555186" y="5018390"/>
            <a:ext cx="48985" cy="4043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11604171" y="5058820"/>
            <a:ext cx="48986" cy="3954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11653157" y="5098360"/>
            <a:ext cx="48986" cy="386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11702143" y="5137032"/>
            <a:ext cx="48986" cy="378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11751129" y="5174854"/>
            <a:ext cx="48985" cy="369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11800114" y="5211845"/>
            <a:ext cx="48986" cy="3617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11849100" y="5248023"/>
            <a:ext cx="48986" cy="353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11898086" y="5283405"/>
            <a:ext cx="48985" cy="346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11947071" y="5318010"/>
            <a:ext cx="48986" cy="338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11996057" y="5351855"/>
            <a:ext cx="48986" cy="331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12045043" y="5384956"/>
            <a:ext cx="48986" cy="3237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12094029" y="5417329"/>
            <a:ext cx="48985" cy="3166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12143014" y="5448991"/>
            <a:ext cx="48986" cy="309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952500" y="2800350"/>
            <a:ext cx="2857500" cy="266700"/>
          </a:xfrm>
          <a:prstGeom prst="rect">
            <a:avLst/>
          </a:prstGeom>
          <a:noFill/>
        </p:spPr>
        <p:txBody>
          <a:bodyPr wrap="square" lIns="0" rIns="0" tIns="0" bIns="0" anchor="t">
            <a:spAutoFit/>
          </a:bodyPr>
          <a:lstStyle/>
          <a:p>
            <a:pPr algn="l"/>
            <a:r>
              <a:rPr sz="1350" b="0" i="0">
                <a:solidFill>
                  <a:srgbClr val="9A7878"/>
                </a:solidFill>
                <a:latin typeface="Geist"/>
                <a:ea typeface="Geist"/>
                <a:cs typeface="Geist"/>
              </a:rPr>
              <a:t>flywheel rad/s</a:t>
            </a:r>
          </a:p>
        </p:txBody>
      </p:sp>
      <p:sp>
        <p:nvSpPr>
          <p:cNvPr id="229" name="Rectangle 228"/>
          <p:cNvSpPr/>
          <p:nvPr/>
        </p:nvSpPr>
        <p:spPr>
          <a:xfrm>
            <a:off x="1905000" y="7143750"/>
            <a:ext cx="734786" cy="47625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Rectangle 229"/>
          <p:cNvSpPr/>
          <p:nvPr/>
        </p:nvSpPr>
        <p:spPr>
          <a:xfrm>
            <a:off x="2639786" y="7143750"/>
            <a:ext cx="2155371" cy="47625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1" name="TextBox 230"/>
          <p:cNvSpPr txBox="1"/>
          <p:nvPr/>
        </p:nvSpPr>
        <p:spPr>
          <a:xfrm>
            <a:off x="2639786" y="7143750"/>
            <a:ext cx="2155371" cy="47625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32" name="Rectangle 231"/>
          <p:cNvSpPr/>
          <p:nvPr/>
        </p:nvSpPr>
        <p:spPr>
          <a:xfrm>
            <a:off x="4795157" y="7143750"/>
            <a:ext cx="2081893" cy="476250"/>
          </a:xfrm>
          <a:prstGeom prst="rect">
            <a:avLst/>
          </a:prstGeom>
          <a:solidFill>
            <a:srgbClr val="CC2200"/>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3" name="TextBox 232"/>
          <p:cNvSpPr txBox="1"/>
          <p:nvPr/>
        </p:nvSpPr>
        <p:spPr>
          <a:xfrm>
            <a:off x="4795157" y="7143750"/>
            <a:ext cx="2081893" cy="47625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34" name="Rectangle 233"/>
          <p:cNvSpPr/>
          <p:nvPr/>
        </p:nvSpPr>
        <p:spPr>
          <a:xfrm>
            <a:off x="6877050" y="7143750"/>
            <a:ext cx="1151164" cy="47625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5" name="TextBox 234"/>
          <p:cNvSpPr txBox="1"/>
          <p:nvPr/>
        </p:nvSpPr>
        <p:spPr>
          <a:xfrm>
            <a:off x="6877050" y="7143750"/>
            <a:ext cx="1151164" cy="47625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36" name="Rectangle 235"/>
          <p:cNvSpPr/>
          <p:nvPr/>
        </p:nvSpPr>
        <p:spPr>
          <a:xfrm>
            <a:off x="8028214" y="7143750"/>
            <a:ext cx="1959429" cy="476250"/>
          </a:xfrm>
          <a:prstGeom prst="rect">
            <a:avLst/>
          </a:prstGeom>
          <a:solidFill>
            <a:srgbClr val="CC2200"/>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7" name="TextBox 236"/>
          <p:cNvSpPr txBox="1"/>
          <p:nvPr/>
        </p:nvSpPr>
        <p:spPr>
          <a:xfrm>
            <a:off x="8028214" y="7143750"/>
            <a:ext cx="1959429" cy="47625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38" name="Rectangle 237"/>
          <p:cNvSpPr/>
          <p:nvPr/>
        </p:nvSpPr>
        <p:spPr>
          <a:xfrm>
            <a:off x="9987643" y="7143750"/>
            <a:ext cx="2228850" cy="47625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9" name="TextBox 238"/>
          <p:cNvSpPr txBox="1"/>
          <p:nvPr/>
        </p:nvSpPr>
        <p:spPr>
          <a:xfrm>
            <a:off x="9987643" y="7143750"/>
            <a:ext cx="2228850" cy="47625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IDLE</a:t>
            </a:r>
          </a:p>
        </p:txBody>
      </p:sp>
      <p:sp>
        <p:nvSpPr>
          <p:cNvPr id="240" name="TextBox 239"/>
          <p:cNvSpPr txBox="1"/>
          <p:nvPr/>
        </p:nvSpPr>
        <p:spPr>
          <a:xfrm>
            <a:off x="952500" y="7715250"/>
            <a:ext cx="2857500" cy="266700"/>
          </a:xfrm>
          <a:prstGeom prst="rect">
            <a:avLst/>
          </a:prstGeom>
          <a:noFill/>
        </p:spPr>
        <p:txBody>
          <a:bodyPr wrap="square" lIns="0" rIns="0" tIns="0" bIns="0" anchor="t">
            <a:spAutoFit/>
          </a:bodyPr>
          <a:lstStyle/>
          <a:p>
            <a:pPr algn="l"/>
            <a:r>
              <a:rPr sz="1350" b="0" i="0">
                <a:solidFill>
                  <a:srgbClr val="9A7878"/>
                </a:solidFill>
                <a:latin typeface="Geist"/>
                <a:ea typeface="Geist"/>
                <a:cs typeface="Geist"/>
              </a:rPr>
              <a:t>state</a:t>
            </a:r>
          </a:p>
        </p:txBody>
      </p:sp>
      <p:sp>
        <p:nvSpPr>
          <p:cNvPr id="241" name="TextBox 240"/>
          <p:cNvSpPr txBox="1"/>
          <p:nvPr/>
        </p:nvSpPr>
        <p:spPr>
          <a:xfrm>
            <a:off x="1905000" y="7715250"/>
            <a:ext cx="10287000" cy="26670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time →</a:t>
            </a:r>
          </a:p>
        </p:txBody>
      </p:sp>
      <p:sp>
        <p:nvSpPr>
          <p:cNvPr id="242" name="Oval 241"/>
          <p:cNvSpPr/>
          <p:nvPr/>
        </p:nvSpPr>
        <p:spPr>
          <a:xfrm>
            <a:off x="2449286" y="6248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2449286" y="6248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4" name="Oval 243"/>
          <p:cNvSpPr/>
          <p:nvPr/>
        </p:nvSpPr>
        <p:spPr>
          <a:xfrm>
            <a:off x="4318907" y="262949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4318907" y="262949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6" name="Oval 245"/>
          <p:cNvSpPr/>
          <p:nvPr/>
        </p:nvSpPr>
        <p:spPr>
          <a:xfrm>
            <a:off x="6686550" y="35790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6686550" y="35790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48" name="Oval 247"/>
          <p:cNvSpPr/>
          <p:nvPr/>
        </p:nvSpPr>
        <p:spPr>
          <a:xfrm>
            <a:off x="8066314" y="259139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8066314" y="259139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50" name="Oval 249"/>
          <p:cNvSpPr/>
          <p:nvPr/>
        </p:nvSpPr>
        <p:spPr>
          <a:xfrm>
            <a:off x="10082893" y="254059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10082893" y="25405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252" name="Oval 251"/>
          <p:cNvSpPr/>
          <p:nvPr/>
        </p:nvSpPr>
        <p:spPr>
          <a:xfrm>
            <a:off x="13144500" y="2762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13144500" y="276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4" name="TextBox 253"/>
          <p:cNvSpPr txBox="1"/>
          <p:nvPr/>
        </p:nvSpPr>
        <p:spPr>
          <a:xfrm>
            <a:off x="13754100" y="27241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Button held</a:t>
            </a:r>
          </a:p>
        </p:txBody>
      </p:sp>
      <p:sp>
        <p:nvSpPr>
          <p:cNvPr id="255" name="TextBox 254"/>
          <p:cNvSpPr txBox="1"/>
          <p:nvPr/>
        </p:nvSpPr>
        <p:spPr>
          <a:xfrm>
            <a:off x="13754100" y="31432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IDLE → SPIN_UP</a:t>
            </a:r>
          </a:p>
        </p:txBody>
      </p:sp>
      <p:sp>
        <p:nvSpPr>
          <p:cNvPr id="256" name="Oval 255"/>
          <p:cNvSpPr/>
          <p:nvPr/>
        </p:nvSpPr>
        <p:spPr>
          <a:xfrm>
            <a:off x="13144500" y="39433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3144500" y="39433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8" name="TextBox 257"/>
          <p:cNvSpPr txBox="1"/>
          <p:nvPr/>
        </p:nvSpPr>
        <p:spPr>
          <a:xfrm>
            <a:off x="13754100" y="39052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Over 291</a:t>
            </a:r>
          </a:p>
        </p:txBody>
      </p:sp>
      <p:sp>
        <p:nvSpPr>
          <p:cNvPr id="259" name="TextBox 258"/>
          <p:cNvSpPr txBox="1"/>
          <p:nvPr/>
        </p:nvSpPr>
        <p:spPr>
          <a:xfrm>
            <a:off x="13754100" y="43243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isAtSpeed(): SHOOT, roller feeds</a:t>
            </a:r>
          </a:p>
        </p:txBody>
      </p:sp>
      <p:sp>
        <p:nvSpPr>
          <p:cNvPr id="260" name="Oval 259"/>
          <p:cNvSpPr/>
          <p:nvPr/>
        </p:nvSpPr>
        <p:spPr>
          <a:xfrm>
            <a:off x="13144500" y="51244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13144500" y="5124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2" name="TextBox 261"/>
          <p:cNvSpPr txBox="1"/>
          <p:nvPr/>
        </p:nvSpPr>
        <p:spPr>
          <a:xfrm>
            <a:off x="13754100" y="50863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Launch!</a:t>
            </a:r>
          </a:p>
        </p:txBody>
      </p:sp>
      <p:sp>
        <p:nvSpPr>
          <p:cNvPr id="263" name="TextBox 262"/>
          <p:cNvSpPr txBox="1"/>
          <p:nvPr/>
        </p:nvSpPr>
        <p:spPr>
          <a:xfrm>
            <a:off x="13754100" y="55054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276: back to SPIN_UP</a:t>
            </a:r>
          </a:p>
        </p:txBody>
      </p:sp>
      <p:sp>
        <p:nvSpPr>
          <p:cNvPr id="264" name="Oval 263"/>
          <p:cNvSpPr/>
          <p:nvPr/>
        </p:nvSpPr>
        <p:spPr>
          <a:xfrm>
            <a:off x="13144500" y="63055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3144500" y="63055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66" name="TextBox 265"/>
          <p:cNvSpPr txBox="1"/>
          <p:nvPr/>
        </p:nvSpPr>
        <p:spPr>
          <a:xfrm>
            <a:off x="13754100" y="62674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Recovered</a:t>
            </a:r>
          </a:p>
        </p:txBody>
      </p:sp>
      <p:sp>
        <p:nvSpPr>
          <p:cNvPr id="267" name="TextBox 266"/>
          <p:cNvSpPr txBox="1"/>
          <p:nvPr/>
        </p:nvSpPr>
        <p:spPr>
          <a:xfrm>
            <a:off x="13754100" y="66865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SHOOT again</a:t>
            </a:r>
          </a:p>
        </p:txBody>
      </p:sp>
      <p:sp>
        <p:nvSpPr>
          <p:cNvPr id="268" name="Oval 267"/>
          <p:cNvSpPr/>
          <p:nvPr/>
        </p:nvSpPr>
        <p:spPr>
          <a:xfrm>
            <a:off x="13144500" y="74866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3144500" y="74866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270" name="TextBox 269"/>
          <p:cNvSpPr txBox="1"/>
          <p:nvPr/>
        </p:nvSpPr>
        <p:spPr>
          <a:xfrm>
            <a:off x="13754100" y="74485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Let go</a:t>
            </a:r>
          </a:p>
        </p:txBody>
      </p:sp>
      <p:sp>
        <p:nvSpPr>
          <p:cNvPr id="271" name="TextBox 270"/>
          <p:cNvSpPr txBox="1"/>
          <p:nvPr/>
        </p:nvSpPr>
        <p:spPr>
          <a:xfrm>
            <a:off x="13754100" y="78676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IDLE, the wheel coasts down</a:t>
            </a:r>
          </a:p>
        </p:txBody>
      </p:sp>
      <p:sp>
        <p:nvSpPr>
          <p:cNvPr id="272" name="TextBox 27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3" name="TextBox 27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Trace it, loop by loop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762250"/>
            <a:ext cx="211455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time</a:t>
            </a:r>
          </a:p>
        </p:txBody>
      </p:sp>
      <p:sp>
        <p:nvSpPr>
          <p:cNvPr id="7" name="TextBox 6"/>
          <p:cNvSpPr txBox="1"/>
          <p:nvPr/>
        </p:nvSpPr>
        <p:spPr>
          <a:xfrm>
            <a:off x="3562350" y="2762250"/>
            <a:ext cx="259080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wanted</a:t>
            </a:r>
          </a:p>
        </p:txBody>
      </p:sp>
      <p:sp>
        <p:nvSpPr>
          <p:cNvPr id="8" name="TextBox 7"/>
          <p:cNvSpPr txBox="1"/>
          <p:nvPr/>
        </p:nvSpPr>
        <p:spPr>
          <a:xfrm>
            <a:off x="6419850" y="2762250"/>
            <a:ext cx="259080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flywheel</a:t>
            </a:r>
          </a:p>
        </p:txBody>
      </p:sp>
      <p:sp>
        <p:nvSpPr>
          <p:cNvPr id="9" name="TextBox 8"/>
          <p:cNvSpPr txBox="1"/>
          <p:nvPr/>
        </p:nvSpPr>
        <p:spPr>
          <a:xfrm>
            <a:off x="9277350" y="2762250"/>
            <a:ext cx="335280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state</a:t>
            </a:r>
          </a:p>
        </p:txBody>
      </p:sp>
      <p:sp>
        <p:nvSpPr>
          <p:cNvPr id="10" name="TextBox 9"/>
          <p:cNvSpPr txBox="1"/>
          <p:nvPr/>
        </p:nvSpPr>
        <p:spPr>
          <a:xfrm>
            <a:off x="12896850" y="2762250"/>
            <a:ext cx="447675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roller</a:t>
            </a:r>
          </a:p>
        </p:txBody>
      </p:sp>
      <p:sp>
        <p:nvSpPr>
          <p:cNvPr id="11" name="Rectangle 10"/>
          <p:cNvSpPr/>
          <p:nvPr/>
        </p:nvSpPr>
        <p:spPr>
          <a:xfrm>
            <a:off x="904875" y="4181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3467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0 ms</a:t>
            </a:r>
          </a:p>
        </p:txBody>
      </p:sp>
      <p:sp>
        <p:nvSpPr>
          <p:cNvPr id="13" name="TextBox 12"/>
          <p:cNvSpPr txBox="1"/>
          <p:nvPr/>
        </p:nvSpPr>
        <p:spPr>
          <a:xfrm>
            <a:off x="3562350" y="3467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IDLE</a:t>
            </a:r>
          </a:p>
        </p:txBody>
      </p:sp>
      <p:sp>
        <p:nvSpPr>
          <p:cNvPr id="14" name="TextBox 13"/>
          <p:cNvSpPr txBox="1"/>
          <p:nvPr/>
        </p:nvSpPr>
        <p:spPr>
          <a:xfrm>
            <a:off x="6419850" y="3467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a:t>
            </a:r>
          </a:p>
        </p:txBody>
      </p:sp>
      <p:sp>
        <p:nvSpPr>
          <p:cNvPr id="15" name="TextBox 14"/>
          <p:cNvSpPr txBox="1"/>
          <p:nvPr/>
        </p:nvSpPr>
        <p:spPr>
          <a:xfrm>
            <a:off x="9277350" y="3467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IDLE</a:t>
            </a:r>
          </a:p>
        </p:txBody>
      </p:sp>
      <p:sp>
        <p:nvSpPr>
          <p:cNvPr id="16" name="TextBox 15"/>
          <p:cNvSpPr txBox="1"/>
          <p:nvPr/>
        </p:nvSpPr>
        <p:spPr>
          <a:xfrm>
            <a:off x="12896850" y="3467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17" name="Rounded Rectangle 16"/>
          <p:cNvSpPr/>
          <p:nvPr/>
        </p:nvSpPr>
        <p:spPr>
          <a:xfrm>
            <a:off x="914400" y="4229100"/>
            <a:ext cx="16459200" cy="685800"/>
          </a:xfrm>
          <a:prstGeom prst="roundRect">
            <a:avLst>
              <a:gd name="adj" fmla="val 16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04875" y="4943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81100" y="4229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300 ms</a:t>
            </a:r>
          </a:p>
        </p:txBody>
      </p:sp>
      <p:sp>
        <p:nvSpPr>
          <p:cNvPr id="20" name="TextBox 19"/>
          <p:cNvSpPr txBox="1"/>
          <p:nvPr/>
        </p:nvSpPr>
        <p:spPr>
          <a:xfrm>
            <a:off x="3562350" y="4229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21" name="TextBox 20"/>
          <p:cNvSpPr txBox="1"/>
          <p:nvPr/>
        </p:nvSpPr>
        <p:spPr>
          <a:xfrm>
            <a:off x="6419850" y="4229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a:t>
            </a:r>
          </a:p>
        </p:txBody>
      </p:sp>
      <p:sp>
        <p:nvSpPr>
          <p:cNvPr id="22" name="TextBox 21"/>
          <p:cNvSpPr txBox="1"/>
          <p:nvPr/>
        </p:nvSpPr>
        <p:spPr>
          <a:xfrm>
            <a:off x="9277350" y="4229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SPIN_UP</a:t>
            </a:r>
          </a:p>
        </p:txBody>
      </p:sp>
      <p:sp>
        <p:nvSpPr>
          <p:cNvPr id="23" name="TextBox 22"/>
          <p:cNvSpPr txBox="1"/>
          <p:nvPr/>
        </p:nvSpPr>
        <p:spPr>
          <a:xfrm>
            <a:off x="12896850" y="4229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24" name="Rectangle 23"/>
          <p:cNvSpPr/>
          <p:nvPr/>
        </p:nvSpPr>
        <p:spPr>
          <a:xfrm>
            <a:off x="904875" y="5705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81100" y="4991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800 ms</a:t>
            </a:r>
          </a:p>
        </p:txBody>
      </p:sp>
      <p:sp>
        <p:nvSpPr>
          <p:cNvPr id="26" name="TextBox 25"/>
          <p:cNvSpPr txBox="1"/>
          <p:nvPr/>
        </p:nvSpPr>
        <p:spPr>
          <a:xfrm>
            <a:off x="3562350" y="4991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27" name="TextBox 26"/>
          <p:cNvSpPr txBox="1"/>
          <p:nvPr/>
        </p:nvSpPr>
        <p:spPr>
          <a:xfrm>
            <a:off x="6419850" y="4991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260</a:t>
            </a:r>
          </a:p>
        </p:txBody>
      </p:sp>
      <p:sp>
        <p:nvSpPr>
          <p:cNvPr id="28" name="TextBox 27"/>
          <p:cNvSpPr txBox="1"/>
          <p:nvPr/>
        </p:nvSpPr>
        <p:spPr>
          <a:xfrm>
            <a:off x="9277350" y="4991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SPIN_UP</a:t>
            </a:r>
          </a:p>
        </p:txBody>
      </p:sp>
      <p:sp>
        <p:nvSpPr>
          <p:cNvPr id="29" name="TextBox 28"/>
          <p:cNvSpPr txBox="1"/>
          <p:nvPr/>
        </p:nvSpPr>
        <p:spPr>
          <a:xfrm>
            <a:off x="12896850" y="4991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30" name="Rectangle 29"/>
          <p:cNvSpPr/>
          <p:nvPr/>
        </p:nvSpPr>
        <p:spPr>
          <a:xfrm>
            <a:off x="904875" y="6467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81100" y="5753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1200 ms</a:t>
            </a:r>
          </a:p>
        </p:txBody>
      </p:sp>
      <p:sp>
        <p:nvSpPr>
          <p:cNvPr id="32" name="TextBox 31"/>
          <p:cNvSpPr txBox="1"/>
          <p:nvPr/>
        </p:nvSpPr>
        <p:spPr>
          <a:xfrm>
            <a:off x="3562350" y="5753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33" name="TextBox 32"/>
          <p:cNvSpPr txBox="1"/>
          <p:nvPr/>
        </p:nvSpPr>
        <p:spPr>
          <a:xfrm>
            <a:off x="6419850" y="5753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292</a:t>
            </a:r>
          </a:p>
        </p:txBody>
      </p:sp>
      <p:sp>
        <p:nvSpPr>
          <p:cNvPr id="34" name="TextBox 33"/>
          <p:cNvSpPr txBox="1"/>
          <p:nvPr/>
        </p:nvSpPr>
        <p:spPr>
          <a:xfrm>
            <a:off x="9277350" y="5753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SHOOT</a:t>
            </a:r>
          </a:p>
        </p:txBody>
      </p:sp>
      <p:sp>
        <p:nvSpPr>
          <p:cNvPr id="35" name="TextBox 34"/>
          <p:cNvSpPr txBox="1"/>
          <p:nvPr/>
        </p:nvSpPr>
        <p:spPr>
          <a:xfrm>
            <a:off x="12896850" y="5753100"/>
            <a:ext cx="4476750" cy="685800"/>
          </a:xfrm>
          <a:prstGeom prst="rect">
            <a:avLst/>
          </a:prstGeom>
          <a:noFill/>
        </p:spPr>
        <p:txBody>
          <a:bodyPr wrap="square" lIns="0" rIns="0" tIns="0" bIns="0" anchor="ctr">
            <a:spAutoFit/>
          </a:bodyPr>
          <a:lstStyle/>
          <a:p>
            <a:pPr algn="l"/>
            <a:r>
              <a:rPr sz="2100" b="0" i="0">
                <a:solidFill>
                  <a:srgbClr val="CC2200"/>
                </a:solidFill>
                <a:latin typeface="Geist"/>
                <a:ea typeface="Geist"/>
                <a:cs typeface="Geist"/>
              </a:rPr>
              <a:t>feeding</a:t>
            </a:r>
          </a:p>
        </p:txBody>
      </p:sp>
      <p:sp>
        <p:nvSpPr>
          <p:cNvPr id="36" name="Rectangle 35"/>
          <p:cNvSpPr/>
          <p:nvPr/>
        </p:nvSpPr>
        <p:spPr>
          <a:xfrm>
            <a:off x="904875" y="7229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81100" y="6515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2020 ms</a:t>
            </a:r>
          </a:p>
        </p:txBody>
      </p:sp>
      <p:sp>
        <p:nvSpPr>
          <p:cNvPr id="38" name="TextBox 37"/>
          <p:cNvSpPr txBox="1"/>
          <p:nvPr/>
        </p:nvSpPr>
        <p:spPr>
          <a:xfrm>
            <a:off x="3562350" y="6515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39" name="TextBox 38"/>
          <p:cNvSpPr txBox="1"/>
          <p:nvPr/>
        </p:nvSpPr>
        <p:spPr>
          <a:xfrm>
            <a:off x="6419850" y="6515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270</a:t>
            </a:r>
          </a:p>
        </p:txBody>
      </p:sp>
      <p:sp>
        <p:nvSpPr>
          <p:cNvPr id="40" name="TextBox 39"/>
          <p:cNvSpPr txBox="1"/>
          <p:nvPr/>
        </p:nvSpPr>
        <p:spPr>
          <a:xfrm>
            <a:off x="9277350" y="6515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SPIN_UP</a:t>
            </a:r>
          </a:p>
        </p:txBody>
      </p:sp>
      <p:sp>
        <p:nvSpPr>
          <p:cNvPr id="41" name="TextBox 40"/>
          <p:cNvSpPr txBox="1"/>
          <p:nvPr/>
        </p:nvSpPr>
        <p:spPr>
          <a:xfrm>
            <a:off x="12896850" y="6515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42" name="Rectangle 41"/>
          <p:cNvSpPr/>
          <p:nvPr/>
        </p:nvSpPr>
        <p:spPr>
          <a:xfrm>
            <a:off x="904875" y="7991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181100" y="7277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3300 ms</a:t>
            </a:r>
          </a:p>
        </p:txBody>
      </p:sp>
      <p:sp>
        <p:nvSpPr>
          <p:cNvPr id="44" name="TextBox 43"/>
          <p:cNvSpPr txBox="1"/>
          <p:nvPr/>
        </p:nvSpPr>
        <p:spPr>
          <a:xfrm>
            <a:off x="3562350" y="7277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IDLE</a:t>
            </a:r>
          </a:p>
        </p:txBody>
      </p:sp>
      <p:sp>
        <p:nvSpPr>
          <p:cNvPr id="45" name="TextBox 44"/>
          <p:cNvSpPr txBox="1"/>
          <p:nvPr/>
        </p:nvSpPr>
        <p:spPr>
          <a:xfrm>
            <a:off x="6419850" y="7277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296</a:t>
            </a:r>
          </a:p>
        </p:txBody>
      </p:sp>
      <p:sp>
        <p:nvSpPr>
          <p:cNvPr id="46" name="TextBox 45"/>
          <p:cNvSpPr txBox="1"/>
          <p:nvPr/>
        </p:nvSpPr>
        <p:spPr>
          <a:xfrm>
            <a:off x="9277350" y="7277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IDLE</a:t>
            </a:r>
          </a:p>
        </p:txBody>
      </p:sp>
      <p:sp>
        <p:nvSpPr>
          <p:cNvPr id="47" name="TextBox 46"/>
          <p:cNvSpPr txBox="1"/>
          <p:nvPr/>
        </p:nvSpPr>
        <p:spPr>
          <a:xfrm>
            <a:off x="12896850" y="7277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48" name="Rounded Rectangle 47"/>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333500" y="828675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Row 2:  </a:t>
            </a:r>
            <a:r>
              <a:rPr sz="2100" b="0" i="0">
                <a:solidFill>
                  <a:srgbClr val="F0E8E8"/>
                </a:solidFill>
                <a:latin typeface="Geist"/>
                <a:ea typeface="Geist"/>
                <a:cs typeface="Geist"/>
              </a:rPr>
              <a:t>the driver wants SHOOT, but from IDLE the only step allowed is SPIN_UP.</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Common mistakes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hourglass-split.png"/>
          <p:cNvPicPr>
            <a:picLocks noChangeAspect="1"/>
          </p:cNvPicPr>
          <p:nvPr/>
        </p:nvPicPr>
        <p:blipFill>
          <a:blip r:embed="rId3"/>
          <a:stretch>
            <a:fillRect/>
          </a:stretch>
        </p:blipFill>
        <p:spPr>
          <a:xfrm>
            <a:off x="1295400" y="3238500"/>
            <a:ext cx="489857" cy="571500"/>
          </a:xfrm>
          <a:prstGeom prst="rect">
            <a:avLst/>
          </a:prstGeom>
        </p:spPr>
      </p:pic>
      <p:sp>
        <p:nvSpPr>
          <p:cNvPr id="7" name="TextBox 6"/>
          <p:cNvSpPr txBox="1"/>
          <p:nvPr/>
        </p:nvSpPr>
        <p:spPr>
          <a:xfrm>
            <a:off x="1295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No way out</a:t>
            </a:r>
          </a:p>
        </p:txBody>
      </p:sp>
      <p:sp>
        <p:nvSpPr>
          <p:cNvPr id="8" name="TextBox 7"/>
          <p:cNvSpPr txBox="1"/>
          <p:nvPr/>
        </p:nvSpPr>
        <p:spPr>
          <a:xfrm>
            <a:off x="1295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A state you can enter but no rule leaves. Stuck.</a:t>
            </a:r>
          </a:p>
        </p:txBody>
      </p:sp>
      <p:sp>
        <p:nvSpPr>
          <p:cNvPr id="9" name="Rounded Rectangle 8"/>
          <p:cNvSpPr/>
          <p:nvPr/>
        </p:nvSpPr>
        <p:spPr>
          <a:xfrm>
            <a:off x="5105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triangle-fill.png"/>
          <p:cNvPicPr>
            <a:picLocks noChangeAspect="1"/>
          </p:cNvPicPr>
          <p:nvPr/>
        </p:nvPicPr>
        <p:blipFill>
          <a:blip r:embed="rId4"/>
          <a:stretch>
            <a:fillRect/>
          </a:stretch>
        </p:blipFill>
        <p:spPr>
          <a:xfrm>
            <a:off x="5486400" y="3238500"/>
            <a:ext cx="653143" cy="571500"/>
          </a:xfrm>
          <a:prstGeom prst="rect">
            <a:avLst/>
          </a:prstGeom>
        </p:spPr>
      </p:pic>
      <p:sp>
        <p:nvSpPr>
          <p:cNvPr id="11" name="TextBox 10"/>
          <p:cNvSpPr txBox="1"/>
          <p:nvPr/>
        </p:nvSpPr>
        <p:spPr>
          <a:xfrm>
            <a:off x="5486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No default</a:t>
            </a:r>
          </a:p>
        </p:txBody>
      </p:sp>
      <p:sp>
        <p:nvSpPr>
          <p:cNvPr id="12" name="TextBox 11"/>
          <p:cNvSpPr txBox="1"/>
          <p:nvPr/>
        </p:nvSpPr>
        <p:spPr>
          <a:xfrm>
            <a:off x="5486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Something unexpected leaves the motors running.</a:t>
            </a:r>
          </a:p>
        </p:txBody>
      </p:sp>
      <p:sp>
        <p:nvSpPr>
          <p:cNvPr id="13" name="Rounded Rectangle 12"/>
          <p:cNvSpPr/>
          <p:nvPr/>
        </p:nvSpPr>
        <p:spPr>
          <a:xfrm>
            <a:off x="9296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iagram-2.png"/>
          <p:cNvPicPr>
            <a:picLocks noChangeAspect="1"/>
          </p:cNvPicPr>
          <p:nvPr/>
        </p:nvPicPr>
        <p:blipFill>
          <a:blip r:embed="rId5"/>
          <a:stretch>
            <a:fillRect/>
          </a:stretch>
        </p:blipFill>
        <p:spPr>
          <a:xfrm>
            <a:off x="9677400" y="3238500"/>
            <a:ext cx="476250" cy="571500"/>
          </a:xfrm>
          <a:prstGeom prst="rect">
            <a:avLst/>
          </a:prstGeom>
        </p:spPr>
      </p:pic>
      <p:sp>
        <p:nvSpPr>
          <p:cNvPr id="15" name="TextBox 14"/>
          <p:cNvSpPr txBox="1"/>
          <p:nvPr/>
        </p:nvSpPr>
        <p:spPr>
          <a:xfrm>
            <a:off x="9677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Motors in the rules</a:t>
            </a:r>
          </a:p>
        </p:txBody>
      </p:sp>
      <p:sp>
        <p:nvSpPr>
          <p:cNvPr id="16" name="TextBox 15"/>
          <p:cNvSpPr txBox="1"/>
          <p:nvPr/>
        </p:nvSpPr>
        <p:spPr>
          <a:xfrm>
            <a:off x="9677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Set motors only in updateLogic, never in the rules.</a:t>
            </a:r>
          </a:p>
        </p:txBody>
      </p:sp>
      <p:sp>
        <p:nvSpPr>
          <p:cNvPr id="17" name="Rounded Rectangle 16"/>
          <p:cNvSpPr/>
          <p:nvPr/>
        </p:nvSpPr>
        <p:spPr>
          <a:xfrm>
            <a:off x="13487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ug.png"/>
          <p:cNvPicPr>
            <a:picLocks noChangeAspect="1"/>
          </p:cNvPicPr>
          <p:nvPr/>
        </p:nvPicPr>
        <p:blipFill>
          <a:blip r:embed="rId6"/>
          <a:stretch>
            <a:fillRect/>
          </a:stretch>
        </p:blipFill>
        <p:spPr>
          <a:xfrm>
            <a:off x="13868400" y="3238500"/>
            <a:ext cx="516194" cy="571500"/>
          </a:xfrm>
          <a:prstGeom prst="rect">
            <a:avLst/>
          </a:prstGeom>
        </p:spPr>
      </p:pic>
      <p:sp>
        <p:nvSpPr>
          <p:cNvPr id="19" name="TextBox 18"/>
          <p:cNvSpPr txBox="1"/>
          <p:nvPr/>
        </p:nvSpPr>
        <p:spPr>
          <a:xfrm>
            <a:off x="13868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Missing break</a:t>
            </a:r>
          </a:p>
        </p:txBody>
      </p:sp>
      <p:sp>
        <p:nvSpPr>
          <p:cNvPr id="20" name="TextBox 19"/>
          <p:cNvSpPr txBox="1"/>
          <p:nvPr/>
        </p:nvSpPr>
        <p:spPr>
          <a:xfrm>
            <a:off x="13868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One case runs into the next.</a:t>
            </a:r>
          </a:p>
        </p:txBody>
      </p:sp>
      <p:pic>
        <p:nvPicPr>
          <p:cNvPr id="21" name="Picture 20" descr="dozer_wide_left.png"/>
          <p:cNvPicPr>
            <a:picLocks noChangeAspect="1"/>
          </p:cNvPicPr>
          <p:nvPr/>
        </p:nvPicPr>
        <p:blipFill>
          <a:blip r:embed="rId7"/>
          <a:stretch>
            <a:fillRect/>
          </a:stretch>
        </p:blipFill>
        <p:spPr>
          <a:xfrm>
            <a:off x="14859000" y="7239000"/>
            <a:ext cx="2381250" cy="1463620"/>
          </a:xfrm>
          <a:prstGeom prst="rect">
            <a:avLst/>
          </a:prstGeom>
        </p:spPr>
      </p:pic>
      <p:sp>
        <p:nvSpPr>
          <p:cNvPr id="22" name="TextBox 21"/>
          <p:cNvSpPr txBox="1"/>
          <p:nvPr/>
        </p:nvSpPr>
        <p:spPr>
          <a:xfrm>
            <a:off x="914400" y="7429500"/>
            <a:ext cx="13335000" cy="952500"/>
          </a:xfrm>
          <a:prstGeom prst="rect">
            <a:avLst/>
          </a:prstGeom>
          <a:noFill/>
        </p:spPr>
        <p:txBody>
          <a:bodyPr wrap="square" lIns="0" rIns="0" tIns="0" bIns="0" anchor="t">
            <a:spAutoFit/>
          </a:bodyPr>
          <a:lstStyle/>
          <a:p>
            <a:pPr algn="l">
              <a:lnSpc>
                <a:spcPct val="130000"/>
              </a:lnSpc>
            </a:pPr>
            <a:r>
              <a:rPr sz="2250" b="1" i="0">
                <a:solidFill>
                  <a:srgbClr val="F0E8E8"/>
                </a:solidFill>
                <a:latin typeface="Geist"/>
                <a:ea typeface="Geist"/>
                <a:cs typeface="Geist"/>
              </a:rPr>
              <a:t>Acting strange?  </a:t>
            </a:r>
            <a:r>
              <a:rPr sz="2250" b="0" i="0">
                <a:solidFill>
                  <a:srgbClr val="F0E8E8"/>
                </a:solidFill>
                <a:latin typeface="Geist"/>
                <a:ea typeface="Geist"/>
                <a:cs typeface="Geist"/>
              </a:rPr>
              <a:t>First ask: which state is it in? Graph </a:t>
            </a:r>
            <a:r>
              <a:rPr sz="2250" b="0" i="0">
                <a:solidFill>
                  <a:srgbClr val="F0E8E8"/>
                </a:solidFill>
                <a:latin typeface="Geist Mono"/>
                <a:ea typeface="Geist Mono"/>
                <a:cs typeface="Geist Mono"/>
              </a:rPr>
              <a:t>Shooter/State</a:t>
            </a:r>
            <a:r>
              <a:rPr sz="2250" b="0" i="0">
                <a:solidFill>
                  <a:srgbClr val="F0E8E8"/>
                </a:solidFill>
                <a:latin typeface="Geist"/>
                <a:ea typeface="Geist"/>
                <a:cs typeface="Geist"/>
              </a:rPr>
              <a:t>.</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 a real robot: 2025 Reefscape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flipV="1">
            <a:off x="5960199" y="3862816"/>
            <a:ext cx="1374051" cy="257056"/>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953750" y="3862816"/>
            <a:ext cx="1374051" cy="257056"/>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380569" y="4953737"/>
            <a:ext cx="408696" cy="832971"/>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2876750" y="6777308"/>
            <a:ext cx="999065" cy="427886"/>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8495579" y="7681444"/>
            <a:ext cx="1434002"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16200000">
            <a:off x="8377469" y="7624294"/>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H="1" flipV="1">
            <a:off x="4412185" y="6777308"/>
            <a:ext cx="999065" cy="427886"/>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498735" y="4953737"/>
            <a:ext cx="408696" cy="832971"/>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35949" y="4058387"/>
            <a:ext cx="3429000" cy="800100"/>
          </a:xfrm>
          <a:prstGeom prst="roundRect">
            <a:avLst>
              <a:gd name="adj" fmla="val 261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12149" y="4058387"/>
            <a:ext cx="3276600" cy="800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TELEOP_CONTROL</a:t>
            </a:r>
          </a:p>
        </p:txBody>
      </p:sp>
      <p:sp>
        <p:nvSpPr>
          <p:cNvPr id="15" name="Rounded Rectangle 14"/>
          <p:cNvSpPr/>
          <p:nvPr/>
        </p:nvSpPr>
        <p:spPr>
          <a:xfrm>
            <a:off x="7429500" y="3124200"/>
            <a:ext cx="3429000" cy="800100"/>
          </a:xfrm>
          <a:prstGeom prst="roundRect">
            <a:avLst>
              <a:gd name="adj" fmla="val 261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505700" y="3124200"/>
            <a:ext cx="3276600" cy="800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TARGET_ACQUISITION</a:t>
            </a:r>
          </a:p>
        </p:txBody>
      </p:sp>
      <p:sp>
        <p:nvSpPr>
          <p:cNvPr id="17" name="Rounded Rectangle 16"/>
          <p:cNvSpPr/>
          <p:nvPr/>
        </p:nvSpPr>
        <p:spPr>
          <a:xfrm>
            <a:off x="12423051" y="4058387"/>
            <a:ext cx="3429000" cy="800100"/>
          </a:xfrm>
          <a:prstGeom prst="roundRect">
            <a:avLst>
              <a:gd name="adj" fmla="val 261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499251" y="4058387"/>
            <a:ext cx="3276600" cy="800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APPROACHING_TARGET</a:t>
            </a:r>
          </a:p>
        </p:txBody>
      </p:sp>
      <p:sp>
        <p:nvSpPr>
          <p:cNvPr id="19" name="Rounded Rectangle 18"/>
          <p:cNvSpPr/>
          <p:nvPr/>
        </p:nvSpPr>
        <p:spPr>
          <a:xfrm>
            <a:off x="13317784" y="5881958"/>
            <a:ext cx="3429000" cy="800100"/>
          </a:xfrm>
          <a:prstGeom prst="roundRect">
            <a:avLst>
              <a:gd name="adj" fmla="val 261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393984" y="5881958"/>
            <a:ext cx="3276600" cy="800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PRE_FIRE_WAIT</a:t>
            </a:r>
          </a:p>
        </p:txBody>
      </p:sp>
      <p:sp>
        <p:nvSpPr>
          <p:cNvPr id="21" name="Rounded Rectangle 20"/>
          <p:cNvSpPr/>
          <p:nvPr/>
        </p:nvSpPr>
        <p:spPr>
          <a:xfrm>
            <a:off x="10005781" y="7300444"/>
            <a:ext cx="3429000" cy="800100"/>
          </a:xfrm>
          <a:prstGeom prst="roundRect">
            <a:avLst>
              <a:gd name="adj" fmla="val 2619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081981" y="7300444"/>
            <a:ext cx="3276600" cy="800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FIRING</a:t>
            </a:r>
          </a:p>
        </p:txBody>
      </p:sp>
      <p:sp>
        <p:nvSpPr>
          <p:cNvPr id="23" name="Rounded Rectangle 22"/>
          <p:cNvSpPr/>
          <p:nvPr/>
        </p:nvSpPr>
        <p:spPr>
          <a:xfrm>
            <a:off x="10158181" y="7128994"/>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58181" y="7128994"/>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25" name="Rounded Rectangle 24"/>
          <p:cNvSpPr/>
          <p:nvPr/>
        </p:nvSpPr>
        <p:spPr>
          <a:xfrm>
            <a:off x="4853219" y="7300444"/>
            <a:ext cx="3429000" cy="800100"/>
          </a:xfrm>
          <a:prstGeom prst="roundRect">
            <a:avLst>
              <a:gd name="adj" fmla="val 261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929419" y="7300444"/>
            <a:ext cx="3276600" cy="800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SCORING</a:t>
            </a:r>
          </a:p>
        </p:txBody>
      </p:sp>
      <p:sp>
        <p:nvSpPr>
          <p:cNvPr id="27" name="Rounded Rectangle 26"/>
          <p:cNvSpPr/>
          <p:nvPr/>
        </p:nvSpPr>
        <p:spPr>
          <a:xfrm>
            <a:off x="1541216" y="5881958"/>
            <a:ext cx="3429000" cy="800100"/>
          </a:xfrm>
          <a:prstGeom prst="roundRect">
            <a:avLst>
              <a:gd name="adj" fmla="val 261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617416" y="5881958"/>
            <a:ext cx="3276600" cy="800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END</a:t>
            </a:r>
          </a:p>
        </p:txBody>
      </p:sp>
      <p:sp>
        <p:nvSpPr>
          <p:cNvPr id="29" name="TextBox 28"/>
          <p:cNvSpPr txBox="1"/>
          <p:nvPr/>
        </p:nvSpPr>
        <p:spPr>
          <a:xfrm>
            <a:off x="6286500" y="5143500"/>
            <a:ext cx="5715000" cy="1143000"/>
          </a:xfrm>
          <a:prstGeom prst="rect">
            <a:avLst/>
          </a:prstGeom>
          <a:noFill/>
        </p:spPr>
        <p:txBody>
          <a:bodyPr wrap="square" lIns="0" rIns="0" tIns="0" bIns="0" anchor="ctr">
            <a:spAutoFit/>
          </a:bodyPr>
          <a:lstStyle/>
          <a:p>
            <a:pPr algn="ctr">
              <a:lnSpc>
                <a:spcPct val="130000"/>
              </a:lnSpc>
            </a:pPr>
            <a:r>
              <a:rPr sz="2100" b="0" i="0">
                <a:solidFill>
                  <a:srgbClr val="9A7878"/>
                </a:solidFill>
                <a:latin typeface="Geist"/>
                <a:ea typeface="Geist"/>
                <a:cs typeface="Geist"/>
              </a:rPr>
              <a:t>Runs the whole robot,</a:t>
            </a:r>
          </a:p>
          <a:p>
            <a:pPr algn="ctr">
              <a:lnSpc>
                <a:spcPct val="130000"/>
              </a:lnSpc>
            </a:pPr>
            <a:r>
              <a:rPr sz="2100" b="0" i="0">
                <a:solidFill>
                  <a:srgbClr val="9A7878"/>
                </a:solidFill>
                <a:latin typeface="Geist"/>
                <a:ea typeface="Geist"/>
                <a:cs typeface="Geist"/>
              </a:rPr>
              <a:t>one state at a time</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Commands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Small actions that buttons can start</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 command is a sticky note: “when this happens, do that.”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Where commands fit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4290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2247900" y="3446489"/>
            <a:ext cx="762000" cy="574623"/>
          </a:xfrm>
          <a:prstGeom prst="rect">
            <a:avLst/>
          </a:prstGeom>
        </p:spPr>
      </p:pic>
      <p:sp>
        <p:nvSpPr>
          <p:cNvPr id="7" name="TextBox 6"/>
          <p:cNvSpPr txBox="1"/>
          <p:nvPr/>
        </p:nvSpPr>
        <p:spPr>
          <a:xfrm>
            <a:off x="10096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Button</a:t>
            </a:r>
          </a:p>
        </p:txBody>
      </p:sp>
      <p:sp>
        <p:nvSpPr>
          <p:cNvPr id="8" name="TextBox 7"/>
          <p:cNvSpPr txBox="1"/>
          <p:nvPr/>
        </p:nvSpPr>
        <p:spPr>
          <a:xfrm>
            <a:off x="1066800" y="4857750"/>
            <a:ext cx="31242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Right bumper held</a:t>
            </a:r>
          </a:p>
        </p:txBody>
      </p:sp>
      <p:sp>
        <p:nvSpPr>
          <p:cNvPr id="9" name="Rectangle 8"/>
          <p:cNvSpPr/>
          <p:nvPr/>
        </p:nvSpPr>
        <p:spPr>
          <a:xfrm>
            <a:off x="4419600" y="4362450"/>
            <a:ext cx="624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501015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257800" y="3048000"/>
            <a:ext cx="3429000" cy="2667000"/>
          </a:xfrm>
          <a:prstGeom prst="roundRect">
            <a:avLst>
              <a:gd name="adj" fmla="val 571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nd.png"/>
          <p:cNvPicPr>
            <a:picLocks noChangeAspect="1"/>
          </p:cNvPicPr>
          <p:nvPr/>
        </p:nvPicPr>
        <p:blipFill>
          <a:blip r:embed="rId4"/>
          <a:stretch>
            <a:fillRect/>
          </a:stretch>
        </p:blipFill>
        <p:spPr>
          <a:xfrm>
            <a:off x="6629400" y="3390900"/>
            <a:ext cx="685800" cy="685800"/>
          </a:xfrm>
          <a:prstGeom prst="rect">
            <a:avLst/>
          </a:prstGeom>
        </p:spPr>
      </p:pic>
      <p:sp>
        <p:nvSpPr>
          <p:cNvPr id="13" name="TextBox 12"/>
          <p:cNvSpPr txBox="1"/>
          <p:nvPr/>
        </p:nvSpPr>
        <p:spPr>
          <a:xfrm>
            <a:off x="53530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Command</a:t>
            </a:r>
          </a:p>
        </p:txBody>
      </p:sp>
      <p:sp>
        <p:nvSpPr>
          <p:cNvPr id="14" name="TextBox 13"/>
          <p:cNvSpPr txBox="1"/>
          <p:nvPr/>
        </p:nvSpPr>
        <p:spPr>
          <a:xfrm>
            <a:off x="5410200" y="4857750"/>
            <a:ext cx="31242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shoot()</a:t>
            </a:r>
          </a:p>
        </p:txBody>
      </p:sp>
      <p:sp>
        <p:nvSpPr>
          <p:cNvPr id="15" name="Rectangle 14"/>
          <p:cNvSpPr/>
          <p:nvPr/>
        </p:nvSpPr>
        <p:spPr>
          <a:xfrm>
            <a:off x="8763000" y="4362450"/>
            <a:ext cx="624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935355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200" y="3048000"/>
            <a:ext cx="34290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diagram-2.png"/>
          <p:cNvPicPr>
            <a:picLocks noChangeAspect="1"/>
          </p:cNvPicPr>
          <p:nvPr/>
        </p:nvPicPr>
        <p:blipFill>
          <a:blip r:embed="rId5"/>
          <a:stretch>
            <a:fillRect/>
          </a:stretch>
        </p:blipFill>
        <p:spPr>
          <a:xfrm>
            <a:off x="11029950" y="3390900"/>
            <a:ext cx="571500" cy="685800"/>
          </a:xfrm>
          <a:prstGeom prst="rect">
            <a:avLst/>
          </a:prstGeom>
        </p:spPr>
      </p:pic>
      <p:sp>
        <p:nvSpPr>
          <p:cNvPr id="19" name="TextBox 18"/>
          <p:cNvSpPr txBox="1"/>
          <p:nvPr/>
        </p:nvSpPr>
        <p:spPr>
          <a:xfrm>
            <a:off x="96964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Subsystem</a:t>
            </a:r>
          </a:p>
        </p:txBody>
      </p:sp>
      <p:sp>
        <p:nvSpPr>
          <p:cNvPr id="20" name="TextBox 19"/>
          <p:cNvSpPr txBox="1"/>
          <p:nvPr/>
        </p:nvSpPr>
        <p:spPr>
          <a:xfrm>
            <a:off x="9753600" y="4857750"/>
            <a:ext cx="31242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setWantedState(SHOOT)</a:t>
            </a:r>
          </a:p>
        </p:txBody>
      </p:sp>
      <p:sp>
        <p:nvSpPr>
          <p:cNvPr id="21" name="Rectangle 20"/>
          <p:cNvSpPr/>
          <p:nvPr/>
        </p:nvSpPr>
        <p:spPr>
          <a:xfrm>
            <a:off x="13106400" y="4362450"/>
            <a:ext cx="624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5400000">
            <a:off x="1369695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3944600" y="3048000"/>
            <a:ext cx="34290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an.png"/>
          <p:cNvPicPr>
            <a:picLocks noChangeAspect="1"/>
          </p:cNvPicPr>
          <p:nvPr/>
        </p:nvPicPr>
        <p:blipFill>
          <a:blip r:embed="rId6"/>
          <a:stretch>
            <a:fillRect/>
          </a:stretch>
        </p:blipFill>
        <p:spPr>
          <a:xfrm>
            <a:off x="15316200" y="3390900"/>
            <a:ext cx="685800" cy="685800"/>
          </a:xfrm>
          <a:prstGeom prst="rect">
            <a:avLst/>
          </a:prstGeom>
        </p:spPr>
      </p:pic>
      <p:sp>
        <p:nvSpPr>
          <p:cNvPr id="25" name="TextBox 24"/>
          <p:cNvSpPr txBox="1"/>
          <p:nvPr/>
        </p:nvSpPr>
        <p:spPr>
          <a:xfrm>
            <a:off x="140398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Mechanisms</a:t>
            </a:r>
          </a:p>
        </p:txBody>
      </p:sp>
      <p:sp>
        <p:nvSpPr>
          <p:cNvPr id="26" name="TextBox 25"/>
          <p:cNvSpPr txBox="1"/>
          <p:nvPr/>
        </p:nvSpPr>
        <p:spPr>
          <a:xfrm>
            <a:off x="14097000" y="4857750"/>
            <a:ext cx="31242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Flywheel and roller</a:t>
            </a:r>
          </a:p>
        </p:txBody>
      </p:sp>
      <p:sp>
        <p:nvSpPr>
          <p:cNvPr id="27" name="Rounded Rectangle 26"/>
          <p:cNvSpPr/>
          <p:nvPr/>
        </p:nvSpPr>
        <p:spPr>
          <a:xfrm>
            <a:off x="914400" y="6191250"/>
            <a:ext cx="8077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circle-fill.png"/>
          <p:cNvPicPr>
            <a:picLocks noChangeAspect="1"/>
          </p:cNvPicPr>
          <p:nvPr/>
        </p:nvPicPr>
        <p:blipFill>
          <a:blip r:embed="rId7"/>
          <a:stretch>
            <a:fillRect/>
          </a:stretch>
        </p:blipFill>
        <p:spPr>
          <a:xfrm>
            <a:off x="1295400" y="6572250"/>
            <a:ext cx="457200" cy="457200"/>
          </a:xfrm>
          <a:prstGeom prst="rect">
            <a:avLst/>
          </a:prstGeom>
        </p:spPr>
      </p:pic>
      <p:sp>
        <p:nvSpPr>
          <p:cNvPr id="29" name="TextBox 28"/>
          <p:cNvSpPr txBox="1"/>
          <p:nvPr/>
        </p:nvSpPr>
        <p:spPr>
          <a:xfrm>
            <a:off x="1295400" y="72961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Commands stay thin</a:t>
            </a:r>
          </a:p>
        </p:txBody>
      </p:sp>
      <p:sp>
        <p:nvSpPr>
          <p:cNvPr id="30" name="TextBox 29"/>
          <p:cNvSpPr txBox="1"/>
          <p:nvPr/>
        </p:nvSpPr>
        <p:spPr>
          <a:xfrm>
            <a:off x="1295400" y="7858125"/>
            <a:ext cx="7315200" cy="7048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They only say what's wanted: one line each.</a:t>
            </a:r>
          </a:p>
        </p:txBody>
      </p:sp>
      <p:sp>
        <p:nvSpPr>
          <p:cNvPr id="31" name="Rounded Rectangle 30"/>
          <p:cNvSpPr/>
          <p:nvPr/>
        </p:nvSpPr>
        <p:spPr>
          <a:xfrm>
            <a:off x="9296400" y="6191250"/>
            <a:ext cx="8077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diagram-3.png"/>
          <p:cNvPicPr>
            <a:picLocks noChangeAspect="1"/>
          </p:cNvPicPr>
          <p:nvPr/>
        </p:nvPicPr>
        <p:blipFill>
          <a:blip r:embed="rId8"/>
          <a:stretch>
            <a:fillRect/>
          </a:stretch>
        </p:blipFill>
        <p:spPr>
          <a:xfrm>
            <a:off x="9677400" y="6572250"/>
            <a:ext cx="609600" cy="457200"/>
          </a:xfrm>
          <a:prstGeom prst="rect">
            <a:avLst/>
          </a:prstGeom>
        </p:spPr>
      </p:pic>
      <p:sp>
        <p:nvSpPr>
          <p:cNvPr id="33" name="TextBox 32"/>
          <p:cNvSpPr txBox="1"/>
          <p:nvPr/>
        </p:nvSpPr>
        <p:spPr>
          <a:xfrm>
            <a:off x="9677400" y="72961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Subsystems decide</a:t>
            </a:r>
          </a:p>
        </p:txBody>
      </p:sp>
      <p:sp>
        <p:nvSpPr>
          <p:cNvPr id="34" name="TextBox 33"/>
          <p:cNvSpPr txBox="1"/>
          <p:nvPr/>
        </p:nvSpPr>
        <p:spPr>
          <a:xfrm>
            <a:off x="9677400" y="7858125"/>
            <a:ext cx="7315200" cy="7048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state machine holds the real behavior.</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command is a state machine too</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581150" y="4667250"/>
            <a:ext cx="571500" cy="5715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391150"/>
            <a:ext cx="2095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scheduled</a:t>
            </a:r>
          </a:p>
        </p:txBody>
      </p:sp>
      <p:sp>
        <p:nvSpPr>
          <p:cNvPr id="7" name="Rounded Rectangle 6"/>
          <p:cNvSpPr/>
          <p:nvPr/>
        </p:nvSpPr>
        <p:spPr>
          <a:xfrm>
            <a:off x="4000500" y="428625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076700" y="4647057"/>
            <a:ext cx="2705100" cy="321945"/>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initialize()</a:t>
            </a:r>
          </a:p>
        </p:txBody>
      </p:sp>
      <p:sp>
        <p:nvSpPr>
          <p:cNvPr id="9" name="TextBox 8"/>
          <p:cNvSpPr txBox="1"/>
          <p:nvPr/>
        </p:nvSpPr>
        <p:spPr>
          <a:xfrm>
            <a:off x="4114800" y="506730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once</a:t>
            </a:r>
          </a:p>
        </p:txBody>
      </p:sp>
      <p:sp>
        <p:nvSpPr>
          <p:cNvPr id="10" name="Rounded Rectangle 9"/>
          <p:cNvSpPr/>
          <p:nvPr/>
        </p:nvSpPr>
        <p:spPr>
          <a:xfrm>
            <a:off x="8001000" y="4286250"/>
            <a:ext cx="2857500" cy="1333500"/>
          </a:xfrm>
          <a:prstGeom prst="roundRect">
            <a:avLst>
              <a:gd name="adj" fmla="val 15714"/>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77200" y="4647057"/>
            <a:ext cx="2705100" cy="321945"/>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execute()</a:t>
            </a:r>
          </a:p>
        </p:txBody>
      </p:sp>
      <p:sp>
        <p:nvSpPr>
          <p:cNvPr id="12" name="TextBox 11"/>
          <p:cNvSpPr txBox="1"/>
          <p:nvPr/>
        </p:nvSpPr>
        <p:spPr>
          <a:xfrm>
            <a:off x="8115300" y="506730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every 20 ms</a:t>
            </a:r>
          </a:p>
        </p:txBody>
      </p:sp>
      <p:sp>
        <p:nvSpPr>
          <p:cNvPr id="13" name="Rounded Rectangle 12"/>
          <p:cNvSpPr/>
          <p:nvPr/>
        </p:nvSpPr>
        <p:spPr>
          <a:xfrm>
            <a:off x="8153400" y="4114800"/>
            <a:ext cx="952500" cy="32385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53400" y="411480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5" name="Rounded Rectangle 14"/>
          <p:cNvSpPr/>
          <p:nvPr/>
        </p:nvSpPr>
        <p:spPr>
          <a:xfrm>
            <a:off x="12001500" y="428625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077700" y="4286250"/>
            <a:ext cx="2705100" cy="13335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isFinished()?</a:t>
            </a:r>
          </a:p>
        </p:txBody>
      </p:sp>
      <p:sp>
        <p:nvSpPr>
          <p:cNvPr id="17" name="Rounded Rectangle 16"/>
          <p:cNvSpPr/>
          <p:nvPr/>
        </p:nvSpPr>
        <p:spPr>
          <a:xfrm>
            <a:off x="15430500" y="4286250"/>
            <a:ext cx="19431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5506700" y="4647057"/>
            <a:ext cx="1790700" cy="321945"/>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end()</a:t>
            </a:r>
          </a:p>
        </p:txBody>
      </p:sp>
      <p:sp>
        <p:nvSpPr>
          <p:cNvPr id="19" name="TextBox 18"/>
          <p:cNvSpPr txBox="1"/>
          <p:nvPr/>
        </p:nvSpPr>
        <p:spPr>
          <a:xfrm>
            <a:off x="15544800" y="5067300"/>
            <a:ext cx="17145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once</a:t>
            </a:r>
          </a:p>
        </p:txBody>
      </p:sp>
      <p:sp>
        <p:nvSpPr>
          <p:cNvPr id="20" name="Rectangle 19"/>
          <p:cNvSpPr/>
          <p:nvPr/>
        </p:nvSpPr>
        <p:spPr>
          <a:xfrm>
            <a:off x="2209800" y="4933950"/>
            <a:ext cx="15963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377190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15150" y="4933950"/>
            <a:ext cx="8915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777240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915650" y="4933950"/>
            <a:ext cx="8915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1177290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916150" y="4933950"/>
            <a:ext cx="3200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sosceles Triangle 26"/>
          <p:cNvSpPr/>
          <p:nvPr/>
        </p:nvSpPr>
        <p:spPr>
          <a:xfrm rot="5400000">
            <a:off x="1520190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4830425" y="4403884"/>
            <a:ext cx="628650"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4830425" y="4403884"/>
            <a:ext cx="628650"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true</a:t>
            </a:r>
          </a:p>
        </p:txBody>
      </p:sp>
      <p:sp>
        <p:nvSpPr>
          <p:cNvPr id="30" name="Rectangle 29"/>
          <p:cNvSpPr/>
          <p:nvPr/>
        </p:nvSpPr>
        <p:spPr>
          <a:xfrm>
            <a:off x="13411200" y="40195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flipH="1" flipV="1">
            <a:off x="13417673" y="3927688"/>
            <a:ext cx="12577"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13380100" y="3818171"/>
            <a:ext cx="37573"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13318003" y="3711426"/>
            <a:ext cx="62097"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13232163" y="3608795"/>
            <a:ext cx="85840"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3123660" y="3511569"/>
            <a:ext cx="108503"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12993858" y="3420971"/>
            <a:ext cx="129802"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12844390" y="3338140"/>
            <a:ext cx="149468"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12677135" y="3264118"/>
            <a:ext cx="167255"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12494197" y="3199835"/>
            <a:ext cx="182938"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12297876" y="3146100"/>
            <a:ext cx="196321"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12090641" y="3103589"/>
            <a:ext cx="207235"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11875097" y="3072836"/>
            <a:ext cx="215544"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11653957" y="3054229"/>
            <a:ext cx="221140"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11430000" y="3048000"/>
            <a:ext cx="223957"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1206043" y="3048000"/>
            <a:ext cx="223957"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10984903" y="3054229"/>
            <a:ext cx="221140"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10769359" y="3072836"/>
            <a:ext cx="215544"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0562124" y="3103589"/>
            <a:ext cx="207235"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0365803" y="3146100"/>
            <a:ext cx="196321"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0182865" y="3199835"/>
            <a:ext cx="182938"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0015610" y="3264118"/>
            <a:ext cx="167255"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9866142" y="3338140"/>
            <a:ext cx="149468"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9736340" y="3420971"/>
            <a:ext cx="129802"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9627837" y="3511569"/>
            <a:ext cx="108503"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9541997" y="3608795"/>
            <a:ext cx="85840"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9479900" y="3711426"/>
            <a:ext cx="62097"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9442327" y="3818171"/>
            <a:ext cx="37573"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9429750" y="3927688"/>
            <a:ext cx="12577"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9410700" y="400050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Isosceles Triangle 59"/>
          <p:cNvSpPr/>
          <p:nvPr/>
        </p:nvSpPr>
        <p:spPr>
          <a:xfrm rot="10800000">
            <a:off x="9353550" y="41338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0115550" y="2879884"/>
            <a:ext cx="2628900"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0115550" y="2879884"/>
            <a:ext cx="2628900"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false: run execute again</a:t>
            </a:r>
          </a:p>
        </p:txBody>
      </p:sp>
      <p:sp>
        <p:nvSpPr>
          <p:cNvPr id="63" name="Rectangle 62"/>
          <p:cNvSpPr/>
          <p:nvPr/>
        </p:nvSpPr>
        <p:spPr>
          <a:xfrm>
            <a:off x="9415462" y="5605462"/>
            <a:ext cx="28575" cy="276225"/>
          </a:xfrm>
          <a:prstGeom prst="rect">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4" name="Connector 63"/>
          <p:cNvCxnSpPr/>
          <p:nvPr/>
        </p:nvCxnSpPr>
        <p:spPr>
          <a:xfrm>
            <a:off x="9429750" y="5867400"/>
            <a:ext cx="21920" cy="132241"/>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451670" y="5999641"/>
            <a:ext cx="65485" cy="130578"/>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517155" y="6130219"/>
            <a:ext cx="108226" cy="127274"/>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625381" y="6257493"/>
            <a:ext cx="149606" cy="12236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774987" y="6379860"/>
            <a:ext cx="189105" cy="115923"/>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964092" y="6495783"/>
            <a:ext cx="226226" cy="108021"/>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0190318" y="6603804"/>
            <a:ext cx="260502" cy="98760"/>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450820" y="6702564"/>
            <a:ext cx="291501" cy="8825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742321" y="6790821"/>
            <a:ext cx="318835" cy="76645"/>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1061156" y="6867466"/>
            <a:ext cx="342160" cy="64068"/>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1403316" y="6931534"/>
            <a:ext cx="361182" cy="5068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1764498" y="6982221"/>
            <a:ext cx="375661" cy="36666"/>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2140159" y="7018887"/>
            <a:ext cx="385416" cy="22186"/>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2525575" y="7041073"/>
            <a:ext cx="390325" cy="742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2915900" y="7041073"/>
            <a:ext cx="390325" cy="742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3306225" y="7018887"/>
            <a:ext cx="385416" cy="22186"/>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3691641" y="6982221"/>
            <a:ext cx="375661" cy="36666"/>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4067302" y="6931534"/>
            <a:ext cx="361182" cy="5068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4428484" y="6867466"/>
            <a:ext cx="342160" cy="64068"/>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4770644" y="6790821"/>
            <a:ext cx="318835" cy="76645"/>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5089479" y="6702564"/>
            <a:ext cx="291501" cy="8825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5380980" y="6603804"/>
            <a:ext cx="260502" cy="98760"/>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5641482" y="6495783"/>
            <a:ext cx="226226" cy="108021"/>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5867708" y="6379860"/>
            <a:ext cx="189105" cy="115923"/>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6056813" y="6257493"/>
            <a:ext cx="149606" cy="122367"/>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6206419" y="6130219"/>
            <a:ext cx="108226" cy="127274"/>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6314645" y="5999641"/>
            <a:ext cx="65485" cy="130578"/>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6380130" y="5867400"/>
            <a:ext cx="21920" cy="132241"/>
          </a:xfrm>
          <a:prstGeom prst="line">
            <a:avLst/>
          </a:prstGeom>
          <a:ln w="28575" cap="rnd">
            <a:solidFill>
              <a:srgbClr val="E05540"/>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6387762" y="5742622"/>
            <a:ext cx="28575" cy="158115"/>
          </a:xfrm>
          <a:prstGeom prst="rect">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Isosceles Triangle 92"/>
          <p:cNvSpPr/>
          <p:nvPr/>
        </p:nvSpPr>
        <p:spPr>
          <a:xfrm>
            <a:off x="16325850" y="5619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11451431" y="6880384"/>
            <a:ext cx="292893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1451431" y="6880384"/>
            <a:ext cx="2928938" cy="336232"/>
          </a:xfrm>
          <a:prstGeom prst="rect">
            <a:avLst/>
          </a:prstGeom>
          <a:noFill/>
        </p:spPr>
        <p:txBody>
          <a:bodyPr wrap="square" lIns="0" rIns="0" tIns="0" bIns="0" anchor="ctr">
            <a:spAutoFit/>
          </a:bodyPr>
          <a:lstStyle/>
          <a:p>
            <a:pPr algn="ctr"/>
            <a:r>
              <a:rPr sz="1575" b="0" i="0">
                <a:solidFill>
                  <a:srgbClr val="E05540"/>
                </a:solidFill>
                <a:latin typeface="Geist"/>
                <a:ea typeface="Geist"/>
                <a:cs typeface="Geist"/>
              </a:rPr>
              <a:t>interrupted (button let go)</a:t>
            </a:r>
          </a:p>
        </p:txBody>
      </p:sp>
      <p:sp>
        <p:nvSpPr>
          <p:cNvPr id="96" name="Rounded Rectangle 95"/>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7" name="Picture 96" descr="list-ol.png"/>
          <p:cNvPicPr>
            <a:picLocks noChangeAspect="1"/>
          </p:cNvPicPr>
          <p:nvPr/>
        </p:nvPicPr>
        <p:blipFill>
          <a:blip r:embed="rId3"/>
          <a:stretch>
            <a:fillRect/>
          </a:stretch>
        </p:blipFill>
        <p:spPr>
          <a:xfrm>
            <a:off x="1333500" y="8353425"/>
            <a:ext cx="694660" cy="533400"/>
          </a:xfrm>
          <a:prstGeom prst="rect">
            <a:avLst/>
          </a:prstGeom>
        </p:spPr>
      </p:pic>
      <p:sp>
        <p:nvSpPr>
          <p:cNvPr id="98" name="TextBox 97"/>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scheduler  </a:t>
            </a:r>
            <a:r>
              <a:rPr sz="2100" b="0" i="0">
                <a:solidFill>
                  <a:srgbClr val="F0E8E8"/>
                </a:solidFill>
                <a:latin typeface="Geist"/>
                <a:ea typeface="Geist"/>
                <a:cs typeface="Geist"/>
              </a:rPr>
              <a:t>runs every active command every 20 ms. Robot.java calls it from robotPeriodic().</a:t>
            </a:r>
          </a:p>
        </p:txBody>
      </p:sp>
      <p:sp>
        <p:nvSpPr>
          <p:cNvPr id="99" name="TextBox 9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00" name="TextBox 9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Lambdas: code to run later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16459200" cy="1280160"/>
          </a:xfrm>
          <a:prstGeom prst="roundRect">
            <a:avLst>
              <a:gd name="adj" fmla="val 119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429000"/>
            <a:ext cx="15925800" cy="518160"/>
          </a:xfrm>
          <a:prstGeom prst="rect">
            <a:avLst/>
          </a:prstGeom>
          <a:noFill/>
        </p:spPr>
        <p:txBody>
          <a:bodyPr wrap="square" lIns="0" rIns="0" tIns="0" bIns="0" anchor="ctr">
            <a:spAutoFit/>
          </a:bodyPr>
          <a:lstStyle/>
          <a:p>
            <a:pPr algn="l"/>
            <a:r>
              <a:rPr sz="2550" b="0" i="0">
                <a:solidFill>
                  <a:srgbClr val="F0E8E8"/>
                </a:solidFill>
                <a:latin typeface="Geist Mono"/>
                <a:ea typeface="Geist Mono"/>
                <a:cs typeface="Geist Mono"/>
              </a:rPr>
              <a:t>() -&gt; shooter.setWantedState(ShooterStates.SHOOT)</a:t>
            </a:r>
          </a:p>
        </p:txBody>
      </p:sp>
      <p:sp>
        <p:nvSpPr>
          <p:cNvPr id="7" name="Rectangle 6"/>
          <p:cNvSpPr/>
          <p:nvPr/>
        </p:nvSpPr>
        <p:spPr>
          <a:xfrm>
            <a:off x="1281112" y="4462462"/>
            <a:ext cx="4171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 y="4572000"/>
            <a:ext cx="2857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no inputs</a:t>
            </a:r>
          </a:p>
        </p:txBody>
      </p:sp>
      <p:sp>
        <p:nvSpPr>
          <p:cNvPr id="9" name="Rectangle 8"/>
          <p:cNvSpPr/>
          <p:nvPr/>
        </p:nvSpPr>
        <p:spPr>
          <a:xfrm>
            <a:off x="1864042" y="4462462"/>
            <a:ext cx="4171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063115" y="4505325"/>
            <a:ext cx="19050"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3890" y="4914900"/>
            <a:ext cx="2857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arrow</a:t>
            </a:r>
          </a:p>
        </p:txBody>
      </p:sp>
      <p:sp>
        <p:nvSpPr>
          <p:cNvPr id="12" name="Rectangle 11"/>
          <p:cNvSpPr/>
          <p:nvPr/>
        </p:nvSpPr>
        <p:spPr>
          <a:xfrm>
            <a:off x="2446972" y="4462462"/>
            <a:ext cx="8578215"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307330" y="4572000"/>
            <a:ext cx="2857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what to do, later</a:t>
            </a:r>
          </a:p>
        </p:txBody>
      </p:sp>
      <p:sp>
        <p:nvSpPr>
          <p:cNvPr id="14" name="Rounded Rectangle 13"/>
          <p:cNvSpPr/>
          <p:nvPr/>
        </p:nvSpPr>
        <p:spPr>
          <a:xfrm>
            <a:off x="914400" y="5524500"/>
            <a:ext cx="164592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573405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Runs now</a:t>
            </a:r>
          </a:p>
        </p:txBody>
      </p:sp>
      <p:sp>
        <p:nvSpPr>
          <p:cNvPr id="16" name="TextBox 15"/>
          <p:cNvSpPr txBox="1"/>
          <p:nvPr/>
        </p:nvSpPr>
        <p:spPr>
          <a:xfrm>
            <a:off x="1295400" y="6305550"/>
            <a:ext cx="10477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shooter.setWantedState(ShooterStates.SHOOT);</a:t>
            </a:r>
          </a:p>
        </p:txBody>
      </p:sp>
      <p:sp>
        <p:nvSpPr>
          <p:cNvPr id="17" name="TextBox 16"/>
          <p:cNvSpPr txBox="1"/>
          <p:nvPr/>
        </p:nvSpPr>
        <p:spPr>
          <a:xfrm>
            <a:off x="11906250" y="5524500"/>
            <a:ext cx="5143500" cy="14287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The state changes this instant.</a:t>
            </a:r>
          </a:p>
        </p:txBody>
      </p:sp>
      <p:sp>
        <p:nvSpPr>
          <p:cNvPr id="18" name="Rounded Rectangle 17"/>
          <p:cNvSpPr/>
          <p:nvPr/>
        </p:nvSpPr>
        <p:spPr>
          <a:xfrm>
            <a:off x="914400" y="7143750"/>
            <a:ext cx="16459200" cy="1428750"/>
          </a:xfrm>
          <a:prstGeom prst="roundRect">
            <a:avLst>
              <a:gd name="adj" fmla="val 10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73533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note for later</a:t>
            </a:r>
          </a:p>
        </p:txBody>
      </p:sp>
      <p:sp>
        <p:nvSpPr>
          <p:cNvPr id="20" name="TextBox 19"/>
          <p:cNvSpPr txBox="1"/>
          <p:nvPr/>
        </p:nvSpPr>
        <p:spPr>
          <a:xfrm>
            <a:off x="1295400" y="7924800"/>
            <a:ext cx="10477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 -&gt; shooter.setWantedState(ShooterStates.SHOOT)</a:t>
            </a:r>
          </a:p>
        </p:txBody>
      </p:sp>
      <p:sp>
        <p:nvSpPr>
          <p:cNvPr id="21" name="TextBox 20"/>
          <p:cNvSpPr txBox="1"/>
          <p:nvPr/>
        </p:nvSpPr>
        <p:spPr>
          <a:xfrm>
            <a:off x="11906250" y="7143750"/>
            <a:ext cx="5143500" cy="14287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Nothing happens until someone runs it.</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ready-made commands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19200" y="3143250"/>
            <a:ext cx="46736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Commands.runOnce</a:t>
            </a:r>
          </a:p>
        </p:txBody>
      </p:sp>
      <p:sp>
        <p:nvSpPr>
          <p:cNvPr id="7" name="Rounded Rectangle 6"/>
          <p:cNvSpPr/>
          <p:nvPr/>
        </p:nvSpPr>
        <p:spPr>
          <a:xfrm>
            <a:off x="1485900" y="3848100"/>
            <a:ext cx="4140200" cy="666750"/>
          </a:xfrm>
          <a:prstGeom prst="roundRect">
            <a:avLst>
              <a:gd name="adj" fmla="val 20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485900" y="38481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initialize()</a:t>
            </a:r>
          </a:p>
        </p:txBody>
      </p:sp>
      <p:sp>
        <p:nvSpPr>
          <p:cNvPr id="9" name="Rectangle 8"/>
          <p:cNvSpPr/>
          <p:nvPr/>
        </p:nvSpPr>
        <p:spPr>
          <a:xfrm>
            <a:off x="3541712" y="45386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10800000">
            <a:off x="3479800" y="46482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485900" y="48387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485900" y="48387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execute()</a:t>
            </a:r>
          </a:p>
        </p:txBody>
      </p:sp>
      <p:sp>
        <p:nvSpPr>
          <p:cNvPr id="13" name="Rectangle 12"/>
          <p:cNvSpPr/>
          <p:nvPr/>
        </p:nvSpPr>
        <p:spPr>
          <a:xfrm>
            <a:off x="3541712" y="55292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10800000">
            <a:off x="3479800" y="5638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485900" y="58293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485900" y="58293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end()</a:t>
            </a:r>
          </a:p>
        </p:txBody>
      </p:sp>
      <p:sp>
        <p:nvSpPr>
          <p:cNvPr id="17" name="TextBox 16"/>
          <p:cNvSpPr txBox="1"/>
          <p:nvPr/>
        </p:nvSpPr>
        <p:spPr>
          <a:xfrm>
            <a:off x="1219200" y="6896100"/>
            <a:ext cx="46736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once, then finishes.</a:t>
            </a:r>
          </a:p>
        </p:txBody>
      </p:sp>
      <p:sp>
        <p:nvSpPr>
          <p:cNvPr id="18" name="TextBox 17"/>
          <p:cNvSpPr txBox="1"/>
          <p:nvPr/>
        </p:nvSpPr>
        <p:spPr>
          <a:xfrm>
            <a:off x="1219200" y="7810500"/>
            <a:ext cx="4673600" cy="381000"/>
          </a:xfrm>
          <a:prstGeom prst="rect">
            <a:avLst/>
          </a:prstGeom>
          <a:noFill/>
        </p:spPr>
        <p:txBody>
          <a:bodyPr wrap="square" lIns="0" rIns="0" tIns="0" bIns="0" anchor="t">
            <a:spAutoFit/>
          </a:bodyPr>
          <a:lstStyle/>
          <a:p>
            <a:pPr algn="l"/>
            <a:r>
              <a:rPr sz="1575" b="0" i="0">
                <a:solidFill>
                  <a:srgbClr val="F0E8E8"/>
                </a:solidFill>
                <a:latin typeface="Geist Mono"/>
                <a:ea typeface="Geist Mono"/>
                <a:cs typeface="Geist Mono"/>
              </a:rPr>
              <a:t>() -&gt; bell.ring()</a:t>
            </a:r>
          </a:p>
        </p:txBody>
      </p:sp>
      <p:sp>
        <p:nvSpPr>
          <p:cNvPr id="19" name="Rounded Rectangle 18"/>
          <p:cNvSpPr/>
          <p:nvPr/>
        </p:nvSpPr>
        <p:spPr>
          <a:xfrm>
            <a:off x="6502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07200" y="3143250"/>
            <a:ext cx="46736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Commands.run</a:t>
            </a:r>
          </a:p>
        </p:txBody>
      </p:sp>
      <p:sp>
        <p:nvSpPr>
          <p:cNvPr id="21" name="Rounded Rectangle 20"/>
          <p:cNvSpPr/>
          <p:nvPr/>
        </p:nvSpPr>
        <p:spPr>
          <a:xfrm>
            <a:off x="7073900" y="38481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73900" y="38481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initialize()</a:t>
            </a:r>
          </a:p>
        </p:txBody>
      </p:sp>
      <p:sp>
        <p:nvSpPr>
          <p:cNvPr id="23" name="Rectangle 22"/>
          <p:cNvSpPr/>
          <p:nvPr/>
        </p:nvSpPr>
        <p:spPr>
          <a:xfrm>
            <a:off x="9129712" y="45386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10800000">
            <a:off x="9067800" y="46482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73900" y="4838700"/>
            <a:ext cx="4140200" cy="666750"/>
          </a:xfrm>
          <a:prstGeom prst="roundRect">
            <a:avLst>
              <a:gd name="adj" fmla="val 20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73900" y="48387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execute()</a:t>
            </a:r>
          </a:p>
        </p:txBody>
      </p:sp>
      <p:sp>
        <p:nvSpPr>
          <p:cNvPr id="27" name="Rectangle 26"/>
          <p:cNvSpPr/>
          <p:nvPr/>
        </p:nvSpPr>
        <p:spPr>
          <a:xfrm>
            <a:off x="9129712" y="55292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10800000">
            <a:off x="9067800" y="5638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73900" y="58293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73900" y="58293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end()</a:t>
            </a:r>
          </a:p>
        </p:txBody>
      </p:sp>
      <p:sp>
        <p:nvSpPr>
          <p:cNvPr id="31" name="TextBox 30"/>
          <p:cNvSpPr txBox="1"/>
          <p:nvPr/>
        </p:nvSpPr>
        <p:spPr>
          <a:xfrm>
            <a:off x="6807200" y="6896100"/>
            <a:ext cx="46736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every loop until interrupted.</a:t>
            </a:r>
          </a:p>
        </p:txBody>
      </p:sp>
      <p:sp>
        <p:nvSpPr>
          <p:cNvPr id="32" name="TextBox 31"/>
          <p:cNvSpPr txBox="1"/>
          <p:nvPr/>
        </p:nvSpPr>
        <p:spPr>
          <a:xfrm>
            <a:off x="6807200" y="7810500"/>
            <a:ext cx="4673600" cy="381000"/>
          </a:xfrm>
          <a:prstGeom prst="rect">
            <a:avLst/>
          </a:prstGeom>
          <a:noFill/>
        </p:spPr>
        <p:txBody>
          <a:bodyPr wrap="square" lIns="0" rIns="0" tIns="0" bIns="0" anchor="t">
            <a:spAutoFit/>
          </a:bodyPr>
          <a:lstStyle/>
          <a:p>
            <a:pPr algn="l"/>
            <a:r>
              <a:rPr sz="1575" b="0" i="0">
                <a:solidFill>
                  <a:srgbClr val="F0E8E8"/>
                </a:solidFill>
                <a:latin typeface="Geist Mono"/>
                <a:ea typeface="Geist Mono"/>
                <a:cs typeface="Geist Mono"/>
              </a:rPr>
              <a:t>() -&gt; fan.spin()</a:t>
            </a:r>
          </a:p>
        </p:txBody>
      </p:sp>
      <p:sp>
        <p:nvSpPr>
          <p:cNvPr id="33" name="Rounded Rectangle 32"/>
          <p:cNvSpPr/>
          <p:nvPr/>
        </p:nvSpPr>
        <p:spPr>
          <a:xfrm>
            <a:off x="12090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395200" y="3143250"/>
            <a:ext cx="46736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Commands.startEnd</a:t>
            </a:r>
          </a:p>
        </p:txBody>
      </p:sp>
      <p:sp>
        <p:nvSpPr>
          <p:cNvPr id="35" name="Rounded Rectangle 34"/>
          <p:cNvSpPr/>
          <p:nvPr/>
        </p:nvSpPr>
        <p:spPr>
          <a:xfrm>
            <a:off x="12661900" y="3848100"/>
            <a:ext cx="4140200" cy="666750"/>
          </a:xfrm>
          <a:prstGeom prst="roundRect">
            <a:avLst>
              <a:gd name="adj" fmla="val 20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661900" y="38481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initialize()</a:t>
            </a:r>
          </a:p>
        </p:txBody>
      </p:sp>
      <p:sp>
        <p:nvSpPr>
          <p:cNvPr id="37" name="Rectangle 36"/>
          <p:cNvSpPr/>
          <p:nvPr/>
        </p:nvSpPr>
        <p:spPr>
          <a:xfrm>
            <a:off x="14717712" y="45386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Isosceles Triangle 37"/>
          <p:cNvSpPr/>
          <p:nvPr/>
        </p:nvSpPr>
        <p:spPr>
          <a:xfrm rot="10800000">
            <a:off x="14655800" y="46482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2661900" y="48387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661900" y="48387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execute()</a:t>
            </a:r>
          </a:p>
        </p:txBody>
      </p:sp>
      <p:sp>
        <p:nvSpPr>
          <p:cNvPr id="41" name="Rectangle 40"/>
          <p:cNvSpPr/>
          <p:nvPr/>
        </p:nvSpPr>
        <p:spPr>
          <a:xfrm>
            <a:off x="14717712" y="55292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sosceles Triangle 41"/>
          <p:cNvSpPr/>
          <p:nvPr/>
        </p:nvSpPr>
        <p:spPr>
          <a:xfrm rot="10800000">
            <a:off x="14655800" y="5638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2661900" y="5829300"/>
            <a:ext cx="4140200" cy="666750"/>
          </a:xfrm>
          <a:prstGeom prst="roundRect">
            <a:avLst>
              <a:gd name="adj" fmla="val 2000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2661900" y="58293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end()</a:t>
            </a:r>
          </a:p>
        </p:txBody>
      </p:sp>
      <p:sp>
        <p:nvSpPr>
          <p:cNvPr id="45" name="TextBox 44"/>
          <p:cNvSpPr txBox="1"/>
          <p:nvPr/>
        </p:nvSpPr>
        <p:spPr>
          <a:xfrm>
            <a:off x="12395200" y="6896100"/>
            <a:ext cx="46736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lambda at the start, one at the end.</a:t>
            </a:r>
          </a:p>
        </p:txBody>
      </p:sp>
      <p:sp>
        <p:nvSpPr>
          <p:cNvPr id="46" name="TextBox 45"/>
          <p:cNvSpPr txBox="1"/>
          <p:nvPr/>
        </p:nvSpPr>
        <p:spPr>
          <a:xfrm>
            <a:off x="12395200" y="7810500"/>
            <a:ext cx="4673600" cy="381000"/>
          </a:xfrm>
          <a:prstGeom prst="rect">
            <a:avLst/>
          </a:prstGeom>
          <a:noFill/>
        </p:spPr>
        <p:txBody>
          <a:bodyPr wrap="square" lIns="0" rIns="0" tIns="0" bIns="0" anchor="t">
            <a:spAutoFit/>
          </a:bodyPr>
          <a:lstStyle/>
          <a:p>
            <a:pPr algn="l"/>
            <a:r>
              <a:rPr sz="1575" b="0" i="0">
                <a:solidFill>
                  <a:srgbClr val="F0E8E8"/>
                </a:solidFill>
                <a:latin typeface="Geist Mono"/>
                <a:ea typeface="Geist Mono"/>
                <a:cs typeface="Geist Mono"/>
              </a:rPr>
              <a:t>() -&gt; on(), () -&gt; off()</a:t>
            </a:r>
          </a:p>
        </p:txBody>
      </p:sp>
      <p:sp>
        <p:nvSpPr>
          <p:cNvPr id="47" name="TextBox 46"/>
          <p:cNvSpPr txBox="1"/>
          <p:nvPr/>
        </p:nvSpPr>
        <p:spPr>
          <a:xfrm>
            <a:off x="914400" y="8763000"/>
            <a:ext cx="164592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Red: where your lambda runs. Dashed: nothing to do there.</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2: the shoot command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430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ShooterCommands.java</a:t>
            </a:r>
          </a:p>
        </p:txBody>
      </p:sp>
      <p:sp>
        <p:nvSpPr>
          <p:cNvPr id="6" name="Rounded Rectangle 5"/>
          <p:cNvSpPr/>
          <p:nvPr/>
        </p:nvSpPr>
        <p:spPr>
          <a:xfrm>
            <a:off x="914400" y="3143250"/>
            <a:ext cx="11430000" cy="3162300"/>
          </a:xfrm>
          <a:prstGeom prst="roundRect">
            <a:avLst>
              <a:gd name="adj" fmla="val 481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724400"/>
            <a:ext cx="11391900" cy="40005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724400"/>
            <a:ext cx="57150" cy="400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124450"/>
            <a:ext cx="11391900" cy="40005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124450"/>
            <a:ext cx="57150" cy="400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896600" cy="40005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Command shoot() {</a:t>
            </a:r>
          </a:p>
        </p:txBody>
      </p:sp>
      <p:sp>
        <p:nvSpPr>
          <p:cNvPr id="12" name="TextBox 11"/>
          <p:cNvSpPr txBox="1"/>
          <p:nvPr/>
        </p:nvSpPr>
        <p:spPr>
          <a:xfrm>
            <a:off x="1295400" y="392430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ShooterSubsystem shooter = ShooterSubsystem.getInstance();</a:t>
            </a:r>
          </a:p>
        </p:txBody>
      </p:sp>
      <p:sp>
        <p:nvSpPr>
          <p:cNvPr id="13" name="TextBox 12"/>
          <p:cNvSpPr txBox="1"/>
          <p:nvPr/>
        </p:nvSpPr>
        <p:spPr>
          <a:xfrm>
            <a:off x="1295400" y="432435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Commands.startEnd(</a:t>
            </a:r>
          </a:p>
        </p:txBody>
      </p:sp>
      <p:sp>
        <p:nvSpPr>
          <p:cNvPr id="14" name="TextBox 13"/>
          <p:cNvSpPr txBox="1"/>
          <p:nvPr/>
        </p:nvSpPr>
        <p:spPr>
          <a:xfrm>
            <a:off x="1295400" y="472440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 -&gt; shooter.setWantedState(ShooterStates.SHOOT),</a:t>
            </a:r>
          </a:p>
        </p:txBody>
      </p:sp>
      <p:sp>
        <p:nvSpPr>
          <p:cNvPr id="15" name="TextBox 14"/>
          <p:cNvSpPr txBox="1"/>
          <p:nvPr/>
        </p:nvSpPr>
        <p:spPr>
          <a:xfrm>
            <a:off x="1295400" y="512445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 -&gt; shooter.setWantedState(ShooterStates.IDLE));</a:t>
            </a:r>
          </a:p>
        </p:txBody>
      </p:sp>
      <p:sp>
        <p:nvSpPr>
          <p:cNvPr id="16" name="TextBox 15"/>
          <p:cNvSpPr txBox="1"/>
          <p:nvPr/>
        </p:nvSpPr>
        <p:spPr>
          <a:xfrm>
            <a:off x="1295400" y="552450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7" name="Oval 16"/>
          <p:cNvSpPr/>
          <p:nvPr/>
        </p:nvSpPr>
        <p:spPr>
          <a:xfrm>
            <a:off x="11734800" y="393382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734800" y="393382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 name="Oval 18"/>
          <p:cNvSpPr/>
          <p:nvPr/>
        </p:nvSpPr>
        <p:spPr>
          <a:xfrm>
            <a:off x="11734800" y="473392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34800" y="473392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Oval 20"/>
          <p:cNvSpPr/>
          <p:nvPr/>
        </p:nvSpPr>
        <p:spPr>
          <a:xfrm>
            <a:off x="11734800" y="51339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34800" y="51339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3" name="Oval 22"/>
          <p:cNvSpPr/>
          <p:nvPr/>
        </p:nvSpPr>
        <p:spPr>
          <a:xfrm>
            <a:off x="12858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58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TextBox 24"/>
          <p:cNvSpPr txBox="1"/>
          <p:nvPr/>
        </p:nvSpPr>
        <p:spPr>
          <a:xfrm>
            <a:off x="13468350" y="2819400"/>
            <a:ext cx="3905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shooter</a:t>
            </a:r>
          </a:p>
        </p:txBody>
      </p:sp>
      <p:sp>
        <p:nvSpPr>
          <p:cNvPr id="26" name="TextBox 25"/>
          <p:cNvSpPr txBox="1"/>
          <p:nvPr/>
        </p:nvSpPr>
        <p:spPr>
          <a:xfrm>
            <a:off x="13468350" y="3238500"/>
            <a:ext cx="3905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There's only one: getInstance()</a:t>
            </a:r>
          </a:p>
        </p:txBody>
      </p:sp>
      <p:sp>
        <p:nvSpPr>
          <p:cNvPr id="27" name="Oval 26"/>
          <p:cNvSpPr/>
          <p:nvPr/>
        </p:nvSpPr>
        <p:spPr>
          <a:xfrm>
            <a:off x="128587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587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TextBox 28"/>
          <p:cNvSpPr txBox="1"/>
          <p:nvPr/>
        </p:nvSpPr>
        <p:spPr>
          <a:xfrm>
            <a:off x="13468350" y="4438650"/>
            <a:ext cx="3905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 want SHOOT</a:t>
            </a:r>
          </a:p>
        </p:txBody>
      </p:sp>
      <p:sp>
        <p:nvSpPr>
          <p:cNvPr id="30" name="TextBox 29"/>
          <p:cNvSpPr txBox="1"/>
          <p:nvPr/>
        </p:nvSpPr>
        <p:spPr>
          <a:xfrm>
            <a:off x="13468350" y="4857750"/>
            <a:ext cx="3905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once when the command starts</a:t>
            </a:r>
          </a:p>
        </p:txBody>
      </p:sp>
      <p:sp>
        <p:nvSpPr>
          <p:cNvPr id="31" name="Oval 30"/>
          <p:cNvSpPr/>
          <p:nvPr/>
        </p:nvSpPr>
        <p:spPr>
          <a:xfrm>
            <a:off x="1285875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8587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3" name="TextBox 32"/>
          <p:cNvSpPr txBox="1"/>
          <p:nvPr/>
        </p:nvSpPr>
        <p:spPr>
          <a:xfrm>
            <a:off x="13468350" y="6057900"/>
            <a:ext cx="3905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End: want IDLE</a:t>
            </a:r>
          </a:p>
        </p:txBody>
      </p:sp>
      <p:sp>
        <p:nvSpPr>
          <p:cNvPr id="34" name="TextBox 33"/>
          <p:cNvSpPr txBox="1"/>
          <p:nvPr/>
        </p:nvSpPr>
        <p:spPr>
          <a:xfrm>
            <a:off x="13468350" y="6477000"/>
            <a:ext cx="3905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once when it ends or is interrupted</a:t>
            </a:r>
          </a:p>
        </p:txBody>
      </p:sp>
      <p:sp>
        <p:nvSpPr>
          <p:cNvPr id="35" name="Rounded Rectangle 34"/>
          <p:cNvSpPr/>
          <p:nvPr/>
        </p:nvSpPr>
        <p:spPr>
          <a:xfrm>
            <a:off x="914400" y="6858000"/>
            <a:ext cx="11430000" cy="1524000"/>
          </a:xfrm>
          <a:prstGeom prst="roundRect">
            <a:avLst>
              <a:gd name="adj" fmla="val 1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333500" y="7048500"/>
            <a:ext cx="1905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press</a:t>
            </a:r>
          </a:p>
        </p:txBody>
      </p:sp>
      <p:sp>
        <p:nvSpPr>
          <p:cNvPr id="37" name="Rectangle 36"/>
          <p:cNvSpPr/>
          <p:nvPr/>
        </p:nvSpPr>
        <p:spPr>
          <a:xfrm>
            <a:off x="2747962" y="7272338"/>
            <a:ext cx="5581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Isosceles Triangle 37"/>
          <p:cNvSpPr/>
          <p:nvPr/>
        </p:nvSpPr>
        <p:spPr>
          <a:xfrm rot="5400000">
            <a:off x="3276600" y="72104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581400" y="7048500"/>
            <a:ext cx="2857500" cy="4762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wanted </a:t>
            </a:r>
            <a:r>
              <a:rPr sz="1950" b="1" i="0">
                <a:solidFill>
                  <a:srgbClr val="E8C27A"/>
                </a:solidFill>
                <a:latin typeface="Geist Mono"/>
                <a:ea typeface="Geist Mono"/>
                <a:cs typeface="Geist Mono"/>
              </a:rPr>
              <a:t>= SHOOT</a:t>
            </a:r>
          </a:p>
        </p:txBody>
      </p:sp>
      <p:sp>
        <p:nvSpPr>
          <p:cNvPr id="40" name="TextBox 39"/>
          <p:cNvSpPr txBox="1"/>
          <p:nvPr/>
        </p:nvSpPr>
        <p:spPr>
          <a:xfrm>
            <a:off x="6667500" y="7048500"/>
            <a:ext cx="1905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let go</a:t>
            </a:r>
          </a:p>
        </p:txBody>
      </p:sp>
      <p:sp>
        <p:nvSpPr>
          <p:cNvPr id="41" name="Rectangle 40"/>
          <p:cNvSpPr/>
          <p:nvPr/>
        </p:nvSpPr>
        <p:spPr>
          <a:xfrm>
            <a:off x="8081962" y="7272338"/>
            <a:ext cx="5581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sosceles Triangle 41"/>
          <p:cNvSpPr/>
          <p:nvPr/>
        </p:nvSpPr>
        <p:spPr>
          <a:xfrm rot="5400000">
            <a:off x="8610600" y="72104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15400" y="7048500"/>
            <a:ext cx="2857500" cy="4762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wanted </a:t>
            </a:r>
            <a:r>
              <a:rPr sz="1950" b="1" i="0">
                <a:solidFill>
                  <a:srgbClr val="E8C27A"/>
                </a:solidFill>
                <a:latin typeface="Geist Mono"/>
                <a:ea typeface="Geist Mono"/>
                <a:cs typeface="Geist Mono"/>
              </a:rPr>
              <a:t>= IDLE</a:t>
            </a:r>
          </a:p>
        </p:txBody>
      </p:sp>
      <p:sp>
        <p:nvSpPr>
          <p:cNvPr id="44" name="TextBox 43"/>
          <p:cNvSpPr txBox="1"/>
          <p:nvPr/>
        </p:nvSpPr>
        <p:spPr>
          <a:xfrm>
            <a:off x="1333500" y="7715250"/>
            <a:ext cx="10477500" cy="47625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The command never touches a motor.</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2: the launch command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430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ShooterCommands.java</a:t>
            </a:r>
          </a:p>
        </p:txBody>
      </p:sp>
      <p:sp>
        <p:nvSpPr>
          <p:cNvPr id="6" name="Rounded Rectangle 5"/>
          <p:cNvSpPr/>
          <p:nvPr/>
        </p:nvSpPr>
        <p:spPr>
          <a:xfrm>
            <a:off x="914400" y="3143250"/>
            <a:ext cx="11430000" cy="2407920"/>
          </a:xfrm>
          <a:prstGeom prst="roundRect">
            <a:avLst>
              <a:gd name="adj" fmla="val 632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35730"/>
            <a:ext cx="11391900" cy="4114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35730"/>
            <a:ext cx="57150" cy="41148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347210"/>
            <a:ext cx="11391900" cy="4114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347210"/>
            <a:ext cx="57150" cy="41148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896600" cy="41148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Command simulateBallLaunch() {</a:t>
            </a:r>
          </a:p>
        </p:txBody>
      </p:sp>
      <p:sp>
        <p:nvSpPr>
          <p:cNvPr id="12" name="TextBox 11"/>
          <p:cNvSpPr txBox="1"/>
          <p:nvPr/>
        </p:nvSpPr>
        <p:spPr>
          <a:xfrm>
            <a:off x="1295400" y="3935730"/>
            <a:ext cx="10896600" cy="41148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Commands.runOnce(</a:t>
            </a:r>
          </a:p>
        </p:txBody>
      </p:sp>
      <p:sp>
        <p:nvSpPr>
          <p:cNvPr id="13" name="TextBox 12"/>
          <p:cNvSpPr txBox="1"/>
          <p:nvPr/>
        </p:nvSpPr>
        <p:spPr>
          <a:xfrm>
            <a:off x="1295400" y="4347210"/>
            <a:ext cx="10896600" cy="41148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 -&gt; ShooterSubsystem.getInstance().simulateBallLaunch());</a:t>
            </a:r>
          </a:p>
        </p:txBody>
      </p:sp>
      <p:sp>
        <p:nvSpPr>
          <p:cNvPr id="14" name="TextBox 13"/>
          <p:cNvSpPr txBox="1"/>
          <p:nvPr/>
        </p:nvSpPr>
        <p:spPr>
          <a:xfrm>
            <a:off x="1295400" y="4758690"/>
            <a:ext cx="10896600" cy="41148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5" name="Oval 14"/>
          <p:cNvSpPr/>
          <p:nvPr/>
        </p:nvSpPr>
        <p:spPr>
          <a:xfrm>
            <a:off x="11734800" y="395097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734800" y="395097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Oval 16"/>
          <p:cNvSpPr/>
          <p:nvPr/>
        </p:nvSpPr>
        <p:spPr>
          <a:xfrm>
            <a:off x="11734800" y="4362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734800" y="4362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 name="Oval 18"/>
          <p:cNvSpPr/>
          <p:nvPr/>
        </p:nvSpPr>
        <p:spPr>
          <a:xfrm>
            <a:off x="12858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58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1" name="TextBox 20"/>
          <p:cNvSpPr txBox="1"/>
          <p:nvPr/>
        </p:nvSpPr>
        <p:spPr>
          <a:xfrm>
            <a:off x="13468350" y="2819400"/>
            <a:ext cx="3905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runOnce</a:t>
            </a:r>
          </a:p>
        </p:txBody>
      </p:sp>
      <p:sp>
        <p:nvSpPr>
          <p:cNvPr id="22" name="TextBox 21"/>
          <p:cNvSpPr txBox="1"/>
          <p:nvPr/>
        </p:nvSpPr>
        <p:spPr>
          <a:xfrm>
            <a:off x="13468350" y="3238500"/>
            <a:ext cx="3905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once, finishes straight away</a:t>
            </a:r>
          </a:p>
        </p:txBody>
      </p:sp>
      <p:sp>
        <p:nvSpPr>
          <p:cNvPr id="23" name="Oval 22"/>
          <p:cNvSpPr/>
          <p:nvPr/>
        </p:nvSpPr>
        <p:spPr>
          <a:xfrm>
            <a:off x="128587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587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 name="TextBox 24"/>
          <p:cNvSpPr txBox="1"/>
          <p:nvPr/>
        </p:nvSpPr>
        <p:spPr>
          <a:xfrm>
            <a:off x="13468350" y="4438650"/>
            <a:ext cx="3905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fake launch</a:t>
            </a:r>
          </a:p>
        </p:txBody>
      </p:sp>
      <p:sp>
        <p:nvSpPr>
          <p:cNvPr id="26" name="TextBox 25"/>
          <p:cNvSpPr txBox="1"/>
          <p:nvPr/>
        </p:nvSpPr>
        <p:spPr>
          <a:xfrm>
            <a:off x="13468350" y="4857750"/>
            <a:ext cx="3905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Pushes back on the flywheel, like a real game piece</a:t>
            </a:r>
          </a:p>
        </p:txBody>
      </p:sp>
      <p:sp>
        <p:nvSpPr>
          <p:cNvPr id="27" name="Rounded Rectangle 26"/>
          <p:cNvSpPr/>
          <p:nvPr/>
        </p:nvSpPr>
        <p:spPr>
          <a:xfrm>
            <a:off x="914400" y="5905500"/>
            <a:ext cx="16459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704975" y="68294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704975" y="7115175"/>
            <a:ext cx="9544050" cy="19050"/>
          </a:xfrm>
          <a:prstGeom prst="rect">
            <a:avLst/>
          </a:prstGeom>
          <a:solidFill>
            <a:srgbClr val="E0554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6859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17811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8764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19716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0669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1621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2574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3526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4479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5431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6384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27336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28289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29241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30194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31146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32099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33051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34004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34956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35909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36861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37814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38766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39719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40671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41624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42576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43529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44481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45434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46386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339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482917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4924425" y="6638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5" name="Connector 64"/>
          <p:cNvCxnSpPr/>
          <p:nvPr/>
        </p:nvCxnSpPr>
        <p:spPr>
          <a:xfrm>
            <a:off x="5048250" y="6667500"/>
            <a:ext cx="95250" cy="49530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143500" y="7162800"/>
            <a:ext cx="95250" cy="34322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238750" y="7438980"/>
            <a:ext cx="95250" cy="670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334000" y="7377296"/>
            <a:ext cx="95250" cy="616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5429250" y="7320544"/>
            <a:ext cx="95250" cy="5675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5524500" y="7268329"/>
            <a:ext cx="95250" cy="522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5619750" y="7220290"/>
            <a:ext cx="95250" cy="4803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5715000" y="7176091"/>
            <a:ext cx="95250" cy="4419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5810250" y="7135426"/>
            <a:ext cx="95250" cy="406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905500" y="7098013"/>
            <a:ext cx="95250" cy="3741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6000750" y="7063591"/>
            <a:ext cx="95250" cy="344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6096000" y="7031921"/>
            <a:ext cx="95250" cy="3167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6191250" y="7002784"/>
            <a:ext cx="95250" cy="291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6286500" y="6975976"/>
            <a:ext cx="95250" cy="268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6381750" y="6951312"/>
            <a:ext cx="95250" cy="246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6477000" y="6928619"/>
            <a:ext cx="95250" cy="226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6572250" y="6907741"/>
            <a:ext cx="95250" cy="2087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6667500" y="6888533"/>
            <a:ext cx="95250" cy="192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6762750" y="6870860"/>
            <a:ext cx="95250" cy="1767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6858000" y="6854600"/>
            <a:ext cx="95250" cy="1626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6953250" y="6839640"/>
            <a:ext cx="95250" cy="1496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7048500" y="6825877"/>
            <a:ext cx="95250" cy="137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7143750" y="6813214"/>
            <a:ext cx="95250" cy="126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7239000" y="6801563"/>
            <a:ext cx="95250" cy="116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7334250" y="6790844"/>
            <a:ext cx="95250" cy="107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7429500" y="6780982"/>
            <a:ext cx="95250" cy="986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7524750" y="6771908"/>
            <a:ext cx="95250" cy="90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7620000" y="6763560"/>
            <a:ext cx="95250" cy="83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7715250" y="6755880"/>
            <a:ext cx="95250" cy="76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7810500" y="6748813"/>
            <a:ext cx="95250" cy="70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7905750" y="6742312"/>
            <a:ext cx="95250" cy="65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8001000" y="6736330"/>
            <a:ext cx="95250" cy="59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8096250" y="6730827"/>
            <a:ext cx="95250" cy="55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8191500" y="6725764"/>
            <a:ext cx="95250" cy="50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8258175" y="6697189"/>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8353425" y="6692530"/>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8448675" y="6688244"/>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8543925" y="6684301"/>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8639175" y="6680673"/>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8734425" y="667733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8829675" y="6674264"/>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8924925" y="6671438"/>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9020175" y="6668839"/>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9115425" y="6666447"/>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9210675" y="6664246"/>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9305925" y="6662222"/>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9401175" y="6660359"/>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9496425" y="665864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9591675" y="6657068"/>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9686925" y="6655618"/>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9782175" y="6654283"/>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9877425" y="665305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9972675" y="665192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10067925" y="6650886"/>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10163175" y="6649930"/>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10258425" y="6649050"/>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10353675" y="6648240"/>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10448925" y="664749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10544175" y="6646810"/>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10639425" y="6646180"/>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10734675" y="6645600"/>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10829925" y="6645066"/>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10925175" y="6644575"/>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11020425" y="6644123"/>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11115675" y="6643708"/>
            <a:ext cx="15240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11296650" y="6553200"/>
            <a:ext cx="762000" cy="247650"/>
          </a:xfrm>
          <a:prstGeom prst="rect">
            <a:avLst/>
          </a:prstGeom>
          <a:noFill/>
        </p:spPr>
        <p:txBody>
          <a:bodyPr wrap="square" lIns="0" rIns="0" tIns="0" bIns="0" anchor="t">
            <a:spAutoFit/>
          </a:bodyPr>
          <a:lstStyle/>
          <a:p>
            <a:pPr algn="l"/>
            <a:r>
              <a:rPr sz="1350" b="0" i="0">
                <a:solidFill>
                  <a:srgbClr val="9A7878"/>
                </a:solidFill>
                <a:latin typeface="Geist Mono"/>
                <a:ea typeface="Geist Mono"/>
                <a:cs typeface="Geist Mono"/>
              </a:rPr>
              <a:t>291</a:t>
            </a:r>
          </a:p>
        </p:txBody>
      </p:sp>
      <p:sp>
        <p:nvSpPr>
          <p:cNvPr id="131" name="TextBox 130"/>
          <p:cNvSpPr txBox="1"/>
          <p:nvPr/>
        </p:nvSpPr>
        <p:spPr>
          <a:xfrm>
            <a:off x="11296650" y="7086600"/>
            <a:ext cx="762000" cy="247650"/>
          </a:xfrm>
          <a:prstGeom prst="rect">
            <a:avLst/>
          </a:prstGeom>
          <a:noFill/>
        </p:spPr>
        <p:txBody>
          <a:bodyPr wrap="square" lIns="0" rIns="0" tIns="0" bIns="0" anchor="t">
            <a:spAutoFit/>
          </a:bodyPr>
          <a:lstStyle/>
          <a:p>
            <a:pPr algn="l"/>
            <a:r>
              <a:rPr sz="1350" b="0" i="0">
                <a:solidFill>
                  <a:srgbClr val="E05540"/>
                </a:solidFill>
                <a:latin typeface="Geist Mono"/>
                <a:ea typeface="Geist Mono"/>
                <a:cs typeface="Geist Mono"/>
              </a:rPr>
              <a:t>276</a:t>
            </a:r>
          </a:p>
        </p:txBody>
      </p:sp>
      <p:sp>
        <p:nvSpPr>
          <p:cNvPr id="132" name="TextBox 131"/>
          <p:cNvSpPr txBox="1"/>
          <p:nvPr/>
        </p:nvSpPr>
        <p:spPr>
          <a:xfrm>
            <a:off x="4095750" y="5962650"/>
            <a:ext cx="1905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tap A</a:t>
            </a:r>
          </a:p>
        </p:txBody>
      </p:sp>
      <p:sp>
        <p:nvSpPr>
          <p:cNvPr id="133" name="Rectangle 132"/>
          <p:cNvSpPr/>
          <p:nvPr/>
        </p:nvSpPr>
        <p:spPr>
          <a:xfrm>
            <a:off x="5033962" y="6234112"/>
            <a:ext cx="28575" cy="2152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Isosceles Triangle 133"/>
          <p:cNvSpPr/>
          <p:nvPr/>
        </p:nvSpPr>
        <p:spPr>
          <a:xfrm rot="10800000">
            <a:off x="4972050" y="64198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12001500" y="6096000"/>
            <a:ext cx="5143500" cy="22860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SHOOT  →  SPIN_UP  →  SHOOT</a:t>
            </a:r>
          </a:p>
          <a:p>
            <a:pPr algn="l"/>
            <a:r>
              <a:rPr sz="1950" b="0" i="0">
                <a:solidFill>
                  <a:srgbClr val="F0E8E8"/>
                </a:solidFill>
                <a:latin typeface="Geist Mono"/>
                <a:ea typeface="Geist Mono"/>
                <a:cs typeface="Geist Mono"/>
              </a:rPr>
              <a:t/>
            </a:r>
          </a:p>
          <a:p>
            <a:pPr algn="l"/>
            <a:r>
              <a:rPr sz="1950" b="0" i="0">
                <a:solidFill>
                  <a:srgbClr val="F0E8E8"/>
                </a:solidFill>
                <a:latin typeface="Geist Mono"/>
                <a:ea typeface="Geist Mono"/>
                <a:cs typeface="Geist Mono"/>
              </a:rPr>
              <a:t>The dip rule at work.</a:t>
            </a:r>
          </a:p>
        </p:txBody>
      </p:sp>
      <p:sp>
        <p:nvSpPr>
          <p:cNvPr id="136" name="TextBox 1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7" name="TextBox 1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Buttons to commands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Bindings, then try it</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Hold the bumper and I spin up. Let go and I rest. Easy!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BUTTONS TO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2: bind the buttons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430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a:t>
            </a:r>
          </a:p>
        </p:txBody>
      </p:sp>
      <p:sp>
        <p:nvSpPr>
          <p:cNvPr id="6" name="Rounded Rectangle 5"/>
          <p:cNvSpPr/>
          <p:nvPr/>
        </p:nvSpPr>
        <p:spPr>
          <a:xfrm>
            <a:off x="914400" y="3143250"/>
            <a:ext cx="11430000" cy="4362450"/>
          </a:xfrm>
          <a:prstGeom prst="roundRect">
            <a:avLst>
              <a:gd name="adj" fmla="val 349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124450"/>
            <a:ext cx="11391900" cy="40005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124450"/>
            <a:ext cx="57150" cy="400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524500"/>
            <a:ext cx="11391900" cy="40005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524500"/>
            <a:ext cx="57150" cy="400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5924550"/>
            <a:ext cx="11391900" cy="40005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5924550"/>
            <a:ext cx="57150" cy="400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6324600"/>
            <a:ext cx="11391900" cy="40005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6324600"/>
            <a:ext cx="57150" cy="4000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52425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CommandXboxController driver_controller_ =</a:t>
            </a:r>
          </a:p>
        </p:txBody>
      </p:sp>
      <p:sp>
        <p:nvSpPr>
          <p:cNvPr id="16" name="TextBox 15"/>
          <p:cNvSpPr txBox="1"/>
          <p:nvPr/>
        </p:nvSpPr>
        <p:spPr>
          <a:xfrm>
            <a:off x="1295400" y="392430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new</a:t>
            </a:r>
            <a:r>
              <a:rPr sz="1800" b="0" i="0">
                <a:solidFill>
                  <a:srgbClr val="F0E8E8"/>
                </a:solidFill>
                <a:latin typeface="Geist Mono"/>
                <a:ea typeface="Geist Mono"/>
                <a:cs typeface="Geist Mono"/>
              </a:rPr>
              <a:t> CommandXboxController(</a:t>
            </a:r>
            <a:r>
              <a:rPr sz="1800" b="0" i="0">
                <a:solidFill>
                  <a:srgbClr val="E8C27A"/>
                </a:solidFill>
                <a:latin typeface="Geist Mono"/>
                <a:ea typeface="Geist Mono"/>
                <a:cs typeface="Geist Mono"/>
              </a:rPr>
              <a:t>0</a:t>
            </a:r>
            <a:r>
              <a:rPr sz="1800" b="0" i="0">
                <a:solidFill>
                  <a:srgbClr val="F0E8E8"/>
                </a:solidFill>
                <a:latin typeface="Geist Mono"/>
                <a:ea typeface="Geist Mono"/>
                <a:cs typeface="Geist Mono"/>
              </a:rPr>
              <a:t>);</a:t>
            </a:r>
          </a:p>
        </p:txBody>
      </p:sp>
      <p:sp>
        <p:nvSpPr>
          <p:cNvPr id="17" name="TextBox 16"/>
          <p:cNvSpPr txBox="1"/>
          <p:nvPr/>
        </p:nvSpPr>
        <p:spPr>
          <a:xfrm>
            <a:off x="1295400" y="432435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8" name="TextBox 17"/>
          <p:cNvSpPr txBox="1"/>
          <p:nvPr/>
        </p:nvSpPr>
        <p:spPr>
          <a:xfrm>
            <a:off x="1295400" y="4724400"/>
            <a:ext cx="10896600" cy="40005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configureBindings() {</a:t>
            </a:r>
          </a:p>
        </p:txBody>
      </p:sp>
      <p:sp>
        <p:nvSpPr>
          <p:cNvPr id="19" name="TextBox 18"/>
          <p:cNvSpPr txBox="1"/>
          <p:nvPr/>
        </p:nvSpPr>
        <p:spPr>
          <a:xfrm>
            <a:off x="1295400" y="512445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driver_controller_.rightBumper()</a:t>
            </a:r>
          </a:p>
        </p:txBody>
      </p:sp>
      <p:sp>
        <p:nvSpPr>
          <p:cNvPr id="20" name="TextBox 19"/>
          <p:cNvSpPr txBox="1"/>
          <p:nvPr/>
        </p:nvSpPr>
        <p:spPr>
          <a:xfrm>
            <a:off x="1295400" y="552450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.whileTrue(ShooterCommands.shoot());</a:t>
            </a:r>
          </a:p>
        </p:txBody>
      </p:sp>
      <p:sp>
        <p:nvSpPr>
          <p:cNvPr id="21" name="TextBox 20"/>
          <p:cNvSpPr txBox="1"/>
          <p:nvPr/>
        </p:nvSpPr>
        <p:spPr>
          <a:xfrm>
            <a:off x="1295400" y="592455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driver_controller_.a()</a:t>
            </a:r>
          </a:p>
        </p:txBody>
      </p:sp>
      <p:sp>
        <p:nvSpPr>
          <p:cNvPr id="22" name="TextBox 21"/>
          <p:cNvSpPr txBox="1"/>
          <p:nvPr/>
        </p:nvSpPr>
        <p:spPr>
          <a:xfrm>
            <a:off x="1295400" y="632460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.onTrue(ShooterCommands.simulateBallLaunch());</a:t>
            </a:r>
          </a:p>
        </p:txBody>
      </p:sp>
      <p:sp>
        <p:nvSpPr>
          <p:cNvPr id="23" name="TextBox 22"/>
          <p:cNvSpPr txBox="1"/>
          <p:nvPr/>
        </p:nvSpPr>
        <p:spPr>
          <a:xfrm>
            <a:off x="1295400" y="6724650"/>
            <a:ext cx="10896600" cy="40005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4" name="Oval 23"/>
          <p:cNvSpPr/>
          <p:nvPr/>
        </p:nvSpPr>
        <p:spPr>
          <a:xfrm>
            <a:off x="11734800" y="35337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734800" y="35337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Oval 25"/>
          <p:cNvSpPr/>
          <p:nvPr/>
        </p:nvSpPr>
        <p:spPr>
          <a:xfrm>
            <a:off x="11734800" y="553402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734800" y="553402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Oval 27"/>
          <p:cNvSpPr/>
          <p:nvPr/>
        </p:nvSpPr>
        <p:spPr>
          <a:xfrm>
            <a:off x="11734800" y="633412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734800" y="633412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Oval 29"/>
          <p:cNvSpPr/>
          <p:nvPr/>
        </p:nvSpPr>
        <p:spPr>
          <a:xfrm>
            <a:off x="12858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858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TextBox 31"/>
          <p:cNvSpPr txBox="1"/>
          <p:nvPr/>
        </p:nvSpPr>
        <p:spPr>
          <a:xfrm>
            <a:off x="13468350" y="2819400"/>
            <a:ext cx="3905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CommandXboxController</a:t>
            </a:r>
          </a:p>
        </p:txBody>
      </p:sp>
      <p:sp>
        <p:nvSpPr>
          <p:cNvPr id="33" name="TextBox 32"/>
          <p:cNvSpPr txBox="1"/>
          <p:nvPr/>
        </p:nvSpPr>
        <p:spPr>
          <a:xfrm>
            <a:off x="13468350" y="3238500"/>
            <a:ext cx="3905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Buttons that can start commands</a:t>
            </a:r>
          </a:p>
        </p:txBody>
      </p:sp>
      <p:sp>
        <p:nvSpPr>
          <p:cNvPr id="34" name="Oval 33"/>
          <p:cNvSpPr/>
          <p:nvPr/>
        </p:nvSpPr>
        <p:spPr>
          <a:xfrm>
            <a:off x="128587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8587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TextBox 35"/>
          <p:cNvSpPr txBox="1"/>
          <p:nvPr/>
        </p:nvSpPr>
        <p:spPr>
          <a:xfrm>
            <a:off x="13468350" y="4438650"/>
            <a:ext cx="3905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bumper: whileTrue</a:t>
            </a:r>
          </a:p>
        </p:txBody>
      </p:sp>
      <p:sp>
        <p:nvSpPr>
          <p:cNvPr id="37" name="TextBox 36"/>
          <p:cNvSpPr txBox="1"/>
          <p:nvPr/>
        </p:nvSpPr>
        <p:spPr>
          <a:xfrm>
            <a:off x="13468350" y="4857750"/>
            <a:ext cx="3905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shoot() runs while it's held</a:t>
            </a:r>
          </a:p>
        </p:txBody>
      </p:sp>
      <p:sp>
        <p:nvSpPr>
          <p:cNvPr id="38" name="Oval 37"/>
          <p:cNvSpPr/>
          <p:nvPr/>
        </p:nvSpPr>
        <p:spPr>
          <a:xfrm>
            <a:off x="1285875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8587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TextBox 39"/>
          <p:cNvSpPr txBox="1"/>
          <p:nvPr/>
        </p:nvSpPr>
        <p:spPr>
          <a:xfrm>
            <a:off x="13468350" y="6057900"/>
            <a:ext cx="3905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onTrue</a:t>
            </a:r>
          </a:p>
        </p:txBody>
      </p:sp>
      <p:sp>
        <p:nvSpPr>
          <p:cNvPr id="41" name="TextBox 40"/>
          <p:cNvSpPr txBox="1"/>
          <p:nvPr/>
        </p:nvSpPr>
        <p:spPr>
          <a:xfrm>
            <a:off x="13468350" y="6477000"/>
            <a:ext cx="3905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fake launch per press</a:t>
            </a:r>
          </a:p>
        </p:txBody>
      </p:sp>
      <p:sp>
        <p:nvSpPr>
          <p:cNvPr id="42" name="Rounded Rectangle 41"/>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hand-index.png"/>
          <p:cNvPicPr>
            <a:picLocks noChangeAspect="1"/>
          </p:cNvPicPr>
          <p:nvPr/>
        </p:nvPicPr>
        <p:blipFill>
          <a:blip r:embed="rId3"/>
          <a:stretch>
            <a:fillRect/>
          </a:stretch>
        </p:blipFill>
        <p:spPr>
          <a:xfrm>
            <a:off x="1333500" y="8353425"/>
            <a:ext cx="443805" cy="533400"/>
          </a:xfrm>
          <a:prstGeom prst="rect">
            <a:avLst/>
          </a:prstGeom>
        </p:spPr>
      </p:pic>
      <p:sp>
        <p:nvSpPr>
          <p:cNvPr id="44" name="TextBox 43"/>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Run once:  </a:t>
            </a:r>
            <a:r>
              <a:rPr sz="2100" b="0" i="0">
                <a:solidFill>
                  <a:srgbClr val="F0E8E8"/>
                </a:solidFill>
                <a:latin typeface="Geist"/>
                <a:ea typeface="Geist"/>
                <a:cs typeface="Geist"/>
              </a:rPr>
              <a:t>Robot calls configureBindings() at startup. The bindings then work all match.</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BUTTONS TO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whileTrue, onTrue, toggleOnTrue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3143250"/>
            <a:ext cx="3810000" cy="571500"/>
          </a:xfrm>
          <a:prstGeom prst="rect">
            <a:avLst/>
          </a:prstGeom>
          <a:noFill/>
        </p:spPr>
        <p:txBody>
          <a:bodyPr wrap="square" lIns="0" rIns="0" tIns="0" bIns="0" anchor="ctr">
            <a:spAutoFit/>
          </a:bodyPr>
          <a:lstStyle/>
          <a:p>
            <a:pPr algn="l"/>
            <a:r>
              <a:rPr sz="2250" b="1" i="0">
                <a:solidFill>
                  <a:srgbClr val="9A7878"/>
                </a:solidFill>
                <a:latin typeface="Geist"/>
                <a:ea typeface="Geist"/>
                <a:cs typeface="Geist"/>
              </a:rPr>
              <a:t>Button</a:t>
            </a:r>
          </a:p>
        </p:txBody>
      </p:sp>
      <p:sp>
        <p:nvSpPr>
          <p:cNvPr id="6" name="Rectangle 5"/>
          <p:cNvSpPr/>
          <p:nvPr/>
        </p:nvSpPr>
        <p:spPr>
          <a:xfrm>
            <a:off x="4943475" y="370522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929188" y="3633788"/>
            <a:ext cx="12668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1483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148388" y="3176588"/>
            <a:ext cx="37052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8059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805988" y="3633788"/>
            <a:ext cx="24860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22443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2244388" y="3176588"/>
            <a:ext cx="30956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52923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5292388" y="3633788"/>
            <a:ext cx="18764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72200" y="2857500"/>
            <a:ext cx="36576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held</a:t>
            </a:r>
          </a:p>
        </p:txBody>
      </p:sp>
      <p:sp>
        <p:nvSpPr>
          <p:cNvPr id="17" name="TextBox 16"/>
          <p:cNvSpPr txBox="1"/>
          <p:nvPr/>
        </p:nvSpPr>
        <p:spPr>
          <a:xfrm>
            <a:off x="12268200" y="2857500"/>
            <a:ext cx="3048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held</a:t>
            </a:r>
          </a:p>
        </p:txBody>
      </p:sp>
      <p:sp>
        <p:nvSpPr>
          <p:cNvPr id="18" name="TextBox 17"/>
          <p:cNvSpPr txBox="1"/>
          <p:nvPr/>
        </p:nvSpPr>
        <p:spPr>
          <a:xfrm>
            <a:off x="914400" y="4572000"/>
            <a:ext cx="3810000" cy="5715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whileTrue</a:t>
            </a:r>
          </a:p>
        </p:txBody>
      </p:sp>
      <p:sp>
        <p:nvSpPr>
          <p:cNvPr id="19" name="Rectangle 18"/>
          <p:cNvSpPr/>
          <p:nvPr/>
        </p:nvSpPr>
        <p:spPr>
          <a:xfrm>
            <a:off x="4943475" y="513397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172200" y="4667250"/>
            <a:ext cx="3657600" cy="419100"/>
          </a:xfrm>
          <a:prstGeom prst="roundRect">
            <a:avLst>
              <a:gd name="adj" fmla="val 18181"/>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12268200" y="4667250"/>
            <a:ext cx="3048000" cy="419100"/>
          </a:xfrm>
          <a:prstGeom prst="roundRect">
            <a:avLst>
              <a:gd name="adj" fmla="val 18181"/>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62675" y="3705225"/>
            <a:ext cx="19050" cy="1447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2258675" y="3705225"/>
            <a:ext cx="19050" cy="1447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4400" y="6000750"/>
            <a:ext cx="3810000" cy="5715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onTrue</a:t>
            </a:r>
          </a:p>
        </p:txBody>
      </p:sp>
      <p:sp>
        <p:nvSpPr>
          <p:cNvPr id="25" name="Rectangle 24"/>
          <p:cNvSpPr/>
          <p:nvPr/>
        </p:nvSpPr>
        <p:spPr>
          <a:xfrm>
            <a:off x="4943475" y="656272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172200" y="6096000"/>
            <a:ext cx="146304" cy="419100"/>
          </a:xfrm>
          <a:prstGeom prst="roundRect">
            <a:avLst>
              <a:gd name="adj" fmla="val 39062"/>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12268200" y="6096000"/>
            <a:ext cx="146304" cy="419100"/>
          </a:xfrm>
          <a:prstGeom prst="roundRect">
            <a:avLst>
              <a:gd name="adj" fmla="val 39062"/>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162675" y="3705225"/>
            <a:ext cx="19050" cy="2876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2258675" y="3705225"/>
            <a:ext cx="19050" cy="2876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4400" y="7429500"/>
            <a:ext cx="3810000" cy="5715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toggleOnTrue</a:t>
            </a:r>
          </a:p>
        </p:txBody>
      </p:sp>
      <p:sp>
        <p:nvSpPr>
          <p:cNvPr id="31" name="Rectangle 30"/>
          <p:cNvSpPr/>
          <p:nvPr/>
        </p:nvSpPr>
        <p:spPr>
          <a:xfrm>
            <a:off x="4943475" y="799147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172200" y="7524750"/>
            <a:ext cx="6096000" cy="419100"/>
          </a:xfrm>
          <a:prstGeom prst="roundRect">
            <a:avLst>
              <a:gd name="adj" fmla="val 18181"/>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162675" y="3705225"/>
            <a:ext cx="19050" cy="4305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2258675" y="3705225"/>
            <a:ext cx="19050" cy="4305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172200" y="5238750"/>
            <a:ext cx="571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shoot(): runs while held</a:t>
            </a:r>
          </a:p>
        </p:txBody>
      </p:sp>
      <p:sp>
        <p:nvSpPr>
          <p:cNvPr id="36" name="TextBox 35"/>
          <p:cNvSpPr txBox="1"/>
          <p:nvPr/>
        </p:nvSpPr>
        <p:spPr>
          <a:xfrm>
            <a:off x="6172200" y="6667500"/>
            <a:ext cx="666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the launch: starts once per press</a:t>
            </a:r>
          </a:p>
        </p:txBody>
      </p:sp>
      <p:sp>
        <p:nvSpPr>
          <p:cNvPr id="37" name="TextBox 36"/>
          <p:cNvSpPr txBox="1"/>
          <p:nvPr/>
        </p:nvSpPr>
        <p:spPr>
          <a:xfrm>
            <a:off x="6172200" y="8096250"/>
            <a:ext cx="762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press to start, press again to stop</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BUTTONS TO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press, start to finish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43000" y="3657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 name="TextBox 7"/>
          <p:cNvSpPr txBox="1"/>
          <p:nvPr/>
        </p:nvSpPr>
        <p:spPr>
          <a:xfrm>
            <a:off x="1104900" y="4286250"/>
            <a:ext cx="25146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Hold RB</a:t>
            </a:r>
          </a:p>
        </p:txBody>
      </p:sp>
      <p:sp>
        <p:nvSpPr>
          <p:cNvPr id="9" name="TextBox 8"/>
          <p:cNvSpPr txBox="1"/>
          <p:nvPr/>
        </p:nvSpPr>
        <p:spPr>
          <a:xfrm>
            <a:off x="11049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Driver presses the right bumper</a:t>
            </a:r>
          </a:p>
        </p:txBody>
      </p:sp>
      <p:sp>
        <p:nvSpPr>
          <p:cNvPr id="10" name="Rectangle 9"/>
          <p:cNvSpPr/>
          <p:nvPr/>
        </p:nvSpPr>
        <p:spPr>
          <a:xfrm>
            <a:off x="38481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4095750" y="4591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053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33900" y="3657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39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4495800" y="4286250"/>
            <a:ext cx="25146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shoot() starts</a:t>
            </a:r>
          </a:p>
        </p:txBody>
      </p:sp>
      <p:sp>
        <p:nvSpPr>
          <p:cNvPr id="16" name="TextBox 15"/>
          <p:cNvSpPr txBox="1"/>
          <p:nvPr/>
        </p:nvSpPr>
        <p:spPr>
          <a:xfrm>
            <a:off x="44958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wanted = SHOOT</a:t>
            </a:r>
          </a:p>
        </p:txBody>
      </p:sp>
      <p:sp>
        <p:nvSpPr>
          <p:cNvPr id="17" name="Rectangle 16"/>
          <p:cNvSpPr/>
          <p:nvPr/>
        </p:nvSpPr>
        <p:spPr>
          <a:xfrm>
            <a:off x="72390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7486650" y="4591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962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924800" y="3657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248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TextBox 21"/>
          <p:cNvSpPr txBox="1"/>
          <p:nvPr/>
        </p:nvSpPr>
        <p:spPr>
          <a:xfrm>
            <a:off x="7886700" y="4286250"/>
            <a:ext cx="2514600" cy="476250"/>
          </a:xfrm>
          <a:prstGeom prst="rect">
            <a:avLst/>
          </a:prstGeom>
          <a:noFill/>
        </p:spPr>
        <p:txBody>
          <a:bodyPr wrap="square" lIns="0" rIns="0" tIns="0" bIns="0" anchor="t">
            <a:spAutoFit/>
          </a:bodyPr>
          <a:lstStyle/>
          <a:p>
            <a:pPr algn="ctr"/>
            <a:r>
              <a:rPr sz="2250" b="1" i="0">
                <a:solidFill>
                  <a:srgbClr val="F0E8E8"/>
                </a:solidFill>
                <a:latin typeface="Geist Mono"/>
                <a:ea typeface="Geist Mono"/>
                <a:cs typeface="Geist Mono"/>
              </a:rPr>
              <a:t>SPIN_UP</a:t>
            </a:r>
          </a:p>
        </p:txBody>
      </p:sp>
      <p:sp>
        <p:nvSpPr>
          <p:cNvPr id="23" name="TextBox 22"/>
          <p:cNvSpPr txBox="1"/>
          <p:nvPr/>
        </p:nvSpPr>
        <p:spPr>
          <a:xfrm>
            <a:off x="78867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Rules: IDLE steps up</a:t>
            </a:r>
          </a:p>
        </p:txBody>
      </p:sp>
      <p:sp>
        <p:nvSpPr>
          <p:cNvPr id="24" name="Rectangle 23"/>
          <p:cNvSpPr/>
          <p:nvPr/>
        </p:nvSpPr>
        <p:spPr>
          <a:xfrm>
            <a:off x="106299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10877550" y="4591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087100" y="3429000"/>
            <a:ext cx="2895600" cy="2476500"/>
          </a:xfrm>
          <a:prstGeom prst="roundRect">
            <a:avLst>
              <a:gd name="adj" fmla="val 6153"/>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1315700" y="3657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3157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TextBox 28"/>
          <p:cNvSpPr txBox="1"/>
          <p:nvPr/>
        </p:nvSpPr>
        <p:spPr>
          <a:xfrm>
            <a:off x="11277600" y="4286250"/>
            <a:ext cx="2514600" cy="476250"/>
          </a:xfrm>
          <a:prstGeom prst="rect">
            <a:avLst/>
          </a:prstGeom>
          <a:noFill/>
        </p:spPr>
        <p:txBody>
          <a:bodyPr wrap="square" lIns="0" rIns="0" tIns="0" bIns="0" anchor="t">
            <a:spAutoFit/>
          </a:bodyPr>
          <a:lstStyle/>
          <a:p>
            <a:pPr algn="ctr"/>
            <a:r>
              <a:rPr sz="2250" b="1" i="0">
                <a:solidFill>
                  <a:srgbClr val="F0E8E8"/>
                </a:solidFill>
                <a:latin typeface="Geist Mono"/>
                <a:ea typeface="Geist Mono"/>
                <a:cs typeface="Geist Mono"/>
              </a:rPr>
              <a:t>SHOOT</a:t>
            </a:r>
          </a:p>
        </p:txBody>
      </p:sp>
      <p:sp>
        <p:nvSpPr>
          <p:cNvPr id="30" name="TextBox 29"/>
          <p:cNvSpPr txBox="1"/>
          <p:nvPr/>
        </p:nvSpPr>
        <p:spPr>
          <a:xfrm>
            <a:off x="112776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isAtSpeed(): roller feeds</a:t>
            </a:r>
          </a:p>
        </p:txBody>
      </p:sp>
      <p:sp>
        <p:nvSpPr>
          <p:cNvPr id="31" name="Rectangle 30"/>
          <p:cNvSpPr/>
          <p:nvPr/>
        </p:nvSpPr>
        <p:spPr>
          <a:xfrm>
            <a:off x="140208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sosceles Triangle 31"/>
          <p:cNvSpPr/>
          <p:nvPr/>
        </p:nvSpPr>
        <p:spPr>
          <a:xfrm rot="5400000">
            <a:off x="14268450" y="4591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44780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4706600" y="3657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7066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36" name="TextBox 35"/>
          <p:cNvSpPr txBox="1"/>
          <p:nvPr/>
        </p:nvSpPr>
        <p:spPr>
          <a:xfrm>
            <a:off x="14668500" y="4286250"/>
            <a:ext cx="25146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Let go</a:t>
            </a:r>
          </a:p>
        </p:txBody>
      </p:sp>
      <p:sp>
        <p:nvSpPr>
          <p:cNvPr id="37" name="TextBox 36"/>
          <p:cNvSpPr txBox="1"/>
          <p:nvPr/>
        </p:nvSpPr>
        <p:spPr>
          <a:xfrm>
            <a:off x="146685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Command ends: wanted = IDLE</a:t>
            </a:r>
          </a:p>
        </p:txBody>
      </p:sp>
      <p:sp>
        <p:nvSpPr>
          <p:cNvPr id="38" name="Rectangle 37"/>
          <p:cNvSpPr/>
          <p:nvPr/>
        </p:nvSpPr>
        <p:spPr>
          <a:xfrm>
            <a:off x="990600" y="6267450"/>
            <a:ext cx="27432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4400" y="6438900"/>
            <a:ext cx="28956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Driver</a:t>
            </a:r>
          </a:p>
        </p:txBody>
      </p:sp>
      <p:sp>
        <p:nvSpPr>
          <p:cNvPr id="40" name="Rectangle 39"/>
          <p:cNvSpPr/>
          <p:nvPr/>
        </p:nvSpPr>
        <p:spPr>
          <a:xfrm>
            <a:off x="4381500" y="6267450"/>
            <a:ext cx="27432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305300" y="6438900"/>
            <a:ext cx="28956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Command</a:t>
            </a:r>
          </a:p>
        </p:txBody>
      </p:sp>
      <p:sp>
        <p:nvSpPr>
          <p:cNvPr id="42" name="Rectangle 41"/>
          <p:cNvSpPr/>
          <p:nvPr/>
        </p:nvSpPr>
        <p:spPr>
          <a:xfrm>
            <a:off x="7772400" y="6267450"/>
            <a:ext cx="613410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696200" y="6438900"/>
            <a:ext cx="6286500" cy="323850"/>
          </a:xfrm>
          <a:prstGeom prst="rect">
            <a:avLst/>
          </a:prstGeom>
          <a:noFill/>
        </p:spPr>
        <p:txBody>
          <a:bodyPr wrap="square" lIns="0" rIns="0" tIns="0" bIns="0" anchor="t">
            <a:spAutoFit/>
          </a:bodyPr>
          <a:lstStyle/>
          <a:p>
            <a:pPr algn="ctr"/>
            <a:r>
              <a:rPr sz="1650" b="1" i="0">
                <a:solidFill>
                  <a:srgbClr val="CC2200"/>
                </a:solidFill>
                <a:latin typeface="Geist"/>
                <a:ea typeface="Geist"/>
                <a:cs typeface="Geist"/>
              </a:rPr>
              <a:t>State machine</a:t>
            </a:r>
          </a:p>
        </p:txBody>
      </p:sp>
      <p:sp>
        <p:nvSpPr>
          <p:cNvPr id="44" name="Rectangle 43"/>
          <p:cNvSpPr/>
          <p:nvPr/>
        </p:nvSpPr>
        <p:spPr>
          <a:xfrm>
            <a:off x="14554200" y="6267450"/>
            <a:ext cx="27432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4478000" y="6438900"/>
            <a:ext cx="28956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Command</a:t>
            </a:r>
          </a:p>
        </p:txBody>
      </p:sp>
      <p:sp>
        <p:nvSpPr>
          <p:cNvPr id="46" name="Rounded Rectangle 45"/>
          <p:cNvSpPr/>
          <p:nvPr/>
        </p:nvSpPr>
        <p:spPr>
          <a:xfrm>
            <a:off x="914400" y="7620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diagram-2.png"/>
          <p:cNvPicPr>
            <a:picLocks noChangeAspect="1"/>
          </p:cNvPicPr>
          <p:nvPr/>
        </p:nvPicPr>
        <p:blipFill>
          <a:blip r:embed="rId3"/>
          <a:stretch>
            <a:fillRect/>
          </a:stretch>
        </p:blipFill>
        <p:spPr>
          <a:xfrm>
            <a:off x="1333500" y="7829550"/>
            <a:ext cx="444500" cy="533400"/>
          </a:xfrm>
          <a:prstGeom prst="rect">
            <a:avLst/>
          </a:prstGeom>
        </p:spPr>
      </p:pic>
      <p:sp>
        <p:nvSpPr>
          <p:cNvPr id="48" name="TextBox 47"/>
          <p:cNvSpPr txBox="1"/>
          <p:nvPr/>
        </p:nvSpPr>
        <p:spPr>
          <a:xfrm>
            <a:off x="2190750" y="7620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Only the state machine  </a:t>
            </a:r>
            <a:r>
              <a:rPr sz="2100" b="0" i="0">
                <a:solidFill>
                  <a:srgbClr val="F0E8E8"/>
                </a:solidFill>
                <a:latin typeface="Geist"/>
                <a:ea typeface="Geist"/>
                <a:cs typeface="Geist"/>
              </a:rPr>
              <a:t>ever sets a motor. Buttons and commands just say what's wanted.</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BUTTONS TO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Try it and watch the states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6675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00400"/>
            <a:ext cx="5905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 SCRIPTUM: KEYBOARD</a:t>
            </a:r>
          </a:p>
        </p:txBody>
      </p:sp>
      <p:sp>
        <p:nvSpPr>
          <p:cNvPr id="7" name="Rounded Rectangle 6"/>
          <p:cNvSpPr/>
          <p:nvPr/>
        </p:nvSpPr>
        <p:spPr>
          <a:xfrm>
            <a:off x="1295400" y="3810000"/>
            <a:ext cx="1333500" cy="1143000"/>
          </a:xfrm>
          <a:prstGeom prst="roundRect">
            <a:avLst>
              <a:gd name="adj" fmla="val 1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810000"/>
            <a:ext cx="1333500" cy="1143000"/>
          </a:xfrm>
          <a:prstGeom prst="rect">
            <a:avLst/>
          </a:prstGeom>
          <a:noFill/>
        </p:spPr>
        <p:txBody>
          <a:bodyPr wrap="square" lIns="0" rIns="0" tIns="0" bIns="0" anchor="ctr">
            <a:spAutoFit/>
          </a:bodyPr>
          <a:lstStyle/>
          <a:p>
            <a:pPr algn="ctr"/>
            <a:r>
              <a:rPr sz="3600" b="1" i="0">
                <a:solidFill>
                  <a:srgbClr val="F0E8E8"/>
                </a:solidFill>
                <a:latin typeface="Geist Mono"/>
                <a:ea typeface="Geist Mono"/>
                <a:cs typeface="Geist Mono"/>
              </a:rPr>
              <a:t>U</a:t>
            </a:r>
          </a:p>
        </p:txBody>
      </p:sp>
      <p:sp>
        <p:nvSpPr>
          <p:cNvPr id="9" name="TextBox 8"/>
          <p:cNvSpPr txBox="1"/>
          <p:nvPr/>
        </p:nvSpPr>
        <p:spPr>
          <a:xfrm>
            <a:off x="2914650" y="3962400"/>
            <a:ext cx="4381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Right bumper</a:t>
            </a:r>
          </a:p>
        </p:txBody>
      </p:sp>
      <p:sp>
        <p:nvSpPr>
          <p:cNvPr id="10" name="TextBox 9"/>
          <p:cNvSpPr txBox="1"/>
          <p:nvPr/>
        </p:nvSpPr>
        <p:spPr>
          <a:xfrm>
            <a:off x="2914650" y="443865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hold: shoot</a:t>
            </a:r>
          </a:p>
        </p:txBody>
      </p:sp>
      <p:sp>
        <p:nvSpPr>
          <p:cNvPr id="11" name="Rounded Rectangle 10"/>
          <p:cNvSpPr/>
          <p:nvPr/>
        </p:nvSpPr>
        <p:spPr>
          <a:xfrm>
            <a:off x="1295400" y="5429250"/>
            <a:ext cx="1333500" cy="1143000"/>
          </a:xfrm>
          <a:prstGeom prst="roundRect">
            <a:avLst>
              <a:gd name="adj" fmla="val 1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5429250"/>
            <a:ext cx="1333500" cy="1143000"/>
          </a:xfrm>
          <a:prstGeom prst="rect">
            <a:avLst/>
          </a:prstGeom>
          <a:noFill/>
        </p:spPr>
        <p:txBody>
          <a:bodyPr wrap="square" lIns="0" rIns="0" tIns="0" bIns="0" anchor="ctr">
            <a:spAutoFit/>
          </a:bodyPr>
          <a:lstStyle/>
          <a:p>
            <a:pPr algn="ctr"/>
            <a:r>
              <a:rPr sz="3600" b="1" i="0">
                <a:solidFill>
                  <a:srgbClr val="F0E8E8"/>
                </a:solidFill>
                <a:latin typeface="Geist Mono"/>
                <a:ea typeface="Geist Mono"/>
                <a:cs typeface="Geist Mono"/>
              </a:rPr>
              <a:t>K</a:t>
            </a:r>
          </a:p>
        </p:txBody>
      </p:sp>
      <p:sp>
        <p:nvSpPr>
          <p:cNvPr id="13" name="TextBox 12"/>
          <p:cNvSpPr txBox="1"/>
          <p:nvPr/>
        </p:nvSpPr>
        <p:spPr>
          <a:xfrm>
            <a:off x="2914650" y="5581650"/>
            <a:ext cx="4381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A button</a:t>
            </a:r>
          </a:p>
        </p:txBody>
      </p:sp>
      <p:sp>
        <p:nvSpPr>
          <p:cNvPr id="14" name="TextBox 13"/>
          <p:cNvSpPr txBox="1"/>
          <p:nvPr/>
        </p:nvSpPr>
        <p:spPr>
          <a:xfrm>
            <a:off x="2914650" y="605790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tap: fake launch</a:t>
            </a:r>
          </a:p>
        </p:txBody>
      </p:sp>
      <p:sp>
        <p:nvSpPr>
          <p:cNvPr id="15" name="TextBox 14"/>
          <p:cNvSpPr txBox="1"/>
          <p:nvPr/>
        </p:nvSpPr>
        <p:spPr>
          <a:xfrm>
            <a:off x="1295400" y="7239000"/>
            <a:ext cx="5905500" cy="762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On the real robot: an Xbox controller.</a:t>
            </a:r>
          </a:p>
        </p:txBody>
      </p:sp>
      <p:sp>
        <p:nvSpPr>
          <p:cNvPr id="16" name="Rounded Rectangle 15"/>
          <p:cNvSpPr/>
          <p:nvPr/>
        </p:nvSpPr>
        <p:spPr>
          <a:xfrm>
            <a:off x="8001000" y="2857500"/>
            <a:ext cx="9372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82000" y="3200400"/>
            <a:ext cx="857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 ADVANTAGESCOPE</a:t>
            </a:r>
          </a:p>
        </p:txBody>
      </p:sp>
      <p:sp>
        <p:nvSpPr>
          <p:cNvPr id="18" name="TextBox 17"/>
          <p:cNvSpPr txBox="1"/>
          <p:nvPr/>
        </p:nvSpPr>
        <p:spPr>
          <a:xfrm>
            <a:off x="8382000" y="3619500"/>
            <a:ext cx="8572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Subsystem/Shooter/State</a:t>
            </a:r>
          </a:p>
        </p:txBody>
      </p:sp>
      <p:sp>
        <p:nvSpPr>
          <p:cNvPr id="19" name="Rectangle 18"/>
          <p:cNvSpPr/>
          <p:nvPr/>
        </p:nvSpPr>
        <p:spPr>
          <a:xfrm>
            <a:off x="8382000" y="4095750"/>
            <a:ext cx="1033272"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82000" y="4095750"/>
            <a:ext cx="1033272"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IDLE</a:t>
            </a:r>
          </a:p>
        </p:txBody>
      </p:sp>
      <p:sp>
        <p:nvSpPr>
          <p:cNvPr id="21" name="Rectangle 20"/>
          <p:cNvSpPr/>
          <p:nvPr/>
        </p:nvSpPr>
        <p:spPr>
          <a:xfrm>
            <a:off x="9415272" y="4095750"/>
            <a:ext cx="1894332" cy="60960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415272" y="4095750"/>
            <a:ext cx="1894332"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3" name="Rectangle 22"/>
          <p:cNvSpPr/>
          <p:nvPr/>
        </p:nvSpPr>
        <p:spPr>
          <a:xfrm>
            <a:off x="11309604" y="4095750"/>
            <a:ext cx="1894332" cy="609600"/>
          </a:xfrm>
          <a:prstGeom prst="rect">
            <a:avLst/>
          </a:prstGeom>
          <a:solidFill>
            <a:srgbClr val="CC2200"/>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309604" y="4095750"/>
            <a:ext cx="1894332" cy="60960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5" name="Rectangle 24"/>
          <p:cNvSpPr/>
          <p:nvPr/>
        </p:nvSpPr>
        <p:spPr>
          <a:xfrm>
            <a:off x="13203936" y="4095750"/>
            <a:ext cx="1205484" cy="60960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3203936" y="4095750"/>
            <a:ext cx="1205484"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7" name="Rectangle 26"/>
          <p:cNvSpPr/>
          <p:nvPr/>
        </p:nvSpPr>
        <p:spPr>
          <a:xfrm>
            <a:off x="14409420" y="4095750"/>
            <a:ext cx="1549908" cy="609600"/>
          </a:xfrm>
          <a:prstGeom prst="rect">
            <a:avLst/>
          </a:prstGeom>
          <a:solidFill>
            <a:srgbClr val="CC2200"/>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4409420" y="4095750"/>
            <a:ext cx="1549908" cy="60960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9" name="Rectangle 28"/>
          <p:cNvSpPr/>
          <p:nvPr/>
        </p:nvSpPr>
        <p:spPr>
          <a:xfrm>
            <a:off x="15959328" y="4095750"/>
            <a:ext cx="1033272"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5959328" y="4095750"/>
            <a:ext cx="1033272"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IDLE</a:t>
            </a:r>
          </a:p>
        </p:txBody>
      </p:sp>
      <p:sp>
        <p:nvSpPr>
          <p:cNvPr id="31" name="TextBox 30"/>
          <p:cNvSpPr txBox="1"/>
          <p:nvPr/>
        </p:nvSpPr>
        <p:spPr>
          <a:xfrm>
            <a:off x="8462772" y="4819650"/>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 hold U</a:t>
            </a:r>
          </a:p>
        </p:txBody>
      </p:sp>
      <p:sp>
        <p:nvSpPr>
          <p:cNvPr id="32" name="TextBox 31"/>
          <p:cNvSpPr txBox="1"/>
          <p:nvPr/>
        </p:nvSpPr>
        <p:spPr>
          <a:xfrm>
            <a:off x="12251436" y="4819650"/>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 tap K</a:t>
            </a:r>
          </a:p>
        </p:txBody>
      </p:sp>
      <p:sp>
        <p:nvSpPr>
          <p:cNvPr id="33" name="TextBox 32"/>
          <p:cNvSpPr txBox="1"/>
          <p:nvPr/>
        </p:nvSpPr>
        <p:spPr>
          <a:xfrm>
            <a:off x="8382000" y="5429250"/>
            <a:ext cx="8572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Subsystem/Shooter/ShotCount</a:t>
            </a:r>
          </a:p>
        </p:txBody>
      </p:sp>
      <p:sp>
        <p:nvSpPr>
          <p:cNvPr id="34" name="Rectangle 33"/>
          <p:cNvSpPr/>
          <p:nvPr/>
        </p:nvSpPr>
        <p:spPr>
          <a:xfrm>
            <a:off x="8382000" y="5905500"/>
            <a:ext cx="2927604"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82000" y="5905500"/>
            <a:ext cx="2927604" cy="609600"/>
          </a:xfrm>
          <a:prstGeom prst="rect">
            <a:avLst/>
          </a:prstGeom>
          <a:noFill/>
        </p:spPr>
        <p:txBody>
          <a:bodyPr wrap="square" lIns="0" rIns="0" tIns="0" bIns="0" anchor="ctr">
            <a:spAutoFit/>
          </a:bodyPr>
          <a:lstStyle/>
          <a:p>
            <a:pPr algn="ctr"/>
            <a:r>
              <a:rPr sz="1800" b="1" i="0">
                <a:solidFill>
                  <a:srgbClr val="E8C27A"/>
                </a:solidFill>
                <a:latin typeface="Geist Mono"/>
                <a:ea typeface="Geist Mono"/>
                <a:cs typeface="Geist Mono"/>
              </a:rPr>
              <a:t>0</a:t>
            </a:r>
          </a:p>
        </p:txBody>
      </p:sp>
      <p:sp>
        <p:nvSpPr>
          <p:cNvPr id="36" name="Rectangle 35"/>
          <p:cNvSpPr/>
          <p:nvPr/>
        </p:nvSpPr>
        <p:spPr>
          <a:xfrm>
            <a:off x="11309604" y="5905500"/>
            <a:ext cx="3099816"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309604" y="5905500"/>
            <a:ext cx="3099816" cy="609600"/>
          </a:xfrm>
          <a:prstGeom prst="rect">
            <a:avLst/>
          </a:prstGeom>
          <a:noFill/>
        </p:spPr>
        <p:txBody>
          <a:bodyPr wrap="square" lIns="0" rIns="0" tIns="0" bIns="0" anchor="ctr">
            <a:spAutoFit/>
          </a:bodyPr>
          <a:lstStyle/>
          <a:p>
            <a:pPr algn="ctr"/>
            <a:r>
              <a:rPr sz="1800" b="1" i="0">
                <a:solidFill>
                  <a:srgbClr val="E8C27A"/>
                </a:solidFill>
                <a:latin typeface="Geist Mono"/>
                <a:ea typeface="Geist Mono"/>
                <a:cs typeface="Geist Mono"/>
              </a:rPr>
              <a:t>1</a:t>
            </a:r>
          </a:p>
        </p:txBody>
      </p:sp>
      <p:sp>
        <p:nvSpPr>
          <p:cNvPr id="38" name="Rectangle 37"/>
          <p:cNvSpPr/>
          <p:nvPr/>
        </p:nvSpPr>
        <p:spPr>
          <a:xfrm>
            <a:off x="14409420" y="5905500"/>
            <a:ext cx="2583180"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4409420" y="5905500"/>
            <a:ext cx="2583180" cy="609600"/>
          </a:xfrm>
          <a:prstGeom prst="rect">
            <a:avLst/>
          </a:prstGeom>
          <a:noFill/>
        </p:spPr>
        <p:txBody>
          <a:bodyPr wrap="square" lIns="0" rIns="0" tIns="0" bIns="0" anchor="ctr">
            <a:spAutoFit/>
          </a:bodyPr>
          <a:lstStyle/>
          <a:p>
            <a:pPr algn="ctr"/>
            <a:r>
              <a:rPr sz="1800" b="1" i="0">
                <a:solidFill>
                  <a:srgbClr val="E8C27A"/>
                </a:solidFill>
                <a:latin typeface="Geist Mono"/>
                <a:ea typeface="Geist Mono"/>
                <a:cs typeface="Geist Mono"/>
              </a:rPr>
              <a:t>2</a:t>
            </a:r>
          </a:p>
        </p:txBody>
      </p:sp>
      <p:sp>
        <p:nvSpPr>
          <p:cNvPr id="40" name="TextBox 39"/>
          <p:cNvSpPr txBox="1"/>
          <p:nvPr/>
        </p:nvSpPr>
        <p:spPr>
          <a:xfrm>
            <a:off x="8382000" y="6858000"/>
            <a:ext cx="8572500" cy="11430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Goal: SPIN_UP before every SHOOT, and a shot count of 2 after one tap.</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State Machines and Commands</a:t>
            </a:r>
          </a:p>
        </p:txBody>
      </p:sp>
      <p:sp>
        <p:nvSpPr>
          <p:cNvPr id="5" name="TextBox 4"/>
          <p:cNvSpPr txBox="1"/>
          <p:nvPr/>
        </p:nvSpPr>
        <p:spPr>
          <a:xfrm>
            <a:off x="1524000" y="2762250"/>
            <a:ext cx="1190625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Write the shooter's transition rules and switch, then the two commands, and bind them to buttons. Press Verify on each checkpoint.</a:t>
            </a:r>
          </a:p>
        </p:txBody>
      </p:sp>
      <p:sp>
        <p:nvSpPr>
          <p:cNvPr id="6" name="TextBox 5"/>
          <p:cNvSpPr txBox="1"/>
          <p:nvPr/>
        </p:nvSpPr>
        <p:spPr>
          <a:xfrm>
            <a:off x="1524000" y="409575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3 CHECKPOINTS</a:t>
            </a:r>
          </a:p>
        </p:txBody>
      </p:sp>
      <p:pic>
        <p:nvPicPr>
          <p:cNvPr id="7" name="Picture 6" descr="check-circle-fill.png"/>
          <p:cNvPicPr>
            <a:picLocks noChangeAspect="1"/>
          </p:cNvPicPr>
          <p:nvPr/>
        </p:nvPicPr>
        <p:blipFill>
          <a:blip r:embed="rId3"/>
          <a:stretch>
            <a:fillRect/>
          </a:stretch>
        </p:blipFill>
        <p:spPr>
          <a:xfrm>
            <a:off x="1524000" y="4591050"/>
            <a:ext cx="323850" cy="323850"/>
          </a:xfrm>
          <a:prstGeom prst="rect">
            <a:avLst/>
          </a:prstGeom>
        </p:spPr>
      </p:pic>
      <p:sp>
        <p:nvSpPr>
          <p:cNvPr id="8" name="TextBox 7"/>
          <p:cNvSpPr txBox="1"/>
          <p:nvPr/>
        </p:nvSpPr>
        <p:spPr>
          <a:xfrm>
            <a:off x="2038350" y="4533900"/>
            <a:ext cx="4953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Button bindings</a:t>
            </a:r>
          </a:p>
        </p:txBody>
      </p:sp>
      <p:sp>
        <p:nvSpPr>
          <p:cNvPr id="9" name="TextBox 8"/>
          <p:cNvSpPr txBox="1"/>
          <p:nvPr/>
        </p:nvSpPr>
        <p:spPr>
          <a:xfrm>
            <a:off x="2038350" y="4972050"/>
            <a:ext cx="857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Right bumper runs shoot(), A runs the fake launch</a:t>
            </a:r>
          </a:p>
        </p:txBody>
      </p:sp>
      <p:pic>
        <p:nvPicPr>
          <p:cNvPr id="10" name="Picture 9" descr="check-circle-fill.png"/>
          <p:cNvPicPr>
            <a:picLocks noChangeAspect="1"/>
          </p:cNvPicPr>
          <p:nvPr/>
        </p:nvPicPr>
        <p:blipFill>
          <a:blip r:embed="rId3"/>
          <a:stretch>
            <a:fillRect/>
          </a:stretch>
        </p:blipFill>
        <p:spPr>
          <a:xfrm>
            <a:off x="1524000" y="5543550"/>
            <a:ext cx="323850" cy="323850"/>
          </a:xfrm>
          <a:prstGeom prst="rect">
            <a:avLst/>
          </a:prstGeom>
        </p:spPr>
      </p:pic>
      <p:sp>
        <p:nvSpPr>
          <p:cNvPr id="11" name="TextBox 10"/>
          <p:cNvSpPr txBox="1"/>
          <p:nvPr/>
        </p:nvSpPr>
        <p:spPr>
          <a:xfrm>
            <a:off x="2038350" y="5486400"/>
            <a:ext cx="4953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Spins up before shooting</a:t>
            </a:r>
          </a:p>
        </p:txBody>
      </p:sp>
      <p:sp>
        <p:nvSpPr>
          <p:cNvPr id="12" name="TextBox 11"/>
          <p:cNvSpPr txBox="1"/>
          <p:nvPr/>
        </p:nvSpPr>
        <p:spPr>
          <a:xfrm>
            <a:off x="2038350" y="5924550"/>
            <a:ext cx="857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Hold RB: SPIN_UP comes before SHOOT</a:t>
            </a:r>
          </a:p>
        </p:txBody>
      </p:sp>
      <p:pic>
        <p:nvPicPr>
          <p:cNvPr id="13" name="Picture 12" descr="check-circle-fill.png"/>
          <p:cNvPicPr>
            <a:picLocks noChangeAspect="1"/>
          </p:cNvPicPr>
          <p:nvPr/>
        </p:nvPicPr>
        <p:blipFill>
          <a:blip r:embed="rId3"/>
          <a:stretch>
            <a:fillRect/>
          </a:stretch>
        </p:blipFill>
        <p:spPr>
          <a:xfrm>
            <a:off x="1524000" y="6496050"/>
            <a:ext cx="323850" cy="323850"/>
          </a:xfrm>
          <a:prstGeom prst="rect">
            <a:avLst/>
          </a:prstGeom>
        </p:spPr>
      </p:pic>
      <p:sp>
        <p:nvSpPr>
          <p:cNvPr id="14" name="TextBox 13"/>
          <p:cNvSpPr txBox="1"/>
          <p:nvPr/>
        </p:nvSpPr>
        <p:spPr>
          <a:xfrm>
            <a:off x="2038350" y="6438900"/>
            <a:ext cx="4953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Recovers after a launch</a:t>
            </a:r>
          </a:p>
        </p:txBody>
      </p:sp>
      <p:sp>
        <p:nvSpPr>
          <p:cNvPr id="15" name="TextBox 14"/>
          <p:cNvSpPr txBox="1"/>
          <p:nvPr/>
        </p:nvSpPr>
        <p:spPr>
          <a:xfrm>
            <a:off x="2038350" y="6877050"/>
            <a:ext cx="857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Tap A: back to SPIN_UP, then SHOOT, 2 shots</a:t>
            </a:r>
          </a:p>
        </p:txBody>
      </p:sp>
      <p:sp>
        <p:nvSpPr>
          <p:cNvPr id="16" name="TextBox 15"/>
          <p:cNvSpPr txBox="1"/>
          <p:nvPr/>
        </p:nvSpPr>
        <p:spPr>
          <a:xfrm>
            <a:off x="1524000" y="76200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a ReadyToShoot light, a slower close shot on the trigger</a:t>
            </a:r>
          </a:p>
        </p:txBody>
      </p:sp>
      <p:sp>
        <p:nvSpPr>
          <p:cNvPr id="17" name="TextBox 16"/>
          <p:cNvSpPr txBox="1"/>
          <p:nvPr/>
        </p:nvSpPr>
        <p:spPr>
          <a:xfrm>
            <a:off x="1524000" y="80962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State Machines and Commands</a:t>
            </a:r>
          </a:p>
        </p:txBody>
      </p:sp>
      <p:pic>
        <p:nvPicPr>
          <p:cNvPr id="18" name="Picture 17" descr="dozer.png"/>
          <p:cNvPicPr>
            <a:picLocks noChangeAspect="1"/>
          </p:cNvPicPr>
          <p:nvPr/>
        </p:nvPicPr>
        <p:blipFill>
          <a:blip r:embed="rId4"/>
          <a:stretch>
            <a:fillRect/>
          </a:stretch>
        </p:blipFill>
        <p:spPr>
          <a:xfrm>
            <a:off x="14287500" y="5905500"/>
            <a:ext cx="2667000" cy="1639254"/>
          </a:xfrm>
          <a:prstGeom prst="rect">
            <a:avLst/>
          </a:prstGeom>
        </p:spPr>
      </p:pic>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Draw a state machine with transitions</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Keep wanted and real state apart</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List states with an enum</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Act on a state with a switch</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safe transition rules</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Build commands and bind them to buttons</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Conditions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Variables</a:t>
            </a:r>
          </a:p>
        </p:txBody>
      </p:sp>
      <p:sp>
        <p:nvSpPr>
          <p:cNvPr id="23" name="TextBox 22"/>
          <p:cNvSpPr txBox="1"/>
          <p:nvPr/>
        </p:nvSpPr>
        <p:spPr>
          <a:xfrm>
            <a:off x="9334500" y="5334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switch and boolean logic are in Conditions; enums are in Variables.</a:t>
            </a:r>
          </a:p>
        </p:txBody>
      </p:sp>
      <p:sp>
        <p:nvSpPr>
          <p:cNvPr id="24" name="TextBox 23"/>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5" name="Rounded Rectangle 24"/>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sp>
        <p:nvSpPr>
          <p:cNvPr id="27" name="TextBox 26"/>
          <p:cNvSpPr txBox="1"/>
          <p:nvPr/>
        </p:nvSpPr>
        <p:spPr>
          <a:xfrm>
            <a:off x="13716000" y="3810000"/>
            <a:ext cx="3333750" cy="5715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Computer Vision</a:t>
            </a:r>
          </a:p>
        </p:txBody>
      </p:sp>
      <p:sp>
        <p:nvSpPr>
          <p:cNvPr id="28" name="TextBox 27"/>
          <p:cNvSpPr txBox="1"/>
          <p:nvPr/>
        </p:nvSpPr>
        <p:spPr>
          <a:xfrm>
            <a:off x="13716000" y="4476750"/>
            <a:ext cx="3333750" cy="21907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Teach the robot to see AprilTags, so it always knows where it is on the field and can aim at the goal.</a:t>
            </a:r>
          </a:p>
        </p:txBody>
      </p:sp>
      <p:pic>
        <p:nvPicPr>
          <p:cNvPr id="29" name="Picture 28" descr="dozer.png"/>
          <p:cNvPicPr>
            <a:picLocks noChangeAspect="1"/>
          </p:cNvPicPr>
          <p:nvPr/>
        </p:nvPicPr>
        <p:blipFill>
          <a:blip r:embed="rId5"/>
          <a:stretch>
            <a:fillRect/>
          </a:stretch>
        </p:blipFill>
        <p:spPr>
          <a:xfrm>
            <a:off x="14287500" y="6858000"/>
            <a:ext cx="2476500" cy="1522165"/>
          </a:xfrm>
          <a:prstGeom prst="rect">
            <a:avLst/>
          </a:prstGeom>
        </p:spPr>
      </p:pic>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