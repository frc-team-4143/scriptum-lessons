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Objects and Odometry. Two big ideas today. First, classes and objects: how Java code is organized, and how you've been using objects since the first lesson. Second, odometry: the robot works out where it is on the field by adding up how its wheels move. The hands-on part is the Objects and Odometry lesson in Scriptum. Ask: if you closed your eyes and walked ten steps, could you point to where you ended up?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parts. The first two are Java: classes, objects, static and the OI class. The last three use WPILib's ready-made classes to work out the robot's speed, heading and position. By the end of the lesson the robot drives itself to a spot 3 meters away using its own position.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in Java lives in a class, and the robot is full of objects: the gamepad, the drivetrain, the motors. This part explains what those words mean so the rest of the deck makes sense.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a problem from the old training. Say we track robots in a match: team number, balls scored, endgame points. For one robot that's three variables. For a match it's 18, and for a whole event 150, each with its own made-up name. Add more facts per robot and it gets worse. Ask: what would you name the variables for the third robot on the red alliance? Let them feel the mess.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class is a blueprint, like the plans for a house. It says what every house has, but you can't live in plans. The word new builds a real house from the plans: that's an object. One blueprint, as many houses as you want, and each house has its own furniture. Here the class Team says every team has a number and a score; each object holds its own values. Activity: hand out an index card 'blueprint' with two blank fields, and have three students each fill in a copy.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Team class written out. 1: fields are the variables every object carries around. The team's style: fields end in an underscore. 2: the constructor runs once, when new builds the object. It has the class's name and no return type, and here it takes the team number as an input. 3: methods are what an object can do; scoreBall changes that object's own score. Ask: what does a new team's balls_scored_ start at? (0, the constructor sets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an object reads like making a variable, because it is one. Team is the type: the class name. mars is the variable's name. new builds a fresh object, and the values in the parentheses go to the constructor. After this line, mars holds a Team with number 4143 and a score of 0. Ask: how would you make a Team for 254? (Team poofs = new Team(254);)</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objects from the same class don't share data. Call scoreBall on mars twice and only mars's score changes; citrus is still at 0. The dot means: this object, do this. Activity: two students are mars and citrus holding score cards; call out method calls and they update only when their name is called.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You've used objects since the first lesson. Robot is a class. controller_ is an object built from WPILib's XboxController class. drive_ is an object built from the lesson's DifferentialDriveMech class, and arcadeDrive is one of its methods. The constructor inputs for the drivetrain are the motor lists from Constants. Ask: find another object in Robot.java. (loop_, the LessonLoop.)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Notice 'extends' on Robot. A class can build on another class and get everything it has: that's inheritance. LoggedRobot (from AdvantageKit) already runs the robot loop and calls teleopPeriodic for you; Robot only fills in its own versions, marked @Override. The drivetrain does the same with MWLib's MechBase: MWLib calls readInputs, writeOutputs and logData every loop. Ask: why not write the loop yourself? (Someone already did, and tested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public and private decide who can touch what. Private fields can only be used inside their own class, so nothing else can mess up the drivetrain's pose by accident. Public methods are the doors: Robot asks drive_.getPose() and gets the answer. That's called encapsulation. The naming style helps you read it: classes in PascalCase, methods in camelCase, fields with a trailing underscore. Ask: why make pose_ private instead of letting Robot change it directly?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WPILib's classes live in packages, which work like folders. Java can't find Pose2d until you tell it where it lives with an import line at the top of the file, like the address on an envelope. Forget it and the build fails with 'cannot find symbol'. VS Code can add imports for you: hover the red squiggle and pick the quick fix. In the lesson you add the import for DifferentialDriveWheelSpeeds yourself.</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a special kind of class: one you never build objects from. The OI class is the first thing you write in the lesson.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methods belong to an object: drive_.getPose() needs to know which drivetrain. A static method belongs to the class itself, so you call it on the class name, no object needed. You've used some already: Math.abs, MathUtil.applyDeadband, Units.inchesToMeters. The OI class is all static, and it's marked abstract: nobody ever writes new OI(). Ask: is controller_.getLeftY() static? (No: it asks one particular controller.)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OI stands for Operator Interface: the human's controls. It's the only class that knows about the gamepad. The rest of the robot asks it questions like 'how hard is the driver pushing forward?' and never cares which stick that is. It's like asking the receptionist instead of walking down the hall. Our competition code keeps every controller in OI too. Ask: next season the drivers want forward on the right stick. How many files change? (One: OI.java.)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finished OI class. 1: abstract, so nobody makes an OI object. 2: the one XboxController, private and static, on port 0. 3: getForward is public so anyone can call it, static so you call it on the class, and double because it hands back a number. The minus sign makes forward positive, and the deadband ignores tiny pushes. 4: getTurn is the same with the X axis and no minus sign. Ask: why no minus on getTurn? (Pushing right is already positive.)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Robot.java stops reading the controller itself. Before: three lines that know about sticks and deadbands. After: one line that asks OI. Same robot, same driving. Also delete the controller_ field and the XboxController import at the top: the Verify check looks for the word XboxController anywhere in Robot.java, and an unused MathUtil import can go too.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the deadband? A stick never rests at exactly zero: let go and it might read 0.03, and the robot creeps. MathUtil.applyDeadband(value, 0.1) treats anything between -0.1 and 0.1 as zero. Past that it stretches the rest back out, so a full push still gives 1.0. You wrote one by hand earlier; this is WPILib's built-in, static version. Ask: what does applyDeadband(0.05, 0.1) return? (0.0.)</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lesson you did the drive math by hand. WPILib, the robot toolkit, has classes for all of it. Don't reinvent the wheel.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WPILib is full of classes for common robot jobs. Today's five. Rotation2d is an angle. Pose2d is a spot on the field plus a heading. ChassisSpeeds is how fast the whole robot moves. DifferentialDriveKinematics turns wheel speeds into robot speeds. DifferentialDrivePoseEstimator keeps track of the pose. In the old training this slide was titled 'Now don't get mad': almost all the math you did by hand is already in WPILib.</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Rotation2d is an angle object. Build it from radians with new, or from degrees with Rotation2d.fromDegrees (a static method). Ask it for either unit with getDegrees or getRadians. Angles are counterclockwise positive: 0 is facing along the field's x axis, 90 degrees is facing left. One radian is about 57.3 degrees; a full turn is 2 pi, about 6.28. Ask: is 0.5 radians more or less than 45 degrees? (Less: about 28.6.)</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pose is where the robot is and which way it faces: x and y in meters from the field's origin corner, plus a Rotation2d. x runs along the field away from the blue alliance wall; y runs across it. This is the lesson's example: new Pose2d(2.0, 4.0, turned), with turned being 0.5 radians. getX asks the pose for its x. Ask: the robot drives straight toward the red alliance. Which number changes? (x.)</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a pose looks like in AdvantageScope, the desktop app we use on the laptops. The 2D Field tab draws the field from above. 1: drag any Pose2d onto the Poses list and a robot appears at that spot, with an arrow for its heading. 2: the list shows its X, Y and angle. In the lesson you drag Drive/Pose (your estimate) and Drive/TruePose (the simulator's truth) onto the same field. Screenshot from the AdvantageScope docs.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ChassisSpeeds bundles the robot's speeds into one object: vx is forward speed in meters per second, vy is sideways speed, and omega is turning speed in radians per second, positive to the left. A tank drive can't slide sideways, so vy is always 0 here. Swerve uses all three: that's why our competition robots use the same class. The old training called this kind of class a struct: a container for several values.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Kinematics turns what the wheels do into what the robot does. Then yaw: which way the robot faces.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Kinematics: wheel speeds in, robot speeds out. Say the left side does 3.0 meters per second and the right 5.0. The robot moves forward at the average, 4.0, and turns at the difference divided by the track width (the distance between the left and right wheels, 24 inches or about 0.61 m on this robot): 2.0 / 0.61 is about 3.3 radians per second, to the left. It's the same math as your DriveMath from last lesson; WPILib's class does it for you. Ask: left 4, right 4? (Forward 4, turning 0.)</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lesson, the kinematics object is already built in DifferentialDriveMech, from the track width in Constants. You write getChassisSpeeds in two moves. Bundle: put the two wheel speeds into one DifferentialDriveWheelSpeeds object with new. Convert: hand the bundle to kinematics_.toChassisSpeeds and return what comes back. Remember the import for DifferentialDriveWheelSpeeds, and replace the placeholder return: a method can only return once.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check it, graph two values in AdvantageScope. Drive/LinearSpeed is WPILib's answer from your getChassisSpeeds. Drive/LinearSpeedByHand is your own DriveMath from last lesson. Same wheels, two routes, so the lines should sit right on top of each other. Hold the stick full forward and the speed climbs to about 5 meters per second: that's the Chassis speeds checkpoint. This is a drawn mock, not a real log.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Yaw is which way the robot faces. This robot works it out from the wheels: when it turns left, the right wheels roll farther than the left ones. The angle, in radians, is the difference divided by the track width. The lesson's example: left 1.0 m, right 1.6 m, wheels 0.6 m apart: (1.6 - 1.0) / 0.6 = 1 radian, about 57 degrees to the left. Activity: two students side by side holding a meter stick walk a left turn; the outside one walks farther.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getYaw in code: subtract left from right, divide by the track width, and wrap the radians in a Rotation2d, because WPILib passes angles around as Rotation2d objects. Get the order right: left minus right would make left turns negative. The checkpoint: spin the robot counterclockwise (left) and Drive/PoseYawDeg goes clearly positive. Yaw only shows up once the pose estimator, in the next part, uses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Working out yaw from the wheels is free, but it's the weakest part of odometry: wheels slide sideways across the carpet when the robot turns, and every slip becomes a heading error that sends every later meter the wrong way. Real robots measure yaw directly with a gyro. Our swerve robots use a CTRE Pigeon 2 on the CAN bus, and MWLib's swerve code only falls back to working yaw out from the wheels if the gyro disconnects. The lesson's robot has no gyro, so you can see what drift looks like.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Odometry is dead reckoning: no landmarks, just adding up how the wheels moved. The pose estimator does it every loop.</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Dead reckoning: you know where you started, and you add up every move. Sailors did this before GPS. Start at (0, 0) facing along x. Drive 1 m forward: (1, 0), still facing 0 degrees. Turn left and drive 1 m: (1, 1), facing 90 degrees. The pose estimator does exactly this, from the encoders and the yaw. Activity: one student closes their eyes; the class calls out moves; they say their x and y after each one, then open their eyes and check.</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estimator doesn't wait for big moves. Every loop, every 20 milliseconds, it reads how far each side has rolled and the yaw, works out the tiny move since last time, and adds it to the pose. Fifty tiny steps a second add up to a smooth path. Ask: if each step had a 1 mm error, how big could the error be after a 2 minute 30 second match? (7,500 steps: up to 7.5 m if they all went the same way.)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pose estimator is a field in DifferentialDriveMech. 1: built once from the kinematics object, a starting yaw, starting distances and a starting pose (the origin). 2: update hands it the latest yaw and how far each side has driven. 3: getEstimatedPosition reads back its best guess into pose_. Order matters: read before update and you get last loop's answer. getPose() passes pose_ to the rest of the robot and the logs. The loop calls updatePose every 20 ms for you.</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catch: the estimate drifts. Real wheels are never exactly the size the code thinks, they slip a little as they roll, and sensors jitter. Each error is tiny, but they never cancel out; they pile up with every step. The simulator copies this on purpose: the left wheels read 0.4% too far, the right 0.3% too short, plus random slip. In the lesson, drag Drive/Pose and Drive/TruePose onto the 2D field, drive a long way and watch them separate. A real robot has no TruePose. Ask: why not?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real robots fix drift. Wheel odometry is the base: every 20 ms, smooth, but it drifts. A gyro gives the heading directly, which removes the biggest source of error. Cameras that see AprilTags on the field now and then work out where the robot is from scratch, and the pose estimator blends that in and pulls the estimate back to the truth. That blending is why WPILib calls it a pose estimator, not just odometry. In this lesson it's wheels only, so the drift is easy to see.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use the pose. autonomousInit resets the pose to the origin. autonomousPeriodic is the same if and else as the bang-bang lesson, but the question is now the pose: while x is less than 3.0, drive forward at 0.4; otherwise stop. Watch Drive/PoseX: it climbs to 3 and goes flat. It stops a little past 3, because the robot keeps rolling after the power is cut. The checkpoint accepts 2.95 to 3.9 m. Ask: how could you make it stop closer to 3.0? (Slow down as it gets close.)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hands-on part: the Objects and Odometry lesson in Scriptum's FRC Robot track, about three hours. Press Verify on each checkpoint as you go. The first reads your code; the others watch the robot's logged values. Dozer's guides in the top bar explain each idea and can walk you through every job. Bonuses are optional.</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Classes and objects are how all robot code is organized, so you'll see them in every lesson from here. The pose is how the robot plans autonomous paths later. Next deck: the drivetrain moves into a subsystem, and you build a shooter from mechanisms. The Java lessons on the right are optional practice for today's ideas.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9.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1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1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2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1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6.png"/><Relationship Id="rId4" Type="http://schemas.openxmlformats.org/officeDocument/2006/relationships/image" Target="../media/image21.png"/><Relationship Id="rId5" Type="http://schemas.openxmlformats.org/officeDocument/2006/relationships/image" Target="../media/image2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17.png"/><Relationship Id="rId4" Type="http://schemas.openxmlformats.org/officeDocument/2006/relationships/image" Target="../media/image2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17.png"/><Relationship Id="rId4" Type="http://schemas.openxmlformats.org/officeDocument/2006/relationships/image" Target="../media/image11.png"/><Relationship Id="rId5" Type="http://schemas.openxmlformats.org/officeDocument/2006/relationships/image" Target="../media/image25.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14300" cy="102870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FRC ROBOT  ·  DECK 4</a:t>
            </a:r>
          </a:p>
        </p:txBody>
      </p:sp>
      <p:pic>
        <p:nvPicPr>
          <p:cNvPr id="4" name="Picture 3" descr="mw_logo_small.png"/>
          <p:cNvPicPr>
            <a:picLocks noChangeAspect="1"/>
          </p:cNvPicPr>
          <p:nvPr/>
        </p:nvPicPr>
        <p:blipFill>
          <a:blip r:embed="rId3"/>
          <a:stretch>
            <a:fillRect/>
          </a:stretch>
        </p:blipFill>
        <p:spPr>
          <a:xfrm>
            <a:off x="15801975" y="685800"/>
            <a:ext cx="1571134" cy="1333500"/>
          </a:xfrm>
          <a:prstGeom prst="rect">
            <a:avLst/>
          </a:prstGeom>
        </p:spPr>
      </p:pic>
      <p:sp>
        <p:nvSpPr>
          <p:cNvPr id="5" name="TextBox 4"/>
          <p:cNvSpPr txBox="1"/>
          <p:nvPr/>
        </p:nvSpPr>
        <p:spPr>
          <a:xfrm>
            <a:off x="914400" y="3619500"/>
            <a:ext cx="14287500" cy="1333500"/>
          </a:xfrm>
          <a:prstGeom prst="rect">
            <a:avLst/>
          </a:prstGeom>
          <a:noFill/>
        </p:spPr>
        <p:txBody>
          <a:bodyPr wrap="square" lIns="0" rIns="0" tIns="0" bIns="0" anchor="t">
            <a:spAutoFit/>
          </a:bodyPr>
          <a:lstStyle/>
          <a:p>
            <a:pPr algn="l"/>
            <a:r>
              <a:rPr sz="7200" b="1" i="1">
                <a:solidFill>
                  <a:srgbClr val="CC2200"/>
                </a:solidFill>
                <a:latin typeface="Geist"/>
                <a:ea typeface="Geist"/>
                <a:cs typeface="Geist"/>
              </a:rPr>
              <a:t>Objects and Odometry</a:t>
            </a:r>
          </a:p>
        </p:txBody>
      </p:sp>
      <p:sp>
        <p:nvSpPr>
          <p:cNvPr id="6" name="TextBox 5"/>
          <p:cNvSpPr txBox="1"/>
          <p:nvPr/>
        </p:nvSpPr>
        <p:spPr>
          <a:xfrm>
            <a:off x="914400" y="4953000"/>
            <a:ext cx="9525000" cy="1143000"/>
          </a:xfrm>
          <a:prstGeom prst="rect">
            <a:avLst/>
          </a:prstGeom>
          <a:noFill/>
        </p:spPr>
        <p:txBody>
          <a:bodyPr wrap="square" lIns="0" rIns="0" tIns="0" bIns="0" anchor="t">
            <a:spAutoFit/>
          </a:bodyPr>
          <a:lstStyle/>
          <a:p>
            <a:pPr algn="l">
              <a:lnSpc>
                <a:spcPct val="130000"/>
              </a:lnSpc>
            </a:pPr>
            <a:r>
              <a:rPr sz="2400" b="0" i="0">
                <a:solidFill>
                  <a:srgbClr val="9A7878"/>
                </a:solidFill>
                <a:latin typeface="Geist"/>
                <a:ea typeface="Geist"/>
                <a:cs typeface="Geist"/>
              </a:rPr>
              <a:t>Organize code with classes and objects, then teach the robot where it is on the field.</a:t>
            </a:r>
          </a:p>
        </p:txBody>
      </p:sp>
      <p:pic>
        <p:nvPicPr>
          <p:cNvPr id="7" name="Picture 6" descr="dozer_look_up.png"/>
          <p:cNvPicPr>
            <a:picLocks noChangeAspect="1"/>
          </p:cNvPicPr>
          <p:nvPr/>
        </p:nvPicPr>
        <p:blipFill>
          <a:blip r:embed="rId4"/>
          <a:stretch>
            <a:fillRect/>
          </a:stretch>
        </p:blipFill>
        <p:spPr>
          <a:xfrm>
            <a:off x="13716000" y="6858000"/>
            <a:ext cx="3429000" cy="2107613"/>
          </a:xfrm>
          <a:prstGeom prst="rect">
            <a:avLst/>
          </a:prstGeom>
        </p:spPr>
      </p:pic>
      <p:sp>
        <p:nvSpPr>
          <p:cNvPr id="8" name="Isosceles Triangle 7"/>
          <p:cNvSpPr/>
          <p:nvPr/>
        </p:nvSpPr>
        <p:spPr>
          <a:xfrm rot="10800000">
            <a:off x="16356330" y="63817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1811000" y="5276850"/>
            <a:ext cx="4953000" cy="1143000"/>
          </a:xfrm>
          <a:prstGeom prst="roundRect">
            <a:avLst>
              <a:gd name="adj" fmla="val 16666"/>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077700" y="5276850"/>
            <a:ext cx="4419600" cy="114300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Where am I? Let's teach me to keep track!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TODAY</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From blueprints to a robot that knows where it is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boxes.png"/>
          <p:cNvPicPr>
            <a:picLocks noChangeAspect="1"/>
          </p:cNvPicPr>
          <p:nvPr/>
        </p:nvPicPr>
        <p:blipFill>
          <a:blip r:embed="rId3"/>
          <a:stretch>
            <a:fillRect/>
          </a:stretch>
        </p:blipFill>
        <p:spPr>
          <a:xfrm>
            <a:off x="1257300" y="3238500"/>
            <a:ext cx="685800" cy="685800"/>
          </a:xfrm>
          <a:prstGeom prst="rect">
            <a:avLst/>
          </a:prstGeom>
        </p:spPr>
      </p:pic>
      <p:sp>
        <p:nvSpPr>
          <p:cNvPr id="7" name="TextBox 6"/>
          <p:cNvSpPr txBox="1"/>
          <p:nvPr/>
        </p:nvSpPr>
        <p:spPr>
          <a:xfrm>
            <a:off x="1257300"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01</a:t>
            </a:r>
          </a:p>
        </p:txBody>
      </p:sp>
      <p:sp>
        <p:nvSpPr>
          <p:cNvPr id="8" name="TextBox 7"/>
          <p:cNvSpPr txBox="1"/>
          <p:nvPr/>
        </p:nvSpPr>
        <p:spPr>
          <a:xfrm>
            <a:off x="125730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Classes and objects</a:t>
            </a:r>
          </a:p>
        </p:txBody>
      </p:sp>
      <p:sp>
        <p:nvSpPr>
          <p:cNvPr id="9" name="TextBox 8"/>
          <p:cNvSpPr txBox="1"/>
          <p:nvPr/>
        </p:nvSpPr>
        <p:spPr>
          <a:xfrm>
            <a:off x="125730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Blueprints, new, fields and methods</a:t>
            </a:r>
          </a:p>
        </p:txBody>
      </p:sp>
      <p:sp>
        <p:nvSpPr>
          <p:cNvPr id="10" name="Rounded Rectangle 9"/>
          <p:cNvSpPr/>
          <p:nvPr/>
        </p:nvSpPr>
        <p:spPr>
          <a:xfrm>
            <a:off x="4257675"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ontroller.png"/>
          <p:cNvPicPr>
            <a:picLocks noChangeAspect="1"/>
          </p:cNvPicPr>
          <p:nvPr/>
        </p:nvPicPr>
        <p:blipFill>
          <a:blip r:embed="rId4"/>
          <a:stretch>
            <a:fillRect/>
          </a:stretch>
        </p:blipFill>
        <p:spPr>
          <a:xfrm>
            <a:off x="4600575" y="3322820"/>
            <a:ext cx="685800" cy="517161"/>
          </a:xfrm>
          <a:prstGeom prst="rect">
            <a:avLst/>
          </a:prstGeom>
        </p:spPr>
      </p:pic>
      <p:sp>
        <p:nvSpPr>
          <p:cNvPr id="12" name="TextBox 11"/>
          <p:cNvSpPr txBox="1"/>
          <p:nvPr/>
        </p:nvSpPr>
        <p:spPr>
          <a:xfrm>
            <a:off x="4600575"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02</a:t>
            </a:r>
          </a:p>
        </p:txBody>
      </p:sp>
      <p:sp>
        <p:nvSpPr>
          <p:cNvPr id="13" name="TextBox 12"/>
          <p:cNvSpPr txBox="1"/>
          <p:nvPr/>
        </p:nvSpPr>
        <p:spPr>
          <a:xfrm>
            <a:off x="4600575"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Static and OI</a:t>
            </a:r>
          </a:p>
        </p:txBody>
      </p:sp>
      <p:sp>
        <p:nvSpPr>
          <p:cNvPr id="14" name="TextBox 13"/>
          <p:cNvSpPr txBox="1"/>
          <p:nvPr/>
        </p:nvSpPr>
        <p:spPr>
          <a:xfrm>
            <a:off x="4600575"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One class that owns the controls</a:t>
            </a:r>
          </a:p>
        </p:txBody>
      </p:sp>
      <p:sp>
        <p:nvSpPr>
          <p:cNvPr id="15" name="Rounded Rectangle 14"/>
          <p:cNvSpPr/>
          <p:nvPr/>
        </p:nvSpPr>
        <p:spPr>
          <a:xfrm>
            <a:off x="760095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tools.png"/>
          <p:cNvPicPr>
            <a:picLocks noChangeAspect="1"/>
          </p:cNvPicPr>
          <p:nvPr/>
        </p:nvPicPr>
        <p:blipFill>
          <a:blip r:embed="rId5"/>
          <a:stretch>
            <a:fillRect/>
          </a:stretch>
        </p:blipFill>
        <p:spPr>
          <a:xfrm>
            <a:off x="7943850" y="3238500"/>
            <a:ext cx="685800" cy="685800"/>
          </a:xfrm>
          <a:prstGeom prst="rect">
            <a:avLst/>
          </a:prstGeom>
        </p:spPr>
      </p:pic>
      <p:sp>
        <p:nvSpPr>
          <p:cNvPr id="17" name="TextBox 16"/>
          <p:cNvSpPr txBox="1"/>
          <p:nvPr/>
        </p:nvSpPr>
        <p:spPr>
          <a:xfrm>
            <a:off x="7943850"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03</a:t>
            </a:r>
          </a:p>
        </p:txBody>
      </p:sp>
      <p:sp>
        <p:nvSpPr>
          <p:cNvPr id="18" name="TextBox 17"/>
          <p:cNvSpPr txBox="1"/>
          <p:nvPr/>
        </p:nvSpPr>
        <p:spPr>
          <a:xfrm>
            <a:off x="794385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WPILib's classes</a:t>
            </a:r>
          </a:p>
        </p:txBody>
      </p:sp>
      <p:sp>
        <p:nvSpPr>
          <p:cNvPr id="19" name="TextBox 18"/>
          <p:cNvSpPr txBox="1"/>
          <p:nvPr/>
        </p:nvSpPr>
        <p:spPr>
          <a:xfrm>
            <a:off x="794385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Rotation2d, Pose2d, ChassisSpeeds</a:t>
            </a:r>
          </a:p>
        </p:txBody>
      </p:sp>
      <p:sp>
        <p:nvSpPr>
          <p:cNvPr id="20" name="Rounded Rectangle 19"/>
          <p:cNvSpPr/>
          <p:nvPr/>
        </p:nvSpPr>
        <p:spPr>
          <a:xfrm>
            <a:off x="10944225"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speedometer2.png"/>
          <p:cNvPicPr>
            <a:picLocks noChangeAspect="1"/>
          </p:cNvPicPr>
          <p:nvPr/>
        </p:nvPicPr>
        <p:blipFill>
          <a:blip r:embed="rId6"/>
          <a:stretch>
            <a:fillRect/>
          </a:stretch>
        </p:blipFill>
        <p:spPr>
          <a:xfrm>
            <a:off x="11287125" y="3322886"/>
            <a:ext cx="685800" cy="517029"/>
          </a:xfrm>
          <a:prstGeom prst="rect">
            <a:avLst/>
          </a:prstGeom>
        </p:spPr>
      </p:pic>
      <p:sp>
        <p:nvSpPr>
          <p:cNvPr id="22" name="TextBox 21"/>
          <p:cNvSpPr txBox="1"/>
          <p:nvPr/>
        </p:nvSpPr>
        <p:spPr>
          <a:xfrm>
            <a:off x="11287125"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04</a:t>
            </a:r>
          </a:p>
        </p:txBody>
      </p:sp>
      <p:sp>
        <p:nvSpPr>
          <p:cNvPr id="23" name="TextBox 22"/>
          <p:cNvSpPr txBox="1"/>
          <p:nvPr/>
        </p:nvSpPr>
        <p:spPr>
          <a:xfrm>
            <a:off x="11287125"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Kinematics and yaw</a:t>
            </a:r>
          </a:p>
        </p:txBody>
      </p:sp>
      <p:sp>
        <p:nvSpPr>
          <p:cNvPr id="24" name="TextBox 23"/>
          <p:cNvSpPr txBox="1"/>
          <p:nvPr/>
        </p:nvSpPr>
        <p:spPr>
          <a:xfrm>
            <a:off x="11287125"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Wheel speeds to robot speed and heading</a:t>
            </a:r>
          </a:p>
        </p:txBody>
      </p:sp>
      <p:sp>
        <p:nvSpPr>
          <p:cNvPr id="25" name="Rounded Rectangle 24"/>
          <p:cNvSpPr/>
          <p:nvPr/>
        </p:nvSpPr>
        <p:spPr>
          <a:xfrm>
            <a:off x="1428750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geo-alt.png"/>
          <p:cNvPicPr>
            <a:picLocks noChangeAspect="1"/>
          </p:cNvPicPr>
          <p:nvPr/>
        </p:nvPicPr>
        <p:blipFill>
          <a:blip r:embed="rId7"/>
          <a:stretch>
            <a:fillRect/>
          </a:stretch>
        </p:blipFill>
        <p:spPr>
          <a:xfrm>
            <a:off x="14716125" y="3238500"/>
            <a:ext cx="514350" cy="685800"/>
          </a:xfrm>
          <a:prstGeom prst="rect">
            <a:avLst/>
          </a:prstGeom>
        </p:spPr>
      </p:pic>
      <p:sp>
        <p:nvSpPr>
          <p:cNvPr id="27" name="TextBox 26"/>
          <p:cNvSpPr txBox="1"/>
          <p:nvPr/>
        </p:nvSpPr>
        <p:spPr>
          <a:xfrm>
            <a:off x="14630400"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05</a:t>
            </a:r>
          </a:p>
        </p:txBody>
      </p:sp>
      <p:sp>
        <p:nvSpPr>
          <p:cNvPr id="28" name="TextBox 27"/>
          <p:cNvSpPr txBox="1"/>
          <p:nvPr/>
        </p:nvSpPr>
        <p:spPr>
          <a:xfrm>
            <a:off x="1463040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Odometry</a:t>
            </a:r>
          </a:p>
        </p:txBody>
      </p:sp>
      <p:sp>
        <p:nvSpPr>
          <p:cNvPr id="29" name="TextBox 28"/>
          <p:cNvSpPr txBox="1"/>
          <p:nvPr/>
        </p:nvSpPr>
        <p:spPr>
          <a:xfrm>
            <a:off x="1463040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Adding up moves to find the pose</a:t>
            </a:r>
          </a:p>
        </p:txBody>
      </p:sp>
      <p:sp>
        <p:nvSpPr>
          <p:cNvPr id="30" name="Rounded Rectangle 29"/>
          <p:cNvSpPr/>
          <p:nvPr/>
        </p:nvSpPr>
        <p:spPr>
          <a:xfrm>
            <a:off x="914400" y="78105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robot.png"/>
          <p:cNvPicPr>
            <a:picLocks noChangeAspect="1"/>
          </p:cNvPicPr>
          <p:nvPr/>
        </p:nvPicPr>
        <p:blipFill>
          <a:blip r:embed="rId8"/>
          <a:stretch>
            <a:fillRect/>
          </a:stretch>
        </p:blipFill>
        <p:spPr>
          <a:xfrm>
            <a:off x="1333500" y="8067675"/>
            <a:ext cx="568960" cy="533400"/>
          </a:xfrm>
          <a:prstGeom prst="rect">
            <a:avLst/>
          </a:prstGeom>
        </p:spPr>
      </p:pic>
      <p:sp>
        <p:nvSpPr>
          <p:cNvPr id="32" name="TextBox 31"/>
          <p:cNvSpPr txBox="1"/>
          <p:nvPr/>
        </p:nvSpPr>
        <p:spPr>
          <a:xfrm>
            <a:off x="2190750" y="78105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By the end:  </a:t>
            </a:r>
            <a:r>
              <a:rPr sz="2100" b="0" i="0">
                <a:solidFill>
                  <a:srgbClr val="F0E8E8"/>
                </a:solidFill>
                <a:latin typeface="Geist"/>
                <a:ea typeface="Geist"/>
                <a:cs typeface="Geist"/>
              </a:rPr>
              <a:t>the robot drives itself to x = 3 meters, using its own idea of where it is.</a:t>
            </a:r>
          </a:p>
        </p:txBody>
      </p:sp>
      <p:sp>
        <p:nvSpPr>
          <p:cNvPr id="33" name="TextBox 3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4" name="TextBox 3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01</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Classes and objects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Blueprints, and the things you build from them</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I'm an object too! Built from a blueprint, just like the gamepad.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CLASSES AND OBJECTS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problem: lots of robots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7239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One robot</a:t>
            </a:r>
          </a:p>
        </p:txBody>
      </p:sp>
      <p:sp>
        <p:nvSpPr>
          <p:cNvPr id="6" name="Rounded Rectangle 5"/>
          <p:cNvSpPr/>
          <p:nvPr/>
        </p:nvSpPr>
        <p:spPr>
          <a:xfrm>
            <a:off x="914400" y="3276600"/>
            <a:ext cx="7239000" cy="2042160"/>
          </a:xfrm>
          <a:prstGeom prst="roundRect">
            <a:avLst>
              <a:gd name="adj" fmla="val 7462"/>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5400" y="3657600"/>
            <a:ext cx="6705600" cy="42672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int</a:t>
            </a:r>
            <a:r>
              <a:rPr sz="2100" b="0" i="0">
                <a:solidFill>
                  <a:srgbClr val="F0E8E8"/>
                </a:solidFill>
                <a:latin typeface="Geist Mono"/>
                <a:ea typeface="Geist Mono"/>
                <a:cs typeface="Geist Mono"/>
              </a:rPr>
              <a:t> team_number = </a:t>
            </a:r>
            <a:r>
              <a:rPr sz="2100" b="0" i="0">
                <a:solidFill>
                  <a:srgbClr val="E8C27A"/>
                </a:solidFill>
                <a:latin typeface="Geist Mono"/>
                <a:ea typeface="Geist Mono"/>
                <a:cs typeface="Geist Mono"/>
              </a:rPr>
              <a:t>4143</a:t>
            </a:r>
            <a:r>
              <a:rPr sz="2100" b="0" i="0">
                <a:solidFill>
                  <a:srgbClr val="F0E8E8"/>
                </a:solidFill>
                <a:latin typeface="Geist Mono"/>
                <a:ea typeface="Geist Mono"/>
                <a:cs typeface="Geist Mono"/>
              </a:rPr>
              <a:t>;</a:t>
            </a:r>
          </a:p>
        </p:txBody>
      </p:sp>
      <p:sp>
        <p:nvSpPr>
          <p:cNvPr id="8" name="TextBox 7"/>
          <p:cNvSpPr txBox="1"/>
          <p:nvPr/>
        </p:nvSpPr>
        <p:spPr>
          <a:xfrm>
            <a:off x="1295400" y="4084320"/>
            <a:ext cx="6705600" cy="42672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int</a:t>
            </a:r>
            <a:r>
              <a:rPr sz="2100" b="0" i="0">
                <a:solidFill>
                  <a:srgbClr val="F0E8E8"/>
                </a:solidFill>
                <a:latin typeface="Geist Mono"/>
                <a:ea typeface="Geist Mono"/>
                <a:cs typeface="Geist Mono"/>
              </a:rPr>
              <a:t> balls_scored = </a:t>
            </a:r>
            <a:r>
              <a:rPr sz="2100" b="0" i="0">
                <a:solidFill>
                  <a:srgbClr val="E8C27A"/>
                </a:solidFill>
                <a:latin typeface="Geist Mono"/>
                <a:ea typeface="Geist Mono"/>
                <a:cs typeface="Geist Mono"/>
              </a:rPr>
              <a:t>20</a:t>
            </a:r>
            <a:r>
              <a:rPr sz="2100" b="0" i="0">
                <a:solidFill>
                  <a:srgbClr val="F0E8E8"/>
                </a:solidFill>
                <a:latin typeface="Geist Mono"/>
                <a:ea typeface="Geist Mono"/>
                <a:cs typeface="Geist Mono"/>
              </a:rPr>
              <a:t>;</a:t>
            </a:r>
          </a:p>
        </p:txBody>
      </p:sp>
      <p:sp>
        <p:nvSpPr>
          <p:cNvPr id="9" name="TextBox 8"/>
          <p:cNvSpPr txBox="1"/>
          <p:nvPr/>
        </p:nvSpPr>
        <p:spPr>
          <a:xfrm>
            <a:off x="1295400" y="4511040"/>
            <a:ext cx="6705600" cy="42672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int</a:t>
            </a:r>
            <a:r>
              <a:rPr sz="2100" b="0" i="0">
                <a:solidFill>
                  <a:srgbClr val="F0E8E8"/>
                </a:solidFill>
                <a:latin typeface="Geist Mono"/>
                <a:ea typeface="Geist Mono"/>
                <a:cs typeface="Geist Mono"/>
              </a:rPr>
              <a:t> endgame_points = </a:t>
            </a:r>
            <a:r>
              <a:rPr sz="2100" b="0" i="0">
                <a:solidFill>
                  <a:srgbClr val="E8C27A"/>
                </a:solidFill>
                <a:latin typeface="Geist Mono"/>
                <a:ea typeface="Geist Mono"/>
                <a:cs typeface="Geist Mono"/>
              </a:rPr>
              <a:t>15</a:t>
            </a:r>
            <a:r>
              <a:rPr sz="2100" b="0" i="0">
                <a:solidFill>
                  <a:srgbClr val="F0E8E8"/>
                </a:solidFill>
                <a:latin typeface="Geist Mono"/>
                <a:ea typeface="Geist Mono"/>
                <a:cs typeface="Geist Mono"/>
              </a:rPr>
              <a:t>;</a:t>
            </a:r>
          </a:p>
        </p:txBody>
      </p:sp>
      <p:sp>
        <p:nvSpPr>
          <p:cNvPr id="10" name="TextBox 9"/>
          <p:cNvSpPr txBox="1"/>
          <p:nvPr/>
        </p:nvSpPr>
        <p:spPr>
          <a:xfrm>
            <a:off x="914400" y="5619750"/>
            <a:ext cx="7239000" cy="1333500"/>
          </a:xfrm>
          <a:prstGeom prst="rect">
            <a:avLst/>
          </a:prstGeom>
          <a:noFill/>
        </p:spPr>
        <p:txBody>
          <a:bodyPr wrap="square" lIns="0" rIns="0" tIns="0" bIns="0" anchor="t">
            <a:spAutoFit/>
          </a:bodyPr>
          <a:lstStyle/>
          <a:p>
            <a:pPr algn="l">
              <a:lnSpc>
                <a:spcPct val="130000"/>
              </a:lnSpc>
            </a:pPr>
            <a:r>
              <a:rPr sz="2100" b="0" i="0">
                <a:solidFill>
                  <a:srgbClr val="9A7878"/>
                </a:solidFill>
                <a:latin typeface="Geist"/>
                <a:ea typeface="Geist"/>
                <a:cs typeface="Geist"/>
              </a:rPr>
              <a:t>Three variables for one robot. Fine so far.</a:t>
            </a:r>
          </a:p>
        </p:txBody>
      </p:sp>
      <p:sp>
        <p:nvSpPr>
          <p:cNvPr id="11" name="Rounded Rectangle 10"/>
          <p:cNvSpPr/>
          <p:nvPr/>
        </p:nvSpPr>
        <p:spPr>
          <a:xfrm>
            <a:off x="8953500" y="2857500"/>
            <a:ext cx="8420100" cy="1333500"/>
          </a:xfrm>
          <a:prstGeom prst="roundRect">
            <a:avLst>
              <a:gd name="adj" fmla="val 1142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34500" y="2857500"/>
            <a:ext cx="1905000" cy="1333500"/>
          </a:xfrm>
          <a:prstGeom prst="rect">
            <a:avLst/>
          </a:prstGeom>
          <a:noFill/>
        </p:spPr>
        <p:txBody>
          <a:bodyPr wrap="square" lIns="0" rIns="0" tIns="0" bIns="0" anchor="ctr">
            <a:spAutoFit/>
          </a:bodyPr>
          <a:lstStyle/>
          <a:p>
            <a:pPr algn="l"/>
            <a:r>
              <a:rPr sz="4800" b="1" i="0">
                <a:solidFill>
                  <a:srgbClr val="E8C27A"/>
                </a:solidFill>
                <a:latin typeface="Geist Mono"/>
                <a:ea typeface="Geist Mono"/>
                <a:cs typeface="Geist Mono"/>
              </a:rPr>
              <a:t>3</a:t>
            </a:r>
          </a:p>
        </p:txBody>
      </p:sp>
      <p:sp>
        <p:nvSpPr>
          <p:cNvPr id="13" name="TextBox 12"/>
          <p:cNvSpPr txBox="1"/>
          <p:nvPr/>
        </p:nvSpPr>
        <p:spPr>
          <a:xfrm>
            <a:off x="11430000" y="3105150"/>
            <a:ext cx="5715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1 robot</a:t>
            </a:r>
          </a:p>
        </p:txBody>
      </p:sp>
      <p:sp>
        <p:nvSpPr>
          <p:cNvPr id="14" name="TextBox 13"/>
          <p:cNvSpPr txBox="1"/>
          <p:nvPr/>
        </p:nvSpPr>
        <p:spPr>
          <a:xfrm>
            <a:off x="11430000" y="3581400"/>
            <a:ext cx="5715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variables, each with its own name</a:t>
            </a:r>
          </a:p>
        </p:txBody>
      </p:sp>
      <p:sp>
        <p:nvSpPr>
          <p:cNvPr id="15" name="Rounded Rectangle 14"/>
          <p:cNvSpPr/>
          <p:nvPr/>
        </p:nvSpPr>
        <p:spPr>
          <a:xfrm>
            <a:off x="8953500" y="4381500"/>
            <a:ext cx="8420100" cy="1333500"/>
          </a:xfrm>
          <a:prstGeom prst="roundRect">
            <a:avLst>
              <a:gd name="adj" fmla="val 1142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34500" y="4381500"/>
            <a:ext cx="1905000" cy="1333500"/>
          </a:xfrm>
          <a:prstGeom prst="rect">
            <a:avLst/>
          </a:prstGeom>
          <a:noFill/>
        </p:spPr>
        <p:txBody>
          <a:bodyPr wrap="square" lIns="0" rIns="0" tIns="0" bIns="0" anchor="ctr">
            <a:spAutoFit/>
          </a:bodyPr>
          <a:lstStyle/>
          <a:p>
            <a:pPr algn="l"/>
            <a:r>
              <a:rPr sz="4800" b="1" i="0">
                <a:solidFill>
                  <a:srgbClr val="E8C27A"/>
                </a:solidFill>
                <a:latin typeface="Geist Mono"/>
                <a:ea typeface="Geist Mono"/>
                <a:cs typeface="Geist Mono"/>
              </a:rPr>
              <a:t>18</a:t>
            </a:r>
          </a:p>
        </p:txBody>
      </p:sp>
      <p:sp>
        <p:nvSpPr>
          <p:cNvPr id="17" name="TextBox 16"/>
          <p:cNvSpPr txBox="1"/>
          <p:nvPr/>
        </p:nvSpPr>
        <p:spPr>
          <a:xfrm>
            <a:off x="11430000" y="4629150"/>
            <a:ext cx="5715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6 robots in a match</a:t>
            </a:r>
          </a:p>
        </p:txBody>
      </p:sp>
      <p:sp>
        <p:nvSpPr>
          <p:cNvPr id="18" name="TextBox 17"/>
          <p:cNvSpPr txBox="1"/>
          <p:nvPr/>
        </p:nvSpPr>
        <p:spPr>
          <a:xfrm>
            <a:off x="11430000" y="5105400"/>
            <a:ext cx="5715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variables, each with its own name</a:t>
            </a:r>
          </a:p>
        </p:txBody>
      </p:sp>
      <p:sp>
        <p:nvSpPr>
          <p:cNvPr id="19" name="Rounded Rectangle 18"/>
          <p:cNvSpPr/>
          <p:nvPr/>
        </p:nvSpPr>
        <p:spPr>
          <a:xfrm>
            <a:off x="8953500" y="5905500"/>
            <a:ext cx="8420100" cy="1333500"/>
          </a:xfrm>
          <a:prstGeom prst="roundRect">
            <a:avLst>
              <a:gd name="adj" fmla="val 11428"/>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34500" y="5905500"/>
            <a:ext cx="1905000" cy="1333500"/>
          </a:xfrm>
          <a:prstGeom prst="rect">
            <a:avLst/>
          </a:prstGeom>
          <a:noFill/>
        </p:spPr>
        <p:txBody>
          <a:bodyPr wrap="square" lIns="0" rIns="0" tIns="0" bIns="0" anchor="ctr">
            <a:spAutoFit/>
          </a:bodyPr>
          <a:lstStyle/>
          <a:p>
            <a:pPr algn="l"/>
            <a:r>
              <a:rPr sz="4800" b="1" i="0">
                <a:solidFill>
                  <a:srgbClr val="CC2200"/>
                </a:solidFill>
                <a:latin typeface="Geist Mono"/>
                <a:ea typeface="Geist Mono"/>
                <a:cs typeface="Geist Mono"/>
              </a:rPr>
              <a:t>150</a:t>
            </a:r>
          </a:p>
        </p:txBody>
      </p:sp>
      <p:sp>
        <p:nvSpPr>
          <p:cNvPr id="21" name="TextBox 20"/>
          <p:cNvSpPr txBox="1"/>
          <p:nvPr/>
        </p:nvSpPr>
        <p:spPr>
          <a:xfrm>
            <a:off x="11430000" y="6153150"/>
            <a:ext cx="5715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50 robots at an event</a:t>
            </a:r>
          </a:p>
        </p:txBody>
      </p:sp>
      <p:sp>
        <p:nvSpPr>
          <p:cNvPr id="22" name="TextBox 21"/>
          <p:cNvSpPr txBox="1"/>
          <p:nvPr/>
        </p:nvSpPr>
        <p:spPr>
          <a:xfrm>
            <a:off x="11430000" y="6629400"/>
            <a:ext cx="5715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variables, each with its own name</a:t>
            </a:r>
          </a:p>
        </p:txBody>
      </p:sp>
      <p:sp>
        <p:nvSpPr>
          <p:cNvPr id="23" name="Rounded Rectangle 22"/>
          <p:cNvSpPr/>
          <p:nvPr/>
        </p:nvSpPr>
        <p:spPr>
          <a:xfrm>
            <a:off x="914400" y="78105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lightbulb.png"/>
          <p:cNvPicPr>
            <a:picLocks noChangeAspect="1"/>
          </p:cNvPicPr>
          <p:nvPr/>
        </p:nvPicPr>
        <p:blipFill>
          <a:blip r:embed="rId3"/>
          <a:stretch>
            <a:fillRect/>
          </a:stretch>
        </p:blipFill>
        <p:spPr>
          <a:xfrm>
            <a:off x="1333500" y="8067675"/>
            <a:ext cx="400050" cy="533400"/>
          </a:xfrm>
          <a:prstGeom prst="rect">
            <a:avLst/>
          </a:prstGeom>
        </p:spPr>
      </p:pic>
      <p:sp>
        <p:nvSpPr>
          <p:cNvPr id="25" name="TextBox 24"/>
          <p:cNvSpPr txBox="1"/>
          <p:nvPr/>
        </p:nvSpPr>
        <p:spPr>
          <a:xfrm>
            <a:off x="2190750" y="78105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Better:  </a:t>
            </a:r>
            <a:r>
              <a:rPr sz="2100" b="0" i="0">
                <a:solidFill>
                  <a:srgbClr val="F0E8E8"/>
                </a:solidFill>
                <a:latin typeface="Geist"/>
                <a:ea typeface="Geist"/>
                <a:cs typeface="Geist"/>
              </a:rPr>
              <a:t>describe a robot once, then make as many as you need. That description is a class.</a:t>
            </a:r>
          </a:p>
        </p:txBody>
      </p:sp>
      <p:sp>
        <p:nvSpPr>
          <p:cNvPr id="26" name="TextBox 2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7" name="TextBox 2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CLASSES AND OBJECTS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Class vs object: blueprint vs built thing</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6096000" cy="5715000"/>
          </a:xfrm>
          <a:prstGeom prst="roundRect">
            <a:avLst>
              <a:gd name="adj" fmla="val 2666"/>
            </a:avLst>
          </a:prstGeom>
          <a:solidFill>
            <a:srgbClr val="111111"/>
          </a:solidFill>
          <a:ln w="28575">
            <a:solidFill>
              <a:srgbClr val="9A78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200400"/>
            <a:ext cx="5334000" cy="285750"/>
          </a:xfrm>
          <a:prstGeom prst="rect">
            <a:avLst/>
          </a:prstGeom>
          <a:noFill/>
        </p:spPr>
        <p:txBody>
          <a:bodyPr wrap="square" lIns="0" rIns="0" tIns="0" bIns="0" anchor="t">
            <a:spAutoFit/>
          </a:bodyPr>
          <a:lstStyle/>
          <a:p>
            <a:pPr algn="l"/>
            <a:r>
              <a:rPr sz="1650" b="1" i="0" spc="130">
                <a:solidFill>
                  <a:srgbClr val="9A7878"/>
                </a:solidFill>
                <a:latin typeface="Geist"/>
                <a:ea typeface="Geist"/>
                <a:cs typeface="Geist"/>
              </a:rPr>
              <a:t>CLASS: THE BLUEPRINT</a:t>
            </a:r>
          </a:p>
        </p:txBody>
      </p:sp>
      <p:sp>
        <p:nvSpPr>
          <p:cNvPr id="7" name="TextBox 6"/>
          <p:cNvSpPr txBox="1"/>
          <p:nvPr/>
        </p:nvSpPr>
        <p:spPr>
          <a:xfrm>
            <a:off x="1295400" y="3676650"/>
            <a:ext cx="5334000" cy="571500"/>
          </a:xfrm>
          <a:prstGeom prst="rect">
            <a:avLst/>
          </a:prstGeom>
          <a:noFill/>
        </p:spPr>
        <p:txBody>
          <a:bodyPr wrap="square" lIns="0" rIns="0" tIns="0" bIns="0" anchor="t">
            <a:spAutoFit/>
          </a:bodyPr>
          <a:lstStyle/>
          <a:p>
            <a:pPr algn="l"/>
            <a:r>
              <a:rPr sz="3000" b="1" i="0">
                <a:solidFill>
                  <a:srgbClr val="F0E8E8"/>
                </a:solidFill>
                <a:latin typeface="Geist Mono"/>
                <a:ea typeface="Geist Mono"/>
                <a:cs typeface="Geist Mono"/>
              </a:rPr>
              <a:t>class Team</a:t>
            </a:r>
          </a:p>
        </p:txBody>
      </p:sp>
      <p:pic>
        <p:nvPicPr>
          <p:cNvPr id="8" name="Picture 7" descr="house.png"/>
          <p:cNvPicPr>
            <a:picLocks noChangeAspect="1"/>
          </p:cNvPicPr>
          <p:nvPr/>
        </p:nvPicPr>
        <p:blipFill>
          <a:blip r:embed="rId3"/>
          <a:stretch>
            <a:fillRect/>
          </a:stretch>
        </p:blipFill>
        <p:spPr>
          <a:xfrm>
            <a:off x="5781589" y="3619500"/>
            <a:ext cx="724072" cy="666750"/>
          </a:xfrm>
          <a:prstGeom prst="rect">
            <a:avLst/>
          </a:prstGeom>
        </p:spPr>
      </p:pic>
      <p:sp>
        <p:nvSpPr>
          <p:cNvPr id="9" name="Rounded Rectangle 8"/>
          <p:cNvSpPr/>
          <p:nvPr/>
        </p:nvSpPr>
        <p:spPr>
          <a:xfrm>
            <a:off x="1295400" y="4667250"/>
            <a:ext cx="5334000" cy="857250"/>
          </a:xfrm>
          <a:prstGeom prst="roundRect">
            <a:avLst>
              <a:gd name="adj" fmla="val 13333"/>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581150" y="4667250"/>
            <a:ext cx="2857500" cy="857250"/>
          </a:xfrm>
          <a:prstGeom prst="rect">
            <a:avLst/>
          </a:prstGeom>
          <a:noFill/>
        </p:spPr>
        <p:txBody>
          <a:bodyPr wrap="square" lIns="0" rIns="0" tIns="0" bIns="0" anchor="ctr">
            <a:spAutoFit/>
          </a:bodyPr>
          <a:lstStyle/>
          <a:p>
            <a:pPr algn="l"/>
            <a:r>
              <a:rPr sz="1950" b="0" i="0">
                <a:solidFill>
                  <a:srgbClr val="E8C27A"/>
                </a:solidFill>
                <a:latin typeface="Geist Mono"/>
                <a:ea typeface="Geist Mono"/>
                <a:cs typeface="Geist Mono"/>
              </a:rPr>
              <a:t>team_number_</a:t>
            </a:r>
          </a:p>
        </p:txBody>
      </p:sp>
      <p:sp>
        <p:nvSpPr>
          <p:cNvPr id="11" name="TextBox 10"/>
          <p:cNvSpPr txBox="1"/>
          <p:nvPr/>
        </p:nvSpPr>
        <p:spPr>
          <a:xfrm>
            <a:off x="4476750" y="4667250"/>
            <a:ext cx="2000250" cy="857250"/>
          </a:xfrm>
          <a:prstGeom prst="rect">
            <a:avLst/>
          </a:prstGeom>
          <a:noFill/>
        </p:spPr>
        <p:txBody>
          <a:bodyPr wrap="square" lIns="0" rIns="0" tIns="0" bIns="0" anchor="ctr">
            <a:spAutoFit/>
          </a:bodyPr>
          <a:lstStyle/>
          <a:p>
            <a:pPr algn="l"/>
            <a:r>
              <a:rPr sz="1650" b="0" i="0">
                <a:solidFill>
                  <a:srgbClr val="9A7878"/>
                </a:solidFill>
                <a:latin typeface="Geist"/>
                <a:ea typeface="Geist"/>
                <a:cs typeface="Geist"/>
              </a:rPr>
              <a:t>a number</a:t>
            </a:r>
          </a:p>
        </p:txBody>
      </p:sp>
      <p:sp>
        <p:nvSpPr>
          <p:cNvPr id="12" name="Rounded Rectangle 11"/>
          <p:cNvSpPr/>
          <p:nvPr/>
        </p:nvSpPr>
        <p:spPr>
          <a:xfrm>
            <a:off x="1295400" y="5715000"/>
            <a:ext cx="5334000" cy="857250"/>
          </a:xfrm>
          <a:prstGeom prst="roundRect">
            <a:avLst>
              <a:gd name="adj" fmla="val 13333"/>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581150" y="5715000"/>
            <a:ext cx="2857500" cy="857250"/>
          </a:xfrm>
          <a:prstGeom prst="rect">
            <a:avLst/>
          </a:prstGeom>
          <a:noFill/>
        </p:spPr>
        <p:txBody>
          <a:bodyPr wrap="square" lIns="0" rIns="0" tIns="0" bIns="0" anchor="ctr">
            <a:spAutoFit/>
          </a:bodyPr>
          <a:lstStyle/>
          <a:p>
            <a:pPr algn="l"/>
            <a:r>
              <a:rPr sz="1950" b="0" i="0">
                <a:solidFill>
                  <a:srgbClr val="E8C27A"/>
                </a:solidFill>
                <a:latin typeface="Geist Mono"/>
                <a:ea typeface="Geist Mono"/>
                <a:cs typeface="Geist Mono"/>
              </a:rPr>
              <a:t>balls_scored_</a:t>
            </a:r>
          </a:p>
        </p:txBody>
      </p:sp>
      <p:sp>
        <p:nvSpPr>
          <p:cNvPr id="14" name="TextBox 13"/>
          <p:cNvSpPr txBox="1"/>
          <p:nvPr/>
        </p:nvSpPr>
        <p:spPr>
          <a:xfrm>
            <a:off x="4476750" y="5715000"/>
            <a:ext cx="2000250" cy="857250"/>
          </a:xfrm>
          <a:prstGeom prst="rect">
            <a:avLst/>
          </a:prstGeom>
          <a:noFill/>
        </p:spPr>
        <p:txBody>
          <a:bodyPr wrap="square" lIns="0" rIns="0" tIns="0" bIns="0" anchor="ctr">
            <a:spAutoFit/>
          </a:bodyPr>
          <a:lstStyle/>
          <a:p>
            <a:pPr algn="l"/>
            <a:r>
              <a:rPr sz="1650" b="0" i="0">
                <a:solidFill>
                  <a:srgbClr val="9A7878"/>
                </a:solidFill>
                <a:latin typeface="Geist"/>
                <a:ea typeface="Geist"/>
                <a:cs typeface="Geist"/>
              </a:rPr>
              <a:t>a number</a:t>
            </a:r>
          </a:p>
        </p:txBody>
      </p:sp>
      <p:sp>
        <p:nvSpPr>
          <p:cNvPr id="15" name="Rounded Rectangle 14"/>
          <p:cNvSpPr/>
          <p:nvPr/>
        </p:nvSpPr>
        <p:spPr>
          <a:xfrm>
            <a:off x="1295400" y="6762750"/>
            <a:ext cx="5334000" cy="857250"/>
          </a:xfrm>
          <a:prstGeom prst="roundRect">
            <a:avLst>
              <a:gd name="adj" fmla="val 13333"/>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581150" y="6762750"/>
            <a:ext cx="2857500" cy="857250"/>
          </a:xfrm>
          <a:prstGeom prst="rect">
            <a:avLst/>
          </a:prstGeom>
          <a:noFill/>
        </p:spPr>
        <p:txBody>
          <a:bodyPr wrap="square" lIns="0" rIns="0" tIns="0" bIns="0" anchor="ctr">
            <a:spAutoFit/>
          </a:bodyPr>
          <a:lstStyle/>
          <a:p>
            <a:pPr algn="l"/>
            <a:r>
              <a:rPr sz="1950" b="0" i="0">
                <a:solidFill>
                  <a:srgbClr val="E05540"/>
                </a:solidFill>
                <a:latin typeface="Geist Mono"/>
                <a:ea typeface="Geist Mono"/>
                <a:cs typeface="Geist Mono"/>
              </a:rPr>
              <a:t>scoreBall()</a:t>
            </a:r>
          </a:p>
        </p:txBody>
      </p:sp>
      <p:sp>
        <p:nvSpPr>
          <p:cNvPr id="17" name="TextBox 16"/>
          <p:cNvSpPr txBox="1"/>
          <p:nvPr/>
        </p:nvSpPr>
        <p:spPr>
          <a:xfrm>
            <a:off x="4476750" y="6762750"/>
            <a:ext cx="2000250" cy="857250"/>
          </a:xfrm>
          <a:prstGeom prst="rect">
            <a:avLst/>
          </a:prstGeom>
          <a:noFill/>
        </p:spPr>
        <p:txBody>
          <a:bodyPr wrap="square" lIns="0" rIns="0" tIns="0" bIns="0" anchor="ctr">
            <a:spAutoFit/>
          </a:bodyPr>
          <a:lstStyle/>
          <a:p>
            <a:pPr algn="l"/>
            <a:r>
              <a:rPr sz="1650" b="0" i="0">
                <a:solidFill>
                  <a:srgbClr val="9A7878"/>
                </a:solidFill>
                <a:latin typeface="Geist"/>
                <a:ea typeface="Geist"/>
                <a:cs typeface="Geist"/>
              </a:rPr>
              <a:t>something it can do</a:t>
            </a:r>
          </a:p>
        </p:txBody>
      </p:sp>
      <p:sp>
        <p:nvSpPr>
          <p:cNvPr id="18" name="TextBox 17"/>
          <p:cNvSpPr txBox="1"/>
          <p:nvPr/>
        </p:nvSpPr>
        <p:spPr>
          <a:xfrm>
            <a:off x="1295400" y="7943850"/>
            <a:ext cx="5334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Says what every team has.</a:t>
            </a:r>
          </a:p>
        </p:txBody>
      </p:sp>
      <p:sp>
        <p:nvSpPr>
          <p:cNvPr id="19" name="Rounded Rectangle 18"/>
          <p:cNvSpPr/>
          <p:nvPr/>
        </p:nvSpPr>
        <p:spPr>
          <a:xfrm>
            <a:off x="9525000" y="2857500"/>
            <a:ext cx="7848600" cy="1714500"/>
          </a:xfrm>
          <a:prstGeom prst="roundRect">
            <a:avLst>
              <a:gd name="adj" fmla="val 8888"/>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house.png"/>
          <p:cNvPicPr>
            <a:picLocks noChangeAspect="1"/>
          </p:cNvPicPr>
          <p:nvPr/>
        </p:nvPicPr>
        <p:blipFill>
          <a:blip r:embed="rId3"/>
          <a:stretch>
            <a:fillRect/>
          </a:stretch>
        </p:blipFill>
        <p:spPr>
          <a:xfrm>
            <a:off x="9882769" y="3333750"/>
            <a:ext cx="827511" cy="762000"/>
          </a:xfrm>
          <a:prstGeom prst="rect">
            <a:avLst/>
          </a:prstGeom>
        </p:spPr>
      </p:pic>
      <p:sp>
        <p:nvSpPr>
          <p:cNvPr id="21" name="TextBox 20"/>
          <p:cNvSpPr txBox="1"/>
          <p:nvPr/>
        </p:nvSpPr>
        <p:spPr>
          <a:xfrm>
            <a:off x="11049000" y="3086100"/>
            <a:ext cx="6096000" cy="476250"/>
          </a:xfrm>
          <a:prstGeom prst="rect">
            <a:avLst/>
          </a:prstGeom>
          <a:noFill/>
        </p:spPr>
        <p:txBody>
          <a:bodyPr wrap="square" lIns="0" rIns="0" tIns="0" bIns="0" anchor="t">
            <a:spAutoFit/>
          </a:bodyPr>
          <a:lstStyle/>
          <a:p>
            <a:pPr algn="l"/>
            <a:r>
              <a:rPr sz="2550" b="1" i="0">
                <a:solidFill>
                  <a:srgbClr val="F0E8E8"/>
                </a:solidFill>
                <a:latin typeface="Geist Mono"/>
                <a:ea typeface="Geist Mono"/>
                <a:cs typeface="Geist Mono"/>
              </a:rPr>
              <a:t>mars</a:t>
            </a:r>
          </a:p>
        </p:txBody>
      </p:sp>
      <p:sp>
        <p:nvSpPr>
          <p:cNvPr id="22" name="TextBox 21"/>
          <p:cNvSpPr txBox="1"/>
          <p:nvPr/>
        </p:nvSpPr>
        <p:spPr>
          <a:xfrm>
            <a:off x="11049000" y="3676650"/>
            <a:ext cx="6096000" cy="381000"/>
          </a:xfrm>
          <a:prstGeom prst="rect">
            <a:avLst/>
          </a:prstGeom>
          <a:noFill/>
        </p:spPr>
        <p:txBody>
          <a:bodyPr wrap="square" lIns="0" rIns="0" tIns="0" bIns="0" anchor="t">
            <a:spAutoFit/>
          </a:bodyPr>
          <a:lstStyle/>
          <a:p>
            <a:pPr algn="l"/>
            <a:r>
              <a:rPr sz="1800" b="0" i="0">
                <a:solidFill>
                  <a:srgbClr val="9A7878"/>
                </a:solidFill>
                <a:latin typeface="Geist Mono"/>
                <a:ea typeface="Geist Mono"/>
                <a:cs typeface="Geist Mono"/>
              </a:rPr>
              <a:t>team_number_ = </a:t>
            </a:r>
            <a:r>
              <a:rPr sz="1800" b="0" i="0">
                <a:solidFill>
                  <a:srgbClr val="E8C27A"/>
                </a:solidFill>
                <a:latin typeface="Geist Mono"/>
                <a:ea typeface="Geist Mono"/>
                <a:cs typeface="Geist Mono"/>
              </a:rPr>
              <a:t>4143</a:t>
            </a:r>
          </a:p>
        </p:txBody>
      </p:sp>
      <p:sp>
        <p:nvSpPr>
          <p:cNvPr id="23" name="TextBox 22"/>
          <p:cNvSpPr txBox="1"/>
          <p:nvPr/>
        </p:nvSpPr>
        <p:spPr>
          <a:xfrm>
            <a:off x="11049000" y="4038600"/>
            <a:ext cx="6096000" cy="381000"/>
          </a:xfrm>
          <a:prstGeom prst="rect">
            <a:avLst/>
          </a:prstGeom>
          <a:noFill/>
        </p:spPr>
        <p:txBody>
          <a:bodyPr wrap="square" lIns="0" rIns="0" tIns="0" bIns="0" anchor="t">
            <a:spAutoFit/>
          </a:bodyPr>
          <a:lstStyle/>
          <a:p>
            <a:pPr algn="l"/>
            <a:r>
              <a:rPr sz="1800" b="0" i="0">
                <a:solidFill>
                  <a:srgbClr val="9A7878"/>
                </a:solidFill>
                <a:latin typeface="Geist Mono"/>
                <a:ea typeface="Geist Mono"/>
                <a:cs typeface="Geist Mono"/>
              </a:rPr>
              <a:t>balls_scored_ = </a:t>
            </a:r>
            <a:r>
              <a:rPr sz="1800" b="0" i="0">
                <a:solidFill>
                  <a:srgbClr val="E8C27A"/>
                </a:solidFill>
                <a:latin typeface="Geist Mono"/>
                <a:ea typeface="Geist Mono"/>
                <a:cs typeface="Geist Mono"/>
              </a:rPr>
              <a:t>20</a:t>
            </a:r>
          </a:p>
        </p:txBody>
      </p:sp>
      <p:cxnSp>
        <p:nvCxnSpPr>
          <p:cNvPr id="24" name="Connector 23"/>
          <p:cNvCxnSpPr/>
          <p:nvPr/>
        </p:nvCxnSpPr>
        <p:spPr>
          <a:xfrm flipV="1">
            <a:off x="7086600" y="3714750"/>
            <a:ext cx="2343150" cy="200025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25000" y="4857750"/>
            <a:ext cx="7848600" cy="1714500"/>
          </a:xfrm>
          <a:prstGeom prst="roundRect">
            <a:avLst>
              <a:gd name="adj" fmla="val 888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house.png"/>
          <p:cNvPicPr>
            <a:picLocks noChangeAspect="1"/>
          </p:cNvPicPr>
          <p:nvPr/>
        </p:nvPicPr>
        <p:blipFill>
          <a:blip r:embed="rId3"/>
          <a:stretch>
            <a:fillRect/>
          </a:stretch>
        </p:blipFill>
        <p:spPr>
          <a:xfrm>
            <a:off x="9882769" y="5334000"/>
            <a:ext cx="827511" cy="762000"/>
          </a:xfrm>
          <a:prstGeom prst="rect">
            <a:avLst/>
          </a:prstGeom>
        </p:spPr>
      </p:pic>
      <p:sp>
        <p:nvSpPr>
          <p:cNvPr id="27" name="TextBox 26"/>
          <p:cNvSpPr txBox="1"/>
          <p:nvPr/>
        </p:nvSpPr>
        <p:spPr>
          <a:xfrm>
            <a:off x="11049000" y="5086350"/>
            <a:ext cx="6096000" cy="476250"/>
          </a:xfrm>
          <a:prstGeom prst="rect">
            <a:avLst/>
          </a:prstGeom>
          <a:noFill/>
        </p:spPr>
        <p:txBody>
          <a:bodyPr wrap="square" lIns="0" rIns="0" tIns="0" bIns="0" anchor="t">
            <a:spAutoFit/>
          </a:bodyPr>
          <a:lstStyle/>
          <a:p>
            <a:pPr algn="l"/>
            <a:r>
              <a:rPr sz="2550" b="1" i="0">
                <a:solidFill>
                  <a:srgbClr val="F0E8E8"/>
                </a:solidFill>
                <a:latin typeface="Geist Mono"/>
                <a:ea typeface="Geist Mono"/>
                <a:cs typeface="Geist Mono"/>
              </a:rPr>
              <a:t>citrus</a:t>
            </a:r>
          </a:p>
        </p:txBody>
      </p:sp>
      <p:sp>
        <p:nvSpPr>
          <p:cNvPr id="28" name="TextBox 27"/>
          <p:cNvSpPr txBox="1"/>
          <p:nvPr/>
        </p:nvSpPr>
        <p:spPr>
          <a:xfrm>
            <a:off x="11049000" y="5676900"/>
            <a:ext cx="6096000" cy="381000"/>
          </a:xfrm>
          <a:prstGeom prst="rect">
            <a:avLst/>
          </a:prstGeom>
          <a:noFill/>
        </p:spPr>
        <p:txBody>
          <a:bodyPr wrap="square" lIns="0" rIns="0" tIns="0" bIns="0" anchor="t">
            <a:spAutoFit/>
          </a:bodyPr>
          <a:lstStyle/>
          <a:p>
            <a:pPr algn="l"/>
            <a:r>
              <a:rPr sz="1800" b="0" i="0">
                <a:solidFill>
                  <a:srgbClr val="9A7878"/>
                </a:solidFill>
                <a:latin typeface="Geist Mono"/>
                <a:ea typeface="Geist Mono"/>
                <a:cs typeface="Geist Mono"/>
              </a:rPr>
              <a:t>team_number_ = </a:t>
            </a:r>
            <a:r>
              <a:rPr sz="1800" b="0" i="0">
                <a:solidFill>
                  <a:srgbClr val="E8C27A"/>
                </a:solidFill>
                <a:latin typeface="Geist Mono"/>
                <a:ea typeface="Geist Mono"/>
                <a:cs typeface="Geist Mono"/>
              </a:rPr>
              <a:t>1678</a:t>
            </a:r>
          </a:p>
        </p:txBody>
      </p:sp>
      <p:sp>
        <p:nvSpPr>
          <p:cNvPr id="29" name="TextBox 28"/>
          <p:cNvSpPr txBox="1"/>
          <p:nvPr/>
        </p:nvSpPr>
        <p:spPr>
          <a:xfrm>
            <a:off x="11049000" y="6038850"/>
            <a:ext cx="6096000" cy="381000"/>
          </a:xfrm>
          <a:prstGeom prst="rect">
            <a:avLst/>
          </a:prstGeom>
          <a:noFill/>
        </p:spPr>
        <p:txBody>
          <a:bodyPr wrap="square" lIns="0" rIns="0" tIns="0" bIns="0" anchor="t">
            <a:spAutoFit/>
          </a:bodyPr>
          <a:lstStyle/>
          <a:p>
            <a:pPr algn="l"/>
            <a:r>
              <a:rPr sz="1800" b="0" i="0">
                <a:solidFill>
                  <a:srgbClr val="9A7878"/>
                </a:solidFill>
                <a:latin typeface="Geist Mono"/>
                <a:ea typeface="Geist Mono"/>
                <a:cs typeface="Geist Mono"/>
              </a:rPr>
              <a:t>balls_scored_ = </a:t>
            </a:r>
            <a:r>
              <a:rPr sz="1800" b="0" i="0">
                <a:solidFill>
                  <a:srgbClr val="E8C27A"/>
                </a:solidFill>
                <a:latin typeface="Geist Mono"/>
                <a:ea typeface="Geist Mono"/>
                <a:cs typeface="Geist Mono"/>
              </a:rPr>
              <a:t>12</a:t>
            </a:r>
          </a:p>
        </p:txBody>
      </p:sp>
      <p:sp>
        <p:nvSpPr>
          <p:cNvPr id="30" name="Rectangle 29"/>
          <p:cNvSpPr/>
          <p:nvPr/>
        </p:nvSpPr>
        <p:spPr>
          <a:xfrm>
            <a:off x="7072312" y="5700712"/>
            <a:ext cx="22345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Isosceles Triangle 30"/>
          <p:cNvSpPr/>
          <p:nvPr/>
        </p:nvSpPr>
        <p:spPr>
          <a:xfrm rot="5400000">
            <a:off x="9277350" y="5638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525000" y="6858000"/>
            <a:ext cx="7848600" cy="1714500"/>
          </a:xfrm>
          <a:prstGeom prst="roundRect">
            <a:avLst>
              <a:gd name="adj" fmla="val 888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house.png"/>
          <p:cNvPicPr>
            <a:picLocks noChangeAspect="1"/>
          </p:cNvPicPr>
          <p:nvPr/>
        </p:nvPicPr>
        <p:blipFill>
          <a:blip r:embed="rId3"/>
          <a:stretch>
            <a:fillRect/>
          </a:stretch>
        </p:blipFill>
        <p:spPr>
          <a:xfrm>
            <a:off x="9882769" y="7334250"/>
            <a:ext cx="827511" cy="762000"/>
          </a:xfrm>
          <a:prstGeom prst="rect">
            <a:avLst/>
          </a:prstGeom>
        </p:spPr>
      </p:pic>
      <p:sp>
        <p:nvSpPr>
          <p:cNvPr id="34" name="TextBox 33"/>
          <p:cNvSpPr txBox="1"/>
          <p:nvPr/>
        </p:nvSpPr>
        <p:spPr>
          <a:xfrm>
            <a:off x="11049000" y="7086600"/>
            <a:ext cx="6096000" cy="476250"/>
          </a:xfrm>
          <a:prstGeom prst="rect">
            <a:avLst/>
          </a:prstGeom>
          <a:noFill/>
        </p:spPr>
        <p:txBody>
          <a:bodyPr wrap="square" lIns="0" rIns="0" tIns="0" bIns="0" anchor="t">
            <a:spAutoFit/>
          </a:bodyPr>
          <a:lstStyle/>
          <a:p>
            <a:pPr algn="l"/>
            <a:r>
              <a:rPr sz="2550" b="1" i="0">
                <a:solidFill>
                  <a:srgbClr val="F0E8E8"/>
                </a:solidFill>
                <a:latin typeface="Geist Mono"/>
                <a:ea typeface="Geist Mono"/>
                <a:cs typeface="Geist Mono"/>
              </a:rPr>
              <a:t>poofs</a:t>
            </a:r>
          </a:p>
        </p:txBody>
      </p:sp>
      <p:sp>
        <p:nvSpPr>
          <p:cNvPr id="35" name="TextBox 34"/>
          <p:cNvSpPr txBox="1"/>
          <p:nvPr/>
        </p:nvSpPr>
        <p:spPr>
          <a:xfrm>
            <a:off x="11049000" y="7677150"/>
            <a:ext cx="6096000" cy="381000"/>
          </a:xfrm>
          <a:prstGeom prst="rect">
            <a:avLst/>
          </a:prstGeom>
          <a:noFill/>
        </p:spPr>
        <p:txBody>
          <a:bodyPr wrap="square" lIns="0" rIns="0" tIns="0" bIns="0" anchor="t">
            <a:spAutoFit/>
          </a:bodyPr>
          <a:lstStyle/>
          <a:p>
            <a:pPr algn="l"/>
            <a:r>
              <a:rPr sz="1800" b="0" i="0">
                <a:solidFill>
                  <a:srgbClr val="9A7878"/>
                </a:solidFill>
                <a:latin typeface="Geist Mono"/>
                <a:ea typeface="Geist Mono"/>
                <a:cs typeface="Geist Mono"/>
              </a:rPr>
              <a:t>team_number_ = </a:t>
            </a:r>
            <a:r>
              <a:rPr sz="1800" b="0" i="0">
                <a:solidFill>
                  <a:srgbClr val="E8C27A"/>
                </a:solidFill>
                <a:latin typeface="Geist Mono"/>
                <a:ea typeface="Geist Mono"/>
                <a:cs typeface="Geist Mono"/>
              </a:rPr>
              <a:t>254</a:t>
            </a:r>
          </a:p>
        </p:txBody>
      </p:sp>
      <p:sp>
        <p:nvSpPr>
          <p:cNvPr id="36" name="TextBox 35"/>
          <p:cNvSpPr txBox="1"/>
          <p:nvPr/>
        </p:nvSpPr>
        <p:spPr>
          <a:xfrm>
            <a:off x="11049000" y="8039100"/>
            <a:ext cx="6096000" cy="381000"/>
          </a:xfrm>
          <a:prstGeom prst="rect">
            <a:avLst/>
          </a:prstGeom>
          <a:noFill/>
        </p:spPr>
        <p:txBody>
          <a:bodyPr wrap="square" lIns="0" rIns="0" tIns="0" bIns="0" anchor="t">
            <a:spAutoFit/>
          </a:bodyPr>
          <a:lstStyle/>
          <a:p>
            <a:pPr algn="l"/>
            <a:r>
              <a:rPr sz="1800" b="0" i="0">
                <a:solidFill>
                  <a:srgbClr val="9A7878"/>
                </a:solidFill>
                <a:latin typeface="Geist Mono"/>
                <a:ea typeface="Geist Mono"/>
                <a:cs typeface="Geist Mono"/>
              </a:rPr>
              <a:t>balls_scored_ = </a:t>
            </a:r>
            <a:r>
              <a:rPr sz="1800" b="0" i="0">
                <a:solidFill>
                  <a:srgbClr val="E8C27A"/>
                </a:solidFill>
                <a:latin typeface="Geist Mono"/>
                <a:ea typeface="Geist Mono"/>
                <a:cs typeface="Geist Mono"/>
              </a:rPr>
              <a:t>17</a:t>
            </a:r>
          </a:p>
        </p:txBody>
      </p:sp>
      <p:cxnSp>
        <p:nvCxnSpPr>
          <p:cNvPr id="37" name="Connector 36"/>
          <p:cNvCxnSpPr/>
          <p:nvPr/>
        </p:nvCxnSpPr>
        <p:spPr>
          <a:xfrm>
            <a:off x="7086600" y="5715000"/>
            <a:ext cx="2343150" cy="200025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962900" y="5848350"/>
            <a:ext cx="1143000" cy="323850"/>
          </a:xfrm>
          <a:prstGeom prst="rect">
            <a:avLst/>
          </a:prstGeom>
          <a:noFill/>
        </p:spPr>
        <p:txBody>
          <a:bodyPr wrap="square" lIns="0" rIns="0" tIns="0" bIns="0" anchor="t">
            <a:spAutoFit/>
          </a:bodyPr>
          <a:lstStyle/>
          <a:p>
            <a:pPr algn="l"/>
            <a:r>
              <a:rPr sz="1950" b="1" i="0">
                <a:solidFill>
                  <a:srgbClr val="E0785F"/>
                </a:solidFill>
                <a:latin typeface="Geist Mono"/>
                <a:ea typeface="Geist Mono"/>
                <a:cs typeface="Geist Mono"/>
              </a:rPr>
              <a:t>new</a:t>
            </a:r>
          </a:p>
        </p:txBody>
      </p:sp>
      <p:sp>
        <p:nvSpPr>
          <p:cNvPr id="39" name="TextBox 38"/>
          <p:cNvSpPr txBox="1"/>
          <p:nvPr/>
        </p:nvSpPr>
        <p:spPr>
          <a:xfrm>
            <a:off x="9525000" y="8915400"/>
            <a:ext cx="7848600" cy="32385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Objects: built from it, each with its own data.</a:t>
            </a:r>
          </a:p>
        </p:txBody>
      </p:sp>
      <p:sp>
        <p:nvSpPr>
          <p:cNvPr id="40" name="TextBox 3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1" name="TextBox 4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CLASSES AND OBJECTS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Inside a class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0096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Team.java</a:t>
            </a:r>
          </a:p>
        </p:txBody>
      </p:sp>
      <p:sp>
        <p:nvSpPr>
          <p:cNvPr id="6" name="Rounded Rectangle 5"/>
          <p:cNvSpPr/>
          <p:nvPr/>
        </p:nvSpPr>
        <p:spPr>
          <a:xfrm>
            <a:off x="914400" y="3143250"/>
            <a:ext cx="10096500" cy="5219700"/>
          </a:xfrm>
          <a:prstGeom prst="roundRect">
            <a:avLst>
              <a:gd name="adj" fmla="val 2919"/>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3867150"/>
            <a:ext cx="10058400" cy="34290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3867150"/>
            <a:ext cx="57150" cy="3429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4210050"/>
            <a:ext cx="10058400" cy="34290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4210050"/>
            <a:ext cx="57150" cy="3429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33450" y="4895850"/>
            <a:ext cx="10058400" cy="34290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933450" y="4895850"/>
            <a:ext cx="57150" cy="3429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33450" y="6610350"/>
            <a:ext cx="10058400" cy="34290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933450" y="6610350"/>
            <a:ext cx="57150" cy="3429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95400" y="3524250"/>
            <a:ext cx="9563100" cy="34290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class</a:t>
            </a:r>
            <a:r>
              <a:rPr sz="1800" b="0" i="0">
                <a:solidFill>
                  <a:srgbClr val="F0E8E8"/>
                </a:solidFill>
                <a:latin typeface="Geist Mono"/>
                <a:ea typeface="Geist Mono"/>
                <a:cs typeface="Geist Mono"/>
              </a:rPr>
              <a:t> Team {</a:t>
            </a:r>
          </a:p>
        </p:txBody>
      </p:sp>
      <p:sp>
        <p:nvSpPr>
          <p:cNvPr id="16" name="TextBox 15"/>
          <p:cNvSpPr txBox="1"/>
          <p:nvPr/>
        </p:nvSpPr>
        <p:spPr>
          <a:xfrm>
            <a:off x="1295400" y="3867150"/>
            <a:ext cx="9563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private</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int</a:t>
            </a:r>
            <a:r>
              <a:rPr sz="1800" b="0" i="0">
                <a:solidFill>
                  <a:srgbClr val="F0E8E8"/>
                </a:solidFill>
                <a:latin typeface="Geist Mono"/>
                <a:ea typeface="Geist Mono"/>
                <a:cs typeface="Geist Mono"/>
              </a:rPr>
              <a:t> team_number_;</a:t>
            </a:r>
          </a:p>
        </p:txBody>
      </p:sp>
      <p:sp>
        <p:nvSpPr>
          <p:cNvPr id="17" name="TextBox 16"/>
          <p:cNvSpPr txBox="1"/>
          <p:nvPr/>
        </p:nvSpPr>
        <p:spPr>
          <a:xfrm>
            <a:off x="1295400" y="4210050"/>
            <a:ext cx="9563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private</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int</a:t>
            </a:r>
            <a:r>
              <a:rPr sz="1800" b="0" i="0">
                <a:solidFill>
                  <a:srgbClr val="F0E8E8"/>
                </a:solidFill>
                <a:latin typeface="Geist Mono"/>
                <a:ea typeface="Geist Mono"/>
                <a:cs typeface="Geist Mono"/>
              </a:rPr>
              <a:t> balls_scored_;</a:t>
            </a:r>
          </a:p>
        </p:txBody>
      </p:sp>
      <p:sp>
        <p:nvSpPr>
          <p:cNvPr id="18" name="TextBox 17"/>
          <p:cNvSpPr txBox="1"/>
          <p:nvPr/>
        </p:nvSpPr>
        <p:spPr>
          <a:xfrm>
            <a:off x="1295400" y="4552950"/>
            <a:ext cx="9563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19" name="TextBox 18"/>
          <p:cNvSpPr txBox="1"/>
          <p:nvPr/>
        </p:nvSpPr>
        <p:spPr>
          <a:xfrm>
            <a:off x="1295400" y="4895850"/>
            <a:ext cx="9563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Team(</a:t>
            </a:r>
            <a:r>
              <a:rPr sz="1800" b="0" i="0">
                <a:solidFill>
                  <a:srgbClr val="E0785F"/>
                </a:solidFill>
                <a:latin typeface="Geist Mono"/>
                <a:ea typeface="Geist Mono"/>
                <a:cs typeface="Geist Mono"/>
              </a:rPr>
              <a:t>int</a:t>
            </a:r>
            <a:r>
              <a:rPr sz="1800" b="0" i="0">
                <a:solidFill>
                  <a:srgbClr val="F0E8E8"/>
                </a:solidFill>
                <a:latin typeface="Geist Mono"/>
                <a:ea typeface="Geist Mono"/>
                <a:cs typeface="Geist Mono"/>
              </a:rPr>
              <a:t> number) {</a:t>
            </a:r>
          </a:p>
        </p:txBody>
      </p:sp>
      <p:sp>
        <p:nvSpPr>
          <p:cNvPr id="20" name="TextBox 19"/>
          <p:cNvSpPr txBox="1"/>
          <p:nvPr/>
        </p:nvSpPr>
        <p:spPr>
          <a:xfrm>
            <a:off x="1295400" y="5238750"/>
            <a:ext cx="9563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team_number_ = number;</a:t>
            </a:r>
          </a:p>
        </p:txBody>
      </p:sp>
      <p:sp>
        <p:nvSpPr>
          <p:cNvPr id="21" name="TextBox 20"/>
          <p:cNvSpPr txBox="1"/>
          <p:nvPr/>
        </p:nvSpPr>
        <p:spPr>
          <a:xfrm>
            <a:off x="1295400" y="5581650"/>
            <a:ext cx="9563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balls_scored_ = </a:t>
            </a:r>
            <a:r>
              <a:rPr sz="1800" b="0" i="0">
                <a:solidFill>
                  <a:srgbClr val="E8C27A"/>
                </a:solidFill>
                <a:latin typeface="Geist Mono"/>
                <a:ea typeface="Geist Mono"/>
                <a:cs typeface="Geist Mono"/>
              </a:rPr>
              <a:t>0</a:t>
            </a:r>
            <a:r>
              <a:rPr sz="1800" b="0" i="0">
                <a:solidFill>
                  <a:srgbClr val="F0E8E8"/>
                </a:solidFill>
                <a:latin typeface="Geist Mono"/>
                <a:ea typeface="Geist Mono"/>
                <a:cs typeface="Geist Mono"/>
              </a:rPr>
              <a:t>;</a:t>
            </a:r>
          </a:p>
        </p:txBody>
      </p:sp>
      <p:sp>
        <p:nvSpPr>
          <p:cNvPr id="22" name="TextBox 21"/>
          <p:cNvSpPr txBox="1"/>
          <p:nvPr/>
        </p:nvSpPr>
        <p:spPr>
          <a:xfrm>
            <a:off x="1295400" y="5924550"/>
            <a:ext cx="9563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23" name="TextBox 22"/>
          <p:cNvSpPr txBox="1"/>
          <p:nvPr/>
        </p:nvSpPr>
        <p:spPr>
          <a:xfrm>
            <a:off x="1295400" y="6267450"/>
            <a:ext cx="9563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24" name="TextBox 23"/>
          <p:cNvSpPr txBox="1"/>
          <p:nvPr/>
        </p:nvSpPr>
        <p:spPr>
          <a:xfrm>
            <a:off x="1295400" y="6610350"/>
            <a:ext cx="9563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void</a:t>
            </a:r>
            <a:r>
              <a:rPr sz="1800" b="0" i="0">
                <a:solidFill>
                  <a:srgbClr val="F0E8E8"/>
                </a:solidFill>
                <a:latin typeface="Geist Mono"/>
                <a:ea typeface="Geist Mono"/>
                <a:cs typeface="Geist Mono"/>
              </a:rPr>
              <a:t> scoreBall() {</a:t>
            </a:r>
          </a:p>
        </p:txBody>
      </p:sp>
      <p:sp>
        <p:nvSpPr>
          <p:cNvPr id="25" name="TextBox 24"/>
          <p:cNvSpPr txBox="1"/>
          <p:nvPr/>
        </p:nvSpPr>
        <p:spPr>
          <a:xfrm>
            <a:off x="1295400" y="6953250"/>
            <a:ext cx="9563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balls_scored_ = balls_scored_ + </a:t>
            </a:r>
            <a:r>
              <a:rPr sz="1800" b="0" i="0">
                <a:solidFill>
                  <a:srgbClr val="E8C27A"/>
                </a:solidFill>
                <a:latin typeface="Geist Mono"/>
                <a:ea typeface="Geist Mono"/>
                <a:cs typeface="Geist Mono"/>
              </a:rPr>
              <a:t>1</a:t>
            </a:r>
            <a:r>
              <a:rPr sz="1800" b="0" i="0">
                <a:solidFill>
                  <a:srgbClr val="F0E8E8"/>
                </a:solidFill>
                <a:latin typeface="Geist Mono"/>
                <a:ea typeface="Geist Mono"/>
                <a:cs typeface="Geist Mono"/>
              </a:rPr>
              <a:t>;</a:t>
            </a:r>
          </a:p>
        </p:txBody>
      </p:sp>
      <p:sp>
        <p:nvSpPr>
          <p:cNvPr id="26" name="TextBox 25"/>
          <p:cNvSpPr txBox="1"/>
          <p:nvPr/>
        </p:nvSpPr>
        <p:spPr>
          <a:xfrm>
            <a:off x="1295400" y="7296150"/>
            <a:ext cx="9563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27" name="TextBox 26"/>
          <p:cNvSpPr txBox="1"/>
          <p:nvPr/>
        </p:nvSpPr>
        <p:spPr>
          <a:xfrm>
            <a:off x="1295400" y="7639050"/>
            <a:ext cx="9563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28" name="Oval 27"/>
          <p:cNvSpPr/>
          <p:nvPr/>
        </p:nvSpPr>
        <p:spPr>
          <a:xfrm>
            <a:off x="10401300" y="38481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401300" y="38481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0" name="Oval 29"/>
          <p:cNvSpPr/>
          <p:nvPr/>
        </p:nvSpPr>
        <p:spPr>
          <a:xfrm>
            <a:off x="10401300" y="48768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401300" y="48768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2" name="Oval 31"/>
          <p:cNvSpPr/>
          <p:nvPr/>
        </p:nvSpPr>
        <p:spPr>
          <a:xfrm>
            <a:off x="10401300" y="65913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401300" y="65913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4" name="Oval 33"/>
          <p:cNvSpPr/>
          <p:nvPr/>
        </p:nvSpPr>
        <p:spPr>
          <a:xfrm>
            <a:off x="11677650" y="3048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677650" y="3048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6" name="TextBox 35"/>
          <p:cNvSpPr txBox="1"/>
          <p:nvPr/>
        </p:nvSpPr>
        <p:spPr>
          <a:xfrm>
            <a:off x="12287250" y="300990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Fields</a:t>
            </a:r>
          </a:p>
        </p:txBody>
      </p:sp>
      <p:sp>
        <p:nvSpPr>
          <p:cNvPr id="37" name="TextBox 36"/>
          <p:cNvSpPr txBox="1"/>
          <p:nvPr/>
        </p:nvSpPr>
        <p:spPr>
          <a:xfrm>
            <a:off x="12287250" y="342900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What each object remembers. Ours end in an underscore</a:t>
            </a:r>
          </a:p>
        </p:txBody>
      </p:sp>
      <p:sp>
        <p:nvSpPr>
          <p:cNvPr id="38" name="Oval 37"/>
          <p:cNvSpPr/>
          <p:nvPr/>
        </p:nvSpPr>
        <p:spPr>
          <a:xfrm>
            <a:off x="11677650" y="4857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677650" y="4857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40" name="TextBox 39"/>
          <p:cNvSpPr txBox="1"/>
          <p:nvPr/>
        </p:nvSpPr>
        <p:spPr>
          <a:xfrm>
            <a:off x="12287250" y="481965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Constructor</a:t>
            </a:r>
          </a:p>
        </p:txBody>
      </p:sp>
      <p:sp>
        <p:nvSpPr>
          <p:cNvPr id="41" name="TextBox 40"/>
          <p:cNvSpPr txBox="1"/>
          <p:nvPr/>
        </p:nvSpPr>
        <p:spPr>
          <a:xfrm>
            <a:off x="12287250" y="523875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Runs once, when new builds the object. Same name as the class, no return type</a:t>
            </a:r>
          </a:p>
        </p:txBody>
      </p:sp>
      <p:sp>
        <p:nvSpPr>
          <p:cNvPr id="42" name="Oval 41"/>
          <p:cNvSpPr/>
          <p:nvPr/>
        </p:nvSpPr>
        <p:spPr>
          <a:xfrm>
            <a:off x="11677650" y="666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1677650" y="666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4" name="TextBox 43"/>
          <p:cNvSpPr txBox="1"/>
          <p:nvPr/>
        </p:nvSpPr>
        <p:spPr>
          <a:xfrm>
            <a:off x="12287250" y="662940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Methods</a:t>
            </a:r>
          </a:p>
        </p:txBody>
      </p:sp>
      <p:sp>
        <p:nvSpPr>
          <p:cNvPr id="45" name="TextBox 44"/>
          <p:cNvSpPr txBox="1"/>
          <p:nvPr/>
        </p:nvSpPr>
        <p:spPr>
          <a:xfrm>
            <a:off x="12287250" y="704850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What each object can do</a:t>
            </a:r>
          </a:p>
        </p:txBody>
      </p:sp>
      <p:pic>
        <p:nvPicPr>
          <p:cNvPr id="46" name="Picture 45" descr="code-slash.png"/>
          <p:cNvPicPr>
            <a:picLocks noChangeAspect="1"/>
          </p:cNvPicPr>
          <p:nvPr/>
        </p:nvPicPr>
        <p:blipFill>
          <a:blip r:embed="rId3"/>
          <a:stretch>
            <a:fillRect/>
          </a:stretch>
        </p:blipFill>
        <p:spPr>
          <a:xfrm>
            <a:off x="11677650" y="8610600"/>
            <a:ext cx="224518" cy="209550"/>
          </a:xfrm>
          <a:prstGeom prst="rect">
            <a:avLst/>
          </a:prstGeom>
        </p:spPr>
      </p:pic>
      <p:sp>
        <p:nvSpPr>
          <p:cNvPr id="47" name="TextBox 46"/>
          <p:cNvSpPr txBox="1"/>
          <p:nvPr/>
        </p:nvSpPr>
        <p:spPr>
          <a:xfrm>
            <a:off x="12058650" y="85725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Classes &amp; Objects</a:t>
            </a:r>
          </a:p>
        </p:txBody>
      </p:sp>
      <p:sp>
        <p:nvSpPr>
          <p:cNvPr id="48" name="TextBox 4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9" name="TextBox 4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CLASSES AND OBJECTS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Building an object with new</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6459200" cy="1371600"/>
          </a:xfrm>
          <a:prstGeom prst="roundRect">
            <a:avLst>
              <a:gd name="adj" fmla="val 11111"/>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238500"/>
            <a:ext cx="15925800" cy="609600"/>
          </a:xfrm>
          <a:prstGeom prst="rect">
            <a:avLst/>
          </a:prstGeom>
          <a:noFill/>
        </p:spPr>
        <p:txBody>
          <a:bodyPr wrap="square" lIns="0" rIns="0" tIns="0" bIns="0" anchor="ctr">
            <a:spAutoFit/>
          </a:bodyPr>
          <a:lstStyle/>
          <a:p>
            <a:pPr algn="l"/>
            <a:r>
              <a:rPr sz="3000" b="0" i="0">
                <a:solidFill>
                  <a:srgbClr val="F0E8E8"/>
                </a:solidFill>
                <a:latin typeface="Geist Mono"/>
                <a:ea typeface="Geist Mono"/>
                <a:cs typeface="Geist Mono"/>
              </a:rPr>
              <a:t>Team mars = </a:t>
            </a:r>
            <a:r>
              <a:rPr sz="3000" b="0" i="0">
                <a:solidFill>
                  <a:srgbClr val="E0785F"/>
                </a:solidFill>
                <a:latin typeface="Geist Mono"/>
                <a:ea typeface="Geist Mono"/>
                <a:cs typeface="Geist Mono"/>
              </a:rPr>
              <a:t>new</a:t>
            </a:r>
            <a:r>
              <a:rPr sz="3000" b="0" i="0">
                <a:solidFill>
                  <a:srgbClr val="F0E8E8"/>
                </a:solidFill>
                <a:latin typeface="Geist Mono"/>
                <a:ea typeface="Geist Mono"/>
                <a:cs typeface="Geist Mono"/>
              </a:rPr>
              <a:t> Team(</a:t>
            </a:r>
            <a:r>
              <a:rPr sz="3000" b="0" i="0">
                <a:solidFill>
                  <a:srgbClr val="E8C27A"/>
                </a:solidFill>
                <a:latin typeface="Geist Mono"/>
                <a:ea typeface="Geist Mono"/>
                <a:cs typeface="Geist Mono"/>
              </a:rPr>
              <a:t>4143</a:t>
            </a:r>
            <a:r>
              <a:rPr sz="3000" b="0" i="0">
                <a:solidFill>
                  <a:srgbClr val="F0E8E8"/>
                </a:solidFill>
                <a:latin typeface="Geist Mono"/>
                <a:ea typeface="Geist Mono"/>
                <a:cs typeface="Geist Mono"/>
              </a:rPr>
              <a:t>);</a:t>
            </a:r>
          </a:p>
        </p:txBody>
      </p:sp>
      <p:sp>
        <p:nvSpPr>
          <p:cNvPr id="7" name="Rectangle 6"/>
          <p:cNvSpPr/>
          <p:nvPr/>
        </p:nvSpPr>
        <p:spPr>
          <a:xfrm>
            <a:off x="1281112" y="4005262"/>
            <a:ext cx="9429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23900" y="4152900"/>
            <a:ext cx="20574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type</a:t>
            </a:r>
          </a:p>
        </p:txBody>
      </p:sp>
      <p:sp>
        <p:nvSpPr>
          <p:cNvPr id="9" name="Rectangle 8"/>
          <p:cNvSpPr/>
          <p:nvPr/>
        </p:nvSpPr>
        <p:spPr>
          <a:xfrm>
            <a:off x="2424112" y="4005262"/>
            <a:ext cx="9429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866900" y="4152900"/>
            <a:ext cx="20574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name</a:t>
            </a:r>
          </a:p>
        </p:txBody>
      </p:sp>
      <p:sp>
        <p:nvSpPr>
          <p:cNvPr id="11" name="Rectangle 10"/>
          <p:cNvSpPr/>
          <p:nvPr/>
        </p:nvSpPr>
        <p:spPr>
          <a:xfrm>
            <a:off x="4024312" y="4005262"/>
            <a:ext cx="7143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467100" y="4152900"/>
            <a:ext cx="18288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build it</a:t>
            </a:r>
          </a:p>
        </p:txBody>
      </p:sp>
      <p:sp>
        <p:nvSpPr>
          <p:cNvPr id="13" name="Rectangle 12"/>
          <p:cNvSpPr/>
          <p:nvPr/>
        </p:nvSpPr>
        <p:spPr>
          <a:xfrm>
            <a:off x="4938712" y="4005262"/>
            <a:ext cx="9429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381500" y="4152900"/>
            <a:ext cx="20574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constructor</a:t>
            </a:r>
          </a:p>
        </p:txBody>
      </p:sp>
      <p:sp>
        <p:nvSpPr>
          <p:cNvPr id="15" name="Rectangle 14"/>
          <p:cNvSpPr/>
          <p:nvPr/>
        </p:nvSpPr>
        <p:spPr>
          <a:xfrm>
            <a:off x="5853112" y="4005262"/>
            <a:ext cx="14001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295900" y="4152900"/>
            <a:ext cx="25146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input</a:t>
            </a:r>
          </a:p>
        </p:txBody>
      </p:sp>
      <p:sp>
        <p:nvSpPr>
          <p:cNvPr id="17" name="Rounded Rectangle 16"/>
          <p:cNvSpPr/>
          <p:nvPr/>
        </p:nvSpPr>
        <p:spPr>
          <a:xfrm>
            <a:off x="914400" y="5143500"/>
            <a:ext cx="6096000" cy="3619500"/>
          </a:xfrm>
          <a:prstGeom prst="roundRect">
            <a:avLst>
              <a:gd name="adj" fmla="val 4210"/>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295400" y="5391150"/>
            <a:ext cx="5334000" cy="419100"/>
          </a:xfrm>
          <a:prstGeom prst="rect">
            <a:avLst/>
          </a:prstGeom>
          <a:noFill/>
        </p:spPr>
        <p:txBody>
          <a:bodyPr wrap="square" lIns="0" rIns="0" tIns="0" bIns="0" anchor="t">
            <a:spAutoFit/>
          </a:bodyPr>
          <a:lstStyle/>
          <a:p>
            <a:pPr algn="l"/>
            <a:r>
              <a:rPr sz="2400" b="1" i="0">
                <a:solidFill>
                  <a:srgbClr val="F0E8E8"/>
                </a:solidFill>
                <a:latin typeface="Geist Mono"/>
                <a:ea typeface="Geist Mono"/>
                <a:cs typeface="Geist Mono"/>
              </a:rPr>
              <a:t>mars</a:t>
            </a:r>
          </a:p>
        </p:txBody>
      </p:sp>
      <p:sp>
        <p:nvSpPr>
          <p:cNvPr id="19" name="TextBox 18"/>
          <p:cNvSpPr txBox="1"/>
          <p:nvPr/>
        </p:nvSpPr>
        <p:spPr>
          <a:xfrm>
            <a:off x="5334000" y="5448300"/>
            <a:ext cx="1428750" cy="323850"/>
          </a:xfrm>
          <a:prstGeom prst="rect">
            <a:avLst/>
          </a:prstGeom>
          <a:noFill/>
        </p:spPr>
        <p:txBody>
          <a:bodyPr wrap="square" lIns="0" rIns="0" tIns="0" bIns="0" anchor="t">
            <a:spAutoFit/>
          </a:bodyPr>
          <a:lstStyle/>
          <a:p>
            <a:pPr algn="r"/>
            <a:r>
              <a:rPr sz="1650" b="0" i="0">
                <a:solidFill>
                  <a:srgbClr val="9A7878"/>
                </a:solidFill>
                <a:latin typeface="Geist"/>
                <a:ea typeface="Geist"/>
                <a:cs typeface="Geist"/>
              </a:rPr>
              <a:t>a Team</a:t>
            </a:r>
          </a:p>
        </p:txBody>
      </p:sp>
      <p:sp>
        <p:nvSpPr>
          <p:cNvPr id="20" name="Rounded Rectangle 19"/>
          <p:cNvSpPr/>
          <p:nvPr/>
        </p:nvSpPr>
        <p:spPr>
          <a:xfrm>
            <a:off x="1295400" y="6096000"/>
            <a:ext cx="5334000" cy="1047750"/>
          </a:xfrm>
          <a:prstGeom prst="roundRect">
            <a:avLst>
              <a:gd name="adj" fmla="val 10909"/>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581150" y="6096000"/>
            <a:ext cx="3143250" cy="1047750"/>
          </a:xfrm>
          <a:prstGeom prst="rect">
            <a:avLst/>
          </a:prstGeom>
          <a:noFill/>
        </p:spPr>
        <p:txBody>
          <a:bodyPr wrap="square" lIns="0" rIns="0" tIns="0" bIns="0" anchor="ctr">
            <a:spAutoFit/>
          </a:bodyPr>
          <a:lstStyle/>
          <a:p>
            <a:pPr algn="l"/>
            <a:r>
              <a:rPr sz="1950" b="0" i="0">
                <a:solidFill>
                  <a:srgbClr val="9A7878"/>
                </a:solidFill>
                <a:latin typeface="Geist Mono"/>
                <a:ea typeface="Geist Mono"/>
                <a:cs typeface="Geist Mono"/>
              </a:rPr>
              <a:t>team_number_</a:t>
            </a:r>
          </a:p>
        </p:txBody>
      </p:sp>
      <p:sp>
        <p:nvSpPr>
          <p:cNvPr id="22" name="TextBox 21"/>
          <p:cNvSpPr txBox="1"/>
          <p:nvPr/>
        </p:nvSpPr>
        <p:spPr>
          <a:xfrm>
            <a:off x="4762500" y="6096000"/>
            <a:ext cx="1619250" cy="1047750"/>
          </a:xfrm>
          <a:prstGeom prst="rect">
            <a:avLst/>
          </a:prstGeom>
          <a:noFill/>
        </p:spPr>
        <p:txBody>
          <a:bodyPr wrap="square" lIns="0" rIns="0" tIns="0" bIns="0" anchor="ctr">
            <a:spAutoFit/>
          </a:bodyPr>
          <a:lstStyle/>
          <a:p>
            <a:pPr algn="r"/>
            <a:r>
              <a:rPr sz="3000" b="1" i="0">
                <a:solidFill>
                  <a:srgbClr val="E8C27A"/>
                </a:solidFill>
                <a:latin typeface="Geist Mono"/>
                <a:ea typeface="Geist Mono"/>
                <a:cs typeface="Geist Mono"/>
              </a:rPr>
              <a:t>4143</a:t>
            </a:r>
          </a:p>
        </p:txBody>
      </p:sp>
      <p:sp>
        <p:nvSpPr>
          <p:cNvPr id="23" name="Rounded Rectangle 22"/>
          <p:cNvSpPr/>
          <p:nvPr/>
        </p:nvSpPr>
        <p:spPr>
          <a:xfrm>
            <a:off x="1295400" y="7334250"/>
            <a:ext cx="5334000" cy="1047750"/>
          </a:xfrm>
          <a:prstGeom prst="roundRect">
            <a:avLst>
              <a:gd name="adj" fmla="val 10909"/>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581150" y="7334250"/>
            <a:ext cx="3143250" cy="1047750"/>
          </a:xfrm>
          <a:prstGeom prst="rect">
            <a:avLst/>
          </a:prstGeom>
          <a:noFill/>
        </p:spPr>
        <p:txBody>
          <a:bodyPr wrap="square" lIns="0" rIns="0" tIns="0" bIns="0" anchor="ctr">
            <a:spAutoFit/>
          </a:bodyPr>
          <a:lstStyle/>
          <a:p>
            <a:pPr algn="l"/>
            <a:r>
              <a:rPr sz="1950" b="0" i="0">
                <a:solidFill>
                  <a:srgbClr val="9A7878"/>
                </a:solidFill>
                <a:latin typeface="Geist Mono"/>
                <a:ea typeface="Geist Mono"/>
                <a:cs typeface="Geist Mono"/>
              </a:rPr>
              <a:t>balls_scored_</a:t>
            </a:r>
          </a:p>
        </p:txBody>
      </p:sp>
      <p:sp>
        <p:nvSpPr>
          <p:cNvPr id="25" name="TextBox 24"/>
          <p:cNvSpPr txBox="1"/>
          <p:nvPr/>
        </p:nvSpPr>
        <p:spPr>
          <a:xfrm>
            <a:off x="4762500" y="7334250"/>
            <a:ext cx="1619250" cy="1047750"/>
          </a:xfrm>
          <a:prstGeom prst="rect">
            <a:avLst/>
          </a:prstGeom>
          <a:noFill/>
        </p:spPr>
        <p:txBody>
          <a:bodyPr wrap="square" lIns="0" rIns="0" tIns="0" bIns="0" anchor="ctr">
            <a:spAutoFit/>
          </a:bodyPr>
          <a:lstStyle/>
          <a:p>
            <a:pPr algn="r"/>
            <a:r>
              <a:rPr sz="3000" b="1" i="0">
                <a:solidFill>
                  <a:srgbClr val="E8C27A"/>
                </a:solidFill>
                <a:latin typeface="Geist Mono"/>
                <a:ea typeface="Geist Mono"/>
                <a:cs typeface="Geist Mono"/>
              </a:rPr>
              <a:t>0</a:t>
            </a:r>
          </a:p>
        </p:txBody>
      </p:sp>
      <p:sp>
        <p:nvSpPr>
          <p:cNvPr id="26" name="TextBox 25"/>
          <p:cNvSpPr txBox="1"/>
          <p:nvPr/>
        </p:nvSpPr>
        <p:spPr>
          <a:xfrm>
            <a:off x="7620000" y="5334000"/>
            <a:ext cx="952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1" i="0">
                <a:solidFill>
                  <a:srgbClr val="F0E8E8"/>
                </a:solidFill>
                <a:latin typeface="Geist"/>
                <a:ea typeface="Geist"/>
                <a:cs typeface="Geist"/>
              </a:rPr>
              <a:t>The class is the type</a:t>
            </a:r>
            <a:r>
              <a:rPr sz="2250" b="0" i="0">
                <a:solidFill>
                  <a:srgbClr val="F0E8E8"/>
                </a:solidFill>
                <a:latin typeface="Geist"/>
                <a:ea typeface="Geist"/>
                <a:cs typeface="Geist"/>
              </a:rPr>
              <a:t>, like double or int</a:t>
            </a:r>
          </a:p>
        </p:txBody>
      </p:sp>
      <p:sp>
        <p:nvSpPr>
          <p:cNvPr id="27" name="TextBox 26"/>
          <p:cNvSpPr txBox="1"/>
          <p:nvPr/>
        </p:nvSpPr>
        <p:spPr>
          <a:xfrm>
            <a:off x="7620000" y="5991225"/>
            <a:ext cx="952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Mono"/>
                <a:ea typeface="Geist Mono"/>
                <a:cs typeface="Geist Mono"/>
              </a:rPr>
              <a:t>new</a:t>
            </a:r>
            <a:r>
              <a:rPr sz="2250" b="0" i="0">
                <a:solidFill>
                  <a:srgbClr val="F0E8E8"/>
                </a:solidFill>
                <a:latin typeface="Geist"/>
                <a:ea typeface="Geist"/>
                <a:cs typeface="Geist"/>
              </a:rPr>
              <a:t> builds a fresh object</a:t>
            </a:r>
          </a:p>
        </p:txBody>
      </p:sp>
      <p:sp>
        <p:nvSpPr>
          <p:cNvPr id="28" name="TextBox 27"/>
          <p:cNvSpPr txBox="1"/>
          <p:nvPr/>
        </p:nvSpPr>
        <p:spPr>
          <a:xfrm>
            <a:off x="7620000" y="6648450"/>
            <a:ext cx="952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The inputs go to the </a:t>
            </a:r>
            <a:r>
              <a:rPr sz="2250" b="1" i="0">
                <a:solidFill>
                  <a:srgbClr val="F0E8E8"/>
                </a:solidFill>
                <a:latin typeface="Geist"/>
                <a:ea typeface="Geist"/>
                <a:cs typeface="Geist"/>
              </a:rPr>
              <a:t>constructor</a:t>
            </a:r>
          </a:p>
        </p:txBody>
      </p:sp>
      <p:sp>
        <p:nvSpPr>
          <p:cNvPr id="29" name="TextBox 28"/>
          <p:cNvSpPr txBox="1"/>
          <p:nvPr/>
        </p:nvSpPr>
        <p:spPr>
          <a:xfrm>
            <a:off x="7620000" y="7305675"/>
            <a:ext cx="952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The variable holds the object, ready to use</a:t>
            </a:r>
          </a:p>
        </p:txBody>
      </p:sp>
      <p:pic>
        <p:nvPicPr>
          <p:cNvPr id="30" name="Picture 29" descr="code-slash.png"/>
          <p:cNvPicPr>
            <a:picLocks noChangeAspect="1"/>
          </p:cNvPicPr>
          <p:nvPr/>
        </p:nvPicPr>
        <p:blipFill>
          <a:blip r:embed="rId3"/>
          <a:stretch>
            <a:fillRect/>
          </a:stretch>
        </p:blipFill>
        <p:spPr>
          <a:xfrm>
            <a:off x="7620000" y="8610600"/>
            <a:ext cx="224518" cy="209550"/>
          </a:xfrm>
          <a:prstGeom prst="rect">
            <a:avLst/>
          </a:prstGeom>
        </p:spPr>
      </p:pic>
      <p:sp>
        <p:nvSpPr>
          <p:cNvPr id="31" name="TextBox 30"/>
          <p:cNvSpPr txBox="1"/>
          <p:nvPr/>
        </p:nvSpPr>
        <p:spPr>
          <a:xfrm>
            <a:off x="8001000" y="85725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Classes &amp; Objects</a:t>
            </a:r>
          </a:p>
        </p:txBody>
      </p:sp>
      <p:sp>
        <p:nvSpPr>
          <p:cNvPr id="32" name="TextBox 3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3" name="TextBox 3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CLASSES AND OBJECTS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Each object keeps its own data</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8191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Somewhere in the code</a:t>
            </a:r>
          </a:p>
        </p:txBody>
      </p:sp>
      <p:sp>
        <p:nvSpPr>
          <p:cNvPr id="6" name="Rounded Rectangle 5"/>
          <p:cNvSpPr/>
          <p:nvPr/>
        </p:nvSpPr>
        <p:spPr>
          <a:xfrm>
            <a:off x="914400" y="3276600"/>
            <a:ext cx="8191500" cy="2895600"/>
          </a:xfrm>
          <a:prstGeom prst="roundRect">
            <a:avLst>
              <a:gd name="adj" fmla="val 5263"/>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937760"/>
            <a:ext cx="8153400" cy="42672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937760"/>
            <a:ext cx="57150" cy="42672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5364480"/>
            <a:ext cx="8153400" cy="42672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5364480"/>
            <a:ext cx="57150" cy="42672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95400" y="3657600"/>
            <a:ext cx="7658100" cy="42672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Team mars = </a:t>
            </a:r>
            <a:r>
              <a:rPr sz="2100" b="0" i="0">
                <a:solidFill>
                  <a:srgbClr val="E0785F"/>
                </a:solidFill>
                <a:latin typeface="Geist Mono"/>
                <a:ea typeface="Geist Mono"/>
                <a:cs typeface="Geist Mono"/>
              </a:rPr>
              <a:t>new</a:t>
            </a:r>
            <a:r>
              <a:rPr sz="2100" b="0" i="0">
                <a:solidFill>
                  <a:srgbClr val="F0E8E8"/>
                </a:solidFill>
                <a:latin typeface="Geist Mono"/>
                <a:ea typeface="Geist Mono"/>
                <a:cs typeface="Geist Mono"/>
              </a:rPr>
              <a:t> Team(</a:t>
            </a:r>
            <a:r>
              <a:rPr sz="2100" b="0" i="0">
                <a:solidFill>
                  <a:srgbClr val="E8C27A"/>
                </a:solidFill>
                <a:latin typeface="Geist Mono"/>
                <a:ea typeface="Geist Mono"/>
                <a:cs typeface="Geist Mono"/>
              </a:rPr>
              <a:t>4143</a:t>
            </a:r>
            <a:r>
              <a:rPr sz="2100" b="0" i="0">
                <a:solidFill>
                  <a:srgbClr val="F0E8E8"/>
                </a:solidFill>
                <a:latin typeface="Geist Mono"/>
                <a:ea typeface="Geist Mono"/>
                <a:cs typeface="Geist Mono"/>
              </a:rPr>
              <a:t>);</a:t>
            </a:r>
          </a:p>
        </p:txBody>
      </p:sp>
      <p:sp>
        <p:nvSpPr>
          <p:cNvPr id="12" name="TextBox 11"/>
          <p:cNvSpPr txBox="1"/>
          <p:nvPr/>
        </p:nvSpPr>
        <p:spPr>
          <a:xfrm>
            <a:off x="1295400" y="4084320"/>
            <a:ext cx="7658100" cy="42672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Team citrus = </a:t>
            </a:r>
            <a:r>
              <a:rPr sz="2100" b="0" i="0">
                <a:solidFill>
                  <a:srgbClr val="E0785F"/>
                </a:solidFill>
                <a:latin typeface="Geist Mono"/>
                <a:ea typeface="Geist Mono"/>
                <a:cs typeface="Geist Mono"/>
              </a:rPr>
              <a:t>new</a:t>
            </a:r>
            <a:r>
              <a:rPr sz="2100" b="0" i="0">
                <a:solidFill>
                  <a:srgbClr val="F0E8E8"/>
                </a:solidFill>
                <a:latin typeface="Geist Mono"/>
                <a:ea typeface="Geist Mono"/>
                <a:cs typeface="Geist Mono"/>
              </a:rPr>
              <a:t> Team(</a:t>
            </a:r>
            <a:r>
              <a:rPr sz="2100" b="0" i="0">
                <a:solidFill>
                  <a:srgbClr val="E8C27A"/>
                </a:solidFill>
                <a:latin typeface="Geist Mono"/>
                <a:ea typeface="Geist Mono"/>
                <a:cs typeface="Geist Mono"/>
              </a:rPr>
              <a:t>1678</a:t>
            </a:r>
            <a:r>
              <a:rPr sz="2100" b="0" i="0">
                <a:solidFill>
                  <a:srgbClr val="F0E8E8"/>
                </a:solidFill>
                <a:latin typeface="Geist Mono"/>
                <a:ea typeface="Geist Mono"/>
                <a:cs typeface="Geist Mono"/>
              </a:rPr>
              <a:t>);</a:t>
            </a:r>
          </a:p>
        </p:txBody>
      </p:sp>
      <p:sp>
        <p:nvSpPr>
          <p:cNvPr id="13" name="TextBox 12"/>
          <p:cNvSpPr txBox="1"/>
          <p:nvPr/>
        </p:nvSpPr>
        <p:spPr>
          <a:xfrm>
            <a:off x="1295400" y="4511040"/>
            <a:ext cx="7658100" cy="42672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 </a:t>
            </a:r>
          </a:p>
        </p:txBody>
      </p:sp>
      <p:sp>
        <p:nvSpPr>
          <p:cNvPr id="14" name="TextBox 13"/>
          <p:cNvSpPr txBox="1"/>
          <p:nvPr/>
        </p:nvSpPr>
        <p:spPr>
          <a:xfrm>
            <a:off x="1295400" y="4937760"/>
            <a:ext cx="7658100" cy="42672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mars.scoreBall();</a:t>
            </a:r>
          </a:p>
        </p:txBody>
      </p:sp>
      <p:sp>
        <p:nvSpPr>
          <p:cNvPr id="15" name="TextBox 14"/>
          <p:cNvSpPr txBox="1"/>
          <p:nvPr/>
        </p:nvSpPr>
        <p:spPr>
          <a:xfrm>
            <a:off x="1295400" y="5364480"/>
            <a:ext cx="7658100" cy="42672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mars.scoreBall();</a:t>
            </a:r>
          </a:p>
        </p:txBody>
      </p:sp>
      <p:sp>
        <p:nvSpPr>
          <p:cNvPr id="16" name="TextBox 15"/>
          <p:cNvSpPr txBox="1"/>
          <p:nvPr/>
        </p:nvSpPr>
        <p:spPr>
          <a:xfrm>
            <a:off x="914400" y="6667500"/>
            <a:ext cx="8191500" cy="1143000"/>
          </a:xfrm>
          <a:prstGeom prst="rect">
            <a:avLst/>
          </a:prstGeom>
          <a:noFill/>
        </p:spPr>
        <p:txBody>
          <a:bodyPr wrap="square" lIns="0" rIns="0" tIns="0" bIns="0" anchor="t">
            <a:spAutoFit/>
          </a:bodyPr>
          <a:lstStyle/>
          <a:p>
            <a:pPr algn="l">
              <a:lnSpc>
                <a:spcPct val="130000"/>
              </a:lnSpc>
            </a:pPr>
            <a:r>
              <a:rPr sz="2100" b="0" i="0">
                <a:solidFill>
                  <a:srgbClr val="9A7878"/>
                </a:solidFill>
                <a:latin typeface="Geist"/>
                <a:ea typeface="Geist"/>
                <a:cs typeface="Geist"/>
              </a:rPr>
              <a:t>The dot means </a:t>
            </a:r>
            <a:r>
              <a:rPr sz="2100" b="1" i="0">
                <a:solidFill>
                  <a:srgbClr val="9A7878"/>
                </a:solidFill>
                <a:latin typeface="Geist"/>
                <a:ea typeface="Geist"/>
                <a:cs typeface="Geist"/>
              </a:rPr>
              <a:t>“this object, do this”</a:t>
            </a:r>
            <a:r>
              <a:rPr sz="2100" b="0" i="0">
                <a:solidFill>
                  <a:srgbClr val="9A7878"/>
                </a:solidFill>
                <a:latin typeface="Geist"/>
                <a:ea typeface="Geist"/>
                <a:cs typeface="Geist"/>
              </a:rPr>
              <a:t>. Only mars was asked.</a:t>
            </a:r>
          </a:p>
        </p:txBody>
      </p:sp>
      <p:sp>
        <p:nvSpPr>
          <p:cNvPr id="17" name="Rounded Rectangle 16"/>
          <p:cNvSpPr/>
          <p:nvPr/>
        </p:nvSpPr>
        <p:spPr>
          <a:xfrm>
            <a:off x="9906000" y="2857500"/>
            <a:ext cx="7467600" cy="2571750"/>
          </a:xfrm>
          <a:prstGeom prst="roundRect">
            <a:avLst>
              <a:gd name="adj" fmla="val 5925"/>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87000" y="3124200"/>
            <a:ext cx="5715000" cy="419100"/>
          </a:xfrm>
          <a:prstGeom prst="rect">
            <a:avLst/>
          </a:prstGeom>
          <a:noFill/>
        </p:spPr>
        <p:txBody>
          <a:bodyPr wrap="square" lIns="0" rIns="0" tIns="0" bIns="0" anchor="t">
            <a:spAutoFit/>
          </a:bodyPr>
          <a:lstStyle/>
          <a:p>
            <a:pPr algn="l"/>
            <a:r>
              <a:rPr sz="2550" b="1" i="0">
                <a:solidFill>
                  <a:srgbClr val="F0E8E8"/>
                </a:solidFill>
                <a:latin typeface="Geist Mono"/>
                <a:ea typeface="Geist Mono"/>
                <a:cs typeface="Geist Mono"/>
              </a:rPr>
              <a:t>mars</a:t>
            </a:r>
          </a:p>
        </p:txBody>
      </p:sp>
      <p:sp>
        <p:nvSpPr>
          <p:cNvPr id="19" name="Rounded Rectangle 18"/>
          <p:cNvSpPr/>
          <p:nvPr/>
        </p:nvSpPr>
        <p:spPr>
          <a:xfrm>
            <a:off x="10287000" y="3733800"/>
            <a:ext cx="6705600" cy="685800"/>
          </a:xfrm>
          <a:prstGeom prst="roundRect">
            <a:avLst>
              <a:gd name="adj" fmla="val 13888"/>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72750" y="3733800"/>
            <a:ext cx="3810000" cy="685800"/>
          </a:xfrm>
          <a:prstGeom prst="rect">
            <a:avLst/>
          </a:prstGeom>
          <a:noFill/>
        </p:spPr>
        <p:txBody>
          <a:bodyPr wrap="square" lIns="0" rIns="0" tIns="0" bIns="0" anchor="ctr">
            <a:spAutoFit/>
          </a:bodyPr>
          <a:lstStyle/>
          <a:p>
            <a:pPr algn="l"/>
            <a:r>
              <a:rPr sz="1800" b="0" i="0">
                <a:solidFill>
                  <a:srgbClr val="9A7878"/>
                </a:solidFill>
                <a:latin typeface="Geist Mono"/>
                <a:ea typeface="Geist Mono"/>
                <a:cs typeface="Geist Mono"/>
              </a:rPr>
              <a:t>team_number_</a:t>
            </a:r>
          </a:p>
        </p:txBody>
      </p:sp>
      <p:sp>
        <p:nvSpPr>
          <p:cNvPr id="21" name="TextBox 20"/>
          <p:cNvSpPr txBox="1"/>
          <p:nvPr/>
        </p:nvSpPr>
        <p:spPr>
          <a:xfrm>
            <a:off x="14859000" y="3733800"/>
            <a:ext cx="1905000" cy="685800"/>
          </a:xfrm>
          <a:prstGeom prst="rect">
            <a:avLst/>
          </a:prstGeom>
          <a:noFill/>
        </p:spPr>
        <p:txBody>
          <a:bodyPr wrap="square" lIns="0" rIns="0" tIns="0" bIns="0" anchor="ctr">
            <a:spAutoFit/>
          </a:bodyPr>
          <a:lstStyle/>
          <a:p>
            <a:pPr algn="r"/>
            <a:r>
              <a:rPr sz="2550" b="1" i="0">
                <a:solidFill>
                  <a:srgbClr val="E8C27A"/>
                </a:solidFill>
                <a:latin typeface="Geist Mono"/>
                <a:ea typeface="Geist Mono"/>
                <a:cs typeface="Geist Mono"/>
              </a:rPr>
              <a:t>4143</a:t>
            </a:r>
          </a:p>
        </p:txBody>
      </p:sp>
      <p:sp>
        <p:nvSpPr>
          <p:cNvPr id="22" name="Rounded Rectangle 21"/>
          <p:cNvSpPr/>
          <p:nvPr/>
        </p:nvSpPr>
        <p:spPr>
          <a:xfrm>
            <a:off x="10287000" y="4533900"/>
            <a:ext cx="6705600" cy="685800"/>
          </a:xfrm>
          <a:prstGeom prst="roundRect">
            <a:avLst>
              <a:gd name="adj" fmla="val 13888"/>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572750" y="4533900"/>
            <a:ext cx="3810000" cy="685800"/>
          </a:xfrm>
          <a:prstGeom prst="rect">
            <a:avLst/>
          </a:prstGeom>
          <a:noFill/>
        </p:spPr>
        <p:txBody>
          <a:bodyPr wrap="square" lIns="0" rIns="0" tIns="0" bIns="0" anchor="ctr">
            <a:spAutoFit/>
          </a:bodyPr>
          <a:lstStyle/>
          <a:p>
            <a:pPr algn="l"/>
            <a:r>
              <a:rPr sz="1800" b="0" i="0">
                <a:solidFill>
                  <a:srgbClr val="9A7878"/>
                </a:solidFill>
                <a:latin typeface="Geist Mono"/>
                <a:ea typeface="Geist Mono"/>
                <a:cs typeface="Geist Mono"/>
              </a:rPr>
              <a:t>balls_scored_</a:t>
            </a:r>
          </a:p>
        </p:txBody>
      </p:sp>
      <p:sp>
        <p:nvSpPr>
          <p:cNvPr id="24" name="TextBox 23"/>
          <p:cNvSpPr txBox="1"/>
          <p:nvPr/>
        </p:nvSpPr>
        <p:spPr>
          <a:xfrm>
            <a:off x="14859000" y="4533900"/>
            <a:ext cx="1905000" cy="685800"/>
          </a:xfrm>
          <a:prstGeom prst="rect">
            <a:avLst/>
          </a:prstGeom>
          <a:noFill/>
        </p:spPr>
        <p:txBody>
          <a:bodyPr wrap="square" lIns="0" rIns="0" tIns="0" bIns="0" anchor="ctr">
            <a:spAutoFit/>
          </a:bodyPr>
          <a:lstStyle/>
          <a:p>
            <a:pPr algn="r"/>
            <a:r>
              <a:rPr sz="2550" b="1" i="0">
                <a:solidFill>
                  <a:srgbClr val="CC2200"/>
                </a:solidFill>
                <a:latin typeface="Geist Mono"/>
                <a:ea typeface="Geist Mono"/>
                <a:cs typeface="Geist Mono"/>
              </a:rPr>
              <a:t>2</a:t>
            </a:r>
          </a:p>
        </p:txBody>
      </p:sp>
      <p:sp>
        <p:nvSpPr>
          <p:cNvPr id="25" name="Rounded Rectangle 24"/>
          <p:cNvSpPr/>
          <p:nvPr/>
        </p:nvSpPr>
        <p:spPr>
          <a:xfrm>
            <a:off x="9906000" y="5676900"/>
            <a:ext cx="7467600" cy="2571750"/>
          </a:xfrm>
          <a:prstGeom prst="roundRect">
            <a:avLst>
              <a:gd name="adj" fmla="val 5925"/>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287000" y="5943600"/>
            <a:ext cx="5715000" cy="419100"/>
          </a:xfrm>
          <a:prstGeom prst="rect">
            <a:avLst/>
          </a:prstGeom>
          <a:noFill/>
        </p:spPr>
        <p:txBody>
          <a:bodyPr wrap="square" lIns="0" rIns="0" tIns="0" bIns="0" anchor="t">
            <a:spAutoFit/>
          </a:bodyPr>
          <a:lstStyle/>
          <a:p>
            <a:pPr algn="l"/>
            <a:r>
              <a:rPr sz="2550" b="1" i="0">
                <a:solidFill>
                  <a:srgbClr val="F0E8E8"/>
                </a:solidFill>
                <a:latin typeface="Geist Mono"/>
                <a:ea typeface="Geist Mono"/>
                <a:cs typeface="Geist Mono"/>
              </a:rPr>
              <a:t>citrus</a:t>
            </a:r>
          </a:p>
        </p:txBody>
      </p:sp>
      <p:sp>
        <p:nvSpPr>
          <p:cNvPr id="27" name="Rounded Rectangle 26"/>
          <p:cNvSpPr/>
          <p:nvPr/>
        </p:nvSpPr>
        <p:spPr>
          <a:xfrm>
            <a:off x="10287000" y="6553200"/>
            <a:ext cx="6705600" cy="685800"/>
          </a:xfrm>
          <a:prstGeom prst="roundRect">
            <a:avLst>
              <a:gd name="adj" fmla="val 13888"/>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0572750" y="6553200"/>
            <a:ext cx="3810000" cy="685800"/>
          </a:xfrm>
          <a:prstGeom prst="rect">
            <a:avLst/>
          </a:prstGeom>
          <a:noFill/>
        </p:spPr>
        <p:txBody>
          <a:bodyPr wrap="square" lIns="0" rIns="0" tIns="0" bIns="0" anchor="ctr">
            <a:spAutoFit/>
          </a:bodyPr>
          <a:lstStyle/>
          <a:p>
            <a:pPr algn="l"/>
            <a:r>
              <a:rPr sz="1800" b="0" i="0">
                <a:solidFill>
                  <a:srgbClr val="9A7878"/>
                </a:solidFill>
                <a:latin typeface="Geist Mono"/>
                <a:ea typeface="Geist Mono"/>
                <a:cs typeface="Geist Mono"/>
              </a:rPr>
              <a:t>team_number_</a:t>
            </a:r>
          </a:p>
        </p:txBody>
      </p:sp>
      <p:sp>
        <p:nvSpPr>
          <p:cNvPr id="29" name="TextBox 28"/>
          <p:cNvSpPr txBox="1"/>
          <p:nvPr/>
        </p:nvSpPr>
        <p:spPr>
          <a:xfrm>
            <a:off x="14859000" y="6553200"/>
            <a:ext cx="1905000" cy="685800"/>
          </a:xfrm>
          <a:prstGeom prst="rect">
            <a:avLst/>
          </a:prstGeom>
          <a:noFill/>
        </p:spPr>
        <p:txBody>
          <a:bodyPr wrap="square" lIns="0" rIns="0" tIns="0" bIns="0" anchor="ctr">
            <a:spAutoFit/>
          </a:bodyPr>
          <a:lstStyle/>
          <a:p>
            <a:pPr algn="r"/>
            <a:r>
              <a:rPr sz="2550" b="1" i="0">
                <a:solidFill>
                  <a:srgbClr val="E8C27A"/>
                </a:solidFill>
                <a:latin typeface="Geist Mono"/>
                <a:ea typeface="Geist Mono"/>
                <a:cs typeface="Geist Mono"/>
              </a:rPr>
              <a:t>1678</a:t>
            </a:r>
          </a:p>
        </p:txBody>
      </p:sp>
      <p:sp>
        <p:nvSpPr>
          <p:cNvPr id="30" name="Rounded Rectangle 29"/>
          <p:cNvSpPr/>
          <p:nvPr/>
        </p:nvSpPr>
        <p:spPr>
          <a:xfrm>
            <a:off x="10287000" y="7353300"/>
            <a:ext cx="6705600" cy="685800"/>
          </a:xfrm>
          <a:prstGeom prst="roundRect">
            <a:avLst>
              <a:gd name="adj" fmla="val 13888"/>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0572750" y="7353300"/>
            <a:ext cx="3810000" cy="685800"/>
          </a:xfrm>
          <a:prstGeom prst="rect">
            <a:avLst/>
          </a:prstGeom>
          <a:noFill/>
        </p:spPr>
        <p:txBody>
          <a:bodyPr wrap="square" lIns="0" rIns="0" tIns="0" bIns="0" anchor="ctr">
            <a:spAutoFit/>
          </a:bodyPr>
          <a:lstStyle/>
          <a:p>
            <a:pPr algn="l"/>
            <a:r>
              <a:rPr sz="1800" b="0" i="0">
                <a:solidFill>
                  <a:srgbClr val="9A7878"/>
                </a:solidFill>
                <a:latin typeface="Geist Mono"/>
                <a:ea typeface="Geist Mono"/>
                <a:cs typeface="Geist Mono"/>
              </a:rPr>
              <a:t>balls_scored_</a:t>
            </a:r>
          </a:p>
        </p:txBody>
      </p:sp>
      <p:sp>
        <p:nvSpPr>
          <p:cNvPr id="32" name="TextBox 31"/>
          <p:cNvSpPr txBox="1"/>
          <p:nvPr/>
        </p:nvSpPr>
        <p:spPr>
          <a:xfrm>
            <a:off x="14859000" y="7353300"/>
            <a:ext cx="1905000" cy="685800"/>
          </a:xfrm>
          <a:prstGeom prst="rect">
            <a:avLst/>
          </a:prstGeom>
          <a:noFill/>
        </p:spPr>
        <p:txBody>
          <a:bodyPr wrap="square" lIns="0" rIns="0" tIns="0" bIns="0" anchor="ctr">
            <a:spAutoFit/>
          </a:bodyPr>
          <a:lstStyle/>
          <a:p>
            <a:pPr algn="r"/>
            <a:r>
              <a:rPr sz="2550" b="1" i="0">
                <a:solidFill>
                  <a:srgbClr val="E8C27A"/>
                </a:solidFill>
                <a:latin typeface="Geist Mono"/>
                <a:ea typeface="Geist Mono"/>
                <a:cs typeface="Geist Mono"/>
              </a:rPr>
              <a:t>0</a:t>
            </a:r>
          </a:p>
        </p:txBody>
      </p:sp>
      <p:sp>
        <p:nvSpPr>
          <p:cNvPr id="33" name="TextBox 32"/>
          <p:cNvSpPr txBox="1"/>
          <p:nvPr/>
        </p:nvSpPr>
        <p:spPr>
          <a:xfrm>
            <a:off x="9906000" y="8629650"/>
            <a:ext cx="7467600" cy="381000"/>
          </a:xfrm>
          <a:prstGeom prst="rect">
            <a:avLst/>
          </a:prstGeom>
          <a:noFill/>
        </p:spPr>
        <p:txBody>
          <a:bodyPr wrap="square" lIns="0" rIns="0" tIns="0" bIns="0" anchor="t">
            <a:spAutoFit/>
          </a:bodyPr>
          <a:lstStyle/>
          <a:p>
            <a:pPr algn="l"/>
            <a:r>
              <a:rPr sz="1950" b="1" i="0">
                <a:solidFill>
                  <a:srgbClr val="F0E8E8"/>
                </a:solidFill>
                <a:latin typeface="Geist"/>
                <a:ea typeface="Geist"/>
                <a:cs typeface="Geist"/>
              </a:rPr>
              <a:t>Same blueprint, separate data.</a:t>
            </a:r>
          </a:p>
        </p:txBody>
      </p:sp>
      <p:sp>
        <p:nvSpPr>
          <p:cNvPr id="34" name="TextBox 3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5" name="TextBox 3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CLASSES AND OBJECTS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You've been using objects all along</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0287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Robot.java</a:t>
            </a:r>
          </a:p>
        </p:txBody>
      </p:sp>
      <p:sp>
        <p:nvSpPr>
          <p:cNvPr id="6" name="Rounded Rectangle 5"/>
          <p:cNvSpPr/>
          <p:nvPr/>
        </p:nvSpPr>
        <p:spPr>
          <a:xfrm>
            <a:off x="914400" y="3143250"/>
            <a:ext cx="10287000" cy="4876800"/>
          </a:xfrm>
          <a:prstGeom prst="roundRect">
            <a:avLst>
              <a:gd name="adj" fmla="val 3125"/>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5400" y="3524250"/>
            <a:ext cx="9753600" cy="34290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class</a:t>
            </a:r>
            <a:r>
              <a:rPr sz="1800" b="0" i="0">
                <a:solidFill>
                  <a:srgbClr val="F0E8E8"/>
                </a:solidFill>
                <a:latin typeface="Geist Mono"/>
                <a:ea typeface="Geist Mono"/>
                <a:cs typeface="Geist Mono"/>
              </a:rPr>
              <a:t> Robot </a:t>
            </a:r>
            <a:r>
              <a:rPr sz="1800" b="0" i="0">
                <a:solidFill>
                  <a:srgbClr val="E0785F"/>
                </a:solidFill>
                <a:latin typeface="Geist Mono"/>
                <a:ea typeface="Geist Mono"/>
                <a:cs typeface="Geist Mono"/>
              </a:rPr>
              <a:t>extends</a:t>
            </a:r>
            <a:r>
              <a:rPr sz="1800" b="0" i="0">
                <a:solidFill>
                  <a:srgbClr val="F0E8E8"/>
                </a:solidFill>
                <a:latin typeface="Geist Mono"/>
                <a:ea typeface="Geist Mono"/>
                <a:cs typeface="Geist Mono"/>
              </a:rPr>
              <a:t> LoggedRobot {</a:t>
            </a:r>
          </a:p>
        </p:txBody>
      </p:sp>
      <p:sp>
        <p:nvSpPr>
          <p:cNvPr id="8" name="TextBox 7"/>
          <p:cNvSpPr txBox="1"/>
          <p:nvPr/>
        </p:nvSpPr>
        <p:spPr>
          <a:xfrm>
            <a:off x="1295400" y="3867150"/>
            <a:ext cx="9753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private</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final</a:t>
            </a:r>
            <a:r>
              <a:rPr sz="1800" b="0" i="0">
                <a:solidFill>
                  <a:srgbClr val="F0E8E8"/>
                </a:solidFill>
                <a:latin typeface="Geist Mono"/>
                <a:ea typeface="Geist Mono"/>
                <a:cs typeface="Geist Mono"/>
              </a:rPr>
              <a:t> XboxController controller_ =</a:t>
            </a:r>
          </a:p>
        </p:txBody>
      </p:sp>
      <p:sp>
        <p:nvSpPr>
          <p:cNvPr id="9" name="TextBox 8"/>
          <p:cNvSpPr txBox="1"/>
          <p:nvPr/>
        </p:nvSpPr>
        <p:spPr>
          <a:xfrm>
            <a:off x="1295400" y="4210050"/>
            <a:ext cx="9753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new</a:t>
            </a:r>
            <a:r>
              <a:rPr sz="1800" b="0" i="0">
                <a:solidFill>
                  <a:srgbClr val="F0E8E8"/>
                </a:solidFill>
                <a:latin typeface="Geist Mono"/>
                <a:ea typeface="Geist Mono"/>
                <a:cs typeface="Geist Mono"/>
              </a:rPr>
              <a:t> XboxController(</a:t>
            </a:r>
            <a:r>
              <a:rPr sz="1800" b="0" i="0">
                <a:solidFill>
                  <a:srgbClr val="E8C27A"/>
                </a:solidFill>
                <a:latin typeface="Geist Mono"/>
                <a:ea typeface="Geist Mono"/>
                <a:cs typeface="Geist Mono"/>
              </a:rPr>
              <a:t>0</a:t>
            </a:r>
            <a:r>
              <a:rPr sz="1800" b="0" i="0">
                <a:solidFill>
                  <a:srgbClr val="F0E8E8"/>
                </a:solidFill>
                <a:latin typeface="Geist Mono"/>
                <a:ea typeface="Geist Mono"/>
                <a:cs typeface="Geist Mono"/>
              </a:rPr>
              <a:t>);</a:t>
            </a:r>
          </a:p>
        </p:txBody>
      </p:sp>
      <p:sp>
        <p:nvSpPr>
          <p:cNvPr id="10" name="TextBox 9"/>
          <p:cNvSpPr txBox="1"/>
          <p:nvPr/>
        </p:nvSpPr>
        <p:spPr>
          <a:xfrm>
            <a:off x="1295400" y="4552950"/>
            <a:ext cx="9753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private</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final</a:t>
            </a:r>
            <a:r>
              <a:rPr sz="1800" b="0" i="0">
                <a:solidFill>
                  <a:srgbClr val="F0E8E8"/>
                </a:solidFill>
                <a:latin typeface="Geist Mono"/>
                <a:ea typeface="Geist Mono"/>
                <a:cs typeface="Geist Mono"/>
              </a:rPr>
              <a:t> DifferentialDriveMech drive_ =</a:t>
            </a:r>
          </a:p>
        </p:txBody>
      </p:sp>
      <p:sp>
        <p:nvSpPr>
          <p:cNvPr id="11" name="TextBox 10"/>
          <p:cNvSpPr txBox="1"/>
          <p:nvPr/>
        </p:nvSpPr>
        <p:spPr>
          <a:xfrm>
            <a:off x="1295400" y="4895850"/>
            <a:ext cx="9753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new</a:t>
            </a:r>
            <a:r>
              <a:rPr sz="1800" b="0" i="0">
                <a:solidFill>
                  <a:srgbClr val="F0E8E8"/>
                </a:solidFill>
                <a:latin typeface="Geist Mono"/>
                <a:ea typeface="Geist Mono"/>
                <a:cs typeface="Geist Mono"/>
              </a:rPr>
              <a:t> DifferentialDriveMech(</a:t>
            </a:r>
          </a:p>
        </p:txBody>
      </p:sp>
      <p:sp>
        <p:nvSpPr>
          <p:cNvPr id="12" name="TextBox 11"/>
          <p:cNvSpPr txBox="1"/>
          <p:nvPr/>
        </p:nvSpPr>
        <p:spPr>
          <a:xfrm>
            <a:off x="1295400" y="5238750"/>
            <a:ext cx="9753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Constants.LEFT_MOTORS, Constants.RIGHT_MOTORS);</a:t>
            </a:r>
          </a:p>
        </p:txBody>
      </p:sp>
      <p:sp>
        <p:nvSpPr>
          <p:cNvPr id="13" name="TextBox 12"/>
          <p:cNvSpPr txBox="1"/>
          <p:nvPr/>
        </p:nvSpPr>
        <p:spPr>
          <a:xfrm>
            <a:off x="1295400" y="5581650"/>
            <a:ext cx="9753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14" name="TextBox 13"/>
          <p:cNvSpPr txBox="1"/>
          <p:nvPr/>
        </p:nvSpPr>
        <p:spPr>
          <a:xfrm>
            <a:off x="1295400" y="5924550"/>
            <a:ext cx="9753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@Override</a:t>
            </a:r>
          </a:p>
        </p:txBody>
      </p:sp>
      <p:sp>
        <p:nvSpPr>
          <p:cNvPr id="15" name="TextBox 14"/>
          <p:cNvSpPr txBox="1"/>
          <p:nvPr/>
        </p:nvSpPr>
        <p:spPr>
          <a:xfrm>
            <a:off x="1295400" y="6267450"/>
            <a:ext cx="9753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void</a:t>
            </a:r>
            <a:r>
              <a:rPr sz="1800" b="0" i="0">
                <a:solidFill>
                  <a:srgbClr val="F0E8E8"/>
                </a:solidFill>
                <a:latin typeface="Geist Mono"/>
                <a:ea typeface="Geist Mono"/>
                <a:cs typeface="Geist Mono"/>
              </a:rPr>
              <a:t> teleopPeriodic() {</a:t>
            </a:r>
          </a:p>
        </p:txBody>
      </p:sp>
      <p:sp>
        <p:nvSpPr>
          <p:cNvPr id="16" name="TextBox 15"/>
          <p:cNvSpPr txBox="1"/>
          <p:nvPr/>
        </p:nvSpPr>
        <p:spPr>
          <a:xfrm>
            <a:off x="1295400" y="6610350"/>
            <a:ext cx="9753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drive_.arcadeDrive(/* forward, turn */);</a:t>
            </a:r>
          </a:p>
        </p:txBody>
      </p:sp>
      <p:sp>
        <p:nvSpPr>
          <p:cNvPr id="17" name="TextBox 16"/>
          <p:cNvSpPr txBox="1"/>
          <p:nvPr/>
        </p:nvSpPr>
        <p:spPr>
          <a:xfrm>
            <a:off x="1295400" y="6953250"/>
            <a:ext cx="9753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18" name="TextBox 17"/>
          <p:cNvSpPr txBox="1"/>
          <p:nvPr/>
        </p:nvSpPr>
        <p:spPr>
          <a:xfrm>
            <a:off x="1295400" y="7296150"/>
            <a:ext cx="9753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19" name="Oval 18"/>
          <p:cNvSpPr/>
          <p:nvPr/>
        </p:nvSpPr>
        <p:spPr>
          <a:xfrm>
            <a:off x="10591800" y="35052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91800" y="35052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1" name="Oval 20"/>
          <p:cNvSpPr/>
          <p:nvPr/>
        </p:nvSpPr>
        <p:spPr>
          <a:xfrm>
            <a:off x="10591800" y="41910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91800" y="41910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3" name="Oval 22"/>
          <p:cNvSpPr/>
          <p:nvPr/>
        </p:nvSpPr>
        <p:spPr>
          <a:xfrm>
            <a:off x="10591800" y="48768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91800" y="48768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5" name="Oval 24"/>
          <p:cNvSpPr/>
          <p:nvPr/>
        </p:nvSpPr>
        <p:spPr>
          <a:xfrm>
            <a:off x="10591800" y="65913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591800" y="65913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7" name="Oval 26"/>
          <p:cNvSpPr/>
          <p:nvPr/>
        </p:nvSpPr>
        <p:spPr>
          <a:xfrm>
            <a:off x="118681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8681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9" name="TextBox 28"/>
          <p:cNvSpPr txBox="1"/>
          <p:nvPr/>
        </p:nvSpPr>
        <p:spPr>
          <a:xfrm>
            <a:off x="12477750" y="2819400"/>
            <a:ext cx="48958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Robot</a:t>
            </a:r>
          </a:p>
        </p:txBody>
      </p:sp>
      <p:sp>
        <p:nvSpPr>
          <p:cNvPr id="30" name="TextBox 29"/>
          <p:cNvSpPr txBox="1"/>
          <p:nvPr/>
        </p:nvSpPr>
        <p:spPr>
          <a:xfrm>
            <a:off x="12477750" y="3238500"/>
            <a:ext cx="48958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 class. Every Java file holds one</a:t>
            </a:r>
          </a:p>
        </p:txBody>
      </p:sp>
      <p:sp>
        <p:nvSpPr>
          <p:cNvPr id="31" name="Oval 30"/>
          <p:cNvSpPr/>
          <p:nvPr/>
        </p:nvSpPr>
        <p:spPr>
          <a:xfrm>
            <a:off x="11868150" y="4286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86815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3" name="TextBox 32"/>
          <p:cNvSpPr txBox="1"/>
          <p:nvPr/>
        </p:nvSpPr>
        <p:spPr>
          <a:xfrm>
            <a:off x="12477750" y="4248150"/>
            <a:ext cx="48958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controller_</a:t>
            </a:r>
          </a:p>
        </p:txBody>
      </p:sp>
      <p:sp>
        <p:nvSpPr>
          <p:cNvPr id="34" name="TextBox 33"/>
          <p:cNvSpPr txBox="1"/>
          <p:nvPr/>
        </p:nvSpPr>
        <p:spPr>
          <a:xfrm>
            <a:off x="12477750" y="4667250"/>
            <a:ext cx="48958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An object, built from WPILib's XboxController</a:t>
            </a:r>
          </a:p>
        </p:txBody>
      </p:sp>
      <p:sp>
        <p:nvSpPr>
          <p:cNvPr id="35" name="Oval 34"/>
          <p:cNvSpPr/>
          <p:nvPr/>
        </p:nvSpPr>
        <p:spPr>
          <a:xfrm>
            <a:off x="11868150" y="5715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86815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7" name="TextBox 36"/>
          <p:cNvSpPr txBox="1"/>
          <p:nvPr/>
        </p:nvSpPr>
        <p:spPr>
          <a:xfrm>
            <a:off x="12477750" y="5676900"/>
            <a:ext cx="48958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drive_</a:t>
            </a:r>
          </a:p>
        </p:txBody>
      </p:sp>
      <p:sp>
        <p:nvSpPr>
          <p:cNvPr id="38" name="TextBox 37"/>
          <p:cNvSpPr txBox="1"/>
          <p:nvPr/>
        </p:nvSpPr>
        <p:spPr>
          <a:xfrm>
            <a:off x="12477750" y="6096000"/>
            <a:ext cx="48958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An object, built from the lesson's own class</a:t>
            </a:r>
          </a:p>
        </p:txBody>
      </p:sp>
      <p:sp>
        <p:nvSpPr>
          <p:cNvPr id="39" name="Oval 38"/>
          <p:cNvSpPr/>
          <p:nvPr/>
        </p:nvSpPr>
        <p:spPr>
          <a:xfrm>
            <a:off x="11868150" y="7143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86815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41" name="TextBox 40"/>
          <p:cNvSpPr txBox="1"/>
          <p:nvPr/>
        </p:nvSpPr>
        <p:spPr>
          <a:xfrm>
            <a:off x="12477750" y="7105650"/>
            <a:ext cx="48958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arcadeDrive</a:t>
            </a:r>
          </a:p>
        </p:txBody>
      </p:sp>
      <p:sp>
        <p:nvSpPr>
          <p:cNvPr id="42" name="TextBox 41"/>
          <p:cNvSpPr txBox="1"/>
          <p:nvPr/>
        </p:nvSpPr>
        <p:spPr>
          <a:xfrm>
            <a:off x="12477750" y="7524750"/>
            <a:ext cx="48958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 method of drive_</a:t>
            </a:r>
          </a:p>
        </p:txBody>
      </p:sp>
      <p:sp>
        <p:nvSpPr>
          <p:cNvPr id="43" name="TextBox 4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4" name="TextBox 4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CLASSES AND OBJECTS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extends: building on another class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1809750"/>
          </a:xfrm>
          <a:prstGeom prst="roundRect">
            <a:avLst>
              <a:gd name="adj" fmla="val 84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105150"/>
            <a:ext cx="7239000" cy="476250"/>
          </a:xfrm>
          <a:prstGeom prst="rect">
            <a:avLst/>
          </a:prstGeom>
          <a:noFill/>
        </p:spPr>
        <p:txBody>
          <a:bodyPr wrap="square" lIns="0" rIns="0" tIns="0" bIns="0" anchor="t">
            <a:spAutoFit/>
          </a:bodyPr>
          <a:lstStyle/>
          <a:p>
            <a:pPr algn="l"/>
            <a:r>
              <a:rPr sz="2400" b="1" i="0">
                <a:solidFill>
                  <a:srgbClr val="F0E8E8"/>
                </a:solidFill>
                <a:latin typeface="Geist Mono"/>
                <a:ea typeface="Geist Mono"/>
                <a:cs typeface="Geist Mono"/>
              </a:rPr>
              <a:t>LoggedRobot</a:t>
            </a:r>
          </a:p>
        </p:txBody>
      </p:sp>
      <p:sp>
        <p:nvSpPr>
          <p:cNvPr id="7" name="TextBox 6"/>
          <p:cNvSpPr txBox="1"/>
          <p:nvPr/>
        </p:nvSpPr>
        <p:spPr>
          <a:xfrm>
            <a:off x="1295400" y="3676650"/>
            <a:ext cx="7239000" cy="8572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From AdvantageKit. Runs the loop and calls teleopPeriodic() for you.</a:t>
            </a:r>
          </a:p>
        </p:txBody>
      </p:sp>
      <p:sp>
        <p:nvSpPr>
          <p:cNvPr id="8" name="Rectangle 7"/>
          <p:cNvSpPr/>
          <p:nvPr/>
        </p:nvSpPr>
        <p:spPr>
          <a:xfrm>
            <a:off x="4910138" y="4875848"/>
            <a:ext cx="47625" cy="92011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Isosceles Triangle 8"/>
          <p:cNvSpPr/>
          <p:nvPr/>
        </p:nvSpPr>
        <p:spPr>
          <a:xfrm>
            <a:off x="4857750" y="4762500"/>
            <a:ext cx="152400" cy="15240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00650" y="5048250"/>
            <a:ext cx="2857500" cy="381000"/>
          </a:xfrm>
          <a:prstGeom prst="rect">
            <a:avLst/>
          </a:prstGeom>
          <a:noFill/>
        </p:spPr>
        <p:txBody>
          <a:bodyPr wrap="square" lIns="0" rIns="0" tIns="0" bIns="0" anchor="t">
            <a:spAutoFit/>
          </a:bodyPr>
          <a:lstStyle/>
          <a:p>
            <a:pPr algn="l"/>
            <a:r>
              <a:rPr sz="1950" b="1" i="0">
                <a:solidFill>
                  <a:srgbClr val="E0785F"/>
                </a:solidFill>
                <a:latin typeface="Geist Mono"/>
                <a:ea typeface="Geist Mono"/>
                <a:cs typeface="Geist Mono"/>
              </a:rPr>
              <a:t>extends</a:t>
            </a:r>
          </a:p>
        </p:txBody>
      </p:sp>
      <p:sp>
        <p:nvSpPr>
          <p:cNvPr id="11" name="Rounded Rectangle 10"/>
          <p:cNvSpPr/>
          <p:nvPr/>
        </p:nvSpPr>
        <p:spPr>
          <a:xfrm>
            <a:off x="914400" y="5867400"/>
            <a:ext cx="8039100" cy="1809750"/>
          </a:xfrm>
          <a:prstGeom prst="roundRect">
            <a:avLst>
              <a:gd name="adj" fmla="val 8421"/>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295400" y="6115050"/>
            <a:ext cx="7239000" cy="476250"/>
          </a:xfrm>
          <a:prstGeom prst="rect">
            <a:avLst/>
          </a:prstGeom>
          <a:noFill/>
        </p:spPr>
        <p:txBody>
          <a:bodyPr wrap="square" lIns="0" rIns="0" tIns="0" bIns="0" anchor="t">
            <a:spAutoFit/>
          </a:bodyPr>
          <a:lstStyle/>
          <a:p>
            <a:pPr algn="l"/>
            <a:r>
              <a:rPr sz="2400" b="1" i="0">
                <a:solidFill>
                  <a:srgbClr val="F0E8E8"/>
                </a:solidFill>
                <a:latin typeface="Geist Mono"/>
                <a:ea typeface="Geist Mono"/>
                <a:cs typeface="Geist Mono"/>
              </a:rPr>
              <a:t>Robot</a:t>
            </a:r>
          </a:p>
        </p:txBody>
      </p:sp>
      <p:sp>
        <p:nvSpPr>
          <p:cNvPr id="13" name="TextBox 12"/>
          <p:cNvSpPr txBox="1"/>
          <p:nvPr/>
        </p:nvSpPr>
        <p:spPr>
          <a:xfrm>
            <a:off x="1295400" y="6686550"/>
            <a:ext cx="7239000" cy="8572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Fills in teleopPeriodic() and autonomousPeriodic().</a:t>
            </a:r>
          </a:p>
        </p:txBody>
      </p:sp>
      <p:sp>
        <p:nvSpPr>
          <p:cNvPr id="14" name="Rounded Rectangle 13"/>
          <p:cNvSpPr/>
          <p:nvPr/>
        </p:nvSpPr>
        <p:spPr>
          <a:xfrm>
            <a:off x="9334500" y="2857500"/>
            <a:ext cx="8039100" cy="1809750"/>
          </a:xfrm>
          <a:prstGeom prst="roundRect">
            <a:avLst>
              <a:gd name="adj" fmla="val 84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715500" y="3105150"/>
            <a:ext cx="7239000" cy="476250"/>
          </a:xfrm>
          <a:prstGeom prst="rect">
            <a:avLst/>
          </a:prstGeom>
          <a:noFill/>
        </p:spPr>
        <p:txBody>
          <a:bodyPr wrap="square" lIns="0" rIns="0" tIns="0" bIns="0" anchor="t">
            <a:spAutoFit/>
          </a:bodyPr>
          <a:lstStyle/>
          <a:p>
            <a:pPr algn="l"/>
            <a:r>
              <a:rPr sz="2400" b="1" i="0">
                <a:solidFill>
                  <a:srgbClr val="F0E8E8"/>
                </a:solidFill>
                <a:latin typeface="Geist Mono"/>
                <a:ea typeface="Geist Mono"/>
                <a:cs typeface="Geist Mono"/>
              </a:rPr>
              <a:t>MechBase</a:t>
            </a:r>
          </a:p>
        </p:txBody>
      </p:sp>
      <p:sp>
        <p:nvSpPr>
          <p:cNvPr id="16" name="TextBox 15"/>
          <p:cNvSpPr txBox="1"/>
          <p:nvPr/>
        </p:nvSpPr>
        <p:spPr>
          <a:xfrm>
            <a:off x="9715500" y="3676650"/>
            <a:ext cx="7239000" cy="8572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From MWLib. Calls readInputs(), writeOutputs() and logData() every loop.</a:t>
            </a:r>
          </a:p>
        </p:txBody>
      </p:sp>
      <p:sp>
        <p:nvSpPr>
          <p:cNvPr id="17" name="Rectangle 16"/>
          <p:cNvSpPr/>
          <p:nvPr/>
        </p:nvSpPr>
        <p:spPr>
          <a:xfrm>
            <a:off x="13330238" y="4875848"/>
            <a:ext cx="47625" cy="92011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a:off x="13277850" y="4762500"/>
            <a:ext cx="152400" cy="15240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620750" y="5048250"/>
            <a:ext cx="2857500" cy="381000"/>
          </a:xfrm>
          <a:prstGeom prst="rect">
            <a:avLst/>
          </a:prstGeom>
          <a:noFill/>
        </p:spPr>
        <p:txBody>
          <a:bodyPr wrap="square" lIns="0" rIns="0" tIns="0" bIns="0" anchor="t">
            <a:spAutoFit/>
          </a:bodyPr>
          <a:lstStyle/>
          <a:p>
            <a:pPr algn="l"/>
            <a:r>
              <a:rPr sz="1950" b="1" i="0">
                <a:solidFill>
                  <a:srgbClr val="E0785F"/>
                </a:solidFill>
                <a:latin typeface="Geist Mono"/>
                <a:ea typeface="Geist Mono"/>
                <a:cs typeface="Geist Mono"/>
              </a:rPr>
              <a:t>extends</a:t>
            </a:r>
          </a:p>
        </p:txBody>
      </p:sp>
      <p:sp>
        <p:nvSpPr>
          <p:cNvPr id="20" name="Rounded Rectangle 19"/>
          <p:cNvSpPr/>
          <p:nvPr/>
        </p:nvSpPr>
        <p:spPr>
          <a:xfrm>
            <a:off x="9334500" y="5867400"/>
            <a:ext cx="8039100" cy="1809750"/>
          </a:xfrm>
          <a:prstGeom prst="roundRect">
            <a:avLst>
              <a:gd name="adj" fmla="val 8421"/>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715500" y="6115050"/>
            <a:ext cx="7239000" cy="476250"/>
          </a:xfrm>
          <a:prstGeom prst="rect">
            <a:avLst/>
          </a:prstGeom>
          <a:noFill/>
        </p:spPr>
        <p:txBody>
          <a:bodyPr wrap="square" lIns="0" rIns="0" tIns="0" bIns="0" anchor="t">
            <a:spAutoFit/>
          </a:bodyPr>
          <a:lstStyle/>
          <a:p>
            <a:pPr algn="l"/>
            <a:r>
              <a:rPr sz="2400" b="1" i="0">
                <a:solidFill>
                  <a:srgbClr val="F0E8E8"/>
                </a:solidFill>
                <a:latin typeface="Geist Mono"/>
                <a:ea typeface="Geist Mono"/>
                <a:cs typeface="Geist Mono"/>
              </a:rPr>
              <a:t>DifferentialDriveMech</a:t>
            </a:r>
          </a:p>
        </p:txBody>
      </p:sp>
      <p:sp>
        <p:nvSpPr>
          <p:cNvPr id="22" name="TextBox 21"/>
          <p:cNvSpPr txBox="1"/>
          <p:nvPr/>
        </p:nvSpPr>
        <p:spPr>
          <a:xfrm>
            <a:off x="9715500" y="6686550"/>
            <a:ext cx="7239000" cy="8572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Fills them in for the drivetrain.</a:t>
            </a:r>
          </a:p>
        </p:txBody>
      </p:sp>
      <p:sp>
        <p:nvSpPr>
          <p:cNvPr id="23" name="Rounded Rectangle 22"/>
          <p:cNvSpPr/>
          <p:nvPr/>
        </p:nvSpPr>
        <p:spPr>
          <a:xfrm>
            <a:off x="914400" y="796290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333500" y="7962900"/>
            <a:ext cx="1565910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@Override  </a:t>
            </a:r>
            <a:r>
              <a:rPr sz="2100" b="0" i="0">
                <a:solidFill>
                  <a:srgbClr val="F0E8E8"/>
                </a:solidFill>
                <a:latin typeface="Geist"/>
                <a:ea typeface="Geist"/>
                <a:cs typeface="Geist"/>
              </a:rPr>
              <a:t>means “I'm writing my own version of the parent's method.”</a:t>
            </a:r>
          </a:p>
        </p:txBody>
      </p:sp>
      <p:pic>
        <p:nvPicPr>
          <p:cNvPr id="25" name="Picture 24" descr="code-slash.png"/>
          <p:cNvPicPr>
            <a:picLocks noChangeAspect="1"/>
          </p:cNvPicPr>
          <p:nvPr/>
        </p:nvPicPr>
        <p:blipFill>
          <a:blip r:embed="rId3"/>
          <a:stretch>
            <a:fillRect/>
          </a:stretch>
        </p:blipFill>
        <p:spPr>
          <a:xfrm>
            <a:off x="914400" y="8991600"/>
            <a:ext cx="224518" cy="209550"/>
          </a:xfrm>
          <a:prstGeom prst="rect">
            <a:avLst/>
          </a:prstGeom>
        </p:spPr>
      </p:pic>
      <p:sp>
        <p:nvSpPr>
          <p:cNvPr id="26" name="TextBox 25"/>
          <p:cNvSpPr txBox="1"/>
          <p:nvPr/>
        </p:nvSpPr>
        <p:spPr>
          <a:xfrm>
            <a:off x="1295400" y="89535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Inheritance</a:t>
            </a:r>
          </a:p>
        </p:txBody>
      </p:sp>
      <p:sp>
        <p:nvSpPr>
          <p:cNvPr id="27" name="TextBox 2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8" name="TextBox 2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CLASSES AND OBJECTS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public and private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4000500"/>
            <a:ext cx="314325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14400" y="4191000"/>
            <a:ext cx="3143250" cy="476250"/>
          </a:xfrm>
          <a:prstGeom prst="rect">
            <a:avLst/>
          </a:prstGeom>
          <a:noFill/>
        </p:spPr>
        <p:txBody>
          <a:bodyPr wrap="square" lIns="0" rIns="0" tIns="0" bIns="0" anchor="t">
            <a:spAutoFit/>
          </a:bodyPr>
          <a:lstStyle/>
          <a:p>
            <a:pPr algn="ctr"/>
            <a:r>
              <a:rPr sz="2400" b="1" i="0">
                <a:solidFill>
                  <a:srgbClr val="F0E8E8"/>
                </a:solidFill>
                <a:latin typeface="Geist Mono"/>
                <a:ea typeface="Geist Mono"/>
                <a:cs typeface="Geist Mono"/>
              </a:rPr>
              <a:t>Robot</a:t>
            </a:r>
          </a:p>
        </p:txBody>
      </p:sp>
      <p:sp>
        <p:nvSpPr>
          <p:cNvPr id="7" name="TextBox 6"/>
          <p:cNvSpPr txBox="1"/>
          <p:nvPr/>
        </p:nvSpPr>
        <p:spPr>
          <a:xfrm>
            <a:off x="1104900" y="4762500"/>
            <a:ext cx="2762250" cy="857250"/>
          </a:xfrm>
          <a:prstGeom prst="rect">
            <a:avLst/>
          </a:prstGeom>
          <a:noFill/>
        </p:spPr>
        <p:txBody>
          <a:bodyPr wrap="square" lIns="0" rIns="0" tIns="0" bIns="0" anchor="t">
            <a:spAutoFit/>
          </a:bodyPr>
          <a:lstStyle/>
          <a:p>
            <a:pPr algn="ctr">
              <a:lnSpc>
                <a:spcPct val="130000"/>
              </a:lnSpc>
            </a:pPr>
            <a:r>
              <a:rPr sz="1650" b="0" i="0">
                <a:solidFill>
                  <a:srgbClr val="9A7878"/>
                </a:solidFill>
                <a:latin typeface="Geist"/>
                <a:ea typeface="Geist"/>
                <a:cs typeface="Geist"/>
              </a:rPr>
              <a:t>asks the drivetrain things</a:t>
            </a:r>
          </a:p>
        </p:txBody>
      </p:sp>
      <p:sp>
        <p:nvSpPr>
          <p:cNvPr id="8" name="Rounded Rectangle 7"/>
          <p:cNvSpPr/>
          <p:nvPr/>
        </p:nvSpPr>
        <p:spPr>
          <a:xfrm>
            <a:off x="6096000" y="2857500"/>
            <a:ext cx="11277600" cy="4191000"/>
          </a:xfrm>
          <a:prstGeom prst="roundRect">
            <a:avLst>
              <a:gd name="adj" fmla="val 363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77000" y="3048000"/>
            <a:ext cx="8572500" cy="476250"/>
          </a:xfrm>
          <a:prstGeom prst="rect">
            <a:avLst/>
          </a:prstGeom>
          <a:noFill/>
        </p:spPr>
        <p:txBody>
          <a:bodyPr wrap="square" lIns="0" rIns="0" tIns="0" bIns="0" anchor="t">
            <a:spAutoFit/>
          </a:bodyPr>
          <a:lstStyle/>
          <a:p>
            <a:pPr algn="l"/>
            <a:r>
              <a:rPr sz="2250" b="1" i="0">
                <a:solidFill>
                  <a:srgbClr val="F0E8E8"/>
                </a:solidFill>
                <a:latin typeface="Geist Mono"/>
                <a:ea typeface="Geist Mono"/>
                <a:cs typeface="Geist Mono"/>
              </a:rPr>
              <a:t>DifferentialDriveMech</a:t>
            </a:r>
          </a:p>
        </p:txBody>
      </p:sp>
      <p:sp>
        <p:nvSpPr>
          <p:cNvPr id="10" name="Rounded Rectangle 9"/>
          <p:cNvSpPr/>
          <p:nvPr/>
        </p:nvSpPr>
        <p:spPr>
          <a:xfrm>
            <a:off x="5715000" y="3810000"/>
            <a:ext cx="2857500" cy="685800"/>
          </a:xfrm>
          <a:prstGeom prst="roundRect">
            <a:avLst>
              <a:gd name="adj" fmla="val 13888"/>
            </a:avLst>
          </a:prstGeom>
          <a:solidFill>
            <a:srgbClr val="0A0A0A"/>
          </a:solidFill>
          <a:ln w="1905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715000" y="3810000"/>
            <a:ext cx="2857500" cy="685800"/>
          </a:xfrm>
          <a:prstGeom prst="rect">
            <a:avLst/>
          </a:prstGeom>
          <a:noFill/>
        </p:spPr>
        <p:txBody>
          <a:bodyPr wrap="square" lIns="0" rIns="0" tIns="0" bIns="0" anchor="ctr">
            <a:spAutoFit/>
          </a:bodyPr>
          <a:lstStyle/>
          <a:p>
            <a:pPr algn="ctr"/>
            <a:r>
              <a:rPr sz="1800" b="0" i="0">
                <a:solidFill>
                  <a:srgbClr val="E05540"/>
                </a:solidFill>
                <a:latin typeface="Geist Mono"/>
                <a:ea typeface="Geist Mono"/>
                <a:cs typeface="Geist Mono"/>
              </a:rPr>
              <a:t>getPose()</a:t>
            </a:r>
          </a:p>
        </p:txBody>
      </p:sp>
      <p:sp>
        <p:nvSpPr>
          <p:cNvPr id="12" name="Rounded Rectangle 11"/>
          <p:cNvSpPr/>
          <p:nvPr/>
        </p:nvSpPr>
        <p:spPr>
          <a:xfrm>
            <a:off x="5715000" y="4762500"/>
            <a:ext cx="2857500" cy="685800"/>
          </a:xfrm>
          <a:prstGeom prst="roundRect">
            <a:avLst>
              <a:gd name="adj" fmla="val 13888"/>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715000" y="4762500"/>
            <a:ext cx="2857500" cy="685800"/>
          </a:xfrm>
          <a:prstGeom prst="rect">
            <a:avLst/>
          </a:prstGeom>
          <a:noFill/>
        </p:spPr>
        <p:txBody>
          <a:bodyPr wrap="square" lIns="0" rIns="0" tIns="0" bIns="0" anchor="ctr">
            <a:spAutoFit/>
          </a:bodyPr>
          <a:lstStyle/>
          <a:p>
            <a:pPr algn="ctr"/>
            <a:r>
              <a:rPr sz="1800" b="0" i="0">
                <a:solidFill>
                  <a:srgbClr val="E05540"/>
                </a:solidFill>
                <a:latin typeface="Geist Mono"/>
                <a:ea typeface="Geist Mono"/>
                <a:cs typeface="Geist Mono"/>
              </a:rPr>
              <a:t>resetPose()</a:t>
            </a:r>
          </a:p>
        </p:txBody>
      </p:sp>
      <p:sp>
        <p:nvSpPr>
          <p:cNvPr id="14" name="Rounded Rectangle 13"/>
          <p:cNvSpPr/>
          <p:nvPr/>
        </p:nvSpPr>
        <p:spPr>
          <a:xfrm>
            <a:off x="5715000" y="5715000"/>
            <a:ext cx="2857500" cy="685800"/>
          </a:xfrm>
          <a:prstGeom prst="roundRect">
            <a:avLst>
              <a:gd name="adj" fmla="val 13888"/>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715000" y="5715000"/>
            <a:ext cx="2857500" cy="685800"/>
          </a:xfrm>
          <a:prstGeom prst="rect">
            <a:avLst/>
          </a:prstGeom>
          <a:noFill/>
        </p:spPr>
        <p:txBody>
          <a:bodyPr wrap="square" lIns="0" rIns="0" tIns="0" bIns="0" anchor="ctr">
            <a:spAutoFit/>
          </a:bodyPr>
          <a:lstStyle/>
          <a:p>
            <a:pPr algn="ctr"/>
            <a:r>
              <a:rPr sz="1800" b="0" i="0">
                <a:solidFill>
                  <a:srgbClr val="E05540"/>
                </a:solidFill>
                <a:latin typeface="Geist Mono"/>
                <a:ea typeface="Geist Mono"/>
                <a:cs typeface="Geist Mono"/>
              </a:rPr>
              <a:t>arcadeDrive()</a:t>
            </a:r>
          </a:p>
        </p:txBody>
      </p:sp>
      <p:sp>
        <p:nvSpPr>
          <p:cNvPr id="16" name="TextBox 15"/>
          <p:cNvSpPr txBox="1"/>
          <p:nvPr/>
        </p:nvSpPr>
        <p:spPr>
          <a:xfrm>
            <a:off x="5810250" y="6667500"/>
            <a:ext cx="28575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public: anyone can call</a:t>
            </a:r>
          </a:p>
        </p:txBody>
      </p:sp>
      <p:sp>
        <p:nvSpPr>
          <p:cNvPr id="17" name="Rounded Rectangle 16"/>
          <p:cNvSpPr/>
          <p:nvPr/>
        </p:nvSpPr>
        <p:spPr>
          <a:xfrm>
            <a:off x="9334500" y="3714750"/>
            <a:ext cx="7620000" cy="2857500"/>
          </a:xfrm>
          <a:prstGeom prst="roundRect">
            <a:avLst>
              <a:gd name="adj" fmla="val 4666"/>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lock-fill.png"/>
          <p:cNvPicPr>
            <a:picLocks noChangeAspect="1"/>
          </p:cNvPicPr>
          <p:nvPr/>
        </p:nvPicPr>
        <p:blipFill>
          <a:blip r:embed="rId3"/>
          <a:stretch>
            <a:fillRect/>
          </a:stretch>
        </p:blipFill>
        <p:spPr>
          <a:xfrm>
            <a:off x="9661922" y="3905250"/>
            <a:ext cx="297656" cy="476250"/>
          </a:xfrm>
          <a:prstGeom prst="rect">
            <a:avLst/>
          </a:prstGeom>
        </p:spPr>
      </p:pic>
      <p:sp>
        <p:nvSpPr>
          <p:cNvPr id="19" name="TextBox 18"/>
          <p:cNvSpPr txBox="1"/>
          <p:nvPr/>
        </p:nvSpPr>
        <p:spPr>
          <a:xfrm>
            <a:off x="10191750" y="3924300"/>
            <a:ext cx="5715000" cy="4191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private: only this class</a:t>
            </a:r>
          </a:p>
        </p:txBody>
      </p:sp>
      <p:sp>
        <p:nvSpPr>
          <p:cNvPr id="20" name="Rounded Rectangle 19"/>
          <p:cNvSpPr/>
          <p:nvPr/>
        </p:nvSpPr>
        <p:spPr>
          <a:xfrm>
            <a:off x="9620250" y="4572000"/>
            <a:ext cx="3333750" cy="685800"/>
          </a:xfrm>
          <a:prstGeom prst="roundRect">
            <a:avLst>
              <a:gd name="adj" fmla="val 13888"/>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620250" y="4572000"/>
            <a:ext cx="3333750" cy="685800"/>
          </a:xfrm>
          <a:prstGeom prst="rect">
            <a:avLst/>
          </a:prstGeom>
          <a:noFill/>
        </p:spPr>
        <p:txBody>
          <a:bodyPr wrap="square" lIns="0" rIns="0" tIns="0" bIns="0" anchor="ctr">
            <a:spAutoFit/>
          </a:bodyPr>
          <a:lstStyle/>
          <a:p>
            <a:pPr algn="ctr"/>
            <a:r>
              <a:rPr sz="1800" b="0" i="0">
                <a:solidFill>
                  <a:srgbClr val="E8C27A"/>
                </a:solidFill>
                <a:latin typeface="Geist Mono"/>
                <a:ea typeface="Geist Mono"/>
                <a:cs typeface="Geist Mono"/>
              </a:rPr>
              <a:t>pose_</a:t>
            </a:r>
          </a:p>
        </p:txBody>
      </p:sp>
      <p:sp>
        <p:nvSpPr>
          <p:cNvPr id="22" name="Rounded Rectangle 21"/>
          <p:cNvSpPr/>
          <p:nvPr/>
        </p:nvSpPr>
        <p:spPr>
          <a:xfrm>
            <a:off x="13239750" y="4572000"/>
            <a:ext cx="3333750" cy="685800"/>
          </a:xfrm>
          <a:prstGeom prst="roundRect">
            <a:avLst>
              <a:gd name="adj" fmla="val 13888"/>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3239750" y="4572000"/>
            <a:ext cx="3333750" cy="685800"/>
          </a:xfrm>
          <a:prstGeom prst="rect">
            <a:avLst/>
          </a:prstGeom>
          <a:noFill/>
        </p:spPr>
        <p:txBody>
          <a:bodyPr wrap="square" lIns="0" rIns="0" tIns="0" bIns="0" anchor="ctr">
            <a:spAutoFit/>
          </a:bodyPr>
          <a:lstStyle/>
          <a:p>
            <a:pPr algn="ctr"/>
            <a:r>
              <a:rPr sz="1800" b="0" i="0">
                <a:solidFill>
                  <a:srgbClr val="E8C27A"/>
                </a:solidFill>
                <a:latin typeface="Geist Mono"/>
                <a:ea typeface="Geist Mono"/>
                <a:cs typeface="Geist Mono"/>
              </a:rPr>
              <a:t>pose_estimator_</a:t>
            </a:r>
          </a:p>
        </p:txBody>
      </p:sp>
      <p:sp>
        <p:nvSpPr>
          <p:cNvPr id="24" name="Rounded Rectangle 23"/>
          <p:cNvSpPr/>
          <p:nvPr/>
        </p:nvSpPr>
        <p:spPr>
          <a:xfrm>
            <a:off x="9620250" y="5524500"/>
            <a:ext cx="3333750" cy="685800"/>
          </a:xfrm>
          <a:prstGeom prst="roundRect">
            <a:avLst>
              <a:gd name="adj" fmla="val 13888"/>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620250" y="5524500"/>
            <a:ext cx="3333750" cy="685800"/>
          </a:xfrm>
          <a:prstGeom prst="rect">
            <a:avLst/>
          </a:prstGeom>
          <a:noFill/>
        </p:spPr>
        <p:txBody>
          <a:bodyPr wrap="square" lIns="0" rIns="0" tIns="0" bIns="0" anchor="ctr">
            <a:spAutoFit/>
          </a:bodyPr>
          <a:lstStyle/>
          <a:p>
            <a:pPr algn="ctr"/>
            <a:r>
              <a:rPr sz="1800" b="0" i="0">
                <a:solidFill>
                  <a:srgbClr val="E8C27A"/>
                </a:solidFill>
                <a:latin typeface="Geist Mono"/>
                <a:ea typeface="Geist Mono"/>
                <a:cs typeface="Geist Mono"/>
              </a:rPr>
              <a:t>kinematics_</a:t>
            </a:r>
          </a:p>
        </p:txBody>
      </p:sp>
      <p:cxnSp>
        <p:nvCxnSpPr>
          <p:cNvPr id="26" name="Connector 25"/>
          <p:cNvCxnSpPr/>
          <p:nvPr/>
        </p:nvCxnSpPr>
        <p:spPr>
          <a:xfrm flipV="1">
            <a:off x="4133850" y="4152900"/>
            <a:ext cx="1524000" cy="800100"/>
          </a:xfrm>
          <a:prstGeom prst="line">
            <a:avLst/>
          </a:prstGeom>
          <a:ln w="38100">
            <a:solidFill>
              <a:srgbClr val="CC2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914400" y="7429500"/>
            <a:ext cx="16459200" cy="381000"/>
          </a:xfrm>
          <a:prstGeom prst="rect">
            <a:avLst/>
          </a:prstGeom>
          <a:noFill/>
        </p:spPr>
        <p:txBody>
          <a:bodyPr wrap="square" lIns="0" rIns="0" tIns="0" bIns="0" anchor="t">
            <a:spAutoFit/>
          </a:bodyPr>
          <a:lstStyle/>
          <a:p>
            <a:pPr algn="l"/>
            <a:r>
              <a:rPr sz="1950" b="1" i="0">
                <a:solidFill>
                  <a:srgbClr val="F0E8E8"/>
                </a:solidFill>
                <a:latin typeface="Geist"/>
                <a:ea typeface="Geist"/>
                <a:cs typeface="Geist"/>
              </a:rPr>
              <a:t>Naming style</a:t>
            </a:r>
          </a:p>
        </p:txBody>
      </p:sp>
      <p:sp>
        <p:nvSpPr>
          <p:cNvPr id="28" name="Rounded Rectangle 27"/>
          <p:cNvSpPr/>
          <p:nvPr/>
        </p:nvSpPr>
        <p:spPr>
          <a:xfrm>
            <a:off x="914400" y="7905750"/>
            <a:ext cx="5257800" cy="952500"/>
          </a:xfrm>
          <a:prstGeom prst="roundRect">
            <a:avLst>
              <a:gd name="adj" fmla="val 14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200150" y="7905750"/>
            <a:ext cx="2286000" cy="952500"/>
          </a:xfrm>
          <a:prstGeom prst="rect">
            <a:avLst/>
          </a:prstGeom>
          <a:noFill/>
        </p:spPr>
        <p:txBody>
          <a:bodyPr wrap="square" lIns="0" rIns="0" tIns="0" bIns="0" anchor="ctr">
            <a:spAutoFit/>
          </a:bodyPr>
          <a:lstStyle/>
          <a:p>
            <a:pPr algn="l"/>
            <a:r>
              <a:rPr sz="1950" b="0" i="0">
                <a:solidFill>
                  <a:srgbClr val="E8C27A"/>
                </a:solidFill>
                <a:latin typeface="Geist Mono"/>
                <a:ea typeface="Geist Mono"/>
                <a:cs typeface="Geist Mono"/>
              </a:rPr>
              <a:t>Team, Pose2d</a:t>
            </a:r>
          </a:p>
        </p:txBody>
      </p:sp>
      <p:sp>
        <p:nvSpPr>
          <p:cNvPr id="30" name="TextBox 29"/>
          <p:cNvSpPr txBox="1"/>
          <p:nvPr/>
        </p:nvSpPr>
        <p:spPr>
          <a:xfrm>
            <a:off x="3486150" y="7905750"/>
            <a:ext cx="2571750" cy="952500"/>
          </a:xfrm>
          <a:prstGeom prst="rect">
            <a:avLst/>
          </a:prstGeom>
          <a:noFill/>
        </p:spPr>
        <p:txBody>
          <a:bodyPr wrap="square" lIns="0" rIns="0" tIns="0" bIns="0" anchor="ctr">
            <a:spAutoFit/>
          </a:bodyPr>
          <a:lstStyle/>
          <a:p>
            <a:pPr algn="l">
              <a:lnSpc>
                <a:spcPct val="120000"/>
              </a:lnSpc>
            </a:pPr>
            <a:r>
              <a:rPr sz="1650" b="0" i="0">
                <a:solidFill>
                  <a:srgbClr val="9A7878"/>
                </a:solidFill>
                <a:latin typeface="Geist"/>
                <a:ea typeface="Geist"/>
                <a:cs typeface="Geist"/>
              </a:rPr>
              <a:t>Classes: PascalCase</a:t>
            </a:r>
          </a:p>
        </p:txBody>
      </p:sp>
      <p:sp>
        <p:nvSpPr>
          <p:cNvPr id="31" name="Rounded Rectangle 30"/>
          <p:cNvSpPr/>
          <p:nvPr/>
        </p:nvSpPr>
        <p:spPr>
          <a:xfrm>
            <a:off x="6477000" y="7905750"/>
            <a:ext cx="5257800" cy="952500"/>
          </a:xfrm>
          <a:prstGeom prst="roundRect">
            <a:avLst>
              <a:gd name="adj" fmla="val 14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762750" y="7905750"/>
            <a:ext cx="2286000" cy="952500"/>
          </a:xfrm>
          <a:prstGeom prst="rect">
            <a:avLst/>
          </a:prstGeom>
          <a:noFill/>
        </p:spPr>
        <p:txBody>
          <a:bodyPr wrap="square" lIns="0" rIns="0" tIns="0" bIns="0" anchor="ctr">
            <a:spAutoFit/>
          </a:bodyPr>
          <a:lstStyle/>
          <a:p>
            <a:pPr algn="l"/>
            <a:r>
              <a:rPr sz="1950" b="0" i="0">
                <a:solidFill>
                  <a:srgbClr val="E8C27A"/>
                </a:solidFill>
                <a:latin typeface="Geist Mono"/>
                <a:ea typeface="Geist Mono"/>
                <a:cs typeface="Geist Mono"/>
              </a:rPr>
              <a:t>getPose()</a:t>
            </a:r>
          </a:p>
        </p:txBody>
      </p:sp>
      <p:sp>
        <p:nvSpPr>
          <p:cNvPr id="33" name="TextBox 32"/>
          <p:cNvSpPr txBox="1"/>
          <p:nvPr/>
        </p:nvSpPr>
        <p:spPr>
          <a:xfrm>
            <a:off x="9048750" y="7905750"/>
            <a:ext cx="2571750" cy="952500"/>
          </a:xfrm>
          <a:prstGeom prst="rect">
            <a:avLst/>
          </a:prstGeom>
          <a:noFill/>
        </p:spPr>
        <p:txBody>
          <a:bodyPr wrap="square" lIns="0" rIns="0" tIns="0" bIns="0" anchor="ctr">
            <a:spAutoFit/>
          </a:bodyPr>
          <a:lstStyle/>
          <a:p>
            <a:pPr algn="l">
              <a:lnSpc>
                <a:spcPct val="120000"/>
              </a:lnSpc>
            </a:pPr>
            <a:r>
              <a:rPr sz="1650" b="0" i="0">
                <a:solidFill>
                  <a:srgbClr val="9A7878"/>
                </a:solidFill>
                <a:latin typeface="Geist"/>
                <a:ea typeface="Geist"/>
                <a:cs typeface="Geist"/>
              </a:rPr>
              <a:t>Methods: camelCase</a:t>
            </a:r>
          </a:p>
        </p:txBody>
      </p:sp>
      <p:sp>
        <p:nvSpPr>
          <p:cNvPr id="34" name="Rounded Rectangle 33"/>
          <p:cNvSpPr/>
          <p:nvPr/>
        </p:nvSpPr>
        <p:spPr>
          <a:xfrm>
            <a:off x="12039600" y="7905750"/>
            <a:ext cx="5257800" cy="952500"/>
          </a:xfrm>
          <a:prstGeom prst="roundRect">
            <a:avLst>
              <a:gd name="adj" fmla="val 14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2325350" y="7905750"/>
            <a:ext cx="2286000" cy="952500"/>
          </a:xfrm>
          <a:prstGeom prst="rect">
            <a:avLst/>
          </a:prstGeom>
          <a:noFill/>
        </p:spPr>
        <p:txBody>
          <a:bodyPr wrap="square" lIns="0" rIns="0" tIns="0" bIns="0" anchor="ctr">
            <a:spAutoFit/>
          </a:bodyPr>
          <a:lstStyle/>
          <a:p>
            <a:pPr algn="l"/>
            <a:r>
              <a:rPr sz="1950" b="0" i="0">
                <a:solidFill>
                  <a:srgbClr val="E8C27A"/>
                </a:solidFill>
                <a:latin typeface="Geist Mono"/>
                <a:ea typeface="Geist Mono"/>
                <a:cs typeface="Geist Mono"/>
              </a:rPr>
              <a:t>pose_</a:t>
            </a:r>
          </a:p>
        </p:txBody>
      </p:sp>
      <p:sp>
        <p:nvSpPr>
          <p:cNvPr id="36" name="TextBox 35"/>
          <p:cNvSpPr txBox="1"/>
          <p:nvPr/>
        </p:nvSpPr>
        <p:spPr>
          <a:xfrm>
            <a:off x="14611350" y="7905750"/>
            <a:ext cx="2571750" cy="952500"/>
          </a:xfrm>
          <a:prstGeom prst="rect">
            <a:avLst/>
          </a:prstGeom>
          <a:noFill/>
        </p:spPr>
        <p:txBody>
          <a:bodyPr wrap="square" lIns="0" rIns="0" tIns="0" bIns="0" anchor="ctr">
            <a:spAutoFit/>
          </a:bodyPr>
          <a:lstStyle/>
          <a:p>
            <a:pPr algn="l">
              <a:lnSpc>
                <a:spcPct val="120000"/>
              </a:lnSpc>
            </a:pPr>
            <a:r>
              <a:rPr sz="1650" b="0" i="0">
                <a:solidFill>
                  <a:srgbClr val="9A7878"/>
                </a:solidFill>
                <a:latin typeface="Geist"/>
                <a:ea typeface="Geist"/>
                <a:cs typeface="Geist"/>
              </a:rPr>
              <a:t>Fields: trailing underscore</a:t>
            </a:r>
          </a:p>
        </p:txBody>
      </p:sp>
      <p:sp>
        <p:nvSpPr>
          <p:cNvPr id="37" name="TextBox 3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8" name="TextBox 3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CLASSES AND OBJECTS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import: where a class lives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9525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Top of the file</a:t>
            </a:r>
          </a:p>
        </p:txBody>
      </p:sp>
      <p:sp>
        <p:nvSpPr>
          <p:cNvPr id="6" name="Rounded Rectangle 5"/>
          <p:cNvSpPr/>
          <p:nvPr/>
        </p:nvSpPr>
        <p:spPr>
          <a:xfrm>
            <a:off x="914400" y="3276600"/>
            <a:ext cx="9525000" cy="1859280"/>
          </a:xfrm>
          <a:prstGeom prst="roundRect">
            <a:avLst>
              <a:gd name="adj" fmla="val 8196"/>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5400" y="3657600"/>
            <a:ext cx="8991600" cy="36576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import</a:t>
            </a:r>
            <a:r>
              <a:rPr sz="1800" b="0" i="0">
                <a:solidFill>
                  <a:srgbClr val="F0E8E8"/>
                </a:solidFill>
                <a:latin typeface="Geist Mono"/>
                <a:ea typeface="Geist Mono"/>
                <a:cs typeface="Geist Mono"/>
              </a:rPr>
              <a:t> edu.wpi.first.math.geometry.Pose2d;</a:t>
            </a:r>
          </a:p>
        </p:txBody>
      </p:sp>
      <p:sp>
        <p:nvSpPr>
          <p:cNvPr id="8" name="TextBox 7"/>
          <p:cNvSpPr txBox="1"/>
          <p:nvPr/>
        </p:nvSpPr>
        <p:spPr>
          <a:xfrm>
            <a:off x="1295400" y="4023360"/>
            <a:ext cx="8991600" cy="36576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import</a:t>
            </a:r>
            <a:r>
              <a:rPr sz="1800" b="0" i="0">
                <a:solidFill>
                  <a:srgbClr val="F0E8E8"/>
                </a:solidFill>
                <a:latin typeface="Geist Mono"/>
                <a:ea typeface="Geist Mono"/>
                <a:cs typeface="Geist Mono"/>
              </a:rPr>
              <a:t> edu.wpi.first.math.geometry.Rotation2d;</a:t>
            </a:r>
          </a:p>
        </p:txBody>
      </p:sp>
      <p:sp>
        <p:nvSpPr>
          <p:cNvPr id="9" name="TextBox 8"/>
          <p:cNvSpPr txBox="1"/>
          <p:nvPr/>
        </p:nvSpPr>
        <p:spPr>
          <a:xfrm>
            <a:off x="1295400" y="4389120"/>
            <a:ext cx="8991600" cy="36576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import</a:t>
            </a:r>
            <a:r>
              <a:rPr sz="1800" b="0" i="0">
                <a:solidFill>
                  <a:srgbClr val="F0E8E8"/>
                </a:solidFill>
                <a:latin typeface="Geist Mono"/>
                <a:ea typeface="Geist Mono"/>
                <a:cs typeface="Geist Mono"/>
              </a:rPr>
              <a:t> edu.wpi.first.math.kinematics.ChassisSpeeds;</a:t>
            </a:r>
          </a:p>
        </p:txBody>
      </p:sp>
      <p:sp>
        <p:nvSpPr>
          <p:cNvPr id="10" name="Rounded Rectangle 9"/>
          <p:cNvSpPr/>
          <p:nvPr/>
        </p:nvSpPr>
        <p:spPr>
          <a:xfrm>
            <a:off x="914400" y="6096000"/>
            <a:ext cx="2857500" cy="666750"/>
          </a:xfrm>
          <a:prstGeom prst="roundRect">
            <a:avLst>
              <a:gd name="adj" fmla="val 14285"/>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14400" y="6096000"/>
            <a:ext cx="2857500" cy="666750"/>
          </a:xfrm>
          <a:prstGeom prst="rect">
            <a:avLst/>
          </a:prstGeom>
          <a:noFill/>
        </p:spPr>
        <p:txBody>
          <a:bodyPr wrap="square" lIns="0" rIns="0" tIns="0" bIns="0" anchor="ctr">
            <a:spAutoFit/>
          </a:bodyPr>
          <a:lstStyle/>
          <a:p>
            <a:pPr algn="ctr"/>
            <a:r>
              <a:rPr sz="1500" b="0" i="0">
                <a:solidFill>
                  <a:srgbClr val="F0E8E8"/>
                </a:solidFill>
                <a:latin typeface="Geist Mono"/>
                <a:ea typeface="Geist Mono"/>
                <a:cs typeface="Geist Mono"/>
              </a:rPr>
              <a:t>edu.wpi.first.math</a:t>
            </a:r>
          </a:p>
        </p:txBody>
      </p:sp>
      <p:cxnSp>
        <p:nvCxnSpPr>
          <p:cNvPr id="12" name="Connector 11"/>
          <p:cNvCxnSpPr/>
          <p:nvPr/>
        </p:nvCxnSpPr>
        <p:spPr>
          <a:xfrm flipV="1">
            <a:off x="3771900" y="6048375"/>
            <a:ext cx="514350" cy="381000"/>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286250" y="5715000"/>
            <a:ext cx="1905000" cy="666750"/>
          </a:xfrm>
          <a:prstGeom prst="roundRect">
            <a:avLst>
              <a:gd name="adj" fmla="val 14285"/>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286250" y="5715000"/>
            <a:ext cx="1905000" cy="666750"/>
          </a:xfrm>
          <a:prstGeom prst="rect">
            <a:avLst/>
          </a:prstGeom>
          <a:noFill/>
        </p:spPr>
        <p:txBody>
          <a:bodyPr wrap="square" lIns="0" rIns="0" tIns="0" bIns="0" anchor="ctr">
            <a:spAutoFit/>
          </a:bodyPr>
          <a:lstStyle/>
          <a:p>
            <a:pPr algn="ctr"/>
            <a:r>
              <a:rPr sz="1650" b="0" i="0">
                <a:solidFill>
                  <a:srgbClr val="F0E8E8"/>
                </a:solidFill>
                <a:latin typeface="Geist Mono"/>
                <a:ea typeface="Geist Mono"/>
                <a:cs typeface="Geist Mono"/>
              </a:rPr>
              <a:t>geometry</a:t>
            </a:r>
          </a:p>
        </p:txBody>
      </p:sp>
      <p:cxnSp>
        <p:nvCxnSpPr>
          <p:cNvPr id="15" name="Connector 14"/>
          <p:cNvCxnSpPr/>
          <p:nvPr/>
        </p:nvCxnSpPr>
        <p:spPr>
          <a:xfrm flipV="1">
            <a:off x="6191250" y="5715000"/>
            <a:ext cx="666750" cy="333375"/>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858000" y="5429250"/>
            <a:ext cx="3429000" cy="571500"/>
          </a:xfrm>
          <a:prstGeom prst="roundRect">
            <a:avLst>
              <a:gd name="adj" fmla="val 16666"/>
            </a:avLst>
          </a:prstGeom>
          <a:solidFill>
            <a:srgbClr val="0A0A0A"/>
          </a:solidFill>
          <a:ln w="1905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858000" y="5429250"/>
            <a:ext cx="3429000" cy="571500"/>
          </a:xfrm>
          <a:prstGeom prst="rect">
            <a:avLst/>
          </a:prstGeom>
          <a:noFill/>
        </p:spPr>
        <p:txBody>
          <a:bodyPr wrap="square" lIns="0" rIns="0" tIns="0" bIns="0" anchor="ctr">
            <a:spAutoFit/>
          </a:bodyPr>
          <a:lstStyle/>
          <a:p>
            <a:pPr algn="ctr"/>
            <a:r>
              <a:rPr sz="1350" b="0" i="0">
                <a:solidFill>
                  <a:srgbClr val="E8C27A"/>
                </a:solidFill>
                <a:latin typeface="Geist Mono"/>
                <a:ea typeface="Geist Mono"/>
                <a:cs typeface="Geist Mono"/>
              </a:rPr>
              <a:t>Pose2d</a:t>
            </a:r>
          </a:p>
        </p:txBody>
      </p:sp>
      <p:cxnSp>
        <p:nvCxnSpPr>
          <p:cNvPr id="18" name="Connector 17"/>
          <p:cNvCxnSpPr/>
          <p:nvPr/>
        </p:nvCxnSpPr>
        <p:spPr>
          <a:xfrm>
            <a:off x="6191250" y="6048375"/>
            <a:ext cx="666750" cy="428625"/>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858000" y="6191250"/>
            <a:ext cx="3429000" cy="571500"/>
          </a:xfrm>
          <a:prstGeom prst="roundRect">
            <a:avLst>
              <a:gd name="adj" fmla="val 16666"/>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858000" y="6191250"/>
            <a:ext cx="3429000" cy="571500"/>
          </a:xfrm>
          <a:prstGeom prst="rect">
            <a:avLst/>
          </a:prstGeom>
          <a:noFill/>
        </p:spPr>
        <p:txBody>
          <a:bodyPr wrap="square" lIns="0" rIns="0" tIns="0" bIns="0" anchor="ctr">
            <a:spAutoFit/>
          </a:bodyPr>
          <a:lstStyle/>
          <a:p>
            <a:pPr algn="ctr"/>
            <a:r>
              <a:rPr sz="1350" b="0" i="0">
                <a:solidFill>
                  <a:srgbClr val="E8C27A"/>
                </a:solidFill>
                <a:latin typeface="Geist Mono"/>
                <a:ea typeface="Geist Mono"/>
                <a:cs typeface="Geist Mono"/>
              </a:rPr>
              <a:t>Rotation2d</a:t>
            </a:r>
          </a:p>
        </p:txBody>
      </p:sp>
      <p:cxnSp>
        <p:nvCxnSpPr>
          <p:cNvPr id="21" name="Connector 20"/>
          <p:cNvCxnSpPr/>
          <p:nvPr/>
        </p:nvCxnSpPr>
        <p:spPr>
          <a:xfrm>
            <a:off x="3771900" y="6429375"/>
            <a:ext cx="514350" cy="1238250"/>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286250" y="7334250"/>
            <a:ext cx="1905000" cy="666750"/>
          </a:xfrm>
          <a:prstGeom prst="roundRect">
            <a:avLst>
              <a:gd name="adj" fmla="val 14285"/>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286250" y="7334250"/>
            <a:ext cx="1905000" cy="666750"/>
          </a:xfrm>
          <a:prstGeom prst="rect">
            <a:avLst/>
          </a:prstGeom>
          <a:noFill/>
        </p:spPr>
        <p:txBody>
          <a:bodyPr wrap="square" lIns="0" rIns="0" tIns="0" bIns="0" anchor="ctr">
            <a:spAutoFit/>
          </a:bodyPr>
          <a:lstStyle/>
          <a:p>
            <a:pPr algn="ctr"/>
            <a:r>
              <a:rPr sz="1650" b="0" i="0">
                <a:solidFill>
                  <a:srgbClr val="F0E8E8"/>
                </a:solidFill>
                <a:latin typeface="Geist Mono"/>
                <a:ea typeface="Geist Mono"/>
                <a:cs typeface="Geist Mono"/>
              </a:rPr>
              <a:t>kinematics</a:t>
            </a:r>
          </a:p>
        </p:txBody>
      </p:sp>
      <p:cxnSp>
        <p:nvCxnSpPr>
          <p:cNvPr id="24" name="Connector 23"/>
          <p:cNvCxnSpPr/>
          <p:nvPr/>
        </p:nvCxnSpPr>
        <p:spPr>
          <a:xfrm flipV="1">
            <a:off x="6191250" y="7334250"/>
            <a:ext cx="666750" cy="333375"/>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858000" y="7048500"/>
            <a:ext cx="3429000" cy="571500"/>
          </a:xfrm>
          <a:prstGeom prst="roundRect">
            <a:avLst>
              <a:gd name="adj" fmla="val 16666"/>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858000" y="7048500"/>
            <a:ext cx="3429000" cy="571500"/>
          </a:xfrm>
          <a:prstGeom prst="rect">
            <a:avLst/>
          </a:prstGeom>
          <a:noFill/>
        </p:spPr>
        <p:txBody>
          <a:bodyPr wrap="square" lIns="0" rIns="0" tIns="0" bIns="0" anchor="ctr">
            <a:spAutoFit/>
          </a:bodyPr>
          <a:lstStyle/>
          <a:p>
            <a:pPr algn="ctr"/>
            <a:r>
              <a:rPr sz="1350" b="0" i="0">
                <a:solidFill>
                  <a:srgbClr val="E8C27A"/>
                </a:solidFill>
                <a:latin typeface="Geist Mono"/>
                <a:ea typeface="Geist Mono"/>
                <a:cs typeface="Geist Mono"/>
              </a:rPr>
              <a:t>ChassisSpeeds</a:t>
            </a:r>
          </a:p>
        </p:txBody>
      </p:sp>
      <p:cxnSp>
        <p:nvCxnSpPr>
          <p:cNvPr id="27" name="Connector 26"/>
          <p:cNvCxnSpPr/>
          <p:nvPr/>
        </p:nvCxnSpPr>
        <p:spPr>
          <a:xfrm>
            <a:off x="6191250" y="7667625"/>
            <a:ext cx="666750" cy="428625"/>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858000" y="7810500"/>
            <a:ext cx="3429000" cy="571500"/>
          </a:xfrm>
          <a:prstGeom prst="roundRect">
            <a:avLst>
              <a:gd name="adj" fmla="val 16666"/>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858000" y="7810500"/>
            <a:ext cx="3429000" cy="571500"/>
          </a:xfrm>
          <a:prstGeom prst="rect">
            <a:avLst/>
          </a:prstGeom>
          <a:noFill/>
        </p:spPr>
        <p:txBody>
          <a:bodyPr wrap="square" lIns="0" rIns="0" tIns="0" bIns="0" anchor="ctr">
            <a:spAutoFit/>
          </a:bodyPr>
          <a:lstStyle/>
          <a:p>
            <a:pPr algn="ctr"/>
            <a:r>
              <a:rPr sz="1350" b="0" i="0">
                <a:solidFill>
                  <a:srgbClr val="E8C27A"/>
                </a:solidFill>
                <a:latin typeface="Geist Mono"/>
                <a:ea typeface="Geist Mono"/>
                <a:cs typeface="Geist Mono"/>
              </a:rPr>
              <a:t>DifferentialDriveKinematics</a:t>
            </a:r>
          </a:p>
        </p:txBody>
      </p:sp>
      <p:sp>
        <p:nvSpPr>
          <p:cNvPr id="30" name="TextBox 29"/>
          <p:cNvSpPr txBox="1"/>
          <p:nvPr/>
        </p:nvSpPr>
        <p:spPr>
          <a:xfrm>
            <a:off x="914400" y="8763000"/>
            <a:ext cx="952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Packages are folders of classes.</a:t>
            </a:r>
          </a:p>
        </p:txBody>
      </p:sp>
      <p:sp>
        <p:nvSpPr>
          <p:cNvPr id="31" name="Rounded Rectangle 30"/>
          <p:cNvSpPr/>
          <p:nvPr/>
        </p:nvSpPr>
        <p:spPr>
          <a:xfrm>
            <a:off x="11049000" y="2857500"/>
            <a:ext cx="6324600" cy="5905500"/>
          </a:xfrm>
          <a:prstGeom prst="roundRect">
            <a:avLst>
              <a:gd name="adj" fmla="val 258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1430000" y="3200400"/>
            <a:ext cx="5334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GOTCHA</a:t>
            </a:r>
          </a:p>
        </p:txBody>
      </p:sp>
      <p:sp>
        <p:nvSpPr>
          <p:cNvPr id="33" name="TextBox 32"/>
          <p:cNvSpPr txBox="1"/>
          <p:nvPr/>
        </p:nvSpPr>
        <p:spPr>
          <a:xfrm>
            <a:off x="11430000" y="3676650"/>
            <a:ext cx="5562600" cy="571500"/>
          </a:xfrm>
          <a:prstGeom prst="rect">
            <a:avLst/>
          </a:prstGeom>
          <a:noFill/>
        </p:spPr>
        <p:txBody>
          <a:bodyPr wrap="square" lIns="0" rIns="0" tIns="0" bIns="0" anchor="t">
            <a:spAutoFit/>
          </a:bodyPr>
          <a:lstStyle/>
          <a:p>
            <a:pPr algn="l"/>
            <a:r>
              <a:rPr sz="2550" b="1" i="0">
                <a:solidFill>
                  <a:srgbClr val="CC2200"/>
                </a:solidFill>
                <a:latin typeface="Geist Mono"/>
                <a:ea typeface="Geist Mono"/>
                <a:cs typeface="Geist Mono"/>
              </a:rPr>
              <a:t>cannot find symbol</a:t>
            </a:r>
          </a:p>
        </p:txBody>
      </p:sp>
      <p:sp>
        <p:nvSpPr>
          <p:cNvPr id="34" name="TextBox 33"/>
          <p:cNvSpPr txBox="1"/>
          <p:nvPr/>
        </p:nvSpPr>
        <p:spPr>
          <a:xfrm>
            <a:off x="11430000" y="4381500"/>
            <a:ext cx="5562600" cy="1524000"/>
          </a:xfrm>
          <a:prstGeom prst="rect">
            <a:avLst/>
          </a:prstGeom>
          <a:noFill/>
        </p:spPr>
        <p:txBody>
          <a:bodyPr wrap="square" lIns="0" rIns="0" tIns="0" bIns="0" anchor="t">
            <a:spAutoFit/>
          </a:bodyPr>
          <a:lstStyle/>
          <a:p>
            <a:pPr algn="l">
              <a:lnSpc>
                <a:spcPct val="130000"/>
              </a:lnSpc>
            </a:pPr>
            <a:r>
              <a:rPr sz="2100" b="0" i="0">
                <a:solidFill>
                  <a:srgbClr val="F0E8E8"/>
                </a:solidFill>
                <a:latin typeface="Geist"/>
                <a:ea typeface="Geist"/>
                <a:cs typeface="Geist"/>
              </a:rPr>
              <a:t>Java doesn't know which Pose2d you mean. Add the import line.</a:t>
            </a:r>
          </a:p>
        </p:txBody>
      </p:sp>
      <p:sp>
        <p:nvSpPr>
          <p:cNvPr id="35" name="TextBox 34"/>
          <p:cNvSpPr txBox="1"/>
          <p:nvPr/>
        </p:nvSpPr>
        <p:spPr>
          <a:xfrm>
            <a:off x="11430000" y="5715000"/>
            <a:ext cx="3810000"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In VS Code: hover the red squiggle, pick the quick fix.</a:t>
            </a:r>
          </a:p>
        </p:txBody>
      </p:sp>
      <p:pic>
        <p:nvPicPr>
          <p:cNvPr id="36" name="Picture 35" descr="dozer_wide_left.png"/>
          <p:cNvPicPr>
            <a:picLocks noChangeAspect="1"/>
          </p:cNvPicPr>
          <p:nvPr/>
        </p:nvPicPr>
        <p:blipFill>
          <a:blip r:embed="rId3"/>
          <a:stretch>
            <a:fillRect/>
          </a:stretch>
        </p:blipFill>
        <p:spPr>
          <a:xfrm>
            <a:off x="15049500" y="6858000"/>
            <a:ext cx="2095500" cy="1287986"/>
          </a:xfrm>
          <a:prstGeom prst="rect">
            <a:avLst/>
          </a:prstGeom>
        </p:spPr>
      </p:pic>
      <p:sp>
        <p:nvSpPr>
          <p:cNvPr id="37" name="TextBox 3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8" name="TextBox 3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02</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Static and OI</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One class that owns the controls</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13</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Ask OI, not the gamepad. OI knows which stick is which.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STATIC AND OI</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static: belongs to the class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4762500"/>
          </a:xfrm>
          <a:prstGeom prst="roundRect">
            <a:avLst>
              <a:gd name="adj" fmla="val 3200"/>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143250"/>
            <a:ext cx="7239000" cy="476250"/>
          </a:xfrm>
          <a:prstGeom prst="rect">
            <a:avLst/>
          </a:prstGeom>
          <a:noFill/>
        </p:spPr>
        <p:txBody>
          <a:bodyPr wrap="square" lIns="0" rIns="0" tIns="0" bIns="0" anchor="t">
            <a:spAutoFit/>
          </a:bodyPr>
          <a:lstStyle/>
          <a:p>
            <a:pPr algn="l"/>
            <a:r>
              <a:rPr sz="2700" b="1" i="0">
                <a:solidFill>
                  <a:srgbClr val="F0E8E8"/>
                </a:solidFill>
                <a:latin typeface="Geist Mono"/>
                <a:ea typeface="Geist Mono"/>
                <a:cs typeface="Geist Mono"/>
              </a:rPr>
              <a:t>static</a:t>
            </a:r>
          </a:p>
        </p:txBody>
      </p:sp>
      <p:sp>
        <p:nvSpPr>
          <p:cNvPr id="7" name="TextBox 6"/>
          <p:cNvSpPr txBox="1"/>
          <p:nvPr/>
        </p:nvSpPr>
        <p:spPr>
          <a:xfrm>
            <a:off x="1295400" y="3676650"/>
            <a:ext cx="7239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Call it on the class name</a:t>
            </a:r>
          </a:p>
        </p:txBody>
      </p:sp>
      <p:sp>
        <p:nvSpPr>
          <p:cNvPr id="8" name="Rounded Rectangle 7"/>
          <p:cNvSpPr/>
          <p:nvPr/>
        </p:nvSpPr>
        <p:spPr>
          <a:xfrm>
            <a:off x="9334500" y="2857500"/>
            <a:ext cx="8039100" cy="4762500"/>
          </a:xfrm>
          <a:prstGeom prst="roundRect">
            <a:avLst>
              <a:gd name="adj" fmla="val 32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715500" y="3143250"/>
            <a:ext cx="7239000" cy="47625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Not static</a:t>
            </a:r>
          </a:p>
        </p:txBody>
      </p:sp>
      <p:sp>
        <p:nvSpPr>
          <p:cNvPr id="10" name="TextBox 9"/>
          <p:cNvSpPr txBox="1"/>
          <p:nvPr/>
        </p:nvSpPr>
        <p:spPr>
          <a:xfrm>
            <a:off x="9715500" y="3676650"/>
            <a:ext cx="7239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Call it on an object</a:t>
            </a:r>
          </a:p>
        </p:txBody>
      </p:sp>
      <p:sp>
        <p:nvSpPr>
          <p:cNvPr id="11" name="Rounded Rectangle 10"/>
          <p:cNvSpPr/>
          <p:nvPr/>
        </p:nvSpPr>
        <p:spPr>
          <a:xfrm>
            <a:off x="1295400" y="4381500"/>
            <a:ext cx="7277100" cy="609600"/>
          </a:xfrm>
          <a:prstGeom prst="roundRect">
            <a:avLst>
              <a:gd name="adj" fmla="val 15625"/>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581150" y="4381500"/>
            <a:ext cx="6858000" cy="6096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OI.getForward()</a:t>
            </a:r>
          </a:p>
        </p:txBody>
      </p:sp>
      <p:sp>
        <p:nvSpPr>
          <p:cNvPr id="13" name="Rounded Rectangle 12"/>
          <p:cNvSpPr/>
          <p:nvPr/>
        </p:nvSpPr>
        <p:spPr>
          <a:xfrm>
            <a:off x="1295400" y="5143500"/>
            <a:ext cx="7277100" cy="609600"/>
          </a:xfrm>
          <a:prstGeom prst="roundRect">
            <a:avLst>
              <a:gd name="adj" fmla="val 15625"/>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581150" y="5143500"/>
            <a:ext cx="6858000" cy="6096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Math.abs(-</a:t>
            </a:r>
            <a:r>
              <a:rPr sz="1800" b="0" i="0">
                <a:solidFill>
                  <a:srgbClr val="E8C27A"/>
                </a:solidFill>
                <a:latin typeface="Geist Mono"/>
                <a:ea typeface="Geist Mono"/>
                <a:cs typeface="Geist Mono"/>
              </a:rPr>
              <a:t>0.5</a:t>
            </a:r>
            <a:r>
              <a:rPr sz="1800" b="0" i="0">
                <a:solidFill>
                  <a:srgbClr val="F0E8E8"/>
                </a:solidFill>
                <a:latin typeface="Geist Mono"/>
                <a:ea typeface="Geist Mono"/>
                <a:cs typeface="Geist Mono"/>
              </a:rPr>
              <a:t>)</a:t>
            </a:r>
          </a:p>
        </p:txBody>
      </p:sp>
      <p:sp>
        <p:nvSpPr>
          <p:cNvPr id="15" name="Rounded Rectangle 14"/>
          <p:cNvSpPr/>
          <p:nvPr/>
        </p:nvSpPr>
        <p:spPr>
          <a:xfrm>
            <a:off x="1295400" y="5905500"/>
            <a:ext cx="7277100" cy="609600"/>
          </a:xfrm>
          <a:prstGeom prst="roundRect">
            <a:avLst>
              <a:gd name="adj" fmla="val 15625"/>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581150" y="5905500"/>
            <a:ext cx="6858000" cy="6096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MathUtil.applyDeadband(x, </a:t>
            </a:r>
            <a:r>
              <a:rPr sz="1800" b="0" i="0">
                <a:solidFill>
                  <a:srgbClr val="E8C27A"/>
                </a:solidFill>
                <a:latin typeface="Geist Mono"/>
                <a:ea typeface="Geist Mono"/>
                <a:cs typeface="Geist Mono"/>
              </a:rPr>
              <a:t>0.1</a:t>
            </a:r>
            <a:r>
              <a:rPr sz="1800" b="0" i="0">
                <a:solidFill>
                  <a:srgbClr val="F0E8E8"/>
                </a:solidFill>
                <a:latin typeface="Geist Mono"/>
                <a:ea typeface="Geist Mono"/>
                <a:cs typeface="Geist Mono"/>
              </a:rPr>
              <a:t>)</a:t>
            </a:r>
          </a:p>
        </p:txBody>
      </p:sp>
      <p:sp>
        <p:nvSpPr>
          <p:cNvPr id="17" name="Rounded Rectangle 16"/>
          <p:cNvSpPr/>
          <p:nvPr/>
        </p:nvSpPr>
        <p:spPr>
          <a:xfrm>
            <a:off x="1295400" y="6667500"/>
            <a:ext cx="7277100" cy="609600"/>
          </a:xfrm>
          <a:prstGeom prst="roundRect">
            <a:avLst>
              <a:gd name="adj" fmla="val 15625"/>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581150" y="6667500"/>
            <a:ext cx="6858000" cy="6096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Units.inchesToMeters(</a:t>
            </a:r>
            <a:r>
              <a:rPr sz="1800" b="0" i="0">
                <a:solidFill>
                  <a:srgbClr val="E8C27A"/>
                </a:solidFill>
                <a:latin typeface="Geist Mono"/>
                <a:ea typeface="Geist Mono"/>
                <a:cs typeface="Geist Mono"/>
              </a:rPr>
              <a:t>24.0</a:t>
            </a:r>
            <a:r>
              <a:rPr sz="1800" b="0" i="0">
                <a:solidFill>
                  <a:srgbClr val="F0E8E8"/>
                </a:solidFill>
                <a:latin typeface="Geist Mono"/>
                <a:ea typeface="Geist Mono"/>
                <a:cs typeface="Geist Mono"/>
              </a:rPr>
              <a:t>)</a:t>
            </a:r>
          </a:p>
        </p:txBody>
      </p:sp>
      <p:sp>
        <p:nvSpPr>
          <p:cNvPr id="19" name="Rounded Rectangle 18"/>
          <p:cNvSpPr/>
          <p:nvPr/>
        </p:nvSpPr>
        <p:spPr>
          <a:xfrm>
            <a:off x="9715500" y="4381500"/>
            <a:ext cx="7277100" cy="762000"/>
          </a:xfrm>
          <a:prstGeom prst="roundRect">
            <a:avLst>
              <a:gd name="adj" fmla="val 125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001250" y="4381500"/>
            <a:ext cx="4191000" cy="7620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drive_.getPose()</a:t>
            </a:r>
          </a:p>
        </p:txBody>
      </p:sp>
      <p:sp>
        <p:nvSpPr>
          <p:cNvPr id="21" name="TextBox 20"/>
          <p:cNvSpPr txBox="1"/>
          <p:nvPr/>
        </p:nvSpPr>
        <p:spPr>
          <a:xfrm>
            <a:off x="14287500" y="4381500"/>
            <a:ext cx="2571750" cy="762000"/>
          </a:xfrm>
          <a:prstGeom prst="rect">
            <a:avLst/>
          </a:prstGeom>
          <a:noFill/>
        </p:spPr>
        <p:txBody>
          <a:bodyPr wrap="square" lIns="0" rIns="0" tIns="0" bIns="0" anchor="ctr">
            <a:spAutoFit/>
          </a:bodyPr>
          <a:lstStyle/>
          <a:p>
            <a:pPr algn="l"/>
            <a:r>
              <a:rPr sz="1650" b="0" i="0">
                <a:solidFill>
                  <a:srgbClr val="9A7878"/>
                </a:solidFill>
                <a:latin typeface="Geist"/>
                <a:ea typeface="Geist"/>
                <a:cs typeface="Geist"/>
              </a:rPr>
              <a:t>which drivetrain?</a:t>
            </a:r>
          </a:p>
        </p:txBody>
      </p:sp>
      <p:sp>
        <p:nvSpPr>
          <p:cNvPr id="22" name="Rounded Rectangle 21"/>
          <p:cNvSpPr/>
          <p:nvPr/>
        </p:nvSpPr>
        <p:spPr>
          <a:xfrm>
            <a:off x="9715500" y="5334000"/>
            <a:ext cx="7277100" cy="762000"/>
          </a:xfrm>
          <a:prstGeom prst="roundRect">
            <a:avLst>
              <a:gd name="adj" fmla="val 125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001250" y="5334000"/>
            <a:ext cx="4191000" cy="7620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mars.scoreBall()</a:t>
            </a:r>
          </a:p>
        </p:txBody>
      </p:sp>
      <p:sp>
        <p:nvSpPr>
          <p:cNvPr id="24" name="TextBox 23"/>
          <p:cNvSpPr txBox="1"/>
          <p:nvPr/>
        </p:nvSpPr>
        <p:spPr>
          <a:xfrm>
            <a:off x="14287500" y="5334000"/>
            <a:ext cx="2571750" cy="762000"/>
          </a:xfrm>
          <a:prstGeom prst="rect">
            <a:avLst/>
          </a:prstGeom>
          <a:noFill/>
        </p:spPr>
        <p:txBody>
          <a:bodyPr wrap="square" lIns="0" rIns="0" tIns="0" bIns="0" anchor="ctr">
            <a:spAutoFit/>
          </a:bodyPr>
          <a:lstStyle/>
          <a:p>
            <a:pPr algn="l"/>
            <a:r>
              <a:rPr sz="1650" b="0" i="0">
                <a:solidFill>
                  <a:srgbClr val="9A7878"/>
                </a:solidFill>
                <a:latin typeface="Geist"/>
                <a:ea typeface="Geist"/>
                <a:cs typeface="Geist"/>
              </a:rPr>
              <a:t>which team?</a:t>
            </a:r>
          </a:p>
        </p:txBody>
      </p:sp>
      <p:sp>
        <p:nvSpPr>
          <p:cNvPr id="25" name="Rounded Rectangle 24"/>
          <p:cNvSpPr/>
          <p:nvPr/>
        </p:nvSpPr>
        <p:spPr>
          <a:xfrm>
            <a:off x="9715500" y="6286500"/>
            <a:ext cx="7277100" cy="762000"/>
          </a:xfrm>
          <a:prstGeom prst="roundRect">
            <a:avLst>
              <a:gd name="adj" fmla="val 125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001250" y="6286500"/>
            <a:ext cx="4191000" cy="7620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controller_.getLeftY()</a:t>
            </a:r>
          </a:p>
        </p:txBody>
      </p:sp>
      <p:sp>
        <p:nvSpPr>
          <p:cNvPr id="27" name="TextBox 26"/>
          <p:cNvSpPr txBox="1"/>
          <p:nvPr/>
        </p:nvSpPr>
        <p:spPr>
          <a:xfrm>
            <a:off x="14287500" y="6286500"/>
            <a:ext cx="2571750" cy="762000"/>
          </a:xfrm>
          <a:prstGeom prst="rect">
            <a:avLst/>
          </a:prstGeom>
          <a:noFill/>
        </p:spPr>
        <p:txBody>
          <a:bodyPr wrap="square" lIns="0" rIns="0" tIns="0" bIns="0" anchor="ctr">
            <a:spAutoFit/>
          </a:bodyPr>
          <a:lstStyle/>
          <a:p>
            <a:pPr algn="l"/>
            <a:r>
              <a:rPr sz="1650" b="0" i="0">
                <a:solidFill>
                  <a:srgbClr val="9A7878"/>
                </a:solidFill>
                <a:latin typeface="Geist"/>
                <a:ea typeface="Geist"/>
                <a:cs typeface="Geist"/>
              </a:rPr>
              <a:t>which controller?</a:t>
            </a:r>
          </a:p>
        </p:txBody>
      </p:sp>
      <p:sp>
        <p:nvSpPr>
          <p:cNvPr id="28" name="Rounded Rectangle 27"/>
          <p:cNvSpPr/>
          <p:nvPr/>
        </p:nvSpPr>
        <p:spPr>
          <a:xfrm>
            <a:off x="914400" y="790575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333500" y="7905750"/>
            <a:ext cx="1565910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abstract class OI:  </a:t>
            </a:r>
            <a:r>
              <a:rPr sz="2100" b="0" i="0">
                <a:solidFill>
                  <a:srgbClr val="F0E8E8"/>
                </a:solidFill>
                <a:latin typeface="Geist"/>
                <a:ea typeface="Geist"/>
                <a:cs typeface="Geist"/>
              </a:rPr>
              <a:t>nobody ever writes new OI(). Everything in it is static, so there's nothing to build.</a:t>
            </a:r>
          </a:p>
        </p:txBody>
      </p:sp>
      <p:sp>
        <p:nvSpPr>
          <p:cNvPr id="30" name="TextBox 2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1" name="TextBox 3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STATIC AND OI</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OI: one place for the controls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048000"/>
            <a:ext cx="4572000" cy="2190750"/>
          </a:xfrm>
          <a:prstGeom prst="roundRect">
            <a:avLst>
              <a:gd name="adj" fmla="val 695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276600"/>
            <a:ext cx="4191000" cy="419100"/>
          </a:xfrm>
          <a:prstGeom prst="rect">
            <a:avLst/>
          </a:prstGeom>
          <a:noFill/>
        </p:spPr>
        <p:txBody>
          <a:bodyPr wrap="square" lIns="0" rIns="0" tIns="0" bIns="0" anchor="t">
            <a:spAutoFit/>
          </a:bodyPr>
          <a:lstStyle/>
          <a:p>
            <a:pPr algn="l"/>
            <a:r>
              <a:rPr sz="2250" b="1" i="0">
                <a:solidFill>
                  <a:srgbClr val="F0E8E8"/>
                </a:solidFill>
                <a:latin typeface="Geist Mono"/>
                <a:ea typeface="Geist Mono"/>
                <a:cs typeface="Geist Mono"/>
              </a:rPr>
              <a:t>Robot.java</a:t>
            </a:r>
          </a:p>
        </p:txBody>
      </p:sp>
      <p:sp>
        <p:nvSpPr>
          <p:cNvPr id="7" name="TextBox 6"/>
          <p:cNvSpPr txBox="1"/>
          <p:nvPr/>
        </p:nvSpPr>
        <p:spPr>
          <a:xfrm>
            <a:off x="1295400" y="3848100"/>
            <a:ext cx="4381500" cy="1143000"/>
          </a:xfrm>
          <a:prstGeom prst="rect">
            <a:avLst/>
          </a:prstGeom>
          <a:noFill/>
        </p:spPr>
        <p:txBody>
          <a:bodyPr wrap="square" lIns="0" rIns="0" tIns="0" bIns="0" anchor="t">
            <a:spAutoFit/>
          </a:bodyPr>
          <a:lstStyle/>
          <a:p>
            <a:pPr algn="l"/>
            <a:r>
              <a:rPr sz="1950" b="0" i="0">
                <a:solidFill>
                  <a:srgbClr val="F0E8E8"/>
                </a:solidFill>
                <a:latin typeface="Geist Mono"/>
                <a:ea typeface="Geist Mono"/>
                <a:cs typeface="Geist Mono"/>
              </a:rPr>
              <a:t>OI.getForward()</a:t>
            </a:r>
          </a:p>
        </p:txBody>
      </p:sp>
      <p:sp>
        <p:nvSpPr>
          <p:cNvPr id="8" name="TextBox 7"/>
          <p:cNvSpPr txBox="1"/>
          <p:nvPr/>
        </p:nvSpPr>
        <p:spPr>
          <a:xfrm>
            <a:off x="1295400" y="4286250"/>
            <a:ext cx="4191000" cy="762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asks a question</a:t>
            </a:r>
          </a:p>
        </p:txBody>
      </p:sp>
      <p:sp>
        <p:nvSpPr>
          <p:cNvPr id="9" name="Rounded Rectangle 8"/>
          <p:cNvSpPr/>
          <p:nvPr/>
        </p:nvSpPr>
        <p:spPr>
          <a:xfrm>
            <a:off x="6858000" y="2857500"/>
            <a:ext cx="4572000" cy="2571750"/>
          </a:xfrm>
          <a:prstGeom prst="roundRect">
            <a:avLst>
              <a:gd name="adj" fmla="val 5925"/>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0" y="3143250"/>
            <a:ext cx="4572000" cy="571500"/>
          </a:xfrm>
          <a:prstGeom prst="rect">
            <a:avLst/>
          </a:prstGeom>
          <a:noFill/>
        </p:spPr>
        <p:txBody>
          <a:bodyPr wrap="square" lIns="0" rIns="0" tIns="0" bIns="0" anchor="t">
            <a:spAutoFit/>
          </a:bodyPr>
          <a:lstStyle/>
          <a:p>
            <a:pPr algn="ctr"/>
            <a:r>
              <a:rPr sz="3600" b="1" i="0">
                <a:solidFill>
                  <a:srgbClr val="F0E8E8"/>
                </a:solidFill>
                <a:latin typeface="Geist Mono"/>
                <a:ea typeface="Geist Mono"/>
                <a:cs typeface="Geist Mono"/>
              </a:rPr>
              <a:t>OI</a:t>
            </a:r>
          </a:p>
        </p:txBody>
      </p:sp>
      <p:sp>
        <p:nvSpPr>
          <p:cNvPr id="11" name="TextBox 10"/>
          <p:cNvSpPr txBox="1"/>
          <p:nvPr/>
        </p:nvSpPr>
        <p:spPr>
          <a:xfrm>
            <a:off x="7239000" y="3905250"/>
            <a:ext cx="3810000" cy="1238250"/>
          </a:xfrm>
          <a:prstGeom prst="rect">
            <a:avLst/>
          </a:prstGeom>
          <a:noFill/>
        </p:spPr>
        <p:txBody>
          <a:bodyPr wrap="square" lIns="0" rIns="0" tIns="0" bIns="0" anchor="t">
            <a:spAutoFit/>
          </a:bodyPr>
          <a:lstStyle/>
          <a:p>
            <a:pPr algn="ctr">
              <a:lnSpc>
                <a:spcPct val="130000"/>
              </a:lnSpc>
            </a:pPr>
            <a:r>
              <a:rPr sz="1950" b="0" i="0">
                <a:solidFill>
                  <a:srgbClr val="9A7878"/>
                </a:solidFill>
                <a:latin typeface="Geist"/>
                <a:ea typeface="Geist"/>
                <a:cs typeface="Geist"/>
              </a:rPr>
              <a:t>The only class that knows the gamepad</a:t>
            </a:r>
          </a:p>
        </p:txBody>
      </p:sp>
      <p:sp>
        <p:nvSpPr>
          <p:cNvPr id="12" name="Rounded Rectangle 11"/>
          <p:cNvSpPr/>
          <p:nvPr/>
        </p:nvSpPr>
        <p:spPr>
          <a:xfrm>
            <a:off x="12839700" y="3048000"/>
            <a:ext cx="4533900" cy="2190750"/>
          </a:xfrm>
          <a:prstGeom prst="roundRect">
            <a:avLst>
              <a:gd name="adj" fmla="val 695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controller.png"/>
          <p:cNvPicPr>
            <a:picLocks noChangeAspect="1"/>
          </p:cNvPicPr>
          <p:nvPr/>
        </p:nvPicPr>
        <p:blipFill>
          <a:blip r:embed="rId3"/>
          <a:stretch>
            <a:fillRect/>
          </a:stretch>
        </p:blipFill>
        <p:spPr>
          <a:xfrm>
            <a:off x="13220700" y="3343900"/>
            <a:ext cx="857250" cy="646451"/>
          </a:xfrm>
          <a:prstGeom prst="rect">
            <a:avLst/>
          </a:prstGeom>
        </p:spPr>
      </p:pic>
      <p:sp>
        <p:nvSpPr>
          <p:cNvPr id="14" name="TextBox 13"/>
          <p:cNvSpPr txBox="1"/>
          <p:nvPr/>
        </p:nvSpPr>
        <p:spPr>
          <a:xfrm>
            <a:off x="14287500" y="3333750"/>
            <a:ext cx="2857500" cy="5715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Gamepad</a:t>
            </a:r>
          </a:p>
        </p:txBody>
      </p:sp>
      <p:sp>
        <p:nvSpPr>
          <p:cNvPr id="15" name="TextBox 14"/>
          <p:cNvSpPr txBox="1"/>
          <p:nvPr/>
        </p:nvSpPr>
        <p:spPr>
          <a:xfrm>
            <a:off x="13220700" y="4286250"/>
            <a:ext cx="4000500" cy="762000"/>
          </a:xfrm>
          <a:prstGeom prst="rect">
            <a:avLst/>
          </a:prstGeom>
          <a:noFill/>
        </p:spPr>
        <p:txBody>
          <a:bodyPr wrap="square" lIns="0" rIns="0" tIns="0" bIns="0" anchor="t">
            <a:spAutoFit/>
          </a:bodyPr>
          <a:lstStyle/>
          <a:p>
            <a:pPr algn="l"/>
            <a:r>
              <a:rPr sz="1800" b="0" i="0">
                <a:solidFill>
                  <a:srgbClr val="F0E8E8"/>
                </a:solidFill>
                <a:latin typeface="Geist Mono"/>
                <a:ea typeface="Geist Mono"/>
                <a:cs typeface="Geist Mono"/>
              </a:rPr>
              <a:t>getLeftY()  getLeftX()</a:t>
            </a:r>
          </a:p>
        </p:txBody>
      </p:sp>
      <p:sp>
        <p:nvSpPr>
          <p:cNvPr id="16" name="Rectangle 15"/>
          <p:cNvSpPr/>
          <p:nvPr/>
        </p:nvSpPr>
        <p:spPr>
          <a:xfrm>
            <a:off x="5581650" y="3886200"/>
            <a:ext cx="10439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rot="5400000">
            <a:off x="6591300" y="38290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525250" y="3886200"/>
            <a:ext cx="11201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rot="5400000">
            <a:off x="12611100" y="38290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1662410" y="4457700"/>
            <a:ext cx="11201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rot="16200000">
            <a:off x="11544300" y="44005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718810" y="4457700"/>
            <a:ext cx="1043940" cy="381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Isosceles Triangle 22"/>
          <p:cNvSpPr/>
          <p:nvPr/>
        </p:nvSpPr>
        <p:spPr>
          <a:xfrm rot="16200000">
            <a:off x="5600700" y="4400550"/>
            <a:ext cx="152400" cy="15240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505450" y="4629150"/>
            <a:ext cx="1333500" cy="323850"/>
          </a:xfrm>
          <a:prstGeom prst="rect">
            <a:avLst/>
          </a:prstGeom>
          <a:noFill/>
        </p:spPr>
        <p:txBody>
          <a:bodyPr wrap="square" lIns="0" rIns="0" tIns="0" bIns="0" anchor="t">
            <a:spAutoFit/>
          </a:bodyPr>
          <a:lstStyle/>
          <a:p>
            <a:pPr algn="ctr"/>
            <a:r>
              <a:rPr sz="1950" b="1" i="0">
                <a:solidFill>
                  <a:srgbClr val="E8C27A"/>
                </a:solidFill>
                <a:latin typeface="Geist Mono"/>
                <a:ea typeface="Geist Mono"/>
                <a:cs typeface="Geist Mono"/>
              </a:rPr>
              <a:t>0.8</a:t>
            </a:r>
          </a:p>
        </p:txBody>
      </p:sp>
      <p:sp>
        <p:nvSpPr>
          <p:cNvPr id="25" name="TextBox 24"/>
          <p:cNvSpPr txBox="1"/>
          <p:nvPr/>
        </p:nvSpPr>
        <p:spPr>
          <a:xfrm>
            <a:off x="5505450" y="3448050"/>
            <a:ext cx="13335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forward?</a:t>
            </a:r>
          </a:p>
        </p:txBody>
      </p:sp>
      <p:sp>
        <p:nvSpPr>
          <p:cNvPr id="26" name="Rounded Rectangle 25"/>
          <p:cNvSpPr/>
          <p:nvPr/>
        </p:nvSpPr>
        <p:spPr>
          <a:xfrm>
            <a:off x="914400" y="5905500"/>
            <a:ext cx="5283200" cy="2857500"/>
          </a:xfrm>
          <a:prstGeom prst="roundRect">
            <a:avLst>
              <a:gd name="adj" fmla="val 5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pencil.png"/>
          <p:cNvPicPr>
            <a:picLocks noChangeAspect="1"/>
          </p:cNvPicPr>
          <p:nvPr/>
        </p:nvPicPr>
        <p:blipFill>
          <a:blip r:embed="rId4"/>
          <a:stretch>
            <a:fillRect/>
          </a:stretch>
        </p:blipFill>
        <p:spPr>
          <a:xfrm>
            <a:off x="1295400" y="6286500"/>
            <a:ext cx="533400" cy="533400"/>
          </a:xfrm>
          <a:prstGeom prst="rect">
            <a:avLst/>
          </a:prstGeom>
        </p:spPr>
      </p:pic>
      <p:sp>
        <p:nvSpPr>
          <p:cNvPr id="28" name="TextBox 27"/>
          <p:cNvSpPr txBox="1"/>
          <p:nvPr/>
        </p:nvSpPr>
        <p:spPr>
          <a:xfrm>
            <a:off x="1295400" y="7086600"/>
            <a:ext cx="4521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One place to change</a:t>
            </a:r>
          </a:p>
        </p:txBody>
      </p:sp>
      <p:sp>
        <p:nvSpPr>
          <p:cNvPr id="29" name="TextBox 28"/>
          <p:cNvSpPr txBox="1"/>
          <p:nvPr/>
        </p:nvSpPr>
        <p:spPr>
          <a:xfrm>
            <a:off x="1295400" y="7648575"/>
            <a:ext cx="4521200" cy="11049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Swap a stick or a controller: edit OI.java only.</a:t>
            </a:r>
          </a:p>
        </p:txBody>
      </p:sp>
      <p:sp>
        <p:nvSpPr>
          <p:cNvPr id="30" name="Rounded Rectangle 29"/>
          <p:cNvSpPr/>
          <p:nvPr/>
        </p:nvSpPr>
        <p:spPr>
          <a:xfrm>
            <a:off x="6502400" y="5905500"/>
            <a:ext cx="5283200" cy="2857500"/>
          </a:xfrm>
          <a:prstGeom prst="roundRect">
            <a:avLst>
              <a:gd name="adj" fmla="val 5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chat-left-text.png"/>
          <p:cNvPicPr>
            <a:picLocks noChangeAspect="1"/>
          </p:cNvPicPr>
          <p:nvPr/>
        </p:nvPicPr>
        <p:blipFill>
          <a:blip r:embed="rId5"/>
          <a:stretch>
            <a:fillRect/>
          </a:stretch>
        </p:blipFill>
        <p:spPr>
          <a:xfrm>
            <a:off x="6883400" y="6286500"/>
            <a:ext cx="557349" cy="533400"/>
          </a:xfrm>
          <a:prstGeom prst="rect">
            <a:avLst/>
          </a:prstGeom>
        </p:spPr>
      </p:pic>
      <p:sp>
        <p:nvSpPr>
          <p:cNvPr id="32" name="TextBox 31"/>
          <p:cNvSpPr txBox="1"/>
          <p:nvPr/>
        </p:nvSpPr>
        <p:spPr>
          <a:xfrm>
            <a:off x="6883400" y="7086600"/>
            <a:ext cx="4521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Reads like English</a:t>
            </a:r>
          </a:p>
        </p:txBody>
      </p:sp>
      <p:sp>
        <p:nvSpPr>
          <p:cNvPr id="33" name="TextBox 32"/>
          <p:cNvSpPr txBox="1"/>
          <p:nvPr/>
        </p:nvSpPr>
        <p:spPr>
          <a:xfrm>
            <a:off x="6883400" y="7648575"/>
            <a:ext cx="4521200" cy="11049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OI.getForward() says what, not which stick.</a:t>
            </a:r>
          </a:p>
        </p:txBody>
      </p:sp>
      <p:sp>
        <p:nvSpPr>
          <p:cNvPr id="34" name="Rounded Rectangle 33"/>
          <p:cNvSpPr/>
          <p:nvPr/>
        </p:nvSpPr>
        <p:spPr>
          <a:xfrm>
            <a:off x="12090400" y="5905500"/>
            <a:ext cx="5283200" cy="2857500"/>
          </a:xfrm>
          <a:prstGeom prst="roundRect">
            <a:avLst>
              <a:gd name="adj" fmla="val 5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trophy-fill.png"/>
          <p:cNvPicPr>
            <a:picLocks noChangeAspect="1"/>
          </p:cNvPicPr>
          <p:nvPr/>
        </p:nvPicPr>
        <p:blipFill>
          <a:blip r:embed="rId6"/>
          <a:stretch>
            <a:fillRect/>
          </a:stretch>
        </p:blipFill>
        <p:spPr>
          <a:xfrm>
            <a:off x="12471400" y="6286500"/>
            <a:ext cx="533400" cy="533400"/>
          </a:xfrm>
          <a:prstGeom prst="rect">
            <a:avLst/>
          </a:prstGeom>
        </p:spPr>
      </p:pic>
      <p:sp>
        <p:nvSpPr>
          <p:cNvPr id="36" name="TextBox 35"/>
          <p:cNvSpPr txBox="1"/>
          <p:nvPr/>
        </p:nvSpPr>
        <p:spPr>
          <a:xfrm>
            <a:off x="12471400" y="7086600"/>
            <a:ext cx="4521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Like our real robots</a:t>
            </a:r>
          </a:p>
        </p:txBody>
      </p:sp>
      <p:sp>
        <p:nvSpPr>
          <p:cNvPr id="37" name="TextBox 36"/>
          <p:cNvSpPr txBox="1"/>
          <p:nvPr/>
        </p:nvSpPr>
        <p:spPr>
          <a:xfrm>
            <a:off x="12471400" y="7648575"/>
            <a:ext cx="4521200" cy="11049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Our competition code keeps every controller in OI.</a:t>
            </a:r>
          </a:p>
        </p:txBody>
      </p:sp>
      <p:sp>
        <p:nvSpPr>
          <p:cNvPr id="38" name="TextBox 3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9" name="TextBox 3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STATIC AND OI</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Writing OI.java</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076325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OI.java</a:t>
            </a:r>
          </a:p>
        </p:txBody>
      </p:sp>
      <p:sp>
        <p:nvSpPr>
          <p:cNvPr id="6" name="Rounded Rectangle 5"/>
          <p:cNvSpPr/>
          <p:nvPr/>
        </p:nvSpPr>
        <p:spPr>
          <a:xfrm>
            <a:off x="914400" y="3143250"/>
            <a:ext cx="10763250" cy="4659630"/>
          </a:xfrm>
          <a:prstGeom prst="roundRect">
            <a:avLst>
              <a:gd name="adj" fmla="val 327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823460"/>
            <a:ext cx="10725150" cy="324802"/>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823460"/>
            <a:ext cx="57150" cy="324802"/>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6122670"/>
            <a:ext cx="10725150" cy="324802"/>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6122670"/>
            <a:ext cx="57150" cy="324802"/>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95400" y="3524250"/>
            <a:ext cx="10229850" cy="324802"/>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public</a:t>
            </a:r>
            <a:r>
              <a:rPr sz="1650" b="0" i="0">
                <a:solidFill>
                  <a:srgbClr val="F0E8E8"/>
                </a:solidFill>
                <a:latin typeface="Geist Mono"/>
                <a:ea typeface="Geist Mono"/>
                <a:cs typeface="Geist Mono"/>
              </a:rPr>
              <a:t> abstract </a:t>
            </a:r>
            <a:r>
              <a:rPr sz="1650" b="0" i="0">
                <a:solidFill>
                  <a:srgbClr val="E0785F"/>
                </a:solidFill>
                <a:latin typeface="Geist Mono"/>
                <a:ea typeface="Geist Mono"/>
                <a:cs typeface="Geist Mono"/>
              </a:rPr>
              <a:t>class</a:t>
            </a:r>
            <a:r>
              <a:rPr sz="1650" b="0" i="0">
                <a:solidFill>
                  <a:srgbClr val="F0E8E8"/>
                </a:solidFill>
                <a:latin typeface="Geist Mono"/>
                <a:ea typeface="Geist Mono"/>
                <a:cs typeface="Geist Mono"/>
              </a:rPr>
              <a:t> OI {</a:t>
            </a:r>
          </a:p>
        </p:txBody>
      </p:sp>
      <p:sp>
        <p:nvSpPr>
          <p:cNvPr id="12" name="TextBox 11"/>
          <p:cNvSpPr txBox="1"/>
          <p:nvPr/>
        </p:nvSpPr>
        <p:spPr>
          <a:xfrm>
            <a:off x="1295400" y="3849052"/>
            <a:ext cx="10229850" cy="324802"/>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private</a:t>
            </a:r>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static</a:t>
            </a:r>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final</a:t>
            </a:r>
            <a:r>
              <a:rPr sz="1650" b="0" i="0">
                <a:solidFill>
                  <a:srgbClr val="F0E8E8"/>
                </a:solidFill>
                <a:latin typeface="Geist Mono"/>
                <a:ea typeface="Geist Mono"/>
                <a:cs typeface="Geist Mono"/>
              </a:rPr>
              <a:t> XboxController driver_controller_ =</a:t>
            </a:r>
          </a:p>
        </p:txBody>
      </p:sp>
      <p:sp>
        <p:nvSpPr>
          <p:cNvPr id="13" name="TextBox 12"/>
          <p:cNvSpPr txBox="1"/>
          <p:nvPr/>
        </p:nvSpPr>
        <p:spPr>
          <a:xfrm>
            <a:off x="1295400" y="4173855"/>
            <a:ext cx="10229850" cy="324802"/>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new</a:t>
            </a:r>
            <a:r>
              <a:rPr sz="1650" b="0" i="0">
                <a:solidFill>
                  <a:srgbClr val="F0E8E8"/>
                </a:solidFill>
                <a:latin typeface="Geist Mono"/>
                <a:ea typeface="Geist Mono"/>
                <a:cs typeface="Geist Mono"/>
              </a:rPr>
              <a:t> XboxController(</a:t>
            </a:r>
            <a:r>
              <a:rPr sz="1650" b="0" i="0">
                <a:solidFill>
                  <a:srgbClr val="E8C27A"/>
                </a:solidFill>
                <a:latin typeface="Geist Mono"/>
                <a:ea typeface="Geist Mono"/>
                <a:cs typeface="Geist Mono"/>
              </a:rPr>
              <a:t>0</a:t>
            </a:r>
            <a:r>
              <a:rPr sz="1650" b="0" i="0">
                <a:solidFill>
                  <a:srgbClr val="F0E8E8"/>
                </a:solidFill>
                <a:latin typeface="Geist Mono"/>
                <a:ea typeface="Geist Mono"/>
                <a:cs typeface="Geist Mono"/>
              </a:rPr>
              <a:t>);</a:t>
            </a:r>
          </a:p>
        </p:txBody>
      </p:sp>
      <p:sp>
        <p:nvSpPr>
          <p:cNvPr id="14" name="TextBox 13"/>
          <p:cNvSpPr txBox="1"/>
          <p:nvPr/>
        </p:nvSpPr>
        <p:spPr>
          <a:xfrm>
            <a:off x="1295400" y="4498658"/>
            <a:ext cx="10229850" cy="324802"/>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p>
        </p:txBody>
      </p:sp>
      <p:sp>
        <p:nvSpPr>
          <p:cNvPr id="15" name="TextBox 14"/>
          <p:cNvSpPr txBox="1"/>
          <p:nvPr/>
        </p:nvSpPr>
        <p:spPr>
          <a:xfrm>
            <a:off x="1295400" y="4823460"/>
            <a:ext cx="10229850" cy="324802"/>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public</a:t>
            </a:r>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static</a:t>
            </a:r>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double</a:t>
            </a:r>
            <a:r>
              <a:rPr sz="1650" b="0" i="0">
                <a:solidFill>
                  <a:srgbClr val="F0E8E8"/>
                </a:solidFill>
                <a:latin typeface="Geist Mono"/>
                <a:ea typeface="Geist Mono"/>
                <a:cs typeface="Geist Mono"/>
              </a:rPr>
              <a:t> getForward() {</a:t>
            </a:r>
          </a:p>
        </p:txBody>
      </p:sp>
      <p:sp>
        <p:nvSpPr>
          <p:cNvPr id="16" name="TextBox 15"/>
          <p:cNvSpPr txBox="1"/>
          <p:nvPr/>
        </p:nvSpPr>
        <p:spPr>
          <a:xfrm>
            <a:off x="1295400" y="5148262"/>
            <a:ext cx="10229850" cy="324802"/>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return</a:t>
            </a:r>
            <a:r>
              <a:rPr sz="1650" b="0" i="0">
                <a:solidFill>
                  <a:srgbClr val="F0E8E8"/>
                </a:solidFill>
                <a:latin typeface="Geist Mono"/>
                <a:ea typeface="Geist Mono"/>
                <a:cs typeface="Geist Mono"/>
              </a:rPr>
              <a:t> MathUtil.applyDeadband(-driver_controller_.getLeftY(), </a:t>
            </a:r>
            <a:r>
              <a:rPr sz="1650" b="0" i="0">
                <a:solidFill>
                  <a:srgbClr val="E8C27A"/>
                </a:solidFill>
                <a:latin typeface="Geist Mono"/>
                <a:ea typeface="Geist Mono"/>
                <a:cs typeface="Geist Mono"/>
              </a:rPr>
              <a:t>0.1</a:t>
            </a:r>
            <a:r>
              <a:rPr sz="1650" b="0" i="0">
                <a:solidFill>
                  <a:srgbClr val="F0E8E8"/>
                </a:solidFill>
                <a:latin typeface="Geist Mono"/>
                <a:ea typeface="Geist Mono"/>
                <a:cs typeface="Geist Mono"/>
              </a:rPr>
              <a:t>);</a:t>
            </a:r>
          </a:p>
        </p:txBody>
      </p:sp>
      <p:sp>
        <p:nvSpPr>
          <p:cNvPr id="17" name="TextBox 16"/>
          <p:cNvSpPr txBox="1"/>
          <p:nvPr/>
        </p:nvSpPr>
        <p:spPr>
          <a:xfrm>
            <a:off x="1295400" y="5473065"/>
            <a:ext cx="10229850" cy="324802"/>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p>
        </p:txBody>
      </p:sp>
      <p:sp>
        <p:nvSpPr>
          <p:cNvPr id="18" name="TextBox 17"/>
          <p:cNvSpPr txBox="1"/>
          <p:nvPr/>
        </p:nvSpPr>
        <p:spPr>
          <a:xfrm>
            <a:off x="1295400" y="5797868"/>
            <a:ext cx="10229850" cy="324802"/>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p>
        </p:txBody>
      </p:sp>
      <p:sp>
        <p:nvSpPr>
          <p:cNvPr id="19" name="TextBox 18"/>
          <p:cNvSpPr txBox="1"/>
          <p:nvPr/>
        </p:nvSpPr>
        <p:spPr>
          <a:xfrm>
            <a:off x="1295400" y="6122670"/>
            <a:ext cx="10229850" cy="324802"/>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public</a:t>
            </a:r>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static</a:t>
            </a:r>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double</a:t>
            </a:r>
            <a:r>
              <a:rPr sz="1650" b="0" i="0">
                <a:solidFill>
                  <a:srgbClr val="F0E8E8"/>
                </a:solidFill>
                <a:latin typeface="Geist Mono"/>
                <a:ea typeface="Geist Mono"/>
                <a:cs typeface="Geist Mono"/>
              </a:rPr>
              <a:t> getTurn() {</a:t>
            </a:r>
          </a:p>
        </p:txBody>
      </p:sp>
      <p:sp>
        <p:nvSpPr>
          <p:cNvPr id="20" name="TextBox 19"/>
          <p:cNvSpPr txBox="1"/>
          <p:nvPr/>
        </p:nvSpPr>
        <p:spPr>
          <a:xfrm>
            <a:off x="1295400" y="6447473"/>
            <a:ext cx="10229850" cy="324802"/>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return</a:t>
            </a:r>
            <a:r>
              <a:rPr sz="1650" b="0" i="0">
                <a:solidFill>
                  <a:srgbClr val="F0E8E8"/>
                </a:solidFill>
                <a:latin typeface="Geist Mono"/>
                <a:ea typeface="Geist Mono"/>
                <a:cs typeface="Geist Mono"/>
              </a:rPr>
              <a:t> MathUtil.applyDeadband(driver_controller_.getLeftX(), </a:t>
            </a:r>
            <a:r>
              <a:rPr sz="1650" b="0" i="0">
                <a:solidFill>
                  <a:srgbClr val="E8C27A"/>
                </a:solidFill>
                <a:latin typeface="Geist Mono"/>
                <a:ea typeface="Geist Mono"/>
                <a:cs typeface="Geist Mono"/>
              </a:rPr>
              <a:t>0.1</a:t>
            </a:r>
            <a:r>
              <a:rPr sz="1650" b="0" i="0">
                <a:solidFill>
                  <a:srgbClr val="F0E8E8"/>
                </a:solidFill>
                <a:latin typeface="Geist Mono"/>
                <a:ea typeface="Geist Mono"/>
                <a:cs typeface="Geist Mono"/>
              </a:rPr>
              <a:t>);</a:t>
            </a:r>
          </a:p>
        </p:txBody>
      </p:sp>
      <p:sp>
        <p:nvSpPr>
          <p:cNvPr id="21" name="TextBox 20"/>
          <p:cNvSpPr txBox="1"/>
          <p:nvPr/>
        </p:nvSpPr>
        <p:spPr>
          <a:xfrm>
            <a:off x="1295400" y="6772275"/>
            <a:ext cx="10229850" cy="324802"/>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p>
        </p:txBody>
      </p:sp>
      <p:sp>
        <p:nvSpPr>
          <p:cNvPr id="22" name="TextBox 21"/>
          <p:cNvSpPr txBox="1"/>
          <p:nvPr/>
        </p:nvSpPr>
        <p:spPr>
          <a:xfrm>
            <a:off x="1295400" y="7097078"/>
            <a:ext cx="10229850" cy="324802"/>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a:t>
            </a:r>
          </a:p>
        </p:txBody>
      </p:sp>
      <p:sp>
        <p:nvSpPr>
          <p:cNvPr id="23" name="Oval 22"/>
          <p:cNvSpPr/>
          <p:nvPr/>
        </p:nvSpPr>
        <p:spPr>
          <a:xfrm>
            <a:off x="11068050" y="3496151"/>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068050" y="3496151"/>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5" name="Oval 24"/>
          <p:cNvSpPr/>
          <p:nvPr/>
        </p:nvSpPr>
        <p:spPr>
          <a:xfrm>
            <a:off x="11068050" y="4145756"/>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068050" y="4145756"/>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7" name="Oval 26"/>
          <p:cNvSpPr/>
          <p:nvPr/>
        </p:nvSpPr>
        <p:spPr>
          <a:xfrm>
            <a:off x="11068050" y="4795361"/>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068050" y="4795361"/>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9" name="Oval 28"/>
          <p:cNvSpPr/>
          <p:nvPr/>
        </p:nvSpPr>
        <p:spPr>
          <a:xfrm>
            <a:off x="11068050" y="6094571"/>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068050" y="6094571"/>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31" name="Oval 30"/>
          <p:cNvSpPr/>
          <p:nvPr/>
        </p:nvSpPr>
        <p:spPr>
          <a:xfrm>
            <a:off x="122872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2872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3" name="TextBox 32"/>
          <p:cNvSpPr txBox="1"/>
          <p:nvPr/>
        </p:nvSpPr>
        <p:spPr>
          <a:xfrm>
            <a:off x="12896850" y="281940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abstract</a:t>
            </a:r>
          </a:p>
        </p:txBody>
      </p:sp>
      <p:sp>
        <p:nvSpPr>
          <p:cNvPr id="34" name="TextBox 33"/>
          <p:cNvSpPr txBox="1"/>
          <p:nvPr/>
        </p:nvSpPr>
        <p:spPr>
          <a:xfrm>
            <a:off x="12896850" y="323850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Nobody writes new OI()</a:t>
            </a:r>
          </a:p>
        </p:txBody>
      </p:sp>
      <p:sp>
        <p:nvSpPr>
          <p:cNvPr id="35" name="Oval 34"/>
          <p:cNvSpPr/>
          <p:nvPr/>
        </p:nvSpPr>
        <p:spPr>
          <a:xfrm>
            <a:off x="12287250" y="4286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228725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7" name="TextBox 36"/>
          <p:cNvSpPr txBox="1"/>
          <p:nvPr/>
        </p:nvSpPr>
        <p:spPr>
          <a:xfrm>
            <a:off x="12896850" y="424815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One controller</a:t>
            </a:r>
          </a:p>
        </p:txBody>
      </p:sp>
      <p:sp>
        <p:nvSpPr>
          <p:cNvPr id="38" name="TextBox 37"/>
          <p:cNvSpPr txBox="1"/>
          <p:nvPr/>
        </p:nvSpPr>
        <p:spPr>
          <a:xfrm>
            <a:off x="12896850" y="466725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Private and static: only OI touches it</a:t>
            </a:r>
          </a:p>
        </p:txBody>
      </p:sp>
      <p:sp>
        <p:nvSpPr>
          <p:cNvPr id="39" name="Oval 38"/>
          <p:cNvSpPr/>
          <p:nvPr/>
        </p:nvSpPr>
        <p:spPr>
          <a:xfrm>
            <a:off x="12287250" y="5715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228725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1" name="TextBox 40"/>
          <p:cNvSpPr txBox="1"/>
          <p:nvPr/>
        </p:nvSpPr>
        <p:spPr>
          <a:xfrm>
            <a:off x="12896850" y="567690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getForward()</a:t>
            </a:r>
          </a:p>
        </p:txBody>
      </p:sp>
      <p:sp>
        <p:nvSpPr>
          <p:cNvPr id="42" name="TextBox 41"/>
          <p:cNvSpPr txBox="1"/>
          <p:nvPr/>
        </p:nvSpPr>
        <p:spPr>
          <a:xfrm>
            <a:off x="12896850" y="609600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Left stick Y, minus sign, deadband</a:t>
            </a:r>
          </a:p>
        </p:txBody>
      </p:sp>
      <p:sp>
        <p:nvSpPr>
          <p:cNvPr id="43" name="Oval 42"/>
          <p:cNvSpPr/>
          <p:nvPr/>
        </p:nvSpPr>
        <p:spPr>
          <a:xfrm>
            <a:off x="12287250" y="7143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228725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45" name="TextBox 44"/>
          <p:cNvSpPr txBox="1"/>
          <p:nvPr/>
        </p:nvSpPr>
        <p:spPr>
          <a:xfrm>
            <a:off x="12896850" y="710565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getTurn()</a:t>
            </a:r>
          </a:p>
        </p:txBody>
      </p:sp>
      <p:sp>
        <p:nvSpPr>
          <p:cNvPr id="46" name="TextBox 45"/>
          <p:cNvSpPr txBox="1"/>
          <p:nvPr/>
        </p:nvSpPr>
        <p:spPr>
          <a:xfrm>
            <a:off x="12896850" y="752475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Left stick X. No minus sign</a:t>
            </a:r>
          </a:p>
        </p:txBody>
      </p:sp>
      <p:pic>
        <p:nvPicPr>
          <p:cNvPr id="47" name="Picture 46" descr="code-slash.png"/>
          <p:cNvPicPr>
            <a:picLocks noChangeAspect="1"/>
          </p:cNvPicPr>
          <p:nvPr/>
        </p:nvPicPr>
        <p:blipFill>
          <a:blip r:embed="rId3"/>
          <a:stretch>
            <a:fillRect/>
          </a:stretch>
        </p:blipFill>
        <p:spPr>
          <a:xfrm>
            <a:off x="914400" y="8039100"/>
            <a:ext cx="224518" cy="209550"/>
          </a:xfrm>
          <a:prstGeom prst="rect">
            <a:avLst/>
          </a:prstGeom>
        </p:spPr>
      </p:pic>
      <p:sp>
        <p:nvSpPr>
          <p:cNvPr id="48" name="TextBox 47"/>
          <p:cNvSpPr txBox="1"/>
          <p:nvPr/>
        </p:nvSpPr>
        <p:spPr>
          <a:xfrm>
            <a:off x="1295400" y="80010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Classes &amp; Objects</a:t>
            </a:r>
          </a:p>
        </p:txBody>
      </p:sp>
      <p:sp>
        <p:nvSpPr>
          <p:cNvPr id="49" name="TextBox 4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0" name="TextBox 4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STATIC AND OI</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Robot.java asks OI</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62250"/>
            <a:ext cx="5715000" cy="285750"/>
          </a:xfrm>
          <a:prstGeom prst="rect">
            <a:avLst/>
          </a:prstGeom>
          <a:noFill/>
        </p:spPr>
        <p:txBody>
          <a:bodyPr wrap="square" lIns="0" rIns="0" tIns="0" bIns="0" anchor="t">
            <a:spAutoFit/>
          </a:bodyPr>
          <a:lstStyle/>
          <a:p>
            <a:pPr algn="l"/>
            <a:r>
              <a:rPr sz="1650" b="1" i="0" spc="130">
                <a:solidFill>
                  <a:srgbClr val="9A7878"/>
                </a:solidFill>
                <a:latin typeface="Geist"/>
                <a:ea typeface="Geist"/>
                <a:cs typeface="Geist"/>
              </a:rPr>
              <a:t>BEFORE</a:t>
            </a:r>
          </a:p>
        </p:txBody>
      </p:sp>
      <p:sp>
        <p:nvSpPr>
          <p:cNvPr id="6" name="Rounded Rectangle 5"/>
          <p:cNvSpPr/>
          <p:nvPr/>
        </p:nvSpPr>
        <p:spPr>
          <a:xfrm>
            <a:off x="914400" y="3200400"/>
            <a:ext cx="11239500" cy="1859280"/>
          </a:xfrm>
          <a:prstGeom prst="roundRect">
            <a:avLst>
              <a:gd name="adj" fmla="val 8196"/>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5400" y="3581400"/>
            <a:ext cx="107061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drive_.arcadeDrive(</a:t>
            </a:r>
          </a:p>
        </p:txBody>
      </p:sp>
      <p:sp>
        <p:nvSpPr>
          <p:cNvPr id="8" name="TextBox 7"/>
          <p:cNvSpPr txBox="1"/>
          <p:nvPr/>
        </p:nvSpPr>
        <p:spPr>
          <a:xfrm>
            <a:off x="1295400" y="3947160"/>
            <a:ext cx="107061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MathUtil.applyDeadband(-controller_.getLeftY(), </a:t>
            </a:r>
            <a:r>
              <a:rPr sz="1800" b="0" i="0">
                <a:solidFill>
                  <a:srgbClr val="E8C27A"/>
                </a:solidFill>
                <a:latin typeface="Geist Mono"/>
                <a:ea typeface="Geist Mono"/>
                <a:cs typeface="Geist Mono"/>
              </a:rPr>
              <a:t>0.1</a:t>
            </a:r>
            <a:r>
              <a:rPr sz="1800" b="0" i="0">
                <a:solidFill>
                  <a:srgbClr val="F0E8E8"/>
                </a:solidFill>
                <a:latin typeface="Geist Mono"/>
                <a:ea typeface="Geist Mono"/>
                <a:cs typeface="Geist Mono"/>
              </a:rPr>
              <a:t>),</a:t>
            </a:r>
          </a:p>
        </p:txBody>
      </p:sp>
      <p:sp>
        <p:nvSpPr>
          <p:cNvPr id="9" name="TextBox 8"/>
          <p:cNvSpPr txBox="1"/>
          <p:nvPr/>
        </p:nvSpPr>
        <p:spPr>
          <a:xfrm>
            <a:off x="1295400" y="4312920"/>
            <a:ext cx="107061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MathUtil.applyDeadband(controller_.getLeftX(), </a:t>
            </a:r>
            <a:r>
              <a:rPr sz="1800" b="0" i="0">
                <a:solidFill>
                  <a:srgbClr val="E8C27A"/>
                </a:solidFill>
                <a:latin typeface="Geist Mono"/>
                <a:ea typeface="Geist Mono"/>
                <a:cs typeface="Geist Mono"/>
              </a:rPr>
              <a:t>0.1</a:t>
            </a:r>
            <a:r>
              <a:rPr sz="1800" b="0" i="0">
                <a:solidFill>
                  <a:srgbClr val="F0E8E8"/>
                </a:solidFill>
                <a:latin typeface="Geist Mono"/>
                <a:ea typeface="Geist Mono"/>
                <a:cs typeface="Geist Mono"/>
              </a:rPr>
              <a:t>));</a:t>
            </a:r>
          </a:p>
        </p:txBody>
      </p:sp>
      <p:sp>
        <p:nvSpPr>
          <p:cNvPr id="10" name="TextBox 9"/>
          <p:cNvSpPr txBox="1"/>
          <p:nvPr/>
        </p:nvSpPr>
        <p:spPr>
          <a:xfrm>
            <a:off x="914400" y="5619750"/>
            <a:ext cx="5715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AFTER</a:t>
            </a:r>
          </a:p>
        </p:txBody>
      </p:sp>
      <p:sp>
        <p:nvSpPr>
          <p:cNvPr id="11" name="Rounded Rectangle 10"/>
          <p:cNvSpPr/>
          <p:nvPr/>
        </p:nvSpPr>
        <p:spPr>
          <a:xfrm>
            <a:off x="914400" y="6057900"/>
            <a:ext cx="11239500" cy="1127760"/>
          </a:xfrm>
          <a:prstGeom prst="roundRect">
            <a:avLst>
              <a:gd name="adj" fmla="val 13513"/>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933450" y="6438900"/>
            <a:ext cx="1120140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33450" y="6438900"/>
            <a:ext cx="57150" cy="36576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295400" y="6438900"/>
            <a:ext cx="107061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drive_.arcadeDrive(OI.getForward(), OI.getTurn());</a:t>
            </a:r>
          </a:p>
        </p:txBody>
      </p:sp>
      <p:sp>
        <p:nvSpPr>
          <p:cNvPr id="15" name="Rounded Rectangle 14"/>
          <p:cNvSpPr/>
          <p:nvPr/>
        </p:nvSpPr>
        <p:spPr>
          <a:xfrm>
            <a:off x="12763500" y="2762250"/>
            <a:ext cx="4610100" cy="4476750"/>
          </a:xfrm>
          <a:prstGeom prst="roundRect">
            <a:avLst>
              <a:gd name="adj" fmla="val 3404"/>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3144500" y="3105150"/>
            <a:ext cx="381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ALSO DELETE</a:t>
            </a:r>
          </a:p>
        </p:txBody>
      </p:sp>
      <p:sp>
        <p:nvSpPr>
          <p:cNvPr id="17" name="TextBox 16"/>
          <p:cNvSpPr txBox="1"/>
          <p:nvPr/>
        </p:nvSpPr>
        <p:spPr>
          <a:xfrm>
            <a:off x="13144500" y="3619500"/>
            <a:ext cx="390525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0" i="0">
                <a:solidFill>
                  <a:srgbClr val="F0E8E8"/>
                </a:solidFill>
                <a:latin typeface="Geist"/>
                <a:ea typeface="Geist"/>
                <a:cs typeface="Geist"/>
              </a:rPr>
              <a:t>The </a:t>
            </a:r>
            <a:r>
              <a:rPr sz="1950" b="0" i="0">
                <a:solidFill>
                  <a:srgbClr val="F0E8E8"/>
                </a:solidFill>
                <a:latin typeface="Geist Mono"/>
                <a:ea typeface="Geist Mono"/>
                <a:cs typeface="Geist Mono"/>
              </a:rPr>
              <a:t>controller_</a:t>
            </a:r>
            <a:r>
              <a:rPr sz="1950" b="0" i="0">
                <a:solidFill>
                  <a:srgbClr val="F0E8E8"/>
                </a:solidFill>
                <a:latin typeface="Geist"/>
                <a:ea typeface="Geist"/>
                <a:cs typeface="Geist"/>
              </a:rPr>
              <a:t> field</a:t>
            </a:r>
          </a:p>
        </p:txBody>
      </p:sp>
      <p:sp>
        <p:nvSpPr>
          <p:cNvPr id="18" name="TextBox 17"/>
          <p:cNvSpPr txBox="1"/>
          <p:nvPr/>
        </p:nvSpPr>
        <p:spPr>
          <a:xfrm>
            <a:off x="13144500" y="4189095"/>
            <a:ext cx="390525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0" i="0">
                <a:solidFill>
                  <a:srgbClr val="F0E8E8"/>
                </a:solidFill>
                <a:latin typeface="Geist"/>
                <a:ea typeface="Geist"/>
                <a:cs typeface="Geist"/>
              </a:rPr>
              <a:t>The </a:t>
            </a:r>
            <a:r>
              <a:rPr sz="1950" b="0" i="0">
                <a:solidFill>
                  <a:srgbClr val="F0E8E8"/>
                </a:solidFill>
                <a:latin typeface="Geist Mono"/>
                <a:ea typeface="Geist Mono"/>
                <a:cs typeface="Geist Mono"/>
              </a:rPr>
              <a:t>XboxController</a:t>
            </a:r>
            <a:r>
              <a:rPr sz="1950" b="0" i="0">
                <a:solidFill>
                  <a:srgbClr val="F0E8E8"/>
                </a:solidFill>
                <a:latin typeface="Geist"/>
                <a:ea typeface="Geist"/>
                <a:cs typeface="Geist"/>
              </a:rPr>
              <a:t> import</a:t>
            </a:r>
          </a:p>
        </p:txBody>
      </p:sp>
      <p:sp>
        <p:nvSpPr>
          <p:cNvPr id="19" name="TextBox 18"/>
          <p:cNvSpPr txBox="1"/>
          <p:nvPr/>
        </p:nvSpPr>
        <p:spPr>
          <a:xfrm>
            <a:off x="13144500" y="4758690"/>
            <a:ext cx="390525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0" i="0">
                <a:solidFill>
                  <a:srgbClr val="F0E8E8"/>
                </a:solidFill>
                <a:latin typeface="Geist"/>
                <a:ea typeface="Geist"/>
                <a:cs typeface="Geist"/>
              </a:rPr>
              <a:t>The unused </a:t>
            </a:r>
            <a:r>
              <a:rPr sz="1950" b="0" i="0">
                <a:solidFill>
                  <a:srgbClr val="F0E8E8"/>
                </a:solidFill>
                <a:latin typeface="Geist Mono"/>
                <a:ea typeface="Geist Mono"/>
                <a:cs typeface="Geist Mono"/>
              </a:rPr>
              <a:t>MathUtil</a:t>
            </a:r>
            <a:r>
              <a:rPr sz="1950" b="0" i="0">
                <a:solidFill>
                  <a:srgbClr val="F0E8E8"/>
                </a:solidFill>
                <a:latin typeface="Geist"/>
                <a:ea typeface="Geist"/>
                <a:cs typeface="Geist"/>
              </a:rPr>
              <a:t> import</a:t>
            </a:r>
          </a:p>
        </p:txBody>
      </p:sp>
      <p:sp>
        <p:nvSpPr>
          <p:cNvPr id="20" name="TextBox 19"/>
          <p:cNvSpPr txBox="1"/>
          <p:nvPr/>
        </p:nvSpPr>
        <p:spPr>
          <a:xfrm>
            <a:off x="13144500" y="5905500"/>
            <a:ext cx="3905250" cy="1143000"/>
          </a:xfrm>
          <a:prstGeom prst="rect">
            <a:avLst/>
          </a:prstGeom>
          <a:noFill/>
        </p:spPr>
        <p:txBody>
          <a:bodyPr wrap="square" lIns="0" rIns="0" tIns="0" bIns="0" anchor="t">
            <a:spAutoFit/>
          </a:bodyPr>
          <a:lstStyle/>
          <a:p>
            <a:pPr algn="l">
              <a:lnSpc>
                <a:spcPct val="130000"/>
              </a:lnSpc>
            </a:pPr>
            <a:r>
              <a:rPr sz="1650" b="0" i="0">
                <a:solidFill>
                  <a:srgbClr val="9A7878"/>
                </a:solidFill>
                <a:latin typeface="Geist"/>
                <a:ea typeface="Geist"/>
                <a:cs typeface="Geist"/>
              </a:rPr>
              <a:t>Verify looks for the word XboxController anywhere in Robot.java.</a:t>
            </a:r>
          </a:p>
        </p:txBody>
      </p:sp>
      <p:sp>
        <p:nvSpPr>
          <p:cNvPr id="21" name="Rounded Rectangle 20"/>
          <p:cNvSpPr/>
          <p:nvPr/>
        </p:nvSpPr>
        <p:spPr>
          <a:xfrm>
            <a:off x="914400" y="790575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heck-circle-fill.png"/>
          <p:cNvPicPr>
            <a:picLocks noChangeAspect="1"/>
          </p:cNvPicPr>
          <p:nvPr/>
        </p:nvPicPr>
        <p:blipFill>
          <a:blip r:embed="rId3"/>
          <a:stretch>
            <a:fillRect/>
          </a:stretch>
        </p:blipFill>
        <p:spPr>
          <a:xfrm>
            <a:off x="1333500" y="8115300"/>
            <a:ext cx="533400" cy="533400"/>
          </a:xfrm>
          <a:prstGeom prst="rect">
            <a:avLst/>
          </a:prstGeom>
        </p:spPr>
      </p:pic>
      <p:sp>
        <p:nvSpPr>
          <p:cNvPr id="23" name="TextBox 22"/>
          <p:cNvSpPr txBox="1"/>
          <p:nvPr/>
        </p:nvSpPr>
        <p:spPr>
          <a:xfrm>
            <a:off x="2190750" y="790575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Same robot, same driving.  </a:t>
            </a:r>
            <a:r>
              <a:rPr sz="2100" b="0" i="0">
                <a:solidFill>
                  <a:srgbClr val="F0E8E8"/>
                </a:solidFill>
                <a:latin typeface="Geist"/>
                <a:ea typeface="Geist"/>
                <a:cs typeface="Geist"/>
              </a:rPr>
              <a:t>Only now OI owns the controller.</a:t>
            </a:r>
          </a:p>
        </p:txBody>
      </p:sp>
      <p:sp>
        <p:nvSpPr>
          <p:cNvPr id="24" name="TextBox 2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5" name="TextBox 2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STATIC AND OI</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deadband, WPILib's way</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7810500" cy="6191250"/>
          </a:xfrm>
          <a:prstGeom prst="roundRect">
            <a:avLst>
              <a:gd name="adj" fmla="val 2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4305300" y="3048000"/>
            <a:ext cx="533400" cy="533400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895475" y="5705475"/>
            <a:ext cx="5353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4562475" y="3038475"/>
            <a:ext cx="19050" cy="5353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9" name="Connector 8"/>
          <p:cNvCxnSpPr/>
          <p:nvPr/>
        </p:nvCxnSpPr>
        <p:spPr>
          <a:xfrm flipV="1">
            <a:off x="1905000" y="3048000"/>
            <a:ext cx="5334000" cy="5334000"/>
          </a:xfrm>
          <a:prstGeom prst="line">
            <a:avLst/>
          </a:prstGeom>
          <a:ln w="28575">
            <a:solidFill>
              <a:srgbClr val="9A787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905000" y="8322733"/>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958340" y="8263467"/>
            <a:ext cx="53340" cy="5926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2011680" y="8204200"/>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2065020" y="8144933"/>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2118360" y="8085667"/>
            <a:ext cx="53340" cy="5926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2171700" y="8026400"/>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2225040" y="7967133"/>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2278380" y="7907867"/>
            <a:ext cx="53340" cy="5926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331720" y="7848600"/>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385060" y="7789333"/>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2438400" y="7730067"/>
            <a:ext cx="53340" cy="5926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491740" y="7670800"/>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2545080" y="7611533"/>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598420" y="7552267"/>
            <a:ext cx="53340" cy="5926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2651760" y="7493000"/>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2705100" y="7433733"/>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758440" y="7374467"/>
            <a:ext cx="53340" cy="5926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2811780" y="7315200"/>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2865120" y="7255933"/>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2918460" y="7196667"/>
            <a:ext cx="53340" cy="5926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2971800" y="7137400"/>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3025140" y="7078133"/>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3078480" y="7018867"/>
            <a:ext cx="53340" cy="5926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3131820" y="6959600"/>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3185160" y="6900333"/>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3238500" y="6841067"/>
            <a:ext cx="53340" cy="5926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3291840" y="6781800"/>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3345180" y="6722533"/>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3398520" y="6663267"/>
            <a:ext cx="53340" cy="5926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3451860" y="6604000"/>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3505200" y="6544733"/>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3558540" y="6485467"/>
            <a:ext cx="53340" cy="5926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3611880" y="6426200"/>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3665220" y="6366933"/>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3718560" y="6307667"/>
            <a:ext cx="53340" cy="5926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3771900" y="6248400"/>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3825240" y="6189133"/>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3878580" y="6129867"/>
            <a:ext cx="53340" cy="5926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3931920" y="6070600"/>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3985260" y="6011333"/>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038600" y="5952067"/>
            <a:ext cx="53340" cy="5926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4091940" y="5892800"/>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4145280" y="5833533"/>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4198620" y="5774267"/>
            <a:ext cx="53340" cy="5926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4251960" y="5715000"/>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4276725" y="5686425"/>
            <a:ext cx="5715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ectangle 55"/>
          <p:cNvSpPr/>
          <p:nvPr/>
        </p:nvSpPr>
        <p:spPr>
          <a:xfrm>
            <a:off x="4276725" y="5686425"/>
            <a:ext cx="59055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56"/>
          <p:cNvSpPr/>
          <p:nvPr/>
        </p:nvSpPr>
        <p:spPr>
          <a:xfrm>
            <a:off x="4810125" y="5686425"/>
            <a:ext cx="5715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58" name="Connector 57"/>
          <p:cNvCxnSpPr/>
          <p:nvPr/>
        </p:nvCxnSpPr>
        <p:spPr>
          <a:xfrm flipV="1">
            <a:off x="4838700" y="5655733"/>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4892040" y="5596467"/>
            <a:ext cx="53340" cy="5926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4945380" y="5537200"/>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4998720" y="5477933"/>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5052060" y="5418667"/>
            <a:ext cx="53340" cy="5926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5105400" y="5359400"/>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5158740" y="5300133"/>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5212080" y="5240867"/>
            <a:ext cx="53340" cy="5926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5265420" y="5181600"/>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5318760" y="5122333"/>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5372100" y="5063067"/>
            <a:ext cx="53340" cy="5926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5425440" y="5003800"/>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5478780" y="4944533"/>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5532120" y="4885267"/>
            <a:ext cx="53340" cy="5926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5585460" y="4826000"/>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5638800" y="4766733"/>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5692140" y="4707467"/>
            <a:ext cx="53340" cy="5926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5745480" y="4648200"/>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5798820" y="4588933"/>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5852160" y="4529667"/>
            <a:ext cx="53340" cy="5926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5905500" y="4470400"/>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5958840" y="4411133"/>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6012180" y="4351867"/>
            <a:ext cx="53340" cy="5926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6065520" y="4292600"/>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6118860" y="4233333"/>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6172200" y="4174067"/>
            <a:ext cx="53340" cy="5926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6225540" y="4114800"/>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6278880" y="4055533"/>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6332220" y="3996267"/>
            <a:ext cx="53340" cy="5926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6385560" y="3937000"/>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6438900" y="3877733"/>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6492240" y="3818467"/>
            <a:ext cx="53340" cy="5926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6545580" y="3759200"/>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6598920" y="3699933"/>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6652260" y="3640667"/>
            <a:ext cx="53340" cy="5926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6705600" y="3581400"/>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6758940" y="3522133"/>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6812280" y="3462867"/>
            <a:ext cx="53340" cy="5926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6865620" y="3403600"/>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6918960" y="3344333"/>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6972300" y="3285067"/>
            <a:ext cx="53340" cy="5926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7025640" y="3225800"/>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7078980" y="3166533"/>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7132320" y="3107267"/>
            <a:ext cx="53340" cy="5926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7185660" y="3048000"/>
            <a:ext cx="53340" cy="59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1524000" y="581025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a:t>
            </a:r>
          </a:p>
        </p:txBody>
      </p:sp>
      <p:sp>
        <p:nvSpPr>
          <p:cNvPr id="104" name="TextBox 103"/>
          <p:cNvSpPr txBox="1"/>
          <p:nvPr/>
        </p:nvSpPr>
        <p:spPr>
          <a:xfrm>
            <a:off x="6858000" y="581025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a:t>
            </a:r>
          </a:p>
        </p:txBody>
      </p:sp>
      <p:sp>
        <p:nvSpPr>
          <p:cNvPr id="105" name="TextBox 104"/>
          <p:cNvSpPr txBox="1"/>
          <p:nvPr/>
        </p:nvSpPr>
        <p:spPr>
          <a:xfrm>
            <a:off x="1905000" y="8534400"/>
            <a:ext cx="53340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stick in</a:t>
            </a:r>
          </a:p>
        </p:txBody>
      </p:sp>
      <p:sp>
        <p:nvSpPr>
          <p:cNvPr id="106" name="TextBox 105"/>
          <p:cNvSpPr txBox="1"/>
          <p:nvPr/>
        </p:nvSpPr>
        <p:spPr>
          <a:xfrm>
            <a:off x="4686300" y="3086100"/>
            <a:ext cx="19050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value out</a:t>
            </a:r>
          </a:p>
        </p:txBody>
      </p:sp>
      <p:sp>
        <p:nvSpPr>
          <p:cNvPr id="107" name="TextBox 106"/>
          <p:cNvSpPr txBox="1"/>
          <p:nvPr/>
        </p:nvSpPr>
        <p:spPr>
          <a:xfrm>
            <a:off x="4857750" y="6286500"/>
            <a:ext cx="2095500" cy="285750"/>
          </a:xfrm>
          <a:prstGeom prst="rect">
            <a:avLst/>
          </a:prstGeom>
          <a:noFill/>
        </p:spPr>
        <p:txBody>
          <a:bodyPr wrap="square" lIns="0" rIns="0" tIns="0" bIns="0" anchor="t">
            <a:spAutoFit/>
          </a:bodyPr>
          <a:lstStyle/>
          <a:p>
            <a:pPr algn="l"/>
            <a:r>
              <a:rPr sz="1500" b="0" i="0">
                <a:solidFill>
                  <a:srgbClr val="F0E8E8"/>
                </a:solidFill>
                <a:latin typeface="Geist Mono"/>
                <a:ea typeface="Geist Mono"/>
                <a:cs typeface="Geist Mono"/>
              </a:rPr>
              <a:t>-0.1 to 0.1</a:t>
            </a:r>
          </a:p>
        </p:txBody>
      </p:sp>
      <p:sp>
        <p:nvSpPr>
          <p:cNvPr id="108" name="TextBox 107"/>
          <p:cNvSpPr txBox="1"/>
          <p:nvPr/>
        </p:nvSpPr>
        <p:spPr>
          <a:xfrm>
            <a:off x="4857750" y="6553200"/>
            <a:ext cx="20955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counts as 0</a:t>
            </a:r>
          </a:p>
        </p:txBody>
      </p:sp>
      <p:sp>
        <p:nvSpPr>
          <p:cNvPr id="109" name="Oval 108"/>
          <p:cNvSpPr/>
          <p:nvPr/>
        </p:nvSpPr>
        <p:spPr>
          <a:xfrm>
            <a:off x="4381500" y="504825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4381500" y="50482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11" name="Oval 110"/>
          <p:cNvSpPr/>
          <p:nvPr/>
        </p:nvSpPr>
        <p:spPr>
          <a:xfrm>
            <a:off x="5600700" y="3947583"/>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5600700" y="3947583"/>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13" name="Oval 112"/>
          <p:cNvSpPr/>
          <p:nvPr/>
        </p:nvSpPr>
        <p:spPr>
          <a:xfrm>
            <a:off x="7048500" y="314325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7048500" y="31432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15" name="Rounded Rectangle 114"/>
          <p:cNvSpPr/>
          <p:nvPr/>
        </p:nvSpPr>
        <p:spPr>
          <a:xfrm>
            <a:off x="9334500" y="2857500"/>
            <a:ext cx="8039100" cy="115824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TextBox 115"/>
          <p:cNvSpPr txBox="1"/>
          <p:nvPr/>
        </p:nvSpPr>
        <p:spPr>
          <a:xfrm>
            <a:off x="9715500" y="3238500"/>
            <a:ext cx="7505700" cy="39624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MathUtil.applyDeadband(value, </a:t>
            </a:r>
            <a:r>
              <a:rPr sz="1950" b="0" i="0">
                <a:solidFill>
                  <a:srgbClr val="E8C27A"/>
                </a:solidFill>
                <a:latin typeface="Geist Mono"/>
                <a:ea typeface="Geist Mono"/>
                <a:cs typeface="Geist Mono"/>
              </a:rPr>
              <a:t>0.1</a:t>
            </a:r>
            <a:r>
              <a:rPr sz="1950" b="0" i="0">
                <a:solidFill>
                  <a:srgbClr val="F0E8E8"/>
                </a:solidFill>
                <a:latin typeface="Geist Mono"/>
                <a:ea typeface="Geist Mono"/>
                <a:cs typeface="Geist Mono"/>
              </a:rPr>
              <a:t>)</a:t>
            </a:r>
          </a:p>
        </p:txBody>
      </p:sp>
      <p:sp>
        <p:nvSpPr>
          <p:cNvPr id="117" name="Oval 116"/>
          <p:cNvSpPr/>
          <p:nvPr/>
        </p:nvSpPr>
        <p:spPr>
          <a:xfrm>
            <a:off x="9334500" y="4572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9334500" y="4572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19" name="TextBox 118"/>
          <p:cNvSpPr txBox="1"/>
          <p:nvPr/>
        </p:nvSpPr>
        <p:spPr>
          <a:xfrm>
            <a:off x="9944100" y="4533900"/>
            <a:ext cx="7429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Ignore tiny pushes</a:t>
            </a:r>
          </a:p>
        </p:txBody>
      </p:sp>
      <p:sp>
        <p:nvSpPr>
          <p:cNvPr id="120" name="TextBox 119"/>
          <p:cNvSpPr txBox="1"/>
          <p:nvPr/>
        </p:nvSpPr>
        <p:spPr>
          <a:xfrm>
            <a:off x="9944100" y="4953000"/>
            <a:ext cx="7429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 resting stick reads a little off zero. Now it's exactly 0</a:t>
            </a:r>
          </a:p>
        </p:txBody>
      </p:sp>
      <p:sp>
        <p:nvSpPr>
          <p:cNvPr id="121" name="Oval 120"/>
          <p:cNvSpPr/>
          <p:nvPr/>
        </p:nvSpPr>
        <p:spPr>
          <a:xfrm>
            <a:off x="9334500" y="6000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9334500" y="6000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23" name="TextBox 122"/>
          <p:cNvSpPr txBox="1"/>
          <p:nvPr/>
        </p:nvSpPr>
        <p:spPr>
          <a:xfrm>
            <a:off x="9944100" y="5962650"/>
            <a:ext cx="7429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Stretch the rest</a:t>
            </a:r>
          </a:p>
        </p:txBody>
      </p:sp>
      <p:sp>
        <p:nvSpPr>
          <p:cNvPr id="124" name="TextBox 123"/>
          <p:cNvSpPr txBox="1"/>
          <p:nvPr/>
        </p:nvSpPr>
        <p:spPr>
          <a:xfrm>
            <a:off x="9944100" y="6381750"/>
            <a:ext cx="7429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Just past 0.1 starts again from 0</a:t>
            </a:r>
          </a:p>
        </p:txBody>
      </p:sp>
      <p:sp>
        <p:nvSpPr>
          <p:cNvPr id="125" name="Oval 124"/>
          <p:cNvSpPr/>
          <p:nvPr/>
        </p:nvSpPr>
        <p:spPr>
          <a:xfrm>
            <a:off x="9334500" y="7429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9334500" y="7429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27" name="TextBox 126"/>
          <p:cNvSpPr txBox="1"/>
          <p:nvPr/>
        </p:nvSpPr>
        <p:spPr>
          <a:xfrm>
            <a:off x="9944100" y="7391400"/>
            <a:ext cx="7429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Full push stays full</a:t>
            </a:r>
          </a:p>
        </p:txBody>
      </p:sp>
      <p:sp>
        <p:nvSpPr>
          <p:cNvPr id="128" name="TextBox 127"/>
          <p:cNvSpPr txBox="1"/>
          <p:nvPr/>
        </p:nvSpPr>
        <p:spPr>
          <a:xfrm>
            <a:off x="9944100" y="7810500"/>
            <a:ext cx="7429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1.0 in gives 1.0 out</a:t>
            </a:r>
          </a:p>
        </p:txBody>
      </p:sp>
      <p:sp>
        <p:nvSpPr>
          <p:cNvPr id="129" name="TextBox 12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30" name="TextBox 12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03</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WPILib's classes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Ready-made blueprints for angles, positions and speeds</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19</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Why build it yourself when WPILib already did? Use the toolbox!</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WPILIB'S CLASSES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Today's toolbox</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6459200" cy="990600"/>
          </a:xfrm>
          <a:prstGeom prst="roundRect">
            <a:avLst>
              <a:gd name="adj" fmla="val 13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2857500"/>
            <a:ext cx="6096000" cy="990600"/>
          </a:xfrm>
          <a:prstGeom prst="rect">
            <a:avLst/>
          </a:prstGeom>
          <a:noFill/>
        </p:spPr>
        <p:txBody>
          <a:bodyPr wrap="square" lIns="0" rIns="0" tIns="0" bIns="0" anchor="ctr">
            <a:spAutoFit/>
          </a:bodyPr>
          <a:lstStyle/>
          <a:p>
            <a:pPr algn="l"/>
            <a:r>
              <a:rPr sz="2100" b="1" i="0">
                <a:solidFill>
                  <a:srgbClr val="E8C27A"/>
                </a:solidFill>
                <a:latin typeface="Geist Mono"/>
                <a:ea typeface="Geist Mono"/>
                <a:cs typeface="Geist Mono"/>
              </a:rPr>
              <a:t>Rotation2d</a:t>
            </a:r>
          </a:p>
        </p:txBody>
      </p:sp>
      <p:sp>
        <p:nvSpPr>
          <p:cNvPr id="7" name="TextBox 6"/>
          <p:cNvSpPr txBox="1"/>
          <p:nvPr/>
        </p:nvSpPr>
        <p:spPr>
          <a:xfrm>
            <a:off x="7524750" y="2857500"/>
            <a:ext cx="1905000" cy="990600"/>
          </a:xfrm>
          <a:prstGeom prst="rect">
            <a:avLst/>
          </a:prstGeom>
          <a:noFill/>
        </p:spPr>
        <p:txBody>
          <a:bodyPr wrap="square" lIns="0" rIns="0" tIns="0" bIns="0" anchor="ctr">
            <a:spAutoFit/>
          </a:bodyPr>
          <a:lstStyle/>
          <a:p>
            <a:pPr algn="l"/>
            <a:r>
              <a:rPr sz="1650" b="0" i="0">
                <a:solidFill>
                  <a:srgbClr val="9A7878"/>
                </a:solidFill>
                <a:latin typeface="Geist Mono"/>
                <a:ea typeface="Geist Mono"/>
                <a:cs typeface="Geist Mono"/>
              </a:rPr>
              <a:t>geometry</a:t>
            </a:r>
          </a:p>
        </p:txBody>
      </p:sp>
      <p:sp>
        <p:nvSpPr>
          <p:cNvPr id="8" name="TextBox 7"/>
          <p:cNvSpPr txBox="1"/>
          <p:nvPr/>
        </p:nvSpPr>
        <p:spPr>
          <a:xfrm>
            <a:off x="9620250" y="2857500"/>
            <a:ext cx="7524750" cy="99060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An angle: which way the robot faces</a:t>
            </a:r>
          </a:p>
        </p:txBody>
      </p:sp>
      <p:sp>
        <p:nvSpPr>
          <p:cNvPr id="9" name="Rounded Rectangle 8"/>
          <p:cNvSpPr/>
          <p:nvPr/>
        </p:nvSpPr>
        <p:spPr>
          <a:xfrm>
            <a:off x="914400" y="4000500"/>
            <a:ext cx="16459200" cy="990600"/>
          </a:xfrm>
          <a:prstGeom prst="roundRect">
            <a:avLst>
              <a:gd name="adj" fmla="val 13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95400" y="4000500"/>
            <a:ext cx="6096000" cy="990600"/>
          </a:xfrm>
          <a:prstGeom prst="rect">
            <a:avLst/>
          </a:prstGeom>
          <a:noFill/>
        </p:spPr>
        <p:txBody>
          <a:bodyPr wrap="square" lIns="0" rIns="0" tIns="0" bIns="0" anchor="ctr">
            <a:spAutoFit/>
          </a:bodyPr>
          <a:lstStyle/>
          <a:p>
            <a:pPr algn="l"/>
            <a:r>
              <a:rPr sz="2100" b="1" i="0">
                <a:solidFill>
                  <a:srgbClr val="E8C27A"/>
                </a:solidFill>
                <a:latin typeface="Geist Mono"/>
                <a:ea typeface="Geist Mono"/>
                <a:cs typeface="Geist Mono"/>
              </a:rPr>
              <a:t>Pose2d</a:t>
            </a:r>
          </a:p>
        </p:txBody>
      </p:sp>
      <p:sp>
        <p:nvSpPr>
          <p:cNvPr id="11" name="TextBox 10"/>
          <p:cNvSpPr txBox="1"/>
          <p:nvPr/>
        </p:nvSpPr>
        <p:spPr>
          <a:xfrm>
            <a:off x="7524750" y="4000500"/>
            <a:ext cx="1905000" cy="990600"/>
          </a:xfrm>
          <a:prstGeom prst="rect">
            <a:avLst/>
          </a:prstGeom>
          <a:noFill/>
        </p:spPr>
        <p:txBody>
          <a:bodyPr wrap="square" lIns="0" rIns="0" tIns="0" bIns="0" anchor="ctr">
            <a:spAutoFit/>
          </a:bodyPr>
          <a:lstStyle/>
          <a:p>
            <a:pPr algn="l"/>
            <a:r>
              <a:rPr sz="1650" b="0" i="0">
                <a:solidFill>
                  <a:srgbClr val="9A7878"/>
                </a:solidFill>
                <a:latin typeface="Geist Mono"/>
                <a:ea typeface="Geist Mono"/>
                <a:cs typeface="Geist Mono"/>
              </a:rPr>
              <a:t>geometry</a:t>
            </a:r>
          </a:p>
        </p:txBody>
      </p:sp>
      <p:sp>
        <p:nvSpPr>
          <p:cNvPr id="12" name="TextBox 11"/>
          <p:cNvSpPr txBox="1"/>
          <p:nvPr/>
        </p:nvSpPr>
        <p:spPr>
          <a:xfrm>
            <a:off x="9620250" y="4000500"/>
            <a:ext cx="7524750" cy="99060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Where on the field, and which way it faces</a:t>
            </a:r>
          </a:p>
        </p:txBody>
      </p:sp>
      <p:sp>
        <p:nvSpPr>
          <p:cNvPr id="13" name="Rounded Rectangle 12"/>
          <p:cNvSpPr/>
          <p:nvPr/>
        </p:nvSpPr>
        <p:spPr>
          <a:xfrm>
            <a:off x="914400" y="5143500"/>
            <a:ext cx="16459200" cy="990600"/>
          </a:xfrm>
          <a:prstGeom prst="roundRect">
            <a:avLst>
              <a:gd name="adj" fmla="val 13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295400" y="5143500"/>
            <a:ext cx="6096000" cy="990600"/>
          </a:xfrm>
          <a:prstGeom prst="rect">
            <a:avLst/>
          </a:prstGeom>
          <a:noFill/>
        </p:spPr>
        <p:txBody>
          <a:bodyPr wrap="square" lIns="0" rIns="0" tIns="0" bIns="0" anchor="ctr">
            <a:spAutoFit/>
          </a:bodyPr>
          <a:lstStyle/>
          <a:p>
            <a:pPr algn="l"/>
            <a:r>
              <a:rPr sz="2100" b="1" i="0">
                <a:solidFill>
                  <a:srgbClr val="E8C27A"/>
                </a:solidFill>
                <a:latin typeface="Geist Mono"/>
                <a:ea typeface="Geist Mono"/>
                <a:cs typeface="Geist Mono"/>
              </a:rPr>
              <a:t>ChassisSpeeds</a:t>
            </a:r>
          </a:p>
        </p:txBody>
      </p:sp>
      <p:sp>
        <p:nvSpPr>
          <p:cNvPr id="15" name="TextBox 14"/>
          <p:cNvSpPr txBox="1"/>
          <p:nvPr/>
        </p:nvSpPr>
        <p:spPr>
          <a:xfrm>
            <a:off x="7524750" y="5143500"/>
            <a:ext cx="1905000" cy="990600"/>
          </a:xfrm>
          <a:prstGeom prst="rect">
            <a:avLst/>
          </a:prstGeom>
          <a:noFill/>
        </p:spPr>
        <p:txBody>
          <a:bodyPr wrap="square" lIns="0" rIns="0" tIns="0" bIns="0" anchor="ctr">
            <a:spAutoFit/>
          </a:bodyPr>
          <a:lstStyle/>
          <a:p>
            <a:pPr algn="l"/>
            <a:r>
              <a:rPr sz="1650" b="0" i="0">
                <a:solidFill>
                  <a:srgbClr val="9A7878"/>
                </a:solidFill>
                <a:latin typeface="Geist Mono"/>
                <a:ea typeface="Geist Mono"/>
                <a:cs typeface="Geist Mono"/>
              </a:rPr>
              <a:t>kinematics</a:t>
            </a:r>
          </a:p>
        </p:txBody>
      </p:sp>
      <p:sp>
        <p:nvSpPr>
          <p:cNvPr id="16" name="TextBox 15"/>
          <p:cNvSpPr txBox="1"/>
          <p:nvPr/>
        </p:nvSpPr>
        <p:spPr>
          <a:xfrm>
            <a:off x="9620250" y="5143500"/>
            <a:ext cx="7524750" cy="99060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How fast the whole robot moves and turns</a:t>
            </a:r>
          </a:p>
        </p:txBody>
      </p:sp>
      <p:sp>
        <p:nvSpPr>
          <p:cNvPr id="17" name="Rounded Rectangle 16"/>
          <p:cNvSpPr/>
          <p:nvPr/>
        </p:nvSpPr>
        <p:spPr>
          <a:xfrm>
            <a:off x="914400" y="6286500"/>
            <a:ext cx="16459200" cy="990600"/>
          </a:xfrm>
          <a:prstGeom prst="roundRect">
            <a:avLst>
              <a:gd name="adj" fmla="val 13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295400" y="6286500"/>
            <a:ext cx="6096000" cy="990600"/>
          </a:xfrm>
          <a:prstGeom prst="rect">
            <a:avLst/>
          </a:prstGeom>
          <a:noFill/>
        </p:spPr>
        <p:txBody>
          <a:bodyPr wrap="square" lIns="0" rIns="0" tIns="0" bIns="0" anchor="ctr">
            <a:spAutoFit/>
          </a:bodyPr>
          <a:lstStyle/>
          <a:p>
            <a:pPr algn="l"/>
            <a:r>
              <a:rPr sz="2100" b="1" i="0">
                <a:solidFill>
                  <a:srgbClr val="E8C27A"/>
                </a:solidFill>
                <a:latin typeface="Geist Mono"/>
                <a:ea typeface="Geist Mono"/>
                <a:cs typeface="Geist Mono"/>
              </a:rPr>
              <a:t>DifferentialDriveKinematics</a:t>
            </a:r>
          </a:p>
        </p:txBody>
      </p:sp>
      <p:sp>
        <p:nvSpPr>
          <p:cNvPr id="19" name="TextBox 18"/>
          <p:cNvSpPr txBox="1"/>
          <p:nvPr/>
        </p:nvSpPr>
        <p:spPr>
          <a:xfrm>
            <a:off x="7524750" y="6286500"/>
            <a:ext cx="1905000" cy="990600"/>
          </a:xfrm>
          <a:prstGeom prst="rect">
            <a:avLst/>
          </a:prstGeom>
          <a:noFill/>
        </p:spPr>
        <p:txBody>
          <a:bodyPr wrap="square" lIns="0" rIns="0" tIns="0" bIns="0" anchor="ctr">
            <a:spAutoFit/>
          </a:bodyPr>
          <a:lstStyle/>
          <a:p>
            <a:pPr algn="l"/>
            <a:r>
              <a:rPr sz="1650" b="0" i="0">
                <a:solidFill>
                  <a:srgbClr val="9A7878"/>
                </a:solidFill>
                <a:latin typeface="Geist Mono"/>
                <a:ea typeface="Geist Mono"/>
                <a:cs typeface="Geist Mono"/>
              </a:rPr>
              <a:t>kinematics</a:t>
            </a:r>
          </a:p>
        </p:txBody>
      </p:sp>
      <p:sp>
        <p:nvSpPr>
          <p:cNvPr id="20" name="TextBox 19"/>
          <p:cNvSpPr txBox="1"/>
          <p:nvPr/>
        </p:nvSpPr>
        <p:spPr>
          <a:xfrm>
            <a:off x="9620250" y="6286500"/>
            <a:ext cx="7524750" cy="99060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Turns wheel speeds into robot speeds</a:t>
            </a:r>
          </a:p>
        </p:txBody>
      </p:sp>
      <p:sp>
        <p:nvSpPr>
          <p:cNvPr id="21" name="Rounded Rectangle 20"/>
          <p:cNvSpPr/>
          <p:nvPr/>
        </p:nvSpPr>
        <p:spPr>
          <a:xfrm>
            <a:off x="914400" y="7429500"/>
            <a:ext cx="16459200" cy="990600"/>
          </a:xfrm>
          <a:prstGeom prst="roundRect">
            <a:avLst>
              <a:gd name="adj" fmla="val 13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295400" y="7429500"/>
            <a:ext cx="6096000" cy="990600"/>
          </a:xfrm>
          <a:prstGeom prst="rect">
            <a:avLst/>
          </a:prstGeom>
          <a:noFill/>
        </p:spPr>
        <p:txBody>
          <a:bodyPr wrap="square" lIns="0" rIns="0" tIns="0" bIns="0" anchor="ctr">
            <a:spAutoFit/>
          </a:bodyPr>
          <a:lstStyle/>
          <a:p>
            <a:pPr algn="l"/>
            <a:r>
              <a:rPr sz="2100" b="1" i="0">
                <a:solidFill>
                  <a:srgbClr val="E8C27A"/>
                </a:solidFill>
                <a:latin typeface="Geist Mono"/>
                <a:ea typeface="Geist Mono"/>
                <a:cs typeface="Geist Mono"/>
              </a:rPr>
              <a:t>DifferentialDrivePoseEstimator</a:t>
            </a:r>
          </a:p>
        </p:txBody>
      </p:sp>
      <p:sp>
        <p:nvSpPr>
          <p:cNvPr id="23" name="TextBox 22"/>
          <p:cNvSpPr txBox="1"/>
          <p:nvPr/>
        </p:nvSpPr>
        <p:spPr>
          <a:xfrm>
            <a:off x="7524750" y="7429500"/>
            <a:ext cx="1905000" cy="990600"/>
          </a:xfrm>
          <a:prstGeom prst="rect">
            <a:avLst/>
          </a:prstGeom>
          <a:noFill/>
        </p:spPr>
        <p:txBody>
          <a:bodyPr wrap="square" lIns="0" rIns="0" tIns="0" bIns="0" anchor="ctr">
            <a:spAutoFit/>
          </a:bodyPr>
          <a:lstStyle/>
          <a:p>
            <a:pPr algn="l"/>
            <a:r>
              <a:rPr sz="1650" b="0" i="0">
                <a:solidFill>
                  <a:srgbClr val="9A7878"/>
                </a:solidFill>
                <a:latin typeface="Geist Mono"/>
                <a:ea typeface="Geist Mono"/>
                <a:cs typeface="Geist Mono"/>
              </a:rPr>
              <a:t>estimator</a:t>
            </a:r>
          </a:p>
        </p:txBody>
      </p:sp>
      <p:sp>
        <p:nvSpPr>
          <p:cNvPr id="24" name="TextBox 23"/>
          <p:cNvSpPr txBox="1"/>
          <p:nvPr/>
        </p:nvSpPr>
        <p:spPr>
          <a:xfrm>
            <a:off x="9620250" y="7429500"/>
            <a:ext cx="7524750" cy="99060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Adds up every move to track the pose</a:t>
            </a:r>
          </a:p>
        </p:txBody>
      </p:sp>
      <p:sp>
        <p:nvSpPr>
          <p:cNvPr id="25" name="TextBox 24"/>
          <p:cNvSpPr txBox="1"/>
          <p:nvPr/>
        </p:nvSpPr>
        <p:spPr>
          <a:xfrm>
            <a:off x="914400" y="8686800"/>
            <a:ext cx="164592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All from WPILib, under </a:t>
            </a:r>
            <a:r>
              <a:rPr sz="1800" b="0" i="0">
                <a:solidFill>
                  <a:srgbClr val="9A7878"/>
                </a:solidFill>
                <a:latin typeface="Geist Mono"/>
                <a:ea typeface="Geist Mono"/>
                <a:cs typeface="Geist Mono"/>
              </a:rPr>
              <a:t>edu.wpi.first.math</a:t>
            </a:r>
            <a:r>
              <a:rPr sz="1800" b="0" i="0">
                <a:solidFill>
                  <a:srgbClr val="9A7878"/>
                </a:solidFill>
                <a:latin typeface="Geist"/>
                <a:ea typeface="Geist"/>
                <a:cs typeface="Geist"/>
              </a:rPr>
              <a:t>. Each one: </a:t>
            </a:r>
            <a:r>
              <a:rPr sz="1800" b="0" i="0">
                <a:solidFill>
                  <a:srgbClr val="9A7878"/>
                </a:solidFill>
                <a:latin typeface="Geist Mono"/>
                <a:ea typeface="Geist Mono"/>
                <a:cs typeface="Geist Mono"/>
              </a:rPr>
              <a:t>new</a:t>
            </a:r>
            <a:r>
              <a:rPr sz="1800" b="0" i="0">
                <a:solidFill>
                  <a:srgbClr val="9A7878"/>
                </a:solidFill>
                <a:latin typeface="Geist"/>
                <a:ea typeface="Geist"/>
                <a:cs typeface="Geist"/>
              </a:rPr>
              <a:t> to build it, a dot to use it.</a:t>
            </a:r>
          </a:p>
        </p:txBody>
      </p:sp>
      <p:sp>
        <p:nvSpPr>
          <p:cNvPr id="26" name="TextBox 2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7" name="TextBox 2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WPILIB'S CLASSES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Rotation2d: an angle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7429500" cy="6191250"/>
          </a:xfrm>
          <a:prstGeom prst="roundRect">
            <a:avLst>
              <a:gd name="adj" fmla="val 2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2095500" y="3524250"/>
            <a:ext cx="4762500" cy="4762500"/>
          </a:xfrm>
          <a:prstGeom prst="ellipse">
            <a:avLst/>
          </a:prstGeom>
          <a:noFill/>
          <a:ln w="2857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00225" y="5895975"/>
            <a:ext cx="5353050" cy="19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4467225" y="3228975"/>
            <a:ext cx="19050" cy="5353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105650" y="5524500"/>
            <a:ext cx="857250" cy="323850"/>
          </a:xfrm>
          <a:prstGeom prst="rect">
            <a:avLst/>
          </a:prstGeom>
          <a:noFill/>
        </p:spPr>
        <p:txBody>
          <a:bodyPr wrap="square" lIns="0" rIns="0" tIns="0" bIns="0" anchor="t">
            <a:spAutoFit/>
          </a:bodyPr>
          <a:lstStyle/>
          <a:p>
            <a:pPr algn="l"/>
            <a:r>
              <a:rPr sz="1800" b="1" i="0">
                <a:solidFill>
                  <a:srgbClr val="F0E8E8"/>
                </a:solidFill>
                <a:latin typeface="Geist Mono"/>
                <a:ea typeface="Geist Mono"/>
                <a:cs typeface="Geist Mono"/>
              </a:rPr>
              <a:t>0°</a:t>
            </a:r>
          </a:p>
        </p:txBody>
      </p:sp>
      <p:sp>
        <p:nvSpPr>
          <p:cNvPr id="10" name="TextBox 9"/>
          <p:cNvSpPr txBox="1"/>
          <p:nvPr/>
        </p:nvSpPr>
        <p:spPr>
          <a:xfrm>
            <a:off x="4610100" y="3371850"/>
            <a:ext cx="857250" cy="323850"/>
          </a:xfrm>
          <a:prstGeom prst="rect">
            <a:avLst/>
          </a:prstGeom>
          <a:noFill/>
        </p:spPr>
        <p:txBody>
          <a:bodyPr wrap="square" lIns="0" rIns="0" tIns="0" bIns="0" anchor="t">
            <a:spAutoFit/>
          </a:bodyPr>
          <a:lstStyle/>
          <a:p>
            <a:pPr algn="l"/>
            <a:r>
              <a:rPr sz="1800" b="1" i="0">
                <a:solidFill>
                  <a:srgbClr val="F0E8E8"/>
                </a:solidFill>
                <a:latin typeface="Geist Mono"/>
                <a:ea typeface="Geist Mono"/>
                <a:cs typeface="Geist Mono"/>
              </a:rPr>
              <a:t>90°</a:t>
            </a:r>
          </a:p>
        </p:txBody>
      </p:sp>
      <p:sp>
        <p:nvSpPr>
          <p:cNvPr id="11" name="TextBox 10"/>
          <p:cNvSpPr txBox="1"/>
          <p:nvPr/>
        </p:nvSpPr>
        <p:spPr>
          <a:xfrm>
            <a:off x="1085850" y="5524500"/>
            <a:ext cx="857250" cy="323850"/>
          </a:xfrm>
          <a:prstGeom prst="rect">
            <a:avLst/>
          </a:prstGeom>
          <a:noFill/>
        </p:spPr>
        <p:txBody>
          <a:bodyPr wrap="square" lIns="0" rIns="0" tIns="0" bIns="0" anchor="t">
            <a:spAutoFit/>
          </a:bodyPr>
          <a:lstStyle/>
          <a:p>
            <a:pPr algn="r"/>
            <a:r>
              <a:rPr sz="1800" b="1" i="0">
                <a:solidFill>
                  <a:srgbClr val="F0E8E8"/>
                </a:solidFill>
                <a:latin typeface="Geist Mono"/>
                <a:ea typeface="Geist Mono"/>
                <a:cs typeface="Geist Mono"/>
              </a:rPr>
              <a:t>180°</a:t>
            </a:r>
          </a:p>
        </p:txBody>
      </p:sp>
      <p:sp>
        <p:nvSpPr>
          <p:cNvPr id="12" name="TextBox 11"/>
          <p:cNvSpPr txBox="1"/>
          <p:nvPr/>
        </p:nvSpPr>
        <p:spPr>
          <a:xfrm>
            <a:off x="4610100" y="8134350"/>
            <a:ext cx="857250" cy="323850"/>
          </a:xfrm>
          <a:prstGeom prst="rect">
            <a:avLst/>
          </a:prstGeom>
          <a:noFill/>
        </p:spPr>
        <p:txBody>
          <a:bodyPr wrap="square" lIns="0" rIns="0" tIns="0" bIns="0" anchor="t">
            <a:spAutoFit/>
          </a:bodyPr>
          <a:lstStyle/>
          <a:p>
            <a:pPr algn="l"/>
            <a:r>
              <a:rPr sz="1800" b="1" i="0">
                <a:solidFill>
                  <a:srgbClr val="F0E8E8"/>
                </a:solidFill>
                <a:latin typeface="Geist Mono"/>
                <a:ea typeface="Geist Mono"/>
                <a:cs typeface="Geist Mono"/>
              </a:rPr>
              <a:t>-90°</a:t>
            </a:r>
          </a:p>
        </p:txBody>
      </p:sp>
      <p:pic>
        <p:nvPicPr>
          <p:cNvPr id="13" name="Picture 12" descr="dozer_top.png"/>
          <p:cNvPicPr>
            <a:picLocks noChangeAspect="1"/>
          </p:cNvPicPr>
          <p:nvPr/>
        </p:nvPicPr>
        <p:blipFill>
          <a:blip r:embed="rId3"/>
          <a:stretch>
            <a:fillRect/>
          </a:stretch>
        </p:blipFill>
        <p:spPr>
          <a:xfrm rot="19881127">
            <a:off x="3762375" y="5248845"/>
            <a:ext cx="1428750" cy="1313311"/>
          </a:xfrm>
          <a:prstGeom prst="rect">
            <a:avLst/>
          </a:prstGeom>
        </p:spPr>
      </p:pic>
      <p:cxnSp>
        <p:nvCxnSpPr>
          <p:cNvPr id="14" name="Connector 13"/>
          <p:cNvCxnSpPr/>
          <p:nvPr/>
        </p:nvCxnSpPr>
        <p:spPr>
          <a:xfrm flipV="1">
            <a:off x="5145468" y="4763868"/>
            <a:ext cx="1421025" cy="776310"/>
          </a:xfrm>
          <a:prstGeom prst="line">
            <a:avLst/>
          </a:prstGeom>
          <a:ln w="57150">
            <a:solidFill>
              <a:srgbClr val="CC2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5885580" y="5785442"/>
            <a:ext cx="38100" cy="8924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882875" y="5734427"/>
            <a:ext cx="38100" cy="8911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7" name="Connector 16"/>
          <p:cNvCxnSpPr/>
          <p:nvPr/>
        </p:nvCxnSpPr>
        <p:spPr>
          <a:xfrm flipH="1" flipV="1">
            <a:off x="5891028" y="5702658"/>
            <a:ext cx="6361" cy="50819"/>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flipV="1">
            <a:off x="5882849" y="5652098"/>
            <a:ext cx="8179" cy="50560"/>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flipV="1">
            <a:off x="5872863" y="5601865"/>
            <a:ext cx="9986" cy="50233"/>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5861084" y="5552022"/>
            <a:ext cx="11779" cy="49843"/>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5847525" y="5502632"/>
            <a:ext cx="13559" cy="49390"/>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5832205" y="5453761"/>
            <a:ext cx="15320" cy="48871"/>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5815143" y="5405470"/>
            <a:ext cx="17062" cy="48291"/>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5796362" y="5357822"/>
            <a:ext cx="18781" cy="47648"/>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5753738" y="5264697"/>
            <a:ext cx="42624" cy="93125"/>
          </a:xfrm>
          <a:prstGeom prst="line">
            <a:avLst/>
          </a:prstGeom>
          <a:ln w="38100">
            <a:solidFill>
              <a:srgbClr val="CC2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000750" y="5295900"/>
            <a:ext cx="1905000" cy="285750"/>
          </a:xfrm>
          <a:prstGeom prst="rect">
            <a:avLst/>
          </a:prstGeom>
          <a:noFill/>
        </p:spPr>
        <p:txBody>
          <a:bodyPr wrap="square" lIns="0" rIns="0" tIns="0" bIns="0" anchor="t">
            <a:spAutoFit/>
          </a:bodyPr>
          <a:lstStyle/>
          <a:p>
            <a:pPr algn="l"/>
            <a:r>
              <a:rPr sz="1650" b="1" i="0">
                <a:solidFill>
                  <a:srgbClr val="CC2200"/>
                </a:solidFill>
                <a:latin typeface="Geist Mono"/>
                <a:ea typeface="Geist Mono"/>
                <a:cs typeface="Geist Mono"/>
              </a:rPr>
              <a:t>0.5 rad</a:t>
            </a:r>
          </a:p>
        </p:txBody>
      </p:sp>
      <p:cxnSp>
        <p:nvCxnSpPr>
          <p:cNvPr id="27" name="Connector 26"/>
          <p:cNvCxnSpPr/>
          <p:nvPr/>
        </p:nvCxnSpPr>
        <p:spPr>
          <a:xfrm flipH="1">
            <a:off x="3214978" y="3220746"/>
            <a:ext cx="177061" cy="78525"/>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3043563" y="3299271"/>
            <a:ext cx="171415" cy="90185"/>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2878561" y="3389456"/>
            <a:ext cx="165002" cy="101444"/>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2720710" y="3490900"/>
            <a:ext cx="157851" cy="112248"/>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2570717" y="3603148"/>
            <a:ext cx="149993" cy="122550"/>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2429252" y="3725698"/>
            <a:ext cx="141465" cy="132304"/>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2296948" y="3858002"/>
            <a:ext cx="132304" cy="141465"/>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2174398" y="3999467"/>
            <a:ext cx="122550" cy="149993"/>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2062150" y="4149460"/>
            <a:ext cx="112248" cy="157851"/>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1960706" y="4307311"/>
            <a:ext cx="101444" cy="165002"/>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1791996" y="4472313"/>
            <a:ext cx="168710" cy="348476"/>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047750" y="3143250"/>
            <a:ext cx="24765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counterclockwise +</a:t>
            </a:r>
          </a:p>
        </p:txBody>
      </p:sp>
      <p:sp>
        <p:nvSpPr>
          <p:cNvPr id="39" name="Rounded Rectangle 38"/>
          <p:cNvSpPr/>
          <p:nvPr/>
        </p:nvSpPr>
        <p:spPr>
          <a:xfrm>
            <a:off x="8953500" y="3143250"/>
            <a:ext cx="8420100" cy="2019300"/>
          </a:xfrm>
          <a:prstGeom prst="roundRect">
            <a:avLst>
              <a:gd name="adj" fmla="val 754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334500" y="3524250"/>
            <a:ext cx="7886700" cy="41910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Rotation2d turned = </a:t>
            </a:r>
            <a:r>
              <a:rPr sz="1650" b="0" i="0">
                <a:solidFill>
                  <a:srgbClr val="E0785F"/>
                </a:solidFill>
                <a:latin typeface="Geist Mono"/>
                <a:ea typeface="Geist Mono"/>
                <a:cs typeface="Geist Mono"/>
              </a:rPr>
              <a:t>new</a:t>
            </a:r>
            <a:r>
              <a:rPr sz="1650" b="0" i="0">
                <a:solidFill>
                  <a:srgbClr val="F0E8E8"/>
                </a:solidFill>
                <a:latin typeface="Geist Mono"/>
                <a:ea typeface="Geist Mono"/>
                <a:cs typeface="Geist Mono"/>
              </a:rPr>
              <a:t> Rotation2d(</a:t>
            </a:r>
            <a:r>
              <a:rPr sz="1650" b="0" i="0">
                <a:solidFill>
                  <a:srgbClr val="E8C27A"/>
                </a:solidFill>
                <a:latin typeface="Geist Mono"/>
                <a:ea typeface="Geist Mono"/>
                <a:cs typeface="Geist Mono"/>
              </a:rPr>
              <a:t>0.5</a:t>
            </a:r>
            <a:r>
              <a:rPr sz="1650" b="0" i="0">
                <a:solidFill>
                  <a:srgbClr val="F0E8E8"/>
                </a:solidFill>
                <a:latin typeface="Geist Mono"/>
                <a:ea typeface="Geist Mono"/>
                <a:cs typeface="Geist Mono"/>
              </a:rPr>
              <a:t>);</a:t>
            </a:r>
          </a:p>
        </p:txBody>
      </p:sp>
      <p:sp>
        <p:nvSpPr>
          <p:cNvPr id="41" name="TextBox 40"/>
          <p:cNvSpPr txBox="1"/>
          <p:nvPr/>
        </p:nvSpPr>
        <p:spPr>
          <a:xfrm>
            <a:off x="9334500" y="3943350"/>
            <a:ext cx="7886700" cy="41910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Rotation2d tilt = Rotation2d.fromDegrees(</a:t>
            </a:r>
            <a:r>
              <a:rPr sz="1650" b="0" i="0">
                <a:solidFill>
                  <a:srgbClr val="E8C27A"/>
                </a:solidFill>
                <a:latin typeface="Geist Mono"/>
                <a:ea typeface="Geist Mono"/>
                <a:cs typeface="Geist Mono"/>
              </a:rPr>
              <a:t>30</a:t>
            </a:r>
            <a:r>
              <a:rPr sz="1650" b="0" i="0">
                <a:solidFill>
                  <a:srgbClr val="F0E8E8"/>
                </a:solidFill>
                <a:latin typeface="Geist Mono"/>
                <a:ea typeface="Geist Mono"/>
                <a:cs typeface="Geist Mono"/>
              </a:rPr>
              <a:t>);</a:t>
            </a:r>
          </a:p>
        </p:txBody>
      </p:sp>
      <p:sp>
        <p:nvSpPr>
          <p:cNvPr id="42" name="TextBox 41"/>
          <p:cNvSpPr txBox="1"/>
          <p:nvPr/>
        </p:nvSpPr>
        <p:spPr>
          <a:xfrm>
            <a:off x="9334500" y="4362450"/>
            <a:ext cx="7886700" cy="419100"/>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double</a:t>
            </a:r>
            <a:r>
              <a:rPr sz="1650" b="0" i="0">
                <a:solidFill>
                  <a:srgbClr val="F0E8E8"/>
                </a:solidFill>
                <a:latin typeface="Geist Mono"/>
                <a:ea typeface="Geist Mono"/>
                <a:cs typeface="Geist Mono"/>
              </a:rPr>
              <a:t> deg = turned.getDegrees(); </a:t>
            </a:r>
            <a:r>
              <a:rPr sz="1650" b="0" i="1">
                <a:solidFill>
                  <a:srgbClr val="9A7878"/>
                </a:solidFill>
                <a:latin typeface="Geist Mono"/>
                <a:ea typeface="Geist Mono"/>
                <a:cs typeface="Geist Mono"/>
              </a:rPr>
              <a:t>// 28.6</a:t>
            </a:r>
          </a:p>
        </p:txBody>
      </p:sp>
      <p:sp>
        <p:nvSpPr>
          <p:cNvPr id="43" name="Oval 42"/>
          <p:cNvSpPr/>
          <p:nvPr/>
        </p:nvSpPr>
        <p:spPr>
          <a:xfrm>
            <a:off x="16764000" y="35433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6764000" y="35433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45" name="Oval 44"/>
          <p:cNvSpPr/>
          <p:nvPr/>
        </p:nvSpPr>
        <p:spPr>
          <a:xfrm>
            <a:off x="16764000" y="39624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6764000" y="39624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47" name="Oval 46"/>
          <p:cNvSpPr/>
          <p:nvPr/>
        </p:nvSpPr>
        <p:spPr>
          <a:xfrm>
            <a:off x="16764000" y="43815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6764000" y="43815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9" name="Oval 48"/>
          <p:cNvSpPr/>
          <p:nvPr/>
        </p:nvSpPr>
        <p:spPr>
          <a:xfrm>
            <a:off x="8953500" y="5619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953500" y="5619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51" name="TextBox 50"/>
          <p:cNvSpPr txBox="1"/>
          <p:nvPr/>
        </p:nvSpPr>
        <p:spPr>
          <a:xfrm>
            <a:off x="9563100" y="5581650"/>
            <a:ext cx="7810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From radians</a:t>
            </a:r>
          </a:p>
        </p:txBody>
      </p:sp>
      <p:sp>
        <p:nvSpPr>
          <p:cNvPr id="52" name="TextBox 51"/>
          <p:cNvSpPr txBox="1"/>
          <p:nvPr/>
        </p:nvSpPr>
        <p:spPr>
          <a:xfrm>
            <a:off x="9563100" y="6000750"/>
            <a:ext cx="7810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new, with the angle in radians</a:t>
            </a:r>
          </a:p>
        </p:txBody>
      </p:sp>
      <p:sp>
        <p:nvSpPr>
          <p:cNvPr id="53" name="Oval 52"/>
          <p:cNvSpPr/>
          <p:nvPr/>
        </p:nvSpPr>
        <p:spPr>
          <a:xfrm>
            <a:off x="8953500" y="666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53500" y="666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55" name="TextBox 54"/>
          <p:cNvSpPr txBox="1"/>
          <p:nvPr/>
        </p:nvSpPr>
        <p:spPr>
          <a:xfrm>
            <a:off x="9563100" y="6629400"/>
            <a:ext cx="7810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From degrees</a:t>
            </a:r>
          </a:p>
        </p:txBody>
      </p:sp>
      <p:sp>
        <p:nvSpPr>
          <p:cNvPr id="56" name="TextBox 55"/>
          <p:cNvSpPr txBox="1"/>
          <p:nvPr/>
        </p:nvSpPr>
        <p:spPr>
          <a:xfrm>
            <a:off x="9563100" y="7048500"/>
            <a:ext cx="7810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 static method on the class</a:t>
            </a:r>
          </a:p>
        </p:txBody>
      </p:sp>
      <p:sp>
        <p:nvSpPr>
          <p:cNvPr id="57" name="Oval 56"/>
          <p:cNvSpPr/>
          <p:nvPr/>
        </p:nvSpPr>
        <p:spPr>
          <a:xfrm>
            <a:off x="8953500" y="7715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953500" y="7715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59" name="TextBox 58"/>
          <p:cNvSpPr txBox="1"/>
          <p:nvPr/>
        </p:nvSpPr>
        <p:spPr>
          <a:xfrm>
            <a:off x="9563100" y="7677150"/>
            <a:ext cx="7810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Ask for either unit</a:t>
            </a:r>
          </a:p>
        </p:txBody>
      </p:sp>
      <p:sp>
        <p:nvSpPr>
          <p:cNvPr id="60" name="TextBox 59"/>
          <p:cNvSpPr txBox="1"/>
          <p:nvPr/>
        </p:nvSpPr>
        <p:spPr>
          <a:xfrm>
            <a:off x="9563100" y="8096250"/>
            <a:ext cx="7810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getDegrees() or getRadians()</a:t>
            </a:r>
          </a:p>
        </p:txBody>
      </p:sp>
      <p:sp>
        <p:nvSpPr>
          <p:cNvPr id="61" name="TextBox 60"/>
          <p:cNvSpPr txBox="1"/>
          <p:nvPr/>
        </p:nvSpPr>
        <p:spPr>
          <a:xfrm>
            <a:off x="8953500" y="8724900"/>
            <a:ext cx="84201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1 radian ≈ 57.3°.  A full turn is 2π ≈ 6.28.</a:t>
            </a:r>
          </a:p>
        </p:txBody>
      </p:sp>
      <p:sp>
        <p:nvSpPr>
          <p:cNvPr id="62" name="TextBox 6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3" name="TextBox 6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WPILIB'S CLASSES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Pose2d: where is the robot?</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572750" cy="6191250"/>
          </a:xfrm>
          <a:prstGeom prst="roundRect">
            <a:avLst>
              <a:gd name="adj" fmla="val 2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2009775" y="3048000"/>
            <a:ext cx="8382000" cy="4086225"/>
          </a:xfrm>
          <a:prstGeom prst="roundRect">
            <a:avLst>
              <a:gd name="adj" fmla="val 1398"/>
            </a:avLst>
          </a:prstGeom>
          <a:solidFill>
            <a:srgbClr val="0E1412"/>
          </a:solidFill>
          <a:ln w="28575">
            <a:solidFill>
              <a:srgbClr val="3A4A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186488" y="3033712"/>
            <a:ext cx="28575" cy="4114800"/>
          </a:xfrm>
          <a:prstGeom prst="rect">
            <a:avLst/>
          </a:prstGeom>
          <a:solidFill>
            <a:srgbClr val="3A4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2009775" y="3048000"/>
            <a:ext cx="133350" cy="4086225"/>
          </a:xfrm>
          <a:prstGeom prst="rect">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10258425" y="3048000"/>
            <a:ext cx="133350" cy="408622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013793" y="7124700"/>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027336" y="7124700"/>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5040879" y="7124700"/>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054422" y="7124700"/>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067965" y="7124700"/>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8081508" y="7124700"/>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9095050" y="7124700"/>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2000250" y="5097614"/>
            <a:ext cx="1032593" cy="19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3013793" y="5097614"/>
            <a:ext cx="19050" cy="2046136"/>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2261318" y="7267575"/>
            <a:ext cx="1524000" cy="285750"/>
          </a:xfrm>
          <a:prstGeom prst="rect">
            <a:avLst/>
          </a:prstGeom>
          <a:noFill/>
        </p:spPr>
        <p:txBody>
          <a:bodyPr wrap="square" lIns="0" rIns="0" tIns="0" bIns="0" anchor="t">
            <a:spAutoFit/>
          </a:bodyPr>
          <a:lstStyle/>
          <a:p>
            <a:pPr algn="ctr"/>
            <a:r>
              <a:rPr sz="1500" b="0" i="0">
                <a:solidFill>
                  <a:srgbClr val="F0E8E8"/>
                </a:solidFill>
                <a:latin typeface="Geist Mono"/>
                <a:ea typeface="Geist Mono"/>
                <a:cs typeface="Geist Mono"/>
              </a:rPr>
              <a:t>x = 2.0</a:t>
            </a:r>
          </a:p>
        </p:txBody>
      </p:sp>
      <p:sp>
        <p:nvSpPr>
          <p:cNvPr id="20" name="TextBox 19"/>
          <p:cNvSpPr txBox="1"/>
          <p:nvPr/>
        </p:nvSpPr>
        <p:spPr>
          <a:xfrm>
            <a:off x="942975" y="4964264"/>
            <a:ext cx="952500" cy="285750"/>
          </a:xfrm>
          <a:prstGeom prst="rect">
            <a:avLst/>
          </a:prstGeom>
          <a:noFill/>
        </p:spPr>
        <p:txBody>
          <a:bodyPr wrap="square" lIns="0" rIns="0" tIns="0" bIns="0" anchor="t">
            <a:spAutoFit/>
          </a:bodyPr>
          <a:lstStyle/>
          <a:p>
            <a:pPr algn="r"/>
            <a:r>
              <a:rPr sz="1500" b="0" i="0">
                <a:solidFill>
                  <a:srgbClr val="F0E8E8"/>
                </a:solidFill>
                <a:latin typeface="Geist Mono"/>
                <a:ea typeface="Geist Mono"/>
                <a:cs typeface="Geist Mono"/>
              </a:rPr>
              <a:t>y = 4.0</a:t>
            </a:r>
          </a:p>
        </p:txBody>
      </p:sp>
      <p:pic>
        <p:nvPicPr>
          <p:cNvPr id="21" name="Picture 20" descr="dozer_top.png"/>
          <p:cNvPicPr>
            <a:picLocks noChangeAspect="1"/>
          </p:cNvPicPr>
          <p:nvPr/>
        </p:nvPicPr>
        <p:blipFill>
          <a:blip r:embed="rId3"/>
          <a:stretch>
            <a:fillRect/>
          </a:stretch>
        </p:blipFill>
        <p:spPr>
          <a:xfrm rot="19881127">
            <a:off x="2451818" y="4581815"/>
            <a:ext cx="1143000" cy="1050648"/>
          </a:xfrm>
          <a:prstGeom prst="rect">
            <a:avLst/>
          </a:prstGeom>
        </p:spPr>
      </p:pic>
      <p:cxnSp>
        <p:nvCxnSpPr>
          <p:cNvPr id="22" name="Connector 21"/>
          <p:cNvCxnSpPr/>
          <p:nvPr/>
        </p:nvCxnSpPr>
        <p:spPr>
          <a:xfrm flipV="1">
            <a:off x="3441267" y="4148168"/>
            <a:ext cx="1337435" cy="730645"/>
          </a:xfrm>
          <a:prstGeom prst="line">
            <a:avLst/>
          </a:prstGeom>
          <a:ln w="57150">
            <a:solidFill>
              <a:srgbClr val="CC2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3585293" y="5097614"/>
            <a:ext cx="1638300" cy="1905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271218" y="4668989"/>
            <a:ext cx="1905000" cy="323850"/>
          </a:xfrm>
          <a:prstGeom prst="rect">
            <a:avLst/>
          </a:prstGeom>
          <a:noFill/>
        </p:spPr>
        <p:txBody>
          <a:bodyPr wrap="square" lIns="0" rIns="0" tIns="0" bIns="0" anchor="t">
            <a:spAutoFit/>
          </a:bodyPr>
          <a:lstStyle/>
          <a:p>
            <a:pPr algn="l"/>
            <a:r>
              <a:rPr sz="1650" b="1" i="0">
                <a:solidFill>
                  <a:srgbClr val="CC2200"/>
                </a:solidFill>
                <a:latin typeface="Geist Mono"/>
                <a:ea typeface="Geist Mono"/>
                <a:cs typeface="Geist Mono"/>
              </a:rPr>
              <a:t>θ = 0.5 rad</a:t>
            </a:r>
          </a:p>
        </p:txBody>
      </p:sp>
      <p:sp>
        <p:nvSpPr>
          <p:cNvPr id="25" name="Oval 24"/>
          <p:cNvSpPr/>
          <p:nvPr/>
        </p:nvSpPr>
        <p:spPr>
          <a:xfrm>
            <a:off x="1933575" y="7058025"/>
            <a:ext cx="152400" cy="1524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2975" y="7172325"/>
            <a:ext cx="952500" cy="285750"/>
          </a:xfrm>
          <a:prstGeom prst="rect">
            <a:avLst/>
          </a:prstGeom>
          <a:noFill/>
        </p:spPr>
        <p:txBody>
          <a:bodyPr wrap="square" lIns="0" rIns="0" tIns="0" bIns="0" anchor="t">
            <a:spAutoFit/>
          </a:bodyPr>
          <a:lstStyle/>
          <a:p>
            <a:pPr algn="r"/>
            <a:r>
              <a:rPr sz="1500" b="0" i="0">
                <a:solidFill>
                  <a:srgbClr val="F0E8E8"/>
                </a:solidFill>
                <a:latin typeface="Geist Mono"/>
                <a:ea typeface="Geist Mono"/>
                <a:cs typeface="Geist Mono"/>
              </a:rPr>
              <a:t>(0, 0)</a:t>
            </a:r>
          </a:p>
        </p:txBody>
      </p:sp>
      <p:sp>
        <p:nvSpPr>
          <p:cNvPr id="27" name="TextBox 26"/>
          <p:cNvSpPr txBox="1"/>
          <p:nvPr/>
        </p:nvSpPr>
        <p:spPr>
          <a:xfrm>
            <a:off x="7534275" y="7267575"/>
            <a:ext cx="2857500" cy="285750"/>
          </a:xfrm>
          <a:prstGeom prst="rect">
            <a:avLst/>
          </a:prstGeom>
          <a:noFill/>
        </p:spPr>
        <p:txBody>
          <a:bodyPr wrap="square" lIns="0" rIns="0" tIns="0" bIns="0" anchor="t">
            <a:spAutoFit/>
          </a:bodyPr>
          <a:lstStyle/>
          <a:p>
            <a:pPr algn="r"/>
            <a:r>
              <a:rPr sz="1500" b="0" i="0">
                <a:solidFill>
                  <a:srgbClr val="9A7878"/>
                </a:solidFill>
                <a:latin typeface="Geist"/>
                <a:ea typeface="Geist"/>
                <a:cs typeface="Geist"/>
              </a:rPr>
              <a:t>x (meters) →</a:t>
            </a:r>
          </a:p>
        </p:txBody>
      </p:sp>
      <p:sp>
        <p:nvSpPr>
          <p:cNvPr id="28" name="TextBox 27"/>
          <p:cNvSpPr txBox="1"/>
          <p:nvPr/>
        </p:nvSpPr>
        <p:spPr>
          <a:xfrm>
            <a:off x="7915275" y="2667000"/>
            <a:ext cx="2476500" cy="285750"/>
          </a:xfrm>
          <a:prstGeom prst="rect">
            <a:avLst/>
          </a:prstGeom>
          <a:noFill/>
        </p:spPr>
        <p:txBody>
          <a:bodyPr wrap="square" lIns="0" rIns="0" tIns="0" bIns="0" anchor="t">
            <a:spAutoFit/>
          </a:bodyPr>
          <a:lstStyle/>
          <a:p>
            <a:pPr algn="r"/>
            <a:r>
              <a:rPr sz="1500" b="0" i="0">
                <a:solidFill>
                  <a:srgbClr val="9A7878"/>
                </a:solidFill>
                <a:latin typeface="Geist"/>
                <a:ea typeface="Geist"/>
                <a:cs typeface="Geist"/>
              </a:rPr>
              <a:t>red alliance</a:t>
            </a:r>
          </a:p>
        </p:txBody>
      </p:sp>
      <p:sp>
        <p:nvSpPr>
          <p:cNvPr id="29" name="TextBox 28"/>
          <p:cNvSpPr txBox="1"/>
          <p:nvPr/>
        </p:nvSpPr>
        <p:spPr>
          <a:xfrm>
            <a:off x="2009775" y="2667000"/>
            <a:ext cx="24765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blue alliance</a:t>
            </a:r>
          </a:p>
        </p:txBody>
      </p:sp>
      <p:sp>
        <p:nvSpPr>
          <p:cNvPr id="30" name="Rounded Rectangle 29"/>
          <p:cNvSpPr/>
          <p:nvPr/>
        </p:nvSpPr>
        <p:spPr>
          <a:xfrm>
            <a:off x="2009775" y="7620000"/>
            <a:ext cx="8382000" cy="1306830"/>
          </a:xfrm>
          <a:prstGeom prst="roundRect">
            <a:avLst>
              <a:gd name="adj" fmla="val 11661"/>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2390775" y="8001000"/>
            <a:ext cx="7848600" cy="27241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Pose2d start = </a:t>
            </a:r>
            <a:r>
              <a:rPr sz="1650" b="0" i="0">
                <a:solidFill>
                  <a:srgbClr val="E0785F"/>
                </a:solidFill>
                <a:latin typeface="Geist Mono"/>
                <a:ea typeface="Geist Mono"/>
                <a:cs typeface="Geist Mono"/>
              </a:rPr>
              <a:t>new</a:t>
            </a:r>
            <a:r>
              <a:rPr sz="1650" b="0" i="0">
                <a:solidFill>
                  <a:srgbClr val="F0E8E8"/>
                </a:solidFill>
                <a:latin typeface="Geist Mono"/>
                <a:ea typeface="Geist Mono"/>
                <a:cs typeface="Geist Mono"/>
              </a:rPr>
              <a:t> Pose2d(</a:t>
            </a:r>
            <a:r>
              <a:rPr sz="1650" b="0" i="0">
                <a:solidFill>
                  <a:srgbClr val="E8C27A"/>
                </a:solidFill>
                <a:latin typeface="Geist Mono"/>
                <a:ea typeface="Geist Mono"/>
                <a:cs typeface="Geist Mono"/>
              </a:rPr>
              <a:t>2.0</a:t>
            </a:r>
            <a:r>
              <a:rPr sz="1650" b="0" i="0">
                <a:solidFill>
                  <a:srgbClr val="F0E8E8"/>
                </a:solidFill>
                <a:latin typeface="Geist Mono"/>
                <a:ea typeface="Geist Mono"/>
                <a:cs typeface="Geist Mono"/>
              </a:rPr>
              <a:t>, </a:t>
            </a:r>
            <a:r>
              <a:rPr sz="1650" b="0" i="0">
                <a:solidFill>
                  <a:srgbClr val="E8C27A"/>
                </a:solidFill>
                <a:latin typeface="Geist Mono"/>
                <a:ea typeface="Geist Mono"/>
                <a:cs typeface="Geist Mono"/>
              </a:rPr>
              <a:t>4.0</a:t>
            </a:r>
            <a:r>
              <a:rPr sz="1650" b="0" i="0">
                <a:solidFill>
                  <a:srgbClr val="F0E8E8"/>
                </a:solidFill>
                <a:latin typeface="Geist Mono"/>
                <a:ea typeface="Geist Mono"/>
                <a:cs typeface="Geist Mono"/>
              </a:rPr>
              <a:t>, turned);</a:t>
            </a:r>
          </a:p>
        </p:txBody>
      </p:sp>
      <p:sp>
        <p:nvSpPr>
          <p:cNvPr id="32" name="TextBox 31"/>
          <p:cNvSpPr txBox="1"/>
          <p:nvPr/>
        </p:nvSpPr>
        <p:spPr>
          <a:xfrm>
            <a:off x="2390775" y="8273415"/>
            <a:ext cx="7848600" cy="272415"/>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double</a:t>
            </a:r>
            <a:r>
              <a:rPr sz="1650" b="0" i="0">
                <a:solidFill>
                  <a:srgbClr val="F0E8E8"/>
                </a:solidFill>
                <a:latin typeface="Geist Mono"/>
                <a:ea typeface="Geist Mono"/>
                <a:cs typeface="Geist Mono"/>
              </a:rPr>
              <a:t> x = start.getX(); </a:t>
            </a:r>
            <a:r>
              <a:rPr sz="1650" b="0" i="1">
                <a:solidFill>
                  <a:srgbClr val="9A7878"/>
                </a:solidFill>
                <a:latin typeface="Geist Mono"/>
                <a:ea typeface="Geist Mono"/>
                <a:cs typeface="Geist Mono"/>
              </a:rPr>
              <a:t>// 2.0</a:t>
            </a:r>
          </a:p>
        </p:txBody>
      </p:sp>
      <p:sp>
        <p:nvSpPr>
          <p:cNvPr id="33" name="Rounded Rectangle 32"/>
          <p:cNvSpPr/>
          <p:nvPr/>
        </p:nvSpPr>
        <p:spPr>
          <a:xfrm>
            <a:off x="11906250" y="2857500"/>
            <a:ext cx="5467350" cy="1314450"/>
          </a:xfrm>
          <a:prstGeom prst="roundRect">
            <a:avLst>
              <a:gd name="adj" fmla="val 1014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2249150" y="3028950"/>
            <a:ext cx="4762500" cy="419100"/>
          </a:xfrm>
          <a:prstGeom prst="rect">
            <a:avLst/>
          </a:prstGeom>
          <a:noFill/>
        </p:spPr>
        <p:txBody>
          <a:bodyPr wrap="square" lIns="0" rIns="0" tIns="0" bIns="0" anchor="t">
            <a:spAutoFit/>
          </a:bodyPr>
          <a:lstStyle/>
          <a:p>
            <a:pPr algn="l"/>
            <a:r>
              <a:rPr sz="2400" b="1" i="0">
                <a:solidFill>
                  <a:srgbClr val="CC2200"/>
                </a:solidFill>
                <a:latin typeface="Geist Mono"/>
                <a:ea typeface="Geist Mono"/>
                <a:cs typeface="Geist Mono"/>
              </a:rPr>
              <a:t>x</a:t>
            </a:r>
          </a:p>
        </p:txBody>
      </p:sp>
      <p:sp>
        <p:nvSpPr>
          <p:cNvPr id="35" name="TextBox 34"/>
          <p:cNvSpPr txBox="1"/>
          <p:nvPr/>
        </p:nvSpPr>
        <p:spPr>
          <a:xfrm>
            <a:off x="12249150" y="3524250"/>
            <a:ext cx="4857750" cy="47625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Meters along the field, from the blue wall</a:t>
            </a:r>
          </a:p>
        </p:txBody>
      </p:sp>
      <p:sp>
        <p:nvSpPr>
          <p:cNvPr id="36" name="Rounded Rectangle 35"/>
          <p:cNvSpPr/>
          <p:nvPr/>
        </p:nvSpPr>
        <p:spPr>
          <a:xfrm>
            <a:off x="11906250" y="4362450"/>
            <a:ext cx="5467350" cy="1314450"/>
          </a:xfrm>
          <a:prstGeom prst="roundRect">
            <a:avLst>
              <a:gd name="adj" fmla="val 1014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2249150" y="4533900"/>
            <a:ext cx="4762500" cy="419100"/>
          </a:xfrm>
          <a:prstGeom prst="rect">
            <a:avLst/>
          </a:prstGeom>
          <a:noFill/>
        </p:spPr>
        <p:txBody>
          <a:bodyPr wrap="square" lIns="0" rIns="0" tIns="0" bIns="0" anchor="t">
            <a:spAutoFit/>
          </a:bodyPr>
          <a:lstStyle/>
          <a:p>
            <a:pPr algn="l"/>
            <a:r>
              <a:rPr sz="2400" b="1" i="0">
                <a:solidFill>
                  <a:srgbClr val="CC2200"/>
                </a:solidFill>
                <a:latin typeface="Geist Mono"/>
                <a:ea typeface="Geist Mono"/>
                <a:cs typeface="Geist Mono"/>
              </a:rPr>
              <a:t>y</a:t>
            </a:r>
          </a:p>
        </p:txBody>
      </p:sp>
      <p:sp>
        <p:nvSpPr>
          <p:cNvPr id="38" name="TextBox 37"/>
          <p:cNvSpPr txBox="1"/>
          <p:nvPr/>
        </p:nvSpPr>
        <p:spPr>
          <a:xfrm>
            <a:off x="12249150" y="5029200"/>
            <a:ext cx="4857750" cy="47625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Meters across the field</a:t>
            </a:r>
          </a:p>
        </p:txBody>
      </p:sp>
      <p:sp>
        <p:nvSpPr>
          <p:cNvPr id="39" name="Rounded Rectangle 38"/>
          <p:cNvSpPr/>
          <p:nvPr/>
        </p:nvSpPr>
        <p:spPr>
          <a:xfrm>
            <a:off x="11906250" y="5867400"/>
            <a:ext cx="5467350" cy="1314450"/>
          </a:xfrm>
          <a:prstGeom prst="roundRect">
            <a:avLst>
              <a:gd name="adj" fmla="val 1014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2249150" y="6038850"/>
            <a:ext cx="4762500" cy="419100"/>
          </a:xfrm>
          <a:prstGeom prst="rect">
            <a:avLst/>
          </a:prstGeom>
          <a:noFill/>
        </p:spPr>
        <p:txBody>
          <a:bodyPr wrap="square" lIns="0" rIns="0" tIns="0" bIns="0" anchor="t">
            <a:spAutoFit/>
          </a:bodyPr>
          <a:lstStyle/>
          <a:p>
            <a:pPr algn="l"/>
            <a:r>
              <a:rPr sz="2400" b="1" i="0">
                <a:solidFill>
                  <a:srgbClr val="E8C27A"/>
                </a:solidFill>
                <a:latin typeface="Geist Mono"/>
                <a:ea typeface="Geist Mono"/>
                <a:cs typeface="Geist Mono"/>
              </a:rPr>
              <a:t>Rotation2d</a:t>
            </a:r>
          </a:p>
        </p:txBody>
      </p:sp>
      <p:sp>
        <p:nvSpPr>
          <p:cNvPr id="41" name="TextBox 40"/>
          <p:cNvSpPr txBox="1"/>
          <p:nvPr/>
        </p:nvSpPr>
        <p:spPr>
          <a:xfrm>
            <a:off x="12249150" y="6534150"/>
            <a:ext cx="4857750" cy="47625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Which way it faces, counterclockwise</a:t>
            </a:r>
          </a:p>
        </p:txBody>
      </p:sp>
      <p:sp>
        <p:nvSpPr>
          <p:cNvPr id="42" name="Rounded Rectangle 41"/>
          <p:cNvSpPr/>
          <p:nvPr/>
        </p:nvSpPr>
        <p:spPr>
          <a:xfrm>
            <a:off x="11906250" y="7372350"/>
            <a:ext cx="5467350" cy="1314450"/>
          </a:xfrm>
          <a:prstGeom prst="roundRect">
            <a:avLst>
              <a:gd name="adj" fmla="val 1014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12249150" y="7543800"/>
            <a:ext cx="4762500" cy="419100"/>
          </a:xfrm>
          <a:prstGeom prst="rect">
            <a:avLst/>
          </a:prstGeom>
          <a:noFill/>
        </p:spPr>
        <p:txBody>
          <a:bodyPr wrap="square" lIns="0" rIns="0" tIns="0" bIns="0" anchor="t">
            <a:spAutoFit/>
          </a:bodyPr>
          <a:lstStyle/>
          <a:p>
            <a:pPr algn="l"/>
            <a:r>
              <a:rPr sz="2400" b="1" i="0">
                <a:solidFill>
                  <a:srgbClr val="E8C27A"/>
                </a:solidFill>
                <a:latin typeface="Geist Mono"/>
                <a:ea typeface="Geist Mono"/>
                <a:cs typeface="Geist Mono"/>
              </a:rPr>
              <a:t>getX()</a:t>
            </a:r>
          </a:p>
        </p:txBody>
      </p:sp>
      <p:sp>
        <p:nvSpPr>
          <p:cNvPr id="44" name="TextBox 43"/>
          <p:cNvSpPr txBox="1"/>
          <p:nvPr/>
        </p:nvSpPr>
        <p:spPr>
          <a:xfrm>
            <a:off x="12249150" y="8039100"/>
            <a:ext cx="4857750" cy="47625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Ask the pose for its x</a:t>
            </a:r>
          </a:p>
        </p:txBody>
      </p:sp>
      <p:sp>
        <p:nvSpPr>
          <p:cNvPr id="45" name="TextBox 4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6" name="TextBox 4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WPILIB'S CLASSES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Poses in AdvantageScope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9982200" cy="6469156"/>
          </a:xfrm>
          <a:prstGeom prst="roundRect">
            <a:avLst>
              <a:gd name="adj" fmla="val 2355"/>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shot_as_2d-field-1.jpg"/>
          <p:cNvPicPr>
            <a:picLocks noChangeAspect="1"/>
          </p:cNvPicPr>
          <p:nvPr/>
        </p:nvPicPr>
        <p:blipFill>
          <a:blip r:embed="rId3"/>
          <a:stretch>
            <a:fillRect/>
          </a:stretch>
        </p:blipFill>
        <p:spPr>
          <a:xfrm>
            <a:off x="1143000" y="3086100"/>
            <a:ext cx="9525000" cy="6011956"/>
          </a:xfrm>
          <a:prstGeom prst="rect">
            <a:avLst/>
          </a:prstGeom>
        </p:spPr>
      </p:pic>
      <p:sp>
        <p:nvSpPr>
          <p:cNvPr id="7" name="Rounded Rectangle 6"/>
          <p:cNvSpPr/>
          <p:nvPr/>
        </p:nvSpPr>
        <p:spPr>
          <a:xfrm>
            <a:off x="5009029" y="4851026"/>
            <a:ext cx="403412" cy="403412"/>
          </a:xfrm>
          <a:prstGeom prst="roundRect">
            <a:avLst>
              <a:gd name="adj" fmla="val 33055"/>
            </a:avLst>
          </a:prstGeom>
          <a:noFill/>
          <a:ln w="4762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723279" y="4527176"/>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23279" y="4527176"/>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0" name="Rounded Rectangle 9"/>
          <p:cNvSpPr/>
          <p:nvPr/>
        </p:nvSpPr>
        <p:spPr>
          <a:xfrm>
            <a:off x="3776382" y="7288306"/>
            <a:ext cx="4706471" cy="425824"/>
          </a:xfrm>
          <a:prstGeom prst="roundRect">
            <a:avLst>
              <a:gd name="adj" fmla="val 31315"/>
            </a:avLst>
          </a:prstGeom>
          <a:noFill/>
          <a:ln w="4762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490632" y="7154956"/>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90632" y="7154956"/>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3" name="Oval 12"/>
          <p:cNvSpPr/>
          <p:nvPr/>
        </p:nvSpPr>
        <p:spPr>
          <a:xfrm>
            <a:off x="11811000" y="3048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811000" y="3048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5" name="TextBox 14"/>
          <p:cNvSpPr txBox="1"/>
          <p:nvPr/>
        </p:nvSpPr>
        <p:spPr>
          <a:xfrm>
            <a:off x="12420600" y="3009900"/>
            <a:ext cx="4953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The robot</a:t>
            </a:r>
          </a:p>
        </p:txBody>
      </p:sp>
      <p:sp>
        <p:nvSpPr>
          <p:cNvPr id="16" name="TextBox 15"/>
          <p:cNvSpPr txBox="1"/>
          <p:nvPr/>
        </p:nvSpPr>
        <p:spPr>
          <a:xfrm>
            <a:off x="12420600" y="3429000"/>
            <a:ext cx="49530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Drawn at its pose, arrow pointing the way it faces</a:t>
            </a:r>
          </a:p>
        </p:txBody>
      </p:sp>
      <p:sp>
        <p:nvSpPr>
          <p:cNvPr id="17" name="Oval 16"/>
          <p:cNvSpPr/>
          <p:nvPr/>
        </p:nvSpPr>
        <p:spPr>
          <a:xfrm>
            <a:off x="11811000" y="4762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811000" y="4762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9" name="TextBox 18"/>
          <p:cNvSpPr txBox="1"/>
          <p:nvPr/>
        </p:nvSpPr>
        <p:spPr>
          <a:xfrm>
            <a:off x="12420600" y="4724400"/>
            <a:ext cx="4953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The numbers</a:t>
            </a:r>
          </a:p>
        </p:txBody>
      </p:sp>
      <p:sp>
        <p:nvSpPr>
          <p:cNvPr id="20" name="TextBox 19"/>
          <p:cNvSpPr txBox="1"/>
          <p:nvPr/>
        </p:nvSpPr>
        <p:spPr>
          <a:xfrm>
            <a:off x="12420600" y="5143500"/>
            <a:ext cx="49530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X and Y in meters, and θ, the heading</a:t>
            </a:r>
          </a:p>
        </p:txBody>
      </p:sp>
      <p:sp>
        <p:nvSpPr>
          <p:cNvPr id="21" name="Oval 20"/>
          <p:cNvSpPr/>
          <p:nvPr/>
        </p:nvSpPr>
        <p:spPr>
          <a:xfrm>
            <a:off x="11811000" y="6477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811000" y="6477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3" name="TextBox 22"/>
          <p:cNvSpPr txBox="1"/>
          <p:nvPr/>
        </p:nvSpPr>
        <p:spPr>
          <a:xfrm>
            <a:off x="12420600" y="6438900"/>
            <a:ext cx="4953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In the lesson</a:t>
            </a:r>
          </a:p>
        </p:txBody>
      </p:sp>
      <p:sp>
        <p:nvSpPr>
          <p:cNvPr id="24" name="TextBox 23"/>
          <p:cNvSpPr txBox="1"/>
          <p:nvPr/>
        </p:nvSpPr>
        <p:spPr>
          <a:xfrm>
            <a:off x="12420600" y="6858000"/>
            <a:ext cx="49530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Drag Drive/Pose and Drive/TruePose onto one field</a:t>
            </a:r>
          </a:p>
        </p:txBody>
      </p:sp>
      <p:sp>
        <p:nvSpPr>
          <p:cNvPr id="25" name="TextBox 24"/>
          <p:cNvSpPr txBox="1"/>
          <p:nvPr/>
        </p:nvSpPr>
        <p:spPr>
          <a:xfrm>
            <a:off x="11811000" y="8382000"/>
            <a:ext cx="5562600" cy="571500"/>
          </a:xfrm>
          <a:prstGeom prst="rect">
            <a:avLst/>
          </a:prstGeom>
          <a:noFill/>
        </p:spPr>
        <p:txBody>
          <a:bodyPr wrap="square" lIns="0" rIns="0" tIns="0" bIns="0" anchor="t">
            <a:spAutoFit/>
          </a:bodyPr>
          <a:lstStyle/>
          <a:p>
            <a:pPr algn="l">
              <a:lnSpc>
                <a:spcPct val="130000"/>
              </a:lnSpc>
            </a:pPr>
            <a:r>
              <a:rPr sz="1650" b="0" i="0">
                <a:solidFill>
                  <a:srgbClr val="9A7878"/>
                </a:solidFill>
                <a:latin typeface="Geist"/>
                <a:ea typeface="Geist"/>
                <a:cs typeface="Geist"/>
              </a:rPr>
              <a:t>On the team's robots: AdvantageScope runs on the laptop.</a:t>
            </a:r>
          </a:p>
        </p:txBody>
      </p:sp>
      <p:sp>
        <p:nvSpPr>
          <p:cNvPr id="26" name="TextBox 2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7" name="TextBox 2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WPILIB'S CLASSES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ChassisSpeeds: how the robot moves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7810500" cy="6191250"/>
          </a:xfrm>
          <a:prstGeom prst="roundRect">
            <a:avLst>
              <a:gd name="adj" fmla="val 2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dozer_top.png"/>
          <p:cNvPicPr>
            <a:picLocks noChangeAspect="1"/>
          </p:cNvPicPr>
          <p:nvPr/>
        </p:nvPicPr>
        <p:blipFill>
          <a:blip r:embed="rId3"/>
          <a:stretch>
            <a:fillRect/>
          </a:stretch>
        </p:blipFill>
        <p:spPr>
          <a:xfrm rot="16200000">
            <a:off x="4000500" y="5410960"/>
            <a:ext cx="1905000" cy="1751081"/>
          </a:xfrm>
          <a:prstGeom prst="rect">
            <a:avLst/>
          </a:prstGeom>
        </p:spPr>
      </p:pic>
      <p:sp>
        <p:nvSpPr>
          <p:cNvPr id="7" name="Rectangle 6"/>
          <p:cNvSpPr/>
          <p:nvPr/>
        </p:nvSpPr>
        <p:spPr>
          <a:xfrm>
            <a:off x="4914900" y="3582924"/>
            <a:ext cx="76200" cy="1598676"/>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Isosceles Triangle 7"/>
          <p:cNvSpPr/>
          <p:nvPr/>
        </p:nvSpPr>
        <p:spPr>
          <a:xfrm>
            <a:off x="4846320" y="3429000"/>
            <a:ext cx="213360" cy="21336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81600" y="3429000"/>
            <a:ext cx="2857500" cy="381000"/>
          </a:xfrm>
          <a:prstGeom prst="rect">
            <a:avLst/>
          </a:prstGeom>
          <a:noFill/>
        </p:spPr>
        <p:txBody>
          <a:bodyPr wrap="square" lIns="0" rIns="0" tIns="0" bIns="0" anchor="t">
            <a:spAutoFit/>
          </a:bodyPr>
          <a:lstStyle/>
          <a:p>
            <a:pPr algn="l"/>
            <a:r>
              <a:rPr sz="1950" b="1" i="0">
                <a:solidFill>
                  <a:srgbClr val="CC2200"/>
                </a:solidFill>
                <a:latin typeface="Geist Mono"/>
                <a:ea typeface="Geist Mono"/>
                <a:cs typeface="Geist Mono"/>
              </a:rPr>
              <a:t>vx  forward</a:t>
            </a:r>
          </a:p>
        </p:txBody>
      </p:sp>
      <p:sp>
        <p:nvSpPr>
          <p:cNvPr id="10" name="Rectangle 9"/>
          <p:cNvSpPr/>
          <p:nvPr/>
        </p:nvSpPr>
        <p:spPr>
          <a:xfrm>
            <a:off x="2176462" y="6272212"/>
            <a:ext cx="1647825" cy="28575"/>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714500" y="6438900"/>
            <a:ext cx="2476500" cy="609600"/>
          </a:xfrm>
          <a:prstGeom prst="rect">
            <a:avLst/>
          </a:prstGeom>
          <a:noFill/>
        </p:spPr>
        <p:txBody>
          <a:bodyPr wrap="square" lIns="0" rIns="0" tIns="0" bIns="0" anchor="t">
            <a:spAutoFit/>
          </a:bodyPr>
          <a:lstStyle/>
          <a:p>
            <a:pPr algn="ctr"/>
            <a:r>
              <a:rPr sz="1650" b="0" i="0">
                <a:solidFill>
                  <a:srgbClr val="9A7878"/>
                </a:solidFill>
                <a:latin typeface="Geist Mono"/>
                <a:ea typeface="Geist Mono"/>
                <a:cs typeface="Geist Mono"/>
              </a:rPr>
              <a:t>vy  sideways
0 on tank</a:t>
            </a:r>
          </a:p>
        </p:txBody>
      </p:sp>
      <p:cxnSp>
        <p:nvCxnSpPr>
          <p:cNvPr id="12" name="Connector 11"/>
          <p:cNvCxnSpPr/>
          <p:nvPr/>
        </p:nvCxnSpPr>
        <p:spPr>
          <a:xfrm flipV="1">
            <a:off x="6193417" y="7215264"/>
            <a:ext cx="85995" cy="112070"/>
          </a:xfrm>
          <a:prstGeom prst="line">
            <a:avLst/>
          </a:prstGeom>
          <a:ln w="4762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6279412" y="7096125"/>
            <a:ext cx="75900" cy="119139"/>
          </a:xfrm>
          <a:prstGeom prst="line">
            <a:avLst/>
          </a:prstGeom>
          <a:ln w="4762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6355312" y="6970825"/>
            <a:ext cx="65227" cy="125300"/>
          </a:xfrm>
          <a:prstGeom prst="line">
            <a:avLst/>
          </a:prstGeom>
          <a:ln w="4762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6420539" y="6840316"/>
            <a:ext cx="54058" cy="130509"/>
          </a:xfrm>
          <a:prstGeom prst="line">
            <a:avLst/>
          </a:prstGeom>
          <a:ln w="4762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6474597" y="6705593"/>
            <a:ext cx="42478" cy="134723"/>
          </a:xfrm>
          <a:prstGeom prst="line">
            <a:avLst/>
          </a:prstGeom>
          <a:ln w="4762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6517075" y="6567680"/>
            <a:ext cx="30575" cy="137913"/>
          </a:xfrm>
          <a:prstGeom prst="line">
            <a:avLst/>
          </a:prstGeom>
          <a:ln w="4762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6547650" y="6427627"/>
            <a:ext cx="18438" cy="140053"/>
          </a:xfrm>
          <a:prstGeom prst="line">
            <a:avLst/>
          </a:prstGeom>
          <a:ln w="4762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6566088" y="6286500"/>
            <a:ext cx="6162" cy="141127"/>
          </a:xfrm>
          <a:prstGeom prst="line">
            <a:avLst/>
          </a:prstGeom>
          <a:ln w="4762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6566088" y="6145373"/>
            <a:ext cx="6162" cy="141127"/>
          </a:xfrm>
          <a:prstGeom prst="line">
            <a:avLst/>
          </a:prstGeom>
          <a:ln w="4762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6547650" y="6005320"/>
            <a:ext cx="18438" cy="140053"/>
          </a:xfrm>
          <a:prstGeom prst="line">
            <a:avLst/>
          </a:prstGeom>
          <a:ln w="4762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6517075" y="5867407"/>
            <a:ext cx="30575" cy="137913"/>
          </a:xfrm>
          <a:prstGeom prst="line">
            <a:avLst/>
          </a:prstGeom>
          <a:ln w="4762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6474597" y="5732684"/>
            <a:ext cx="42478" cy="134723"/>
          </a:xfrm>
          <a:prstGeom prst="line">
            <a:avLst/>
          </a:prstGeom>
          <a:ln w="4762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6355312" y="5476875"/>
            <a:ext cx="119285" cy="255809"/>
          </a:xfrm>
          <a:prstGeom prst="line">
            <a:avLst/>
          </a:prstGeom>
          <a:ln w="47625">
            <a:solidFill>
              <a:srgbClr val="E055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858000" y="6381750"/>
            <a:ext cx="2381250" cy="666750"/>
          </a:xfrm>
          <a:prstGeom prst="rect">
            <a:avLst/>
          </a:prstGeom>
          <a:noFill/>
        </p:spPr>
        <p:txBody>
          <a:bodyPr wrap="square" lIns="0" rIns="0" tIns="0" bIns="0" anchor="t">
            <a:spAutoFit/>
          </a:bodyPr>
          <a:lstStyle/>
          <a:p>
            <a:pPr algn="l"/>
            <a:r>
              <a:rPr sz="1650" b="0" i="0">
                <a:solidFill>
                  <a:srgbClr val="E05540"/>
                </a:solidFill>
                <a:latin typeface="Geist Mono"/>
                <a:ea typeface="Geist Mono"/>
                <a:cs typeface="Geist Mono"/>
              </a:rPr>
              <a:t>omega  turning
+ is left</a:t>
            </a:r>
          </a:p>
        </p:txBody>
      </p:sp>
      <p:sp>
        <p:nvSpPr>
          <p:cNvPr id="26" name="Rounded Rectangle 25"/>
          <p:cNvSpPr/>
          <p:nvPr/>
        </p:nvSpPr>
        <p:spPr>
          <a:xfrm>
            <a:off x="9334500" y="3143250"/>
            <a:ext cx="8039100" cy="2103120"/>
          </a:xfrm>
          <a:prstGeom prst="roundRect">
            <a:avLst>
              <a:gd name="adj" fmla="val 7246"/>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715500" y="3524250"/>
            <a:ext cx="75057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ChassisSpeeds speeds = getChassisSpeeds();</a:t>
            </a:r>
          </a:p>
        </p:txBody>
      </p:sp>
      <p:sp>
        <p:nvSpPr>
          <p:cNvPr id="28" name="TextBox 27"/>
          <p:cNvSpPr txBox="1"/>
          <p:nvPr/>
        </p:nvSpPr>
        <p:spPr>
          <a:xfrm>
            <a:off x="9715500" y="3859530"/>
            <a:ext cx="75057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speeds.vxMetersPerSecond     </a:t>
            </a:r>
            <a:r>
              <a:rPr sz="1650" b="0" i="1">
                <a:solidFill>
                  <a:srgbClr val="9A7878"/>
                </a:solidFill>
                <a:latin typeface="Geist Mono"/>
                <a:ea typeface="Geist Mono"/>
                <a:cs typeface="Geist Mono"/>
              </a:rPr>
              <a:t>// forward</a:t>
            </a:r>
          </a:p>
        </p:txBody>
      </p:sp>
      <p:sp>
        <p:nvSpPr>
          <p:cNvPr id="29" name="TextBox 28"/>
          <p:cNvSpPr txBox="1"/>
          <p:nvPr/>
        </p:nvSpPr>
        <p:spPr>
          <a:xfrm>
            <a:off x="9715500" y="4194810"/>
            <a:ext cx="75057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speeds.vyMetersPerSecond     </a:t>
            </a:r>
            <a:r>
              <a:rPr sz="1650" b="0" i="1">
                <a:solidFill>
                  <a:srgbClr val="9A7878"/>
                </a:solidFill>
                <a:latin typeface="Geist Mono"/>
                <a:ea typeface="Geist Mono"/>
                <a:cs typeface="Geist Mono"/>
              </a:rPr>
              <a:t>// sideways</a:t>
            </a:r>
          </a:p>
        </p:txBody>
      </p:sp>
      <p:sp>
        <p:nvSpPr>
          <p:cNvPr id="30" name="TextBox 29"/>
          <p:cNvSpPr txBox="1"/>
          <p:nvPr/>
        </p:nvSpPr>
        <p:spPr>
          <a:xfrm>
            <a:off x="9715500" y="4530090"/>
            <a:ext cx="75057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speeds.omegaRadiansPerSecond </a:t>
            </a:r>
            <a:r>
              <a:rPr sz="1650" b="0" i="1">
                <a:solidFill>
                  <a:srgbClr val="9A7878"/>
                </a:solidFill>
                <a:latin typeface="Geist Mono"/>
                <a:ea typeface="Geist Mono"/>
                <a:cs typeface="Geist Mono"/>
              </a:rPr>
              <a:t>// turning</a:t>
            </a:r>
          </a:p>
        </p:txBody>
      </p:sp>
      <p:sp>
        <p:nvSpPr>
          <p:cNvPr id="31" name="Rounded Rectangle 30"/>
          <p:cNvSpPr/>
          <p:nvPr/>
        </p:nvSpPr>
        <p:spPr>
          <a:xfrm>
            <a:off x="9334500" y="5715000"/>
            <a:ext cx="386715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9715500" y="6096000"/>
            <a:ext cx="310515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Tank</a:t>
            </a:r>
          </a:p>
        </p:txBody>
      </p:sp>
      <p:sp>
        <p:nvSpPr>
          <p:cNvPr id="33" name="TextBox 32"/>
          <p:cNvSpPr txBox="1"/>
          <p:nvPr/>
        </p:nvSpPr>
        <p:spPr>
          <a:xfrm>
            <a:off x="9715500" y="6657975"/>
            <a:ext cx="3105150" cy="9525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vx and omega. vy is always 0.</a:t>
            </a:r>
          </a:p>
        </p:txBody>
      </p:sp>
      <p:sp>
        <p:nvSpPr>
          <p:cNvPr id="34" name="Rounded Rectangle 33"/>
          <p:cNvSpPr/>
          <p:nvPr/>
        </p:nvSpPr>
        <p:spPr>
          <a:xfrm>
            <a:off x="13506450" y="5715000"/>
            <a:ext cx="386715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3887450" y="6096000"/>
            <a:ext cx="310515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Swerve</a:t>
            </a:r>
          </a:p>
        </p:txBody>
      </p:sp>
      <p:sp>
        <p:nvSpPr>
          <p:cNvPr id="36" name="TextBox 35"/>
          <p:cNvSpPr txBox="1"/>
          <p:nvPr/>
        </p:nvSpPr>
        <p:spPr>
          <a:xfrm>
            <a:off x="13887450" y="6657975"/>
            <a:ext cx="3105150" cy="9525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All three. Our competition robots.</a:t>
            </a:r>
          </a:p>
        </p:txBody>
      </p:sp>
      <p:sp>
        <p:nvSpPr>
          <p:cNvPr id="37" name="TextBox 36"/>
          <p:cNvSpPr txBox="1"/>
          <p:nvPr/>
        </p:nvSpPr>
        <p:spPr>
          <a:xfrm>
            <a:off x="9334500" y="8001000"/>
            <a:ext cx="8039100" cy="762000"/>
          </a:xfrm>
          <a:prstGeom prst="rect">
            <a:avLst/>
          </a:prstGeom>
          <a:noFill/>
        </p:spPr>
        <p:txBody>
          <a:bodyPr wrap="square" lIns="0" rIns="0" tIns="0" bIns="0" anchor="t">
            <a:spAutoFit/>
          </a:bodyPr>
          <a:lstStyle/>
          <a:p>
            <a:pPr algn="l"/>
            <a:r>
              <a:rPr sz="1950" b="0" i="0">
                <a:solidFill>
                  <a:srgbClr val="F0E8E8"/>
                </a:solidFill>
                <a:latin typeface="Geist"/>
                <a:ea typeface="Geist"/>
                <a:cs typeface="Geist"/>
              </a:rPr>
              <a:t>One object instead of three loose variables.</a:t>
            </a:r>
          </a:p>
        </p:txBody>
      </p:sp>
      <p:sp>
        <p:nvSpPr>
          <p:cNvPr id="38" name="TextBox 3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9" name="TextBox 3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04</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Kinematics and yaw</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From wheel speeds to robot speed and heading</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25</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Right side faster than the left? I'm turning left!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KINEMATICS AND YAW</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Kinematics: wheel speeds in, robot speeds out</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4953000" cy="4476750"/>
          </a:xfrm>
          <a:prstGeom prst="roundRect">
            <a:avLst>
              <a:gd name="adj" fmla="val 340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048000"/>
            <a:ext cx="4191000" cy="285750"/>
          </a:xfrm>
          <a:prstGeom prst="rect">
            <a:avLst/>
          </a:prstGeom>
          <a:noFill/>
        </p:spPr>
        <p:txBody>
          <a:bodyPr wrap="square" lIns="0" rIns="0" tIns="0" bIns="0" anchor="t">
            <a:spAutoFit/>
          </a:bodyPr>
          <a:lstStyle/>
          <a:p>
            <a:pPr algn="l"/>
            <a:r>
              <a:rPr sz="1650" b="1" i="0" spc="130">
                <a:solidFill>
                  <a:srgbClr val="9A7878"/>
                </a:solidFill>
                <a:latin typeface="Geist"/>
                <a:ea typeface="Geist"/>
                <a:cs typeface="Geist"/>
              </a:rPr>
              <a:t>WHEEL SPEEDS</a:t>
            </a:r>
          </a:p>
        </p:txBody>
      </p:sp>
      <p:pic>
        <p:nvPicPr>
          <p:cNvPr id="7" name="Picture 6" descr="dozer_top.png"/>
          <p:cNvPicPr>
            <a:picLocks noChangeAspect="1"/>
          </p:cNvPicPr>
          <p:nvPr/>
        </p:nvPicPr>
        <p:blipFill>
          <a:blip r:embed="rId3"/>
          <a:stretch>
            <a:fillRect/>
          </a:stretch>
        </p:blipFill>
        <p:spPr>
          <a:xfrm rot="16200000">
            <a:off x="2581275" y="4589791"/>
            <a:ext cx="1619250" cy="1488419"/>
          </a:xfrm>
          <a:prstGeom prst="rect">
            <a:avLst/>
          </a:prstGeom>
        </p:spPr>
      </p:pic>
      <p:sp>
        <p:nvSpPr>
          <p:cNvPr id="8" name="Rectangle 7"/>
          <p:cNvSpPr/>
          <p:nvPr/>
        </p:nvSpPr>
        <p:spPr>
          <a:xfrm>
            <a:off x="2019300" y="4773549"/>
            <a:ext cx="76200" cy="1312926"/>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Isosceles Triangle 8"/>
          <p:cNvSpPr/>
          <p:nvPr/>
        </p:nvSpPr>
        <p:spPr>
          <a:xfrm>
            <a:off x="1950720" y="4619625"/>
            <a:ext cx="213360" cy="21336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686300" y="4297299"/>
            <a:ext cx="76200" cy="2265426"/>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Isosceles Triangle 10"/>
          <p:cNvSpPr/>
          <p:nvPr/>
        </p:nvSpPr>
        <p:spPr>
          <a:xfrm>
            <a:off x="4617720" y="4143375"/>
            <a:ext cx="213360" cy="21336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6667500"/>
            <a:ext cx="2286000" cy="323850"/>
          </a:xfrm>
          <a:prstGeom prst="rect">
            <a:avLst/>
          </a:prstGeom>
          <a:noFill/>
        </p:spPr>
        <p:txBody>
          <a:bodyPr wrap="square" lIns="0" rIns="0" tIns="0" bIns="0" anchor="t">
            <a:spAutoFit/>
          </a:bodyPr>
          <a:lstStyle/>
          <a:p>
            <a:pPr algn="ctr"/>
            <a:r>
              <a:rPr sz="1650" b="0" i="0">
                <a:solidFill>
                  <a:srgbClr val="E8C27A"/>
                </a:solidFill>
                <a:latin typeface="Geist Mono"/>
                <a:ea typeface="Geist Mono"/>
                <a:cs typeface="Geist Mono"/>
              </a:rPr>
              <a:t>left 3.0 m/s</a:t>
            </a:r>
          </a:p>
        </p:txBody>
      </p:sp>
      <p:sp>
        <p:nvSpPr>
          <p:cNvPr id="13" name="TextBox 12"/>
          <p:cNvSpPr txBox="1"/>
          <p:nvPr/>
        </p:nvSpPr>
        <p:spPr>
          <a:xfrm>
            <a:off x="3581400" y="6667500"/>
            <a:ext cx="2286000" cy="323850"/>
          </a:xfrm>
          <a:prstGeom prst="rect">
            <a:avLst/>
          </a:prstGeom>
          <a:noFill/>
        </p:spPr>
        <p:txBody>
          <a:bodyPr wrap="square" lIns="0" rIns="0" tIns="0" bIns="0" anchor="t">
            <a:spAutoFit/>
          </a:bodyPr>
          <a:lstStyle/>
          <a:p>
            <a:pPr algn="ctr"/>
            <a:r>
              <a:rPr sz="1650" b="0" i="0">
                <a:solidFill>
                  <a:srgbClr val="E8C27A"/>
                </a:solidFill>
                <a:latin typeface="Geist Mono"/>
                <a:ea typeface="Geist Mono"/>
                <a:cs typeface="Geist Mono"/>
              </a:rPr>
              <a:t>right 5.0 m/s</a:t>
            </a:r>
          </a:p>
        </p:txBody>
      </p:sp>
      <p:sp>
        <p:nvSpPr>
          <p:cNvPr id="14" name="Rounded Rectangle 13"/>
          <p:cNvSpPr/>
          <p:nvPr/>
        </p:nvSpPr>
        <p:spPr>
          <a:xfrm>
            <a:off x="6572250" y="3810000"/>
            <a:ext cx="5143500" cy="2381250"/>
          </a:xfrm>
          <a:prstGeom prst="roundRect">
            <a:avLst>
              <a:gd name="adj" fmla="val 6400"/>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762750" y="4095750"/>
            <a:ext cx="4762500" cy="419100"/>
          </a:xfrm>
          <a:prstGeom prst="rect">
            <a:avLst/>
          </a:prstGeom>
          <a:noFill/>
        </p:spPr>
        <p:txBody>
          <a:bodyPr wrap="square" lIns="0" rIns="0" tIns="0" bIns="0" anchor="t">
            <a:spAutoFit/>
          </a:bodyPr>
          <a:lstStyle/>
          <a:p>
            <a:pPr algn="ctr"/>
            <a:r>
              <a:rPr sz="1950" b="1" i="0">
                <a:solidFill>
                  <a:srgbClr val="F0E8E8"/>
                </a:solidFill>
                <a:latin typeface="Geist Mono"/>
                <a:ea typeface="Geist Mono"/>
                <a:cs typeface="Geist Mono"/>
              </a:rPr>
              <a:t>DifferentialDrive-</a:t>
            </a:r>
          </a:p>
        </p:txBody>
      </p:sp>
      <p:sp>
        <p:nvSpPr>
          <p:cNvPr id="16" name="TextBox 15"/>
          <p:cNvSpPr txBox="1"/>
          <p:nvPr/>
        </p:nvSpPr>
        <p:spPr>
          <a:xfrm>
            <a:off x="6762750" y="4476750"/>
            <a:ext cx="4762500" cy="419100"/>
          </a:xfrm>
          <a:prstGeom prst="rect">
            <a:avLst/>
          </a:prstGeom>
          <a:noFill/>
        </p:spPr>
        <p:txBody>
          <a:bodyPr wrap="square" lIns="0" rIns="0" tIns="0" bIns="0" anchor="t">
            <a:spAutoFit/>
          </a:bodyPr>
          <a:lstStyle/>
          <a:p>
            <a:pPr algn="ctr"/>
            <a:r>
              <a:rPr sz="1950" b="1" i="0">
                <a:solidFill>
                  <a:srgbClr val="F0E8E8"/>
                </a:solidFill>
                <a:latin typeface="Geist Mono"/>
                <a:ea typeface="Geist Mono"/>
                <a:cs typeface="Geist Mono"/>
              </a:rPr>
              <a:t>Kinematics</a:t>
            </a:r>
          </a:p>
        </p:txBody>
      </p:sp>
      <p:sp>
        <p:nvSpPr>
          <p:cNvPr id="17" name="TextBox 16"/>
          <p:cNvSpPr txBox="1"/>
          <p:nvPr/>
        </p:nvSpPr>
        <p:spPr>
          <a:xfrm>
            <a:off x="6953250" y="5143500"/>
            <a:ext cx="4381500" cy="762000"/>
          </a:xfrm>
          <a:prstGeom prst="rect">
            <a:avLst/>
          </a:prstGeom>
          <a:noFill/>
        </p:spPr>
        <p:txBody>
          <a:bodyPr wrap="square" lIns="0" rIns="0" tIns="0" bIns="0" anchor="t">
            <a:spAutoFit/>
          </a:bodyPr>
          <a:lstStyle/>
          <a:p>
            <a:pPr algn="ctr"/>
            <a:r>
              <a:rPr sz="1800" b="0" i="0">
                <a:solidFill>
                  <a:srgbClr val="9A7878"/>
                </a:solidFill>
                <a:latin typeface="Geist"/>
                <a:ea typeface="Geist"/>
                <a:cs typeface="Geist"/>
              </a:rPr>
              <a:t>Knows the track width: 0.61 m</a:t>
            </a:r>
          </a:p>
        </p:txBody>
      </p:sp>
      <p:sp>
        <p:nvSpPr>
          <p:cNvPr id="18" name="Rectangle 17"/>
          <p:cNvSpPr/>
          <p:nvPr/>
        </p:nvSpPr>
        <p:spPr>
          <a:xfrm>
            <a:off x="5924550" y="4981575"/>
            <a:ext cx="45339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rot="5400000">
            <a:off x="6343650" y="492442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1772900" y="4981575"/>
            <a:ext cx="45339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rot="5400000">
            <a:off x="12192000" y="492442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2420600" y="2762250"/>
            <a:ext cx="4953000" cy="4476750"/>
          </a:xfrm>
          <a:prstGeom prst="roundRect">
            <a:avLst>
              <a:gd name="adj" fmla="val 340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2801600" y="3048000"/>
            <a:ext cx="4191000" cy="285750"/>
          </a:xfrm>
          <a:prstGeom prst="rect">
            <a:avLst/>
          </a:prstGeom>
          <a:noFill/>
        </p:spPr>
        <p:txBody>
          <a:bodyPr wrap="square" lIns="0" rIns="0" tIns="0" bIns="0" anchor="t">
            <a:spAutoFit/>
          </a:bodyPr>
          <a:lstStyle/>
          <a:p>
            <a:pPr algn="l"/>
            <a:r>
              <a:rPr sz="1650" b="1" i="0" spc="130">
                <a:solidFill>
                  <a:srgbClr val="9A7878"/>
                </a:solidFill>
                <a:latin typeface="Geist"/>
                <a:ea typeface="Geist"/>
                <a:cs typeface="Geist"/>
              </a:rPr>
              <a:t>CHASSISSPEEDS</a:t>
            </a:r>
          </a:p>
        </p:txBody>
      </p:sp>
      <p:sp>
        <p:nvSpPr>
          <p:cNvPr id="24" name="TextBox 23"/>
          <p:cNvSpPr txBox="1"/>
          <p:nvPr/>
        </p:nvSpPr>
        <p:spPr>
          <a:xfrm>
            <a:off x="12801600" y="3810000"/>
            <a:ext cx="1524000" cy="571500"/>
          </a:xfrm>
          <a:prstGeom prst="rect">
            <a:avLst/>
          </a:prstGeom>
          <a:noFill/>
        </p:spPr>
        <p:txBody>
          <a:bodyPr wrap="square" lIns="0" rIns="0" tIns="0" bIns="0" anchor="t">
            <a:spAutoFit/>
          </a:bodyPr>
          <a:lstStyle/>
          <a:p>
            <a:pPr algn="l"/>
            <a:r>
              <a:rPr sz="3000" b="1" i="0">
                <a:solidFill>
                  <a:srgbClr val="F0E8E8"/>
                </a:solidFill>
                <a:latin typeface="Geist Mono"/>
                <a:ea typeface="Geist Mono"/>
                <a:cs typeface="Geist Mono"/>
              </a:rPr>
              <a:t>vx</a:t>
            </a:r>
          </a:p>
        </p:txBody>
      </p:sp>
      <p:sp>
        <p:nvSpPr>
          <p:cNvPr id="25" name="TextBox 24"/>
          <p:cNvSpPr txBox="1"/>
          <p:nvPr/>
        </p:nvSpPr>
        <p:spPr>
          <a:xfrm>
            <a:off x="14478000" y="3810000"/>
            <a:ext cx="2476500" cy="571500"/>
          </a:xfrm>
          <a:prstGeom prst="rect">
            <a:avLst/>
          </a:prstGeom>
          <a:noFill/>
        </p:spPr>
        <p:txBody>
          <a:bodyPr wrap="square" lIns="0" rIns="0" tIns="0" bIns="0" anchor="t">
            <a:spAutoFit/>
          </a:bodyPr>
          <a:lstStyle/>
          <a:p>
            <a:pPr algn="l"/>
            <a:r>
              <a:rPr sz="3600" b="1" i="0">
                <a:solidFill>
                  <a:srgbClr val="E8C27A"/>
                </a:solidFill>
                <a:latin typeface="Geist Mono"/>
                <a:ea typeface="Geist Mono"/>
                <a:cs typeface="Geist Mono"/>
              </a:rPr>
              <a:t>4.0</a:t>
            </a:r>
          </a:p>
        </p:txBody>
      </p:sp>
      <p:sp>
        <p:nvSpPr>
          <p:cNvPr id="26" name="TextBox 25"/>
          <p:cNvSpPr txBox="1"/>
          <p:nvPr/>
        </p:nvSpPr>
        <p:spPr>
          <a:xfrm>
            <a:off x="12801600" y="4476750"/>
            <a:ext cx="4191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m/s forward</a:t>
            </a:r>
          </a:p>
        </p:txBody>
      </p:sp>
      <p:sp>
        <p:nvSpPr>
          <p:cNvPr id="27" name="TextBox 26"/>
          <p:cNvSpPr txBox="1"/>
          <p:nvPr/>
        </p:nvSpPr>
        <p:spPr>
          <a:xfrm>
            <a:off x="12801600" y="5334000"/>
            <a:ext cx="1524000" cy="571500"/>
          </a:xfrm>
          <a:prstGeom prst="rect">
            <a:avLst/>
          </a:prstGeom>
          <a:noFill/>
        </p:spPr>
        <p:txBody>
          <a:bodyPr wrap="square" lIns="0" rIns="0" tIns="0" bIns="0" anchor="t">
            <a:spAutoFit/>
          </a:bodyPr>
          <a:lstStyle/>
          <a:p>
            <a:pPr algn="l"/>
            <a:r>
              <a:rPr sz="3000" b="1" i="0">
                <a:solidFill>
                  <a:srgbClr val="F0E8E8"/>
                </a:solidFill>
                <a:latin typeface="Geist Mono"/>
                <a:ea typeface="Geist Mono"/>
                <a:cs typeface="Geist Mono"/>
              </a:rPr>
              <a:t>omega</a:t>
            </a:r>
          </a:p>
        </p:txBody>
      </p:sp>
      <p:sp>
        <p:nvSpPr>
          <p:cNvPr id="28" name="TextBox 27"/>
          <p:cNvSpPr txBox="1"/>
          <p:nvPr/>
        </p:nvSpPr>
        <p:spPr>
          <a:xfrm>
            <a:off x="14478000" y="5334000"/>
            <a:ext cx="2476500" cy="571500"/>
          </a:xfrm>
          <a:prstGeom prst="rect">
            <a:avLst/>
          </a:prstGeom>
          <a:noFill/>
        </p:spPr>
        <p:txBody>
          <a:bodyPr wrap="square" lIns="0" rIns="0" tIns="0" bIns="0" anchor="t">
            <a:spAutoFit/>
          </a:bodyPr>
          <a:lstStyle/>
          <a:p>
            <a:pPr algn="l"/>
            <a:r>
              <a:rPr sz="3600" b="1" i="0">
                <a:solidFill>
                  <a:srgbClr val="E8C27A"/>
                </a:solidFill>
                <a:latin typeface="Geist Mono"/>
                <a:ea typeface="Geist Mono"/>
                <a:cs typeface="Geist Mono"/>
              </a:rPr>
              <a:t>3.3</a:t>
            </a:r>
          </a:p>
        </p:txBody>
      </p:sp>
      <p:sp>
        <p:nvSpPr>
          <p:cNvPr id="29" name="TextBox 28"/>
          <p:cNvSpPr txBox="1"/>
          <p:nvPr/>
        </p:nvSpPr>
        <p:spPr>
          <a:xfrm>
            <a:off x="12801600" y="6000750"/>
            <a:ext cx="4191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rad/s, turning left</a:t>
            </a:r>
          </a:p>
        </p:txBody>
      </p:sp>
      <p:sp>
        <p:nvSpPr>
          <p:cNvPr id="30" name="TextBox 29"/>
          <p:cNvSpPr txBox="1"/>
          <p:nvPr/>
        </p:nvSpPr>
        <p:spPr>
          <a:xfrm>
            <a:off x="914400" y="7524750"/>
            <a:ext cx="1905000" cy="476250"/>
          </a:xfrm>
          <a:prstGeom prst="rect">
            <a:avLst/>
          </a:prstGeom>
          <a:noFill/>
        </p:spPr>
        <p:txBody>
          <a:bodyPr wrap="square" lIns="0" rIns="0" tIns="0" bIns="0" anchor="ctr">
            <a:spAutoFit/>
          </a:bodyPr>
          <a:lstStyle/>
          <a:p>
            <a:pPr algn="l"/>
            <a:r>
              <a:rPr sz="1950" b="0" i="0">
                <a:solidFill>
                  <a:srgbClr val="9A7878"/>
                </a:solidFill>
                <a:latin typeface="Geist"/>
                <a:ea typeface="Geist"/>
                <a:cs typeface="Geist"/>
              </a:rPr>
              <a:t>forward</a:t>
            </a:r>
          </a:p>
        </p:txBody>
      </p:sp>
      <p:sp>
        <p:nvSpPr>
          <p:cNvPr id="31" name="TextBox 30"/>
          <p:cNvSpPr txBox="1"/>
          <p:nvPr/>
        </p:nvSpPr>
        <p:spPr>
          <a:xfrm>
            <a:off x="2857500" y="7524750"/>
            <a:ext cx="14478000" cy="47625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(left + right) / 2  =  (3.0 + 5.0) / 2  =  4.0 m/s</a:t>
            </a:r>
          </a:p>
        </p:txBody>
      </p:sp>
      <p:sp>
        <p:nvSpPr>
          <p:cNvPr id="32" name="TextBox 31"/>
          <p:cNvSpPr txBox="1"/>
          <p:nvPr/>
        </p:nvSpPr>
        <p:spPr>
          <a:xfrm>
            <a:off x="914400" y="8191500"/>
            <a:ext cx="1905000" cy="476250"/>
          </a:xfrm>
          <a:prstGeom prst="rect">
            <a:avLst/>
          </a:prstGeom>
          <a:noFill/>
        </p:spPr>
        <p:txBody>
          <a:bodyPr wrap="square" lIns="0" rIns="0" tIns="0" bIns="0" anchor="ctr">
            <a:spAutoFit/>
          </a:bodyPr>
          <a:lstStyle/>
          <a:p>
            <a:pPr algn="l"/>
            <a:r>
              <a:rPr sz="1950" b="0" i="0">
                <a:solidFill>
                  <a:srgbClr val="9A7878"/>
                </a:solidFill>
                <a:latin typeface="Geist"/>
                <a:ea typeface="Geist"/>
                <a:cs typeface="Geist"/>
              </a:rPr>
              <a:t>turning</a:t>
            </a:r>
          </a:p>
        </p:txBody>
      </p:sp>
      <p:sp>
        <p:nvSpPr>
          <p:cNvPr id="33" name="TextBox 32"/>
          <p:cNvSpPr txBox="1"/>
          <p:nvPr/>
        </p:nvSpPr>
        <p:spPr>
          <a:xfrm>
            <a:off x="2857500" y="8191500"/>
            <a:ext cx="14478000" cy="47625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(right - left) / track width  =  (5.0 - 3.0) / 0.61  ≈  3.3 rad/s</a:t>
            </a:r>
          </a:p>
        </p:txBody>
      </p:sp>
      <p:sp>
        <p:nvSpPr>
          <p:cNvPr id="34" name="TextBox 3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5" name="TextBox 3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KINEMATICS AND YAW</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Writing getChassisSpeeds()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076325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mechanisms/DifferentialDriveMech.java</a:t>
            </a:r>
          </a:p>
        </p:txBody>
      </p:sp>
      <p:sp>
        <p:nvSpPr>
          <p:cNvPr id="6" name="Rounded Rectangle 5"/>
          <p:cNvSpPr/>
          <p:nvPr/>
        </p:nvSpPr>
        <p:spPr>
          <a:xfrm>
            <a:off x="914400" y="3143250"/>
            <a:ext cx="10763250" cy="3779520"/>
          </a:xfrm>
          <a:prstGeom prst="roundRect">
            <a:avLst>
              <a:gd name="adj" fmla="val 4032"/>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865370"/>
            <a:ext cx="10725150" cy="33528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865370"/>
            <a:ext cx="57150" cy="33528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5871210"/>
            <a:ext cx="10725150" cy="33528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5871210"/>
            <a:ext cx="57150" cy="33528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95400" y="3524250"/>
            <a:ext cx="10229850" cy="335280"/>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private</a:t>
            </a:r>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final</a:t>
            </a:r>
            <a:r>
              <a:rPr sz="1650" b="0" i="0">
                <a:solidFill>
                  <a:srgbClr val="F0E8E8"/>
                </a:solidFill>
                <a:latin typeface="Geist Mono"/>
                <a:ea typeface="Geist Mono"/>
                <a:cs typeface="Geist Mono"/>
              </a:rPr>
              <a:t> DifferentialDriveKinematics kinematics_ =</a:t>
            </a:r>
          </a:p>
        </p:txBody>
      </p:sp>
      <p:sp>
        <p:nvSpPr>
          <p:cNvPr id="12" name="TextBox 11"/>
          <p:cNvSpPr txBox="1"/>
          <p:nvPr/>
        </p:nvSpPr>
        <p:spPr>
          <a:xfrm>
            <a:off x="1295400" y="3859530"/>
            <a:ext cx="1022985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new</a:t>
            </a:r>
            <a:r>
              <a:rPr sz="1650" b="0" i="0">
                <a:solidFill>
                  <a:srgbClr val="F0E8E8"/>
                </a:solidFill>
                <a:latin typeface="Geist Mono"/>
                <a:ea typeface="Geist Mono"/>
                <a:cs typeface="Geist Mono"/>
              </a:rPr>
              <a:t> DifferentialDriveKinematics(Constants.TRACK_WIDTH_METERS);</a:t>
            </a:r>
          </a:p>
        </p:txBody>
      </p:sp>
      <p:sp>
        <p:nvSpPr>
          <p:cNvPr id="13" name="TextBox 12"/>
          <p:cNvSpPr txBox="1"/>
          <p:nvPr/>
        </p:nvSpPr>
        <p:spPr>
          <a:xfrm>
            <a:off x="1295400" y="4194810"/>
            <a:ext cx="1022985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p>
        </p:txBody>
      </p:sp>
      <p:sp>
        <p:nvSpPr>
          <p:cNvPr id="14" name="TextBox 13"/>
          <p:cNvSpPr txBox="1"/>
          <p:nvPr/>
        </p:nvSpPr>
        <p:spPr>
          <a:xfrm>
            <a:off x="1295400" y="4530090"/>
            <a:ext cx="10229850" cy="335280"/>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public</a:t>
            </a:r>
            <a:r>
              <a:rPr sz="1650" b="0" i="0">
                <a:solidFill>
                  <a:srgbClr val="F0E8E8"/>
                </a:solidFill>
                <a:latin typeface="Geist Mono"/>
                <a:ea typeface="Geist Mono"/>
                <a:cs typeface="Geist Mono"/>
              </a:rPr>
              <a:t> ChassisSpeeds getChassisSpeeds() {</a:t>
            </a:r>
          </a:p>
        </p:txBody>
      </p:sp>
      <p:sp>
        <p:nvSpPr>
          <p:cNvPr id="15" name="TextBox 14"/>
          <p:cNvSpPr txBox="1"/>
          <p:nvPr/>
        </p:nvSpPr>
        <p:spPr>
          <a:xfrm>
            <a:off x="1295400" y="4865370"/>
            <a:ext cx="1022985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DifferentialDriveWheelSpeeds wheels =</a:t>
            </a:r>
          </a:p>
        </p:txBody>
      </p:sp>
      <p:sp>
        <p:nvSpPr>
          <p:cNvPr id="16" name="TextBox 15"/>
          <p:cNvSpPr txBox="1"/>
          <p:nvPr/>
        </p:nvSpPr>
        <p:spPr>
          <a:xfrm>
            <a:off x="1295400" y="5200650"/>
            <a:ext cx="1022985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new</a:t>
            </a:r>
            <a:r>
              <a:rPr sz="1650" b="0" i="0">
                <a:solidFill>
                  <a:srgbClr val="F0E8E8"/>
                </a:solidFill>
                <a:latin typeface="Geist Mono"/>
                <a:ea typeface="Geist Mono"/>
                <a:cs typeface="Geist Mono"/>
              </a:rPr>
              <a:t> DifferentialDriveWheelSpeeds(</a:t>
            </a:r>
          </a:p>
        </p:txBody>
      </p:sp>
      <p:sp>
        <p:nvSpPr>
          <p:cNvPr id="17" name="TextBox 16"/>
          <p:cNvSpPr txBox="1"/>
          <p:nvPr/>
        </p:nvSpPr>
        <p:spPr>
          <a:xfrm>
            <a:off x="1295400" y="5535930"/>
            <a:ext cx="1022985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getLeftMetersPerSecond(), getRightMetersPerSecond());</a:t>
            </a:r>
          </a:p>
        </p:txBody>
      </p:sp>
      <p:sp>
        <p:nvSpPr>
          <p:cNvPr id="18" name="TextBox 17"/>
          <p:cNvSpPr txBox="1"/>
          <p:nvPr/>
        </p:nvSpPr>
        <p:spPr>
          <a:xfrm>
            <a:off x="1295400" y="5871210"/>
            <a:ext cx="1022985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return</a:t>
            </a:r>
            <a:r>
              <a:rPr sz="1650" b="0" i="0">
                <a:solidFill>
                  <a:srgbClr val="F0E8E8"/>
                </a:solidFill>
                <a:latin typeface="Geist Mono"/>
                <a:ea typeface="Geist Mono"/>
                <a:cs typeface="Geist Mono"/>
              </a:rPr>
              <a:t> kinematics_.toChassisSpeeds(wheels);</a:t>
            </a:r>
          </a:p>
        </p:txBody>
      </p:sp>
      <p:sp>
        <p:nvSpPr>
          <p:cNvPr id="19" name="TextBox 18"/>
          <p:cNvSpPr txBox="1"/>
          <p:nvPr/>
        </p:nvSpPr>
        <p:spPr>
          <a:xfrm>
            <a:off x="1295400" y="6206490"/>
            <a:ext cx="1022985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a:t>
            </a:r>
          </a:p>
        </p:txBody>
      </p:sp>
      <p:sp>
        <p:nvSpPr>
          <p:cNvPr id="20" name="Oval 19"/>
          <p:cNvSpPr/>
          <p:nvPr/>
        </p:nvSpPr>
        <p:spPr>
          <a:xfrm>
            <a:off x="11068050" y="350139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068050" y="350139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2" name="Oval 21"/>
          <p:cNvSpPr/>
          <p:nvPr/>
        </p:nvSpPr>
        <p:spPr>
          <a:xfrm>
            <a:off x="11068050" y="484251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068050" y="484251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4" name="Oval 23"/>
          <p:cNvSpPr/>
          <p:nvPr/>
        </p:nvSpPr>
        <p:spPr>
          <a:xfrm>
            <a:off x="11068050" y="584835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068050" y="58483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6" name="Oval 25"/>
          <p:cNvSpPr/>
          <p:nvPr/>
        </p:nvSpPr>
        <p:spPr>
          <a:xfrm>
            <a:off x="12287250" y="3048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287250" y="3048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8" name="TextBox 27"/>
          <p:cNvSpPr txBox="1"/>
          <p:nvPr/>
        </p:nvSpPr>
        <p:spPr>
          <a:xfrm>
            <a:off x="12896850" y="300990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Already built</a:t>
            </a:r>
          </a:p>
        </p:txBody>
      </p:sp>
      <p:sp>
        <p:nvSpPr>
          <p:cNvPr id="29" name="TextBox 28"/>
          <p:cNvSpPr txBox="1"/>
          <p:nvPr/>
        </p:nvSpPr>
        <p:spPr>
          <a:xfrm>
            <a:off x="12896850" y="342900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kinematics object, made from the track width</a:t>
            </a:r>
          </a:p>
        </p:txBody>
      </p:sp>
      <p:sp>
        <p:nvSpPr>
          <p:cNvPr id="30" name="Oval 29"/>
          <p:cNvSpPr/>
          <p:nvPr/>
        </p:nvSpPr>
        <p:spPr>
          <a:xfrm>
            <a:off x="12287250" y="4667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287250" y="4667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2" name="TextBox 31"/>
          <p:cNvSpPr txBox="1"/>
          <p:nvPr/>
        </p:nvSpPr>
        <p:spPr>
          <a:xfrm>
            <a:off x="12896850" y="462915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Bundle</a:t>
            </a:r>
          </a:p>
        </p:txBody>
      </p:sp>
      <p:sp>
        <p:nvSpPr>
          <p:cNvPr id="33" name="TextBox 32"/>
          <p:cNvSpPr txBox="1"/>
          <p:nvPr/>
        </p:nvSpPr>
        <p:spPr>
          <a:xfrm>
            <a:off x="12896850" y="504825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Both wheel speeds in one object, with new</a:t>
            </a:r>
          </a:p>
        </p:txBody>
      </p:sp>
      <p:sp>
        <p:nvSpPr>
          <p:cNvPr id="34" name="Oval 33"/>
          <p:cNvSpPr/>
          <p:nvPr/>
        </p:nvSpPr>
        <p:spPr>
          <a:xfrm>
            <a:off x="12287250" y="6286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287250" y="6286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6" name="TextBox 35"/>
          <p:cNvSpPr txBox="1"/>
          <p:nvPr/>
        </p:nvSpPr>
        <p:spPr>
          <a:xfrm>
            <a:off x="12896850" y="624840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Convert</a:t>
            </a:r>
          </a:p>
        </p:txBody>
      </p:sp>
      <p:sp>
        <p:nvSpPr>
          <p:cNvPr id="37" name="TextBox 36"/>
          <p:cNvSpPr txBox="1"/>
          <p:nvPr/>
        </p:nvSpPr>
        <p:spPr>
          <a:xfrm>
            <a:off x="12896850" y="666750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toChassisSpeeds() hands back the robot's speeds</a:t>
            </a:r>
          </a:p>
        </p:txBody>
      </p:sp>
      <p:pic>
        <p:nvPicPr>
          <p:cNvPr id="38" name="Picture 37" descr="code-slash.png"/>
          <p:cNvPicPr>
            <a:picLocks noChangeAspect="1"/>
          </p:cNvPicPr>
          <p:nvPr/>
        </p:nvPicPr>
        <p:blipFill>
          <a:blip r:embed="rId3"/>
          <a:stretch>
            <a:fillRect/>
          </a:stretch>
        </p:blipFill>
        <p:spPr>
          <a:xfrm>
            <a:off x="914400" y="7467600"/>
            <a:ext cx="224518" cy="209550"/>
          </a:xfrm>
          <a:prstGeom prst="rect">
            <a:avLst/>
          </a:prstGeom>
        </p:spPr>
      </p:pic>
      <p:sp>
        <p:nvSpPr>
          <p:cNvPr id="39" name="TextBox 38"/>
          <p:cNvSpPr txBox="1"/>
          <p:nvPr/>
        </p:nvSpPr>
        <p:spPr>
          <a:xfrm>
            <a:off x="1295400" y="74295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Classes &amp; Objects</a:t>
            </a:r>
          </a:p>
        </p:txBody>
      </p:sp>
      <p:sp>
        <p:nvSpPr>
          <p:cNvPr id="40" name="Rounded Rectangle 39"/>
          <p:cNvSpPr/>
          <p:nvPr/>
        </p:nvSpPr>
        <p:spPr>
          <a:xfrm>
            <a:off x="914400" y="800100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1333500" y="8001000"/>
            <a:ext cx="1565910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Don't forget:  </a:t>
            </a:r>
            <a:r>
              <a:rPr sz="2100" b="0" i="0">
                <a:solidFill>
                  <a:srgbClr val="F0E8E8"/>
                </a:solidFill>
                <a:latin typeface="Geist"/>
                <a:ea typeface="Geist"/>
                <a:cs typeface="Geist"/>
              </a:rPr>
              <a:t>import edu.wpi.first.math.kinematics.DifferentialDriveWheelSpeeds;</a:t>
            </a:r>
          </a:p>
        </p:txBody>
      </p:sp>
      <p:sp>
        <p:nvSpPr>
          <p:cNvPr id="42" name="TextBox 4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3" name="TextBox 4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KINEMATICS AND YAW</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Two routes, one answer</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953750" cy="6191250"/>
          </a:xfrm>
          <a:prstGeom prst="roundRect">
            <a:avLst>
              <a:gd name="adj" fmla="val 2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085975" y="7896225"/>
            <a:ext cx="935355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333500" y="7753350"/>
            <a:ext cx="609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8" name="Rectangle 7"/>
          <p:cNvSpPr/>
          <p:nvPr/>
        </p:nvSpPr>
        <p:spPr>
          <a:xfrm>
            <a:off x="2085975" y="6308725"/>
            <a:ext cx="9353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33500" y="6165850"/>
            <a:ext cx="609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2</a:t>
            </a:r>
          </a:p>
        </p:txBody>
      </p:sp>
      <p:sp>
        <p:nvSpPr>
          <p:cNvPr id="10" name="Rectangle 9"/>
          <p:cNvSpPr/>
          <p:nvPr/>
        </p:nvSpPr>
        <p:spPr>
          <a:xfrm>
            <a:off x="2085975" y="4721225"/>
            <a:ext cx="9353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333500" y="4578350"/>
            <a:ext cx="609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4</a:t>
            </a:r>
          </a:p>
        </p:txBody>
      </p:sp>
      <p:sp>
        <p:nvSpPr>
          <p:cNvPr id="12" name="Rectangle 11"/>
          <p:cNvSpPr/>
          <p:nvPr/>
        </p:nvSpPr>
        <p:spPr>
          <a:xfrm>
            <a:off x="2085975" y="3133725"/>
            <a:ext cx="9353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333500" y="2990850"/>
            <a:ext cx="609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6</a:t>
            </a:r>
          </a:p>
        </p:txBody>
      </p:sp>
      <p:sp>
        <p:nvSpPr>
          <p:cNvPr id="14" name="TextBox 13"/>
          <p:cNvSpPr txBox="1"/>
          <p:nvPr/>
        </p:nvSpPr>
        <p:spPr>
          <a:xfrm>
            <a:off x="1714500" y="802005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 s</a:t>
            </a:r>
          </a:p>
        </p:txBody>
      </p:sp>
      <p:sp>
        <p:nvSpPr>
          <p:cNvPr id="15" name="TextBox 14"/>
          <p:cNvSpPr txBox="1"/>
          <p:nvPr/>
        </p:nvSpPr>
        <p:spPr>
          <a:xfrm>
            <a:off x="3270250" y="802005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 s</a:t>
            </a:r>
          </a:p>
        </p:txBody>
      </p:sp>
      <p:sp>
        <p:nvSpPr>
          <p:cNvPr id="16" name="TextBox 15"/>
          <p:cNvSpPr txBox="1"/>
          <p:nvPr/>
        </p:nvSpPr>
        <p:spPr>
          <a:xfrm>
            <a:off x="4826000" y="802005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 s</a:t>
            </a:r>
          </a:p>
        </p:txBody>
      </p:sp>
      <p:sp>
        <p:nvSpPr>
          <p:cNvPr id="17" name="TextBox 16"/>
          <p:cNvSpPr txBox="1"/>
          <p:nvPr/>
        </p:nvSpPr>
        <p:spPr>
          <a:xfrm>
            <a:off x="6381750" y="802005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3 s</a:t>
            </a:r>
          </a:p>
        </p:txBody>
      </p:sp>
      <p:sp>
        <p:nvSpPr>
          <p:cNvPr id="18" name="TextBox 17"/>
          <p:cNvSpPr txBox="1"/>
          <p:nvPr/>
        </p:nvSpPr>
        <p:spPr>
          <a:xfrm>
            <a:off x="7937500" y="802005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4 s</a:t>
            </a:r>
          </a:p>
        </p:txBody>
      </p:sp>
      <p:sp>
        <p:nvSpPr>
          <p:cNvPr id="19" name="TextBox 18"/>
          <p:cNvSpPr txBox="1"/>
          <p:nvPr/>
        </p:nvSpPr>
        <p:spPr>
          <a:xfrm>
            <a:off x="9493250" y="802005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5 s</a:t>
            </a:r>
          </a:p>
        </p:txBody>
      </p:sp>
      <p:sp>
        <p:nvSpPr>
          <p:cNvPr id="20" name="TextBox 19"/>
          <p:cNvSpPr txBox="1"/>
          <p:nvPr/>
        </p:nvSpPr>
        <p:spPr>
          <a:xfrm>
            <a:off x="11049000" y="802005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6 s</a:t>
            </a:r>
          </a:p>
        </p:txBody>
      </p:sp>
      <p:sp>
        <p:nvSpPr>
          <p:cNvPr id="21" name="Rectangle 20"/>
          <p:cNvSpPr/>
          <p:nvPr/>
        </p:nvSpPr>
        <p:spPr>
          <a:xfrm>
            <a:off x="2052638" y="7862888"/>
            <a:ext cx="163512" cy="857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2130425" y="7862888"/>
            <a:ext cx="163513" cy="857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208212" y="7862888"/>
            <a:ext cx="163512" cy="857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2286000" y="7862888"/>
            <a:ext cx="163512" cy="857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2363788" y="7862888"/>
            <a:ext cx="163512" cy="857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2441575" y="7862888"/>
            <a:ext cx="163513" cy="857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2519362" y="7862888"/>
            <a:ext cx="163513" cy="857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2597150" y="7862888"/>
            <a:ext cx="163512" cy="857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2674938" y="7862888"/>
            <a:ext cx="163513" cy="857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2752725" y="7862888"/>
            <a:ext cx="163512" cy="857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2830512" y="7862888"/>
            <a:ext cx="163513" cy="857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2908300" y="7862888"/>
            <a:ext cx="163512" cy="857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2986088" y="7862888"/>
            <a:ext cx="163513" cy="857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3063875" y="7862888"/>
            <a:ext cx="163512" cy="857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3141662" y="7862888"/>
            <a:ext cx="163513" cy="857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3219450" y="7862888"/>
            <a:ext cx="163512" cy="857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3297237" y="7862888"/>
            <a:ext cx="163513" cy="857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3375025" y="7862888"/>
            <a:ext cx="163512" cy="857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3452812" y="7862888"/>
            <a:ext cx="163512" cy="857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3530600" y="7862888"/>
            <a:ext cx="163513" cy="857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41" name="Connector 40"/>
          <p:cNvCxnSpPr/>
          <p:nvPr/>
        </p:nvCxnSpPr>
        <p:spPr>
          <a:xfrm flipV="1">
            <a:off x="3651250" y="7484220"/>
            <a:ext cx="77788" cy="421530"/>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3729038" y="7107018"/>
            <a:ext cx="77787" cy="377202"/>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3806825" y="6769483"/>
            <a:ext cx="77787" cy="337535"/>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3884612" y="6467444"/>
            <a:ext cx="77788" cy="302039"/>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3962400" y="6197167"/>
            <a:ext cx="77788" cy="270277"/>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4040188" y="5955313"/>
            <a:ext cx="77787" cy="241854"/>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4117975" y="5738892"/>
            <a:ext cx="77787" cy="216421"/>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4195762" y="5545230"/>
            <a:ext cx="77788" cy="193662"/>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4273550" y="5371934"/>
            <a:ext cx="77788" cy="173296"/>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351338" y="5216862"/>
            <a:ext cx="77787" cy="155072"/>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4429125" y="5078097"/>
            <a:ext cx="77787" cy="138765"/>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4506912" y="4953925"/>
            <a:ext cx="77788" cy="124172"/>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4584700" y="4842811"/>
            <a:ext cx="77787" cy="111114"/>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4662487" y="4743382"/>
            <a:ext cx="77788" cy="99429"/>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4740275" y="4654409"/>
            <a:ext cx="77787" cy="88973"/>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4818062" y="4574792"/>
            <a:ext cx="77788" cy="79617"/>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4895850" y="4503548"/>
            <a:ext cx="77788" cy="71244"/>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4973638" y="4439796"/>
            <a:ext cx="77787" cy="63752"/>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5051425" y="4382748"/>
            <a:ext cx="77787" cy="57048"/>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5129212" y="4331699"/>
            <a:ext cx="77788" cy="51049"/>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5207000" y="4286019"/>
            <a:ext cx="77787" cy="45680"/>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5284787" y="4245142"/>
            <a:ext cx="77788" cy="40877"/>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5362575" y="4208564"/>
            <a:ext cx="77788" cy="36578"/>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5440363" y="4175833"/>
            <a:ext cx="77787" cy="32731"/>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5518150" y="4146543"/>
            <a:ext cx="77788" cy="29290"/>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5595938" y="4120334"/>
            <a:ext cx="77787" cy="26209"/>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5673725" y="4096881"/>
            <a:ext cx="77787" cy="23453"/>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5751512" y="4075894"/>
            <a:ext cx="77788" cy="20987"/>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5829300" y="4057114"/>
            <a:ext cx="77788" cy="18780"/>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5907088" y="4040309"/>
            <a:ext cx="77787" cy="16805"/>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5984875" y="4025272"/>
            <a:ext cx="77787" cy="15037"/>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6062662" y="4011816"/>
            <a:ext cx="77788" cy="13456"/>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6140450" y="3999774"/>
            <a:ext cx="77787" cy="12042"/>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6218237" y="3988999"/>
            <a:ext cx="77788" cy="10775"/>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6296025" y="3979358"/>
            <a:ext cx="77787" cy="9641"/>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6373812" y="3970730"/>
            <a:ext cx="77788" cy="8628"/>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6451600" y="3963009"/>
            <a:ext cx="77788" cy="7721"/>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6529388" y="3956100"/>
            <a:ext cx="77787" cy="6909"/>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6607175" y="3949918"/>
            <a:ext cx="77787" cy="6182"/>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6684962" y="3944386"/>
            <a:ext cx="77788" cy="5532"/>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6762750" y="3939436"/>
            <a:ext cx="77788" cy="4950"/>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82" name="Rectangle 81"/>
          <p:cNvSpPr/>
          <p:nvPr/>
        </p:nvSpPr>
        <p:spPr>
          <a:xfrm>
            <a:off x="6797675" y="3896573"/>
            <a:ext cx="163513" cy="857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Rectangle 82"/>
          <p:cNvSpPr/>
          <p:nvPr/>
        </p:nvSpPr>
        <p:spPr>
          <a:xfrm>
            <a:off x="6875462" y="3892144"/>
            <a:ext cx="163512" cy="857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Rectangle 83"/>
          <p:cNvSpPr/>
          <p:nvPr/>
        </p:nvSpPr>
        <p:spPr>
          <a:xfrm>
            <a:off x="6953250" y="3888180"/>
            <a:ext cx="163512" cy="857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Rectangle 84"/>
          <p:cNvSpPr/>
          <p:nvPr/>
        </p:nvSpPr>
        <p:spPr>
          <a:xfrm>
            <a:off x="7031038" y="3884633"/>
            <a:ext cx="163512" cy="857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Rectangle 85"/>
          <p:cNvSpPr/>
          <p:nvPr/>
        </p:nvSpPr>
        <p:spPr>
          <a:xfrm>
            <a:off x="7108825" y="3881459"/>
            <a:ext cx="163512" cy="857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Rectangle 86"/>
          <p:cNvSpPr/>
          <p:nvPr/>
        </p:nvSpPr>
        <p:spPr>
          <a:xfrm>
            <a:off x="7186612" y="3878618"/>
            <a:ext cx="163513" cy="857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Rectangle 87"/>
          <p:cNvSpPr/>
          <p:nvPr/>
        </p:nvSpPr>
        <p:spPr>
          <a:xfrm>
            <a:off x="7264400" y="3876077"/>
            <a:ext cx="163513" cy="857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Rectangle 88"/>
          <p:cNvSpPr/>
          <p:nvPr/>
        </p:nvSpPr>
        <p:spPr>
          <a:xfrm>
            <a:off x="7342188" y="3873803"/>
            <a:ext cx="163513" cy="857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Rectangle 89"/>
          <p:cNvSpPr/>
          <p:nvPr/>
        </p:nvSpPr>
        <p:spPr>
          <a:xfrm>
            <a:off x="7419975" y="3871767"/>
            <a:ext cx="163512" cy="857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Rectangle 90"/>
          <p:cNvSpPr/>
          <p:nvPr/>
        </p:nvSpPr>
        <p:spPr>
          <a:xfrm>
            <a:off x="7497763" y="3869946"/>
            <a:ext cx="163512" cy="857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Rectangle 91"/>
          <p:cNvSpPr/>
          <p:nvPr/>
        </p:nvSpPr>
        <p:spPr>
          <a:xfrm>
            <a:off x="7575550" y="3868317"/>
            <a:ext cx="163512" cy="857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Rectangle 92"/>
          <p:cNvSpPr/>
          <p:nvPr/>
        </p:nvSpPr>
        <p:spPr>
          <a:xfrm>
            <a:off x="7653338" y="3866858"/>
            <a:ext cx="163512" cy="857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Rectangle 93"/>
          <p:cNvSpPr/>
          <p:nvPr/>
        </p:nvSpPr>
        <p:spPr>
          <a:xfrm>
            <a:off x="7731125" y="3865554"/>
            <a:ext cx="163513" cy="857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Rectangle 94"/>
          <p:cNvSpPr/>
          <p:nvPr/>
        </p:nvSpPr>
        <p:spPr>
          <a:xfrm>
            <a:off x="7808912" y="3864386"/>
            <a:ext cx="163512" cy="857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Rectangle 95"/>
          <p:cNvSpPr/>
          <p:nvPr/>
        </p:nvSpPr>
        <p:spPr>
          <a:xfrm>
            <a:off x="7886700" y="3863341"/>
            <a:ext cx="163512" cy="857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Rectangle 96"/>
          <p:cNvSpPr/>
          <p:nvPr/>
        </p:nvSpPr>
        <p:spPr>
          <a:xfrm>
            <a:off x="7964488" y="3862406"/>
            <a:ext cx="163513" cy="857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Rectangle 97"/>
          <p:cNvSpPr/>
          <p:nvPr/>
        </p:nvSpPr>
        <p:spPr>
          <a:xfrm>
            <a:off x="8042275" y="3861569"/>
            <a:ext cx="163512" cy="857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Rectangle 98"/>
          <p:cNvSpPr/>
          <p:nvPr/>
        </p:nvSpPr>
        <p:spPr>
          <a:xfrm>
            <a:off x="8120062" y="3860821"/>
            <a:ext cx="163512" cy="857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Rectangle 99"/>
          <p:cNvSpPr/>
          <p:nvPr/>
        </p:nvSpPr>
        <p:spPr>
          <a:xfrm>
            <a:off x="8197850" y="3860151"/>
            <a:ext cx="163512" cy="857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01" name="Connector 100"/>
          <p:cNvCxnSpPr/>
          <p:nvPr/>
        </p:nvCxnSpPr>
        <p:spPr>
          <a:xfrm>
            <a:off x="8318500" y="3902414"/>
            <a:ext cx="77787" cy="614585"/>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8396287" y="4516999"/>
            <a:ext cx="77788" cy="520235"/>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8474075" y="5037234"/>
            <a:ext cx="77787" cy="440370"/>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8551862" y="5477604"/>
            <a:ext cx="77788" cy="372765"/>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8629650" y="5850369"/>
            <a:ext cx="77788" cy="315538"/>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8707438" y="6165907"/>
            <a:ext cx="77787" cy="267098"/>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8785225" y="6433005"/>
            <a:ext cx="77787" cy="226093"/>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8863012" y="6659098"/>
            <a:ext cx="77788" cy="191384"/>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8940800" y="6850482"/>
            <a:ext cx="77788" cy="162003"/>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9018588" y="7012485"/>
            <a:ext cx="77787" cy="137132"/>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9096375" y="7149617"/>
            <a:ext cx="77787" cy="116081"/>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9174162" y="7265698"/>
            <a:ext cx="77788" cy="98259"/>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9251950" y="7363957"/>
            <a:ext cx="77788" cy="83175"/>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9329738" y="7447132"/>
            <a:ext cx="77787" cy="70407"/>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9407525" y="7517539"/>
            <a:ext cx="77787" cy="59597"/>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9485312" y="7577136"/>
            <a:ext cx="77788" cy="50448"/>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9563100" y="7627584"/>
            <a:ext cx="77788" cy="42704"/>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9640888" y="7670288"/>
            <a:ext cx="77787" cy="36148"/>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9718675" y="7706436"/>
            <a:ext cx="77787" cy="30598"/>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9796462" y="7737034"/>
            <a:ext cx="77788" cy="25901"/>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9874250" y="7762935"/>
            <a:ext cx="77788" cy="21925"/>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9952038" y="7784860"/>
            <a:ext cx="77787" cy="18559"/>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10029825" y="7803419"/>
            <a:ext cx="77787" cy="15709"/>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10107612" y="7819128"/>
            <a:ext cx="77788" cy="13298"/>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10185400" y="7832426"/>
            <a:ext cx="77788" cy="11257"/>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10263188" y="7843683"/>
            <a:ext cx="77787" cy="9528"/>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10340975" y="7853211"/>
            <a:ext cx="77787" cy="8066"/>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a:off x="10418762" y="7861277"/>
            <a:ext cx="77788" cy="6827"/>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a:off x="10496550" y="7868104"/>
            <a:ext cx="77787" cy="5780"/>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a:off x="10574337" y="7873884"/>
            <a:ext cx="77788" cy="4892"/>
          </a:xfrm>
          <a:prstGeom prst="line">
            <a:avLst/>
          </a:prstGeom>
          <a:ln w="8572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131" name="Rectangle 130"/>
          <p:cNvSpPr/>
          <p:nvPr/>
        </p:nvSpPr>
        <p:spPr>
          <a:xfrm>
            <a:off x="10609262" y="7835913"/>
            <a:ext cx="163513" cy="857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2" name="Rectangle 131"/>
          <p:cNvSpPr/>
          <p:nvPr/>
        </p:nvSpPr>
        <p:spPr>
          <a:xfrm>
            <a:off x="10687050" y="7840054"/>
            <a:ext cx="163512" cy="857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Rectangle 132"/>
          <p:cNvSpPr/>
          <p:nvPr/>
        </p:nvSpPr>
        <p:spPr>
          <a:xfrm>
            <a:off x="10764837" y="7843560"/>
            <a:ext cx="163513" cy="857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4" name="Rectangle 133"/>
          <p:cNvSpPr/>
          <p:nvPr/>
        </p:nvSpPr>
        <p:spPr>
          <a:xfrm>
            <a:off x="10842625" y="7846527"/>
            <a:ext cx="163512" cy="857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5" name="Rectangle 134"/>
          <p:cNvSpPr/>
          <p:nvPr/>
        </p:nvSpPr>
        <p:spPr>
          <a:xfrm>
            <a:off x="10920412" y="7849038"/>
            <a:ext cx="163513" cy="857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Rectangle 135"/>
          <p:cNvSpPr/>
          <p:nvPr/>
        </p:nvSpPr>
        <p:spPr>
          <a:xfrm>
            <a:off x="10998200" y="7851165"/>
            <a:ext cx="163513" cy="857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7" name="Rectangle 136"/>
          <p:cNvSpPr/>
          <p:nvPr/>
        </p:nvSpPr>
        <p:spPr>
          <a:xfrm>
            <a:off x="11075988" y="7852964"/>
            <a:ext cx="163512" cy="857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8" name="Rectangle 137"/>
          <p:cNvSpPr/>
          <p:nvPr/>
        </p:nvSpPr>
        <p:spPr>
          <a:xfrm>
            <a:off x="11153775" y="7854488"/>
            <a:ext cx="163513" cy="857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9" name="Rectangle 138"/>
          <p:cNvSpPr/>
          <p:nvPr/>
        </p:nvSpPr>
        <p:spPr>
          <a:xfrm>
            <a:off x="11231562" y="7855777"/>
            <a:ext cx="163513" cy="857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0" name="Rectangle 139"/>
          <p:cNvSpPr/>
          <p:nvPr/>
        </p:nvSpPr>
        <p:spPr>
          <a:xfrm>
            <a:off x="11309350" y="7856869"/>
            <a:ext cx="163512" cy="857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1" name="Rectangle 140"/>
          <p:cNvSpPr/>
          <p:nvPr/>
        </p:nvSpPr>
        <p:spPr>
          <a:xfrm>
            <a:off x="2081212" y="7891462"/>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2" name="Rectangle 141"/>
          <p:cNvSpPr/>
          <p:nvPr/>
        </p:nvSpPr>
        <p:spPr>
          <a:xfrm>
            <a:off x="2159000" y="7891462"/>
            <a:ext cx="106363"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3" name="Rectangle 142"/>
          <p:cNvSpPr/>
          <p:nvPr/>
        </p:nvSpPr>
        <p:spPr>
          <a:xfrm>
            <a:off x="2236788" y="7891462"/>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4" name="Rectangle 143"/>
          <p:cNvSpPr/>
          <p:nvPr/>
        </p:nvSpPr>
        <p:spPr>
          <a:xfrm>
            <a:off x="2314575" y="7891462"/>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Rectangle 144"/>
          <p:cNvSpPr/>
          <p:nvPr/>
        </p:nvSpPr>
        <p:spPr>
          <a:xfrm>
            <a:off x="2392362" y="7891462"/>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6" name="Rectangle 145"/>
          <p:cNvSpPr/>
          <p:nvPr/>
        </p:nvSpPr>
        <p:spPr>
          <a:xfrm>
            <a:off x="2470150" y="7891462"/>
            <a:ext cx="106363"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7" name="Rectangle 146"/>
          <p:cNvSpPr/>
          <p:nvPr/>
        </p:nvSpPr>
        <p:spPr>
          <a:xfrm>
            <a:off x="2547938" y="7891462"/>
            <a:ext cx="106363"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8" name="Rectangle 147"/>
          <p:cNvSpPr/>
          <p:nvPr/>
        </p:nvSpPr>
        <p:spPr>
          <a:xfrm>
            <a:off x="2625725" y="7891462"/>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9" name="Rectangle 148"/>
          <p:cNvSpPr/>
          <p:nvPr/>
        </p:nvSpPr>
        <p:spPr>
          <a:xfrm>
            <a:off x="2703512" y="7891462"/>
            <a:ext cx="106363"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0" name="Rectangle 149"/>
          <p:cNvSpPr/>
          <p:nvPr/>
        </p:nvSpPr>
        <p:spPr>
          <a:xfrm>
            <a:off x="2781300" y="7891462"/>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1" name="Rectangle 150"/>
          <p:cNvSpPr/>
          <p:nvPr/>
        </p:nvSpPr>
        <p:spPr>
          <a:xfrm>
            <a:off x="2859087" y="7891462"/>
            <a:ext cx="106363"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2" name="Rectangle 151"/>
          <p:cNvSpPr/>
          <p:nvPr/>
        </p:nvSpPr>
        <p:spPr>
          <a:xfrm>
            <a:off x="2936875" y="7891462"/>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 name="Rectangle 152"/>
          <p:cNvSpPr/>
          <p:nvPr/>
        </p:nvSpPr>
        <p:spPr>
          <a:xfrm>
            <a:off x="3014662" y="7891462"/>
            <a:ext cx="106363"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 name="Rectangle 153"/>
          <p:cNvSpPr/>
          <p:nvPr/>
        </p:nvSpPr>
        <p:spPr>
          <a:xfrm>
            <a:off x="3092450" y="7891462"/>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5" name="Rectangle 154"/>
          <p:cNvSpPr/>
          <p:nvPr/>
        </p:nvSpPr>
        <p:spPr>
          <a:xfrm>
            <a:off x="3170238" y="7891462"/>
            <a:ext cx="106363"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6" name="Rectangle 155"/>
          <p:cNvSpPr/>
          <p:nvPr/>
        </p:nvSpPr>
        <p:spPr>
          <a:xfrm>
            <a:off x="3248025" y="7891462"/>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7" name="Rectangle 156"/>
          <p:cNvSpPr/>
          <p:nvPr/>
        </p:nvSpPr>
        <p:spPr>
          <a:xfrm>
            <a:off x="3325812" y="7891462"/>
            <a:ext cx="106363"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8" name="Rectangle 157"/>
          <p:cNvSpPr/>
          <p:nvPr/>
        </p:nvSpPr>
        <p:spPr>
          <a:xfrm>
            <a:off x="3403600" y="7891462"/>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9" name="Rectangle 158"/>
          <p:cNvSpPr/>
          <p:nvPr/>
        </p:nvSpPr>
        <p:spPr>
          <a:xfrm>
            <a:off x="3481388" y="7891462"/>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0" name="Rectangle 159"/>
          <p:cNvSpPr/>
          <p:nvPr/>
        </p:nvSpPr>
        <p:spPr>
          <a:xfrm>
            <a:off x="3559175" y="7891462"/>
            <a:ext cx="106363"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61" name="Connector 160"/>
          <p:cNvCxnSpPr/>
          <p:nvPr/>
        </p:nvCxnSpPr>
        <p:spPr>
          <a:xfrm flipV="1">
            <a:off x="3651250" y="7484220"/>
            <a:ext cx="77788" cy="421530"/>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3729038" y="7107018"/>
            <a:ext cx="77787" cy="377202"/>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3806825" y="6769483"/>
            <a:ext cx="77787" cy="337535"/>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3884612" y="6467444"/>
            <a:ext cx="77788" cy="302039"/>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3962400" y="6197167"/>
            <a:ext cx="77788" cy="270277"/>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040188" y="5955313"/>
            <a:ext cx="77787" cy="241854"/>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117975" y="5738892"/>
            <a:ext cx="77787" cy="216421"/>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195762" y="5545230"/>
            <a:ext cx="77788" cy="193662"/>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273550" y="5371934"/>
            <a:ext cx="77788" cy="173296"/>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351338" y="5216862"/>
            <a:ext cx="77787" cy="155072"/>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429125" y="5078097"/>
            <a:ext cx="77787" cy="138765"/>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506912" y="4953925"/>
            <a:ext cx="77788" cy="124172"/>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584700" y="4842811"/>
            <a:ext cx="77787" cy="111114"/>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662487" y="4743382"/>
            <a:ext cx="77788" cy="99429"/>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740275" y="4654409"/>
            <a:ext cx="77787" cy="88973"/>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18062" y="4574792"/>
            <a:ext cx="77788" cy="79617"/>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5850" y="4503548"/>
            <a:ext cx="77788" cy="71244"/>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973638" y="4439796"/>
            <a:ext cx="77787" cy="63752"/>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5051425" y="4382748"/>
            <a:ext cx="77787" cy="57048"/>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5129212" y="4331699"/>
            <a:ext cx="77788" cy="51049"/>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5207000" y="4286019"/>
            <a:ext cx="77787" cy="45680"/>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5284787" y="4245142"/>
            <a:ext cx="77788" cy="40877"/>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5362575" y="4208564"/>
            <a:ext cx="77788" cy="36578"/>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5440363" y="4175833"/>
            <a:ext cx="77787" cy="32731"/>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5518150" y="4146543"/>
            <a:ext cx="77788" cy="29290"/>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5595938" y="4120334"/>
            <a:ext cx="77787" cy="26209"/>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5673725" y="4096881"/>
            <a:ext cx="77787" cy="23453"/>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5751512" y="4075894"/>
            <a:ext cx="77788" cy="20987"/>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5829300" y="4057114"/>
            <a:ext cx="77788" cy="18780"/>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5907088" y="4040309"/>
            <a:ext cx="77787" cy="16805"/>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5984875" y="4025272"/>
            <a:ext cx="77787" cy="15037"/>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6062662" y="4011816"/>
            <a:ext cx="77788" cy="13456"/>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6140450" y="3999774"/>
            <a:ext cx="77787" cy="12042"/>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6218237" y="3988999"/>
            <a:ext cx="77788" cy="10775"/>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6296025" y="3979358"/>
            <a:ext cx="77787" cy="9641"/>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6373812" y="3970730"/>
            <a:ext cx="77788" cy="8628"/>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6451600" y="3963009"/>
            <a:ext cx="77788" cy="7721"/>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6529388" y="3956100"/>
            <a:ext cx="77787" cy="6909"/>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6607175" y="3949918"/>
            <a:ext cx="77787" cy="6182"/>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6684962" y="3944386"/>
            <a:ext cx="77788" cy="5532"/>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6762750" y="3939436"/>
            <a:ext cx="77788" cy="4950"/>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202" name="Rectangle 201"/>
          <p:cNvSpPr/>
          <p:nvPr/>
        </p:nvSpPr>
        <p:spPr>
          <a:xfrm>
            <a:off x="6826250" y="3925148"/>
            <a:ext cx="106363"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3" name="Rectangle 202"/>
          <p:cNvSpPr/>
          <p:nvPr/>
        </p:nvSpPr>
        <p:spPr>
          <a:xfrm>
            <a:off x="6904038" y="3920719"/>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4" name="Rectangle 203"/>
          <p:cNvSpPr/>
          <p:nvPr/>
        </p:nvSpPr>
        <p:spPr>
          <a:xfrm>
            <a:off x="6981825" y="3916755"/>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5" name="Rectangle 204"/>
          <p:cNvSpPr/>
          <p:nvPr/>
        </p:nvSpPr>
        <p:spPr>
          <a:xfrm>
            <a:off x="7059612" y="3913208"/>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6" name="Rectangle 205"/>
          <p:cNvSpPr/>
          <p:nvPr/>
        </p:nvSpPr>
        <p:spPr>
          <a:xfrm>
            <a:off x="7137400" y="3910034"/>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7" name="Rectangle 206"/>
          <p:cNvSpPr/>
          <p:nvPr/>
        </p:nvSpPr>
        <p:spPr>
          <a:xfrm>
            <a:off x="7215187" y="3907193"/>
            <a:ext cx="106363"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8" name="Rectangle 207"/>
          <p:cNvSpPr/>
          <p:nvPr/>
        </p:nvSpPr>
        <p:spPr>
          <a:xfrm>
            <a:off x="7292975" y="3904652"/>
            <a:ext cx="106363"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9" name="Rectangle 208"/>
          <p:cNvSpPr/>
          <p:nvPr/>
        </p:nvSpPr>
        <p:spPr>
          <a:xfrm>
            <a:off x="7370762" y="3902378"/>
            <a:ext cx="106363"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0" name="Rectangle 209"/>
          <p:cNvSpPr/>
          <p:nvPr/>
        </p:nvSpPr>
        <p:spPr>
          <a:xfrm>
            <a:off x="7448550" y="3900342"/>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1" name="Rectangle 210"/>
          <p:cNvSpPr/>
          <p:nvPr/>
        </p:nvSpPr>
        <p:spPr>
          <a:xfrm>
            <a:off x="7526338" y="3898521"/>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2" name="Rectangle 211"/>
          <p:cNvSpPr/>
          <p:nvPr/>
        </p:nvSpPr>
        <p:spPr>
          <a:xfrm>
            <a:off x="7604125" y="3896892"/>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3" name="Rectangle 212"/>
          <p:cNvSpPr/>
          <p:nvPr/>
        </p:nvSpPr>
        <p:spPr>
          <a:xfrm>
            <a:off x="7681912" y="3895433"/>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4" name="Rectangle 213"/>
          <p:cNvSpPr/>
          <p:nvPr/>
        </p:nvSpPr>
        <p:spPr>
          <a:xfrm>
            <a:off x="7759700" y="3894129"/>
            <a:ext cx="106363"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5" name="Rectangle 214"/>
          <p:cNvSpPr/>
          <p:nvPr/>
        </p:nvSpPr>
        <p:spPr>
          <a:xfrm>
            <a:off x="7837488" y="3892961"/>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6" name="Rectangle 215"/>
          <p:cNvSpPr/>
          <p:nvPr/>
        </p:nvSpPr>
        <p:spPr>
          <a:xfrm>
            <a:off x="7915275" y="3891916"/>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7" name="Rectangle 216"/>
          <p:cNvSpPr/>
          <p:nvPr/>
        </p:nvSpPr>
        <p:spPr>
          <a:xfrm>
            <a:off x="7993062" y="3890981"/>
            <a:ext cx="106363"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8" name="Rectangle 217"/>
          <p:cNvSpPr/>
          <p:nvPr/>
        </p:nvSpPr>
        <p:spPr>
          <a:xfrm>
            <a:off x="8070850" y="3890144"/>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9" name="Rectangle 218"/>
          <p:cNvSpPr/>
          <p:nvPr/>
        </p:nvSpPr>
        <p:spPr>
          <a:xfrm>
            <a:off x="8148638" y="3889396"/>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0" name="Rectangle 219"/>
          <p:cNvSpPr/>
          <p:nvPr/>
        </p:nvSpPr>
        <p:spPr>
          <a:xfrm>
            <a:off x="8226425" y="3888726"/>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21" name="Connector 220"/>
          <p:cNvCxnSpPr/>
          <p:nvPr/>
        </p:nvCxnSpPr>
        <p:spPr>
          <a:xfrm>
            <a:off x="8318500" y="3902414"/>
            <a:ext cx="77787" cy="614585"/>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8396287" y="4516999"/>
            <a:ext cx="77788" cy="520235"/>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8474075" y="5037234"/>
            <a:ext cx="77787" cy="440370"/>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8551862" y="5477604"/>
            <a:ext cx="77788" cy="372765"/>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8629650" y="5850369"/>
            <a:ext cx="77788" cy="315538"/>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8707438" y="6165907"/>
            <a:ext cx="77787" cy="267098"/>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8785225" y="6433005"/>
            <a:ext cx="77787" cy="226093"/>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8863012" y="6659098"/>
            <a:ext cx="77788" cy="191384"/>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8940800" y="6850482"/>
            <a:ext cx="77788" cy="162003"/>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9018588" y="7012485"/>
            <a:ext cx="77787" cy="137132"/>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9096375" y="7149617"/>
            <a:ext cx="77787" cy="116081"/>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9174162" y="7265698"/>
            <a:ext cx="77788" cy="98259"/>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9251950" y="7363957"/>
            <a:ext cx="77788" cy="83175"/>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9329738" y="7447132"/>
            <a:ext cx="77787" cy="70407"/>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9407525" y="7517539"/>
            <a:ext cx="77787" cy="59597"/>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9485312" y="7577136"/>
            <a:ext cx="77788" cy="50448"/>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9563100" y="7627584"/>
            <a:ext cx="77788" cy="42704"/>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9640888" y="7670288"/>
            <a:ext cx="77787" cy="36148"/>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9718675" y="7706436"/>
            <a:ext cx="77787" cy="30598"/>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9796462" y="7737034"/>
            <a:ext cx="77788" cy="25901"/>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9874250" y="7762935"/>
            <a:ext cx="77788" cy="21925"/>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9952038" y="7784860"/>
            <a:ext cx="77787" cy="18559"/>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10029825" y="7803419"/>
            <a:ext cx="77787" cy="15709"/>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10107612" y="7819128"/>
            <a:ext cx="77788" cy="13298"/>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10185400" y="7832426"/>
            <a:ext cx="77788" cy="11257"/>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10263188" y="7843683"/>
            <a:ext cx="77787" cy="9528"/>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10340975" y="7853211"/>
            <a:ext cx="77787" cy="8066"/>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10418762" y="7861277"/>
            <a:ext cx="77788" cy="6827"/>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10496550" y="7868104"/>
            <a:ext cx="77787" cy="5780"/>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a:off x="10574337" y="7873884"/>
            <a:ext cx="77788" cy="4892"/>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251" name="Rectangle 250"/>
          <p:cNvSpPr/>
          <p:nvPr/>
        </p:nvSpPr>
        <p:spPr>
          <a:xfrm>
            <a:off x="10637838" y="7864488"/>
            <a:ext cx="106363"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2" name="Rectangle 251"/>
          <p:cNvSpPr/>
          <p:nvPr/>
        </p:nvSpPr>
        <p:spPr>
          <a:xfrm>
            <a:off x="10715625" y="7868629"/>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3" name="Rectangle 252"/>
          <p:cNvSpPr/>
          <p:nvPr/>
        </p:nvSpPr>
        <p:spPr>
          <a:xfrm>
            <a:off x="10793412" y="7872135"/>
            <a:ext cx="106363"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4" name="Rectangle 253"/>
          <p:cNvSpPr/>
          <p:nvPr/>
        </p:nvSpPr>
        <p:spPr>
          <a:xfrm>
            <a:off x="10871200" y="7875102"/>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5" name="Rectangle 254"/>
          <p:cNvSpPr/>
          <p:nvPr/>
        </p:nvSpPr>
        <p:spPr>
          <a:xfrm>
            <a:off x="10948988" y="7877613"/>
            <a:ext cx="106363"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6" name="Rectangle 255"/>
          <p:cNvSpPr/>
          <p:nvPr/>
        </p:nvSpPr>
        <p:spPr>
          <a:xfrm>
            <a:off x="11026775" y="7879740"/>
            <a:ext cx="106363"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7" name="Rectangle 256"/>
          <p:cNvSpPr/>
          <p:nvPr/>
        </p:nvSpPr>
        <p:spPr>
          <a:xfrm>
            <a:off x="11104563" y="7881539"/>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8" name="Rectangle 257"/>
          <p:cNvSpPr/>
          <p:nvPr/>
        </p:nvSpPr>
        <p:spPr>
          <a:xfrm>
            <a:off x="11182350" y="7883063"/>
            <a:ext cx="106363"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9" name="Rectangle 258"/>
          <p:cNvSpPr/>
          <p:nvPr/>
        </p:nvSpPr>
        <p:spPr>
          <a:xfrm>
            <a:off x="11260138" y="7884352"/>
            <a:ext cx="106363"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0" name="Rectangle 259"/>
          <p:cNvSpPr/>
          <p:nvPr/>
        </p:nvSpPr>
        <p:spPr>
          <a:xfrm>
            <a:off x="11337925" y="7885444"/>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1" name="Rectangle 260"/>
          <p:cNvSpPr/>
          <p:nvPr/>
        </p:nvSpPr>
        <p:spPr>
          <a:xfrm>
            <a:off x="2085975" y="3927475"/>
            <a:ext cx="9353550" cy="19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2" name="TextBox 261"/>
          <p:cNvSpPr txBox="1"/>
          <p:nvPr/>
        </p:nvSpPr>
        <p:spPr>
          <a:xfrm>
            <a:off x="2190750" y="3594100"/>
            <a:ext cx="19050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about 5 m/s</a:t>
            </a:r>
          </a:p>
        </p:txBody>
      </p:sp>
      <p:sp>
        <p:nvSpPr>
          <p:cNvPr id="263" name="TextBox 262"/>
          <p:cNvSpPr txBox="1"/>
          <p:nvPr/>
        </p:nvSpPr>
        <p:spPr>
          <a:xfrm>
            <a:off x="1047750" y="3086100"/>
            <a:ext cx="9525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m/s</a:t>
            </a:r>
          </a:p>
        </p:txBody>
      </p:sp>
      <p:sp>
        <p:nvSpPr>
          <p:cNvPr id="264" name="Oval 263"/>
          <p:cNvSpPr/>
          <p:nvPr/>
        </p:nvSpPr>
        <p:spPr>
          <a:xfrm>
            <a:off x="4394200" y="485867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TextBox 264"/>
          <p:cNvSpPr txBox="1"/>
          <p:nvPr/>
        </p:nvSpPr>
        <p:spPr>
          <a:xfrm>
            <a:off x="4394200" y="485867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66" name="Oval 265"/>
          <p:cNvSpPr/>
          <p:nvPr/>
        </p:nvSpPr>
        <p:spPr>
          <a:xfrm>
            <a:off x="6883400" y="40894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TextBox 266"/>
          <p:cNvSpPr txBox="1"/>
          <p:nvPr/>
        </p:nvSpPr>
        <p:spPr>
          <a:xfrm>
            <a:off x="6883400" y="40894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68" name="Rectangle 267"/>
          <p:cNvSpPr/>
          <p:nvPr/>
        </p:nvSpPr>
        <p:spPr>
          <a:xfrm>
            <a:off x="2095500" y="8562975"/>
            <a:ext cx="381000" cy="762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9" name="TextBox 268"/>
          <p:cNvSpPr txBox="1"/>
          <p:nvPr/>
        </p:nvSpPr>
        <p:spPr>
          <a:xfrm>
            <a:off x="2609850" y="8420100"/>
            <a:ext cx="3429000" cy="323850"/>
          </a:xfrm>
          <a:prstGeom prst="rect">
            <a:avLst/>
          </a:prstGeom>
          <a:noFill/>
        </p:spPr>
        <p:txBody>
          <a:bodyPr wrap="square" lIns="0" rIns="0" tIns="0" bIns="0" anchor="t">
            <a:spAutoFit/>
          </a:bodyPr>
          <a:lstStyle/>
          <a:p>
            <a:pPr algn="l"/>
            <a:r>
              <a:rPr sz="1500" b="0" i="0">
                <a:solidFill>
                  <a:srgbClr val="F0E8E8"/>
                </a:solidFill>
                <a:latin typeface="Geist Mono"/>
                <a:ea typeface="Geist Mono"/>
                <a:cs typeface="Geist Mono"/>
              </a:rPr>
              <a:t>Drive/LinearSpeed</a:t>
            </a:r>
          </a:p>
        </p:txBody>
      </p:sp>
      <p:sp>
        <p:nvSpPr>
          <p:cNvPr id="270" name="Rectangle 269"/>
          <p:cNvSpPr/>
          <p:nvPr/>
        </p:nvSpPr>
        <p:spPr>
          <a:xfrm>
            <a:off x="6096000" y="8562975"/>
            <a:ext cx="3810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1" name="TextBox 270"/>
          <p:cNvSpPr txBox="1"/>
          <p:nvPr/>
        </p:nvSpPr>
        <p:spPr>
          <a:xfrm>
            <a:off x="6610350" y="8420100"/>
            <a:ext cx="3429000" cy="323850"/>
          </a:xfrm>
          <a:prstGeom prst="rect">
            <a:avLst/>
          </a:prstGeom>
          <a:noFill/>
        </p:spPr>
        <p:txBody>
          <a:bodyPr wrap="square" lIns="0" rIns="0" tIns="0" bIns="0" anchor="t">
            <a:spAutoFit/>
          </a:bodyPr>
          <a:lstStyle/>
          <a:p>
            <a:pPr algn="l"/>
            <a:r>
              <a:rPr sz="1500" b="0" i="0">
                <a:solidFill>
                  <a:srgbClr val="F0E8E8"/>
                </a:solidFill>
                <a:latin typeface="Geist Mono"/>
                <a:ea typeface="Geist Mono"/>
                <a:cs typeface="Geist Mono"/>
              </a:rPr>
              <a:t>Drive/LinearSpeedByHand</a:t>
            </a:r>
          </a:p>
        </p:txBody>
      </p:sp>
      <p:sp>
        <p:nvSpPr>
          <p:cNvPr id="272" name="Oval 271"/>
          <p:cNvSpPr/>
          <p:nvPr/>
        </p:nvSpPr>
        <p:spPr>
          <a:xfrm>
            <a:off x="122872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TextBox 272"/>
          <p:cNvSpPr txBox="1"/>
          <p:nvPr/>
        </p:nvSpPr>
        <p:spPr>
          <a:xfrm>
            <a:off x="122872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74" name="TextBox 273"/>
          <p:cNvSpPr txBox="1"/>
          <p:nvPr/>
        </p:nvSpPr>
        <p:spPr>
          <a:xfrm>
            <a:off x="12896850" y="281940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On top of each other</a:t>
            </a:r>
          </a:p>
        </p:txBody>
      </p:sp>
      <p:sp>
        <p:nvSpPr>
          <p:cNvPr id="275" name="TextBox 274"/>
          <p:cNvSpPr txBox="1"/>
          <p:nvPr/>
        </p:nvSpPr>
        <p:spPr>
          <a:xfrm>
            <a:off x="12896850" y="323850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WPILib's answer matches your DriveMath</a:t>
            </a:r>
          </a:p>
        </p:txBody>
      </p:sp>
      <p:sp>
        <p:nvSpPr>
          <p:cNvPr id="276" name="Oval 275"/>
          <p:cNvSpPr/>
          <p:nvPr/>
        </p:nvSpPr>
        <p:spPr>
          <a:xfrm>
            <a:off x="12287250" y="4572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TextBox 276"/>
          <p:cNvSpPr txBox="1"/>
          <p:nvPr/>
        </p:nvSpPr>
        <p:spPr>
          <a:xfrm>
            <a:off x="12287250" y="4572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78" name="TextBox 277"/>
          <p:cNvSpPr txBox="1"/>
          <p:nvPr/>
        </p:nvSpPr>
        <p:spPr>
          <a:xfrm>
            <a:off x="12896850" y="453390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Full stick: about 5 m/s</a:t>
            </a:r>
          </a:p>
        </p:txBody>
      </p:sp>
      <p:sp>
        <p:nvSpPr>
          <p:cNvPr id="279" name="TextBox 278"/>
          <p:cNvSpPr txBox="1"/>
          <p:nvPr/>
        </p:nvSpPr>
        <p:spPr>
          <a:xfrm>
            <a:off x="12896850" y="495300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That's the Chassis speeds checkpoint</a:t>
            </a:r>
          </a:p>
        </p:txBody>
      </p:sp>
      <p:sp>
        <p:nvSpPr>
          <p:cNvPr id="280" name="Oval 279"/>
          <p:cNvSpPr/>
          <p:nvPr/>
        </p:nvSpPr>
        <p:spPr>
          <a:xfrm>
            <a:off x="12287250" y="6286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TextBox 280"/>
          <p:cNvSpPr txBox="1"/>
          <p:nvPr/>
        </p:nvSpPr>
        <p:spPr>
          <a:xfrm>
            <a:off x="12287250" y="6286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82" name="TextBox 281"/>
          <p:cNvSpPr txBox="1"/>
          <p:nvPr/>
        </p:nvSpPr>
        <p:spPr>
          <a:xfrm>
            <a:off x="12896850" y="624840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Lines disagree?</a:t>
            </a:r>
          </a:p>
        </p:txBody>
      </p:sp>
      <p:sp>
        <p:nvSpPr>
          <p:cNvPr id="283" name="TextBox 282"/>
          <p:cNvSpPr txBox="1"/>
          <p:nvPr/>
        </p:nvSpPr>
        <p:spPr>
          <a:xfrm>
            <a:off x="12896850" y="666750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Check the two lines in getChassisSpeeds()</a:t>
            </a:r>
          </a:p>
        </p:txBody>
      </p:sp>
      <p:sp>
        <p:nvSpPr>
          <p:cNvPr id="284" name="TextBox 28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85" name="TextBox 28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KINEMATICS AND YAW</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Yaw: which way it faces, from the wheels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9525000" cy="6191250"/>
          </a:xfrm>
          <a:prstGeom prst="roundRect">
            <a:avLst>
              <a:gd name="adj" fmla="val 2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114925" y="8058169"/>
            <a:ext cx="57150" cy="161906"/>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 name="Connector 6"/>
          <p:cNvCxnSpPr/>
          <p:nvPr/>
        </p:nvCxnSpPr>
        <p:spPr>
          <a:xfrm flipH="1" flipV="1">
            <a:off x="5136518" y="7982105"/>
            <a:ext cx="5236" cy="104639"/>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5127797" y="7877699"/>
            <a:ext cx="8721" cy="104406"/>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5115601" y="7773641"/>
            <a:ext cx="12196" cy="104058"/>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5099945" y="7670047"/>
            <a:ext cx="15656" cy="103594"/>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flipV="1">
            <a:off x="5080844" y="7567033"/>
            <a:ext cx="19101" cy="103014"/>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5058321" y="7464712"/>
            <a:ext cx="22523" cy="102321"/>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flipV="1">
            <a:off x="5032401" y="7363199"/>
            <a:ext cx="25920" cy="101513"/>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flipV="1">
            <a:off x="5003111" y="7262606"/>
            <a:ext cx="29290" cy="100593"/>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flipV="1">
            <a:off x="4970486" y="7163045"/>
            <a:ext cx="32625" cy="99561"/>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flipV="1">
            <a:off x="4934560" y="7064627"/>
            <a:ext cx="35926" cy="98418"/>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flipV="1">
            <a:off x="4895375" y="6967461"/>
            <a:ext cx="39185" cy="97166"/>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flipV="1">
            <a:off x="4852973" y="6871654"/>
            <a:ext cx="42402" cy="95807"/>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flipV="1">
            <a:off x="4807402" y="6777314"/>
            <a:ext cx="45571" cy="94340"/>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4758711" y="6684546"/>
            <a:ext cx="48691" cy="92768"/>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4706957" y="6593451"/>
            <a:ext cx="51754" cy="91095"/>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4652195" y="6504132"/>
            <a:ext cx="54762" cy="89319"/>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4594486" y="6416688"/>
            <a:ext cx="57709" cy="87444"/>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4533896" y="6331215"/>
            <a:ext cx="60590" cy="85473"/>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4470490" y="6247809"/>
            <a:ext cx="63406" cy="83406"/>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4404340" y="6166563"/>
            <a:ext cx="66150" cy="81246"/>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4335519" y="6087566"/>
            <a:ext cx="68821" cy="78997"/>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4264104" y="6010907"/>
            <a:ext cx="71415" cy="76659"/>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4190173" y="5936670"/>
            <a:ext cx="73931" cy="74237"/>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4113810" y="5864939"/>
            <a:ext cx="76363" cy="71731"/>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4035098" y="5795793"/>
            <a:ext cx="78712" cy="69146"/>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3954126" y="5729308"/>
            <a:ext cx="80972" cy="66485"/>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3870982" y="5665558"/>
            <a:ext cx="83144" cy="63750"/>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3785761" y="5604615"/>
            <a:ext cx="85221" cy="60943"/>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3698555" y="5546546"/>
            <a:ext cx="87206" cy="58069"/>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7000875" y="7995316"/>
            <a:ext cx="57150" cy="224759"/>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7" name="Connector 36"/>
          <p:cNvCxnSpPr/>
          <p:nvPr/>
        </p:nvCxnSpPr>
        <p:spPr>
          <a:xfrm flipH="1" flipV="1">
            <a:off x="7018278" y="7856468"/>
            <a:ext cx="8378" cy="16742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7004325" y="7689418"/>
            <a:ext cx="13953" cy="16705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6984812" y="7522925"/>
            <a:ext cx="19513" cy="16649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6959762" y="7357175"/>
            <a:ext cx="25050" cy="16575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6929201" y="7192352"/>
            <a:ext cx="30561" cy="16482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6893164" y="7028639"/>
            <a:ext cx="36037" cy="16371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6851691" y="6866218"/>
            <a:ext cx="41473" cy="16242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6804828" y="6705270"/>
            <a:ext cx="46863" cy="16094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6752627" y="6545972"/>
            <a:ext cx="52201" cy="15929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6695147" y="6388503"/>
            <a:ext cx="57480" cy="15746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6632450" y="6233037"/>
            <a:ext cx="62697" cy="15546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6564607" y="6079747"/>
            <a:ext cx="67843" cy="15329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6491692" y="5928803"/>
            <a:ext cx="72915" cy="15094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6413788" y="5780373"/>
            <a:ext cx="77904" cy="14843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6330980" y="5634622"/>
            <a:ext cx="82808" cy="14575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6243361" y="5491711"/>
            <a:ext cx="87619" cy="14291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6151028" y="5351800"/>
            <a:ext cx="92333" cy="13991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6054083" y="5215044"/>
            <a:ext cx="96945" cy="13675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5952634" y="5081595"/>
            <a:ext cx="101449" cy="13344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5846794" y="4951600"/>
            <a:ext cx="105840" cy="12999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5736681" y="4825206"/>
            <a:ext cx="110113" cy="12639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5622416" y="4702551"/>
            <a:ext cx="114265" cy="12265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5504127" y="4583773"/>
            <a:ext cx="118289" cy="11877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5381946" y="4469003"/>
            <a:ext cx="122181" cy="11477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5256007" y="4358368"/>
            <a:ext cx="125939" cy="11063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5126451" y="4251992"/>
            <a:ext cx="129556" cy="10637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4993422" y="4149993"/>
            <a:ext cx="133029" cy="10199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4857067" y="4052484"/>
            <a:ext cx="136355" cy="9750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4717538" y="3959574"/>
            <a:ext cx="139529" cy="9291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66" name="Rectangle 65"/>
          <p:cNvSpPr/>
          <p:nvPr/>
        </p:nvSpPr>
        <p:spPr>
          <a:xfrm>
            <a:off x="1990725" y="8181975"/>
            <a:ext cx="5048250" cy="1905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Rounded Rectangle 66"/>
          <p:cNvSpPr/>
          <p:nvPr/>
        </p:nvSpPr>
        <p:spPr>
          <a:xfrm>
            <a:off x="5562600" y="7667625"/>
            <a:ext cx="1047750" cy="1047750"/>
          </a:xfrm>
          <a:prstGeom prst="roundRect">
            <a:avLst>
              <a:gd name="adj" fmla="val 9090"/>
            </a:avLst>
          </a:prstGeom>
          <a:noFill/>
          <a:ln w="19050">
            <a:solidFill>
              <a:srgbClr val="9A78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5514975" y="7315200"/>
            <a:ext cx="11430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start</a:t>
            </a:r>
          </a:p>
        </p:txBody>
      </p:sp>
      <p:pic>
        <p:nvPicPr>
          <p:cNvPr id="69" name="Picture 68" descr="dozer_top.png"/>
          <p:cNvPicPr>
            <a:picLocks noChangeAspect="1"/>
          </p:cNvPicPr>
          <p:nvPr/>
        </p:nvPicPr>
        <p:blipFill>
          <a:blip r:embed="rId3"/>
          <a:stretch>
            <a:fillRect/>
          </a:stretch>
        </p:blipFill>
        <p:spPr>
          <a:xfrm rot="12762253">
            <a:off x="3660359" y="4249624"/>
            <a:ext cx="1095375" cy="1006871"/>
          </a:xfrm>
          <a:prstGeom prst="rect">
            <a:avLst/>
          </a:prstGeom>
        </p:spPr>
      </p:pic>
      <p:sp>
        <p:nvSpPr>
          <p:cNvPr id="70" name="TextBox 69"/>
          <p:cNvSpPr txBox="1"/>
          <p:nvPr/>
        </p:nvSpPr>
        <p:spPr>
          <a:xfrm>
            <a:off x="2722134" y="6524625"/>
            <a:ext cx="1809750" cy="285750"/>
          </a:xfrm>
          <a:prstGeom prst="rect">
            <a:avLst/>
          </a:prstGeom>
          <a:noFill/>
        </p:spPr>
        <p:txBody>
          <a:bodyPr wrap="square" lIns="0" rIns="0" tIns="0" bIns="0" anchor="t">
            <a:spAutoFit/>
          </a:bodyPr>
          <a:lstStyle/>
          <a:p>
            <a:pPr algn="r"/>
            <a:r>
              <a:rPr sz="1650" b="0" i="0">
                <a:solidFill>
                  <a:srgbClr val="F0E8E8"/>
                </a:solidFill>
                <a:latin typeface="Geist Mono"/>
                <a:ea typeface="Geist Mono"/>
                <a:cs typeface="Geist Mono"/>
              </a:rPr>
              <a:t>left 1.0 m</a:t>
            </a:r>
          </a:p>
        </p:txBody>
      </p:sp>
      <p:sp>
        <p:nvSpPr>
          <p:cNvPr id="71" name="TextBox 70"/>
          <p:cNvSpPr txBox="1"/>
          <p:nvPr/>
        </p:nvSpPr>
        <p:spPr>
          <a:xfrm>
            <a:off x="6815643" y="6212279"/>
            <a:ext cx="1905000" cy="285750"/>
          </a:xfrm>
          <a:prstGeom prst="rect">
            <a:avLst/>
          </a:prstGeom>
          <a:noFill/>
        </p:spPr>
        <p:txBody>
          <a:bodyPr wrap="square" lIns="0" rIns="0" tIns="0" bIns="0" anchor="t">
            <a:spAutoFit/>
          </a:bodyPr>
          <a:lstStyle/>
          <a:p>
            <a:pPr algn="l"/>
            <a:r>
              <a:rPr sz="1650" b="1" i="0">
                <a:solidFill>
                  <a:srgbClr val="CC2200"/>
                </a:solidFill>
                <a:latin typeface="Geist Mono"/>
                <a:ea typeface="Geist Mono"/>
                <a:cs typeface="Geist Mono"/>
              </a:rPr>
              <a:t>right 1.6 m</a:t>
            </a:r>
          </a:p>
        </p:txBody>
      </p:sp>
      <p:cxnSp>
        <p:nvCxnSpPr>
          <p:cNvPr id="72" name="Connector 71"/>
          <p:cNvCxnSpPr/>
          <p:nvPr/>
        </p:nvCxnSpPr>
        <p:spPr>
          <a:xfrm flipH="1" flipV="1">
            <a:off x="2845495" y="3878176"/>
            <a:ext cx="881651" cy="566101"/>
          </a:xfrm>
          <a:prstGeom prst="line">
            <a:avLst/>
          </a:prstGeom>
          <a:ln w="47625">
            <a:solidFill>
              <a:srgbClr val="CC2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5715000" y="3143250"/>
            <a:ext cx="4476750" cy="323850"/>
          </a:xfrm>
          <a:prstGeom prst="rect">
            <a:avLst/>
          </a:prstGeom>
          <a:noFill/>
        </p:spPr>
        <p:txBody>
          <a:bodyPr wrap="square" lIns="0" rIns="0" tIns="0" bIns="0" anchor="t">
            <a:spAutoFit/>
          </a:bodyPr>
          <a:lstStyle/>
          <a:p>
            <a:pPr algn="r"/>
            <a:r>
              <a:rPr sz="1800" b="1" i="0">
                <a:solidFill>
                  <a:srgbClr val="F0E8E8"/>
                </a:solidFill>
                <a:latin typeface="Geist"/>
                <a:ea typeface="Geist"/>
                <a:cs typeface="Geist"/>
              </a:rPr>
              <a:t>Turned 1 radian ≈ 57° left</a:t>
            </a:r>
          </a:p>
        </p:txBody>
      </p:sp>
      <p:sp>
        <p:nvSpPr>
          <p:cNvPr id="74" name="Rounded Rectangle 73"/>
          <p:cNvSpPr/>
          <p:nvPr/>
        </p:nvSpPr>
        <p:spPr>
          <a:xfrm>
            <a:off x="10858500" y="2762250"/>
            <a:ext cx="6515100" cy="6191250"/>
          </a:xfrm>
          <a:prstGeom prst="roundRect">
            <a:avLst>
              <a:gd name="adj" fmla="val 2461"/>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Box 74"/>
          <p:cNvSpPr txBox="1"/>
          <p:nvPr/>
        </p:nvSpPr>
        <p:spPr>
          <a:xfrm>
            <a:off x="11239500" y="3105150"/>
            <a:ext cx="5715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THE MATH</a:t>
            </a:r>
          </a:p>
        </p:txBody>
      </p:sp>
      <p:sp>
        <p:nvSpPr>
          <p:cNvPr id="76" name="TextBox 75"/>
          <p:cNvSpPr txBox="1"/>
          <p:nvPr/>
        </p:nvSpPr>
        <p:spPr>
          <a:xfrm>
            <a:off x="11239500" y="3619500"/>
            <a:ext cx="5905500" cy="952500"/>
          </a:xfrm>
          <a:prstGeom prst="rect">
            <a:avLst/>
          </a:prstGeom>
          <a:noFill/>
        </p:spPr>
        <p:txBody>
          <a:bodyPr wrap="square" lIns="0" rIns="0" tIns="0" bIns="0" anchor="t">
            <a:spAutoFit/>
          </a:bodyPr>
          <a:lstStyle/>
          <a:p>
            <a:pPr algn="l">
              <a:lnSpc>
                <a:spcPct val="130000"/>
              </a:lnSpc>
            </a:pPr>
            <a:r>
              <a:rPr sz="2250" b="0" i="0">
                <a:solidFill>
                  <a:srgbClr val="F0E8E8"/>
                </a:solidFill>
                <a:latin typeface="Geist Mono"/>
                <a:ea typeface="Geist Mono"/>
                <a:cs typeface="Geist Mono"/>
              </a:rPr>
              <a:t>(right - left)</a:t>
            </a:r>
          </a:p>
          <a:p>
            <a:pPr algn="l">
              <a:lnSpc>
                <a:spcPct val="130000"/>
              </a:lnSpc>
            </a:pPr>
            <a:r>
              <a:rPr sz="2250" b="0" i="0">
                <a:solidFill>
                  <a:srgbClr val="F0E8E8"/>
                </a:solidFill>
                <a:latin typeface="Geist Mono"/>
                <a:ea typeface="Geist Mono"/>
                <a:cs typeface="Geist Mono"/>
              </a:rPr>
              <a:t>  / track width</a:t>
            </a:r>
          </a:p>
        </p:txBody>
      </p:sp>
      <p:sp>
        <p:nvSpPr>
          <p:cNvPr id="77" name="TextBox 76"/>
          <p:cNvSpPr txBox="1"/>
          <p:nvPr/>
        </p:nvSpPr>
        <p:spPr>
          <a:xfrm>
            <a:off x="11239500" y="4953000"/>
            <a:ext cx="5905500" cy="952500"/>
          </a:xfrm>
          <a:prstGeom prst="rect">
            <a:avLst/>
          </a:prstGeom>
          <a:noFill/>
        </p:spPr>
        <p:txBody>
          <a:bodyPr wrap="square" lIns="0" rIns="0" tIns="0" bIns="0" anchor="t">
            <a:spAutoFit/>
          </a:bodyPr>
          <a:lstStyle/>
          <a:p>
            <a:pPr algn="l">
              <a:lnSpc>
                <a:spcPct val="130000"/>
              </a:lnSpc>
            </a:pPr>
            <a:r>
              <a:rPr sz="2250" b="0" i="0">
                <a:solidFill>
                  <a:srgbClr val="E8C27A"/>
                </a:solidFill>
                <a:latin typeface="Geist Mono"/>
                <a:ea typeface="Geist Mono"/>
                <a:cs typeface="Geist Mono"/>
              </a:rPr>
              <a:t>(1.6 - 1.0) / 0.6</a:t>
            </a:r>
          </a:p>
          <a:p>
            <a:pPr algn="l">
              <a:lnSpc>
                <a:spcPct val="130000"/>
              </a:lnSpc>
            </a:pPr>
            <a:r>
              <a:rPr sz="2250" b="1" i="0">
                <a:solidFill>
                  <a:srgbClr val="CC2200"/>
                </a:solidFill>
                <a:latin typeface="Geist Mono"/>
                <a:ea typeface="Geist Mono"/>
                <a:cs typeface="Geist Mono"/>
              </a:rPr>
              <a:t>= 1.0 radian</a:t>
            </a:r>
          </a:p>
        </p:txBody>
      </p:sp>
      <p:sp>
        <p:nvSpPr>
          <p:cNvPr id="78" name="TextBox 77"/>
          <p:cNvSpPr txBox="1"/>
          <p:nvPr/>
        </p:nvSpPr>
        <p:spPr>
          <a:xfrm>
            <a:off x="11239500" y="6477000"/>
            <a:ext cx="5905500" cy="643890"/>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0" i="0">
                <a:solidFill>
                  <a:srgbClr val="F0E8E8"/>
                </a:solidFill>
                <a:latin typeface="Geist"/>
                <a:ea typeface="Geist"/>
                <a:cs typeface="Geist"/>
              </a:rPr>
              <a:t>Right farther than left: turned left, yaw goes up</a:t>
            </a:r>
          </a:p>
        </p:txBody>
      </p:sp>
      <p:sp>
        <p:nvSpPr>
          <p:cNvPr id="79" name="TextBox 78"/>
          <p:cNvSpPr txBox="1"/>
          <p:nvPr/>
        </p:nvSpPr>
        <p:spPr>
          <a:xfrm>
            <a:off x="11239500" y="7311390"/>
            <a:ext cx="59055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0" i="0">
                <a:solidFill>
                  <a:srgbClr val="F0E8E8"/>
                </a:solidFill>
                <a:latin typeface="Geist"/>
                <a:ea typeface="Geist"/>
                <a:cs typeface="Geist"/>
              </a:rPr>
              <a:t>Comes out in radians</a:t>
            </a:r>
          </a:p>
        </p:txBody>
      </p:sp>
      <p:sp>
        <p:nvSpPr>
          <p:cNvPr id="80" name="TextBox 7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81" name="TextBox 8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KINEMATICS AND YAW</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Writing getYaw()</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076325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mechanisms/DifferentialDriveMech.java</a:t>
            </a:r>
          </a:p>
        </p:txBody>
      </p:sp>
      <p:sp>
        <p:nvSpPr>
          <p:cNvPr id="6" name="Rounded Rectangle 5"/>
          <p:cNvSpPr/>
          <p:nvPr/>
        </p:nvSpPr>
        <p:spPr>
          <a:xfrm>
            <a:off x="914400" y="3143250"/>
            <a:ext cx="10763250" cy="2752725"/>
          </a:xfrm>
          <a:prstGeom prst="roundRect">
            <a:avLst>
              <a:gd name="adj" fmla="val 5536"/>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320540"/>
            <a:ext cx="10725150" cy="39814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320540"/>
            <a:ext cx="57150" cy="39814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4718685"/>
            <a:ext cx="10725150" cy="39814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4718685"/>
            <a:ext cx="57150" cy="39814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95400" y="3524250"/>
            <a:ext cx="10229850" cy="398145"/>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public</a:t>
            </a:r>
            <a:r>
              <a:rPr sz="1650" b="0" i="0">
                <a:solidFill>
                  <a:srgbClr val="F0E8E8"/>
                </a:solidFill>
                <a:latin typeface="Geist Mono"/>
                <a:ea typeface="Geist Mono"/>
                <a:cs typeface="Geist Mono"/>
              </a:rPr>
              <a:t> Rotation2d getYaw() {</a:t>
            </a:r>
          </a:p>
        </p:txBody>
      </p:sp>
      <p:sp>
        <p:nvSpPr>
          <p:cNvPr id="12" name="TextBox 11"/>
          <p:cNvSpPr txBox="1"/>
          <p:nvPr/>
        </p:nvSpPr>
        <p:spPr>
          <a:xfrm>
            <a:off x="1295400" y="3922395"/>
            <a:ext cx="10229850" cy="39814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double</a:t>
            </a:r>
            <a:r>
              <a:rPr sz="1650" b="0" i="0">
                <a:solidFill>
                  <a:srgbClr val="F0E8E8"/>
                </a:solidFill>
                <a:latin typeface="Geist Mono"/>
                <a:ea typeface="Geist Mono"/>
                <a:cs typeface="Geist Mono"/>
              </a:rPr>
              <a:t> radians =</a:t>
            </a:r>
          </a:p>
        </p:txBody>
      </p:sp>
      <p:sp>
        <p:nvSpPr>
          <p:cNvPr id="13" name="TextBox 12"/>
          <p:cNvSpPr txBox="1"/>
          <p:nvPr/>
        </p:nvSpPr>
        <p:spPr>
          <a:xfrm>
            <a:off x="1295400" y="4320540"/>
            <a:ext cx="10229850" cy="39814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(getRightMeters() - getLeftMeters()) / Constants.TRACK_WIDTH_METERS;</a:t>
            </a:r>
          </a:p>
        </p:txBody>
      </p:sp>
      <p:sp>
        <p:nvSpPr>
          <p:cNvPr id="14" name="TextBox 13"/>
          <p:cNvSpPr txBox="1"/>
          <p:nvPr/>
        </p:nvSpPr>
        <p:spPr>
          <a:xfrm>
            <a:off x="1295400" y="4718685"/>
            <a:ext cx="10229850" cy="39814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return</a:t>
            </a:r>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new</a:t>
            </a:r>
            <a:r>
              <a:rPr sz="1650" b="0" i="0">
                <a:solidFill>
                  <a:srgbClr val="F0E8E8"/>
                </a:solidFill>
                <a:latin typeface="Geist Mono"/>
                <a:ea typeface="Geist Mono"/>
                <a:cs typeface="Geist Mono"/>
              </a:rPr>
              <a:t> Rotation2d(radians);</a:t>
            </a:r>
          </a:p>
        </p:txBody>
      </p:sp>
      <p:sp>
        <p:nvSpPr>
          <p:cNvPr id="15" name="TextBox 14"/>
          <p:cNvSpPr txBox="1"/>
          <p:nvPr/>
        </p:nvSpPr>
        <p:spPr>
          <a:xfrm>
            <a:off x="1295400" y="5116830"/>
            <a:ext cx="10229850" cy="39814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a:t>
            </a:r>
          </a:p>
        </p:txBody>
      </p:sp>
      <p:sp>
        <p:nvSpPr>
          <p:cNvPr id="16" name="Oval 15"/>
          <p:cNvSpPr/>
          <p:nvPr/>
        </p:nvSpPr>
        <p:spPr>
          <a:xfrm>
            <a:off x="11068050" y="4329112"/>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068050" y="4329112"/>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8" name="Oval 17"/>
          <p:cNvSpPr/>
          <p:nvPr/>
        </p:nvSpPr>
        <p:spPr>
          <a:xfrm>
            <a:off x="11068050" y="4727258"/>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068050" y="4727258"/>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0" name="Oval 19"/>
          <p:cNvSpPr/>
          <p:nvPr/>
        </p:nvSpPr>
        <p:spPr>
          <a:xfrm>
            <a:off x="12287250" y="3143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287250" y="3143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2" name="TextBox 21"/>
          <p:cNvSpPr txBox="1"/>
          <p:nvPr/>
        </p:nvSpPr>
        <p:spPr>
          <a:xfrm>
            <a:off x="12896850" y="310515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Right minus left</a:t>
            </a:r>
          </a:p>
        </p:txBody>
      </p:sp>
      <p:sp>
        <p:nvSpPr>
          <p:cNvPr id="23" name="TextBox 22"/>
          <p:cNvSpPr txBox="1"/>
          <p:nvPr/>
        </p:nvSpPr>
        <p:spPr>
          <a:xfrm>
            <a:off x="12896850" y="352425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Over the track width. Radians</a:t>
            </a:r>
          </a:p>
        </p:txBody>
      </p:sp>
      <p:sp>
        <p:nvSpPr>
          <p:cNvPr id="24" name="Oval 23"/>
          <p:cNvSpPr/>
          <p:nvPr/>
        </p:nvSpPr>
        <p:spPr>
          <a:xfrm>
            <a:off x="12287250" y="4762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287250" y="4762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6" name="TextBox 25"/>
          <p:cNvSpPr txBox="1"/>
          <p:nvPr/>
        </p:nvSpPr>
        <p:spPr>
          <a:xfrm>
            <a:off x="12896850" y="472440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Wrap it</a:t>
            </a:r>
          </a:p>
        </p:txBody>
      </p:sp>
      <p:sp>
        <p:nvSpPr>
          <p:cNvPr id="27" name="TextBox 26"/>
          <p:cNvSpPr txBox="1"/>
          <p:nvPr/>
        </p:nvSpPr>
        <p:spPr>
          <a:xfrm>
            <a:off x="12896850" y="514350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 new Rotation2d, built from the radians</a:t>
            </a:r>
          </a:p>
        </p:txBody>
      </p:sp>
      <p:sp>
        <p:nvSpPr>
          <p:cNvPr id="28" name="Rounded Rectangle 27"/>
          <p:cNvSpPr/>
          <p:nvPr/>
        </p:nvSpPr>
        <p:spPr>
          <a:xfrm>
            <a:off x="914400" y="6096000"/>
            <a:ext cx="5219700" cy="2762250"/>
          </a:xfrm>
          <a:prstGeom prst="roundRect">
            <a:avLst>
              <a:gd name="adj" fmla="val 5517"/>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dozer_top.png"/>
          <p:cNvPicPr>
            <a:picLocks noChangeAspect="1"/>
          </p:cNvPicPr>
          <p:nvPr/>
        </p:nvPicPr>
        <p:blipFill>
          <a:blip r:embed="rId3"/>
          <a:stretch>
            <a:fillRect/>
          </a:stretch>
        </p:blipFill>
        <p:spPr>
          <a:xfrm rot="16200000">
            <a:off x="1771650" y="6951801"/>
            <a:ext cx="1143000" cy="1050648"/>
          </a:xfrm>
          <a:prstGeom prst="rect">
            <a:avLst/>
          </a:prstGeom>
        </p:spPr>
      </p:pic>
      <p:cxnSp>
        <p:nvCxnSpPr>
          <p:cNvPr id="30" name="Connector 29"/>
          <p:cNvCxnSpPr/>
          <p:nvPr/>
        </p:nvCxnSpPr>
        <p:spPr>
          <a:xfrm flipH="1" flipV="1">
            <a:off x="3209284" y="6977062"/>
            <a:ext cx="73676" cy="15800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3109290" y="6834257"/>
            <a:ext cx="99994" cy="14280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986018" y="6710985"/>
            <a:ext cx="123272" cy="12327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843212" y="6610991"/>
            <a:ext cx="142806" cy="9999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85213" y="6537315"/>
            <a:ext cx="157999" cy="7367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516820" y="6492194"/>
            <a:ext cx="168393" cy="4512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343150" y="6477000"/>
            <a:ext cx="173670" cy="1519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2169480" y="6477000"/>
            <a:ext cx="173670" cy="1519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2001087" y="6492194"/>
            <a:ext cx="168393" cy="4512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1843088" y="6537315"/>
            <a:ext cx="157999" cy="7367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1700282" y="6610991"/>
            <a:ext cx="142806" cy="9999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1577010" y="6710985"/>
            <a:ext cx="123272" cy="12327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1403340" y="6834257"/>
            <a:ext cx="173670" cy="300805"/>
          </a:xfrm>
          <a:prstGeom prst="line">
            <a:avLst/>
          </a:prstGeom>
          <a:ln w="47625">
            <a:solidFill>
              <a:srgbClr val="CC2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3676650" y="6667500"/>
            <a:ext cx="2286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Spin left</a:t>
            </a:r>
          </a:p>
        </p:txBody>
      </p:sp>
      <p:sp>
        <p:nvSpPr>
          <p:cNvPr id="44" name="TextBox 43"/>
          <p:cNvSpPr txBox="1"/>
          <p:nvPr/>
        </p:nvSpPr>
        <p:spPr>
          <a:xfrm>
            <a:off x="3676650" y="7239000"/>
            <a:ext cx="2286000" cy="476250"/>
          </a:xfrm>
          <a:prstGeom prst="rect">
            <a:avLst/>
          </a:prstGeom>
          <a:noFill/>
        </p:spPr>
        <p:txBody>
          <a:bodyPr wrap="square" lIns="0" rIns="0" tIns="0" bIns="0" anchor="t">
            <a:spAutoFit/>
          </a:bodyPr>
          <a:lstStyle/>
          <a:p>
            <a:pPr algn="l"/>
            <a:r>
              <a:rPr sz="2550" b="1" i="0">
                <a:solidFill>
                  <a:srgbClr val="CC2200"/>
                </a:solidFill>
                <a:latin typeface="Geist Mono"/>
                <a:ea typeface="Geist Mono"/>
                <a:cs typeface="Geist Mono"/>
              </a:rPr>
              <a:t>+ yaw</a:t>
            </a:r>
          </a:p>
        </p:txBody>
      </p:sp>
      <p:sp>
        <p:nvSpPr>
          <p:cNvPr id="45" name="TextBox 44"/>
          <p:cNvSpPr txBox="1"/>
          <p:nvPr/>
        </p:nvSpPr>
        <p:spPr>
          <a:xfrm>
            <a:off x="3676650" y="7905750"/>
            <a:ext cx="2286000" cy="762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counterclockwise</a:t>
            </a:r>
          </a:p>
        </p:txBody>
      </p:sp>
      <p:sp>
        <p:nvSpPr>
          <p:cNvPr id="46" name="Rounded Rectangle 45"/>
          <p:cNvSpPr/>
          <p:nvPr/>
        </p:nvSpPr>
        <p:spPr>
          <a:xfrm>
            <a:off x="6438900" y="6096000"/>
            <a:ext cx="5219700" cy="2762250"/>
          </a:xfrm>
          <a:prstGeom prst="roundRect">
            <a:avLst>
              <a:gd name="adj" fmla="val 551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7" name="Picture 46" descr="dozer_top.png"/>
          <p:cNvPicPr>
            <a:picLocks noChangeAspect="1"/>
          </p:cNvPicPr>
          <p:nvPr/>
        </p:nvPicPr>
        <p:blipFill>
          <a:blip r:embed="rId3"/>
          <a:stretch>
            <a:fillRect/>
          </a:stretch>
        </p:blipFill>
        <p:spPr>
          <a:xfrm rot="16200000">
            <a:off x="7296150" y="6951801"/>
            <a:ext cx="1143000" cy="1050648"/>
          </a:xfrm>
          <a:prstGeom prst="rect">
            <a:avLst/>
          </a:prstGeom>
        </p:spPr>
      </p:pic>
      <p:cxnSp>
        <p:nvCxnSpPr>
          <p:cNvPr id="48" name="Connector 47"/>
          <p:cNvCxnSpPr/>
          <p:nvPr/>
        </p:nvCxnSpPr>
        <p:spPr>
          <a:xfrm flipV="1">
            <a:off x="6927840" y="6977062"/>
            <a:ext cx="73676" cy="158000"/>
          </a:xfrm>
          <a:prstGeom prst="line">
            <a:avLst/>
          </a:prstGeom>
          <a:ln w="4762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7001516" y="6834257"/>
            <a:ext cx="99994" cy="142805"/>
          </a:xfrm>
          <a:prstGeom prst="line">
            <a:avLst/>
          </a:prstGeom>
          <a:ln w="4762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7101510" y="6710985"/>
            <a:ext cx="123272" cy="123272"/>
          </a:xfrm>
          <a:prstGeom prst="line">
            <a:avLst/>
          </a:prstGeom>
          <a:ln w="4762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7224782" y="6610991"/>
            <a:ext cx="142806" cy="99994"/>
          </a:xfrm>
          <a:prstGeom prst="line">
            <a:avLst/>
          </a:prstGeom>
          <a:ln w="4762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7367588" y="6537315"/>
            <a:ext cx="157999" cy="73676"/>
          </a:xfrm>
          <a:prstGeom prst="line">
            <a:avLst/>
          </a:prstGeom>
          <a:ln w="4762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7525587" y="6492194"/>
            <a:ext cx="168393" cy="45121"/>
          </a:xfrm>
          <a:prstGeom prst="line">
            <a:avLst/>
          </a:prstGeom>
          <a:ln w="4762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7693980" y="6477000"/>
            <a:ext cx="173670" cy="15194"/>
          </a:xfrm>
          <a:prstGeom prst="line">
            <a:avLst/>
          </a:prstGeom>
          <a:ln w="4762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7867650" y="6477000"/>
            <a:ext cx="173670" cy="15194"/>
          </a:xfrm>
          <a:prstGeom prst="line">
            <a:avLst/>
          </a:prstGeom>
          <a:ln w="4762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8041320" y="6492194"/>
            <a:ext cx="168393" cy="45121"/>
          </a:xfrm>
          <a:prstGeom prst="line">
            <a:avLst/>
          </a:prstGeom>
          <a:ln w="4762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8209713" y="6537315"/>
            <a:ext cx="157999" cy="73676"/>
          </a:xfrm>
          <a:prstGeom prst="line">
            <a:avLst/>
          </a:prstGeom>
          <a:ln w="4762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8367712" y="6610991"/>
            <a:ext cx="142806" cy="99994"/>
          </a:xfrm>
          <a:prstGeom prst="line">
            <a:avLst/>
          </a:prstGeom>
          <a:ln w="4762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8510518" y="6710985"/>
            <a:ext cx="123272" cy="123272"/>
          </a:xfrm>
          <a:prstGeom prst="line">
            <a:avLst/>
          </a:prstGeom>
          <a:ln w="4762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8633790" y="6834257"/>
            <a:ext cx="173670" cy="300805"/>
          </a:xfrm>
          <a:prstGeom prst="line">
            <a:avLst/>
          </a:prstGeom>
          <a:ln w="47625">
            <a:solidFill>
              <a:srgbClr val="E055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9201150" y="6667500"/>
            <a:ext cx="2286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Spin right</a:t>
            </a:r>
          </a:p>
        </p:txBody>
      </p:sp>
      <p:sp>
        <p:nvSpPr>
          <p:cNvPr id="62" name="TextBox 61"/>
          <p:cNvSpPr txBox="1"/>
          <p:nvPr/>
        </p:nvSpPr>
        <p:spPr>
          <a:xfrm>
            <a:off x="9201150" y="7239000"/>
            <a:ext cx="2286000" cy="476250"/>
          </a:xfrm>
          <a:prstGeom prst="rect">
            <a:avLst/>
          </a:prstGeom>
          <a:noFill/>
        </p:spPr>
        <p:txBody>
          <a:bodyPr wrap="square" lIns="0" rIns="0" tIns="0" bIns="0" anchor="t">
            <a:spAutoFit/>
          </a:bodyPr>
          <a:lstStyle/>
          <a:p>
            <a:pPr algn="l"/>
            <a:r>
              <a:rPr sz="2550" b="1" i="0">
                <a:solidFill>
                  <a:srgbClr val="E05540"/>
                </a:solidFill>
                <a:latin typeface="Geist Mono"/>
                <a:ea typeface="Geist Mono"/>
                <a:cs typeface="Geist Mono"/>
              </a:rPr>
              <a:t>- yaw</a:t>
            </a:r>
          </a:p>
        </p:txBody>
      </p:sp>
      <p:sp>
        <p:nvSpPr>
          <p:cNvPr id="63" name="TextBox 62"/>
          <p:cNvSpPr txBox="1"/>
          <p:nvPr/>
        </p:nvSpPr>
        <p:spPr>
          <a:xfrm>
            <a:off x="9201150" y="7905750"/>
            <a:ext cx="2286000" cy="762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clockwise</a:t>
            </a:r>
          </a:p>
        </p:txBody>
      </p:sp>
      <p:sp>
        <p:nvSpPr>
          <p:cNvPr id="64" name="Rounded Rectangle 63"/>
          <p:cNvSpPr/>
          <p:nvPr/>
        </p:nvSpPr>
        <p:spPr>
          <a:xfrm>
            <a:off x="12115800" y="6096000"/>
            <a:ext cx="5257800" cy="2762250"/>
          </a:xfrm>
          <a:prstGeom prst="roundRect">
            <a:avLst>
              <a:gd name="adj" fmla="val 551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12496800" y="6438900"/>
            <a:ext cx="4572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CHECKPOINT</a:t>
            </a:r>
          </a:p>
        </p:txBody>
      </p:sp>
      <p:sp>
        <p:nvSpPr>
          <p:cNvPr id="66" name="TextBox 65"/>
          <p:cNvSpPr txBox="1"/>
          <p:nvPr/>
        </p:nvSpPr>
        <p:spPr>
          <a:xfrm>
            <a:off x="12496800" y="6858000"/>
            <a:ext cx="4572000" cy="1809750"/>
          </a:xfrm>
          <a:prstGeom prst="rect">
            <a:avLst/>
          </a:prstGeom>
          <a:noFill/>
        </p:spPr>
        <p:txBody>
          <a:bodyPr wrap="square" lIns="0" rIns="0" tIns="0" bIns="0" anchor="t">
            <a:spAutoFit/>
          </a:bodyPr>
          <a:lstStyle/>
          <a:p>
            <a:pPr algn="l">
              <a:lnSpc>
                <a:spcPct val="130000"/>
              </a:lnSpc>
            </a:pPr>
            <a:r>
              <a:rPr sz="1950" b="0" i="0">
                <a:solidFill>
                  <a:srgbClr val="F0E8E8"/>
                </a:solidFill>
                <a:latin typeface="Geist"/>
                <a:ea typeface="Geist"/>
                <a:cs typeface="Geist"/>
              </a:rPr>
              <a:t>Spin left: </a:t>
            </a:r>
            <a:r>
              <a:rPr sz="1950" b="0" i="0">
                <a:solidFill>
                  <a:srgbClr val="F0E8E8"/>
                </a:solidFill>
                <a:latin typeface="Geist Mono"/>
                <a:ea typeface="Geist Mono"/>
                <a:cs typeface="Geist Mono"/>
              </a:rPr>
              <a:t>Drive/PoseYawDeg</a:t>
            </a:r>
            <a:r>
              <a:rPr sz="1950" b="0" i="0">
                <a:solidFill>
                  <a:srgbClr val="F0E8E8"/>
                </a:solidFill>
                <a:latin typeface="Geist"/>
                <a:ea typeface="Geist"/>
                <a:cs typeface="Geist"/>
              </a:rPr>
              <a:t> goes clearly positive.</a:t>
            </a:r>
          </a:p>
        </p:txBody>
      </p:sp>
      <p:sp>
        <p:nvSpPr>
          <p:cNvPr id="67" name="TextBox 6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8" name="TextBox 6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KINEMATICS AND YAW</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Real robots use a gyro</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6038850" cy="4000500"/>
          </a:xfrm>
          <a:prstGeom prst="roundRect">
            <a:avLst>
              <a:gd name="adj" fmla="val 38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calculator.png"/>
          <p:cNvPicPr>
            <a:picLocks noChangeAspect="1"/>
          </p:cNvPicPr>
          <p:nvPr/>
        </p:nvPicPr>
        <p:blipFill>
          <a:blip r:embed="rId3"/>
          <a:stretch>
            <a:fillRect/>
          </a:stretch>
        </p:blipFill>
        <p:spPr>
          <a:xfrm>
            <a:off x="1295400" y="3238500"/>
            <a:ext cx="514350" cy="685800"/>
          </a:xfrm>
          <a:prstGeom prst="rect">
            <a:avLst/>
          </a:prstGeom>
        </p:spPr>
      </p:pic>
      <p:sp>
        <p:nvSpPr>
          <p:cNvPr id="7" name="TextBox 6"/>
          <p:cNvSpPr txBox="1"/>
          <p:nvPr/>
        </p:nvSpPr>
        <p:spPr>
          <a:xfrm>
            <a:off x="1295400" y="4191000"/>
            <a:ext cx="5276850" cy="5715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From the wheels</a:t>
            </a:r>
          </a:p>
        </p:txBody>
      </p:sp>
      <p:sp>
        <p:nvSpPr>
          <p:cNvPr id="8" name="TextBox 7"/>
          <p:cNvSpPr txBox="1"/>
          <p:nvPr/>
        </p:nvSpPr>
        <p:spPr>
          <a:xfrm>
            <a:off x="1295400" y="4802505"/>
            <a:ext cx="5276850" cy="2095500"/>
          </a:xfrm>
          <a:prstGeom prst="rect">
            <a:avLst/>
          </a:prstGeom>
          <a:noFill/>
        </p:spPr>
        <p:txBody>
          <a:bodyPr wrap="square" lIns="0" rIns="0" tIns="0" bIns="0" anchor="t">
            <a:spAutoFit/>
          </a:bodyPr>
          <a:lstStyle/>
          <a:p>
            <a:pPr algn="l">
              <a:lnSpc>
                <a:spcPct val="130000"/>
              </a:lnSpc>
            </a:pPr>
            <a:r>
              <a:rPr sz="2100" b="0" i="0">
                <a:solidFill>
                  <a:srgbClr val="9A7878"/>
                </a:solidFill>
                <a:latin typeface="Geist"/>
                <a:ea typeface="Geist"/>
                <a:cs typeface="Geist"/>
              </a:rPr>
              <a:t>What this lesson does. Free, but wheels slide when the robot turns, and every slip becomes a heading error.</a:t>
            </a:r>
          </a:p>
        </p:txBody>
      </p:sp>
      <p:sp>
        <p:nvSpPr>
          <p:cNvPr id="9" name="Rounded Rectangle 8"/>
          <p:cNvSpPr/>
          <p:nvPr/>
        </p:nvSpPr>
        <p:spPr>
          <a:xfrm>
            <a:off x="7258050" y="2857500"/>
            <a:ext cx="6038850" cy="4000500"/>
          </a:xfrm>
          <a:prstGeom prst="roundRect">
            <a:avLst>
              <a:gd name="adj" fmla="val 3809"/>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ompass.png"/>
          <p:cNvPicPr>
            <a:picLocks noChangeAspect="1"/>
          </p:cNvPicPr>
          <p:nvPr/>
        </p:nvPicPr>
        <p:blipFill>
          <a:blip r:embed="rId4"/>
          <a:stretch>
            <a:fillRect/>
          </a:stretch>
        </p:blipFill>
        <p:spPr>
          <a:xfrm>
            <a:off x="7639050" y="3238500"/>
            <a:ext cx="648295" cy="685800"/>
          </a:xfrm>
          <a:prstGeom prst="rect">
            <a:avLst/>
          </a:prstGeom>
        </p:spPr>
      </p:pic>
      <p:sp>
        <p:nvSpPr>
          <p:cNvPr id="11" name="TextBox 10"/>
          <p:cNvSpPr txBox="1"/>
          <p:nvPr/>
        </p:nvSpPr>
        <p:spPr>
          <a:xfrm>
            <a:off x="7639050" y="4191000"/>
            <a:ext cx="5276850" cy="5715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From a gyro</a:t>
            </a:r>
          </a:p>
        </p:txBody>
      </p:sp>
      <p:sp>
        <p:nvSpPr>
          <p:cNvPr id="12" name="TextBox 11"/>
          <p:cNvSpPr txBox="1"/>
          <p:nvPr/>
        </p:nvSpPr>
        <p:spPr>
          <a:xfrm>
            <a:off x="7639050" y="4802505"/>
            <a:ext cx="5276850" cy="2095500"/>
          </a:xfrm>
          <a:prstGeom prst="rect">
            <a:avLst/>
          </a:prstGeom>
          <a:noFill/>
        </p:spPr>
        <p:txBody>
          <a:bodyPr wrap="square" lIns="0" rIns="0" tIns="0" bIns="0" anchor="t">
            <a:spAutoFit/>
          </a:bodyPr>
          <a:lstStyle/>
          <a:p>
            <a:pPr algn="l">
              <a:lnSpc>
                <a:spcPct val="130000"/>
              </a:lnSpc>
            </a:pPr>
            <a:r>
              <a:rPr sz="2100" b="0" i="0">
                <a:solidFill>
                  <a:srgbClr val="9A7878"/>
                </a:solidFill>
                <a:latin typeface="Geist"/>
                <a:ea typeface="Geist"/>
                <a:cs typeface="Geist"/>
              </a:rPr>
              <a:t>Measures rotation directly. Our swerve robots use a CTRE Pigeon 2 on the CAN bus.</a:t>
            </a:r>
          </a:p>
        </p:txBody>
      </p:sp>
      <p:pic>
        <p:nvPicPr>
          <p:cNvPr id="13" name="Picture 12" descr="dozer_look_up_left.png"/>
          <p:cNvPicPr>
            <a:picLocks noChangeAspect="1"/>
          </p:cNvPicPr>
          <p:nvPr/>
        </p:nvPicPr>
        <p:blipFill>
          <a:blip r:embed="rId5"/>
          <a:stretch>
            <a:fillRect/>
          </a:stretch>
        </p:blipFill>
        <p:spPr>
          <a:xfrm>
            <a:off x="13906500" y="4476750"/>
            <a:ext cx="3143250" cy="1931978"/>
          </a:xfrm>
          <a:prstGeom prst="rect">
            <a:avLst/>
          </a:prstGeom>
        </p:spPr>
      </p:pic>
      <p:sp>
        <p:nvSpPr>
          <p:cNvPr id="14" name="Rounded Rectangle 13"/>
          <p:cNvSpPr/>
          <p:nvPr/>
        </p:nvSpPr>
        <p:spPr>
          <a:xfrm>
            <a:off x="914400" y="752475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compass.png"/>
          <p:cNvPicPr>
            <a:picLocks noChangeAspect="1"/>
          </p:cNvPicPr>
          <p:nvPr/>
        </p:nvPicPr>
        <p:blipFill>
          <a:blip r:embed="rId4"/>
          <a:stretch>
            <a:fillRect/>
          </a:stretch>
        </p:blipFill>
        <p:spPr>
          <a:xfrm>
            <a:off x="1333500" y="7781925"/>
            <a:ext cx="504230" cy="533400"/>
          </a:xfrm>
          <a:prstGeom prst="rect">
            <a:avLst/>
          </a:prstGeom>
        </p:spPr>
      </p:pic>
      <p:sp>
        <p:nvSpPr>
          <p:cNvPr id="16" name="TextBox 15"/>
          <p:cNvSpPr txBox="1"/>
          <p:nvPr/>
        </p:nvSpPr>
        <p:spPr>
          <a:xfrm>
            <a:off x="2190750" y="752475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Heading matters most.  </a:t>
            </a:r>
            <a:r>
              <a:rPr sz="2100" b="0" i="0">
                <a:solidFill>
                  <a:srgbClr val="F0E8E8"/>
                </a:solidFill>
                <a:latin typeface="Geist"/>
                <a:ea typeface="Geist"/>
                <a:cs typeface="Geist"/>
              </a:rPr>
              <a:t>A heading off by 5° puts you about 0.9 m sideways after 10 m of driving.</a:t>
            </a:r>
          </a:p>
        </p:txBody>
      </p:sp>
      <p:sp>
        <p:nvSpPr>
          <p:cNvPr id="17" name="TextBox 1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8" name="TextBox 1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05</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Odometry</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Adding up every little move to find the pose</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32</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I count every wheel turn. 50 times a second!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ODOMETRY</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Dead reckoning: start, then add up the moves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9525000" cy="6191250"/>
          </a:xfrm>
          <a:prstGeom prst="roundRect">
            <a:avLst>
              <a:gd name="adj" fmla="val 2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466975" y="2905125"/>
            <a:ext cx="19050" cy="47244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086475" y="2905125"/>
            <a:ext cx="19050" cy="47244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705975" y="2905125"/>
            <a:ext cx="19050" cy="47244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2466975" y="7610475"/>
            <a:ext cx="76200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2466975" y="3990975"/>
            <a:ext cx="76200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934450" y="7753350"/>
            <a:ext cx="1143000" cy="285750"/>
          </a:xfrm>
          <a:prstGeom prst="rect">
            <a:avLst/>
          </a:prstGeom>
          <a:noFill/>
        </p:spPr>
        <p:txBody>
          <a:bodyPr wrap="square" lIns="0" rIns="0" tIns="0" bIns="0" anchor="t">
            <a:spAutoFit/>
          </a:bodyPr>
          <a:lstStyle/>
          <a:p>
            <a:pPr algn="r"/>
            <a:r>
              <a:rPr sz="1500" b="0" i="0">
                <a:solidFill>
                  <a:srgbClr val="9A7878"/>
                </a:solidFill>
                <a:latin typeface="Geist"/>
                <a:ea typeface="Geist"/>
                <a:cs typeface="Geist"/>
              </a:rPr>
              <a:t>x →</a:t>
            </a:r>
          </a:p>
        </p:txBody>
      </p:sp>
      <p:sp>
        <p:nvSpPr>
          <p:cNvPr id="12" name="TextBox 11"/>
          <p:cNvSpPr txBox="1"/>
          <p:nvPr/>
        </p:nvSpPr>
        <p:spPr>
          <a:xfrm>
            <a:off x="1809750" y="2857500"/>
            <a:ext cx="5715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y ↑</a:t>
            </a:r>
          </a:p>
        </p:txBody>
      </p:sp>
      <p:sp>
        <p:nvSpPr>
          <p:cNvPr id="13" name="Rectangle 12"/>
          <p:cNvSpPr/>
          <p:nvPr/>
        </p:nvSpPr>
        <p:spPr>
          <a:xfrm>
            <a:off x="3114675" y="7591425"/>
            <a:ext cx="2294382"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sosceles Triangle 13"/>
          <p:cNvSpPr/>
          <p:nvPr/>
        </p:nvSpPr>
        <p:spPr>
          <a:xfrm rot="5400000">
            <a:off x="5364480" y="7539990"/>
            <a:ext cx="160020" cy="16002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67425" y="4782693"/>
            <a:ext cx="57150" cy="2199132"/>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Isosceles Triangle 15"/>
          <p:cNvSpPr/>
          <p:nvPr/>
        </p:nvSpPr>
        <p:spPr>
          <a:xfrm>
            <a:off x="6015990" y="4667250"/>
            <a:ext cx="160020" cy="16002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flipH="1" flipV="1">
            <a:off x="6585202" y="7542518"/>
            <a:ext cx="6098" cy="77482"/>
          </a:xfrm>
          <a:prstGeom prst="line">
            <a:avLst/>
          </a:prstGeom>
          <a:ln w="38100"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flipV="1">
            <a:off x="6567058" y="7466944"/>
            <a:ext cx="18144" cy="75574"/>
          </a:xfrm>
          <a:prstGeom prst="line">
            <a:avLst/>
          </a:prstGeom>
          <a:ln w="38100"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flipV="1">
            <a:off x="6537316" y="7395139"/>
            <a:ext cx="29742" cy="71805"/>
          </a:xfrm>
          <a:prstGeom prst="line">
            <a:avLst/>
          </a:prstGeom>
          <a:ln w="38100"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6496706" y="7328870"/>
            <a:ext cx="40610" cy="66269"/>
          </a:xfrm>
          <a:prstGeom prst="line">
            <a:avLst/>
          </a:prstGeom>
          <a:ln w="38100"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6446230" y="7269770"/>
            <a:ext cx="50476" cy="59100"/>
          </a:xfrm>
          <a:prstGeom prst="line">
            <a:avLst/>
          </a:prstGeom>
          <a:ln w="38100"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6387130" y="7219294"/>
            <a:ext cx="59100" cy="50476"/>
          </a:xfrm>
          <a:prstGeom prst="line">
            <a:avLst/>
          </a:prstGeom>
          <a:ln w="38100"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6320861" y="7178684"/>
            <a:ext cx="66269" cy="40610"/>
          </a:xfrm>
          <a:prstGeom prst="line">
            <a:avLst/>
          </a:prstGeom>
          <a:ln w="38100"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6249056" y="7148942"/>
            <a:ext cx="71805" cy="29742"/>
          </a:xfrm>
          <a:prstGeom prst="line">
            <a:avLst/>
          </a:prstGeom>
          <a:ln w="38100"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6096000" y="7124700"/>
            <a:ext cx="153056" cy="24242"/>
          </a:xfrm>
          <a:prstGeom prst="line">
            <a:avLst/>
          </a:prstGeom>
          <a:ln w="38100">
            <a:solidFill>
              <a:srgbClr val="E05540"/>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26" name="Picture 25" descr="dozer_top.png"/>
          <p:cNvPicPr>
            <a:picLocks noChangeAspect="1"/>
          </p:cNvPicPr>
          <p:nvPr/>
        </p:nvPicPr>
        <p:blipFill>
          <a:blip r:embed="rId3"/>
          <a:stretch>
            <a:fillRect/>
          </a:stretch>
        </p:blipFill>
        <p:spPr>
          <a:xfrm>
            <a:off x="1952625" y="7138453"/>
            <a:ext cx="1047750" cy="963094"/>
          </a:xfrm>
          <a:prstGeom prst="rect">
            <a:avLst/>
          </a:prstGeom>
        </p:spPr>
      </p:pic>
      <p:pic>
        <p:nvPicPr>
          <p:cNvPr id="27" name="Picture 26" descr="dozer_top.png"/>
          <p:cNvPicPr>
            <a:picLocks noChangeAspect="1"/>
          </p:cNvPicPr>
          <p:nvPr/>
        </p:nvPicPr>
        <p:blipFill>
          <a:blip r:embed="rId3"/>
          <a:stretch>
            <a:fillRect/>
          </a:stretch>
        </p:blipFill>
        <p:spPr>
          <a:xfrm rot="16200000">
            <a:off x="5572125" y="3518953"/>
            <a:ext cx="1047750" cy="963094"/>
          </a:xfrm>
          <a:prstGeom prst="rect">
            <a:avLst/>
          </a:prstGeom>
        </p:spPr>
      </p:pic>
      <p:sp>
        <p:nvSpPr>
          <p:cNvPr id="28" name="Rounded Rectangle 27"/>
          <p:cNvSpPr/>
          <p:nvPr/>
        </p:nvSpPr>
        <p:spPr>
          <a:xfrm>
            <a:off x="5715000" y="7239000"/>
            <a:ext cx="762000" cy="762000"/>
          </a:xfrm>
          <a:prstGeom prst="roundRect">
            <a:avLst>
              <a:gd name="adj" fmla="val 10000"/>
            </a:avLst>
          </a:prstGeom>
          <a:noFill/>
          <a:ln w="19050">
            <a:solidFill>
              <a:srgbClr val="9A78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905000" y="8286750"/>
            <a:ext cx="2095500" cy="323850"/>
          </a:xfrm>
          <a:prstGeom prst="rect">
            <a:avLst/>
          </a:prstGeom>
          <a:noFill/>
        </p:spPr>
        <p:txBody>
          <a:bodyPr wrap="square" lIns="0" rIns="0" tIns="0" bIns="0" anchor="t">
            <a:spAutoFit/>
          </a:bodyPr>
          <a:lstStyle/>
          <a:p>
            <a:pPr algn="l"/>
            <a:r>
              <a:rPr sz="1650" b="1" i="0">
                <a:solidFill>
                  <a:srgbClr val="F0E8E8"/>
                </a:solidFill>
                <a:latin typeface="Geist Mono"/>
                <a:ea typeface="Geist Mono"/>
                <a:cs typeface="Geist Mono"/>
              </a:rPr>
              <a:t>(0, 0)  0°</a:t>
            </a:r>
          </a:p>
        </p:txBody>
      </p:sp>
      <p:sp>
        <p:nvSpPr>
          <p:cNvPr id="30" name="TextBox 29"/>
          <p:cNvSpPr txBox="1"/>
          <p:nvPr/>
        </p:nvSpPr>
        <p:spPr>
          <a:xfrm>
            <a:off x="5524500" y="8286750"/>
            <a:ext cx="2095500" cy="323850"/>
          </a:xfrm>
          <a:prstGeom prst="rect">
            <a:avLst/>
          </a:prstGeom>
          <a:noFill/>
        </p:spPr>
        <p:txBody>
          <a:bodyPr wrap="square" lIns="0" rIns="0" tIns="0" bIns="0" anchor="t">
            <a:spAutoFit/>
          </a:bodyPr>
          <a:lstStyle/>
          <a:p>
            <a:pPr algn="l"/>
            <a:r>
              <a:rPr sz="1650" b="1" i="0">
                <a:solidFill>
                  <a:srgbClr val="F0E8E8"/>
                </a:solidFill>
                <a:latin typeface="Geist Mono"/>
                <a:ea typeface="Geist Mono"/>
                <a:cs typeface="Geist Mono"/>
              </a:rPr>
              <a:t>(1, 0)  0°</a:t>
            </a:r>
          </a:p>
        </p:txBody>
      </p:sp>
      <p:sp>
        <p:nvSpPr>
          <p:cNvPr id="31" name="TextBox 30"/>
          <p:cNvSpPr txBox="1"/>
          <p:nvPr/>
        </p:nvSpPr>
        <p:spPr>
          <a:xfrm>
            <a:off x="6762750" y="3848100"/>
            <a:ext cx="2095500" cy="323850"/>
          </a:xfrm>
          <a:prstGeom prst="rect">
            <a:avLst/>
          </a:prstGeom>
          <a:noFill/>
        </p:spPr>
        <p:txBody>
          <a:bodyPr wrap="square" lIns="0" rIns="0" tIns="0" bIns="0" anchor="t">
            <a:spAutoFit/>
          </a:bodyPr>
          <a:lstStyle/>
          <a:p>
            <a:pPr algn="l"/>
            <a:r>
              <a:rPr sz="1650" b="1" i="0">
                <a:solidFill>
                  <a:srgbClr val="F0E8E8"/>
                </a:solidFill>
                <a:latin typeface="Geist Mono"/>
                <a:ea typeface="Geist Mono"/>
                <a:cs typeface="Geist Mono"/>
              </a:rPr>
              <a:t>(1, 1)  90°</a:t>
            </a:r>
          </a:p>
        </p:txBody>
      </p:sp>
      <p:sp>
        <p:nvSpPr>
          <p:cNvPr id="32" name="TextBox 31"/>
          <p:cNvSpPr txBox="1"/>
          <p:nvPr/>
        </p:nvSpPr>
        <p:spPr>
          <a:xfrm>
            <a:off x="3333750" y="7143750"/>
            <a:ext cx="19050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1 m</a:t>
            </a:r>
          </a:p>
        </p:txBody>
      </p:sp>
      <p:sp>
        <p:nvSpPr>
          <p:cNvPr id="33" name="TextBox 32"/>
          <p:cNvSpPr txBox="1"/>
          <p:nvPr/>
        </p:nvSpPr>
        <p:spPr>
          <a:xfrm>
            <a:off x="6286500" y="5667375"/>
            <a:ext cx="9525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1 m</a:t>
            </a:r>
          </a:p>
        </p:txBody>
      </p:sp>
      <p:sp>
        <p:nvSpPr>
          <p:cNvPr id="34" name="TextBox 33"/>
          <p:cNvSpPr txBox="1"/>
          <p:nvPr/>
        </p:nvSpPr>
        <p:spPr>
          <a:xfrm>
            <a:off x="6572250" y="6667500"/>
            <a:ext cx="1905000" cy="285750"/>
          </a:xfrm>
          <a:prstGeom prst="rect">
            <a:avLst/>
          </a:prstGeom>
          <a:noFill/>
        </p:spPr>
        <p:txBody>
          <a:bodyPr wrap="square" lIns="0" rIns="0" tIns="0" bIns="0" anchor="t">
            <a:spAutoFit/>
          </a:bodyPr>
          <a:lstStyle/>
          <a:p>
            <a:pPr algn="l"/>
            <a:r>
              <a:rPr sz="1500" b="0" i="0">
                <a:solidFill>
                  <a:srgbClr val="E05540"/>
                </a:solidFill>
                <a:latin typeface="Geist"/>
                <a:ea typeface="Geist"/>
                <a:cs typeface="Geist"/>
              </a:rPr>
              <a:t>turn left</a:t>
            </a:r>
          </a:p>
        </p:txBody>
      </p:sp>
      <p:sp>
        <p:nvSpPr>
          <p:cNvPr id="35" name="Oval 34"/>
          <p:cNvSpPr/>
          <p:nvPr/>
        </p:nvSpPr>
        <p:spPr>
          <a:xfrm>
            <a:off x="109537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9537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7" name="TextBox 36"/>
          <p:cNvSpPr txBox="1"/>
          <p:nvPr/>
        </p:nvSpPr>
        <p:spPr>
          <a:xfrm>
            <a:off x="11563350" y="2819400"/>
            <a:ext cx="581025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Start</a:t>
            </a:r>
          </a:p>
        </p:txBody>
      </p:sp>
      <p:sp>
        <p:nvSpPr>
          <p:cNvPr id="38" name="TextBox 37"/>
          <p:cNvSpPr txBox="1"/>
          <p:nvPr/>
        </p:nvSpPr>
        <p:spPr>
          <a:xfrm>
            <a:off x="11563350" y="3238500"/>
            <a:ext cx="5810250" cy="3810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(0, 0), facing 0°</a:t>
            </a:r>
          </a:p>
        </p:txBody>
      </p:sp>
      <p:sp>
        <p:nvSpPr>
          <p:cNvPr id="39" name="Oval 38"/>
          <p:cNvSpPr/>
          <p:nvPr/>
        </p:nvSpPr>
        <p:spPr>
          <a:xfrm>
            <a:off x="10953750" y="4286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95375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41" name="TextBox 40"/>
          <p:cNvSpPr txBox="1"/>
          <p:nvPr/>
        </p:nvSpPr>
        <p:spPr>
          <a:xfrm>
            <a:off x="11563350" y="4248150"/>
            <a:ext cx="581025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Drive 1 m</a:t>
            </a:r>
          </a:p>
        </p:txBody>
      </p:sp>
      <p:sp>
        <p:nvSpPr>
          <p:cNvPr id="42" name="TextBox 41"/>
          <p:cNvSpPr txBox="1"/>
          <p:nvPr/>
        </p:nvSpPr>
        <p:spPr>
          <a:xfrm>
            <a:off x="11563350" y="4667250"/>
            <a:ext cx="5810250" cy="3810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(1, 0), facing 0°</a:t>
            </a:r>
          </a:p>
        </p:txBody>
      </p:sp>
      <p:sp>
        <p:nvSpPr>
          <p:cNvPr id="43" name="Oval 42"/>
          <p:cNvSpPr/>
          <p:nvPr/>
        </p:nvSpPr>
        <p:spPr>
          <a:xfrm>
            <a:off x="10953750" y="5715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95375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5" name="TextBox 44"/>
          <p:cNvSpPr txBox="1"/>
          <p:nvPr/>
        </p:nvSpPr>
        <p:spPr>
          <a:xfrm>
            <a:off x="11563350" y="5676900"/>
            <a:ext cx="581025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Turn left, drive 1 m</a:t>
            </a:r>
          </a:p>
        </p:txBody>
      </p:sp>
      <p:sp>
        <p:nvSpPr>
          <p:cNvPr id="46" name="TextBox 45"/>
          <p:cNvSpPr txBox="1"/>
          <p:nvPr/>
        </p:nvSpPr>
        <p:spPr>
          <a:xfrm>
            <a:off x="11563350" y="6096000"/>
            <a:ext cx="5810250" cy="3810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(1, 1), facing 90°</a:t>
            </a:r>
          </a:p>
        </p:txBody>
      </p:sp>
      <p:sp>
        <p:nvSpPr>
          <p:cNvPr id="47" name="Rounded Rectangle 46"/>
          <p:cNvSpPr/>
          <p:nvPr/>
        </p:nvSpPr>
        <p:spPr>
          <a:xfrm>
            <a:off x="10953750" y="7239000"/>
            <a:ext cx="6419850" cy="1714500"/>
          </a:xfrm>
          <a:prstGeom prst="roundRect">
            <a:avLst>
              <a:gd name="adj" fmla="val 8888"/>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11334750" y="7239000"/>
            <a:ext cx="5715000" cy="1714500"/>
          </a:xfrm>
          <a:prstGeom prst="rect">
            <a:avLst/>
          </a:prstGeom>
          <a:noFill/>
        </p:spPr>
        <p:txBody>
          <a:bodyPr wrap="square" lIns="0" rIns="0" tIns="0" bIns="0" anchor="ctr">
            <a:spAutoFit/>
          </a:bodyPr>
          <a:lstStyle/>
          <a:p>
            <a:pPr algn="l">
              <a:lnSpc>
                <a:spcPct val="130000"/>
              </a:lnSpc>
            </a:pPr>
            <a:r>
              <a:rPr sz="2100" b="0" i="0">
                <a:solidFill>
                  <a:srgbClr val="F0E8E8"/>
                </a:solidFill>
                <a:latin typeface="Geist"/>
                <a:ea typeface="Geist"/>
                <a:cs typeface="Geist"/>
              </a:rPr>
              <a:t>Like counting your steps with your eyes closed.</a:t>
            </a:r>
          </a:p>
        </p:txBody>
      </p:sp>
      <p:sp>
        <p:nvSpPr>
          <p:cNvPr id="49" name="TextBox 4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0" name="TextBox 4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ODOMETRY</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Fifty tiny steps a second</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4914900" cy="1619250"/>
          </a:xfrm>
          <a:prstGeom prst="roundRect">
            <a:avLst>
              <a:gd name="adj" fmla="val 941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190875"/>
            <a:ext cx="47244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Read</a:t>
            </a:r>
          </a:p>
        </p:txBody>
      </p:sp>
      <p:sp>
        <p:nvSpPr>
          <p:cNvPr id="7" name="TextBox 6"/>
          <p:cNvSpPr txBox="1"/>
          <p:nvPr/>
        </p:nvSpPr>
        <p:spPr>
          <a:xfrm>
            <a:off x="1066800" y="3781425"/>
            <a:ext cx="46101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left and right meters, and the yaw</a:t>
            </a:r>
          </a:p>
        </p:txBody>
      </p:sp>
      <p:sp>
        <p:nvSpPr>
          <p:cNvPr id="8" name="Rectangle 7"/>
          <p:cNvSpPr/>
          <p:nvPr/>
        </p:nvSpPr>
        <p:spPr>
          <a:xfrm>
            <a:off x="5891212" y="3652838"/>
            <a:ext cx="5962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Isosceles Triangle 8"/>
          <p:cNvSpPr/>
          <p:nvPr/>
        </p:nvSpPr>
        <p:spPr>
          <a:xfrm rot="5400000">
            <a:off x="6457950" y="359092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686550" y="2857500"/>
            <a:ext cx="4914900" cy="1619250"/>
          </a:xfrm>
          <a:prstGeom prst="roundRect">
            <a:avLst>
              <a:gd name="adj" fmla="val 941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781800" y="3190875"/>
            <a:ext cx="47244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Work out</a:t>
            </a:r>
          </a:p>
        </p:txBody>
      </p:sp>
      <p:sp>
        <p:nvSpPr>
          <p:cNvPr id="12" name="TextBox 11"/>
          <p:cNvSpPr txBox="1"/>
          <p:nvPr/>
        </p:nvSpPr>
        <p:spPr>
          <a:xfrm>
            <a:off x="6838950" y="3781425"/>
            <a:ext cx="46101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the tiny move since last loop</a:t>
            </a:r>
          </a:p>
        </p:txBody>
      </p:sp>
      <p:sp>
        <p:nvSpPr>
          <p:cNvPr id="13" name="Rectangle 12"/>
          <p:cNvSpPr/>
          <p:nvPr/>
        </p:nvSpPr>
        <p:spPr>
          <a:xfrm>
            <a:off x="11663362" y="3652838"/>
            <a:ext cx="5962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sosceles Triangle 13"/>
          <p:cNvSpPr/>
          <p:nvPr/>
        </p:nvSpPr>
        <p:spPr>
          <a:xfrm rot="5400000">
            <a:off x="12230100" y="359092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2458700" y="2857500"/>
            <a:ext cx="4914900" cy="1619250"/>
          </a:xfrm>
          <a:prstGeom prst="roundRect">
            <a:avLst>
              <a:gd name="adj" fmla="val 9411"/>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2553950" y="3190875"/>
            <a:ext cx="47244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Add</a:t>
            </a:r>
          </a:p>
        </p:txBody>
      </p:sp>
      <p:sp>
        <p:nvSpPr>
          <p:cNvPr id="17" name="TextBox 16"/>
          <p:cNvSpPr txBox="1"/>
          <p:nvPr/>
        </p:nvSpPr>
        <p:spPr>
          <a:xfrm>
            <a:off x="12611100" y="3781425"/>
            <a:ext cx="46101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it to the pose</a:t>
            </a:r>
          </a:p>
        </p:txBody>
      </p:sp>
      <p:sp>
        <p:nvSpPr>
          <p:cNvPr id="18" name="Rounded Rectangle 17"/>
          <p:cNvSpPr/>
          <p:nvPr/>
        </p:nvSpPr>
        <p:spPr>
          <a:xfrm>
            <a:off x="914400" y="4857750"/>
            <a:ext cx="16459200" cy="4000500"/>
          </a:xfrm>
          <a:prstGeom prst="roundRect">
            <a:avLst>
              <a:gd name="adj" fmla="val 38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9" name="Connector 18"/>
          <p:cNvCxnSpPr/>
          <p:nvPr/>
        </p:nvCxnSpPr>
        <p:spPr>
          <a:xfrm flipV="1">
            <a:off x="2095500" y="7951323"/>
            <a:ext cx="562841" cy="49677"/>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2658341" y="7851648"/>
            <a:ext cx="562841" cy="99675"/>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3221182" y="7719204"/>
            <a:ext cx="562841" cy="132444"/>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3784023" y="7563125"/>
            <a:ext cx="562841" cy="156079"/>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4346864" y="7390909"/>
            <a:ext cx="562841" cy="172216"/>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4909705" y="7209466"/>
            <a:ext cx="562840" cy="181443"/>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5472545" y="7025423"/>
            <a:ext cx="562841" cy="184043"/>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6035386" y="6845182"/>
            <a:ext cx="562841" cy="180241"/>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6598227" y="6674904"/>
            <a:ext cx="562841" cy="170278"/>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7161068" y="6520438"/>
            <a:ext cx="562841" cy="154466"/>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7723909" y="6387235"/>
            <a:ext cx="562841" cy="133203"/>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8286750" y="6280256"/>
            <a:ext cx="562841" cy="106979"/>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8849591" y="6203879"/>
            <a:ext cx="562841" cy="76377"/>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9412432" y="6161813"/>
            <a:ext cx="562841" cy="42066"/>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9975273" y="6157022"/>
            <a:ext cx="562841" cy="4791"/>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0538114" y="6157022"/>
            <a:ext cx="562841" cy="34632"/>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100955" y="6191654"/>
            <a:ext cx="562840" cy="75341"/>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1663795" y="6266995"/>
            <a:ext cx="562841" cy="116435"/>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2226636" y="6383430"/>
            <a:ext cx="562841" cy="156994"/>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2789477" y="6540424"/>
            <a:ext cx="562841" cy="196097"/>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3352318" y="6736521"/>
            <a:ext cx="562841" cy="232842"/>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3915159" y="6969363"/>
            <a:ext cx="562841" cy="266356"/>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41" name="Oval 40"/>
          <p:cNvSpPr/>
          <p:nvPr/>
        </p:nvSpPr>
        <p:spPr>
          <a:xfrm>
            <a:off x="2028825" y="7934325"/>
            <a:ext cx="133350" cy="1333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2591666" y="7884648"/>
            <a:ext cx="133350" cy="13335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3154507" y="7784973"/>
            <a:ext cx="133350" cy="13335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3717348" y="7652529"/>
            <a:ext cx="133350" cy="13335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4280189" y="7496450"/>
            <a:ext cx="133350" cy="13335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4843030" y="7324234"/>
            <a:ext cx="133350" cy="13335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5405870" y="7142791"/>
            <a:ext cx="133350" cy="13335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5968711" y="6958748"/>
            <a:ext cx="133350" cy="13335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6531552" y="6778507"/>
            <a:ext cx="133350" cy="13335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7094393" y="6608229"/>
            <a:ext cx="133350" cy="13335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7657234" y="6453763"/>
            <a:ext cx="133350" cy="13335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8220075" y="6320560"/>
            <a:ext cx="133350" cy="13335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8782916" y="6213581"/>
            <a:ext cx="133350" cy="13335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9345757" y="6137204"/>
            <a:ext cx="133350" cy="13335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9908598" y="6095138"/>
            <a:ext cx="133350" cy="13335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10471439" y="6090347"/>
            <a:ext cx="133350" cy="13335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11034280" y="6124979"/>
            <a:ext cx="133350" cy="13335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11597120" y="6200320"/>
            <a:ext cx="133350" cy="13335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12159961" y="6316755"/>
            <a:ext cx="133350" cy="13335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12722802" y="6473749"/>
            <a:ext cx="133350" cy="13335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13285643" y="6669846"/>
            <a:ext cx="133350" cy="13335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13848484" y="6902688"/>
            <a:ext cx="133350" cy="13335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dozer_top.png"/>
          <p:cNvPicPr>
            <a:picLocks noChangeAspect="1"/>
          </p:cNvPicPr>
          <p:nvPr/>
        </p:nvPicPr>
        <p:blipFill>
          <a:blip r:embed="rId3"/>
          <a:stretch>
            <a:fillRect/>
          </a:stretch>
        </p:blipFill>
        <p:spPr>
          <a:xfrm rot="1519512">
            <a:off x="14335125" y="6716072"/>
            <a:ext cx="1047750" cy="963094"/>
          </a:xfrm>
          <a:prstGeom prst="rect">
            <a:avLst/>
          </a:prstGeom>
        </p:spPr>
      </p:pic>
      <p:sp>
        <p:nvSpPr>
          <p:cNvPr id="64" name="TextBox 63"/>
          <p:cNvSpPr txBox="1"/>
          <p:nvPr/>
        </p:nvSpPr>
        <p:spPr>
          <a:xfrm>
            <a:off x="1524000" y="8191500"/>
            <a:ext cx="19050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start</a:t>
            </a:r>
          </a:p>
        </p:txBody>
      </p:sp>
      <p:sp>
        <p:nvSpPr>
          <p:cNvPr id="65" name="TextBox 64"/>
          <p:cNvSpPr txBox="1"/>
          <p:nvPr/>
        </p:nvSpPr>
        <p:spPr>
          <a:xfrm>
            <a:off x="4338205" y="7581409"/>
            <a:ext cx="1143000" cy="285750"/>
          </a:xfrm>
          <a:prstGeom prst="rect">
            <a:avLst/>
          </a:prstGeom>
          <a:noFill/>
        </p:spPr>
        <p:txBody>
          <a:bodyPr wrap="square" lIns="0" rIns="0" tIns="0" bIns="0" anchor="t">
            <a:spAutoFit/>
          </a:bodyPr>
          <a:lstStyle/>
          <a:p>
            <a:pPr algn="ctr"/>
            <a:r>
              <a:rPr sz="1350" b="0" i="0">
                <a:solidFill>
                  <a:srgbClr val="9A7878"/>
                </a:solidFill>
                <a:latin typeface="Geist Mono"/>
                <a:ea typeface="Geist Mono"/>
                <a:cs typeface="Geist Mono"/>
              </a:rPr>
              <a:t>100 ms</a:t>
            </a:r>
          </a:p>
        </p:txBody>
      </p:sp>
      <p:sp>
        <p:nvSpPr>
          <p:cNvPr id="66" name="TextBox 65"/>
          <p:cNvSpPr txBox="1"/>
          <p:nvPr/>
        </p:nvSpPr>
        <p:spPr>
          <a:xfrm>
            <a:off x="14287500" y="5334000"/>
            <a:ext cx="2857500" cy="666750"/>
          </a:xfrm>
          <a:prstGeom prst="rect">
            <a:avLst/>
          </a:prstGeom>
          <a:noFill/>
        </p:spPr>
        <p:txBody>
          <a:bodyPr wrap="square" lIns="0" rIns="0" tIns="0" bIns="0" anchor="t">
            <a:spAutoFit/>
          </a:bodyPr>
          <a:lstStyle/>
          <a:p>
            <a:pPr algn="r"/>
            <a:r>
              <a:rPr sz="1650" b="0" i="0">
                <a:solidFill>
                  <a:srgbClr val="9A7878"/>
                </a:solidFill>
                <a:latin typeface="Geist"/>
                <a:ea typeface="Geist"/>
                <a:cs typeface="Geist"/>
              </a:rPr>
              <a:t>each dot: one loop</a:t>
            </a:r>
          </a:p>
        </p:txBody>
      </p:sp>
      <p:sp>
        <p:nvSpPr>
          <p:cNvPr id="67" name="TextBox 6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8" name="TextBox 6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ODOMETRY</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Writing updatePose()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095375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mechanisms/DifferentialDriveMech.java</a:t>
            </a:r>
          </a:p>
        </p:txBody>
      </p:sp>
      <p:sp>
        <p:nvSpPr>
          <p:cNvPr id="6" name="Rounded Rectangle 5"/>
          <p:cNvSpPr/>
          <p:nvPr/>
        </p:nvSpPr>
        <p:spPr>
          <a:xfrm>
            <a:off x="914400" y="3143250"/>
            <a:ext cx="10953750" cy="4345305"/>
          </a:xfrm>
          <a:prstGeom prst="roundRect">
            <a:avLst>
              <a:gd name="adj" fmla="val 350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5913120"/>
            <a:ext cx="10915650" cy="39814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5913120"/>
            <a:ext cx="57150" cy="39814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6311265"/>
            <a:ext cx="10915650" cy="39814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6311265"/>
            <a:ext cx="57150" cy="39814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95400" y="3524250"/>
            <a:ext cx="10420350" cy="398145"/>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private</a:t>
            </a:r>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final</a:t>
            </a:r>
            <a:r>
              <a:rPr sz="1650" b="0" i="0">
                <a:solidFill>
                  <a:srgbClr val="F0E8E8"/>
                </a:solidFill>
                <a:latin typeface="Geist Mono"/>
                <a:ea typeface="Geist Mono"/>
                <a:cs typeface="Geist Mono"/>
              </a:rPr>
              <a:t> DifferentialDrivePoseEstimator pose_estimator_ =</a:t>
            </a:r>
          </a:p>
        </p:txBody>
      </p:sp>
      <p:sp>
        <p:nvSpPr>
          <p:cNvPr id="12" name="TextBox 11"/>
          <p:cNvSpPr txBox="1"/>
          <p:nvPr/>
        </p:nvSpPr>
        <p:spPr>
          <a:xfrm>
            <a:off x="1295400" y="3922395"/>
            <a:ext cx="10420350" cy="39814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new</a:t>
            </a:r>
            <a:r>
              <a:rPr sz="1650" b="0" i="0">
                <a:solidFill>
                  <a:srgbClr val="F0E8E8"/>
                </a:solidFill>
                <a:latin typeface="Geist Mono"/>
                <a:ea typeface="Geist Mono"/>
                <a:cs typeface="Geist Mono"/>
              </a:rPr>
              <a:t> DifferentialDrivePoseEstimator(</a:t>
            </a:r>
          </a:p>
        </p:txBody>
      </p:sp>
      <p:sp>
        <p:nvSpPr>
          <p:cNvPr id="13" name="TextBox 12"/>
          <p:cNvSpPr txBox="1"/>
          <p:nvPr/>
        </p:nvSpPr>
        <p:spPr>
          <a:xfrm>
            <a:off x="1295400" y="4320540"/>
            <a:ext cx="10420350" cy="39814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kinematics_, </a:t>
            </a:r>
            <a:r>
              <a:rPr sz="1650" b="0" i="0">
                <a:solidFill>
                  <a:srgbClr val="E0785F"/>
                </a:solidFill>
                <a:latin typeface="Geist Mono"/>
                <a:ea typeface="Geist Mono"/>
                <a:cs typeface="Geist Mono"/>
              </a:rPr>
              <a:t>new</a:t>
            </a:r>
            <a:r>
              <a:rPr sz="1650" b="0" i="0">
                <a:solidFill>
                  <a:srgbClr val="F0E8E8"/>
                </a:solidFill>
                <a:latin typeface="Geist Mono"/>
                <a:ea typeface="Geist Mono"/>
                <a:cs typeface="Geist Mono"/>
              </a:rPr>
              <a:t> Rotation2d(), </a:t>
            </a:r>
            <a:r>
              <a:rPr sz="1650" b="0" i="0">
                <a:solidFill>
                  <a:srgbClr val="E8C27A"/>
                </a:solidFill>
                <a:latin typeface="Geist Mono"/>
                <a:ea typeface="Geist Mono"/>
                <a:cs typeface="Geist Mono"/>
              </a:rPr>
              <a:t>0.0</a:t>
            </a:r>
            <a:r>
              <a:rPr sz="1650" b="0" i="0">
                <a:solidFill>
                  <a:srgbClr val="F0E8E8"/>
                </a:solidFill>
                <a:latin typeface="Geist Mono"/>
                <a:ea typeface="Geist Mono"/>
                <a:cs typeface="Geist Mono"/>
              </a:rPr>
              <a:t>, </a:t>
            </a:r>
            <a:r>
              <a:rPr sz="1650" b="0" i="0">
                <a:solidFill>
                  <a:srgbClr val="E8C27A"/>
                </a:solidFill>
                <a:latin typeface="Geist Mono"/>
                <a:ea typeface="Geist Mono"/>
                <a:cs typeface="Geist Mono"/>
              </a:rPr>
              <a:t>0.0</a:t>
            </a:r>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new</a:t>
            </a:r>
            <a:r>
              <a:rPr sz="1650" b="0" i="0">
                <a:solidFill>
                  <a:srgbClr val="F0E8E8"/>
                </a:solidFill>
                <a:latin typeface="Geist Mono"/>
                <a:ea typeface="Geist Mono"/>
                <a:cs typeface="Geist Mono"/>
              </a:rPr>
              <a:t> Pose2d());</a:t>
            </a:r>
          </a:p>
        </p:txBody>
      </p:sp>
      <p:sp>
        <p:nvSpPr>
          <p:cNvPr id="14" name="TextBox 13"/>
          <p:cNvSpPr txBox="1"/>
          <p:nvPr/>
        </p:nvSpPr>
        <p:spPr>
          <a:xfrm>
            <a:off x="1295400" y="4718685"/>
            <a:ext cx="10420350" cy="398145"/>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private</a:t>
            </a:r>
            <a:r>
              <a:rPr sz="1650" b="0" i="0">
                <a:solidFill>
                  <a:srgbClr val="F0E8E8"/>
                </a:solidFill>
                <a:latin typeface="Geist Mono"/>
                <a:ea typeface="Geist Mono"/>
                <a:cs typeface="Geist Mono"/>
              </a:rPr>
              <a:t> Pose2d pose_ = </a:t>
            </a:r>
            <a:r>
              <a:rPr sz="1650" b="0" i="0">
                <a:solidFill>
                  <a:srgbClr val="E0785F"/>
                </a:solidFill>
                <a:latin typeface="Geist Mono"/>
                <a:ea typeface="Geist Mono"/>
                <a:cs typeface="Geist Mono"/>
              </a:rPr>
              <a:t>new</a:t>
            </a:r>
            <a:r>
              <a:rPr sz="1650" b="0" i="0">
                <a:solidFill>
                  <a:srgbClr val="F0E8E8"/>
                </a:solidFill>
                <a:latin typeface="Geist Mono"/>
                <a:ea typeface="Geist Mono"/>
                <a:cs typeface="Geist Mono"/>
              </a:rPr>
              <a:t> Pose2d();</a:t>
            </a:r>
          </a:p>
        </p:txBody>
      </p:sp>
      <p:sp>
        <p:nvSpPr>
          <p:cNvPr id="15" name="TextBox 14"/>
          <p:cNvSpPr txBox="1"/>
          <p:nvPr/>
        </p:nvSpPr>
        <p:spPr>
          <a:xfrm>
            <a:off x="1295400" y="5116830"/>
            <a:ext cx="10420350" cy="39814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p>
        </p:txBody>
      </p:sp>
      <p:sp>
        <p:nvSpPr>
          <p:cNvPr id="16" name="TextBox 15"/>
          <p:cNvSpPr txBox="1"/>
          <p:nvPr/>
        </p:nvSpPr>
        <p:spPr>
          <a:xfrm>
            <a:off x="1295400" y="5514975"/>
            <a:ext cx="10420350" cy="398145"/>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private</a:t>
            </a:r>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void</a:t>
            </a:r>
            <a:r>
              <a:rPr sz="1650" b="0" i="0">
                <a:solidFill>
                  <a:srgbClr val="F0E8E8"/>
                </a:solidFill>
                <a:latin typeface="Geist Mono"/>
                <a:ea typeface="Geist Mono"/>
                <a:cs typeface="Geist Mono"/>
              </a:rPr>
              <a:t> updatePose() {</a:t>
            </a:r>
          </a:p>
        </p:txBody>
      </p:sp>
      <p:sp>
        <p:nvSpPr>
          <p:cNvPr id="17" name="TextBox 16"/>
          <p:cNvSpPr txBox="1"/>
          <p:nvPr/>
        </p:nvSpPr>
        <p:spPr>
          <a:xfrm>
            <a:off x="1295400" y="5913120"/>
            <a:ext cx="10420350" cy="39814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pose_estimator_.update(getYaw(), getLeftMeters(), getRightMeters());</a:t>
            </a:r>
          </a:p>
        </p:txBody>
      </p:sp>
      <p:sp>
        <p:nvSpPr>
          <p:cNvPr id="18" name="TextBox 17"/>
          <p:cNvSpPr txBox="1"/>
          <p:nvPr/>
        </p:nvSpPr>
        <p:spPr>
          <a:xfrm>
            <a:off x="1295400" y="6311265"/>
            <a:ext cx="10420350" cy="39814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pose_ = pose_estimator_.getEstimatedPosition();</a:t>
            </a:r>
          </a:p>
        </p:txBody>
      </p:sp>
      <p:sp>
        <p:nvSpPr>
          <p:cNvPr id="19" name="TextBox 18"/>
          <p:cNvSpPr txBox="1"/>
          <p:nvPr/>
        </p:nvSpPr>
        <p:spPr>
          <a:xfrm>
            <a:off x="1295400" y="6709410"/>
            <a:ext cx="10420350" cy="39814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a:t>
            </a:r>
          </a:p>
        </p:txBody>
      </p:sp>
      <p:sp>
        <p:nvSpPr>
          <p:cNvPr id="20" name="Oval 19"/>
          <p:cNvSpPr/>
          <p:nvPr/>
        </p:nvSpPr>
        <p:spPr>
          <a:xfrm>
            <a:off x="11258550" y="3532822"/>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258550" y="3532822"/>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2" name="Oval 21"/>
          <p:cNvSpPr/>
          <p:nvPr/>
        </p:nvSpPr>
        <p:spPr>
          <a:xfrm>
            <a:off x="11258550" y="5921692"/>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258550" y="5921692"/>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4" name="Oval 23"/>
          <p:cNvSpPr/>
          <p:nvPr/>
        </p:nvSpPr>
        <p:spPr>
          <a:xfrm>
            <a:off x="11258550" y="6319837"/>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258550" y="6319837"/>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6" name="Oval 25"/>
          <p:cNvSpPr/>
          <p:nvPr/>
        </p:nvSpPr>
        <p:spPr>
          <a:xfrm>
            <a:off x="12382500" y="3048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382500" y="3048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8" name="TextBox 27"/>
          <p:cNvSpPr txBox="1"/>
          <p:nvPr/>
        </p:nvSpPr>
        <p:spPr>
          <a:xfrm>
            <a:off x="12992100" y="3009900"/>
            <a:ext cx="4381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Built once</a:t>
            </a:r>
          </a:p>
        </p:txBody>
      </p:sp>
      <p:sp>
        <p:nvSpPr>
          <p:cNvPr id="29" name="TextBox 28"/>
          <p:cNvSpPr txBox="1"/>
          <p:nvPr/>
        </p:nvSpPr>
        <p:spPr>
          <a:xfrm>
            <a:off x="12992100" y="3429000"/>
            <a:ext cx="4381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From kinematics_, starting at the origin</a:t>
            </a:r>
          </a:p>
        </p:txBody>
      </p:sp>
      <p:sp>
        <p:nvSpPr>
          <p:cNvPr id="30" name="Oval 29"/>
          <p:cNvSpPr/>
          <p:nvPr/>
        </p:nvSpPr>
        <p:spPr>
          <a:xfrm>
            <a:off x="12382500" y="4667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382500" y="4667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2" name="TextBox 31"/>
          <p:cNvSpPr txBox="1"/>
          <p:nvPr/>
        </p:nvSpPr>
        <p:spPr>
          <a:xfrm>
            <a:off x="12992100" y="4629150"/>
            <a:ext cx="4381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Update</a:t>
            </a:r>
          </a:p>
        </p:txBody>
      </p:sp>
      <p:sp>
        <p:nvSpPr>
          <p:cNvPr id="33" name="TextBox 32"/>
          <p:cNvSpPr txBox="1"/>
          <p:nvPr/>
        </p:nvSpPr>
        <p:spPr>
          <a:xfrm>
            <a:off x="12992100" y="5048250"/>
            <a:ext cx="4381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Hand it the yaw and both distances</a:t>
            </a:r>
          </a:p>
        </p:txBody>
      </p:sp>
      <p:sp>
        <p:nvSpPr>
          <p:cNvPr id="34" name="Oval 33"/>
          <p:cNvSpPr/>
          <p:nvPr/>
        </p:nvSpPr>
        <p:spPr>
          <a:xfrm>
            <a:off x="12382500" y="6286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382500" y="6286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6" name="TextBox 35"/>
          <p:cNvSpPr txBox="1"/>
          <p:nvPr/>
        </p:nvSpPr>
        <p:spPr>
          <a:xfrm>
            <a:off x="12992100" y="6248400"/>
            <a:ext cx="4381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Read</a:t>
            </a:r>
          </a:p>
        </p:txBody>
      </p:sp>
      <p:sp>
        <p:nvSpPr>
          <p:cNvPr id="37" name="TextBox 36"/>
          <p:cNvSpPr txBox="1"/>
          <p:nvPr/>
        </p:nvSpPr>
        <p:spPr>
          <a:xfrm>
            <a:off x="12992100" y="6667500"/>
            <a:ext cx="4381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Its best guess, kept in pose_</a:t>
            </a:r>
          </a:p>
        </p:txBody>
      </p:sp>
      <p:sp>
        <p:nvSpPr>
          <p:cNvPr id="38" name="Rounded Rectangle 37"/>
          <p:cNvSpPr/>
          <p:nvPr/>
        </p:nvSpPr>
        <p:spPr>
          <a:xfrm>
            <a:off x="914400" y="790575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list-ol.png"/>
          <p:cNvPicPr>
            <a:picLocks noChangeAspect="1"/>
          </p:cNvPicPr>
          <p:nvPr/>
        </p:nvPicPr>
        <p:blipFill>
          <a:blip r:embed="rId3"/>
          <a:stretch>
            <a:fillRect/>
          </a:stretch>
        </p:blipFill>
        <p:spPr>
          <a:xfrm>
            <a:off x="1333500" y="8115300"/>
            <a:ext cx="694660" cy="533400"/>
          </a:xfrm>
          <a:prstGeom prst="rect">
            <a:avLst/>
          </a:prstGeom>
        </p:spPr>
      </p:pic>
      <p:sp>
        <p:nvSpPr>
          <p:cNvPr id="40" name="TextBox 39"/>
          <p:cNvSpPr txBox="1"/>
          <p:nvPr/>
        </p:nvSpPr>
        <p:spPr>
          <a:xfrm>
            <a:off x="2190750" y="790575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Order matters.  </a:t>
            </a:r>
            <a:r>
              <a:rPr sz="2100" b="0" i="0">
                <a:solidFill>
                  <a:srgbClr val="F0E8E8"/>
                </a:solidFill>
                <a:latin typeface="Geist"/>
                <a:ea typeface="Geist"/>
                <a:cs typeface="Geist"/>
              </a:rPr>
              <a:t>Update first, then read. Read first and you get last loop's pose.</a:t>
            </a:r>
          </a:p>
        </p:txBody>
      </p:sp>
      <p:sp>
        <p:nvSpPr>
          <p:cNvPr id="41" name="TextBox 4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2" name="TextBox 4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ODOMETRY</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Drift: the estimate wanders off</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572750" cy="6191250"/>
          </a:xfrm>
          <a:prstGeom prst="roundRect">
            <a:avLst>
              <a:gd name="adj" fmla="val 2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1428750" y="3143250"/>
            <a:ext cx="9525000" cy="4648200"/>
          </a:xfrm>
          <a:prstGeom prst="roundRect">
            <a:avLst>
              <a:gd name="adj" fmla="val 1229"/>
            </a:avLst>
          </a:prstGeom>
          <a:solidFill>
            <a:srgbClr val="0E1412"/>
          </a:solidFill>
          <a:ln w="28575">
            <a:solidFill>
              <a:srgbClr val="3A4A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176962" y="3128962"/>
            <a:ext cx="28575" cy="4676775"/>
          </a:xfrm>
          <a:prstGeom prst="rect">
            <a:avLst/>
          </a:prstGeom>
          <a:solidFill>
            <a:srgbClr val="3A4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1428750" y="3143250"/>
            <a:ext cx="133350" cy="4648200"/>
          </a:xfrm>
          <a:prstGeom prst="rect">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10820400" y="3143250"/>
            <a:ext cx="133350" cy="46482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0" name="Connector 9"/>
          <p:cNvCxnSpPr/>
          <p:nvPr/>
        </p:nvCxnSpPr>
        <p:spPr>
          <a:xfrm flipV="1">
            <a:off x="2292565" y="6375567"/>
            <a:ext cx="110376" cy="26413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2402941" y="6128704"/>
            <a:ext cx="110377" cy="24686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2513318" y="5898578"/>
            <a:ext cx="110376" cy="23012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2623694" y="5684770"/>
            <a:ext cx="110376" cy="21380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2734070" y="5486954"/>
            <a:ext cx="110377" cy="19781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2844447" y="5304881"/>
            <a:ext cx="110376" cy="18207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2954823" y="5138364"/>
            <a:ext cx="110377" cy="16651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3065200" y="4987257"/>
            <a:ext cx="110376" cy="15110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3175576" y="4851448"/>
            <a:ext cx="110376" cy="13580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3285952" y="4730838"/>
            <a:ext cx="110377" cy="12061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396329" y="4625331"/>
            <a:ext cx="110376" cy="10550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3506705" y="4534824"/>
            <a:ext cx="110376" cy="9050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3617081" y="4459194"/>
            <a:ext cx="110377" cy="7563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3727458" y="4398289"/>
            <a:ext cx="110376" cy="6090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3837834" y="4351918"/>
            <a:ext cx="110376" cy="4637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3948210" y="4319847"/>
            <a:ext cx="110377" cy="3207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4058587" y="4301789"/>
            <a:ext cx="110376" cy="1805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4149913" y="4282739"/>
            <a:ext cx="148476"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8" name="Connector 27"/>
          <p:cNvCxnSpPr/>
          <p:nvPr/>
        </p:nvCxnSpPr>
        <p:spPr>
          <a:xfrm>
            <a:off x="4279339" y="4297401"/>
            <a:ext cx="110377" cy="888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389716" y="4306281"/>
            <a:ext cx="110376" cy="2168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500092" y="4327962"/>
            <a:ext cx="110377" cy="3395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610469" y="4361914"/>
            <a:ext cx="110376" cy="4562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720845" y="4407539"/>
            <a:ext cx="110376" cy="5663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31221" y="4464177"/>
            <a:ext cx="110377" cy="6692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941598" y="4531103"/>
            <a:ext cx="110376" cy="7642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051974" y="4607531"/>
            <a:ext cx="110376" cy="8508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162350" y="4692618"/>
            <a:ext cx="110377" cy="9285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5272727" y="4785468"/>
            <a:ext cx="110376" cy="9966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5383103" y="4885135"/>
            <a:ext cx="110376" cy="10549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493479" y="4990634"/>
            <a:ext cx="110377" cy="11030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5603856" y="5100940"/>
            <a:ext cx="110376" cy="11406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5714232" y="5215002"/>
            <a:ext cx="110377" cy="11674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5824609" y="5331746"/>
            <a:ext cx="110376" cy="11833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5934985" y="5450085"/>
            <a:ext cx="110376" cy="11884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6045361" y="5568926"/>
            <a:ext cx="110377" cy="11825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6155738" y="5687181"/>
            <a:ext cx="110376" cy="11659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6266114" y="5803771"/>
            <a:ext cx="110376" cy="11386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6376490" y="5917637"/>
            <a:ext cx="110377" cy="11011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6486867" y="6027752"/>
            <a:ext cx="110376" cy="10537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6597243" y="6133122"/>
            <a:ext cx="110376" cy="9967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6707619" y="6232801"/>
            <a:ext cx="110377" cy="9309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6817996" y="6325895"/>
            <a:ext cx="110376" cy="8567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6928372" y="6411570"/>
            <a:ext cx="110376" cy="7749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7038748" y="6489061"/>
            <a:ext cx="110377" cy="6861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7149125" y="6557676"/>
            <a:ext cx="110376" cy="5912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7259501" y="6616803"/>
            <a:ext cx="110377" cy="4911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7369878" y="6665914"/>
            <a:ext cx="110376" cy="3865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7480254" y="6704573"/>
            <a:ext cx="110376" cy="2786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7590630" y="6732434"/>
            <a:ext cx="110377" cy="1681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7701007" y="6749251"/>
            <a:ext cx="110376" cy="562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7811383" y="6749250"/>
            <a:ext cx="110376" cy="562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7921759" y="6732431"/>
            <a:ext cx="110377" cy="1681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8032136" y="6704567"/>
            <a:ext cx="110376" cy="2786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8142512" y="6665904"/>
            <a:ext cx="110376" cy="3866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8252888" y="6616785"/>
            <a:ext cx="110377" cy="4911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8363265" y="6557647"/>
            <a:ext cx="110376" cy="5913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8473641" y="6489013"/>
            <a:ext cx="110377" cy="6863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8584018" y="6411495"/>
            <a:ext cx="110376" cy="7751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8694394" y="6325778"/>
            <a:ext cx="110376" cy="8571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2292565" y="6369860"/>
            <a:ext cx="111564" cy="269837"/>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2404129" y="6116796"/>
            <a:ext cx="109655" cy="253064"/>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2513784" y="5879973"/>
            <a:ext cx="107935" cy="236823"/>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2621719" y="5658971"/>
            <a:ext cx="106397" cy="221002"/>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2728116" y="5453466"/>
            <a:ext cx="105037" cy="205505"/>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2833153" y="5263210"/>
            <a:ext cx="103852" cy="190256"/>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2937005" y="5088015"/>
            <a:ext cx="102839" cy="175195"/>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039844" y="4927736"/>
            <a:ext cx="101998" cy="160279"/>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141842" y="4782261"/>
            <a:ext cx="101325" cy="145475"/>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243167" y="4651488"/>
            <a:ext cx="100821" cy="130773"/>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343988" y="4535321"/>
            <a:ext cx="100486" cy="116167"/>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444474" y="4433651"/>
            <a:ext cx="100314" cy="101670"/>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544788" y="4346350"/>
            <a:ext cx="100306" cy="87301"/>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645094" y="4273258"/>
            <a:ext cx="100456" cy="73092"/>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45550" y="4214175"/>
            <a:ext cx="100763" cy="59083"/>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846313" y="4168856"/>
            <a:ext cx="101216" cy="45319"/>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947529" y="4137002"/>
            <a:ext cx="101813" cy="31854"/>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4049342" y="4118254"/>
            <a:ext cx="102542" cy="18748"/>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4151884" y="4112193"/>
            <a:ext cx="103395" cy="6061"/>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4255279" y="4112193"/>
            <a:ext cx="104362" cy="6141"/>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4359641" y="4118334"/>
            <a:ext cx="105426" cy="17792"/>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4465067" y="4136126"/>
            <a:ext cx="106579" cy="28823"/>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4571646" y="4164949"/>
            <a:ext cx="107802" cy="39172"/>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4679448" y="4204121"/>
            <a:ext cx="109080" cy="48771"/>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4788528" y="4252892"/>
            <a:ext cx="110397" cy="57560"/>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4898925" y="4310452"/>
            <a:ext cx="111733" cy="65479"/>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5010658" y="4375931"/>
            <a:ext cx="113070" cy="72476"/>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5123728" y="4448407"/>
            <a:ext cx="114391" cy="78502"/>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5238119" y="4526909"/>
            <a:ext cx="115674" cy="83517"/>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5353793" y="4610426"/>
            <a:ext cx="116901" cy="87482"/>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5470694" y="4697908"/>
            <a:ext cx="118053" cy="90373"/>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5588747" y="4788281"/>
            <a:ext cx="119111" cy="92166"/>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5707858" y="4880447"/>
            <a:ext cx="120055" cy="92852"/>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5827913" y="4973299"/>
            <a:ext cx="120870" cy="92425"/>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5948783" y="5065724"/>
            <a:ext cx="121539" cy="90892"/>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6070322" y="5156616"/>
            <a:ext cx="122047" cy="88267"/>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6192369" y="5244883"/>
            <a:ext cx="122378" cy="84570"/>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6314747" y="5329453"/>
            <a:ext cx="122525" cy="79836"/>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6437272" y="5409289"/>
            <a:ext cx="122472" cy="74103"/>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6559744" y="5483392"/>
            <a:ext cx="122216" cy="67419"/>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6681960" y="5550811"/>
            <a:ext cx="121748" cy="59840"/>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6803708" y="5610651"/>
            <a:ext cx="121065" cy="51431"/>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6924773" y="5662082"/>
            <a:ext cx="120164" cy="42262"/>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7044937" y="5704344"/>
            <a:ext cx="119050" cy="32410"/>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7163987" y="5736754"/>
            <a:ext cx="117721" cy="21957"/>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7281708" y="5758711"/>
            <a:ext cx="116188" cy="10992"/>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115" name="Rectangle 114"/>
          <p:cNvSpPr/>
          <p:nvPr/>
        </p:nvSpPr>
        <p:spPr>
          <a:xfrm>
            <a:off x="7378846" y="5750653"/>
            <a:ext cx="152555" cy="3810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16" name="Connector 115"/>
          <p:cNvCxnSpPr/>
          <p:nvPr/>
        </p:nvCxnSpPr>
        <p:spPr>
          <a:xfrm flipV="1">
            <a:off x="7512351" y="5757205"/>
            <a:ext cx="112536" cy="12104"/>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7624887" y="5733164"/>
            <a:ext cx="110442" cy="24041"/>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7735329" y="5697060"/>
            <a:ext cx="108188" cy="36104"/>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7843517" y="5648868"/>
            <a:ext cx="105793" cy="48192"/>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7949310" y="5588664"/>
            <a:ext cx="103275" cy="60204"/>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8052585" y="5516623"/>
            <a:ext cx="100656" cy="72041"/>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8153241" y="5433021"/>
            <a:ext cx="97959" cy="83602"/>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8251200" y="5338228"/>
            <a:ext cx="95207" cy="94793"/>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8346407" y="5232707"/>
            <a:ext cx="92425" cy="105521"/>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8438832" y="5117009"/>
            <a:ext cx="89641" cy="115698"/>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8528473" y="4991768"/>
            <a:ext cx="86881" cy="125241"/>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8615354" y="4857696"/>
            <a:ext cx="84171" cy="134072"/>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pic>
        <p:nvPicPr>
          <p:cNvPr id="128" name="Picture 127" descr="dozer_top.png"/>
          <p:cNvPicPr>
            <a:picLocks noChangeAspect="1"/>
          </p:cNvPicPr>
          <p:nvPr/>
        </p:nvPicPr>
        <p:blipFill>
          <a:blip r:embed="rId3"/>
          <a:stretch>
            <a:fillRect/>
          </a:stretch>
        </p:blipFill>
        <p:spPr>
          <a:xfrm rot="19190223">
            <a:off x="8486522" y="5838632"/>
            <a:ext cx="857250" cy="787986"/>
          </a:xfrm>
          <a:prstGeom prst="rect">
            <a:avLst/>
          </a:prstGeom>
        </p:spPr>
      </p:pic>
      <p:sp>
        <p:nvSpPr>
          <p:cNvPr id="129" name="Rounded Rectangle 128"/>
          <p:cNvSpPr/>
          <p:nvPr/>
        </p:nvSpPr>
        <p:spPr>
          <a:xfrm rot="17990655">
            <a:off x="8514365" y="4448874"/>
            <a:ext cx="533400" cy="533400"/>
          </a:xfrm>
          <a:prstGeom prst="roundRect">
            <a:avLst>
              <a:gd name="adj" fmla="val 10714"/>
            </a:avLst>
          </a:prstGeom>
          <a:solidFill>
            <a:srgbClr val="0A0A0A"/>
          </a:solidFill>
          <a:ln w="3810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30" name="Connector 129"/>
          <p:cNvCxnSpPr/>
          <p:nvPr/>
        </p:nvCxnSpPr>
        <p:spPr>
          <a:xfrm flipV="1">
            <a:off x="8701432" y="4549016"/>
            <a:ext cx="175192" cy="305356"/>
          </a:xfrm>
          <a:prstGeom prst="line">
            <a:avLst/>
          </a:prstGeom>
          <a:ln w="38100">
            <a:solidFill>
              <a:srgbClr val="CC22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H="1" flipV="1">
            <a:off x="8781065" y="4715574"/>
            <a:ext cx="134082" cy="1517051"/>
          </a:xfrm>
          <a:prstGeom prst="line">
            <a:avLst/>
          </a:prstGeom>
          <a:ln w="19050">
            <a:solidFill>
              <a:srgbClr val="9A7878"/>
            </a:solidFill>
            <a:prstDash val="dash"/>
          </a:ln>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9229106" y="5321700"/>
            <a:ext cx="1143000" cy="285750"/>
          </a:xfrm>
          <a:prstGeom prst="rect">
            <a:avLst/>
          </a:prstGeom>
          <a:noFill/>
        </p:spPr>
        <p:txBody>
          <a:bodyPr wrap="square" lIns="0" rIns="0" tIns="0" bIns="0" anchor="t">
            <a:spAutoFit/>
          </a:bodyPr>
          <a:lstStyle/>
          <a:p>
            <a:pPr algn="l"/>
            <a:r>
              <a:rPr sz="1650" b="1" i="0">
                <a:solidFill>
                  <a:srgbClr val="F0E8E8"/>
                </a:solidFill>
                <a:latin typeface="Geist"/>
                <a:ea typeface="Geist"/>
                <a:cs typeface="Geist"/>
              </a:rPr>
              <a:t>drift</a:t>
            </a:r>
          </a:p>
        </p:txBody>
      </p:sp>
      <p:sp>
        <p:nvSpPr>
          <p:cNvPr id="133" name="Rounded Rectangle 132"/>
          <p:cNvSpPr/>
          <p:nvPr/>
        </p:nvSpPr>
        <p:spPr>
          <a:xfrm>
            <a:off x="2006815" y="6353947"/>
            <a:ext cx="571500" cy="571500"/>
          </a:xfrm>
          <a:prstGeom prst="roundRect">
            <a:avLst>
              <a:gd name="adj" fmla="val 13333"/>
            </a:avLst>
          </a:prstGeom>
          <a:noFill/>
          <a:ln w="19050">
            <a:solidFill>
              <a:srgbClr val="9A78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4" name="TextBox 133"/>
          <p:cNvSpPr txBox="1"/>
          <p:nvPr/>
        </p:nvSpPr>
        <p:spPr>
          <a:xfrm>
            <a:off x="1721065" y="6982597"/>
            <a:ext cx="11430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start</a:t>
            </a:r>
          </a:p>
        </p:txBody>
      </p:sp>
      <p:sp>
        <p:nvSpPr>
          <p:cNvPr id="135" name="Rectangle 134"/>
          <p:cNvSpPr/>
          <p:nvPr/>
        </p:nvSpPr>
        <p:spPr>
          <a:xfrm>
            <a:off x="1428750" y="8286750"/>
            <a:ext cx="3810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TextBox 135"/>
          <p:cNvSpPr txBox="1"/>
          <p:nvPr/>
        </p:nvSpPr>
        <p:spPr>
          <a:xfrm>
            <a:off x="1943100" y="8153400"/>
            <a:ext cx="4381500" cy="323850"/>
          </a:xfrm>
          <a:prstGeom prst="rect">
            <a:avLst/>
          </a:prstGeom>
          <a:noFill/>
        </p:spPr>
        <p:txBody>
          <a:bodyPr wrap="square" lIns="0" rIns="0" tIns="0" bIns="0" anchor="t">
            <a:spAutoFit/>
          </a:bodyPr>
          <a:lstStyle/>
          <a:p>
            <a:pPr algn="l"/>
            <a:r>
              <a:rPr sz="1500" b="0" i="0">
                <a:solidFill>
                  <a:srgbClr val="F0E8E8"/>
                </a:solidFill>
                <a:latin typeface="Geist"/>
                <a:ea typeface="Geist"/>
                <a:cs typeface="Geist"/>
              </a:rPr>
              <a:t>Drive/TruePose: where it really is</a:t>
            </a:r>
          </a:p>
        </p:txBody>
      </p:sp>
      <p:sp>
        <p:nvSpPr>
          <p:cNvPr id="137" name="Rectangle 136"/>
          <p:cNvSpPr/>
          <p:nvPr/>
        </p:nvSpPr>
        <p:spPr>
          <a:xfrm>
            <a:off x="6381750" y="8286750"/>
            <a:ext cx="381000" cy="762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8" name="TextBox 137"/>
          <p:cNvSpPr txBox="1"/>
          <p:nvPr/>
        </p:nvSpPr>
        <p:spPr>
          <a:xfrm>
            <a:off x="6896100" y="8153400"/>
            <a:ext cx="4381500" cy="323850"/>
          </a:xfrm>
          <a:prstGeom prst="rect">
            <a:avLst/>
          </a:prstGeom>
          <a:noFill/>
        </p:spPr>
        <p:txBody>
          <a:bodyPr wrap="square" lIns="0" rIns="0" tIns="0" bIns="0" anchor="t">
            <a:spAutoFit/>
          </a:bodyPr>
          <a:lstStyle/>
          <a:p>
            <a:pPr algn="l"/>
            <a:r>
              <a:rPr sz="1500" b="0" i="0">
                <a:solidFill>
                  <a:srgbClr val="F0E8E8"/>
                </a:solidFill>
                <a:latin typeface="Geist"/>
                <a:ea typeface="Geist"/>
                <a:cs typeface="Geist"/>
              </a:rPr>
              <a:t>Drive/Pose: your estimate</a:t>
            </a:r>
          </a:p>
        </p:txBody>
      </p:sp>
      <p:sp>
        <p:nvSpPr>
          <p:cNvPr id="139" name="Rounded Rectangle 138"/>
          <p:cNvSpPr/>
          <p:nvPr/>
        </p:nvSpPr>
        <p:spPr>
          <a:xfrm>
            <a:off x="11906250" y="2857500"/>
            <a:ext cx="5467350" cy="1333500"/>
          </a:xfrm>
          <a:prstGeom prst="roundRect">
            <a:avLst>
              <a:gd name="adj" fmla="val 1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0" name="TextBox 139"/>
          <p:cNvSpPr txBox="1"/>
          <p:nvPr/>
        </p:nvSpPr>
        <p:spPr>
          <a:xfrm>
            <a:off x="12249150" y="3048000"/>
            <a:ext cx="4762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Wheel size</a:t>
            </a:r>
          </a:p>
        </p:txBody>
      </p:sp>
      <p:sp>
        <p:nvSpPr>
          <p:cNvPr id="141" name="TextBox 140"/>
          <p:cNvSpPr txBox="1"/>
          <p:nvPr/>
        </p:nvSpPr>
        <p:spPr>
          <a:xfrm>
            <a:off x="12249150" y="3543300"/>
            <a:ext cx="4857750" cy="47625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Never exactly what the code thinks</a:t>
            </a:r>
          </a:p>
        </p:txBody>
      </p:sp>
      <p:sp>
        <p:nvSpPr>
          <p:cNvPr id="142" name="Rounded Rectangle 141"/>
          <p:cNvSpPr/>
          <p:nvPr/>
        </p:nvSpPr>
        <p:spPr>
          <a:xfrm>
            <a:off x="11906250" y="4381500"/>
            <a:ext cx="5467350" cy="1333500"/>
          </a:xfrm>
          <a:prstGeom prst="roundRect">
            <a:avLst>
              <a:gd name="adj" fmla="val 1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3" name="TextBox 142"/>
          <p:cNvSpPr txBox="1"/>
          <p:nvPr/>
        </p:nvSpPr>
        <p:spPr>
          <a:xfrm>
            <a:off x="12249150" y="4572000"/>
            <a:ext cx="4762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Slip</a:t>
            </a:r>
          </a:p>
        </p:txBody>
      </p:sp>
      <p:sp>
        <p:nvSpPr>
          <p:cNvPr id="144" name="TextBox 143"/>
          <p:cNvSpPr txBox="1"/>
          <p:nvPr/>
        </p:nvSpPr>
        <p:spPr>
          <a:xfrm>
            <a:off x="12249150" y="5067300"/>
            <a:ext cx="4857750" cy="47625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Wheels skid a little, most when turning</a:t>
            </a:r>
          </a:p>
        </p:txBody>
      </p:sp>
      <p:sp>
        <p:nvSpPr>
          <p:cNvPr id="145" name="Rounded Rectangle 144"/>
          <p:cNvSpPr/>
          <p:nvPr/>
        </p:nvSpPr>
        <p:spPr>
          <a:xfrm>
            <a:off x="11906250" y="5905500"/>
            <a:ext cx="5467350" cy="1333500"/>
          </a:xfrm>
          <a:prstGeom prst="roundRect">
            <a:avLst>
              <a:gd name="adj" fmla="val 1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6" name="TextBox 145"/>
          <p:cNvSpPr txBox="1"/>
          <p:nvPr/>
        </p:nvSpPr>
        <p:spPr>
          <a:xfrm>
            <a:off x="12249150" y="6096000"/>
            <a:ext cx="4762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Jitter</a:t>
            </a:r>
          </a:p>
        </p:txBody>
      </p:sp>
      <p:sp>
        <p:nvSpPr>
          <p:cNvPr id="147" name="TextBox 146"/>
          <p:cNvSpPr txBox="1"/>
          <p:nvPr/>
        </p:nvSpPr>
        <p:spPr>
          <a:xfrm>
            <a:off x="12249150" y="6591300"/>
            <a:ext cx="4857750" cy="47625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Every reading is a hair off</a:t>
            </a:r>
          </a:p>
        </p:txBody>
      </p:sp>
      <p:sp>
        <p:nvSpPr>
          <p:cNvPr id="148" name="TextBox 147"/>
          <p:cNvSpPr txBox="1"/>
          <p:nvPr/>
        </p:nvSpPr>
        <p:spPr>
          <a:xfrm>
            <a:off x="11906250" y="7620000"/>
            <a:ext cx="5467350" cy="1143000"/>
          </a:xfrm>
          <a:prstGeom prst="rect">
            <a:avLst/>
          </a:prstGeom>
          <a:noFill/>
        </p:spPr>
        <p:txBody>
          <a:bodyPr wrap="square" lIns="0" rIns="0" tIns="0" bIns="0" anchor="t">
            <a:spAutoFit/>
          </a:bodyPr>
          <a:lstStyle/>
          <a:p>
            <a:pPr algn="l">
              <a:lnSpc>
                <a:spcPct val="130000"/>
              </a:lnSpc>
            </a:pPr>
            <a:r>
              <a:rPr sz="1950" b="1" i="0">
                <a:solidFill>
                  <a:srgbClr val="F0E8E8"/>
                </a:solidFill>
                <a:latin typeface="Geist"/>
                <a:ea typeface="Geist"/>
                <a:cs typeface="Geist"/>
              </a:rPr>
              <a:t>Tiny errors that never cancel out. They pile up.</a:t>
            </a:r>
          </a:p>
        </p:txBody>
      </p:sp>
      <p:sp>
        <p:nvSpPr>
          <p:cNvPr id="149" name="TextBox 14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50" name="TextBox 14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ODOMETRY</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How real robots stop the drift</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6667500" cy="1524000"/>
          </a:xfrm>
          <a:prstGeom prst="roundRect">
            <a:avLst>
              <a:gd name="adj" fmla="val 1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speedometer2.png"/>
          <p:cNvPicPr>
            <a:picLocks noChangeAspect="1"/>
          </p:cNvPicPr>
          <p:nvPr/>
        </p:nvPicPr>
        <p:blipFill>
          <a:blip r:embed="rId3"/>
          <a:stretch>
            <a:fillRect/>
          </a:stretch>
        </p:blipFill>
        <p:spPr>
          <a:xfrm>
            <a:off x="1295400" y="3360986"/>
            <a:ext cx="685800" cy="517029"/>
          </a:xfrm>
          <a:prstGeom prst="rect">
            <a:avLst/>
          </a:prstGeom>
        </p:spPr>
      </p:pic>
      <p:sp>
        <p:nvSpPr>
          <p:cNvPr id="7" name="TextBox 6"/>
          <p:cNvSpPr txBox="1"/>
          <p:nvPr/>
        </p:nvSpPr>
        <p:spPr>
          <a:xfrm>
            <a:off x="2286000" y="3124200"/>
            <a:ext cx="5143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Wheel encoders</a:t>
            </a:r>
          </a:p>
        </p:txBody>
      </p:sp>
      <p:sp>
        <p:nvSpPr>
          <p:cNvPr id="8" name="TextBox 7"/>
          <p:cNvSpPr txBox="1"/>
          <p:nvPr/>
        </p:nvSpPr>
        <p:spPr>
          <a:xfrm>
            <a:off x="2286000" y="3657600"/>
            <a:ext cx="5143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Every 20 ms. Smooth, but drifts</a:t>
            </a:r>
          </a:p>
        </p:txBody>
      </p:sp>
      <p:cxnSp>
        <p:nvCxnSpPr>
          <p:cNvPr id="9" name="Connector 8"/>
          <p:cNvCxnSpPr/>
          <p:nvPr/>
        </p:nvCxnSpPr>
        <p:spPr>
          <a:xfrm>
            <a:off x="7658100" y="3619500"/>
            <a:ext cx="1866900" cy="1952625"/>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914400" y="4667250"/>
            <a:ext cx="6667500" cy="1524000"/>
          </a:xfrm>
          <a:prstGeom prst="roundRect">
            <a:avLst>
              <a:gd name="adj" fmla="val 1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ompass.png"/>
          <p:cNvPicPr>
            <a:picLocks noChangeAspect="1"/>
          </p:cNvPicPr>
          <p:nvPr/>
        </p:nvPicPr>
        <p:blipFill>
          <a:blip r:embed="rId4"/>
          <a:stretch>
            <a:fillRect/>
          </a:stretch>
        </p:blipFill>
        <p:spPr>
          <a:xfrm>
            <a:off x="1314152" y="5086350"/>
            <a:ext cx="648295" cy="685800"/>
          </a:xfrm>
          <a:prstGeom prst="rect">
            <a:avLst/>
          </a:prstGeom>
        </p:spPr>
      </p:pic>
      <p:sp>
        <p:nvSpPr>
          <p:cNvPr id="12" name="TextBox 11"/>
          <p:cNvSpPr txBox="1"/>
          <p:nvPr/>
        </p:nvSpPr>
        <p:spPr>
          <a:xfrm>
            <a:off x="2286000" y="4933950"/>
            <a:ext cx="5143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Gyro</a:t>
            </a:r>
          </a:p>
        </p:txBody>
      </p:sp>
      <p:sp>
        <p:nvSpPr>
          <p:cNvPr id="13" name="TextBox 12"/>
          <p:cNvSpPr txBox="1"/>
          <p:nvPr/>
        </p:nvSpPr>
        <p:spPr>
          <a:xfrm>
            <a:off x="2286000" y="5467350"/>
            <a:ext cx="5143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The heading, measured directly</a:t>
            </a:r>
          </a:p>
        </p:txBody>
      </p:sp>
      <p:cxnSp>
        <p:nvCxnSpPr>
          <p:cNvPr id="14" name="Connector 13"/>
          <p:cNvCxnSpPr/>
          <p:nvPr/>
        </p:nvCxnSpPr>
        <p:spPr>
          <a:xfrm>
            <a:off x="7658100" y="5429250"/>
            <a:ext cx="1866900" cy="142875"/>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14400" y="6477000"/>
            <a:ext cx="6667500" cy="1524000"/>
          </a:xfrm>
          <a:prstGeom prst="roundRect">
            <a:avLst>
              <a:gd name="adj" fmla="val 1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amera.png"/>
          <p:cNvPicPr>
            <a:picLocks noChangeAspect="1"/>
          </p:cNvPicPr>
          <p:nvPr/>
        </p:nvPicPr>
        <p:blipFill>
          <a:blip r:embed="rId5"/>
          <a:stretch>
            <a:fillRect/>
          </a:stretch>
        </p:blipFill>
        <p:spPr>
          <a:xfrm>
            <a:off x="1295400" y="6981825"/>
            <a:ext cx="685800" cy="514350"/>
          </a:xfrm>
          <a:prstGeom prst="rect">
            <a:avLst/>
          </a:prstGeom>
        </p:spPr>
      </p:pic>
      <p:sp>
        <p:nvSpPr>
          <p:cNvPr id="17" name="TextBox 16"/>
          <p:cNvSpPr txBox="1"/>
          <p:nvPr/>
        </p:nvSpPr>
        <p:spPr>
          <a:xfrm>
            <a:off x="2286000" y="6743700"/>
            <a:ext cx="5143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Cameras + AprilTags</a:t>
            </a:r>
          </a:p>
        </p:txBody>
      </p:sp>
      <p:sp>
        <p:nvSpPr>
          <p:cNvPr id="18" name="TextBox 17"/>
          <p:cNvSpPr txBox="1"/>
          <p:nvPr/>
        </p:nvSpPr>
        <p:spPr>
          <a:xfrm>
            <a:off x="2286000" y="7277100"/>
            <a:ext cx="5143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Now and then. Snaps it back</a:t>
            </a:r>
          </a:p>
        </p:txBody>
      </p:sp>
      <p:cxnSp>
        <p:nvCxnSpPr>
          <p:cNvPr id="19" name="Connector 18"/>
          <p:cNvCxnSpPr/>
          <p:nvPr/>
        </p:nvCxnSpPr>
        <p:spPr>
          <a:xfrm flipV="1">
            <a:off x="7658100" y="5572125"/>
            <a:ext cx="1866900" cy="1666875"/>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620250" y="4476750"/>
            <a:ext cx="4000500" cy="2190750"/>
          </a:xfrm>
          <a:prstGeom prst="roundRect">
            <a:avLst>
              <a:gd name="adj" fmla="val 6956"/>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620250" y="4762500"/>
            <a:ext cx="4000500" cy="476250"/>
          </a:xfrm>
          <a:prstGeom prst="rect">
            <a:avLst/>
          </a:prstGeom>
          <a:noFill/>
        </p:spPr>
        <p:txBody>
          <a:bodyPr wrap="square" lIns="0" rIns="0" tIns="0" bIns="0" anchor="t">
            <a:spAutoFit/>
          </a:bodyPr>
          <a:lstStyle/>
          <a:p>
            <a:pPr algn="ctr"/>
            <a:r>
              <a:rPr sz="2400" b="1" i="0">
                <a:solidFill>
                  <a:srgbClr val="F0E8E8"/>
                </a:solidFill>
                <a:latin typeface="Geist"/>
                <a:ea typeface="Geist"/>
                <a:cs typeface="Geist"/>
              </a:rPr>
              <a:t>Pose estimator</a:t>
            </a:r>
          </a:p>
        </p:txBody>
      </p:sp>
      <p:sp>
        <p:nvSpPr>
          <p:cNvPr id="22" name="TextBox 21"/>
          <p:cNvSpPr txBox="1"/>
          <p:nvPr/>
        </p:nvSpPr>
        <p:spPr>
          <a:xfrm>
            <a:off x="9906000" y="5429250"/>
            <a:ext cx="3429000" cy="952500"/>
          </a:xfrm>
          <a:prstGeom prst="rect">
            <a:avLst/>
          </a:prstGeom>
          <a:noFill/>
        </p:spPr>
        <p:txBody>
          <a:bodyPr wrap="square" lIns="0" rIns="0" tIns="0" bIns="0" anchor="t">
            <a:spAutoFit/>
          </a:bodyPr>
          <a:lstStyle/>
          <a:p>
            <a:pPr algn="ctr">
              <a:lnSpc>
                <a:spcPct val="130000"/>
              </a:lnSpc>
            </a:pPr>
            <a:r>
              <a:rPr sz="1800" b="0" i="0">
                <a:solidFill>
                  <a:srgbClr val="9A7878"/>
                </a:solidFill>
                <a:latin typeface="Geist"/>
                <a:ea typeface="Geist"/>
                <a:cs typeface="Geist"/>
              </a:rPr>
              <a:t>Blends them into one best guess</a:t>
            </a:r>
          </a:p>
        </p:txBody>
      </p:sp>
      <p:sp>
        <p:nvSpPr>
          <p:cNvPr id="23" name="Rectangle 22"/>
          <p:cNvSpPr/>
          <p:nvPr/>
        </p:nvSpPr>
        <p:spPr>
          <a:xfrm>
            <a:off x="13677900" y="5553075"/>
            <a:ext cx="7772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rot="5400000">
            <a:off x="14420850" y="549592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4668500" y="4762500"/>
            <a:ext cx="2705100" cy="1619250"/>
          </a:xfrm>
          <a:prstGeom prst="roundRect">
            <a:avLst>
              <a:gd name="adj" fmla="val 9411"/>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4668500" y="4953000"/>
            <a:ext cx="2705100" cy="476250"/>
          </a:xfrm>
          <a:prstGeom prst="rect">
            <a:avLst/>
          </a:prstGeom>
          <a:noFill/>
        </p:spPr>
        <p:txBody>
          <a:bodyPr wrap="square" lIns="0" rIns="0" tIns="0" bIns="0" anchor="t">
            <a:spAutoFit/>
          </a:bodyPr>
          <a:lstStyle/>
          <a:p>
            <a:pPr algn="ctr"/>
            <a:r>
              <a:rPr sz="2400" b="1" i="0">
                <a:solidFill>
                  <a:srgbClr val="E8C27A"/>
                </a:solidFill>
                <a:latin typeface="Geist Mono"/>
                <a:ea typeface="Geist Mono"/>
                <a:cs typeface="Geist Mono"/>
              </a:rPr>
              <a:t>Pose2d</a:t>
            </a:r>
          </a:p>
        </p:txBody>
      </p:sp>
      <p:sp>
        <p:nvSpPr>
          <p:cNvPr id="27" name="TextBox 26"/>
          <p:cNvSpPr txBox="1"/>
          <p:nvPr/>
        </p:nvSpPr>
        <p:spPr>
          <a:xfrm>
            <a:off x="14859000" y="5619750"/>
            <a:ext cx="2324100" cy="5715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x, y, heading</a:t>
            </a:r>
          </a:p>
        </p:txBody>
      </p:sp>
      <p:sp>
        <p:nvSpPr>
          <p:cNvPr id="28" name="Rounded Rectangle 27"/>
          <p:cNvSpPr/>
          <p:nvPr/>
        </p:nvSpPr>
        <p:spPr>
          <a:xfrm>
            <a:off x="914400" y="8382000"/>
            <a:ext cx="16459200" cy="762000"/>
          </a:xfrm>
          <a:prstGeom prst="roundRect">
            <a:avLst>
              <a:gd name="adj" fmla="val 20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333500" y="8382000"/>
            <a:ext cx="15659100" cy="7620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In this lesson:  </a:t>
            </a:r>
            <a:r>
              <a:rPr sz="2100" b="0" i="0">
                <a:solidFill>
                  <a:srgbClr val="F0E8E8"/>
                </a:solidFill>
                <a:latin typeface="Geist"/>
                <a:ea typeface="Geist"/>
                <a:cs typeface="Geist"/>
              </a:rPr>
              <a:t>wheels only, so the drift is easy to see. Competition robots use all three.</a:t>
            </a:r>
          </a:p>
        </p:txBody>
      </p:sp>
      <p:sp>
        <p:nvSpPr>
          <p:cNvPr id="30" name="TextBox 2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1" name="TextBox 3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ODOMETRY</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Using the pose: drive to x = 3 m</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8191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Robot.java</a:t>
            </a:r>
          </a:p>
        </p:txBody>
      </p:sp>
      <p:sp>
        <p:nvSpPr>
          <p:cNvPr id="6" name="Rounded Rectangle 5"/>
          <p:cNvSpPr/>
          <p:nvPr/>
        </p:nvSpPr>
        <p:spPr>
          <a:xfrm>
            <a:off x="914400" y="3143250"/>
            <a:ext cx="8191500" cy="4219575"/>
          </a:xfrm>
          <a:prstGeom prst="roundRect">
            <a:avLst>
              <a:gd name="adj" fmla="val 3611"/>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5095875"/>
            <a:ext cx="8153400" cy="31432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5095875"/>
            <a:ext cx="57150" cy="31432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5410200"/>
            <a:ext cx="8153400" cy="31432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5410200"/>
            <a:ext cx="57150" cy="31432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95400" y="3524250"/>
            <a:ext cx="7658100" cy="314325"/>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public</a:t>
            </a:r>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void</a:t>
            </a:r>
            <a:r>
              <a:rPr sz="1650" b="0" i="0">
                <a:solidFill>
                  <a:srgbClr val="F0E8E8"/>
                </a:solidFill>
                <a:latin typeface="Geist Mono"/>
                <a:ea typeface="Geist Mono"/>
                <a:cs typeface="Geist Mono"/>
              </a:rPr>
              <a:t> autonomousInit() {</a:t>
            </a:r>
          </a:p>
        </p:txBody>
      </p:sp>
      <p:sp>
        <p:nvSpPr>
          <p:cNvPr id="12" name="TextBox 11"/>
          <p:cNvSpPr txBox="1"/>
          <p:nvPr/>
        </p:nvSpPr>
        <p:spPr>
          <a:xfrm>
            <a:off x="1295400" y="3838575"/>
            <a:ext cx="76581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drive_.resetPose();</a:t>
            </a:r>
          </a:p>
        </p:txBody>
      </p:sp>
      <p:sp>
        <p:nvSpPr>
          <p:cNvPr id="13" name="TextBox 12"/>
          <p:cNvSpPr txBox="1"/>
          <p:nvPr/>
        </p:nvSpPr>
        <p:spPr>
          <a:xfrm>
            <a:off x="1295400" y="4152900"/>
            <a:ext cx="76581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a:t>
            </a:r>
          </a:p>
        </p:txBody>
      </p:sp>
      <p:sp>
        <p:nvSpPr>
          <p:cNvPr id="14" name="TextBox 13"/>
          <p:cNvSpPr txBox="1"/>
          <p:nvPr/>
        </p:nvSpPr>
        <p:spPr>
          <a:xfrm>
            <a:off x="1295400" y="4467225"/>
            <a:ext cx="76581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p>
        </p:txBody>
      </p:sp>
      <p:sp>
        <p:nvSpPr>
          <p:cNvPr id="15" name="TextBox 14"/>
          <p:cNvSpPr txBox="1"/>
          <p:nvPr/>
        </p:nvSpPr>
        <p:spPr>
          <a:xfrm>
            <a:off x="1295400" y="4781550"/>
            <a:ext cx="7658100" cy="314325"/>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public</a:t>
            </a:r>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void</a:t>
            </a:r>
            <a:r>
              <a:rPr sz="1650" b="0" i="0">
                <a:solidFill>
                  <a:srgbClr val="F0E8E8"/>
                </a:solidFill>
                <a:latin typeface="Geist Mono"/>
                <a:ea typeface="Geist Mono"/>
                <a:cs typeface="Geist Mono"/>
              </a:rPr>
              <a:t> autonomousPeriodic() {</a:t>
            </a:r>
          </a:p>
        </p:txBody>
      </p:sp>
      <p:sp>
        <p:nvSpPr>
          <p:cNvPr id="16" name="TextBox 15"/>
          <p:cNvSpPr txBox="1"/>
          <p:nvPr/>
        </p:nvSpPr>
        <p:spPr>
          <a:xfrm>
            <a:off x="1295400" y="5095875"/>
            <a:ext cx="76581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if</a:t>
            </a:r>
            <a:r>
              <a:rPr sz="1650" b="0" i="0">
                <a:solidFill>
                  <a:srgbClr val="F0E8E8"/>
                </a:solidFill>
                <a:latin typeface="Geist Mono"/>
                <a:ea typeface="Geist Mono"/>
                <a:cs typeface="Geist Mono"/>
              </a:rPr>
              <a:t> (drive_.getPose().getX() &lt; </a:t>
            </a:r>
            <a:r>
              <a:rPr sz="1650" b="0" i="0">
                <a:solidFill>
                  <a:srgbClr val="E8C27A"/>
                </a:solidFill>
                <a:latin typeface="Geist Mono"/>
                <a:ea typeface="Geist Mono"/>
                <a:cs typeface="Geist Mono"/>
              </a:rPr>
              <a:t>3.0</a:t>
            </a:r>
            <a:r>
              <a:rPr sz="1650" b="0" i="0">
                <a:solidFill>
                  <a:srgbClr val="F0E8E8"/>
                </a:solidFill>
                <a:latin typeface="Geist Mono"/>
                <a:ea typeface="Geist Mono"/>
                <a:cs typeface="Geist Mono"/>
              </a:rPr>
              <a:t>) {</a:t>
            </a:r>
          </a:p>
        </p:txBody>
      </p:sp>
      <p:sp>
        <p:nvSpPr>
          <p:cNvPr id="17" name="TextBox 16"/>
          <p:cNvSpPr txBox="1"/>
          <p:nvPr/>
        </p:nvSpPr>
        <p:spPr>
          <a:xfrm>
            <a:off x="1295400" y="5410200"/>
            <a:ext cx="76581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drive_.arcadeDrive(</a:t>
            </a:r>
            <a:r>
              <a:rPr sz="1650" b="0" i="0">
                <a:solidFill>
                  <a:srgbClr val="E8C27A"/>
                </a:solidFill>
                <a:latin typeface="Geist Mono"/>
                <a:ea typeface="Geist Mono"/>
                <a:cs typeface="Geist Mono"/>
              </a:rPr>
              <a:t>0.4</a:t>
            </a:r>
            <a:r>
              <a:rPr sz="1650" b="0" i="0">
                <a:solidFill>
                  <a:srgbClr val="F0E8E8"/>
                </a:solidFill>
                <a:latin typeface="Geist Mono"/>
                <a:ea typeface="Geist Mono"/>
                <a:cs typeface="Geist Mono"/>
              </a:rPr>
              <a:t>, </a:t>
            </a:r>
            <a:r>
              <a:rPr sz="1650" b="0" i="0">
                <a:solidFill>
                  <a:srgbClr val="E8C27A"/>
                </a:solidFill>
                <a:latin typeface="Geist Mono"/>
                <a:ea typeface="Geist Mono"/>
                <a:cs typeface="Geist Mono"/>
              </a:rPr>
              <a:t>0.0</a:t>
            </a:r>
            <a:r>
              <a:rPr sz="1650" b="0" i="0">
                <a:solidFill>
                  <a:srgbClr val="F0E8E8"/>
                </a:solidFill>
                <a:latin typeface="Geist Mono"/>
                <a:ea typeface="Geist Mono"/>
                <a:cs typeface="Geist Mono"/>
              </a:rPr>
              <a:t>);</a:t>
            </a:r>
          </a:p>
        </p:txBody>
      </p:sp>
      <p:sp>
        <p:nvSpPr>
          <p:cNvPr id="18" name="TextBox 17"/>
          <p:cNvSpPr txBox="1"/>
          <p:nvPr/>
        </p:nvSpPr>
        <p:spPr>
          <a:xfrm>
            <a:off x="1295400" y="5724525"/>
            <a:ext cx="76581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 </a:t>
            </a:r>
            <a:r>
              <a:rPr sz="1650" b="0" i="0">
                <a:solidFill>
                  <a:srgbClr val="E0785F"/>
                </a:solidFill>
                <a:latin typeface="Geist Mono"/>
                <a:ea typeface="Geist Mono"/>
                <a:cs typeface="Geist Mono"/>
              </a:rPr>
              <a:t>else</a:t>
            </a:r>
            <a:r>
              <a:rPr sz="1650" b="0" i="0">
                <a:solidFill>
                  <a:srgbClr val="F0E8E8"/>
                </a:solidFill>
                <a:latin typeface="Geist Mono"/>
                <a:ea typeface="Geist Mono"/>
                <a:cs typeface="Geist Mono"/>
              </a:rPr>
              <a:t> {</a:t>
            </a:r>
          </a:p>
        </p:txBody>
      </p:sp>
      <p:sp>
        <p:nvSpPr>
          <p:cNvPr id="19" name="TextBox 18"/>
          <p:cNvSpPr txBox="1"/>
          <p:nvPr/>
        </p:nvSpPr>
        <p:spPr>
          <a:xfrm>
            <a:off x="1295400" y="6038850"/>
            <a:ext cx="76581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drive_.arcadeDrive(</a:t>
            </a:r>
            <a:r>
              <a:rPr sz="1650" b="0" i="0">
                <a:solidFill>
                  <a:srgbClr val="E8C27A"/>
                </a:solidFill>
                <a:latin typeface="Geist Mono"/>
                <a:ea typeface="Geist Mono"/>
                <a:cs typeface="Geist Mono"/>
              </a:rPr>
              <a:t>0.0</a:t>
            </a:r>
            <a:r>
              <a:rPr sz="1650" b="0" i="0">
                <a:solidFill>
                  <a:srgbClr val="F0E8E8"/>
                </a:solidFill>
                <a:latin typeface="Geist Mono"/>
                <a:ea typeface="Geist Mono"/>
                <a:cs typeface="Geist Mono"/>
              </a:rPr>
              <a:t>, </a:t>
            </a:r>
            <a:r>
              <a:rPr sz="1650" b="0" i="0">
                <a:solidFill>
                  <a:srgbClr val="E8C27A"/>
                </a:solidFill>
                <a:latin typeface="Geist Mono"/>
                <a:ea typeface="Geist Mono"/>
                <a:cs typeface="Geist Mono"/>
              </a:rPr>
              <a:t>0.0</a:t>
            </a:r>
            <a:r>
              <a:rPr sz="1650" b="0" i="0">
                <a:solidFill>
                  <a:srgbClr val="F0E8E8"/>
                </a:solidFill>
                <a:latin typeface="Geist Mono"/>
                <a:ea typeface="Geist Mono"/>
                <a:cs typeface="Geist Mono"/>
              </a:rPr>
              <a:t>);</a:t>
            </a:r>
          </a:p>
        </p:txBody>
      </p:sp>
      <p:sp>
        <p:nvSpPr>
          <p:cNvPr id="20" name="TextBox 19"/>
          <p:cNvSpPr txBox="1"/>
          <p:nvPr/>
        </p:nvSpPr>
        <p:spPr>
          <a:xfrm>
            <a:off x="1295400" y="6353175"/>
            <a:ext cx="76581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p>
        </p:txBody>
      </p:sp>
      <p:sp>
        <p:nvSpPr>
          <p:cNvPr id="21" name="TextBox 20"/>
          <p:cNvSpPr txBox="1"/>
          <p:nvPr/>
        </p:nvSpPr>
        <p:spPr>
          <a:xfrm>
            <a:off x="1295400" y="6667500"/>
            <a:ext cx="76581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a:t>
            </a:r>
          </a:p>
        </p:txBody>
      </p:sp>
      <p:sp>
        <p:nvSpPr>
          <p:cNvPr id="22" name="Oval 21"/>
          <p:cNvSpPr/>
          <p:nvPr/>
        </p:nvSpPr>
        <p:spPr>
          <a:xfrm>
            <a:off x="8496300" y="3805238"/>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96300" y="3805238"/>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4" name="Oval 23"/>
          <p:cNvSpPr/>
          <p:nvPr/>
        </p:nvSpPr>
        <p:spPr>
          <a:xfrm>
            <a:off x="8496300" y="5062538"/>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96300" y="5062538"/>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6" name="Oval 25"/>
          <p:cNvSpPr/>
          <p:nvPr/>
        </p:nvSpPr>
        <p:spPr>
          <a:xfrm>
            <a:off x="8496300" y="6005512"/>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96300" y="6005512"/>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8" name="Rounded Rectangle 27"/>
          <p:cNvSpPr/>
          <p:nvPr/>
        </p:nvSpPr>
        <p:spPr>
          <a:xfrm>
            <a:off x="9525000" y="2762250"/>
            <a:ext cx="7848600" cy="6191250"/>
          </a:xfrm>
          <a:prstGeom prst="roundRect">
            <a:avLst>
              <a:gd name="adj" fmla="val 2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10658475" y="7419975"/>
            <a:ext cx="630555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001250" y="7277100"/>
            <a:ext cx="5334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31" name="Rectangle 30"/>
          <p:cNvSpPr/>
          <p:nvPr/>
        </p:nvSpPr>
        <p:spPr>
          <a:xfrm>
            <a:off x="10658475" y="6372225"/>
            <a:ext cx="6305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001250" y="6229350"/>
            <a:ext cx="5334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a:t>
            </a:r>
          </a:p>
        </p:txBody>
      </p:sp>
      <p:sp>
        <p:nvSpPr>
          <p:cNvPr id="33" name="Rectangle 32"/>
          <p:cNvSpPr/>
          <p:nvPr/>
        </p:nvSpPr>
        <p:spPr>
          <a:xfrm>
            <a:off x="10658475" y="5324475"/>
            <a:ext cx="6305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001250" y="5181600"/>
            <a:ext cx="5334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2</a:t>
            </a:r>
          </a:p>
        </p:txBody>
      </p:sp>
      <p:sp>
        <p:nvSpPr>
          <p:cNvPr id="35" name="Rectangle 34"/>
          <p:cNvSpPr/>
          <p:nvPr/>
        </p:nvSpPr>
        <p:spPr>
          <a:xfrm>
            <a:off x="10658475" y="4276725"/>
            <a:ext cx="6305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0001250" y="4133850"/>
            <a:ext cx="5334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3</a:t>
            </a:r>
          </a:p>
        </p:txBody>
      </p:sp>
      <p:sp>
        <p:nvSpPr>
          <p:cNvPr id="37" name="Rectangle 36"/>
          <p:cNvSpPr/>
          <p:nvPr/>
        </p:nvSpPr>
        <p:spPr>
          <a:xfrm>
            <a:off x="10658475" y="3228975"/>
            <a:ext cx="6305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10001250" y="3086100"/>
            <a:ext cx="5334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4</a:t>
            </a:r>
          </a:p>
        </p:txBody>
      </p:sp>
      <p:sp>
        <p:nvSpPr>
          <p:cNvPr id="39" name="TextBox 38"/>
          <p:cNvSpPr txBox="1"/>
          <p:nvPr/>
        </p:nvSpPr>
        <p:spPr>
          <a:xfrm>
            <a:off x="10287000" y="75438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 s</a:t>
            </a:r>
          </a:p>
        </p:txBody>
      </p:sp>
      <p:sp>
        <p:nvSpPr>
          <p:cNvPr id="40" name="TextBox 39"/>
          <p:cNvSpPr txBox="1"/>
          <p:nvPr/>
        </p:nvSpPr>
        <p:spPr>
          <a:xfrm>
            <a:off x="12382500" y="75438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 s</a:t>
            </a:r>
          </a:p>
        </p:txBody>
      </p:sp>
      <p:sp>
        <p:nvSpPr>
          <p:cNvPr id="41" name="TextBox 40"/>
          <p:cNvSpPr txBox="1"/>
          <p:nvPr/>
        </p:nvSpPr>
        <p:spPr>
          <a:xfrm>
            <a:off x="14478000" y="75438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4 s</a:t>
            </a:r>
          </a:p>
        </p:txBody>
      </p:sp>
      <p:sp>
        <p:nvSpPr>
          <p:cNvPr id="42" name="TextBox 41"/>
          <p:cNvSpPr txBox="1"/>
          <p:nvPr/>
        </p:nvSpPr>
        <p:spPr>
          <a:xfrm>
            <a:off x="16573500" y="75438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6 s</a:t>
            </a:r>
          </a:p>
        </p:txBody>
      </p:sp>
      <p:cxnSp>
        <p:nvCxnSpPr>
          <p:cNvPr id="43" name="Connector 42"/>
          <p:cNvCxnSpPr/>
          <p:nvPr/>
        </p:nvCxnSpPr>
        <p:spPr>
          <a:xfrm flipV="1">
            <a:off x="10668000" y="7401647"/>
            <a:ext cx="104775" cy="2739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10772775" y="7346327"/>
            <a:ext cx="104775" cy="5532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10877550" y="7257447"/>
            <a:ext cx="104775" cy="8888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10982325" y="7145334"/>
            <a:ext cx="104775" cy="11211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11087100" y="7014664"/>
            <a:ext cx="104775" cy="13067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11191875" y="6869173"/>
            <a:ext cx="104775" cy="14549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11296650" y="6711843"/>
            <a:ext cx="104775" cy="15733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11401425" y="6545058"/>
            <a:ext cx="104775" cy="16678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11506200" y="6370720"/>
            <a:ext cx="104775" cy="17433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11610975" y="6190349"/>
            <a:ext cx="104775" cy="18037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11715750" y="6005160"/>
            <a:ext cx="104775" cy="18518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11820525" y="5816122"/>
            <a:ext cx="104775" cy="18903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11925300" y="5624010"/>
            <a:ext cx="104775" cy="19211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12030075" y="5429443"/>
            <a:ext cx="104775" cy="1945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12134850" y="5232914"/>
            <a:ext cx="104775" cy="19652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12239625" y="5034819"/>
            <a:ext cx="104775" cy="19809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12344400" y="4835473"/>
            <a:ext cx="104775" cy="19934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12449175" y="4635128"/>
            <a:ext cx="104775" cy="20034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12553950" y="4433985"/>
            <a:ext cx="104775" cy="20114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12658725" y="4237127"/>
            <a:ext cx="104775" cy="19685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12763500" y="4122156"/>
            <a:ext cx="104775" cy="11497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12868275" y="4080510"/>
            <a:ext cx="104775" cy="4164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12973050" y="4063064"/>
            <a:ext cx="104775" cy="1744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13077825" y="4055756"/>
            <a:ext cx="104775" cy="730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67" name="Rectangle 66"/>
          <p:cNvSpPr/>
          <p:nvPr/>
        </p:nvSpPr>
        <p:spPr>
          <a:xfrm>
            <a:off x="13154025" y="4027181"/>
            <a:ext cx="16192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Rectangle 67"/>
          <p:cNvSpPr/>
          <p:nvPr/>
        </p:nvSpPr>
        <p:spPr>
          <a:xfrm>
            <a:off x="13258800" y="4024119"/>
            <a:ext cx="16192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Rectangle 68"/>
          <p:cNvSpPr/>
          <p:nvPr/>
        </p:nvSpPr>
        <p:spPr>
          <a:xfrm>
            <a:off x="13363575" y="4022837"/>
            <a:ext cx="16192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Rectangle 69"/>
          <p:cNvSpPr/>
          <p:nvPr/>
        </p:nvSpPr>
        <p:spPr>
          <a:xfrm>
            <a:off x="13468350" y="4022300"/>
            <a:ext cx="16192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ectangle 70"/>
          <p:cNvSpPr/>
          <p:nvPr/>
        </p:nvSpPr>
        <p:spPr>
          <a:xfrm>
            <a:off x="13573125" y="4022075"/>
            <a:ext cx="16192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ectangle 71"/>
          <p:cNvSpPr/>
          <p:nvPr/>
        </p:nvSpPr>
        <p:spPr>
          <a:xfrm>
            <a:off x="13677900" y="4021980"/>
            <a:ext cx="16192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ectangle 72"/>
          <p:cNvSpPr/>
          <p:nvPr/>
        </p:nvSpPr>
        <p:spPr>
          <a:xfrm>
            <a:off x="13782675" y="4021941"/>
            <a:ext cx="16192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ectangle 73"/>
          <p:cNvSpPr/>
          <p:nvPr/>
        </p:nvSpPr>
        <p:spPr>
          <a:xfrm>
            <a:off x="13887450" y="4021924"/>
            <a:ext cx="16192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Rectangle 74"/>
          <p:cNvSpPr/>
          <p:nvPr/>
        </p:nvSpPr>
        <p:spPr>
          <a:xfrm>
            <a:off x="13992225" y="4021917"/>
            <a:ext cx="16192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Rectangle 75"/>
          <p:cNvSpPr/>
          <p:nvPr/>
        </p:nvSpPr>
        <p:spPr>
          <a:xfrm>
            <a:off x="14097000" y="4021915"/>
            <a:ext cx="16192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ectangle 76"/>
          <p:cNvSpPr/>
          <p:nvPr/>
        </p:nvSpPr>
        <p:spPr>
          <a:xfrm>
            <a:off x="14201775" y="4021913"/>
            <a:ext cx="16192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Rectangle 77"/>
          <p:cNvSpPr/>
          <p:nvPr/>
        </p:nvSpPr>
        <p:spPr>
          <a:xfrm>
            <a:off x="14306550" y="4021913"/>
            <a:ext cx="16192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Rectangle 78"/>
          <p:cNvSpPr/>
          <p:nvPr/>
        </p:nvSpPr>
        <p:spPr>
          <a:xfrm>
            <a:off x="14411325" y="4021913"/>
            <a:ext cx="16192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Rectangle 79"/>
          <p:cNvSpPr/>
          <p:nvPr/>
        </p:nvSpPr>
        <p:spPr>
          <a:xfrm>
            <a:off x="14516100" y="4021912"/>
            <a:ext cx="16192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Rectangle 80"/>
          <p:cNvSpPr/>
          <p:nvPr/>
        </p:nvSpPr>
        <p:spPr>
          <a:xfrm>
            <a:off x="14620875" y="4021912"/>
            <a:ext cx="16192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Rectangle 81"/>
          <p:cNvSpPr/>
          <p:nvPr/>
        </p:nvSpPr>
        <p:spPr>
          <a:xfrm>
            <a:off x="14725650" y="4021912"/>
            <a:ext cx="16192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Rectangle 82"/>
          <p:cNvSpPr/>
          <p:nvPr/>
        </p:nvSpPr>
        <p:spPr>
          <a:xfrm>
            <a:off x="14830425" y="4021912"/>
            <a:ext cx="16192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Rectangle 83"/>
          <p:cNvSpPr/>
          <p:nvPr/>
        </p:nvSpPr>
        <p:spPr>
          <a:xfrm>
            <a:off x="14935200" y="4021912"/>
            <a:ext cx="16192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Rectangle 84"/>
          <p:cNvSpPr/>
          <p:nvPr/>
        </p:nvSpPr>
        <p:spPr>
          <a:xfrm>
            <a:off x="15039975" y="4021912"/>
            <a:ext cx="16192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Rectangle 85"/>
          <p:cNvSpPr/>
          <p:nvPr/>
        </p:nvSpPr>
        <p:spPr>
          <a:xfrm>
            <a:off x="15144750" y="4021912"/>
            <a:ext cx="16192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Rectangle 86"/>
          <p:cNvSpPr/>
          <p:nvPr/>
        </p:nvSpPr>
        <p:spPr>
          <a:xfrm>
            <a:off x="15249525" y="4021912"/>
            <a:ext cx="16192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Rectangle 87"/>
          <p:cNvSpPr/>
          <p:nvPr/>
        </p:nvSpPr>
        <p:spPr>
          <a:xfrm>
            <a:off x="15354300" y="4021912"/>
            <a:ext cx="16192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Rectangle 88"/>
          <p:cNvSpPr/>
          <p:nvPr/>
        </p:nvSpPr>
        <p:spPr>
          <a:xfrm>
            <a:off x="15459075" y="4021912"/>
            <a:ext cx="16192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Rectangle 89"/>
          <p:cNvSpPr/>
          <p:nvPr/>
        </p:nvSpPr>
        <p:spPr>
          <a:xfrm>
            <a:off x="15563850" y="4021912"/>
            <a:ext cx="16192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Rectangle 90"/>
          <p:cNvSpPr/>
          <p:nvPr/>
        </p:nvSpPr>
        <p:spPr>
          <a:xfrm>
            <a:off x="15668625" y="4021912"/>
            <a:ext cx="16192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Rectangle 91"/>
          <p:cNvSpPr/>
          <p:nvPr/>
        </p:nvSpPr>
        <p:spPr>
          <a:xfrm>
            <a:off x="15773400" y="4021912"/>
            <a:ext cx="16192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Rectangle 92"/>
          <p:cNvSpPr/>
          <p:nvPr/>
        </p:nvSpPr>
        <p:spPr>
          <a:xfrm>
            <a:off x="15878175" y="4021912"/>
            <a:ext cx="16192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Rectangle 93"/>
          <p:cNvSpPr/>
          <p:nvPr/>
        </p:nvSpPr>
        <p:spPr>
          <a:xfrm>
            <a:off x="15982950" y="4021912"/>
            <a:ext cx="16192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Rectangle 94"/>
          <p:cNvSpPr/>
          <p:nvPr/>
        </p:nvSpPr>
        <p:spPr>
          <a:xfrm>
            <a:off x="16087725" y="4021912"/>
            <a:ext cx="16192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Rectangle 95"/>
          <p:cNvSpPr/>
          <p:nvPr/>
        </p:nvSpPr>
        <p:spPr>
          <a:xfrm>
            <a:off x="16192500" y="4021912"/>
            <a:ext cx="16192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Rectangle 96"/>
          <p:cNvSpPr/>
          <p:nvPr/>
        </p:nvSpPr>
        <p:spPr>
          <a:xfrm>
            <a:off x="16297275" y="4021912"/>
            <a:ext cx="16192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Rectangle 97"/>
          <p:cNvSpPr/>
          <p:nvPr/>
        </p:nvSpPr>
        <p:spPr>
          <a:xfrm>
            <a:off x="16402050" y="4021912"/>
            <a:ext cx="16192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Rectangle 98"/>
          <p:cNvSpPr/>
          <p:nvPr/>
        </p:nvSpPr>
        <p:spPr>
          <a:xfrm>
            <a:off x="16506825" y="4021912"/>
            <a:ext cx="16192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Rectangle 99"/>
          <p:cNvSpPr/>
          <p:nvPr/>
        </p:nvSpPr>
        <p:spPr>
          <a:xfrm>
            <a:off x="16611600" y="4021912"/>
            <a:ext cx="16192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Rectangle 100"/>
          <p:cNvSpPr/>
          <p:nvPr/>
        </p:nvSpPr>
        <p:spPr>
          <a:xfrm>
            <a:off x="16716375" y="4021912"/>
            <a:ext cx="16192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Rectangle 101"/>
          <p:cNvSpPr/>
          <p:nvPr/>
        </p:nvSpPr>
        <p:spPr>
          <a:xfrm>
            <a:off x="16821150" y="4021912"/>
            <a:ext cx="16192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Rectangle 102"/>
          <p:cNvSpPr/>
          <p:nvPr/>
        </p:nvSpPr>
        <p:spPr>
          <a:xfrm>
            <a:off x="10658475" y="4276725"/>
            <a:ext cx="6305550" cy="19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TextBox 103"/>
          <p:cNvSpPr txBox="1"/>
          <p:nvPr/>
        </p:nvSpPr>
        <p:spPr>
          <a:xfrm>
            <a:off x="15430500" y="4362450"/>
            <a:ext cx="15240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x = 3.0</a:t>
            </a:r>
          </a:p>
        </p:txBody>
      </p:sp>
      <p:sp>
        <p:nvSpPr>
          <p:cNvPr id="105" name="TextBox 104"/>
          <p:cNvSpPr txBox="1"/>
          <p:nvPr/>
        </p:nvSpPr>
        <p:spPr>
          <a:xfrm>
            <a:off x="9715500" y="2857500"/>
            <a:ext cx="2857500" cy="285750"/>
          </a:xfrm>
          <a:prstGeom prst="rect">
            <a:avLst/>
          </a:prstGeom>
          <a:noFill/>
        </p:spPr>
        <p:txBody>
          <a:bodyPr wrap="square" lIns="0" rIns="0" tIns="0" bIns="0" anchor="t">
            <a:spAutoFit/>
          </a:bodyPr>
          <a:lstStyle/>
          <a:p>
            <a:pPr algn="l"/>
            <a:r>
              <a:rPr sz="1500" b="0" i="0">
                <a:solidFill>
                  <a:srgbClr val="F0E8E8"/>
                </a:solidFill>
                <a:latin typeface="Geist Mono"/>
                <a:ea typeface="Geist Mono"/>
                <a:cs typeface="Geist Mono"/>
              </a:rPr>
              <a:t>Drive/PoseX (m)</a:t>
            </a:r>
          </a:p>
        </p:txBody>
      </p:sp>
      <p:sp>
        <p:nvSpPr>
          <p:cNvPr id="106" name="Oval 105"/>
          <p:cNvSpPr/>
          <p:nvPr/>
        </p:nvSpPr>
        <p:spPr>
          <a:xfrm>
            <a:off x="10477500" y="695325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10477500" y="69532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08" name="Oval 107"/>
          <p:cNvSpPr/>
          <p:nvPr/>
        </p:nvSpPr>
        <p:spPr>
          <a:xfrm>
            <a:off x="11370850" y="5738116"/>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11370850" y="5738116"/>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10" name="Oval 109"/>
          <p:cNvSpPr/>
          <p:nvPr/>
        </p:nvSpPr>
        <p:spPr>
          <a:xfrm>
            <a:off x="12799695" y="357443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12799695" y="357443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12" name="TextBox 111"/>
          <p:cNvSpPr txBox="1"/>
          <p:nvPr/>
        </p:nvSpPr>
        <p:spPr>
          <a:xfrm>
            <a:off x="9906000" y="8191500"/>
            <a:ext cx="7239000" cy="571500"/>
          </a:xfrm>
          <a:prstGeom prst="rect">
            <a:avLst/>
          </a:prstGeom>
          <a:noFill/>
        </p:spPr>
        <p:txBody>
          <a:bodyPr wrap="square" lIns="0" rIns="0" tIns="0" bIns="0" anchor="t">
            <a:spAutoFit/>
          </a:bodyPr>
          <a:lstStyle/>
          <a:p>
            <a:pPr algn="l">
              <a:lnSpc>
                <a:spcPct val="130000"/>
              </a:lnSpc>
            </a:pPr>
            <a:r>
              <a:rPr sz="1650" b="0" i="0">
                <a:solidFill>
                  <a:srgbClr val="9A7878"/>
                </a:solidFill>
                <a:latin typeface="Geist"/>
                <a:ea typeface="Geist"/>
                <a:cs typeface="Geist"/>
              </a:rPr>
              <a:t>Stops a little past 3 m: the robot coasts after the power is cut.</a:t>
            </a:r>
          </a:p>
        </p:txBody>
      </p:sp>
      <p:sp>
        <p:nvSpPr>
          <p:cNvPr id="113" name="TextBox 112"/>
          <p:cNvSpPr txBox="1"/>
          <p:nvPr/>
        </p:nvSpPr>
        <p:spPr>
          <a:xfrm>
            <a:off x="914400" y="8382000"/>
            <a:ext cx="8191500" cy="381000"/>
          </a:xfrm>
          <a:prstGeom prst="rect">
            <a:avLst/>
          </a:prstGeom>
          <a:noFill/>
        </p:spPr>
        <p:txBody>
          <a:bodyPr wrap="square" lIns="0" rIns="0" tIns="0" bIns="0" anchor="t">
            <a:spAutoFit/>
          </a:bodyPr>
          <a:lstStyle/>
          <a:p>
            <a:pPr algn="l"/>
            <a:r>
              <a:rPr sz="1950" b="1" i="0">
                <a:solidFill>
                  <a:srgbClr val="CC2200"/>
                </a:solidFill>
                <a:latin typeface="Geist"/>
                <a:ea typeface="Geist"/>
                <a:cs typeface="Geist"/>
              </a:rPr>
              <a:t>1 </a:t>
            </a:r>
            <a:r>
              <a:rPr sz="1950" b="0" i="0">
                <a:solidFill>
                  <a:srgbClr val="F0E8E8"/>
                </a:solidFill>
                <a:latin typeface="Geist"/>
                <a:ea typeface="Geist"/>
                <a:cs typeface="Geist"/>
              </a:rPr>
              <a:t>reset   </a:t>
            </a:r>
            <a:r>
              <a:rPr sz="1950" b="1" i="0">
                <a:solidFill>
                  <a:srgbClr val="CC2200"/>
                </a:solidFill>
                <a:latin typeface="Geist"/>
                <a:ea typeface="Geist"/>
                <a:cs typeface="Geist"/>
              </a:rPr>
              <a:t>2 </a:t>
            </a:r>
            <a:r>
              <a:rPr sz="1950" b="0" i="0">
                <a:solidFill>
                  <a:srgbClr val="F0E8E8"/>
                </a:solidFill>
                <a:latin typeface="Geist"/>
                <a:ea typeface="Geist"/>
                <a:cs typeface="Geist"/>
              </a:rPr>
              <a:t>drive while x &lt; 3.0   </a:t>
            </a:r>
            <a:r>
              <a:rPr sz="1950" b="1" i="0">
                <a:solidFill>
                  <a:srgbClr val="CC2200"/>
                </a:solidFill>
                <a:latin typeface="Geist"/>
                <a:ea typeface="Geist"/>
                <a:cs typeface="Geist"/>
              </a:rPr>
              <a:t>3 </a:t>
            </a:r>
            <a:r>
              <a:rPr sz="1950" b="0" i="0">
                <a:solidFill>
                  <a:srgbClr val="F0E8E8"/>
                </a:solidFill>
                <a:latin typeface="Geist"/>
                <a:ea typeface="Geist"/>
                <a:cs typeface="Geist"/>
              </a:rPr>
              <a:t>stop</a:t>
            </a:r>
          </a:p>
        </p:txBody>
      </p:sp>
      <p:sp>
        <p:nvSpPr>
          <p:cNvPr id="114" name="TextBox 11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15" name="TextBox 11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ounded Rectangle 1"/>
          <p:cNvSpPr/>
          <p:nvPr/>
        </p:nvSpPr>
        <p:spPr>
          <a:xfrm>
            <a:off x="914400" y="914400"/>
            <a:ext cx="16459200" cy="8191500"/>
          </a:xfrm>
          <a:prstGeom prst="roundRect">
            <a:avLst>
              <a:gd name="adj" fmla="val 2790"/>
            </a:avLst>
          </a:prstGeom>
          <a:solidFill>
            <a:srgbClr val="1A0F0F"/>
          </a:solidFill>
          <a:ln w="28575">
            <a:solidFill>
              <a:srgbClr val="CC22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524000" y="14859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YOUR TURN</a:t>
            </a:r>
          </a:p>
        </p:txBody>
      </p:sp>
      <p:sp>
        <p:nvSpPr>
          <p:cNvPr id="4" name="TextBox 3"/>
          <p:cNvSpPr txBox="1"/>
          <p:nvPr/>
        </p:nvSpPr>
        <p:spPr>
          <a:xfrm>
            <a:off x="1524000" y="1866900"/>
            <a:ext cx="123825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Objects and Odometry</a:t>
            </a:r>
          </a:p>
        </p:txBody>
      </p:sp>
      <p:sp>
        <p:nvSpPr>
          <p:cNvPr id="5" name="TextBox 4"/>
          <p:cNvSpPr txBox="1"/>
          <p:nvPr/>
        </p:nvSpPr>
        <p:spPr>
          <a:xfrm>
            <a:off x="1524000" y="2762250"/>
            <a:ext cx="11906250" cy="952500"/>
          </a:xfrm>
          <a:prstGeom prst="rect">
            <a:avLst/>
          </a:prstGeom>
          <a:noFill/>
        </p:spPr>
        <p:txBody>
          <a:bodyPr wrap="square" lIns="0" rIns="0" tIns="0" bIns="0" anchor="t">
            <a:spAutoFit/>
          </a:bodyPr>
          <a:lstStyle/>
          <a:p>
            <a:pPr algn="l">
              <a:lnSpc>
                <a:spcPct val="130000"/>
              </a:lnSpc>
            </a:pPr>
            <a:r>
              <a:rPr sz="2250" b="0" i="0">
                <a:solidFill>
                  <a:srgbClr val="F0E8E8"/>
                </a:solidFill>
                <a:latin typeface="Geist"/>
                <a:ea typeface="Geist"/>
                <a:cs typeface="Geist"/>
              </a:rPr>
              <a:t>Write the OI class, then kinematics, yaw and the pose estimator. Drive to x = 3 m in Auto and press Verify on each checkpoint.</a:t>
            </a:r>
          </a:p>
        </p:txBody>
      </p:sp>
      <p:sp>
        <p:nvSpPr>
          <p:cNvPr id="6" name="TextBox 5"/>
          <p:cNvSpPr txBox="1"/>
          <p:nvPr/>
        </p:nvSpPr>
        <p:spPr>
          <a:xfrm>
            <a:off x="1524000" y="4095750"/>
            <a:ext cx="8572500" cy="28575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4 CHECKPOINTS</a:t>
            </a:r>
          </a:p>
        </p:txBody>
      </p:sp>
      <p:pic>
        <p:nvPicPr>
          <p:cNvPr id="7" name="Picture 6" descr="check-circle-fill.png"/>
          <p:cNvPicPr>
            <a:picLocks noChangeAspect="1"/>
          </p:cNvPicPr>
          <p:nvPr/>
        </p:nvPicPr>
        <p:blipFill>
          <a:blip r:embed="rId3"/>
          <a:stretch>
            <a:fillRect/>
          </a:stretch>
        </p:blipFill>
        <p:spPr>
          <a:xfrm>
            <a:off x="1524000" y="4591050"/>
            <a:ext cx="323850" cy="323850"/>
          </a:xfrm>
          <a:prstGeom prst="rect">
            <a:avLst/>
          </a:prstGeom>
        </p:spPr>
      </p:pic>
      <p:sp>
        <p:nvSpPr>
          <p:cNvPr id="8" name="TextBox 7"/>
          <p:cNvSpPr txBox="1"/>
          <p:nvPr/>
        </p:nvSpPr>
        <p:spPr>
          <a:xfrm>
            <a:off x="2038350" y="4533900"/>
            <a:ext cx="3619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OI class</a:t>
            </a:r>
          </a:p>
        </p:txBody>
      </p:sp>
      <p:sp>
        <p:nvSpPr>
          <p:cNvPr id="9" name="TextBox 8"/>
          <p:cNvSpPr txBox="1"/>
          <p:nvPr/>
        </p:nvSpPr>
        <p:spPr>
          <a:xfrm>
            <a:off x="5715000" y="4572000"/>
            <a:ext cx="7810500" cy="4191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Static getForward() and getTurn(); Robot.java uses them</a:t>
            </a:r>
          </a:p>
        </p:txBody>
      </p:sp>
      <p:pic>
        <p:nvPicPr>
          <p:cNvPr id="10" name="Picture 9" descr="check-circle-fill.png"/>
          <p:cNvPicPr>
            <a:picLocks noChangeAspect="1"/>
          </p:cNvPicPr>
          <p:nvPr/>
        </p:nvPicPr>
        <p:blipFill>
          <a:blip r:embed="rId3"/>
          <a:stretch>
            <a:fillRect/>
          </a:stretch>
        </p:blipFill>
        <p:spPr>
          <a:xfrm>
            <a:off x="1524000" y="5429250"/>
            <a:ext cx="323850" cy="323850"/>
          </a:xfrm>
          <a:prstGeom prst="rect">
            <a:avLst/>
          </a:prstGeom>
        </p:spPr>
      </p:pic>
      <p:sp>
        <p:nvSpPr>
          <p:cNvPr id="11" name="TextBox 10"/>
          <p:cNvSpPr txBox="1"/>
          <p:nvPr/>
        </p:nvSpPr>
        <p:spPr>
          <a:xfrm>
            <a:off x="2038350" y="5372100"/>
            <a:ext cx="3619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Chassis speeds</a:t>
            </a:r>
          </a:p>
        </p:txBody>
      </p:sp>
      <p:sp>
        <p:nvSpPr>
          <p:cNvPr id="12" name="TextBox 11"/>
          <p:cNvSpPr txBox="1"/>
          <p:nvPr/>
        </p:nvSpPr>
        <p:spPr>
          <a:xfrm>
            <a:off x="5715000" y="5410200"/>
            <a:ext cx="7810500" cy="4191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Full speed forward: Drive/LinearSpeed about 5 m/s</a:t>
            </a:r>
          </a:p>
        </p:txBody>
      </p:sp>
      <p:pic>
        <p:nvPicPr>
          <p:cNvPr id="13" name="Picture 12" descr="check-circle-fill.png"/>
          <p:cNvPicPr>
            <a:picLocks noChangeAspect="1"/>
          </p:cNvPicPr>
          <p:nvPr/>
        </p:nvPicPr>
        <p:blipFill>
          <a:blip r:embed="rId3"/>
          <a:stretch>
            <a:fillRect/>
          </a:stretch>
        </p:blipFill>
        <p:spPr>
          <a:xfrm>
            <a:off x="1524000" y="6267450"/>
            <a:ext cx="323850" cy="323850"/>
          </a:xfrm>
          <a:prstGeom prst="rect">
            <a:avLst/>
          </a:prstGeom>
        </p:spPr>
      </p:pic>
      <p:sp>
        <p:nvSpPr>
          <p:cNvPr id="14" name="TextBox 13"/>
          <p:cNvSpPr txBox="1"/>
          <p:nvPr/>
        </p:nvSpPr>
        <p:spPr>
          <a:xfrm>
            <a:off x="2038350" y="6210300"/>
            <a:ext cx="3619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Yaw</a:t>
            </a:r>
          </a:p>
        </p:txBody>
      </p:sp>
      <p:sp>
        <p:nvSpPr>
          <p:cNvPr id="15" name="TextBox 14"/>
          <p:cNvSpPr txBox="1"/>
          <p:nvPr/>
        </p:nvSpPr>
        <p:spPr>
          <a:xfrm>
            <a:off x="5715000" y="6248400"/>
            <a:ext cx="7810500" cy="4191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Spin left: Drive/PoseYawDeg clearly positive</a:t>
            </a:r>
          </a:p>
        </p:txBody>
      </p:sp>
      <p:pic>
        <p:nvPicPr>
          <p:cNvPr id="16" name="Picture 15" descr="check-circle-fill.png"/>
          <p:cNvPicPr>
            <a:picLocks noChangeAspect="1"/>
          </p:cNvPicPr>
          <p:nvPr/>
        </p:nvPicPr>
        <p:blipFill>
          <a:blip r:embed="rId3"/>
          <a:stretch>
            <a:fillRect/>
          </a:stretch>
        </p:blipFill>
        <p:spPr>
          <a:xfrm>
            <a:off x="1524000" y="7105650"/>
            <a:ext cx="323850" cy="323850"/>
          </a:xfrm>
          <a:prstGeom prst="rect">
            <a:avLst/>
          </a:prstGeom>
        </p:spPr>
      </p:pic>
      <p:sp>
        <p:nvSpPr>
          <p:cNvPr id="17" name="TextBox 16"/>
          <p:cNvSpPr txBox="1"/>
          <p:nvPr/>
        </p:nvSpPr>
        <p:spPr>
          <a:xfrm>
            <a:off x="2038350" y="7048500"/>
            <a:ext cx="3619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Drive to x = 3 m</a:t>
            </a:r>
          </a:p>
        </p:txBody>
      </p:sp>
      <p:sp>
        <p:nvSpPr>
          <p:cNvPr id="18" name="TextBox 17"/>
          <p:cNvSpPr txBox="1"/>
          <p:nvPr/>
        </p:nvSpPr>
        <p:spPr>
          <a:xfrm>
            <a:off x="5715000" y="7086600"/>
            <a:ext cx="7810500" cy="4191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Run Auto: Drive/PoseX ends near 3 m</a:t>
            </a:r>
          </a:p>
        </p:txBody>
      </p:sp>
      <p:sp>
        <p:nvSpPr>
          <p:cNvPr id="19" name="TextBox 18"/>
          <p:cNvSpPr txBox="1"/>
          <p:nvPr/>
        </p:nvSpPr>
        <p:spPr>
          <a:xfrm>
            <a:off x="1524000" y="8001000"/>
            <a:ext cx="12382500" cy="381000"/>
          </a:xfrm>
          <a:prstGeom prst="rect">
            <a:avLst/>
          </a:prstGeom>
          <a:noFill/>
        </p:spPr>
        <p:txBody>
          <a:bodyPr wrap="square" lIns="0" rIns="0" tIns="0" bIns="0" anchor="t">
            <a:spAutoFit/>
          </a:bodyPr>
          <a:lstStyle/>
          <a:p>
            <a:pPr algn="l"/>
            <a:r>
              <a:rPr sz="1800" b="1" i="0">
                <a:solidFill>
                  <a:srgbClr val="F0E8E8"/>
                </a:solidFill>
                <a:latin typeface="Geist"/>
                <a:ea typeface="Geist"/>
                <a:cs typeface="Geist"/>
              </a:rPr>
              <a:t>Bonus: </a:t>
            </a:r>
            <a:r>
              <a:rPr sz="1800" b="0" i="0">
                <a:solidFill>
                  <a:srgbClr val="9A7878"/>
                </a:solidFill>
                <a:latin typeface="Geist"/>
                <a:ea typeface="Geist"/>
                <a:cs typeface="Geist"/>
              </a:rPr>
              <a:t>getSlowMode() on a bumper in OI; reset the pose to (2.0, 4.0) at the start of Auto</a:t>
            </a:r>
          </a:p>
        </p:txBody>
      </p:sp>
      <p:sp>
        <p:nvSpPr>
          <p:cNvPr id="20" name="TextBox 19"/>
          <p:cNvSpPr txBox="1"/>
          <p:nvPr/>
        </p:nvSpPr>
        <p:spPr>
          <a:xfrm>
            <a:off x="1524000" y="8439150"/>
            <a:ext cx="12382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In Scriptum: </a:t>
            </a:r>
            <a:r>
              <a:rPr sz="1800" b="1" i="0">
                <a:solidFill>
                  <a:srgbClr val="F0E8E8"/>
                </a:solidFill>
                <a:latin typeface="Geist"/>
                <a:ea typeface="Geist"/>
                <a:cs typeface="Geist"/>
              </a:rPr>
              <a:t>FRC Robot  ›  Objects and Odometry</a:t>
            </a:r>
          </a:p>
        </p:txBody>
      </p:sp>
      <p:pic>
        <p:nvPicPr>
          <p:cNvPr id="21" name="Picture 20" descr="dozer.png"/>
          <p:cNvPicPr>
            <a:picLocks noChangeAspect="1"/>
          </p:cNvPicPr>
          <p:nvPr/>
        </p:nvPicPr>
        <p:blipFill>
          <a:blip r:embed="rId4"/>
          <a:stretch>
            <a:fillRect/>
          </a:stretch>
        </p:blipFill>
        <p:spPr>
          <a:xfrm>
            <a:off x="14287500" y="6096000"/>
            <a:ext cx="2667000" cy="1639254"/>
          </a:xfrm>
          <a:prstGeom prst="rect">
            <a:avLst/>
          </a:prstGeom>
        </p:spPr>
      </p:pic>
      <p:sp>
        <p:nvSpPr>
          <p:cNvPr id="22" name="TextBox 2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3" name="TextBox 2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RECAP</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you can do now</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check-circle-fill.png"/>
          <p:cNvPicPr>
            <a:picLocks noChangeAspect="1"/>
          </p:cNvPicPr>
          <p:nvPr/>
        </p:nvPicPr>
        <p:blipFill>
          <a:blip r:embed="rId3"/>
          <a:stretch>
            <a:fillRect/>
          </a:stretch>
        </p:blipFill>
        <p:spPr>
          <a:xfrm>
            <a:off x="914400" y="2895600"/>
            <a:ext cx="381000" cy="381000"/>
          </a:xfrm>
          <a:prstGeom prst="rect">
            <a:avLst/>
          </a:prstGeom>
        </p:spPr>
      </p:pic>
      <p:sp>
        <p:nvSpPr>
          <p:cNvPr id="6" name="TextBox 5"/>
          <p:cNvSpPr txBox="1"/>
          <p:nvPr/>
        </p:nvSpPr>
        <p:spPr>
          <a:xfrm>
            <a:off x="1524000" y="28575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Tell a class from an object</a:t>
            </a:r>
          </a:p>
        </p:txBody>
      </p:sp>
      <p:pic>
        <p:nvPicPr>
          <p:cNvPr id="7" name="Picture 6" descr="check-circle-fill.png"/>
          <p:cNvPicPr>
            <a:picLocks noChangeAspect="1"/>
          </p:cNvPicPr>
          <p:nvPr/>
        </p:nvPicPr>
        <p:blipFill>
          <a:blip r:embed="rId3"/>
          <a:stretch>
            <a:fillRect/>
          </a:stretch>
        </p:blipFill>
        <p:spPr>
          <a:xfrm>
            <a:off x="914400" y="3771900"/>
            <a:ext cx="381000" cy="381000"/>
          </a:xfrm>
          <a:prstGeom prst="rect">
            <a:avLst/>
          </a:prstGeom>
        </p:spPr>
      </p:pic>
      <p:sp>
        <p:nvSpPr>
          <p:cNvPr id="8" name="TextBox 7"/>
          <p:cNvSpPr txBox="1"/>
          <p:nvPr/>
        </p:nvSpPr>
        <p:spPr>
          <a:xfrm>
            <a:off x="1524000" y="37338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Build objects with new, use them with a dot</a:t>
            </a:r>
          </a:p>
        </p:txBody>
      </p:sp>
      <p:pic>
        <p:nvPicPr>
          <p:cNvPr id="9" name="Picture 8" descr="check-circle-fill.png"/>
          <p:cNvPicPr>
            <a:picLocks noChangeAspect="1"/>
          </p:cNvPicPr>
          <p:nvPr/>
        </p:nvPicPr>
        <p:blipFill>
          <a:blip r:embed="rId3"/>
          <a:stretch>
            <a:fillRect/>
          </a:stretch>
        </p:blipFill>
        <p:spPr>
          <a:xfrm>
            <a:off x="914400" y="4648200"/>
            <a:ext cx="381000" cy="381000"/>
          </a:xfrm>
          <a:prstGeom prst="rect">
            <a:avLst/>
          </a:prstGeom>
        </p:spPr>
      </p:pic>
      <p:sp>
        <p:nvSpPr>
          <p:cNvPr id="10" name="TextBox 9"/>
          <p:cNvSpPr txBox="1"/>
          <p:nvPr/>
        </p:nvSpPr>
        <p:spPr>
          <a:xfrm>
            <a:off x="1524000" y="46101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Write static methods in an OI class</a:t>
            </a:r>
          </a:p>
        </p:txBody>
      </p:sp>
      <p:pic>
        <p:nvPicPr>
          <p:cNvPr id="11" name="Picture 10" descr="check-circle-fill.png"/>
          <p:cNvPicPr>
            <a:picLocks noChangeAspect="1"/>
          </p:cNvPicPr>
          <p:nvPr/>
        </p:nvPicPr>
        <p:blipFill>
          <a:blip r:embed="rId3"/>
          <a:stretch>
            <a:fillRect/>
          </a:stretch>
        </p:blipFill>
        <p:spPr>
          <a:xfrm>
            <a:off x="914400" y="5524500"/>
            <a:ext cx="381000" cy="381000"/>
          </a:xfrm>
          <a:prstGeom prst="rect">
            <a:avLst/>
          </a:prstGeom>
        </p:spPr>
      </p:pic>
      <p:sp>
        <p:nvSpPr>
          <p:cNvPr id="12" name="TextBox 11"/>
          <p:cNvSpPr txBox="1"/>
          <p:nvPr/>
        </p:nvSpPr>
        <p:spPr>
          <a:xfrm>
            <a:off x="1524000" y="54864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Use Rotation2d, Pose2d and ChassisSpeeds</a:t>
            </a:r>
          </a:p>
        </p:txBody>
      </p:sp>
      <p:pic>
        <p:nvPicPr>
          <p:cNvPr id="13" name="Picture 12" descr="check-circle-fill.png"/>
          <p:cNvPicPr>
            <a:picLocks noChangeAspect="1"/>
          </p:cNvPicPr>
          <p:nvPr/>
        </p:nvPicPr>
        <p:blipFill>
          <a:blip r:embed="rId3"/>
          <a:stretch>
            <a:fillRect/>
          </a:stretch>
        </p:blipFill>
        <p:spPr>
          <a:xfrm>
            <a:off x="914400" y="6400800"/>
            <a:ext cx="381000" cy="381000"/>
          </a:xfrm>
          <a:prstGeom prst="rect">
            <a:avLst/>
          </a:prstGeom>
        </p:spPr>
      </p:pic>
      <p:sp>
        <p:nvSpPr>
          <p:cNvPr id="14" name="TextBox 13"/>
          <p:cNvSpPr txBox="1"/>
          <p:nvPr/>
        </p:nvSpPr>
        <p:spPr>
          <a:xfrm>
            <a:off x="1524000" y="63627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Turn wheel speeds into speed and yaw</a:t>
            </a:r>
          </a:p>
        </p:txBody>
      </p:sp>
      <p:pic>
        <p:nvPicPr>
          <p:cNvPr id="15" name="Picture 14" descr="check-circle-fill.png"/>
          <p:cNvPicPr>
            <a:picLocks noChangeAspect="1"/>
          </p:cNvPicPr>
          <p:nvPr/>
        </p:nvPicPr>
        <p:blipFill>
          <a:blip r:embed="rId3"/>
          <a:stretch>
            <a:fillRect/>
          </a:stretch>
        </p:blipFill>
        <p:spPr>
          <a:xfrm>
            <a:off x="914400" y="7277100"/>
            <a:ext cx="381000" cy="381000"/>
          </a:xfrm>
          <a:prstGeom prst="rect">
            <a:avLst/>
          </a:prstGeom>
        </p:spPr>
      </p:pic>
      <p:sp>
        <p:nvSpPr>
          <p:cNvPr id="16" name="TextBox 15"/>
          <p:cNvSpPr txBox="1"/>
          <p:nvPr/>
        </p:nvSpPr>
        <p:spPr>
          <a:xfrm>
            <a:off x="1524000" y="72390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Track the pose and use it in Auto</a:t>
            </a:r>
          </a:p>
        </p:txBody>
      </p:sp>
      <p:sp>
        <p:nvSpPr>
          <p:cNvPr id="17" name="Rounded Rectangle 16"/>
          <p:cNvSpPr/>
          <p:nvPr/>
        </p:nvSpPr>
        <p:spPr>
          <a:xfrm>
            <a:off x="8953500" y="2857500"/>
            <a:ext cx="4000500" cy="5715000"/>
          </a:xfrm>
          <a:prstGeom prst="roundRect">
            <a:avLst>
              <a:gd name="adj" fmla="val 38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34500" y="3238500"/>
            <a:ext cx="3429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RELATED JAVA TRAINING</a:t>
            </a:r>
          </a:p>
        </p:txBody>
      </p:sp>
      <p:pic>
        <p:nvPicPr>
          <p:cNvPr id="19" name="Picture 18" descr="code-slash.png"/>
          <p:cNvPicPr>
            <a:picLocks noChangeAspect="1"/>
          </p:cNvPicPr>
          <p:nvPr/>
        </p:nvPicPr>
        <p:blipFill>
          <a:blip r:embed="rId4"/>
          <a:stretch>
            <a:fillRect/>
          </a:stretch>
        </p:blipFill>
        <p:spPr>
          <a:xfrm>
            <a:off x="9334500" y="3962400"/>
            <a:ext cx="326571" cy="304800"/>
          </a:xfrm>
          <a:prstGeom prst="rect">
            <a:avLst/>
          </a:prstGeom>
        </p:spPr>
      </p:pic>
      <p:sp>
        <p:nvSpPr>
          <p:cNvPr id="20" name="TextBox 19"/>
          <p:cNvSpPr txBox="1"/>
          <p:nvPr/>
        </p:nvSpPr>
        <p:spPr>
          <a:xfrm>
            <a:off x="9867900" y="3905250"/>
            <a:ext cx="2857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Classes &amp; Objects</a:t>
            </a:r>
          </a:p>
        </p:txBody>
      </p:sp>
      <p:pic>
        <p:nvPicPr>
          <p:cNvPr id="21" name="Picture 20" descr="code-slash.png"/>
          <p:cNvPicPr>
            <a:picLocks noChangeAspect="1"/>
          </p:cNvPicPr>
          <p:nvPr/>
        </p:nvPicPr>
        <p:blipFill>
          <a:blip r:embed="rId4"/>
          <a:stretch>
            <a:fillRect/>
          </a:stretch>
        </p:blipFill>
        <p:spPr>
          <a:xfrm>
            <a:off x="9334500" y="4724400"/>
            <a:ext cx="326571" cy="304800"/>
          </a:xfrm>
          <a:prstGeom prst="rect">
            <a:avLst/>
          </a:prstGeom>
        </p:spPr>
      </p:pic>
      <p:sp>
        <p:nvSpPr>
          <p:cNvPr id="22" name="TextBox 21"/>
          <p:cNvSpPr txBox="1"/>
          <p:nvPr/>
        </p:nvSpPr>
        <p:spPr>
          <a:xfrm>
            <a:off x="9867900" y="4667250"/>
            <a:ext cx="2857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Inheritance</a:t>
            </a:r>
          </a:p>
        </p:txBody>
      </p:sp>
      <p:sp>
        <p:nvSpPr>
          <p:cNvPr id="23" name="TextBox 22"/>
          <p:cNvSpPr txBox="1"/>
          <p:nvPr/>
        </p:nvSpPr>
        <p:spPr>
          <a:xfrm>
            <a:off x="9334500" y="7239000"/>
            <a:ext cx="3238500" cy="1047750"/>
          </a:xfrm>
          <a:prstGeom prst="rect">
            <a:avLst/>
          </a:prstGeom>
          <a:noFill/>
        </p:spPr>
        <p:txBody>
          <a:bodyPr wrap="square" lIns="0" rIns="0" tIns="0" bIns="0" anchor="t">
            <a:spAutoFit/>
          </a:bodyPr>
          <a:lstStyle/>
          <a:p>
            <a:pPr algn="l">
              <a:lnSpc>
                <a:spcPct val="130000"/>
              </a:lnSpc>
            </a:pPr>
            <a:r>
              <a:rPr sz="1650" b="0" i="0">
                <a:solidFill>
                  <a:srgbClr val="9A7878"/>
                </a:solidFill>
                <a:latin typeface="Geist"/>
                <a:ea typeface="Geist"/>
                <a:cs typeface="Geist"/>
              </a:rPr>
              <a:t>Optional practice in Scriptum's Java track.</a:t>
            </a:r>
          </a:p>
        </p:txBody>
      </p:sp>
      <p:sp>
        <p:nvSpPr>
          <p:cNvPr id="24" name="Rounded Rectangle 23"/>
          <p:cNvSpPr/>
          <p:nvPr/>
        </p:nvSpPr>
        <p:spPr>
          <a:xfrm>
            <a:off x="13335000" y="2857500"/>
            <a:ext cx="4038600" cy="5715000"/>
          </a:xfrm>
          <a:prstGeom prst="roundRect">
            <a:avLst>
              <a:gd name="adj" fmla="val 377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3716000" y="3238500"/>
            <a:ext cx="3238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NEXT UP</a:t>
            </a:r>
          </a:p>
        </p:txBody>
      </p:sp>
      <p:sp>
        <p:nvSpPr>
          <p:cNvPr id="26" name="TextBox 25"/>
          <p:cNvSpPr txBox="1"/>
          <p:nvPr/>
        </p:nvSpPr>
        <p:spPr>
          <a:xfrm>
            <a:off x="13716000" y="3810000"/>
            <a:ext cx="3333750" cy="1143000"/>
          </a:xfrm>
          <a:prstGeom prst="rect">
            <a:avLst/>
          </a:prstGeom>
          <a:noFill/>
        </p:spPr>
        <p:txBody>
          <a:bodyPr wrap="square" lIns="0" rIns="0" tIns="0" bIns="0" anchor="t">
            <a:spAutoFit/>
          </a:bodyPr>
          <a:lstStyle/>
          <a:p>
            <a:pPr algn="l">
              <a:lnSpc>
                <a:spcPct val="110000"/>
              </a:lnSpc>
            </a:pPr>
            <a:r>
              <a:rPr sz="2850" b="1" i="0">
                <a:solidFill>
                  <a:srgbClr val="F0E8E8"/>
                </a:solidFill>
                <a:latin typeface="Geist"/>
                <a:ea typeface="Geist"/>
                <a:cs typeface="Geist"/>
              </a:rPr>
              <a:t>Mechanisms and Subsystems</a:t>
            </a:r>
          </a:p>
        </p:txBody>
      </p:sp>
      <p:sp>
        <p:nvSpPr>
          <p:cNvPr id="27" name="TextBox 26"/>
          <p:cNvSpPr txBox="1"/>
          <p:nvPr/>
        </p:nvSpPr>
        <p:spPr>
          <a:xfrm>
            <a:off x="13716000" y="4953000"/>
            <a:ext cx="3333750" cy="18097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Move the drivetrain into a subsystem, then build a shooter from a flywheel and a roller.</a:t>
            </a:r>
          </a:p>
        </p:txBody>
      </p:sp>
      <p:pic>
        <p:nvPicPr>
          <p:cNvPr id="28" name="Picture 27" descr="dozer.png"/>
          <p:cNvPicPr>
            <a:picLocks noChangeAspect="1"/>
          </p:cNvPicPr>
          <p:nvPr/>
        </p:nvPicPr>
        <p:blipFill>
          <a:blip r:embed="rId5"/>
          <a:stretch>
            <a:fillRect/>
          </a:stretch>
        </p:blipFill>
        <p:spPr>
          <a:xfrm>
            <a:off x="14478000" y="7048500"/>
            <a:ext cx="2190750" cy="1346530"/>
          </a:xfrm>
          <a:prstGeom prst="rect">
            <a:avLst/>
          </a:prstGeom>
        </p:spPr>
      </p:pic>
      <p:sp>
        <p:nvSpPr>
          <p:cNvPr id="29" name="TextBox 2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0" name="TextBox 2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