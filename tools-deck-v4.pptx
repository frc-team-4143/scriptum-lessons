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Lst>
  <p:sldSz cx="18288000" cy="10287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This deck covers the tools every programmer on the team uses before we touch robot code: the editor, git, AdvantageScope, Elastic and Choreo. Each section teaches the ideas; the hands-on practice is the matching Scriptum lesson, listed at the end.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sections. The first two are about writing and saving code. The last three are about seeing and steering the robot.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the team laptops each tool is its own desktop app: VS Code with the WPILib extension, AdvantageScope, Elastic, Choreo, plus the FRC Driver Station. That's what you'll use on the real robot. For training we use Scriptum, a browser workspace that bundles the same tools next to a simulated robot, so you can practice without a laptop or a robot.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experience needed. These are the things every programmer does all day.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code editor is a text editor built for code. It colors the code, points out mistakes before you run it, and lets you add extensions. The WPILib extension is what lets us build and deploy robot code. The team laptops run VS Code; Scriptum's training editor is VSCodium, the open-source build of the same editor, so everything here works the same on a laptop.</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Scriptum, the training workspace. On a laptop, the editor is VS Code and the tool panes and Driver Station are separate app windows. Point at each part. 1 Explorer: the project's files. 2 Editor: where you type. 3 Tool panes: AdvantageScope here; Elastic and Choreo open in the same spot. 4 Driver Station: Start builds and runs the robot code, Enable turns it on, Teleop/Auto/Test pick the mode.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Code isn't magic: it's words typed into files. The extension after the dot tells you and the computer what kind of file it is. These four show up in every robot project.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project is one folder with everything for a program. A path is a file's address: the folders you walk through to reach it. Every robot lesson's code is at this same path. Activity: ask students to read the path out loud as directions.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terminal is another way to work with the same files: type a command, press Enter. Have everyone open it with Ctrl+` and run pwd and ls. Up arrow repeats the last command; Tab finishes a name for you.</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Shortcuts save a lot of clicking. Click inside the editor first so it hears the keys.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Cole's tech tips. Try each live: Alt+click three lines and type; select a word and press Ctrl+D a few times; Ctrl+click a method name to jump to it. The command palette runs every WPILib command: type WPILib to see Build and Deploy. GitLens (an extension) shows who last changed each line, called blame.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you press Run, the editor first compiles the Java: it checks it and turns it into instructions the computer can run. If there's a mistake, it stops and tells you where. Then the program runs and anything it prints shows in the terminal. Robot code works the same way, except the program keeps running in a loop.</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Git is how the whole team works on the same robot code without overwriting each other.</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Without version control, people email files around and overwrite each other's work. Git remembers every version, like unlimited save points in a game, and lets many people work at once. Ask: who has ever lost work because they saved over something?</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repository is a project folder git is watching. Each programming project is usually its own repo: the robot code, MWLib, this year's vision code. Every repo keeps its whole history inside a hidden .git folder.</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commit is a saved snapshot with a message. Keep commits small so each one is one step. They act as breadcrumbs for your work, so a teammate (or you, next week) can see exactly what changed and when. Activity: have students rewrite the bad messages.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Your code moves through four places. You edit in the working directory. git add (the + button) stages a change: picks it for the next commit, like putting items in a box before you seal it. git commit seals the box into your local repository. git push sends it to the remote on GitHub. Edit, save, stage, message, commit is the routine every time.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branch is your own line of work that doesn't disturb anyone else's. Always branch for a new feature. Here a bugfix and a new feature both started from main and grow side by side: neither one sees the other's commits until they're merged.</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conventions: main is production-ready. develop collects finished features. Every feature branch starts from develop, is named issue-&lt;number&gt;-&lt;description&gt; after its GitHub issue, and merges back into develop through a pull request. When develop is ready for competition it's merged into main. Nobody pushes straight to main or develop.</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Merging brings another branch's commits into the one you're on. Stand on the branch that receives the work: here we're on develop and merge shooter into it. The merge commit (the solid dot) has two parents, so develop now has the teammate's commit and all of shooter's. On the team, merges happen through pull requests on GitHub so someone reviews the code first.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two branches changed the same line, git can't guess which one is right, so it stops and asks you. It's not an error. Analogy: two people edit the same line of a recipe, one to 2 cups and one to half a cup. The editor shows Accept Current, Accept Incoming and Accept Both above the conflict.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Rebase picks up your commits and puts them back down on top of develop's newest commit, as if you had just started. A and B become new commits A' and B' (new IDs), and history becomes one straight line. Because it rewrites your commits, only rebase a branch nobody else has copied. If you're not sure, merge: it's always safe.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Your project folder is the local copy. The team's shared copy lives on GitHub and is called the remote, usually named origin. Push sends your commits up; pull brings teammates' commits down. Stash puts unfinished work on a shelf so you can switch branches, and stash pop brings it back.</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GitHub is where the team stores every project online (github.com/FRC-Team-4143). Beyond storage it gives us pull requests for code review, issues to track work, and project boards to see who is doing what. Feature branch names come from issue numbers.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how every task on the team flows, start to finish. Find or make the issue and assign yourself. Branch from develop named after the issue. Commit small steps and comment on the issue as you go. Open a pull request linked to the issue, ask a teammate or mentor to review, merge once it's approved, then delete the branch. The project board columns follow along.</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 can't see inside a robot. Telemetry is how the robot tells us what it's doing.</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loop (about 50 times a second) the robot code can publish values: speeds, sensor readings, where it thinks it is. Those values travel over NetworkTables to tools on the laptop. AdvantageScope graphs and draws them; Elastic shows them to drivers. AdvantageKit can also save them to a log file to replay after a match.</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published value is a field with a name and a type. The type decides how AdvantageScope can show it: numbers on a line graph, true/false as colored bands, poses on a field. Ask: what type would the battery voltage be? Is a game piece loaded?</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Line graphs plot values over time. 1: the left and right axes each have their own scale, so RPM (thousands) and battery voltage (about 12) fit on one graph. 2: lock an axis range with the lock icon so the scale stops jumping. 3: discrete fields show true/false and text as colored bands under the graph. 4: hover to read exact values at one moment; scroll to zoom in time. Ask: why does the voltage dip when the flywheel spins up?</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Differentiate shows how fast a value is changing. Flywheel RPM differentiated is how fast the flywheel is speeding up: big while it spins up, zero once it holds speed, negative as it slows. Same idea as speed and acceleration: a car at a steady 60 mph has zero acceleration.</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pose is where the robot is and which way it faces: x and y in meters from the field's origin corner (the blue alliance side), plus a rotation measured counterclockwise from the x axis. A Pose2d is flat; a Pose3d adds height, tilt and roll. The 2D and 3D Field tabs draw it so you can watch the robot drive. Ask: what happens to x as the robot drives toward the red alliance?</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AdvantageScope was built by Team 6328. It reads two kinds of source. Live: anything on NetworkTables, from the robot or the simulator (File &gt; Connect to Robot / Connect to Simulator). Logs: files recorded during testing and matches, opened with File &gt; Open Log(s). It's a big app for development and match review, not for driving during competition; that's Elastic's job. The team keeps layout templates (tuning, match review) you load with File &gt; Import Layout.</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Most values are read-only: AdvantageScope just shows them. Tuning Mode, the slider icon, lets you type new values, but only for values the code publishes under /Tuning. That's how we'll tune things like flywheel speed without redeploying code.</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AdvantageScope is for programmers digging into data. Elastic is for drivers glancing at a screen.</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Both tools read the same robot data. AdvantageScope is the analysis tool: graphs, replays, deep dives after a match. Elastic is the driver dashboard: big, simple widgets a driver can read in a glance, and controls they can set before a match. Elastic was built by Team 353 and replaces the older SmartDashboard and Shuffleboard.</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NetworkTables is a shared table of named values. The robot publishes a topic, like ClimberSpeed; any dashboard can subscribe to it by name. It also works the other way: a dashboard can publish a value and the robot reads it.</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Pick the widget that matches the data and what the driver needs to know. A boolean as a big green/red box is readable from across the room; a number bar shows a value against its range. To add one, click + Add Widget and drag a topic onto the grid; Elastic picks a widget from the topic's type, and right-click &gt; Edit Properties changes it.</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Most widgets only display. Some send values to the robot: sliders, choosers, toggles, text with a submit button. The robot reads whatever was last sent. This is how drivers pick the auto routine before a match. Elastic layouts are saved to a file, so use File &gt; Save.</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autonomous nobody is driving: the robot follows the plan we give it.</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match starts with an autonomous period: the robot drives itself with no driver input. It needs a plan of exactly where to go and how fast. Choreo is the tool we use to make that plan.</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path is just the route. A trajectory adds timing: at every moment, where the robot should be, which way it faces and how fast it's moving. That's what the robot code follows.</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Waypoints are points the path goes through. Pose waypoints pin position and heading; use them at the start and end. Translation waypoints pin only position and let Choreo pick the heading. Constraints are rules, like a max velocity in one zone.</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Generate works out the fastest trajectory through every waypoint that obeys every constraint, using the robot's real limits (motor speed, mass, wheel grip). If no such path exists, it fails. Fix it by changing the numbers or switching a constraint off, then generate again.</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hands-on part. Each tool has a Scriptum lesson in the Tools track; open the lesson chip and press Verify on each checkpoint. Nothing is graded and you can verify as many times as you like.</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Wrap up. Everything after this uses these tools: the editor every time, git for every change, AdvantageScope to check what the robot did, and Choreo again in Choreo Autonomous.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png"/><Relationship Id="rId7" Type="http://schemas.openxmlformats.org/officeDocument/2006/relationships/image" Target="../media/image7.png"/><Relationship Id="rId8"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3.png"/><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image" Target="../media/image7.png"/><Relationship Id="rId7" Type="http://schemas.openxmlformats.org/officeDocument/2006/relationships/image" Target="../media/image8.png"/><Relationship Id="rId8"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3.png"/><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9.jpg"/><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10.png"/><Relationship Id="rId4"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10.png"/><Relationship Id="rId4"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1.png"/><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11.png"/><Relationship Id="rId4"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image" Target="../media/image12.png"/><Relationship Id="rId4" Type="http://schemas.openxmlformats.org/officeDocument/2006/relationships/image" Target="../media/image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image" Target="../media/image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 Id="rId3" Type="http://schemas.openxmlformats.org/officeDocument/2006/relationships/image" Target="../media/image17.png"/><Relationship Id="rId4" Type="http://schemas.openxmlformats.org/officeDocument/2006/relationships/image" Target="../media/image15.png"/><Relationship Id="rId5" Type="http://schemas.openxmlformats.org/officeDocument/2006/relationships/image" Target="../media/image18.png"/><Relationship Id="rId6" Type="http://schemas.openxmlformats.org/officeDocument/2006/relationships/image" Target="../media/image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 Id="rId3" Type="http://schemas.openxmlformats.org/officeDocument/2006/relationships/image" Target="../media/image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 Id="rId3" Type="http://schemas.openxmlformats.org/officeDocument/2006/relationships/image" Target="../media/image1.png"/><Relationship Id="rId4" Type="http://schemas.openxmlformats.org/officeDocument/2006/relationships/image" Target="../media/image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 Id="rId3" Type="http://schemas.openxmlformats.org/officeDocument/2006/relationships/image" Target="../media/image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 Id="rId3" Type="http://schemas.openxmlformats.org/officeDocument/2006/relationships/image" Target="../media/image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 Id="rId3" Type="http://schemas.openxmlformats.org/officeDocument/2006/relationships/image" Target="../media/image19.png"/><Relationship Id="rId4" Type="http://schemas.openxmlformats.org/officeDocument/2006/relationships/image" Target="../media/image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 Id="rId3" Type="http://schemas.openxmlformats.org/officeDocument/2006/relationships/image" Target="../media/image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 Id="rId3" Type="http://schemas.openxmlformats.org/officeDocument/2006/relationships/image" Target="../media/image20.png"/><Relationship Id="rId4" Type="http://schemas.openxmlformats.org/officeDocument/2006/relationships/image" Target="../media/image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 Id="rId3" Type="http://schemas.openxmlformats.org/officeDocument/2006/relationships/image" Target="../media/image21.png"/><Relationship Id="rId4" Type="http://schemas.openxmlformats.org/officeDocument/2006/relationships/image" Target="../media/image22.png"/><Relationship Id="rId5" Type="http://schemas.openxmlformats.org/officeDocument/2006/relationships/image" Target="../media/image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 Id="rId3" Type="http://schemas.openxmlformats.org/officeDocument/2006/relationships/image" Target="../media/image23.png"/><Relationship Id="rId4" Type="http://schemas.openxmlformats.org/officeDocument/2006/relationships/image" Target="../media/image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 Id="rId3" Type="http://schemas.openxmlformats.org/officeDocument/2006/relationships/image" Target="../media/image1.png"/><Relationship Id="rId4" Type="http://schemas.openxmlformats.org/officeDocument/2006/relationships/image" Target="../media/image2.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 Id="rId3" Type="http://schemas.openxmlformats.org/officeDocument/2006/relationships/image" Target="../media/image1.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 Id="rId3" Type="http://schemas.openxmlformats.org/officeDocument/2006/relationships/image" Target="../media/image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 Id="rId3" Type="http://schemas.openxmlformats.org/officeDocument/2006/relationships/image" Target="../media/image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 Id="rId3" Type="http://schemas.openxmlformats.org/officeDocument/2006/relationships/image" Target="../media/image1.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 Id="rId3" Type="http://schemas.openxmlformats.org/officeDocument/2006/relationships/image" Target="../media/image1.png"/><Relationship Id="rId4" Type="http://schemas.openxmlformats.org/officeDocument/2006/relationships/image" Target="../media/image2.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 Id="rId3" Type="http://schemas.openxmlformats.org/officeDocument/2006/relationships/image" Target="../media/image24.png"/><Relationship Id="rId4" Type="http://schemas.openxmlformats.org/officeDocument/2006/relationships/image" Target="../media/image1.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 Id="rId3" Type="http://schemas.openxmlformats.org/officeDocument/2006/relationships/image" Target="../media/image25.png"/><Relationship Id="rId4" Type="http://schemas.openxmlformats.org/officeDocument/2006/relationships/image" Target="../media/image26.png"/><Relationship Id="rId5" Type="http://schemas.openxmlformats.org/officeDocument/2006/relationships/image" Target="../media/image27.png"/><Relationship Id="rId6" Type="http://schemas.openxmlformats.org/officeDocument/2006/relationships/image" Target="../media/image1.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 Id="rId3" Type="http://schemas.openxmlformats.org/officeDocument/2006/relationships/image" Target="../media/image1.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 Id="rId3" Type="http://schemas.openxmlformats.org/officeDocument/2006/relationships/image" Target="../media/image15.png"/><Relationship Id="rId4" Type="http://schemas.openxmlformats.org/officeDocument/2006/relationships/image" Target="../media/image12.png"/><Relationship Id="rId5" Type="http://schemas.openxmlformats.org/officeDocument/2006/relationships/image" Target="../media/image1.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 Id="rId3" Type="http://schemas.openxmlformats.org/officeDocument/2006/relationships/image" Target="../media/image28.png"/><Relationship Id="rId4" Type="http://schemas.openxmlformats.org/officeDocument/2006/relationships/image" Target="../media/image1.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 Id="rId3" Type="http://schemas.openxmlformats.org/officeDocument/2006/relationships/image" Target="../media/image29.png"/><Relationship Id="rId4" Type="http://schemas.openxmlformats.org/officeDocument/2006/relationships/image" Target="../media/image30.png"/><Relationship Id="rId5" Type="http://schemas.openxmlformats.org/officeDocument/2006/relationships/image" Target="../media/image31.png"/><Relationship Id="rId6"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Rectangle 1"/>
          <p:cNvSpPr/>
          <p:nvPr/>
        </p:nvSpPr>
        <p:spPr>
          <a:xfrm>
            <a:off x="0" y="0"/>
            <a:ext cx="114300" cy="1028700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TOOLS  ·  DECK 0</a:t>
            </a:r>
          </a:p>
        </p:txBody>
      </p:sp>
      <p:pic>
        <p:nvPicPr>
          <p:cNvPr id="4" name="Picture 3" descr="mw_logo_small.png"/>
          <p:cNvPicPr>
            <a:picLocks noChangeAspect="1"/>
          </p:cNvPicPr>
          <p:nvPr/>
        </p:nvPicPr>
        <p:blipFill>
          <a:blip r:embed="rId3"/>
          <a:stretch>
            <a:fillRect/>
          </a:stretch>
        </p:blipFill>
        <p:spPr>
          <a:xfrm>
            <a:off x="15801975" y="685800"/>
            <a:ext cx="1571134" cy="1333500"/>
          </a:xfrm>
          <a:prstGeom prst="rect">
            <a:avLst/>
          </a:prstGeom>
        </p:spPr>
      </p:pic>
      <p:sp>
        <p:nvSpPr>
          <p:cNvPr id="5" name="TextBox 4"/>
          <p:cNvSpPr txBox="1"/>
          <p:nvPr/>
        </p:nvSpPr>
        <p:spPr>
          <a:xfrm>
            <a:off x="914400" y="3619500"/>
            <a:ext cx="14287500" cy="1333500"/>
          </a:xfrm>
          <a:prstGeom prst="rect">
            <a:avLst/>
          </a:prstGeom>
          <a:noFill/>
        </p:spPr>
        <p:txBody>
          <a:bodyPr wrap="square" lIns="0" rIns="0" tIns="0" bIns="0" anchor="t">
            <a:spAutoFit/>
          </a:bodyPr>
          <a:lstStyle/>
          <a:p>
            <a:pPr algn="l"/>
            <a:r>
              <a:rPr sz="7200" b="1" i="1">
                <a:solidFill>
                  <a:srgbClr val="CC2200"/>
                </a:solidFill>
                <a:latin typeface="Geist"/>
                <a:ea typeface="Geist"/>
                <a:cs typeface="Geist"/>
              </a:rPr>
              <a:t>The Tools</a:t>
            </a:r>
          </a:p>
        </p:txBody>
      </p:sp>
      <p:sp>
        <p:nvSpPr>
          <p:cNvPr id="6" name="TextBox 5"/>
          <p:cNvSpPr txBox="1"/>
          <p:nvPr/>
        </p:nvSpPr>
        <p:spPr>
          <a:xfrm>
            <a:off x="914400" y="4953000"/>
            <a:ext cx="9525000" cy="1143000"/>
          </a:xfrm>
          <a:prstGeom prst="rect">
            <a:avLst/>
          </a:prstGeom>
          <a:noFill/>
        </p:spPr>
        <p:txBody>
          <a:bodyPr wrap="square" lIns="0" rIns="0" tIns="0" bIns="0" anchor="t">
            <a:spAutoFit/>
          </a:bodyPr>
          <a:lstStyle/>
          <a:p>
            <a:pPr algn="l">
              <a:lnSpc>
                <a:spcPct val="130000"/>
              </a:lnSpc>
            </a:pPr>
            <a:r>
              <a:rPr sz="2400" b="0" i="0">
                <a:solidFill>
                  <a:srgbClr val="9A7878"/>
                </a:solidFill>
                <a:latin typeface="Geist"/>
                <a:ea typeface="Geist"/>
                <a:cs typeface="Geist"/>
              </a:rPr>
              <a:t>Meet the Editor, Git Basics, AdvantageScope, Elastic and Choreo: the five tools every MARS/WARS programmer uses.</a:t>
            </a:r>
          </a:p>
        </p:txBody>
      </p:sp>
      <p:pic>
        <p:nvPicPr>
          <p:cNvPr id="7" name="Picture 6" descr="dozer_look_up.png"/>
          <p:cNvPicPr>
            <a:picLocks noChangeAspect="1"/>
          </p:cNvPicPr>
          <p:nvPr/>
        </p:nvPicPr>
        <p:blipFill>
          <a:blip r:embed="rId4"/>
          <a:stretch>
            <a:fillRect/>
          </a:stretch>
        </p:blipFill>
        <p:spPr>
          <a:xfrm>
            <a:off x="13716000" y="6858000"/>
            <a:ext cx="3429000" cy="2107613"/>
          </a:xfrm>
          <a:prstGeom prst="rect">
            <a:avLst/>
          </a:prstGeom>
        </p:spPr>
      </p:pic>
      <p:sp>
        <p:nvSpPr>
          <p:cNvPr id="8" name="Isosceles Triangle 7"/>
          <p:cNvSpPr/>
          <p:nvPr/>
        </p:nvSpPr>
        <p:spPr>
          <a:xfrm rot="10800000">
            <a:off x="16356330" y="6381750"/>
            <a:ext cx="342900" cy="285750"/>
          </a:xfrm>
          <a:prstGeom prst="triangl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1811000" y="5276850"/>
            <a:ext cx="4953000" cy="1143000"/>
          </a:xfrm>
          <a:prstGeom prst="roundRect">
            <a:avLst>
              <a:gd name="adj" fmla="val 16666"/>
            </a:avLst>
          </a:prstGeom>
          <a:solidFill>
            <a:srgbClr val="1A0F0F"/>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2077700" y="5276850"/>
            <a:ext cx="4419600" cy="1143000"/>
          </a:xfrm>
          <a:prstGeom prst="rect">
            <a:avLst/>
          </a:prstGeom>
          <a:noFill/>
        </p:spPr>
        <p:txBody>
          <a:bodyPr wrap="square" lIns="0" rIns="0" tIns="0" bIns="0" anchor="ctr">
            <a:spAutoFit/>
          </a:bodyPr>
          <a:lstStyle/>
          <a:p>
            <a:pPr algn="l">
              <a:lnSpc>
                <a:spcPct val="125000"/>
              </a:lnSpc>
            </a:pPr>
            <a:r>
              <a:rPr sz="1950" b="0" i="0">
                <a:solidFill>
                  <a:srgbClr val="F0E8E8"/>
                </a:solidFill>
                <a:latin typeface="Geist"/>
                <a:ea typeface="Geist"/>
                <a:cs typeface="Geist"/>
              </a:rPr>
              <a:t>Hi! I'm Dozer. I'll show you around the tools.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TODAY</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Five tools, five lessons</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3143250"/>
            <a:ext cx="3086100" cy="4953000"/>
          </a:xfrm>
          <a:prstGeom prst="roundRect">
            <a:avLst>
              <a:gd name="adj" fmla="val 493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vscode.png"/>
          <p:cNvPicPr>
            <a:picLocks noChangeAspect="1"/>
          </p:cNvPicPr>
          <p:nvPr/>
        </p:nvPicPr>
        <p:blipFill>
          <a:blip r:embed="rId3"/>
          <a:stretch>
            <a:fillRect/>
          </a:stretch>
        </p:blipFill>
        <p:spPr>
          <a:xfrm>
            <a:off x="1257300" y="3543300"/>
            <a:ext cx="998352" cy="838200"/>
          </a:xfrm>
          <a:prstGeom prst="rect">
            <a:avLst/>
          </a:prstGeom>
        </p:spPr>
      </p:pic>
      <p:sp>
        <p:nvSpPr>
          <p:cNvPr id="7" name="TextBox 6"/>
          <p:cNvSpPr txBox="1"/>
          <p:nvPr/>
        </p:nvSpPr>
        <p:spPr>
          <a:xfrm>
            <a:off x="1257300" y="4762500"/>
            <a:ext cx="5715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01</a:t>
            </a:r>
          </a:p>
        </p:txBody>
      </p:sp>
      <p:sp>
        <p:nvSpPr>
          <p:cNvPr id="8" name="TextBox 7"/>
          <p:cNvSpPr txBox="1"/>
          <p:nvPr/>
        </p:nvSpPr>
        <p:spPr>
          <a:xfrm>
            <a:off x="1257300" y="5143500"/>
            <a:ext cx="2400300" cy="762000"/>
          </a:xfrm>
          <a:prstGeom prst="rect">
            <a:avLst/>
          </a:prstGeom>
          <a:noFill/>
        </p:spPr>
        <p:txBody>
          <a:bodyPr wrap="square" lIns="0" rIns="0" tIns="0" bIns="0" anchor="t">
            <a:spAutoFit/>
          </a:bodyPr>
          <a:lstStyle/>
          <a:p>
            <a:pPr algn="l">
              <a:lnSpc>
                <a:spcPct val="110000"/>
              </a:lnSpc>
            </a:pPr>
            <a:r>
              <a:rPr sz="2100" b="1" i="0">
                <a:solidFill>
                  <a:srgbClr val="F0E8E8"/>
                </a:solidFill>
                <a:latin typeface="Geist"/>
                <a:ea typeface="Geist"/>
                <a:cs typeface="Geist"/>
              </a:rPr>
              <a:t>Meet the Editor</a:t>
            </a:r>
          </a:p>
        </p:txBody>
      </p:sp>
      <p:sp>
        <p:nvSpPr>
          <p:cNvPr id="9" name="TextBox 8"/>
          <p:cNvSpPr txBox="1"/>
          <p:nvPr/>
        </p:nvSpPr>
        <p:spPr>
          <a:xfrm>
            <a:off x="1257300" y="6096000"/>
            <a:ext cx="2400300" cy="1905000"/>
          </a:xfrm>
          <a:prstGeom prst="rect">
            <a:avLst/>
          </a:prstGeom>
          <a:noFill/>
        </p:spPr>
        <p:txBody>
          <a:bodyPr wrap="square" lIns="0" rIns="0" tIns="0" bIns="0" anchor="t">
            <a:spAutoFit/>
          </a:bodyPr>
          <a:lstStyle/>
          <a:p>
            <a:pPr algn="l">
              <a:lnSpc>
                <a:spcPct val="130000"/>
              </a:lnSpc>
            </a:pPr>
            <a:r>
              <a:rPr sz="1950" b="0" i="0">
                <a:solidFill>
                  <a:srgbClr val="9A7878"/>
                </a:solidFill>
                <a:latin typeface="Geist"/>
                <a:ea typeface="Geist"/>
                <a:cs typeface="Geist"/>
              </a:rPr>
              <a:t>Where code gets written, organized and run</a:t>
            </a:r>
          </a:p>
        </p:txBody>
      </p:sp>
      <p:sp>
        <p:nvSpPr>
          <p:cNvPr id="10" name="Rounded Rectangle 9"/>
          <p:cNvSpPr/>
          <p:nvPr/>
        </p:nvSpPr>
        <p:spPr>
          <a:xfrm>
            <a:off x="4257675" y="3143250"/>
            <a:ext cx="3086100" cy="4953000"/>
          </a:xfrm>
          <a:prstGeom prst="roundRect">
            <a:avLst>
              <a:gd name="adj" fmla="val 493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git.png"/>
          <p:cNvPicPr>
            <a:picLocks noChangeAspect="1"/>
          </p:cNvPicPr>
          <p:nvPr/>
        </p:nvPicPr>
        <p:blipFill>
          <a:blip r:embed="rId4"/>
          <a:stretch>
            <a:fillRect/>
          </a:stretch>
        </p:blipFill>
        <p:spPr>
          <a:xfrm>
            <a:off x="4600575" y="3543300"/>
            <a:ext cx="838200" cy="838200"/>
          </a:xfrm>
          <a:prstGeom prst="rect">
            <a:avLst/>
          </a:prstGeom>
        </p:spPr>
      </p:pic>
      <p:sp>
        <p:nvSpPr>
          <p:cNvPr id="12" name="TextBox 11"/>
          <p:cNvSpPr txBox="1"/>
          <p:nvPr/>
        </p:nvSpPr>
        <p:spPr>
          <a:xfrm>
            <a:off x="4600575" y="4762500"/>
            <a:ext cx="5715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02</a:t>
            </a:r>
          </a:p>
        </p:txBody>
      </p:sp>
      <p:sp>
        <p:nvSpPr>
          <p:cNvPr id="13" name="TextBox 12"/>
          <p:cNvSpPr txBox="1"/>
          <p:nvPr/>
        </p:nvSpPr>
        <p:spPr>
          <a:xfrm>
            <a:off x="4600575" y="5143500"/>
            <a:ext cx="2400300" cy="762000"/>
          </a:xfrm>
          <a:prstGeom prst="rect">
            <a:avLst/>
          </a:prstGeom>
          <a:noFill/>
        </p:spPr>
        <p:txBody>
          <a:bodyPr wrap="square" lIns="0" rIns="0" tIns="0" bIns="0" anchor="t">
            <a:spAutoFit/>
          </a:bodyPr>
          <a:lstStyle/>
          <a:p>
            <a:pPr algn="l">
              <a:lnSpc>
                <a:spcPct val="110000"/>
              </a:lnSpc>
            </a:pPr>
            <a:r>
              <a:rPr sz="2325" b="1" i="0">
                <a:solidFill>
                  <a:srgbClr val="F0E8E8"/>
                </a:solidFill>
                <a:latin typeface="Geist"/>
                <a:ea typeface="Geist"/>
                <a:cs typeface="Geist"/>
              </a:rPr>
              <a:t>Git Basics</a:t>
            </a:r>
          </a:p>
        </p:txBody>
      </p:sp>
      <p:sp>
        <p:nvSpPr>
          <p:cNvPr id="14" name="TextBox 13"/>
          <p:cNvSpPr txBox="1"/>
          <p:nvPr/>
        </p:nvSpPr>
        <p:spPr>
          <a:xfrm>
            <a:off x="4600575" y="6096000"/>
            <a:ext cx="2400300" cy="1905000"/>
          </a:xfrm>
          <a:prstGeom prst="rect">
            <a:avLst/>
          </a:prstGeom>
          <a:noFill/>
        </p:spPr>
        <p:txBody>
          <a:bodyPr wrap="square" lIns="0" rIns="0" tIns="0" bIns="0" anchor="t">
            <a:spAutoFit/>
          </a:bodyPr>
          <a:lstStyle/>
          <a:p>
            <a:pPr algn="l">
              <a:lnSpc>
                <a:spcPct val="130000"/>
              </a:lnSpc>
            </a:pPr>
            <a:r>
              <a:rPr sz="1950" b="0" i="0">
                <a:solidFill>
                  <a:srgbClr val="9A7878"/>
                </a:solidFill>
                <a:latin typeface="Geist"/>
                <a:ea typeface="Geist"/>
                <a:cs typeface="Geist"/>
              </a:rPr>
              <a:t>Saving versions and working as a team</a:t>
            </a:r>
          </a:p>
        </p:txBody>
      </p:sp>
      <p:sp>
        <p:nvSpPr>
          <p:cNvPr id="15" name="Rounded Rectangle 14"/>
          <p:cNvSpPr/>
          <p:nvPr/>
        </p:nvSpPr>
        <p:spPr>
          <a:xfrm>
            <a:off x="7600950" y="3143250"/>
            <a:ext cx="3086100" cy="4953000"/>
          </a:xfrm>
          <a:prstGeom prst="roundRect">
            <a:avLst>
              <a:gd name="adj" fmla="val 493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advantagescope-logo.png"/>
          <p:cNvPicPr>
            <a:picLocks noChangeAspect="1"/>
          </p:cNvPicPr>
          <p:nvPr/>
        </p:nvPicPr>
        <p:blipFill>
          <a:blip r:embed="rId5"/>
          <a:stretch>
            <a:fillRect/>
          </a:stretch>
        </p:blipFill>
        <p:spPr>
          <a:xfrm>
            <a:off x="7943850" y="3543300"/>
            <a:ext cx="838200" cy="838200"/>
          </a:xfrm>
          <a:prstGeom prst="rect">
            <a:avLst/>
          </a:prstGeom>
        </p:spPr>
      </p:pic>
      <p:sp>
        <p:nvSpPr>
          <p:cNvPr id="17" name="TextBox 16"/>
          <p:cNvSpPr txBox="1"/>
          <p:nvPr/>
        </p:nvSpPr>
        <p:spPr>
          <a:xfrm>
            <a:off x="7943850" y="4762500"/>
            <a:ext cx="5715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03</a:t>
            </a:r>
          </a:p>
        </p:txBody>
      </p:sp>
      <p:sp>
        <p:nvSpPr>
          <p:cNvPr id="18" name="TextBox 17"/>
          <p:cNvSpPr txBox="1"/>
          <p:nvPr/>
        </p:nvSpPr>
        <p:spPr>
          <a:xfrm>
            <a:off x="7943850" y="5143500"/>
            <a:ext cx="2400300" cy="762000"/>
          </a:xfrm>
          <a:prstGeom prst="rect">
            <a:avLst/>
          </a:prstGeom>
          <a:noFill/>
        </p:spPr>
        <p:txBody>
          <a:bodyPr wrap="square" lIns="0" rIns="0" tIns="0" bIns="0" anchor="t">
            <a:spAutoFit/>
          </a:bodyPr>
          <a:lstStyle/>
          <a:p>
            <a:pPr algn="l">
              <a:lnSpc>
                <a:spcPct val="110000"/>
              </a:lnSpc>
            </a:pPr>
            <a:r>
              <a:rPr sz="2100" b="1" i="0">
                <a:solidFill>
                  <a:srgbClr val="F0E8E8"/>
                </a:solidFill>
                <a:latin typeface="Geist"/>
                <a:ea typeface="Geist"/>
                <a:cs typeface="Geist"/>
              </a:rPr>
              <a:t>AdvantageScope</a:t>
            </a:r>
          </a:p>
        </p:txBody>
      </p:sp>
      <p:sp>
        <p:nvSpPr>
          <p:cNvPr id="19" name="TextBox 18"/>
          <p:cNvSpPr txBox="1"/>
          <p:nvPr/>
        </p:nvSpPr>
        <p:spPr>
          <a:xfrm>
            <a:off x="7943850" y="6096000"/>
            <a:ext cx="2400300" cy="1905000"/>
          </a:xfrm>
          <a:prstGeom prst="rect">
            <a:avLst/>
          </a:prstGeom>
          <a:noFill/>
        </p:spPr>
        <p:txBody>
          <a:bodyPr wrap="square" lIns="0" rIns="0" tIns="0" bIns="0" anchor="t">
            <a:spAutoFit/>
          </a:bodyPr>
          <a:lstStyle/>
          <a:p>
            <a:pPr algn="l">
              <a:lnSpc>
                <a:spcPct val="130000"/>
              </a:lnSpc>
            </a:pPr>
            <a:r>
              <a:rPr sz="1950" b="0" i="0">
                <a:solidFill>
                  <a:srgbClr val="9A7878"/>
                </a:solidFill>
                <a:latin typeface="Geist"/>
                <a:ea typeface="Geist"/>
                <a:cs typeface="Geist"/>
              </a:rPr>
              <a:t>Seeing what the robot is doing</a:t>
            </a:r>
          </a:p>
        </p:txBody>
      </p:sp>
      <p:sp>
        <p:nvSpPr>
          <p:cNvPr id="20" name="Rounded Rectangle 19"/>
          <p:cNvSpPr/>
          <p:nvPr/>
        </p:nvSpPr>
        <p:spPr>
          <a:xfrm>
            <a:off x="10944225" y="3143250"/>
            <a:ext cx="3086100" cy="4953000"/>
          </a:xfrm>
          <a:prstGeom prst="roundRect">
            <a:avLst>
              <a:gd name="adj" fmla="val 493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1" name="Picture 20" descr="elastic-logo.png"/>
          <p:cNvPicPr>
            <a:picLocks noChangeAspect="1"/>
          </p:cNvPicPr>
          <p:nvPr/>
        </p:nvPicPr>
        <p:blipFill>
          <a:blip r:embed="rId6"/>
          <a:stretch>
            <a:fillRect/>
          </a:stretch>
        </p:blipFill>
        <p:spPr>
          <a:xfrm>
            <a:off x="11287125" y="3543300"/>
            <a:ext cx="838200" cy="838200"/>
          </a:xfrm>
          <a:prstGeom prst="rect">
            <a:avLst/>
          </a:prstGeom>
        </p:spPr>
      </p:pic>
      <p:sp>
        <p:nvSpPr>
          <p:cNvPr id="22" name="TextBox 21"/>
          <p:cNvSpPr txBox="1"/>
          <p:nvPr/>
        </p:nvSpPr>
        <p:spPr>
          <a:xfrm>
            <a:off x="11287125" y="4762500"/>
            <a:ext cx="5715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04</a:t>
            </a:r>
          </a:p>
        </p:txBody>
      </p:sp>
      <p:sp>
        <p:nvSpPr>
          <p:cNvPr id="23" name="TextBox 22"/>
          <p:cNvSpPr txBox="1"/>
          <p:nvPr/>
        </p:nvSpPr>
        <p:spPr>
          <a:xfrm>
            <a:off x="11287125" y="5143500"/>
            <a:ext cx="2400300" cy="762000"/>
          </a:xfrm>
          <a:prstGeom prst="rect">
            <a:avLst/>
          </a:prstGeom>
          <a:noFill/>
        </p:spPr>
        <p:txBody>
          <a:bodyPr wrap="square" lIns="0" rIns="0" tIns="0" bIns="0" anchor="t">
            <a:spAutoFit/>
          </a:bodyPr>
          <a:lstStyle/>
          <a:p>
            <a:pPr algn="l">
              <a:lnSpc>
                <a:spcPct val="110000"/>
              </a:lnSpc>
            </a:pPr>
            <a:r>
              <a:rPr sz="2325" b="1" i="0">
                <a:solidFill>
                  <a:srgbClr val="F0E8E8"/>
                </a:solidFill>
                <a:latin typeface="Geist"/>
                <a:ea typeface="Geist"/>
                <a:cs typeface="Geist"/>
              </a:rPr>
              <a:t>Elastic</a:t>
            </a:r>
          </a:p>
        </p:txBody>
      </p:sp>
      <p:sp>
        <p:nvSpPr>
          <p:cNvPr id="24" name="TextBox 23"/>
          <p:cNvSpPr txBox="1"/>
          <p:nvPr/>
        </p:nvSpPr>
        <p:spPr>
          <a:xfrm>
            <a:off x="11287125" y="6096000"/>
            <a:ext cx="2400300" cy="1905000"/>
          </a:xfrm>
          <a:prstGeom prst="rect">
            <a:avLst/>
          </a:prstGeom>
          <a:noFill/>
        </p:spPr>
        <p:txBody>
          <a:bodyPr wrap="square" lIns="0" rIns="0" tIns="0" bIns="0" anchor="t">
            <a:spAutoFit/>
          </a:bodyPr>
          <a:lstStyle/>
          <a:p>
            <a:pPr algn="l">
              <a:lnSpc>
                <a:spcPct val="130000"/>
              </a:lnSpc>
            </a:pPr>
            <a:r>
              <a:rPr sz="1950" b="0" i="0">
                <a:solidFill>
                  <a:srgbClr val="9A7878"/>
                </a:solidFill>
                <a:latin typeface="Geist"/>
                <a:ea typeface="Geist"/>
                <a:cs typeface="Geist"/>
              </a:rPr>
              <a:t>The dashboard drivers use in a match</a:t>
            </a:r>
          </a:p>
        </p:txBody>
      </p:sp>
      <p:sp>
        <p:nvSpPr>
          <p:cNvPr id="25" name="Rounded Rectangle 24"/>
          <p:cNvSpPr/>
          <p:nvPr/>
        </p:nvSpPr>
        <p:spPr>
          <a:xfrm>
            <a:off x="14287500" y="3143250"/>
            <a:ext cx="3086100" cy="4953000"/>
          </a:xfrm>
          <a:prstGeom prst="roundRect">
            <a:avLst>
              <a:gd name="adj" fmla="val 493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6" name="Picture 25" descr="choreo-logo.png"/>
          <p:cNvPicPr>
            <a:picLocks noChangeAspect="1"/>
          </p:cNvPicPr>
          <p:nvPr/>
        </p:nvPicPr>
        <p:blipFill>
          <a:blip r:embed="rId7"/>
          <a:stretch>
            <a:fillRect/>
          </a:stretch>
        </p:blipFill>
        <p:spPr>
          <a:xfrm>
            <a:off x="14630400" y="3543300"/>
            <a:ext cx="838200" cy="838200"/>
          </a:xfrm>
          <a:prstGeom prst="rect">
            <a:avLst/>
          </a:prstGeom>
        </p:spPr>
      </p:pic>
      <p:sp>
        <p:nvSpPr>
          <p:cNvPr id="27" name="TextBox 26"/>
          <p:cNvSpPr txBox="1"/>
          <p:nvPr/>
        </p:nvSpPr>
        <p:spPr>
          <a:xfrm>
            <a:off x="14630400" y="4762500"/>
            <a:ext cx="5715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05</a:t>
            </a:r>
          </a:p>
        </p:txBody>
      </p:sp>
      <p:sp>
        <p:nvSpPr>
          <p:cNvPr id="28" name="TextBox 27"/>
          <p:cNvSpPr txBox="1"/>
          <p:nvPr/>
        </p:nvSpPr>
        <p:spPr>
          <a:xfrm>
            <a:off x="14630400" y="5143500"/>
            <a:ext cx="2400300" cy="762000"/>
          </a:xfrm>
          <a:prstGeom prst="rect">
            <a:avLst/>
          </a:prstGeom>
          <a:noFill/>
        </p:spPr>
        <p:txBody>
          <a:bodyPr wrap="square" lIns="0" rIns="0" tIns="0" bIns="0" anchor="t">
            <a:spAutoFit/>
          </a:bodyPr>
          <a:lstStyle/>
          <a:p>
            <a:pPr algn="l">
              <a:lnSpc>
                <a:spcPct val="110000"/>
              </a:lnSpc>
            </a:pPr>
            <a:r>
              <a:rPr sz="2325" b="1" i="0">
                <a:solidFill>
                  <a:srgbClr val="F0E8E8"/>
                </a:solidFill>
                <a:latin typeface="Geist"/>
                <a:ea typeface="Geist"/>
                <a:cs typeface="Geist"/>
              </a:rPr>
              <a:t>Choreo</a:t>
            </a:r>
          </a:p>
        </p:txBody>
      </p:sp>
      <p:sp>
        <p:nvSpPr>
          <p:cNvPr id="29" name="TextBox 28"/>
          <p:cNvSpPr txBox="1"/>
          <p:nvPr/>
        </p:nvSpPr>
        <p:spPr>
          <a:xfrm>
            <a:off x="14630400" y="6096000"/>
            <a:ext cx="2400300" cy="1905000"/>
          </a:xfrm>
          <a:prstGeom prst="rect">
            <a:avLst/>
          </a:prstGeom>
          <a:noFill/>
        </p:spPr>
        <p:txBody>
          <a:bodyPr wrap="square" lIns="0" rIns="0" tIns="0" bIns="0" anchor="t">
            <a:spAutoFit/>
          </a:bodyPr>
          <a:lstStyle/>
          <a:p>
            <a:pPr algn="l">
              <a:lnSpc>
                <a:spcPct val="130000"/>
              </a:lnSpc>
            </a:pPr>
            <a:r>
              <a:rPr sz="1950" b="0" i="0">
                <a:solidFill>
                  <a:srgbClr val="9A7878"/>
                </a:solidFill>
                <a:latin typeface="Geist"/>
                <a:ea typeface="Geist"/>
                <a:cs typeface="Geist"/>
              </a:rPr>
              <a:t>Planning autonomous paths</a:t>
            </a:r>
          </a:p>
        </p:txBody>
      </p:sp>
      <p:pic>
        <p:nvPicPr>
          <p:cNvPr id="30" name="Picture 29" descr="mw_logo_small.png"/>
          <p:cNvPicPr>
            <a:picLocks noChangeAspect="1"/>
          </p:cNvPicPr>
          <p:nvPr/>
        </p:nvPicPr>
        <p:blipFill>
          <a:blip r:embed="rId8"/>
          <a:stretch>
            <a:fillRect/>
          </a:stretch>
        </p:blipFill>
        <p:spPr>
          <a:xfrm>
            <a:off x="914400" y="9410700"/>
            <a:ext cx="583564" cy="495300"/>
          </a:xfrm>
          <a:prstGeom prst="rect">
            <a:avLst/>
          </a:prstGeom>
        </p:spPr>
      </p:pic>
      <p:sp>
        <p:nvSpPr>
          <p:cNvPr id="31" name="TextBox 30"/>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WHERE THESE TOOLS LIVE</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Team laptops and training</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8039100" cy="5715000"/>
          </a:xfrm>
          <a:prstGeom prst="roundRect">
            <a:avLst>
              <a:gd name="adj" fmla="val 2666"/>
            </a:avLst>
          </a:prstGeom>
          <a:solidFill>
            <a:srgbClr val="111111"/>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371600" y="3238500"/>
            <a:ext cx="6667500" cy="38100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ON THE TEAM LAPTOPS</a:t>
            </a:r>
          </a:p>
        </p:txBody>
      </p:sp>
      <p:sp>
        <p:nvSpPr>
          <p:cNvPr id="7" name="TextBox 6"/>
          <p:cNvSpPr txBox="1"/>
          <p:nvPr/>
        </p:nvSpPr>
        <p:spPr>
          <a:xfrm>
            <a:off x="1371600" y="3714750"/>
            <a:ext cx="7239000" cy="571500"/>
          </a:xfrm>
          <a:prstGeom prst="rect">
            <a:avLst/>
          </a:prstGeom>
          <a:noFill/>
        </p:spPr>
        <p:txBody>
          <a:bodyPr wrap="square" lIns="0" rIns="0" tIns="0" bIns="0" anchor="t">
            <a:spAutoFit/>
          </a:bodyPr>
          <a:lstStyle/>
          <a:p>
            <a:pPr algn="l"/>
            <a:r>
              <a:rPr sz="3000" b="1" i="0">
                <a:solidFill>
                  <a:srgbClr val="F0E8E8"/>
                </a:solidFill>
                <a:latin typeface="Geist"/>
                <a:ea typeface="Geist"/>
                <a:cs typeface="Geist"/>
              </a:rPr>
              <a:t>Separate desktop apps</a:t>
            </a:r>
          </a:p>
        </p:txBody>
      </p:sp>
      <p:pic>
        <p:nvPicPr>
          <p:cNvPr id="8" name="Picture 7" descr="vscode.png"/>
          <p:cNvPicPr>
            <a:picLocks noChangeAspect="1"/>
          </p:cNvPicPr>
          <p:nvPr/>
        </p:nvPicPr>
        <p:blipFill>
          <a:blip r:embed="rId3"/>
          <a:stretch>
            <a:fillRect/>
          </a:stretch>
        </p:blipFill>
        <p:spPr>
          <a:xfrm>
            <a:off x="1371600" y="4572000"/>
            <a:ext cx="726074" cy="609600"/>
          </a:xfrm>
          <a:prstGeom prst="rect">
            <a:avLst/>
          </a:prstGeom>
        </p:spPr>
      </p:pic>
      <p:sp>
        <p:nvSpPr>
          <p:cNvPr id="9" name="TextBox 8"/>
          <p:cNvSpPr txBox="1"/>
          <p:nvPr/>
        </p:nvSpPr>
        <p:spPr>
          <a:xfrm>
            <a:off x="2247900" y="4572000"/>
            <a:ext cx="5715000" cy="609600"/>
          </a:xfrm>
          <a:prstGeom prst="rect">
            <a:avLst/>
          </a:prstGeom>
          <a:noFill/>
        </p:spPr>
        <p:txBody>
          <a:bodyPr wrap="square" lIns="0" rIns="0" tIns="0" bIns="0" anchor="ctr">
            <a:spAutoFit/>
          </a:bodyPr>
          <a:lstStyle/>
          <a:p>
            <a:pPr algn="l"/>
            <a:r>
              <a:rPr sz="2250" b="0" i="0">
                <a:solidFill>
                  <a:srgbClr val="F0E8E8"/>
                </a:solidFill>
                <a:latin typeface="Geist"/>
                <a:ea typeface="Geist"/>
                <a:cs typeface="Geist"/>
              </a:rPr>
              <a:t>VS Code + WPILib</a:t>
            </a:r>
          </a:p>
        </p:txBody>
      </p:sp>
      <p:pic>
        <p:nvPicPr>
          <p:cNvPr id="10" name="Picture 9" descr="advantagescope-logo.png"/>
          <p:cNvPicPr>
            <a:picLocks noChangeAspect="1"/>
          </p:cNvPicPr>
          <p:nvPr/>
        </p:nvPicPr>
        <p:blipFill>
          <a:blip r:embed="rId4"/>
          <a:stretch>
            <a:fillRect/>
          </a:stretch>
        </p:blipFill>
        <p:spPr>
          <a:xfrm>
            <a:off x="1371600" y="5486400"/>
            <a:ext cx="609600" cy="609600"/>
          </a:xfrm>
          <a:prstGeom prst="rect">
            <a:avLst/>
          </a:prstGeom>
        </p:spPr>
      </p:pic>
      <p:sp>
        <p:nvSpPr>
          <p:cNvPr id="11" name="TextBox 10"/>
          <p:cNvSpPr txBox="1"/>
          <p:nvPr/>
        </p:nvSpPr>
        <p:spPr>
          <a:xfrm>
            <a:off x="2247900" y="5486400"/>
            <a:ext cx="5715000" cy="609600"/>
          </a:xfrm>
          <a:prstGeom prst="rect">
            <a:avLst/>
          </a:prstGeom>
          <a:noFill/>
        </p:spPr>
        <p:txBody>
          <a:bodyPr wrap="square" lIns="0" rIns="0" tIns="0" bIns="0" anchor="ctr">
            <a:spAutoFit/>
          </a:bodyPr>
          <a:lstStyle/>
          <a:p>
            <a:pPr algn="l"/>
            <a:r>
              <a:rPr sz="2250" b="0" i="0">
                <a:solidFill>
                  <a:srgbClr val="F0E8E8"/>
                </a:solidFill>
                <a:latin typeface="Geist"/>
                <a:ea typeface="Geist"/>
                <a:cs typeface="Geist"/>
              </a:rPr>
              <a:t>AdvantageScope</a:t>
            </a:r>
          </a:p>
        </p:txBody>
      </p:sp>
      <p:pic>
        <p:nvPicPr>
          <p:cNvPr id="12" name="Picture 11" descr="elastic-logo.png"/>
          <p:cNvPicPr>
            <a:picLocks noChangeAspect="1"/>
          </p:cNvPicPr>
          <p:nvPr/>
        </p:nvPicPr>
        <p:blipFill>
          <a:blip r:embed="rId5"/>
          <a:stretch>
            <a:fillRect/>
          </a:stretch>
        </p:blipFill>
        <p:spPr>
          <a:xfrm>
            <a:off x="1371600" y="6400800"/>
            <a:ext cx="609600" cy="609600"/>
          </a:xfrm>
          <a:prstGeom prst="rect">
            <a:avLst/>
          </a:prstGeom>
        </p:spPr>
      </p:pic>
      <p:sp>
        <p:nvSpPr>
          <p:cNvPr id="13" name="TextBox 12"/>
          <p:cNvSpPr txBox="1"/>
          <p:nvPr/>
        </p:nvSpPr>
        <p:spPr>
          <a:xfrm>
            <a:off x="2247900" y="6400800"/>
            <a:ext cx="5715000" cy="609600"/>
          </a:xfrm>
          <a:prstGeom prst="rect">
            <a:avLst/>
          </a:prstGeom>
          <a:noFill/>
        </p:spPr>
        <p:txBody>
          <a:bodyPr wrap="square" lIns="0" rIns="0" tIns="0" bIns="0" anchor="ctr">
            <a:spAutoFit/>
          </a:bodyPr>
          <a:lstStyle/>
          <a:p>
            <a:pPr algn="l"/>
            <a:r>
              <a:rPr sz="2250" b="0" i="0">
                <a:solidFill>
                  <a:srgbClr val="F0E8E8"/>
                </a:solidFill>
                <a:latin typeface="Geist"/>
                <a:ea typeface="Geist"/>
                <a:cs typeface="Geist"/>
              </a:rPr>
              <a:t>Elastic</a:t>
            </a:r>
          </a:p>
        </p:txBody>
      </p:sp>
      <p:pic>
        <p:nvPicPr>
          <p:cNvPr id="14" name="Picture 13" descr="choreo-logo.png"/>
          <p:cNvPicPr>
            <a:picLocks noChangeAspect="1"/>
          </p:cNvPicPr>
          <p:nvPr/>
        </p:nvPicPr>
        <p:blipFill>
          <a:blip r:embed="rId6"/>
          <a:stretch>
            <a:fillRect/>
          </a:stretch>
        </p:blipFill>
        <p:spPr>
          <a:xfrm>
            <a:off x="1371600" y="7315200"/>
            <a:ext cx="609600" cy="609600"/>
          </a:xfrm>
          <a:prstGeom prst="rect">
            <a:avLst/>
          </a:prstGeom>
        </p:spPr>
      </p:pic>
      <p:sp>
        <p:nvSpPr>
          <p:cNvPr id="15" name="TextBox 14"/>
          <p:cNvSpPr txBox="1"/>
          <p:nvPr/>
        </p:nvSpPr>
        <p:spPr>
          <a:xfrm>
            <a:off x="2247900" y="7315200"/>
            <a:ext cx="5715000" cy="609600"/>
          </a:xfrm>
          <a:prstGeom prst="rect">
            <a:avLst/>
          </a:prstGeom>
          <a:noFill/>
        </p:spPr>
        <p:txBody>
          <a:bodyPr wrap="square" lIns="0" rIns="0" tIns="0" bIns="0" anchor="ctr">
            <a:spAutoFit/>
          </a:bodyPr>
          <a:lstStyle/>
          <a:p>
            <a:pPr algn="l"/>
            <a:r>
              <a:rPr sz="2250" b="0" i="0">
                <a:solidFill>
                  <a:srgbClr val="F0E8E8"/>
                </a:solidFill>
                <a:latin typeface="Geist"/>
                <a:ea typeface="Geist"/>
                <a:cs typeface="Geist"/>
              </a:rPr>
              <a:t>Choreo</a:t>
            </a:r>
          </a:p>
        </p:txBody>
      </p:sp>
      <p:sp>
        <p:nvSpPr>
          <p:cNvPr id="16" name="TextBox 15"/>
          <p:cNvSpPr txBox="1"/>
          <p:nvPr/>
        </p:nvSpPr>
        <p:spPr>
          <a:xfrm>
            <a:off x="1371600" y="8001000"/>
            <a:ext cx="7239000" cy="3810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What you use on the real robot</a:t>
            </a:r>
          </a:p>
        </p:txBody>
      </p:sp>
      <p:sp>
        <p:nvSpPr>
          <p:cNvPr id="17" name="Rounded Rectangle 16"/>
          <p:cNvSpPr/>
          <p:nvPr/>
        </p:nvSpPr>
        <p:spPr>
          <a:xfrm>
            <a:off x="9334500" y="2857500"/>
            <a:ext cx="8039100" cy="5715000"/>
          </a:xfrm>
          <a:prstGeom prst="roundRect">
            <a:avLst>
              <a:gd name="adj" fmla="val 2666"/>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9791700" y="3238500"/>
            <a:ext cx="6667500" cy="381000"/>
          </a:xfrm>
          <a:prstGeom prst="rect">
            <a:avLst/>
          </a:prstGeom>
          <a:noFill/>
        </p:spPr>
        <p:txBody>
          <a:bodyPr wrap="square" lIns="0" rIns="0" tIns="0" bIns="0" anchor="t">
            <a:spAutoFit/>
          </a:bodyPr>
          <a:lstStyle/>
          <a:p>
            <a:pPr algn="l"/>
            <a:r>
              <a:rPr sz="1650" b="1" i="0" spc="130">
                <a:solidFill>
                  <a:srgbClr val="9A7878"/>
                </a:solidFill>
                <a:latin typeface="Geist"/>
                <a:ea typeface="Geist"/>
                <a:cs typeface="Geist"/>
              </a:rPr>
              <a:t>IN TRAINING</a:t>
            </a:r>
          </a:p>
        </p:txBody>
      </p:sp>
      <p:sp>
        <p:nvSpPr>
          <p:cNvPr id="19" name="TextBox 18"/>
          <p:cNvSpPr txBox="1"/>
          <p:nvPr/>
        </p:nvSpPr>
        <p:spPr>
          <a:xfrm>
            <a:off x="9791700" y="3714750"/>
            <a:ext cx="7239000" cy="571500"/>
          </a:xfrm>
          <a:prstGeom prst="rect">
            <a:avLst/>
          </a:prstGeom>
          <a:noFill/>
        </p:spPr>
        <p:txBody>
          <a:bodyPr wrap="square" lIns="0" rIns="0" tIns="0" bIns="0" anchor="t">
            <a:spAutoFit/>
          </a:bodyPr>
          <a:lstStyle/>
          <a:p>
            <a:pPr algn="l"/>
            <a:r>
              <a:rPr sz="3000" b="1" i="0">
                <a:solidFill>
                  <a:srgbClr val="F0E8E8"/>
                </a:solidFill>
                <a:latin typeface="Geist"/>
                <a:ea typeface="Geist"/>
                <a:cs typeface="Geist"/>
              </a:rPr>
              <a:t>Scriptum</a:t>
            </a:r>
          </a:p>
        </p:txBody>
      </p:sp>
      <p:sp>
        <p:nvSpPr>
          <p:cNvPr id="20" name="Rectangle 19"/>
          <p:cNvSpPr/>
          <p:nvPr/>
        </p:nvSpPr>
        <p:spPr>
          <a:xfrm>
            <a:off x="9791700" y="4572000"/>
            <a:ext cx="5731282" cy="3143250"/>
          </a:xfrm>
          <a:prstGeom prst="rect">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1" name="Picture 20" descr="welcome.png"/>
          <p:cNvPicPr>
            <a:picLocks noChangeAspect="1"/>
          </p:cNvPicPr>
          <p:nvPr/>
        </p:nvPicPr>
        <p:blipFill>
          <a:blip r:embed="rId7"/>
          <a:stretch>
            <a:fillRect/>
          </a:stretch>
        </p:blipFill>
        <p:spPr>
          <a:xfrm>
            <a:off x="9791700" y="4572000"/>
            <a:ext cx="5731282" cy="3143250"/>
          </a:xfrm>
          <a:prstGeom prst="rect">
            <a:avLst/>
          </a:prstGeom>
        </p:spPr>
      </p:pic>
      <p:sp>
        <p:nvSpPr>
          <p:cNvPr id="22" name="Rectangle 21"/>
          <p:cNvSpPr/>
          <p:nvPr/>
        </p:nvSpPr>
        <p:spPr>
          <a:xfrm>
            <a:off x="9791700" y="4572000"/>
            <a:ext cx="5731282" cy="3143250"/>
          </a:xfrm>
          <a:prstGeom prst="rect">
            <a:avLst/>
          </a:prstGeom>
          <a:no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9791700" y="8001000"/>
            <a:ext cx="7239000" cy="3810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The same tools in one browser window, with a simulated robot</a:t>
            </a:r>
          </a:p>
        </p:txBody>
      </p:sp>
      <p:pic>
        <p:nvPicPr>
          <p:cNvPr id="24" name="Picture 23" descr="mw_logo_small.png"/>
          <p:cNvPicPr>
            <a:picLocks noChangeAspect="1"/>
          </p:cNvPicPr>
          <p:nvPr/>
        </p:nvPicPr>
        <p:blipFill>
          <a:blip r:embed="rId8"/>
          <a:stretch>
            <a:fillRect/>
          </a:stretch>
        </p:blipFill>
        <p:spPr>
          <a:xfrm>
            <a:off x="914400" y="9410700"/>
            <a:ext cx="583564" cy="495300"/>
          </a:xfrm>
          <a:prstGeom prst="rect">
            <a:avLst/>
          </a:prstGeom>
        </p:spPr>
      </p:pic>
      <p:sp>
        <p:nvSpPr>
          <p:cNvPr id="25" name="TextBox 24"/>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2857500"/>
            <a:ext cx="13335000" cy="2476500"/>
          </a:xfrm>
          <a:prstGeom prst="rect">
            <a:avLst/>
          </a:prstGeom>
          <a:noFill/>
        </p:spPr>
        <p:txBody>
          <a:bodyPr wrap="square" lIns="0" rIns="0" tIns="0" bIns="0" anchor="t">
            <a:spAutoFit/>
          </a:bodyPr>
          <a:lstStyle/>
          <a:p>
            <a:pPr algn="l"/>
            <a:r>
              <a:rPr sz="16500" b="1" i="0">
                <a:solidFill>
                  <a:srgbClr val="CC2200"/>
                </a:solidFill>
                <a:latin typeface="Geist"/>
                <a:ea typeface="Geist"/>
                <a:cs typeface="Geist"/>
              </a:rPr>
              <a:t>01</a:t>
            </a:r>
          </a:p>
        </p:txBody>
      </p:sp>
      <p:sp>
        <p:nvSpPr>
          <p:cNvPr id="3" name="TextBox 2"/>
          <p:cNvSpPr txBox="1"/>
          <p:nvPr/>
        </p:nvSpPr>
        <p:spPr>
          <a:xfrm>
            <a:off x="914400" y="5334000"/>
            <a:ext cx="14287500" cy="952500"/>
          </a:xfrm>
          <a:prstGeom prst="rect">
            <a:avLst/>
          </a:prstGeom>
          <a:noFill/>
        </p:spPr>
        <p:txBody>
          <a:bodyPr wrap="square" lIns="0" rIns="0" tIns="0" bIns="0" anchor="t">
            <a:spAutoFit/>
          </a:bodyPr>
          <a:lstStyle/>
          <a:p>
            <a:pPr algn="l"/>
            <a:r>
              <a:rPr sz="5400" b="1" i="0">
                <a:solidFill>
                  <a:srgbClr val="F0E8E8"/>
                </a:solidFill>
                <a:latin typeface="Geist"/>
                <a:ea typeface="Geist"/>
                <a:cs typeface="Geist"/>
              </a:rPr>
              <a:t>Meet the Editor</a:t>
            </a:r>
          </a:p>
        </p:txBody>
      </p:sp>
      <p:sp>
        <p:nvSpPr>
          <p:cNvPr id="4" name="TextBox 3"/>
          <p:cNvSpPr txBox="1"/>
          <p:nvPr/>
        </p:nvSpPr>
        <p:spPr>
          <a:xfrm>
            <a:off x="914400" y="6362700"/>
            <a:ext cx="13335000" cy="476250"/>
          </a:xfrm>
          <a:prstGeom prst="rect">
            <a:avLst/>
          </a:prstGeom>
          <a:noFill/>
        </p:spPr>
        <p:txBody>
          <a:bodyPr wrap="square" lIns="0" rIns="0" tIns="0" bIns="0" anchor="t">
            <a:spAutoFit/>
          </a:bodyPr>
          <a:lstStyle/>
          <a:p>
            <a:pPr algn="l"/>
            <a:r>
              <a:rPr sz="2100" b="0" i="0">
                <a:solidFill>
                  <a:srgbClr val="9A7878"/>
                </a:solidFill>
                <a:latin typeface="Geist"/>
                <a:ea typeface="Geist"/>
                <a:cs typeface="Geist"/>
              </a:rPr>
              <a:t>Files, folders, the terminal, and running a program</a:t>
            </a:r>
          </a:p>
        </p:txBody>
      </p:sp>
      <p:pic>
        <p:nvPicPr>
          <p:cNvPr id="5" name="Picture 4" descr="mw_logo_small.png"/>
          <p:cNvPicPr>
            <a:picLocks noChangeAspect="1"/>
          </p:cNvPicPr>
          <p:nvPr/>
        </p:nvPicPr>
        <p:blipFill>
          <a:blip r:embed="rId3"/>
          <a:stretch>
            <a:fillRect/>
          </a:stretch>
        </p:blipFill>
        <p:spPr>
          <a:xfrm>
            <a:off x="914400" y="9410700"/>
            <a:ext cx="583564" cy="495300"/>
          </a:xfrm>
          <a:prstGeom prst="rect">
            <a:avLst/>
          </a:prstGeom>
        </p:spPr>
      </p:pic>
      <p:sp>
        <p:nvSpPr>
          <p:cNvPr id="6" name="TextBox 5"/>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4</a:t>
            </a:r>
          </a:p>
        </p:txBody>
      </p:sp>
      <p:pic>
        <p:nvPicPr>
          <p:cNvPr id="7" name="Picture 6" descr="dozer_look_up.png"/>
          <p:cNvPicPr>
            <a:picLocks noChangeAspect="1"/>
          </p:cNvPicPr>
          <p:nvPr/>
        </p:nvPicPr>
        <p:blipFill>
          <a:blip r:embed="rId4"/>
          <a:stretch>
            <a:fillRect/>
          </a:stretch>
        </p:blipFill>
        <p:spPr>
          <a:xfrm>
            <a:off x="13620750" y="7048500"/>
            <a:ext cx="3429000" cy="2107613"/>
          </a:xfrm>
          <a:prstGeom prst="rect">
            <a:avLst/>
          </a:prstGeom>
        </p:spPr>
      </p:pic>
      <p:sp>
        <p:nvSpPr>
          <p:cNvPr id="8" name="Isosceles Triangle 7"/>
          <p:cNvSpPr/>
          <p:nvPr/>
        </p:nvSpPr>
        <p:spPr>
          <a:xfrm rot="10800000">
            <a:off x="16261080" y="6572250"/>
            <a:ext cx="342900" cy="285750"/>
          </a:xfrm>
          <a:prstGeom prst="triangl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0953750" y="5372100"/>
            <a:ext cx="5715000" cy="1238250"/>
          </a:xfrm>
          <a:prstGeom prst="roundRect">
            <a:avLst>
              <a:gd name="adj" fmla="val 15384"/>
            </a:avLst>
          </a:prstGeom>
          <a:solidFill>
            <a:srgbClr val="1A0F0F"/>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1220450" y="5372100"/>
            <a:ext cx="5181600" cy="1238250"/>
          </a:xfrm>
          <a:prstGeom prst="rect">
            <a:avLst/>
          </a:prstGeom>
          <a:noFill/>
        </p:spPr>
        <p:txBody>
          <a:bodyPr wrap="square" lIns="0" rIns="0" tIns="0" bIns="0" anchor="ctr">
            <a:spAutoFit/>
          </a:bodyPr>
          <a:lstStyle/>
          <a:p>
            <a:pPr algn="l">
              <a:lnSpc>
                <a:spcPct val="125000"/>
              </a:lnSpc>
            </a:pPr>
            <a:r>
              <a:rPr sz="1950" b="0" i="0">
                <a:solidFill>
                  <a:srgbClr val="F0E8E8"/>
                </a:solidFill>
                <a:latin typeface="Geist"/>
                <a:ea typeface="Geist"/>
                <a:cs typeface="Geist"/>
              </a:rPr>
              <a:t>Save early, save often. Unsaved code can't run!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MEET THE EDITOR</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What is a code editor?</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14400" y="2857500"/>
            <a:ext cx="9144000" cy="396240"/>
          </a:xfrm>
          <a:prstGeom prst="rect">
            <a:avLst/>
          </a:prstGeom>
          <a:noFill/>
        </p:spPr>
        <p:txBody>
          <a:bodyPr wrap="square" lIns="0" rIns="0" tIns="0" bIns="0" anchor="t">
            <a:spAutoFit/>
          </a:bodyPr>
          <a:lstStyle/>
          <a:p>
            <a:pPr algn="l">
              <a:lnSpc>
                <a:spcPct val="125000"/>
              </a:lnSpc>
            </a:pPr>
            <a:r>
              <a:rPr sz="2400" b="1" i="0">
                <a:solidFill>
                  <a:srgbClr val="CC2200"/>
                </a:solidFill>
                <a:latin typeface="Geist"/>
                <a:ea typeface="Geist"/>
                <a:cs typeface="Geist"/>
              </a:rPr>
              <a:t>•  </a:t>
            </a:r>
            <a:r>
              <a:rPr sz="2400" b="1" i="0">
                <a:solidFill>
                  <a:srgbClr val="F0E8E8"/>
                </a:solidFill>
                <a:latin typeface="Geist"/>
                <a:ea typeface="Geist"/>
                <a:cs typeface="Geist"/>
              </a:rPr>
              <a:t>A text editor</a:t>
            </a:r>
            <a:r>
              <a:rPr sz="2400" b="0" i="0">
                <a:solidFill>
                  <a:srgbClr val="F0E8E8"/>
                </a:solidFill>
                <a:latin typeface="Geist"/>
                <a:ea typeface="Geist"/>
                <a:cs typeface="Geist"/>
              </a:rPr>
              <a:t> made for writing code</a:t>
            </a:r>
          </a:p>
        </p:txBody>
      </p:sp>
      <p:sp>
        <p:nvSpPr>
          <p:cNvPr id="6" name="TextBox 5"/>
          <p:cNvSpPr txBox="1"/>
          <p:nvPr/>
        </p:nvSpPr>
        <p:spPr>
          <a:xfrm>
            <a:off x="914400" y="3539490"/>
            <a:ext cx="9144000" cy="396240"/>
          </a:xfrm>
          <a:prstGeom prst="rect">
            <a:avLst/>
          </a:prstGeom>
          <a:noFill/>
        </p:spPr>
        <p:txBody>
          <a:bodyPr wrap="square" lIns="0" rIns="0" tIns="0" bIns="0" anchor="t">
            <a:spAutoFit/>
          </a:bodyPr>
          <a:lstStyle/>
          <a:p>
            <a:pPr algn="l">
              <a:lnSpc>
                <a:spcPct val="125000"/>
              </a:lnSpc>
            </a:pPr>
            <a:r>
              <a:rPr sz="2400" b="1" i="0">
                <a:solidFill>
                  <a:srgbClr val="CC2200"/>
                </a:solidFill>
                <a:latin typeface="Geist"/>
                <a:ea typeface="Geist"/>
                <a:cs typeface="Geist"/>
              </a:rPr>
              <a:t>•  </a:t>
            </a:r>
            <a:r>
              <a:rPr sz="2400" b="1" i="0">
                <a:solidFill>
                  <a:srgbClr val="F0E8E8"/>
                </a:solidFill>
                <a:latin typeface="Geist"/>
                <a:ea typeface="Geist"/>
                <a:cs typeface="Geist"/>
              </a:rPr>
              <a:t>Colors</a:t>
            </a:r>
            <a:r>
              <a:rPr sz="2400" b="0" i="0">
                <a:solidFill>
                  <a:srgbClr val="F0E8E8"/>
                </a:solidFill>
                <a:latin typeface="Geist"/>
                <a:ea typeface="Geist"/>
                <a:cs typeface="Geist"/>
              </a:rPr>
              <a:t> the code so it's easier to read</a:t>
            </a:r>
          </a:p>
        </p:txBody>
      </p:sp>
      <p:sp>
        <p:nvSpPr>
          <p:cNvPr id="7" name="TextBox 6"/>
          <p:cNvSpPr txBox="1"/>
          <p:nvPr/>
        </p:nvSpPr>
        <p:spPr>
          <a:xfrm>
            <a:off x="914400" y="4221480"/>
            <a:ext cx="9144000" cy="396240"/>
          </a:xfrm>
          <a:prstGeom prst="rect">
            <a:avLst/>
          </a:prstGeom>
          <a:noFill/>
        </p:spPr>
        <p:txBody>
          <a:bodyPr wrap="square" lIns="0" rIns="0" tIns="0" bIns="0" anchor="t">
            <a:spAutoFit/>
          </a:bodyPr>
          <a:lstStyle/>
          <a:p>
            <a:pPr algn="l">
              <a:lnSpc>
                <a:spcPct val="125000"/>
              </a:lnSpc>
            </a:pPr>
            <a:r>
              <a:rPr sz="2400" b="1" i="0">
                <a:solidFill>
                  <a:srgbClr val="CC2200"/>
                </a:solidFill>
                <a:latin typeface="Geist"/>
                <a:ea typeface="Geist"/>
                <a:cs typeface="Geist"/>
              </a:rPr>
              <a:t>•  </a:t>
            </a:r>
            <a:r>
              <a:rPr sz="2400" b="1" i="0">
                <a:solidFill>
                  <a:srgbClr val="F0E8E8"/>
                </a:solidFill>
                <a:latin typeface="Geist"/>
                <a:ea typeface="Geist"/>
                <a:cs typeface="Geist"/>
              </a:rPr>
              <a:t>Catches mistakes</a:t>
            </a:r>
            <a:r>
              <a:rPr sz="2400" b="0" i="0">
                <a:solidFill>
                  <a:srgbClr val="F0E8E8"/>
                </a:solidFill>
                <a:latin typeface="Geist"/>
                <a:ea typeface="Geist"/>
                <a:cs typeface="Geist"/>
              </a:rPr>
              <a:t> before you run anything</a:t>
            </a:r>
          </a:p>
        </p:txBody>
      </p:sp>
      <p:sp>
        <p:nvSpPr>
          <p:cNvPr id="8" name="TextBox 7"/>
          <p:cNvSpPr txBox="1"/>
          <p:nvPr/>
        </p:nvSpPr>
        <p:spPr>
          <a:xfrm>
            <a:off x="914400" y="4903470"/>
            <a:ext cx="9144000" cy="396240"/>
          </a:xfrm>
          <a:prstGeom prst="rect">
            <a:avLst/>
          </a:prstGeom>
          <a:noFill/>
        </p:spPr>
        <p:txBody>
          <a:bodyPr wrap="square" lIns="0" rIns="0" tIns="0" bIns="0" anchor="t">
            <a:spAutoFit/>
          </a:bodyPr>
          <a:lstStyle/>
          <a:p>
            <a:pPr algn="l">
              <a:lnSpc>
                <a:spcPct val="125000"/>
              </a:lnSpc>
            </a:pPr>
            <a:r>
              <a:rPr sz="2400" b="1" i="0">
                <a:solidFill>
                  <a:srgbClr val="CC2200"/>
                </a:solidFill>
                <a:latin typeface="Geist"/>
                <a:ea typeface="Geist"/>
                <a:cs typeface="Geist"/>
              </a:rPr>
              <a:t>•  </a:t>
            </a:r>
            <a:r>
              <a:rPr sz="2400" b="1" i="0">
                <a:solidFill>
                  <a:srgbClr val="F0E8E8"/>
                </a:solidFill>
                <a:latin typeface="Geist"/>
                <a:ea typeface="Geist"/>
                <a:cs typeface="Geist"/>
              </a:rPr>
              <a:t>Extensions</a:t>
            </a:r>
            <a:r>
              <a:rPr sz="2400" b="0" i="0">
                <a:solidFill>
                  <a:srgbClr val="F0E8E8"/>
                </a:solidFill>
                <a:latin typeface="Geist"/>
                <a:ea typeface="Geist"/>
                <a:cs typeface="Geist"/>
              </a:rPr>
              <a:t> add features, like WPILib for robots</a:t>
            </a:r>
          </a:p>
        </p:txBody>
      </p:sp>
      <p:sp>
        <p:nvSpPr>
          <p:cNvPr id="9" name="Rounded Rectangle 8"/>
          <p:cNvSpPr/>
          <p:nvPr/>
        </p:nvSpPr>
        <p:spPr>
          <a:xfrm>
            <a:off x="11430000" y="2857500"/>
            <a:ext cx="5943600" cy="5334000"/>
          </a:xfrm>
          <a:prstGeom prst="roundRect">
            <a:avLst>
              <a:gd name="adj" fmla="val 2857"/>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vscode.png"/>
          <p:cNvPicPr>
            <a:picLocks noChangeAspect="1"/>
          </p:cNvPicPr>
          <p:nvPr/>
        </p:nvPicPr>
        <p:blipFill>
          <a:blip r:embed="rId3"/>
          <a:stretch>
            <a:fillRect/>
          </a:stretch>
        </p:blipFill>
        <p:spPr>
          <a:xfrm>
            <a:off x="13544550" y="3524250"/>
            <a:ext cx="2042084" cy="1714500"/>
          </a:xfrm>
          <a:prstGeom prst="rect">
            <a:avLst/>
          </a:prstGeom>
        </p:spPr>
      </p:pic>
      <p:sp>
        <p:nvSpPr>
          <p:cNvPr id="11" name="TextBox 10"/>
          <p:cNvSpPr txBox="1"/>
          <p:nvPr/>
        </p:nvSpPr>
        <p:spPr>
          <a:xfrm>
            <a:off x="11811000" y="5715000"/>
            <a:ext cx="5181600" cy="571500"/>
          </a:xfrm>
          <a:prstGeom prst="rect">
            <a:avLst/>
          </a:prstGeom>
          <a:noFill/>
        </p:spPr>
        <p:txBody>
          <a:bodyPr wrap="square" lIns="0" rIns="0" tIns="0" bIns="0" anchor="t">
            <a:spAutoFit/>
          </a:bodyPr>
          <a:lstStyle/>
          <a:p>
            <a:pPr algn="ctr"/>
            <a:r>
              <a:rPr sz="3000" b="1" i="0">
                <a:solidFill>
                  <a:srgbClr val="F0E8E8"/>
                </a:solidFill>
                <a:latin typeface="Geist"/>
                <a:ea typeface="Geist"/>
                <a:cs typeface="Geist"/>
              </a:rPr>
              <a:t>VS Code</a:t>
            </a:r>
          </a:p>
        </p:txBody>
      </p:sp>
      <p:sp>
        <p:nvSpPr>
          <p:cNvPr id="12" name="TextBox 11"/>
          <p:cNvSpPr txBox="1"/>
          <p:nvPr/>
        </p:nvSpPr>
        <p:spPr>
          <a:xfrm>
            <a:off x="11811000" y="6343650"/>
            <a:ext cx="5181600" cy="1524000"/>
          </a:xfrm>
          <a:prstGeom prst="rect">
            <a:avLst/>
          </a:prstGeom>
          <a:noFill/>
        </p:spPr>
        <p:txBody>
          <a:bodyPr wrap="square" lIns="0" rIns="0" tIns="0" bIns="0" anchor="t">
            <a:spAutoFit/>
          </a:bodyPr>
          <a:lstStyle/>
          <a:p>
            <a:pPr algn="ctr">
              <a:lnSpc>
                <a:spcPct val="130000"/>
              </a:lnSpc>
            </a:pPr>
            <a:r>
              <a:rPr sz="1950" b="0" i="0">
                <a:solidFill>
                  <a:srgbClr val="9A7878"/>
                </a:solidFill>
                <a:latin typeface="Geist"/>
                <a:ea typeface="Geist"/>
                <a:cs typeface="Geist"/>
              </a:rPr>
              <a:t>On every team laptop, with the WPILib extension. Scriptum uses the same editor.</a:t>
            </a:r>
          </a:p>
        </p:txBody>
      </p:sp>
      <p:pic>
        <p:nvPicPr>
          <p:cNvPr id="13" name="Picture 12" descr="mw_logo_small.png"/>
          <p:cNvPicPr>
            <a:picLocks noChangeAspect="1"/>
          </p:cNvPicPr>
          <p:nvPr/>
        </p:nvPicPr>
        <p:blipFill>
          <a:blip r:embed="rId4"/>
          <a:stretch>
            <a:fillRect/>
          </a:stretch>
        </p:blipFill>
        <p:spPr>
          <a:xfrm>
            <a:off x="914400" y="9410700"/>
            <a:ext cx="583564" cy="495300"/>
          </a:xfrm>
          <a:prstGeom prst="rect">
            <a:avLst/>
          </a:prstGeom>
        </p:spPr>
      </p:pic>
      <p:sp>
        <p:nvSpPr>
          <p:cNvPr id="14" name="TextBox 13"/>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MEET THE EDITOR</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A tour of the training workspace</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914400" y="2762250"/>
            <a:ext cx="11239500" cy="6164163"/>
          </a:xfrm>
          <a:prstGeom prst="rect">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workspace.jpg"/>
          <p:cNvPicPr>
            <a:picLocks noChangeAspect="1"/>
          </p:cNvPicPr>
          <p:nvPr/>
        </p:nvPicPr>
        <p:blipFill>
          <a:blip r:embed="rId3"/>
          <a:stretch>
            <a:fillRect/>
          </a:stretch>
        </p:blipFill>
        <p:spPr>
          <a:xfrm>
            <a:off x="914400" y="2762250"/>
            <a:ext cx="11239500" cy="6164163"/>
          </a:xfrm>
          <a:prstGeom prst="rect">
            <a:avLst/>
          </a:prstGeom>
        </p:spPr>
      </p:pic>
      <p:sp>
        <p:nvSpPr>
          <p:cNvPr id="7" name="Rectangle 6"/>
          <p:cNvSpPr/>
          <p:nvPr/>
        </p:nvSpPr>
        <p:spPr>
          <a:xfrm>
            <a:off x="914400" y="2762250"/>
            <a:ext cx="11239500" cy="6164163"/>
          </a:xfrm>
          <a:prstGeom prst="rect">
            <a:avLst/>
          </a:prstGeom>
          <a:no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1195388" y="3318371"/>
            <a:ext cx="1404938" cy="3980656"/>
          </a:xfrm>
          <a:prstGeom prst="roundRect">
            <a:avLst>
              <a:gd name="adj" fmla="val 9491"/>
            </a:avLst>
          </a:prstGeom>
          <a:noFill/>
          <a:ln w="4762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023938" y="3146921"/>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23938" y="3146921"/>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11" name="Rounded Rectangle 10"/>
          <p:cNvSpPr/>
          <p:nvPr/>
        </p:nvSpPr>
        <p:spPr>
          <a:xfrm>
            <a:off x="2612033" y="3318371"/>
            <a:ext cx="3922117" cy="3980656"/>
          </a:xfrm>
          <a:prstGeom prst="roundRect">
            <a:avLst>
              <a:gd name="adj" fmla="val 3399"/>
            </a:avLst>
          </a:prstGeom>
          <a:noFill/>
          <a:ln w="4762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Oval 11"/>
          <p:cNvSpPr/>
          <p:nvPr/>
        </p:nvSpPr>
        <p:spPr>
          <a:xfrm>
            <a:off x="2440583" y="3146921"/>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440583" y="3146921"/>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14" name="Rounded Rectangle 13"/>
          <p:cNvSpPr/>
          <p:nvPr/>
        </p:nvSpPr>
        <p:spPr>
          <a:xfrm>
            <a:off x="6563420" y="3084215"/>
            <a:ext cx="5561211" cy="4361160"/>
          </a:xfrm>
          <a:prstGeom prst="roundRect">
            <a:avLst>
              <a:gd name="adj" fmla="val 3057"/>
            </a:avLst>
          </a:prstGeom>
          <a:noFill/>
          <a:ln w="4762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6391970" y="2912765"/>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91970" y="2912765"/>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17" name="Rounded Rectangle 16"/>
          <p:cNvSpPr/>
          <p:nvPr/>
        </p:nvSpPr>
        <p:spPr>
          <a:xfrm>
            <a:off x="1207095" y="7503914"/>
            <a:ext cx="3278188" cy="1404938"/>
          </a:xfrm>
          <a:prstGeom prst="roundRect">
            <a:avLst>
              <a:gd name="adj" fmla="val 9491"/>
            </a:avLst>
          </a:prstGeom>
          <a:noFill/>
          <a:ln w="4762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35645" y="7332464"/>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35645" y="7332464"/>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4</a:t>
            </a:r>
          </a:p>
        </p:txBody>
      </p:sp>
      <p:sp>
        <p:nvSpPr>
          <p:cNvPr id="20" name="Oval 19"/>
          <p:cNvSpPr/>
          <p:nvPr/>
        </p:nvSpPr>
        <p:spPr>
          <a:xfrm>
            <a:off x="12763500" y="2857500"/>
            <a:ext cx="495300" cy="4953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2763500" y="2857500"/>
            <a:ext cx="495300" cy="4953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22" name="TextBox 21"/>
          <p:cNvSpPr txBox="1"/>
          <p:nvPr/>
        </p:nvSpPr>
        <p:spPr>
          <a:xfrm>
            <a:off x="13449300" y="2819400"/>
            <a:ext cx="4000500" cy="381000"/>
          </a:xfrm>
          <a:prstGeom prst="rect">
            <a:avLst/>
          </a:prstGeom>
          <a:noFill/>
        </p:spPr>
        <p:txBody>
          <a:bodyPr wrap="square" lIns="0" rIns="0" tIns="0" bIns="0" anchor="t">
            <a:spAutoFit/>
          </a:bodyPr>
          <a:lstStyle/>
          <a:p>
            <a:pPr algn="l"/>
            <a:r>
              <a:rPr sz="2400" b="1" i="0">
                <a:solidFill>
                  <a:srgbClr val="F0E8E8"/>
                </a:solidFill>
                <a:latin typeface="Geist"/>
                <a:ea typeface="Geist"/>
                <a:cs typeface="Geist"/>
              </a:rPr>
              <a:t>Explorer</a:t>
            </a:r>
          </a:p>
        </p:txBody>
      </p:sp>
      <p:sp>
        <p:nvSpPr>
          <p:cNvPr id="23" name="TextBox 22"/>
          <p:cNvSpPr txBox="1"/>
          <p:nvPr/>
        </p:nvSpPr>
        <p:spPr>
          <a:xfrm>
            <a:off x="13449300" y="3276600"/>
            <a:ext cx="4000500" cy="3810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Your files and folders</a:t>
            </a:r>
          </a:p>
        </p:txBody>
      </p:sp>
      <p:sp>
        <p:nvSpPr>
          <p:cNvPr id="24" name="Oval 23"/>
          <p:cNvSpPr/>
          <p:nvPr/>
        </p:nvSpPr>
        <p:spPr>
          <a:xfrm>
            <a:off x="12763500" y="4286250"/>
            <a:ext cx="495300" cy="4953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2763500" y="4286250"/>
            <a:ext cx="495300" cy="4953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26" name="TextBox 25"/>
          <p:cNvSpPr txBox="1"/>
          <p:nvPr/>
        </p:nvSpPr>
        <p:spPr>
          <a:xfrm>
            <a:off x="13449300" y="4248150"/>
            <a:ext cx="4000500" cy="381000"/>
          </a:xfrm>
          <a:prstGeom prst="rect">
            <a:avLst/>
          </a:prstGeom>
          <a:noFill/>
        </p:spPr>
        <p:txBody>
          <a:bodyPr wrap="square" lIns="0" rIns="0" tIns="0" bIns="0" anchor="t">
            <a:spAutoFit/>
          </a:bodyPr>
          <a:lstStyle/>
          <a:p>
            <a:pPr algn="l"/>
            <a:r>
              <a:rPr sz="2400" b="1" i="0">
                <a:solidFill>
                  <a:srgbClr val="F0E8E8"/>
                </a:solidFill>
                <a:latin typeface="Geist"/>
                <a:ea typeface="Geist"/>
                <a:cs typeface="Geist"/>
              </a:rPr>
              <a:t>Editor</a:t>
            </a:r>
          </a:p>
        </p:txBody>
      </p:sp>
      <p:sp>
        <p:nvSpPr>
          <p:cNvPr id="27" name="TextBox 26"/>
          <p:cNvSpPr txBox="1"/>
          <p:nvPr/>
        </p:nvSpPr>
        <p:spPr>
          <a:xfrm>
            <a:off x="13449300" y="4705350"/>
            <a:ext cx="4000500" cy="3810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Where you type code</a:t>
            </a:r>
          </a:p>
        </p:txBody>
      </p:sp>
      <p:sp>
        <p:nvSpPr>
          <p:cNvPr id="28" name="Oval 27"/>
          <p:cNvSpPr/>
          <p:nvPr/>
        </p:nvSpPr>
        <p:spPr>
          <a:xfrm>
            <a:off x="12763500" y="5715000"/>
            <a:ext cx="495300" cy="4953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2763500" y="5715000"/>
            <a:ext cx="495300" cy="4953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30" name="TextBox 29"/>
          <p:cNvSpPr txBox="1"/>
          <p:nvPr/>
        </p:nvSpPr>
        <p:spPr>
          <a:xfrm>
            <a:off x="13449300" y="5676900"/>
            <a:ext cx="4000500" cy="381000"/>
          </a:xfrm>
          <a:prstGeom prst="rect">
            <a:avLst/>
          </a:prstGeom>
          <a:noFill/>
        </p:spPr>
        <p:txBody>
          <a:bodyPr wrap="square" lIns="0" rIns="0" tIns="0" bIns="0" anchor="t">
            <a:spAutoFit/>
          </a:bodyPr>
          <a:lstStyle/>
          <a:p>
            <a:pPr algn="l"/>
            <a:r>
              <a:rPr sz="2400" b="1" i="0">
                <a:solidFill>
                  <a:srgbClr val="F0E8E8"/>
                </a:solidFill>
                <a:latin typeface="Geist"/>
                <a:ea typeface="Geist"/>
                <a:cs typeface="Geist"/>
              </a:rPr>
              <a:t>Tool panes</a:t>
            </a:r>
          </a:p>
        </p:txBody>
      </p:sp>
      <p:sp>
        <p:nvSpPr>
          <p:cNvPr id="31" name="TextBox 30"/>
          <p:cNvSpPr txBox="1"/>
          <p:nvPr/>
        </p:nvSpPr>
        <p:spPr>
          <a:xfrm>
            <a:off x="13449300" y="6134100"/>
            <a:ext cx="4000500" cy="3810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AdvantageScope, Elastic, Choreo</a:t>
            </a:r>
          </a:p>
        </p:txBody>
      </p:sp>
      <p:sp>
        <p:nvSpPr>
          <p:cNvPr id="32" name="Oval 31"/>
          <p:cNvSpPr/>
          <p:nvPr/>
        </p:nvSpPr>
        <p:spPr>
          <a:xfrm>
            <a:off x="12763500" y="7143750"/>
            <a:ext cx="495300" cy="4953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2763500" y="7143750"/>
            <a:ext cx="495300" cy="4953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4</a:t>
            </a:r>
          </a:p>
        </p:txBody>
      </p:sp>
      <p:sp>
        <p:nvSpPr>
          <p:cNvPr id="34" name="TextBox 33"/>
          <p:cNvSpPr txBox="1"/>
          <p:nvPr/>
        </p:nvSpPr>
        <p:spPr>
          <a:xfrm>
            <a:off x="13449300" y="7105650"/>
            <a:ext cx="4000500" cy="381000"/>
          </a:xfrm>
          <a:prstGeom prst="rect">
            <a:avLst/>
          </a:prstGeom>
          <a:noFill/>
        </p:spPr>
        <p:txBody>
          <a:bodyPr wrap="square" lIns="0" rIns="0" tIns="0" bIns="0" anchor="t">
            <a:spAutoFit/>
          </a:bodyPr>
          <a:lstStyle/>
          <a:p>
            <a:pPr algn="l"/>
            <a:r>
              <a:rPr sz="2400" b="1" i="0">
                <a:solidFill>
                  <a:srgbClr val="F0E8E8"/>
                </a:solidFill>
                <a:latin typeface="Geist"/>
                <a:ea typeface="Geist"/>
                <a:cs typeface="Geist"/>
              </a:rPr>
              <a:t>Driver Station</a:t>
            </a:r>
          </a:p>
        </p:txBody>
      </p:sp>
      <p:sp>
        <p:nvSpPr>
          <p:cNvPr id="35" name="TextBox 34"/>
          <p:cNvSpPr txBox="1"/>
          <p:nvPr/>
        </p:nvSpPr>
        <p:spPr>
          <a:xfrm>
            <a:off x="13449300" y="7562850"/>
            <a:ext cx="4000500" cy="3810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Start, enable and drive the robot</a:t>
            </a:r>
          </a:p>
        </p:txBody>
      </p:sp>
      <p:pic>
        <p:nvPicPr>
          <p:cNvPr id="36" name="Picture 35" descr="mw_logo_small.png"/>
          <p:cNvPicPr>
            <a:picLocks noChangeAspect="1"/>
          </p:cNvPicPr>
          <p:nvPr/>
        </p:nvPicPr>
        <p:blipFill>
          <a:blip r:embed="rId4"/>
          <a:stretch>
            <a:fillRect/>
          </a:stretch>
        </p:blipFill>
        <p:spPr>
          <a:xfrm>
            <a:off x="914400" y="9410700"/>
            <a:ext cx="583564" cy="495300"/>
          </a:xfrm>
          <a:prstGeom prst="rect">
            <a:avLst/>
          </a:prstGeom>
        </p:spPr>
      </p:pic>
      <p:sp>
        <p:nvSpPr>
          <p:cNvPr id="37" name="TextBox 36"/>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MEET THE EDITOR</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Files and extensions</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14400" y="2857500"/>
            <a:ext cx="7810500" cy="396240"/>
          </a:xfrm>
          <a:prstGeom prst="rect">
            <a:avLst/>
          </a:prstGeom>
          <a:noFill/>
        </p:spPr>
        <p:txBody>
          <a:bodyPr wrap="square" lIns="0" rIns="0" tIns="0" bIns="0" anchor="t">
            <a:spAutoFit/>
          </a:bodyPr>
          <a:lstStyle/>
          <a:p>
            <a:pPr algn="l">
              <a:lnSpc>
                <a:spcPct val="125000"/>
              </a:lnSpc>
            </a:pPr>
            <a:r>
              <a:rPr sz="2400" b="1" i="0">
                <a:solidFill>
                  <a:srgbClr val="CC2200"/>
                </a:solidFill>
                <a:latin typeface="Geist"/>
                <a:ea typeface="Geist"/>
                <a:cs typeface="Geist"/>
              </a:rPr>
              <a:t>•  </a:t>
            </a:r>
            <a:r>
              <a:rPr sz="2400" b="1" i="0">
                <a:solidFill>
                  <a:srgbClr val="F0E8E8"/>
                </a:solidFill>
                <a:latin typeface="Geist"/>
                <a:ea typeface="Geist"/>
                <a:cs typeface="Geist"/>
              </a:rPr>
              <a:t>A file</a:t>
            </a:r>
            <a:r>
              <a:rPr sz="2400" b="0" i="0">
                <a:solidFill>
                  <a:srgbClr val="F0E8E8"/>
                </a:solidFill>
                <a:latin typeface="Geist"/>
                <a:ea typeface="Geist"/>
                <a:cs typeface="Geist"/>
              </a:rPr>
              <a:t> is one saved thing, with a name</a:t>
            </a:r>
          </a:p>
        </p:txBody>
      </p:sp>
      <p:sp>
        <p:nvSpPr>
          <p:cNvPr id="6" name="TextBox 5"/>
          <p:cNvSpPr txBox="1"/>
          <p:nvPr/>
        </p:nvSpPr>
        <p:spPr>
          <a:xfrm>
            <a:off x="914400" y="3539490"/>
            <a:ext cx="7810500" cy="396240"/>
          </a:xfrm>
          <a:prstGeom prst="rect">
            <a:avLst/>
          </a:prstGeom>
          <a:noFill/>
        </p:spPr>
        <p:txBody>
          <a:bodyPr wrap="square" lIns="0" rIns="0" tIns="0" bIns="0" anchor="t">
            <a:spAutoFit/>
          </a:bodyPr>
          <a:lstStyle/>
          <a:p>
            <a:pPr algn="l">
              <a:lnSpc>
                <a:spcPct val="125000"/>
              </a:lnSpc>
            </a:pPr>
            <a:r>
              <a:rPr sz="2400" b="1" i="0">
                <a:solidFill>
                  <a:srgbClr val="CC2200"/>
                </a:solidFill>
                <a:latin typeface="Geist"/>
                <a:ea typeface="Geist"/>
                <a:cs typeface="Geist"/>
              </a:rPr>
              <a:t>•  </a:t>
            </a:r>
            <a:r>
              <a:rPr sz="2400" b="1" i="0">
                <a:solidFill>
                  <a:srgbClr val="F0E8E8"/>
                </a:solidFill>
                <a:latin typeface="Geist"/>
                <a:ea typeface="Geist"/>
                <a:cs typeface="Geist"/>
              </a:rPr>
              <a:t>The extension</a:t>
            </a:r>
            <a:r>
              <a:rPr sz="2400" b="0" i="0">
                <a:solidFill>
                  <a:srgbClr val="F0E8E8"/>
                </a:solidFill>
                <a:latin typeface="Geist"/>
                <a:ea typeface="Geist"/>
                <a:cs typeface="Geist"/>
              </a:rPr>
              <a:t> after the dot says what kind</a:t>
            </a:r>
          </a:p>
        </p:txBody>
      </p:sp>
      <p:sp>
        <p:nvSpPr>
          <p:cNvPr id="7" name="TextBox 6"/>
          <p:cNvSpPr txBox="1"/>
          <p:nvPr/>
        </p:nvSpPr>
        <p:spPr>
          <a:xfrm>
            <a:off x="914400" y="4221480"/>
            <a:ext cx="7810500" cy="396240"/>
          </a:xfrm>
          <a:prstGeom prst="rect">
            <a:avLst/>
          </a:prstGeom>
          <a:noFill/>
        </p:spPr>
        <p:txBody>
          <a:bodyPr wrap="square" lIns="0" rIns="0" tIns="0" bIns="0" anchor="t">
            <a:spAutoFit/>
          </a:bodyPr>
          <a:lstStyle/>
          <a:p>
            <a:pPr algn="l">
              <a:lnSpc>
                <a:spcPct val="125000"/>
              </a:lnSpc>
            </a:pPr>
            <a:r>
              <a:rPr sz="2400" b="1" i="0">
                <a:solidFill>
                  <a:srgbClr val="CC2200"/>
                </a:solidFill>
                <a:latin typeface="Geist"/>
                <a:ea typeface="Geist"/>
                <a:cs typeface="Geist"/>
              </a:rPr>
              <a:t>•  </a:t>
            </a:r>
            <a:r>
              <a:rPr sz="2400" b="1" i="0">
                <a:solidFill>
                  <a:srgbClr val="F0E8E8"/>
                </a:solidFill>
                <a:latin typeface="Geist"/>
                <a:ea typeface="Geist"/>
                <a:cs typeface="Geist"/>
              </a:rPr>
              <a:t>A folder</a:t>
            </a:r>
            <a:r>
              <a:rPr sz="2400" b="0" i="0">
                <a:solidFill>
                  <a:srgbClr val="F0E8E8"/>
                </a:solidFill>
                <a:latin typeface="Geist"/>
                <a:ea typeface="Geist"/>
                <a:cs typeface="Geist"/>
              </a:rPr>
              <a:t> holds files and other folders</a:t>
            </a:r>
          </a:p>
        </p:txBody>
      </p:sp>
      <p:sp>
        <p:nvSpPr>
          <p:cNvPr id="8" name="Rounded Rectangle 7"/>
          <p:cNvSpPr/>
          <p:nvPr/>
        </p:nvSpPr>
        <p:spPr>
          <a:xfrm>
            <a:off x="9525000" y="2857500"/>
            <a:ext cx="7848600" cy="1104900"/>
          </a:xfrm>
          <a:prstGeom prst="roundRect">
            <a:avLst>
              <a:gd name="adj" fmla="val 13793"/>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906000" y="2857500"/>
            <a:ext cx="2095500" cy="1104900"/>
          </a:xfrm>
          <a:prstGeom prst="rect">
            <a:avLst/>
          </a:prstGeom>
          <a:noFill/>
        </p:spPr>
        <p:txBody>
          <a:bodyPr wrap="square" lIns="0" rIns="0" tIns="0" bIns="0" anchor="ctr">
            <a:spAutoFit/>
          </a:bodyPr>
          <a:lstStyle/>
          <a:p>
            <a:pPr algn="l"/>
            <a:r>
              <a:rPr sz="2700" b="0" i="0">
                <a:solidFill>
                  <a:srgbClr val="E0785F"/>
                </a:solidFill>
                <a:latin typeface="Geist Mono"/>
                <a:ea typeface="Geist Mono"/>
                <a:cs typeface="Geist Mono"/>
              </a:rPr>
              <a:t>.java</a:t>
            </a:r>
          </a:p>
        </p:txBody>
      </p:sp>
      <p:sp>
        <p:nvSpPr>
          <p:cNvPr id="10" name="TextBox 9"/>
          <p:cNvSpPr txBox="1"/>
          <p:nvPr/>
        </p:nvSpPr>
        <p:spPr>
          <a:xfrm>
            <a:off x="12096750" y="2857500"/>
            <a:ext cx="5048250" cy="1104900"/>
          </a:xfrm>
          <a:prstGeom prst="rect">
            <a:avLst/>
          </a:prstGeom>
          <a:noFill/>
        </p:spPr>
        <p:txBody>
          <a:bodyPr wrap="square" lIns="0" rIns="0" tIns="0" bIns="0" anchor="ctr">
            <a:spAutoFit/>
          </a:bodyPr>
          <a:lstStyle/>
          <a:p>
            <a:pPr algn="l"/>
            <a:r>
              <a:rPr sz="2100" b="0" i="0">
                <a:solidFill>
                  <a:srgbClr val="F0E8E8"/>
                </a:solidFill>
                <a:latin typeface="Geist"/>
                <a:ea typeface="Geist"/>
                <a:cs typeface="Geist"/>
              </a:rPr>
              <a:t>Java code: the robot program</a:t>
            </a:r>
          </a:p>
        </p:txBody>
      </p:sp>
      <p:sp>
        <p:nvSpPr>
          <p:cNvPr id="11" name="Rounded Rectangle 10"/>
          <p:cNvSpPr/>
          <p:nvPr/>
        </p:nvSpPr>
        <p:spPr>
          <a:xfrm>
            <a:off x="9525000" y="4191000"/>
            <a:ext cx="7848600" cy="1104900"/>
          </a:xfrm>
          <a:prstGeom prst="roundRect">
            <a:avLst>
              <a:gd name="adj" fmla="val 13793"/>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9906000" y="4191000"/>
            <a:ext cx="2095500" cy="1104900"/>
          </a:xfrm>
          <a:prstGeom prst="rect">
            <a:avLst/>
          </a:prstGeom>
          <a:noFill/>
        </p:spPr>
        <p:txBody>
          <a:bodyPr wrap="square" lIns="0" rIns="0" tIns="0" bIns="0" anchor="ctr">
            <a:spAutoFit/>
          </a:bodyPr>
          <a:lstStyle/>
          <a:p>
            <a:pPr algn="l"/>
            <a:r>
              <a:rPr sz="2700" b="0" i="0">
                <a:solidFill>
                  <a:srgbClr val="E0785F"/>
                </a:solidFill>
                <a:latin typeface="Geist Mono"/>
                <a:ea typeface="Geist Mono"/>
                <a:cs typeface="Geist Mono"/>
              </a:rPr>
              <a:t>.json</a:t>
            </a:r>
          </a:p>
        </p:txBody>
      </p:sp>
      <p:sp>
        <p:nvSpPr>
          <p:cNvPr id="13" name="TextBox 12"/>
          <p:cNvSpPr txBox="1"/>
          <p:nvPr/>
        </p:nvSpPr>
        <p:spPr>
          <a:xfrm>
            <a:off x="12096750" y="4191000"/>
            <a:ext cx="5048250" cy="1104900"/>
          </a:xfrm>
          <a:prstGeom prst="rect">
            <a:avLst/>
          </a:prstGeom>
          <a:noFill/>
        </p:spPr>
        <p:txBody>
          <a:bodyPr wrap="square" lIns="0" rIns="0" tIns="0" bIns="0" anchor="ctr">
            <a:spAutoFit/>
          </a:bodyPr>
          <a:lstStyle/>
          <a:p>
            <a:pPr algn="l"/>
            <a:r>
              <a:rPr sz="2100" b="0" i="0">
                <a:solidFill>
                  <a:srgbClr val="F0E8E8"/>
                </a:solidFill>
                <a:latin typeface="Geist"/>
                <a:ea typeface="Geist"/>
                <a:cs typeface="Geist"/>
              </a:rPr>
              <a:t>Settings and data</a:t>
            </a:r>
          </a:p>
        </p:txBody>
      </p:sp>
      <p:sp>
        <p:nvSpPr>
          <p:cNvPr id="14" name="Rounded Rectangle 13"/>
          <p:cNvSpPr/>
          <p:nvPr/>
        </p:nvSpPr>
        <p:spPr>
          <a:xfrm>
            <a:off x="9525000" y="5524500"/>
            <a:ext cx="7848600" cy="1104900"/>
          </a:xfrm>
          <a:prstGeom prst="roundRect">
            <a:avLst>
              <a:gd name="adj" fmla="val 13793"/>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9906000" y="5524500"/>
            <a:ext cx="2095500" cy="1104900"/>
          </a:xfrm>
          <a:prstGeom prst="rect">
            <a:avLst/>
          </a:prstGeom>
          <a:noFill/>
        </p:spPr>
        <p:txBody>
          <a:bodyPr wrap="square" lIns="0" rIns="0" tIns="0" bIns="0" anchor="ctr">
            <a:spAutoFit/>
          </a:bodyPr>
          <a:lstStyle/>
          <a:p>
            <a:pPr algn="l"/>
            <a:r>
              <a:rPr sz="2700" b="0" i="0">
                <a:solidFill>
                  <a:srgbClr val="E0785F"/>
                </a:solidFill>
                <a:latin typeface="Geist Mono"/>
                <a:ea typeface="Geist Mono"/>
                <a:cs typeface="Geist Mono"/>
              </a:rPr>
              <a:t>.md</a:t>
            </a:r>
          </a:p>
        </p:txBody>
      </p:sp>
      <p:sp>
        <p:nvSpPr>
          <p:cNvPr id="16" name="TextBox 15"/>
          <p:cNvSpPr txBox="1"/>
          <p:nvPr/>
        </p:nvSpPr>
        <p:spPr>
          <a:xfrm>
            <a:off x="12096750" y="5524500"/>
            <a:ext cx="5048250" cy="1104900"/>
          </a:xfrm>
          <a:prstGeom prst="rect">
            <a:avLst/>
          </a:prstGeom>
          <a:noFill/>
        </p:spPr>
        <p:txBody>
          <a:bodyPr wrap="square" lIns="0" rIns="0" tIns="0" bIns="0" anchor="ctr">
            <a:spAutoFit/>
          </a:bodyPr>
          <a:lstStyle/>
          <a:p>
            <a:pPr algn="l"/>
            <a:r>
              <a:rPr sz="2100" b="0" i="0">
                <a:solidFill>
                  <a:srgbClr val="F0E8E8"/>
                </a:solidFill>
                <a:latin typeface="Geist"/>
                <a:ea typeface="Geist"/>
                <a:cs typeface="Geist"/>
              </a:rPr>
              <a:t>Notes and instructions (Markdown)</a:t>
            </a:r>
          </a:p>
        </p:txBody>
      </p:sp>
      <p:sp>
        <p:nvSpPr>
          <p:cNvPr id="17" name="Rounded Rectangle 16"/>
          <p:cNvSpPr/>
          <p:nvPr/>
        </p:nvSpPr>
        <p:spPr>
          <a:xfrm>
            <a:off x="9525000" y="6858000"/>
            <a:ext cx="7848600" cy="1104900"/>
          </a:xfrm>
          <a:prstGeom prst="roundRect">
            <a:avLst>
              <a:gd name="adj" fmla="val 13793"/>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9906000" y="6858000"/>
            <a:ext cx="2095500" cy="1104900"/>
          </a:xfrm>
          <a:prstGeom prst="rect">
            <a:avLst/>
          </a:prstGeom>
          <a:noFill/>
        </p:spPr>
        <p:txBody>
          <a:bodyPr wrap="square" lIns="0" rIns="0" tIns="0" bIns="0" anchor="ctr">
            <a:spAutoFit/>
          </a:bodyPr>
          <a:lstStyle/>
          <a:p>
            <a:pPr algn="l"/>
            <a:r>
              <a:rPr sz="2700" b="0" i="0">
                <a:solidFill>
                  <a:srgbClr val="E0785F"/>
                </a:solidFill>
                <a:latin typeface="Geist Mono"/>
                <a:ea typeface="Geist Mono"/>
                <a:cs typeface="Geist Mono"/>
              </a:rPr>
              <a:t>.gradle</a:t>
            </a:r>
          </a:p>
        </p:txBody>
      </p:sp>
      <p:sp>
        <p:nvSpPr>
          <p:cNvPr id="19" name="TextBox 18"/>
          <p:cNvSpPr txBox="1"/>
          <p:nvPr/>
        </p:nvSpPr>
        <p:spPr>
          <a:xfrm>
            <a:off x="12096750" y="6858000"/>
            <a:ext cx="5048250" cy="1104900"/>
          </a:xfrm>
          <a:prstGeom prst="rect">
            <a:avLst/>
          </a:prstGeom>
          <a:noFill/>
        </p:spPr>
        <p:txBody>
          <a:bodyPr wrap="square" lIns="0" rIns="0" tIns="0" bIns="0" anchor="ctr">
            <a:spAutoFit/>
          </a:bodyPr>
          <a:lstStyle/>
          <a:p>
            <a:pPr algn="l"/>
            <a:r>
              <a:rPr sz="2100" b="0" i="0">
                <a:solidFill>
                  <a:srgbClr val="F0E8E8"/>
                </a:solidFill>
                <a:latin typeface="Geist"/>
                <a:ea typeface="Geist"/>
                <a:cs typeface="Geist"/>
              </a:rPr>
              <a:t>How to build the project</a:t>
            </a:r>
          </a:p>
        </p:txBody>
      </p:sp>
      <p:pic>
        <p:nvPicPr>
          <p:cNvPr id="20" name="Picture 19" descr="mw_logo_small.png"/>
          <p:cNvPicPr>
            <a:picLocks noChangeAspect="1"/>
          </p:cNvPicPr>
          <p:nvPr/>
        </p:nvPicPr>
        <p:blipFill>
          <a:blip r:embed="rId3"/>
          <a:stretch>
            <a:fillRect/>
          </a:stretch>
        </p:blipFill>
        <p:spPr>
          <a:xfrm>
            <a:off x="914400" y="9410700"/>
            <a:ext cx="583564" cy="495300"/>
          </a:xfrm>
          <a:prstGeom prst="rect">
            <a:avLst/>
          </a:prstGeom>
        </p:spPr>
      </p:pic>
      <p:sp>
        <p:nvSpPr>
          <p:cNvPr id="21" name="TextBox 20"/>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MEET THE EDITOR</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Projects and paths</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7810500" cy="6096000"/>
          </a:xfrm>
          <a:prstGeom prst="roundRect">
            <a:avLst>
              <a:gd name="adj" fmla="val 2500"/>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295400" y="3143250"/>
            <a:ext cx="6667500" cy="476250"/>
          </a:xfrm>
          <a:prstGeom prst="rect">
            <a:avLst/>
          </a:prstGeom>
          <a:noFill/>
        </p:spPr>
        <p:txBody>
          <a:bodyPr wrap="square" lIns="0" rIns="0" tIns="0" bIns="0" anchor="ctr">
            <a:spAutoFit/>
          </a:bodyPr>
          <a:lstStyle/>
          <a:p>
            <a:pPr algn="l"/>
            <a:r>
              <a:rPr sz="2100" b="0" i="0">
                <a:solidFill>
                  <a:srgbClr val="F0E8E8"/>
                </a:solidFill>
                <a:latin typeface="Geist Mono"/>
                <a:ea typeface="Geist Mono"/>
                <a:cs typeface="Geist Mono"/>
              </a:rPr>
              <a:t>project/</a:t>
            </a:r>
          </a:p>
        </p:txBody>
      </p:sp>
      <p:sp>
        <p:nvSpPr>
          <p:cNvPr id="7" name="TextBox 6"/>
          <p:cNvSpPr txBox="1"/>
          <p:nvPr/>
        </p:nvSpPr>
        <p:spPr>
          <a:xfrm>
            <a:off x="1714500" y="3695700"/>
            <a:ext cx="6667500" cy="476250"/>
          </a:xfrm>
          <a:prstGeom prst="rect">
            <a:avLst/>
          </a:prstGeom>
          <a:noFill/>
        </p:spPr>
        <p:txBody>
          <a:bodyPr wrap="square" lIns="0" rIns="0" tIns="0" bIns="0" anchor="ctr">
            <a:spAutoFit/>
          </a:bodyPr>
          <a:lstStyle/>
          <a:p>
            <a:pPr algn="l"/>
            <a:r>
              <a:rPr sz="2100" b="0" i="0">
                <a:solidFill>
                  <a:srgbClr val="F0E8E8"/>
                </a:solidFill>
                <a:latin typeface="Geist Mono"/>
                <a:ea typeface="Geist Mono"/>
                <a:cs typeface="Geist Mono"/>
              </a:rPr>
              <a:t>src/</a:t>
            </a:r>
          </a:p>
        </p:txBody>
      </p:sp>
      <p:sp>
        <p:nvSpPr>
          <p:cNvPr id="8" name="TextBox 7"/>
          <p:cNvSpPr txBox="1"/>
          <p:nvPr/>
        </p:nvSpPr>
        <p:spPr>
          <a:xfrm>
            <a:off x="2133600" y="4248150"/>
            <a:ext cx="6667500" cy="476250"/>
          </a:xfrm>
          <a:prstGeom prst="rect">
            <a:avLst/>
          </a:prstGeom>
          <a:noFill/>
        </p:spPr>
        <p:txBody>
          <a:bodyPr wrap="square" lIns="0" rIns="0" tIns="0" bIns="0" anchor="ctr">
            <a:spAutoFit/>
          </a:bodyPr>
          <a:lstStyle/>
          <a:p>
            <a:pPr algn="l"/>
            <a:r>
              <a:rPr sz="2100" b="0" i="0">
                <a:solidFill>
                  <a:srgbClr val="F0E8E8"/>
                </a:solidFill>
                <a:latin typeface="Geist Mono"/>
                <a:ea typeface="Geist Mono"/>
                <a:cs typeface="Geist Mono"/>
              </a:rPr>
              <a:t>main/</a:t>
            </a:r>
          </a:p>
        </p:txBody>
      </p:sp>
      <p:sp>
        <p:nvSpPr>
          <p:cNvPr id="9" name="TextBox 8"/>
          <p:cNvSpPr txBox="1"/>
          <p:nvPr/>
        </p:nvSpPr>
        <p:spPr>
          <a:xfrm>
            <a:off x="2552700" y="4800600"/>
            <a:ext cx="6667500" cy="476250"/>
          </a:xfrm>
          <a:prstGeom prst="rect">
            <a:avLst/>
          </a:prstGeom>
          <a:noFill/>
        </p:spPr>
        <p:txBody>
          <a:bodyPr wrap="square" lIns="0" rIns="0" tIns="0" bIns="0" anchor="ctr">
            <a:spAutoFit/>
          </a:bodyPr>
          <a:lstStyle/>
          <a:p>
            <a:pPr algn="l"/>
            <a:r>
              <a:rPr sz="2100" b="0" i="0">
                <a:solidFill>
                  <a:srgbClr val="F0E8E8"/>
                </a:solidFill>
                <a:latin typeface="Geist Mono"/>
                <a:ea typeface="Geist Mono"/>
                <a:cs typeface="Geist Mono"/>
              </a:rPr>
              <a:t>java/</a:t>
            </a:r>
          </a:p>
        </p:txBody>
      </p:sp>
      <p:sp>
        <p:nvSpPr>
          <p:cNvPr id="10" name="TextBox 9"/>
          <p:cNvSpPr txBox="1"/>
          <p:nvPr/>
        </p:nvSpPr>
        <p:spPr>
          <a:xfrm>
            <a:off x="2971800" y="5353050"/>
            <a:ext cx="6667500" cy="476250"/>
          </a:xfrm>
          <a:prstGeom prst="rect">
            <a:avLst/>
          </a:prstGeom>
          <a:noFill/>
        </p:spPr>
        <p:txBody>
          <a:bodyPr wrap="square" lIns="0" rIns="0" tIns="0" bIns="0" anchor="ctr">
            <a:spAutoFit/>
          </a:bodyPr>
          <a:lstStyle/>
          <a:p>
            <a:pPr algn="l"/>
            <a:r>
              <a:rPr sz="2100" b="0" i="0">
                <a:solidFill>
                  <a:srgbClr val="F0E8E8"/>
                </a:solidFill>
                <a:latin typeface="Geist Mono"/>
                <a:ea typeface="Geist Mono"/>
                <a:cs typeface="Geist Mono"/>
              </a:rPr>
              <a:t>frc/</a:t>
            </a:r>
          </a:p>
        </p:txBody>
      </p:sp>
      <p:sp>
        <p:nvSpPr>
          <p:cNvPr id="11" name="TextBox 10"/>
          <p:cNvSpPr txBox="1"/>
          <p:nvPr/>
        </p:nvSpPr>
        <p:spPr>
          <a:xfrm>
            <a:off x="3390900" y="5905500"/>
            <a:ext cx="6667500" cy="476250"/>
          </a:xfrm>
          <a:prstGeom prst="rect">
            <a:avLst/>
          </a:prstGeom>
          <a:noFill/>
        </p:spPr>
        <p:txBody>
          <a:bodyPr wrap="square" lIns="0" rIns="0" tIns="0" bIns="0" anchor="ctr">
            <a:spAutoFit/>
          </a:bodyPr>
          <a:lstStyle/>
          <a:p>
            <a:pPr algn="l"/>
            <a:r>
              <a:rPr sz="2100" b="0" i="0">
                <a:solidFill>
                  <a:srgbClr val="F0E8E8"/>
                </a:solidFill>
                <a:latin typeface="Geist Mono"/>
                <a:ea typeface="Geist Mono"/>
                <a:cs typeface="Geist Mono"/>
              </a:rPr>
              <a:t>robot/</a:t>
            </a:r>
          </a:p>
        </p:txBody>
      </p:sp>
      <p:sp>
        <p:nvSpPr>
          <p:cNvPr id="12" name="TextBox 11"/>
          <p:cNvSpPr txBox="1"/>
          <p:nvPr/>
        </p:nvSpPr>
        <p:spPr>
          <a:xfrm>
            <a:off x="3810000" y="6457950"/>
            <a:ext cx="6667500" cy="476250"/>
          </a:xfrm>
          <a:prstGeom prst="rect">
            <a:avLst/>
          </a:prstGeom>
          <a:noFill/>
        </p:spPr>
        <p:txBody>
          <a:bodyPr wrap="square" lIns="0" rIns="0" tIns="0" bIns="0" anchor="ctr">
            <a:spAutoFit/>
          </a:bodyPr>
          <a:lstStyle/>
          <a:p>
            <a:pPr algn="l"/>
            <a:r>
              <a:rPr sz="2100" b="1" i="0">
                <a:solidFill>
                  <a:srgbClr val="CC2200"/>
                </a:solidFill>
                <a:latin typeface="Geist Mono"/>
                <a:ea typeface="Geist Mono"/>
                <a:cs typeface="Geist Mono"/>
              </a:rPr>
              <a:t>Robot.java</a:t>
            </a:r>
          </a:p>
        </p:txBody>
      </p:sp>
      <p:sp>
        <p:nvSpPr>
          <p:cNvPr id="13" name="TextBox 12"/>
          <p:cNvSpPr txBox="1"/>
          <p:nvPr/>
        </p:nvSpPr>
        <p:spPr>
          <a:xfrm>
            <a:off x="3810000" y="7010400"/>
            <a:ext cx="6667500" cy="476250"/>
          </a:xfrm>
          <a:prstGeom prst="rect">
            <a:avLst/>
          </a:prstGeom>
          <a:noFill/>
        </p:spPr>
        <p:txBody>
          <a:bodyPr wrap="square" lIns="0" rIns="0" tIns="0" bIns="0" anchor="ctr">
            <a:spAutoFit/>
          </a:bodyPr>
          <a:lstStyle/>
          <a:p>
            <a:pPr algn="l"/>
            <a:r>
              <a:rPr sz="2100" b="0" i="0">
                <a:solidFill>
                  <a:srgbClr val="F0E8E8"/>
                </a:solidFill>
                <a:latin typeface="Geist Mono"/>
                <a:ea typeface="Geist Mono"/>
                <a:cs typeface="Geist Mono"/>
              </a:rPr>
              <a:t>Constants.java</a:t>
            </a:r>
          </a:p>
        </p:txBody>
      </p:sp>
      <p:sp>
        <p:nvSpPr>
          <p:cNvPr id="14" name="TextBox 13"/>
          <p:cNvSpPr txBox="1"/>
          <p:nvPr/>
        </p:nvSpPr>
        <p:spPr>
          <a:xfrm>
            <a:off x="1714500" y="7562850"/>
            <a:ext cx="6667500" cy="476250"/>
          </a:xfrm>
          <a:prstGeom prst="rect">
            <a:avLst/>
          </a:prstGeom>
          <a:noFill/>
        </p:spPr>
        <p:txBody>
          <a:bodyPr wrap="square" lIns="0" rIns="0" tIns="0" bIns="0" anchor="ctr">
            <a:spAutoFit/>
          </a:bodyPr>
          <a:lstStyle/>
          <a:p>
            <a:pPr algn="l"/>
            <a:r>
              <a:rPr sz="2100" b="0" i="0">
                <a:solidFill>
                  <a:srgbClr val="F0E8E8"/>
                </a:solidFill>
                <a:latin typeface="Geist Mono"/>
                <a:ea typeface="Geist Mono"/>
                <a:cs typeface="Geist Mono"/>
              </a:rPr>
              <a:t>build.gradle</a:t>
            </a:r>
          </a:p>
        </p:txBody>
      </p:sp>
      <p:sp>
        <p:nvSpPr>
          <p:cNvPr id="15" name="TextBox 14"/>
          <p:cNvSpPr txBox="1"/>
          <p:nvPr/>
        </p:nvSpPr>
        <p:spPr>
          <a:xfrm>
            <a:off x="1714500" y="8115300"/>
            <a:ext cx="6667500" cy="476250"/>
          </a:xfrm>
          <a:prstGeom prst="rect">
            <a:avLst/>
          </a:prstGeom>
          <a:noFill/>
        </p:spPr>
        <p:txBody>
          <a:bodyPr wrap="square" lIns="0" rIns="0" tIns="0" bIns="0" anchor="ctr">
            <a:spAutoFit/>
          </a:bodyPr>
          <a:lstStyle/>
          <a:p>
            <a:pPr algn="l"/>
            <a:r>
              <a:rPr sz="2100" b="0" i="0">
                <a:solidFill>
                  <a:srgbClr val="F0E8E8"/>
                </a:solidFill>
                <a:latin typeface="Geist Mono"/>
                <a:ea typeface="Geist Mono"/>
                <a:cs typeface="Geist Mono"/>
              </a:rPr>
              <a:t>README.md</a:t>
            </a:r>
          </a:p>
        </p:txBody>
      </p:sp>
      <p:sp>
        <p:nvSpPr>
          <p:cNvPr id="16" name="TextBox 15"/>
          <p:cNvSpPr txBox="1"/>
          <p:nvPr/>
        </p:nvSpPr>
        <p:spPr>
          <a:xfrm>
            <a:off x="9525000" y="2857500"/>
            <a:ext cx="7848600" cy="371475"/>
          </a:xfrm>
          <a:prstGeom prst="rect">
            <a:avLst/>
          </a:prstGeom>
          <a:noFill/>
        </p:spPr>
        <p:txBody>
          <a:bodyPr wrap="square" lIns="0" rIns="0" tIns="0" bIns="0" anchor="t">
            <a:spAutoFit/>
          </a:bodyPr>
          <a:lstStyle/>
          <a:p>
            <a:pPr algn="l">
              <a:lnSpc>
                <a:spcPct val="125000"/>
              </a:lnSpc>
            </a:pPr>
            <a:r>
              <a:rPr sz="2250" b="1" i="0">
                <a:solidFill>
                  <a:srgbClr val="CC2200"/>
                </a:solidFill>
                <a:latin typeface="Geist"/>
                <a:ea typeface="Geist"/>
                <a:cs typeface="Geist"/>
              </a:rPr>
              <a:t>•  </a:t>
            </a:r>
            <a:r>
              <a:rPr sz="2250" b="1" i="0">
                <a:solidFill>
                  <a:srgbClr val="F0E8E8"/>
                </a:solidFill>
                <a:latin typeface="Geist"/>
                <a:ea typeface="Geist"/>
                <a:cs typeface="Geist"/>
              </a:rPr>
              <a:t>A project</a:t>
            </a:r>
            <a:r>
              <a:rPr sz="2250" b="0" i="0">
                <a:solidFill>
                  <a:srgbClr val="F0E8E8"/>
                </a:solidFill>
                <a:latin typeface="Geist"/>
                <a:ea typeface="Geist"/>
                <a:cs typeface="Geist"/>
              </a:rPr>
              <a:t> is one folder with everything inside</a:t>
            </a:r>
          </a:p>
        </p:txBody>
      </p:sp>
      <p:sp>
        <p:nvSpPr>
          <p:cNvPr id="17" name="TextBox 16"/>
          <p:cNvSpPr txBox="1"/>
          <p:nvPr/>
        </p:nvSpPr>
        <p:spPr>
          <a:xfrm>
            <a:off x="9525000" y="3514725"/>
            <a:ext cx="7848600" cy="371475"/>
          </a:xfrm>
          <a:prstGeom prst="rect">
            <a:avLst/>
          </a:prstGeom>
          <a:noFill/>
        </p:spPr>
        <p:txBody>
          <a:bodyPr wrap="square" lIns="0" rIns="0" tIns="0" bIns="0" anchor="t">
            <a:spAutoFit/>
          </a:bodyPr>
          <a:lstStyle/>
          <a:p>
            <a:pPr algn="l">
              <a:lnSpc>
                <a:spcPct val="125000"/>
              </a:lnSpc>
            </a:pPr>
            <a:r>
              <a:rPr sz="2250" b="1" i="0">
                <a:solidFill>
                  <a:srgbClr val="CC2200"/>
                </a:solidFill>
                <a:latin typeface="Geist"/>
                <a:ea typeface="Geist"/>
                <a:cs typeface="Geist"/>
              </a:rPr>
              <a:t>•  </a:t>
            </a:r>
            <a:r>
              <a:rPr sz="2250" b="1" i="0">
                <a:solidFill>
                  <a:srgbClr val="F0E8E8"/>
                </a:solidFill>
                <a:latin typeface="Geist"/>
                <a:ea typeface="Geist"/>
                <a:cs typeface="Geist"/>
              </a:rPr>
              <a:t>A path</a:t>
            </a:r>
            <a:r>
              <a:rPr sz="2250" b="0" i="0">
                <a:solidFill>
                  <a:srgbClr val="F0E8E8"/>
                </a:solidFill>
                <a:latin typeface="Geist"/>
                <a:ea typeface="Geist"/>
                <a:cs typeface="Geist"/>
              </a:rPr>
              <a:t> is a file's address, folder by folder</a:t>
            </a:r>
          </a:p>
        </p:txBody>
      </p:sp>
      <p:sp>
        <p:nvSpPr>
          <p:cNvPr id="18" name="TextBox 17"/>
          <p:cNvSpPr txBox="1"/>
          <p:nvPr/>
        </p:nvSpPr>
        <p:spPr>
          <a:xfrm>
            <a:off x="9525000" y="4171950"/>
            <a:ext cx="7848600" cy="371475"/>
          </a:xfrm>
          <a:prstGeom prst="rect">
            <a:avLst/>
          </a:prstGeom>
          <a:noFill/>
        </p:spPr>
        <p:txBody>
          <a:bodyPr wrap="square" lIns="0" rIns="0" tIns="0" bIns="0" anchor="t">
            <a:spAutoFit/>
          </a:bodyPr>
          <a:lstStyle/>
          <a:p>
            <a:pPr algn="l">
              <a:lnSpc>
                <a:spcPct val="125000"/>
              </a:lnSpc>
            </a:pPr>
            <a:r>
              <a:rPr sz="2250" b="1" i="0">
                <a:solidFill>
                  <a:srgbClr val="CC2200"/>
                </a:solidFill>
                <a:latin typeface="Geist"/>
                <a:ea typeface="Geist"/>
                <a:cs typeface="Geist"/>
              </a:rPr>
              <a:t>•  </a:t>
            </a:r>
            <a:r>
              <a:rPr sz="2250" b="0" i="0">
                <a:solidFill>
                  <a:srgbClr val="F0E8E8"/>
                </a:solidFill>
                <a:latin typeface="Geist"/>
                <a:ea typeface="Geist"/>
                <a:cs typeface="Geist"/>
              </a:rPr>
              <a:t>Slashes separate the folders</a:t>
            </a:r>
          </a:p>
        </p:txBody>
      </p:sp>
      <p:sp>
        <p:nvSpPr>
          <p:cNvPr id="19" name="Rounded Rectangle 18"/>
          <p:cNvSpPr/>
          <p:nvPr/>
        </p:nvSpPr>
        <p:spPr>
          <a:xfrm>
            <a:off x="9525000" y="6667500"/>
            <a:ext cx="7848600" cy="1183005"/>
          </a:xfrm>
          <a:prstGeom prst="roundRect">
            <a:avLst>
              <a:gd name="adj" fmla="val 12882"/>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9906000" y="7048500"/>
            <a:ext cx="7086600" cy="421005"/>
          </a:xfrm>
          <a:prstGeom prst="rect">
            <a:avLst/>
          </a:prstGeom>
          <a:noFill/>
        </p:spPr>
        <p:txBody>
          <a:bodyPr wrap="square" lIns="0" rIns="0" tIns="0" bIns="0" anchor="ctr">
            <a:spAutoFit/>
          </a:bodyPr>
          <a:lstStyle/>
          <a:p>
            <a:pPr algn="l"/>
            <a:r>
              <a:rPr sz="1950" b="0" i="0">
                <a:solidFill>
                  <a:srgbClr val="F0E8E8"/>
                </a:solidFill>
                <a:latin typeface="Geist Mono"/>
                <a:ea typeface="Geist Mono"/>
                <a:cs typeface="Geist Mono"/>
              </a:rPr>
              <a:t>src</a:t>
            </a:r>
            <a:r>
              <a:rPr sz="1950" b="0" i="0">
                <a:solidFill>
                  <a:srgbClr val="CC2200"/>
                </a:solidFill>
                <a:latin typeface="Geist Mono"/>
                <a:ea typeface="Geist Mono"/>
                <a:cs typeface="Geist Mono"/>
              </a:rPr>
              <a:t>/</a:t>
            </a:r>
            <a:r>
              <a:rPr sz="1950" b="0" i="0">
                <a:solidFill>
                  <a:srgbClr val="F0E8E8"/>
                </a:solidFill>
                <a:latin typeface="Geist Mono"/>
                <a:ea typeface="Geist Mono"/>
                <a:cs typeface="Geist Mono"/>
              </a:rPr>
              <a:t>main</a:t>
            </a:r>
            <a:r>
              <a:rPr sz="1950" b="0" i="0">
                <a:solidFill>
                  <a:srgbClr val="CC2200"/>
                </a:solidFill>
                <a:latin typeface="Geist Mono"/>
                <a:ea typeface="Geist Mono"/>
                <a:cs typeface="Geist Mono"/>
              </a:rPr>
              <a:t>/</a:t>
            </a:r>
            <a:r>
              <a:rPr sz="1950" b="0" i="0">
                <a:solidFill>
                  <a:srgbClr val="F0E8E8"/>
                </a:solidFill>
                <a:latin typeface="Geist Mono"/>
                <a:ea typeface="Geist Mono"/>
                <a:cs typeface="Geist Mono"/>
              </a:rPr>
              <a:t>java</a:t>
            </a:r>
            <a:r>
              <a:rPr sz="1950" b="0" i="0">
                <a:solidFill>
                  <a:srgbClr val="CC2200"/>
                </a:solidFill>
                <a:latin typeface="Geist Mono"/>
                <a:ea typeface="Geist Mono"/>
                <a:cs typeface="Geist Mono"/>
              </a:rPr>
              <a:t>/</a:t>
            </a:r>
            <a:r>
              <a:rPr sz="1950" b="0" i="0">
                <a:solidFill>
                  <a:srgbClr val="F0E8E8"/>
                </a:solidFill>
                <a:latin typeface="Geist Mono"/>
                <a:ea typeface="Geist Mono"/>
                <a:cs typeface="Geist Mono"/>
              </a:rPr>
              <a:t>frc</a:t>
            </a:r>
            <a:r>
              <a:rPr sz="1950" b="0" i="0">
                <a:solidFill>
                  <a:srgbClr val="CC2200"/>
                </a:solidFill>
                <a:latin typeface="Geist Mono"/>
                <a:ea typeface="Geist Mono"/>
                <a:cs typeface="Geist Mono"/>
              </a:rPr>
              <a:t>/</a:t>
            </a:r>
            <a:r>
              <a:rPr sz="1950" b="0" i="0">
                <a:solidFill>
                  <a:srgbClr val="F0E8E8"/>
                </a:solidFill>
                <a:latin typeface="Geist Mono"/>
                <a:ea typeface="Geist Mono"/>
                <a:cs typeface="Geist Mono"/>
              </a:rPr>
              <a:t>robot</a:t>
            </a:r>
            <a:r>
              <a:rPr sz="1950" b="0" i="0">
                <a:solidFill>
                  <a:srgbClr val="CC2200"/>
                </a:solidFill>
                <a:latin typeface="Geist Mono"/>
                <a:ea typeface="Geist Mono"/>
                <a:cs typeface="Geist Mono"/>
              </a:rPr>
              <a:t>/</a:t>
            </a:r>
            <a:r>
              <a:rPr sz="1950" b="0" i="0">
                <a:solidFill>
                  <a:srgbClr val="E8C27A"/>
                </a:solidFill>
                <a:latin typeface="Geist Mono"/>
                <a:ea typeface="Geist Mono"/>
                <a:cs typeface="Geist Mono"/>
              </a:rPr>
              <a:t>Robot.java</a:t>
            </a:r>
          </a:p>
        </p:txBody>
      </p:sp>
      <p:pic>
        <p:nvPicPr>
          <p:cNvPr id="21" name="Picture 20" descr="mw_logo_small.png"/>
          <p:cNvPicPr>
            <a:picLocks noChangeAspect="1"/>
          </p:cNvPicPr>
          <p:nvPr/>
        </p:nvPicPr>
        <p:blipFill>
          <a:blip r:embed="rId3"/>
          <a:stretch>
            <a:fillRect/>
          </a:stretch>
        </p:blipFill>
        <p:spPr>
          <a:xfrm>
            <a:off x="914400" y="9410700"/>
            <a:ext cx="583564" cy="495300"/>
          </a:xfrm>
          <a:prstGeom prst="rect">
            <a:avLst/>
          </a:prstGeom>
        </p:spPr>
      </p:pic>
      <p:sp>
        <p:nvSpPr>
          <p:cNvPr id="22" name="TextBox 21"/>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MEET THE EDITOR</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The terminal: typing commands</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10477500" cy="914400"/>
          </a:xfrm>
          <a:prstGeom prst="roundRect">
            <a:avLst>
              <a:gd name="adj" fmla="val 125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295400" y="2857500"/>
            <a:ext cx="3429000" cy="914400"/>
          </a:xfrm>
          <a:prstGeom prst="rect">
            <a:avLst/>
          </a:prstGeom>
          <a:noFill/>
        </p:spPr>
        <p:txBody>
          <a:bodyPr wrap="square" lIns="0" rIns="0" tIns="0" bIns="0" anchor="ctr">
            <a:spAutoFit/>
          </a:bodyPr>
          <a:lstStyle/>
          <a:p>
            <a:pPr algn="l"/>
            <a:r>
              <a:rPr sz="2400" b="0" i="0">
                <a:solidFill>
                  <a:srgbClr val="E0785F"/>
                </a:solidFill>
                <a:latin typeface="Geist Mono"/>
                <a:ea typeface="Geist Mono"/>
                <a:cs typeface="Geist Mono"/>
              </a:rPr>
              <a:t>pwd</a:t>
            </a:r>
          </a:p>
        </p:txBody>
      </p:sp>
      <p:sp>
        <p:nvSpPr>
          <p:cNvPr id="7" name="TextBox 6"/>
          <p:cNvSpPr txBox="1"/>
          <p:nvPr/>
        </p:nvSpPr>
        <p:spPr>
          <a:xfrm>
            <a:off x="4953000" y="2857500"/>
            <a:ext cx="6286500" cy="914400"/>
          </a:xfrm>
          <a:prstGeom prst="rect">
            <a:avLst/>
          </a:prstGeom>
          <a:noFill/>
        </p:spPr>
        <p:txBody>
          <a:bodyPr wrap="square" lIns="0" rIns="0" tIns="0" bIns="0" anchor="ctr">
            <a:spAutoFit/>
          </a:bodyPr>
          <a:lstStyle/>
          <a:p>
            <a:pPr algn="l"/>
            <a:r>
              <a:rPr sz="2100" b="0" i="0">
                <a:solidFill>
                  <a:srgbClr val="F0E8E8"/>
                </a:solidFill>
                <a:latin typeface="Geist"/>
                <a:ea typeface="Geist"/>
                <a:cs typeface="Geist"/>
              </a:rPr>
              <a:t>Where am I? Prints the folder you're in</a:t>
            </a:r>
          </a:p>
        </p:txBody>
      </p:sp>
      <p:sp>
        <p:nvSpPr>
          <p:cNvPr id="8" name="Rounded Rectangle 7"/>
          <p:cNvSpPr/>
          <p:nvPr/>
        </p:nvSpPr>
        <p:spPr>
          <a:xfrm>
            <a:off x="914400" y="3924300"/>
            <a:ext cx="10477500" cy="914400"/>
          </a:xfrm>
          <a:prstGeom prst="roundRect">
            <a:avLst>
              <a:gd name="adj" fmla="val 125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295400" y="3924300"/>
            <a:ext cx="3429000" cy="914400"/>
          </a:xfrm>
          <a:prstGeom prst="rect">
            <a:avLst/>
          </a:prstGeom>
          <a:noFill/>
        </p:spPr>
        <p:txBody>
          <a:bodyPr wrap="square" lIns="0" rIns="0" tIns="0" bIns="0" anchor="ctr">
            <a:spAutoFit/>
          </a:bodyPr>
          <a:lstStyle/>
          <a:p>
            <a:pPr algn="l"/>
            <a:r>
              <a:rPr sz="2400" b="0" i="0">
                <a:solidFill>
                  <a:srgbClr val="E0785F"/>
                </a:solidFill>
                <a:latin typeface="Geist Mono"/>
                <a:ea typeface="Geist Mono"/>
                <a:cs typeface="Geist Mono"/>
              </a:rPr>
              <a:t>ls</a:t>
            </a:r>
          </a:p>
        </p:txBody>
      </p:sp>
      <p:sp>
        <p:nvSpPr>
          <p:cNvPr id="10" name="TextBox 9"/>
          <p:cNvSpPr txBox="1"/>
          <p:nvPr/>
        </p:nvSpPr>
        <p:spPr>
          <a:xfrm>
            <a:off x="4953000" y="3924300"/>
            <a:ext cx="6286500" cy="914400"/>
          </a:xfrm>
          <a:prstGeom prst="rect">
            <a:avLst/>
          </a:prstGeom>
          <a:noFill/>
        </p:spPr>
        <p:txBody>
          <a:bodyPr wrap="square" lIns="0" rIns="0" tIns="0" bIns="0" anchor="ctr">
            <a:spAutoFit/>
          </a:bodyPr>
          <a:lstStyle/>
          <a:p>
            <a:pPr algn="l"/>
            <a:r>
              <a:rPr sz="2100" b="0" i="0">
                <a:solidFill>
                  <a:srgbClr val="F0E8E8"/>
                </a:solidFill>
                <a:latin typeface="Geist"/>
                <a:ea typeface="Geist"/>
                <a:cs typeface="Geist"/>
              </a:rPr>
              <a:t>What's here? Lists files and folders</a:t>
            </a:r>
          </a:p>
        </p:txBody>
      </p:sp>
      <p:sp>
        <p:nvSpPr>
          <p:cNvPr id="11" name="Rounded Rectangle 10"/>
          <p:cNvSpPr/>
          <p:nvPr/>
        </p:nvSpPr>
        <p:spPr>
          <a:xfrm>
            <a:off x="914400" y="4991100"/>
            <a:ext cx="10477500" cy="914400"/>
          </a:xfrm>
          <a:prstGeom prst="roundRect">
            <a:avLst>
              <a:gd name="adj" fmla="val 125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1295400" y="4991100"/>
            <a:ext cx="3429000" cy="914400"/>
          </a:xfrm>
          <a:prstGeom prst="rect">
            <a:avLst/>
          </a:prstGeom>
          <a:noFill/>
        </p:spPr>
        <p:txBody>
          <a:bodyPr wrap="square" lIns="0" rIns="0" tIns="0" bIns="0" anchor="ctr">
            <a:spAutoFit/>
          </a:bodyPr>
          <a:lstStyle/>
          <a:p>
            <a:pPr algn="l"/>
            <a:r>
              <a:rPr sz="2400" b="0" i="0">
                <a:solidFill>
                  <a:srgbClr val="E0785F"/>
                </a:solidFill>
                <a:latin typeface="Geist Mono"/>
                <a:ea typeface="Geist Mono"/>
                <a:cs typeface="Geist Mono"/>
              </a:rPr>
              <a:t>cd robot</a:t>
            </a:r>
          </a:p>
        </p:txBody>
      </p:sp>
      <p:sp>
        <p:nvSpPr>
          <p:cNvPr id="13" name="TextBox 12"/>
          <p:cNvSpPr txBox="1"/>
          <p:nvPr/>
        </p:nvSpPr>
        <p:spPr>
          <a:xfrm>
            <a:off x="4953000" y="4991100"/>
            <a:ext cx="6286500" cy="914400"/>
          </a:xfrm>
          <a:prstGeom prst="rect">
            <a:avLst/>
          </a:prstGeom>
          <a:noFill/>
        </p:spPr>
        <p:txBody>
          <a:bodyPr wrap="square" lIns="0" rIns="0" tIns="0" bIns="0" anchor="ctr">
            <a:spAutoFit/>
          </a:bodyPr>
          <a:lstStyle/>
          <a:p>
            <a:pPr algn="l"/>
            <a:r>
              <a:rPr sz="2100" b="0" i="0">
                <a:solidFill>
                  <a:srgbClr val="F0E8E8"/>
                </a:solidFill>
                <a:latin typeface="Geist"/>
                <a:ea typeface="Geist"/>
                <a:cs typeface="Geist"/>
              </a:rPr>
              <a:t>Move into a folder</a:t>
            </a:r>
          </a:p>
        </p:txBody>
      </p:sp>
      <p:sp>
        <p:nvSpPr>
          <p:cNvPr id="14" name="Rounded Rectangle 13"/>
          <p:cNvSpPr/>
          <p:nvPr/>
        </p:nvSpPr>
        <p:spPr>
          <a:xfrm>
            <a:off x="914400" y="6057900"/>
            <a:ext cx="10477500" cy="914400"/>
          </a:xfrm>
          <a:prstGeom prst="roundRect">
            <a:avLst>
              <a:gd name="adj" fmla="val 125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295400" y="6057900"/>
            <a:ext cx="3429000" cy="914400"/>
          </a:xfrm>
          <a:prstGeom prst="rect">
            <a:avLst/>
          </a:prstGeom>
          <a:noFill/>
        </p:spPr>
        <p:txBody>
          <a:bodyPr wrap="square" lIns="0" rIns="0" tIns="0" bIns="0" anchor="ctr">
            <a:spAutoFit/>
          </a:bodyPr>
          <a:lstStyle/>
          <a:p>
            <a:pPr algn="l"/>
            <a:r>
              <a:rPr sz="2400" b="0" i="0">
                <a:solidFill>
                  <a:srgbClr val="E0785F"/>
                </a:solidFill>
                <a:latin typeface="Geist Mono"/>
                <a:ea typeface="Geist Mono"/>
                <a:cs typeface="Geist Mono"/>
              </a:rPr>
              <a:t>cat notes.txt</a:t>
            </a:r>
          </a:p>
        </p:txBody>
      </p:sp>
      <p:sp>
        <p:nvSpPr>
          <p:cNvPr id="16" name="TextBox 15"/>
          <p:cNvSpPr txBox="1"/>
          <p:nvPr/>
        </p:nvSpPr>
        <p:spPr>
          <a:xfrm>
            <a:off x="4953000" y="6057900"/>
            <a:ext cx="6286500" cy="914400"/>
          </a:xfrm>
          <a:prstGeom prst="rect">
            <a:avLst/>
          </a:prstGeom>
          <a:noFill/>
        </p:spPr>
        <p:txBody>
          <a:bodyPr wrap="square" lIns="0" rIns="0" tIns="0" bIns="0" anchor="ctr">
            <a:spAutoFit/>
          </a:bodyPr>
          <a:lstStyle/>
          <a:p>
            <a:pPr algn="l"/>
            <a:r>
              <a:rPr sz="2100" b="0" i="0">
                <a:solidFill>
                  <a:srgbClr val="F0E8E8"/>
                </a:solidFill>
                <a:latin typeface="Geist"/>
                <a:ea typeface="Geist"/>
                <a:cs typeface="Geist"/>
              </a:rPr>
              <a:t>Show what's in a file</a:t>
            </a:r>
          </a:p>
        </p:txBody>
      </p:sp>
      <p:sp>
        <p:nvSpPr>
          <p:cNvPr id="17" name="Rounded Rectangle 16"/>
          <p:cNvSpPr/>
          <p:nvPr/>
        </p:nvSpPr>
        <p:spPr>
          <a:xfrm>
            <a:off x="914400" y="7124700"/>
            <a:ext cx="10477500" cy="914400"/>
          </a:xfrm>
          <a:prstGeom prst="roundRect">
            <a:avLst>
              <a:gd name="adj" fmla="val 125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1295400" y="7124700"/>
            <a:ext cx="3429000" cy="914400"/>
          </a:xfrm>
          <a:prstGeom prst="rect">
            <a:avLst/>
          </a:prstGeom>
          <a:noFill/>
        </p:spPr>
        <p:txBody>
          <a:bodyPr wrap="square" lIns="0" rIns="0" tIns="0" bIns="0" anchor="ctr">
            <a:spAutoFit/>
          </a:bodyPr>
          <a:lstStyle/>
          <a:p>
            <a:pPr algn="l"/>
            <a:r>
              <a:rPr sz="2400" b="0" i="0">
                <a:solidFill>
                  <a:srgbClr val="E0785F"/>
                </a:solidFill>
                <a:latin typeface="Geist Mono"/>
                <a:ea typeface="Geist Mono"/>
                <a:cs typeface="Geist Mono"/>
              </a:rPr>
              <a:t>mkdir practice</a:t>
            </a:r>
          </a:p>
        </p:txBody>
      </p:sp>
      <p:sp>
        <p:nvSpPr>
          <p:cNvPr id="19" name="TextBox 18"/>
          <p:cNvSpPr txBox="1"/>
          <p:nvPr/>
        </p:nvSpPr>
        <p:spPr>
          <a:xfrm>
            <a:off x="4953000" y="7124700"/>
            <a:ext cx="6286500" cy="914400"/>
          </a:xfrm>
          <a:prstGeom prst="rect">
            <a:avLst/>
          </a:prstGeom>
          <a:noFill/>
        </p:spPr>
        <p:txBody>
          <a:bodyPr wrap="square" lIns="0" rIns="0" tIns="0" bIns="0" anchor="ctr">
            <a:spAutoFit/>
          </a:bodyPr>
          <a:lstStyle/>
          <a:p>
            <a:pPr algn="l"/>
            <a:r>
              <a:rPr sz="2100" b="0" i="0">
                <a:solidFill>
                  <a:srgbClr val="F0E8E8"/>
                </a:solidFill>
                <a:latin typeface="Geist"/>
                <a:ea typeface="Geist"/>
                <a:cs typeface="Geist"/>
              </a:rPr>
              <a:t>Make a new folder</a:t>
            </a:r>
          </a:p>
        </p:txBody>
      </p:sp>
      <p:sp>
        <p:nvSpPr>
          <p:cNvPr id="20" name="Rounded Rectangle 19"/>
          <p:cNvSpPr/>
          <p:nvPr/>
        </p:nvSpPr>
        <p:spPr>
          <a:xfrm>
            <a:off x="12039600" y="2857500"/>
            <a:ext cx="5334000" cy="5181600"/>
          </a:xfrm>
          <a:prstGeom prst="roundRect">
            <a:avLst>
              <a:gd name="adj" fmla="val 2941"/>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1" name="Picture 20" descr="terminal.png"/>
          <p:cNvPicPr>
            <a:picLocks noChangeAspect="1"/>
          </p:cNvPicPr>
          <p:nvPr/>
        </p:nvPicPr>
        <p:blipFill>
          <a:blip r:embed="rId3"/>
          <a:stretch>
            <a:fillRect/>
          </a:stretch>
        </p:blipFill>
        <p:spPr>
          <a:xfrm>
            <a:off x="12496800" y="3276600"/>
            <a:ext cx="696686" cy="609600"/>
          </a:xfrm>
          <a:prstGeom prst="rect">
            <a:avLst/>
          </a:prstGeom>
        </p:spPr>
      </p:pic>
      <p:sp>
        <p:nvSpPr>
          <p:cNvPr id="22" name="TextBox 21"/>
          <p:cNvSpPr txBox="1"/>
          <p:nvPr/>
        </p:nvSpPr>
        <p:spPr>
          <a:xfrm>
            <a:off x="12496800" y="4191000"/>
            <a:ext cx="4476750" cy="571500"/>
          </a:xfrm>
          <a:prstGeom prst="rect">
            <a:avLst/>
          </a:prstGeom>
          <a:noFill/>
        </p:spPr>
        <p:txBody>
          <a:bodyPr wrap="square" lIns="0" rIns="0" tIns="0" bIns="0" anchor="t">
            <a:spAutoFit/>
          </a:bodyPr>
          <a:lstStyle/>
          <a:p>
            <a:pPr algn="l"/>
            <a:r>
              <a:rPr sz="2700" b="1" i="0">
                <a:solidFill>
                  <a:srgbClr val="F0E8E8"/>
                </a:solidFill>
                <a:latin typeface="Geist"/>
                <a:ea typeface="Geist"/>
                <a:cs typeface="Geist"/>
              </a:rPr>
              <a:t>Two tricks</a:t>
            </a:r>
          </a:p>
        </p:txBody>
      </p:sp>
      <p:sp>
        <p:nvSpPr>
          <p:cNvPr id="23" name="TextBox 22"/>
          <p:cNvSpPr txBox="1"/>
          <p:nvPr/>
        </p:nvSpPr>
        <p:spPr>
          <a:xfrm>
            <a:off x="12496800" y="4953000"/>
            <a:ext cx="4476750" cy="693420"/>
          </a:xfrm>
          <a:prstGeom prst="rect">
            <a:avLst/>
          </a:prstGeom>
          <a:noFill/>
        </p:spPr>
        <p:txBody>
          <a:bodyPr wrap="square" lIns="0" rIns="0" tIns="0" bIns="0" anchor="t">
            <a:spAutoFit/>
          </a:bodyPr>
          <a:lstStyle/>
          <a:p>
            <a:pPr algn="l">
              <a:lnSpc>
                <a:spcPct val="125000"/>
              </a:lnSpc>
            </a:pPr>
            <a:r>
              <a:rPr sz="2100" b="1" i="0">
                <a:solidFill>
                  <a:srgbClr val="CC2200"/>
                </a:solidFill>
                <a:latin typeface="Geist"/>
                <a:ea typeface="Geist"/>
                <a:cs typeface="Geist"/>
              </a:rPr>
              <a:t>•  </a:t>
            </a:r>
            <a:r>
              <a:rPr sz="2100" b="1" i="0">
                <a:solidFill>
                  <a:srgbClr val="F0E8E8"/>
                </a:solidFill>
                <a:latin typeface="Geist"/>
                <a:ea typeface="Geist"/>
                <a:cs typeface="Geist"/>
              </a:rPr>
              <a:t>Up arrow</a:t>
            </a:r>
            <a:r>
              <a:rPr sz="2100" b="0" i="0">
                <a:solidFill>
                  <a:srgbClr val="F0E8E8"/>
                </a:solidFill>
                <a:latin typeface="Geist"/>
                <a:ea typeface="Geist"/>
                <a:cs typeface="Geist"/>
              </a:rPr>
              <a:t> brings back your last command</a:t>
            </a:r>
          </a:p>
        </p:txBody>
      </p:sp>
      <p:sp>
        <p:nvSpPr>
          <p:cNvPr id="24" name="TextBox 23"/>
          <p:cNvSpPr txBox="1"/>
          <p:nvPr/>
        </p:nvSpPr>
        <p:spPr>
          <a:xfrm>
            <a:off x="12496800" y="5875020"/>
            <a:ext cx="4476750" cy="346710"/>
          </a:xfrm>
          <a:prstGeom prst="rect">
            <a:avLst/>
          </a:prstGeom>
          <a:noFill/>
        </p:spPr>
        <p:txBody>
          <a:bodyPr wrap="square" lIns="0" rIns="0" tIns="0" bIns="0" anchor="t">
            <a:spAutoFit/>
          </a:bodyPr>
          <a:lstStyle/>
          <a:p>
            <a:pPr algn="l">
              <a:lnSpc>
                <a:spcPct val="125000"/>
              </a:lnSpc>
            </a:pPr>
            <a:r>
              <a:rPr sz="2100" b="1" i="0">
                <a:solidFill>
                  <a:srgbClr val="CC2200"/>
                </a:solidFill>
                <a:latin typeface="Geist"/>
                <a:ea typeface="Geist"/>
                <a:cs typeface="Geist"/>
              </a:rPr>
              <a:t>•  </a:t>
            </a:r>
            <a:r>
              <a:rPr sz="2100" b="1" i="0">
                <a:solidFill>
                  <a:srgbClr val="F0E8E8"/>
                </a:solidFill>
                <a:latin typeface="Geist"/>
                <a:ea typeface="Geist"/>
                <a:cs typeface="Geist"/>
              </a:rPr>
              <a:t>Tab</a:t>
            </a:r>
            <a:r>
              <a:rPr sz="2100" b="0" i="0">
                <a:solidFill>
                  <a:srgbClr val="F0E8E8"/>
                </a:solidFill>
                <a:latin typeface="Geist"/>
                <a:ea typeface="Geist"/>
                <a:cs typeface="Geist"/>
              </a:rPr>
              <a:t> finishes a file name for you</a:t>
            </a:r>
          </a:p>
        </p:txBody>
      </p:sp>
      <p:sp>
        <p:nvSpPr>
          <p:cNvPr id="25" name="TextBox 24"/>
          <p:cNvSpPr txBox="1"/>
          <p:nvPr/>
        </p:nvSpPr>
        <p:spPr>
          <a:xfrm>
            <a:off x="12496800" y="6450330"/>
            <a:ext cx="4476750" cy="346710"/>
          </a:xfrm>
          <a:prstGeom prst="rect">
            <a:avLst/>
          </a:prstGeom>
          <a:noFill/>
        </p:spPr>
        <p:txBody>
          <a:bodyPr wrap="square" lIns="0" rIns="0" tIns="0" bIns="0" anchor="t">
            <a:spAutoFit/>
          </a:bodyPr>
          <a:lstStyle/>
          <a:p>
            <a:pPr algn="l">
              <a:lnSpc>
                <a:spcPct val="125000"/>
              </a:lnSpc>
            </a:pPr>
            <a:r>
              <a:rPr sz="2100" b="1" i="0">
                <a:solidFill>
                  <a:srgbClr val="CC2200"/>
                </a:solidFill>
                <a:latin typeface="Geist"/>
                <a:ea typeface="Geist"/>
                <a:cs typeface="Geist"/>
              </a:rPr>
              <a:t>•  </a:t>
            </a:r>
            <a:r>
              <a:rPr sz="2100" b="1" i="0">
                <a:solidFill>
                  <a:srgbClr val="F0E8E8"/>
                </a:solidFill>
                <a:latin typeface="Geist"/>
                <a:ea typeface="Geist"/>
                <a:cs typeface="Geist"/>
              </a:rPr>
              <a:t>Ctrl+`</a:t>
            </a:r>
            <a:r>
              <a:rPr sz="2100" b="0" i="0">
                <a:solidFill>
                  <a:srgbClr val="F0E8E8"/>
                </a:solidFill>
                <a:latin typeface="Geist"/>
                <a:ea typeface="Geist"/>
                <a:cs typeface="Geist"/>
              </a:rPr>
              <a:t> opens the terminal</a:t>
            </a:r>
          </a:p>
        </p:txBody>
      </p:sp>
      <p:pic>
        <p:nvPicPr>
          <p:cNvPr id="26" name="Picture 25" descr="mw_logo_small.png"/>
          <p:cNvPicPr>
            <a:picLocks noChangeAspect="1"/>
          </p:cNvPicPr>
          <p:nvPr/>
        </p:nvPicPr>
        <p:blipFill>
          <a:blip r:embed="rId4"/>
          <a:stretch>
            <a:fillRect/>
          </a:stretch>
        </p:blipFill>
        <p:spPr>
          <a:xfrm>
            <a:off x="914400" y="9410700"/>
            <a:ext cx="583564" cy="495300"/>
          </a:xfrm>
          <a:prstGeom prst="rect">
            <a:avLst/>
          </a:prstGeom>
        </p:spPr>
      </p:pic>
      <p:sp>
        <p:nvSpPr>
          <p:cNvPr id="27" name="TextBox 26"/>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MEET THE EDITOR</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Find things fast</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8039100" cy="1676400"/>
          </a:xfrm>
          <a:prstGeom prst="roundRect">
            <a:avLst>
              <a:gd name="adj" fmla="val 909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ounded Rectangle 5"/>
          <p:cNvSpPr/>
          <p:nvPr/>
        </p:nvSpPr>
        <p:spPr>
          <a:xfrm>
            <a:off x="1257300" y="3333750"/>
            <a:ext cx="2762250" cy="723900"/>
          </a:xfrm>
          <a:prstGeom prst="roundRect">
            <a:avLst>
              <a:gd name="adj" fmla="val 13157"/>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57300" y="3333750"/>
            <a:ext cx="2762250" cy="723900"/>
          </a:xfrm>
          <a:prstGeom prst="rect">
            <a:avLst/>
          </a:prstGeom>
          <a:noFill/>
        </p:spPr>
        <p:txBody>
          <a:bodyPr wrap="square" lIns="0" rIns="0" tIns="0" bIns="0" anchor="ctr">
            <a:spAutoFit/>
          </a:bodyPr>
          <a:lstStyle/>
          <a:p>
            <a:pPr algn="ctr"/>
            <a:r>
              <a:rPr sz="2400" b="1" i="0">
                <a:solidFill>
                  <a:srgbClr val="CC2200"/>
                </a:solidFill>
                <a:latin typeface="Geist Mono"/>
                <a:ea typeface="Geist Mono"/>
                <a:cs typeface="Geist Mono"/>
              </a:rPr>
              <a:t>Ctrl+P</a:t>
            </a:r>
          </a:p>
        </p:txBody>
      </p:sp>
      <p:sp>
        <p:nvSpPr>
          <p:cNvPr id="8" name="TextBox 7"/>
          <p:cNvSpPr txBox="1"/>
          <p:nvPr/>
        </p:nvSpPr>
        <p:spPr>
          <a:xfrm>
            <a:off x="4343400" y="3143250"/>
            <a:ext cx="4286250" cy="1104900"/>
          </a:xfrm>
          <a:prstGeom prst="rect">
            <a:avLst/>
          </a:prstGeom>
          <a:noFill/>
        </p:spPr>
        <p:txBody>
          <a:bodyPr wrap="square" lIns="0" rIns="0" tIns="0" bIns="0" anchor="ctr">
            <a:spAutoFit/>
          </a:bodyPr>
          <a:lstStyle/>
          <a:p>
            <a:pPr algn="l">
              <a:lnSpc>
                <a:spcPct val="120000"/>
              </a:lnSpc>
            </a:pPr>
            <a:r>
              <a:rPr sz="2250" b="0" i="0">
                <a:solidFill>
                  <a:srgbClr val="F0E8E8"/>
                </a:solidFill>
                <a:latin typeface="Geist"/>
                <a:ea typeface="Geist"/>
                <a:cs typeface="Geist"/>
              </a:rPr>
              <a:t>Open a file by typing part of its name</a:t>
            </a:r>
          </a:p>
        </p:txBody>
      </p:sp>
      <p:sp>
        <p:nvSpPr>
          <p:cNvPr id="9" name="Rounded Rectangle 8"/>
          <p:cNvSpPr/>
          <p:nvPr/>
        </p:nvSpPr>
        <p:spPr>
          <a:xfrm>
            <a:off x="914400" y="4762500"/>
            <a:ext cx="8039100" cy="1676400"/>
          </a:xfrm>
          <a:prstGeom prst="roundRect">
            <a:avLst>
              <a:gd name="adj" fmla="val 909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ounded Rectangle 9"/>
          <p:cNvSpPr/>
          <p:nvPr/>
        </p:nvSpPr>
        <p:spPr>
          <a:xfrm>
            <a:off x="1257300" y="5238750"/>
            <a:ext cx="2762250" cy="723900"/>
          </a:xfrm>
          <a:prstGeom prst="roundRect">
            <a:avLst>
              <a:gd name="adj" fmla="val 13157"/>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257300" y="5238750"/>
            <a:ext cx="2762250" cy="723900"/>
          </a:xfrm>
          <a:prstGeom prst="rect">
            <a:avLst/>
          </a:prstGeom>
          <a:noFill/>
        </p:spPr>
        <p:txBody>
          <a:bodyPr wrap="square" lIns="0" rIns="0" tIns="0" bIns="0" anchor="ctr">
            <a:spAutoFit/>
          </a:bodyPr>
          <a:lstStyle/>
          <a:p>
            <a:pPr algn="ctr"/>
            <a:r>
              <a:rPr sz="2400" b="1" i="0">
                <a:solidFill>
                  <a:srgbClr val="CC2200"/>
                </a:solidFill>
                <a:latin typeface="Geist Mono"/>
                <a:ea typeface="Geist Mono"/>
                <a:cs typeface="Geist Mono"/>
              </a:rPr>
              <a:t>Ctrl+Shift+F</a:t>
            </a:r>
          </a:p>
        </p:txBody>
      </p:sp>
      <p:sp>
        <p:nvSpPr>
          <p:cNvPr id="12" name="TextBox 11"/>
          <p:cNvSpPr txBox="1"/>
          <p:nvPr/>
        </p:nvSpPr>
        <p:spPr>
          <a:xfrm>
            <a:off x="4343400" y="5048250"/>
            <a:ext cx="4286250" cy="1104900"/>
          </a:xfrm>
          <a:prstGeom prst="rect">
            <a:avLst/>
          </a:prstGeom>
          <a:noFill/>
        </p:spPr>
        <p:txBody>
          <a:bodyPr wrap="square" lIns="0" rIns="0" tIns="0" bIns="0" anchor="ctr">
            <a:spAutoFit/>
          </a:bodyPr>
          <a:lstStyle/>
          <a:p>
            <a:pPr algn="l">
              <a:lnSpc>
                <a:spcPct val="120000"/>
              </a:lnSpc>
            </a:pPr>
            <a:r>
              <a:rPr sz="2250" b="0" i="0">
                <a:solidFill>
                  <a:srgbClr val="F0E8E8"/>
                </a:solidFill>
                <a:latin typeface="Geist"/>
                <a:ea typeface="Geist"/>
                <a:cs typeface="Geist"/>
              </a:rPr>
              <a:t>Search for a word in every file</a:t>
            </a:r>
          </a:p>
        </p:txBody>
      </p:sp>
      <p:sp>
        <p:nvSpPr>
          <p:cNvPr id="13" name="Rounded Rectangle 12"/>
          <p:cNvSpPr/>
          <p:nvPr/>
        </p:nvSpPr>
        <p:spPr>
          <a:xfrm>
            <a:off x="914400" y="6667500"/>
            <a:ext cx="8039100" cy="1676400"/>
          </a:xfrm>
          <a:prstGeom prst="roundRect">
            <a:avLst>
              <a:gd name="adj" fmla="val 909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ounded Rectangle 13"/>
          <p:cNvSpPr/>
          <p:nvPr/>
        </p:nvSpPr>
        <p:spPr>
          <a:xfrm>
            <a:off x="1257300" y="7143750"/>
            <a:ext cx="2762250" cy="723900"/>
          </a:xfrm>
          <a:prstGeom prst="roundRect">
            <a:avLst>
              <a:gd name="adj" fmla="val 13157"/>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257300" y="7143750"/>
            <a:ext cx="2762250" cy="723900"/>
          </a:xfrm>
          <a:prstGeom prst="rect">
            <a:avLst/>
          </a:prstGeom>
          <a:noFill/>
        </p:spPr>
        <p:txBody>
          <a:bodyPr wrap="square" lIns="0" rIns="0" tIns="0" bIns="0" anchor="ctr">
            <a:spAutoFit/>
          </a:bodyPr>
          <a:lstStyle/>
          <a:p>
            <a:pPr algn="ctr"/>
            <a:r>
              <a:rPr sz="2400" b="1" i="0">
                <a:solidFill>
                  <a:srgbClr val="CC2200"/>
                </a:solidFill>
                <a:latin typeface="Geist Mono"/>
                <a:ea typeface="Geist Mono"/>
                <a:cs typeface="Geist Mono"/>
              </a:rPr>
              <a:t>Ctrl+F</a:t>
            </a:r>
          </a:p>
        </p:txBody>
      </p:sp>
      <p:sp>
        <p:nvSpPr>
          <p:cNvPr id="16" name="TextBox 15"/>
          <p:cNvSpPr txBox="1"/>
          <p:nvPr/>
        </p:nvSpPr>
        <p:spPr>
          <a:xfrm>
            <a:off x="4343400" y="6953250"/>
            <a:ext cx="4286250" cy="1104900"/>
          </a:xfrm>
          <a:prstGeom prst="rect">
            <a:avLst/>
          </a:prstGeom>
          <a:noFill/>
        </p:spPr>
        <p:txBody>
          <a:bodyPr wrap="square" lIns="0" rIns="0" tIns="0" bIns="0" anchor="ctr">
            <a:spAutoFit/>
          </a:bodyPr>
          <a:lstStyle/>
          <a:p>
            <a:pPr algn="l">
              <a:lnSpc>
                <a:spcPct val="120000"/>
              </a:lnSpc>
            </a:pPr>
            <a:r>
              <a:rPr sz="2250" b="0" i="0">
                <a:solidFill>
                  <a:srgbClr val="F0E8E8"/>
                </a:solidFill>
                <a:latin typeface="Geist"/>
                <a:ea typeface="Geist"/>
                <a:cs typeface="Geist"/>
              </a:rPr>
              <a:t>Search in the file you're in</a:t>
            </a:r>
          </a:p>
        </p:txBody>
      </p:sp>
      <p:sp>
        <p:nvSpPr>
          <p:cNvPr id="17" name="Rounded Rectangle 16"/>
          <p:cNvSpPr/>
          <p:nvPr/>
        </p:nvSpPr>
        <p:spPr>
          <a:xfrm>
            <a:off x="9334500" y="2857500"/>
            <a:ext cx="8039100" cy="1676400"/>
          </a:xfrm>
          <a:prstGeom prst="roundRect">
            <a:avLst>
              <a:gd name="adj" fmla="val 909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ounded Rectangle 17"/>
          <p:cNvSpPr/>
          <p:nvPr/>
        </p:nvSpPr>
        <p:spPr>
          <a:xfrm>
            <a:off x="9677400" y="3333750"/>
            <a:ext cx="2762250" cy="723900"/>
          </a:xfrm>
          <a:prstGeom prst="roundRect">
            <a:avLst>
              <a:gd name="adj" fmla="val 13157"/>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677400" y="3333750"/>
            <a:ext cx="2762250" cy="723900"/>
          </a:xfrm>
          <a:prstGeom prst="rect">
            <a:avLst/>
          </a:prstGeom>
          <a:noFill/>
        </p:spPr>
        <p:txBody>
          <a:bodyPr wrap="square" lIns="0" rIns="0" tIns="0" bIns="0" anchor="ctr">
            <a:spAutoFit/>
          </a:bodyPr>
          <a:lstStyle/>
          <a:p>
            <a:pPr algn="ctr"/>
            <a:r>
              <a:rPr sz="2400" b="1" i="0">
                <a:solidFill>
                  <a:srgbClr val="CC2200"/>
                </a:solidFill>
                <a:latin typeface="Geist Mono"/>
                <a:ea typeface="Geist Mono"/>
                <a:cs typeface="Geist Mono"/>
              </a:rPr>
              <a:t>Ctrl+Shift+P</a:t>
            </a:r>
          </a:p>
        </p:txBody>
      </p:sp>
      <p:sp>
        <p:nvSpPr>
          <p:cNvPr id="20" name="TextBox 19"/>
          <p:cNvSpPr txBox="1"/>
          <p:nvPr/>
        </p:nvSpPr>
        <p:spPr>
          <a:xfrm>
            <a:off x="12763500" y="3143250"/>
            <a:ext cx="4286250" cy="1104900"/>
          </a:xfrm>
          <a:prstGeom prst="rect">
            <a:avLst/>
          </a:prstGeom>
          <a:noFill/>
        </p:spPr>
        <p:txBody>
          <a:bodyPr wrap="square" lIns="0" rIns="0" tIns="0" bIns="0" anchor="ctr">
            <a:spAutoFit/>
          </a:bodyPr>
          <a:lstStyle/>
          <a:p>
            <a:pPr algn="l">
              <a:lnSpc>
                <a:spcPct val="120000"/>
              </a:lnSpc>
            </a:pPr>
            <a:r>
              <a:rPr sz="2250" b="0" i="0">
                <a:solidFill>
                  <a:srgbClr val="F0E8E8"/>
                </a:solidFill>
                <a:latin typeface="Geist"/>
                <a:ea typeface="Geist"/>
                <a:cs typeface="Geist"/>
              </a:rPr>
              <a:t>Find any command (the command palette)</a:t>
            </a:r>
          </a:p>
        </p:txBody>
      </p:sp>
      <p:sp>
        <p:nvSpPr>
          <p:cNvPr id="21" name="Rounded Rectangle 20"/>
          <p:cNvSpPr/>
          <p:nvPr/>
        </p:nvSpPr>
        <p:spPr>
          <a:xfrm>
            <a:off x="9334500" y="4762500"/>
            <a:ext cx="8039100" cy="1676400"/>
          </a:xfrm>
          <a:prstGeom prst="roundRect">
            <a:avLst>
              <a:gd name="adj" fmla="val 909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ounded Rectangle 21"/>
          <p:cNvSpPr/>
          <p:nvPr/>
        </p:nvSpPr>
        <p:spPr>
          <a:xfrm>
            <a:off x="9677400" y="5238750"/>
            <a:ext cx="2762250" cy="723900"/>
          </a:xfrm>
          <a:prstGeom prst="roundRect">
            <a:avLst>
              <a:gd name="adj" fmla="val 13157"/>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9677400" y="5238750"/>
            <a:ext cx="2762250" cy="723900"/>
          </a:xfrm>
          <a:prstGeom prst="rect">
            <a:avLst/>
          </a:prstGeom>
          <a:noFill/>
        </p:spPr>
        <p:txBody>
          <a:bodyPr wrap="square" lIns="0" rIns="0" tIns="0" bIns="0" anchor="ctr">
            <a:spAutoFit/>
          </a:bodyPr>
          <a:lstStyle/>
          <a:p>
            <a:pPr algn="ctr"/>
            <a:r>
              <a:rPr sz="2400" b="1" i="0">
                <a:solidFill>
                  <a:srgbClr val="CC2200"/>
                </a:solidFill>
                <a:latin typeface="Geist Mono"/>
                <a:ea typeface="Geist Mono"/>
                <a:cs typeface="Geist Mono"/>
              </a:rPr>
              <a:t>Ctrl+S</a:t>
            </a:r>
          </a:p>
        </p:txBody>
      </p:sp>
      <p:sp>
        <p:nvSpPr>
          <p:cNvPr id="24" name="TextBox 23"/>
          <p:cNvSpPr txBox="1"/>
          <p:nvPr/>
        </p:nvSpPr>
        <p:spPr>
          <a:xfrm>
            <a:off x="12763500" y="5048250"/>
            <a:ext cx="4286250" cy="1104900"/>
          </a:xfrm>
          <a:prstGeom prst="rect">
            <a:avLst/>
          </a:prstGeom>
          <a:noFill/>
        </p:spPr>
        <p:txBody>
          <a:bodyPr wrap="square" lIns="0" rIns="0" tIns="0" bIns="0" anchor="ctr">
            <a:spAutoFit/>
          </a:bodyPr>
          <a:lstStyle/>
          <a:p>
            <a:pPr algn="l">
              <a:lnSpc>
                <a:spcPct val="120000"/>
              </a:lnSpc>
            </a:pPr>
            <a:r>
              <a:rPr sz="2250" b="0" i="0">
                <a:solidFill>
                  <a:srgbClr val="F0E8E8"/>
                </a:solidFill>
                <a:latin typeface="Geist"/>
                <a:ea typeface="Geist"/>
                <a:cs typeface="Geist"/>
              </a:rPr>
              <a:t>Save the file</a:t>
            </a:r>
          </a:p>
        </p:txBody>
      </p:sp>
      <p:sp>
        <p:nvSpPr>
          <p:cNvPr id="25" name="Rounded Rectangle 24"/>
          <p:cNvSpPr/>
          <p:nvPr/>
        </p:nvSpPr>
        <p:spPr>
          <a:xfrm>
            <a:off x="9334500" y="6667500"/>
            <a:ext cx="8039100" cy="1676400"/>
          </a:xfrm>
          <a:prstGeom prst="roundRect">
            <a:avLst>
              <a:gd name="adj" fmla="val 909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Rounded Rectangle 25"/>
          <p:cNvSpPr/>
          <p:nvPr/>
        </p:nvSpPr>
        <p:spPr>
          <a:xfrm>
            <a:off x="9677400" y="7143750"/>
            <a:ext cx="2762250" cy="723900"/>
          </a:xfrm>
          <a:prstGeom prst="roundRect">
            <a:avLst>
              <a:gd name="adj" fmla="val 13157"/>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9677400" y="7143750"/>
            <a:ext cx="2762250" cy="723900"/>
          </a:xfrm>
          <a:prstGeom prst="rect">
            <a:avLst/>
          </a:prstGeom>
          <a:noFill/>
        </p:spPr>
        <p:txBody>
          <a:bodyPr wrap="square" lIns="0" rIns="0" tIns="0" bIns="0" anchor="ctr">
            <a:spAutoFit/>
          </a:bodyPr>
          <a:lstStyle/>
          <a:p>
            <a:pPr algn="ctr"/>
            <a:r>
              <a:rPr sz="2400" b="1" i="0">
                <a:solidFill>
                  <a:srgbClr val="CC2200"/>
                </a:solidFill>
                <a:latin typeface="Geist Mono"/>
                <a:ea typeface="Geist Mono"/>
                <a:cs typeface="Geist Mono"/>
              </a:rPr>
              <a:t>F2</a:t>
            </a:r>
          </a:p>
        </p:txBody>
      </p:sp>
      <p:sp>
        <p:nvSpPr>
          <p:cNvPr id="28" name="TextBox 27"/>
          <p:cNvSpPr txBox="1"/>
          <p:nvPr/>
        </p:nvSpPr>
        <p:spPr>
          <a:xfrm>
            <a:off x="12763500" y="6953250"/>
            <a:ext cx="4286250" cy="1104900"/>
          </a:xfrm>
          <a:prstGeom prst="rect">
            <a:avLst/>
          </a:prstGeom>
          <a:noFill/>
        </p:spPr>
        <p:txBody>
          <a:bodyPr wrap="square" lIns="0" rIns="0" tIns="0" bIns="0" anchor="ctr">
            <a:spAutoFit/>
          </a:bodyPr>
          <a:lstStyle/>
          <a:p>
            <a:pPr algn="l">
              <a:lnSpc>
                <a:spcPct val="120000"/>
              </a:lnSpc>
            </a:pPr>
            <a:r>
              <a:rPr sz="2250" b="0" i="0">
                <a:solidFill>
                  <a:srgbClr val="F0E8E8"/>
                </a:solidFill>
                <a:latin typeface="Geist"/>
                <a:ea typeface="Geist"/>
                <a:cs typeface="Geist"/>
              </a:rPr>
              <a:t>Rename the selected file or folder</a:t>
            </a:r>
          </a:p>
        </p:txBody>
      </p:sp>
      <p:pic>
        <p:nvPicPr>
          <p:cNvPr id="29" name="Picture 28" descr="mw_logo_small.png"/>
          <p:cNvPicPr>
            <a:picLocks noChangeAspect="1"/>
          </p:cNvPicPr>
          <p:nvPr/>
        </p:nvPicPr>
        <p:blipFill>
          <a:blip r:embed="rId3"/>
          <a:stretch>
            <a:fillRect/>
          </a:stretch>
        </p:blipFill>
        <p:spPr>
          <a:xfrm>
            <a:off x="914400" y="9410700"/>
            <a:ext cx="583564" cy="495300"/>
          </a:xfrm>
          <a:prstGeom prst="rect">
            <a:avLst/>
          </a:prstGeom>
        </p:spPr>
      </p:pic>
      <p:sp>
        <p:nvSpPr>
          <p:cNvPr id="30" name="TextBox 29"/>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MEET THE EDITOR</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Editor power moves</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8039100" cy="1676400"/>
          </a:xfrm>
          <a:prstGeom prst="roundRect">
            <a:avLst>
              <a:gd name="adj" fmla="val 909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ounded Rectangle 5"/>
          <p:cNvSpPr/>
          <p:nvPr/>
        </p:nvSpPr>
        <p:spPr>
          <a:xfrm>
            <a:off x="1257300" y="3333750"/>
            <a:ext cx="2762250" cy="723900"/>
          </a:xfrm>
          <a:prstGeom prst="roundRect">
            <a:avLst>
              <a:gd name="adj" fmla="val 13157"/>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57300" y="3333750"/>
            <a:ext cx="2762250" cy="723900"/>
          </a:xfrm>
          <a:prstGeom prst="rect">
            <a:avLst/>
          </a:prstGeom>
          <a:noFill/>
        </p:spPr>
        <p:txBody>
          <a:bodyPr wrap="square" lIns="0" rIns="0" tIns="0" bIns="0" anchor="ctr">
            <a:spAutoFit/>
          </a:bodyPr>
          <a:lstStyle/>
          <a:p>
            <a:pPr algn="ctr"/>
            <a:r>
              <a:rPr sz="2250" b="1" i="0">
                <a:solidFill>
                  <a:srgbClr val="CC2200"/>
                </a:solidFill>
                <a:latin typeface="Geist Mono"/>
                <a:ea typeface="Geist Mono"/>
                <a:cs typeface="Geist Mono"/>
              </a:rPr>
              <a:t>Alt+Click</a:t>
            </a:r>
          </a:p>
        </p:txBody>
      </p:sp>
      <p:sp>
        <p:nvSpPr>
          <p:cNvPr id="8" name="TextBox 7"/>
          <p:cNvSpPr txBox="1"/>
          <p:nvPr/>
        </p:nvSpPr>
        <p:spPr>
          <a:xfrm>
            <a:off x="4343400" y="3143250"/>
            <a:ext cx="4286250" cy="1104900"/>
          </a:xfrm>
          <a:prstGeom prst="rect">
            <a:avLst/>
          </a:prstGeom>
          <a:noFill/>
        </p:spPr>
        <p:txBody>
          <a:bodyPr wrap="square" lIns="0" rIns="0" tIns="0" bIns="0" anchor="ctr">
            <a:spAutoFit/>
          </a:bodyPr>
          <a:lstStyle/>
          <a:p>
            <a:pPr algn="l">
              <a:lnSpc>
                <a:spcPct val="120000"/>
              </a:lnSpc>
            </a:pPr>
            <a:r>
              <a:rPr sz="2100" b="0" i="0">
                <a:solidFill>
                  <a:srgbClr val="F0E8E8"/>
                </a:solidFill>
                <a:latin typeface="Geist"/>
                <a:ea typeface="Geist"/>
                <a:cs typeface="Geist"/>
              </a:rPr>
              <a:t>Add another cursor: edit many lines at once</a:t>
            </a:r>
          </a:p>
        </p:txBody>
      </p:sp>
      <p:sp>
        <p:nvSpPr>
          <p:cNvPr id="9" name="Rounded Rectangle 8"/>
          <p:cNvSpPr/>
          <p:nvPr/>
        </p:nvSpPr>
        <p:spPr>
          <a:xfrm>
            <a:off x="914400" y="4762500"/>
            <a:ext cx="8039100" cy="1676400"/>
          </a:xfrm>
          <a:prstGeom prst="roundRect">
            <a:avLst>
              <a:gd name="adj" fmla="val 909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ounded Rectangle 9"/>
          <p:cNvSpPr/>
          <p:nvPr/>
        </p:nvSpPr>
        <p:spPr>
          <a:xfrm>
            <a:off x="1257300" y="5238750"/>
            <a:ext cx="2762250" cy="723900"/>
          </a:xfrm>
          <a:prstGeom prst="roundRect">
            <a:avLst>
              <a:gd name="adj" fmla="val 13157"/>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257300" y="5238750"/>
            <a:ext cx="2762250" cy="723900"/>
          </a:xfrm>
          <a:prstGeom prst="rect">
            <a:avLst/>
          </a:prstGeom>
          <a:noFill/>
        </p:spPr>
        <p:txBody>
          <a:bodyPr wrap="square" lIns="0" rIns="0" tIns="0" bIns="0" anchor="ctr">
            <a:spAutoFit/>
          </a:bodyPr>
          <a:lstStyle/>
          <a:p>
            <a:pPr algn="ctr"/>
            <a:r>
              <a:rPr sz="2250" b="1" i="0">
                <a:solidFill>
                  <a:srgbClr val="CC2200"/>
                </a:solidFill>
                <a:latin typeface="Geist Mono"/>
                <a:ea typeface="Geist Mono"/>
                <a:cs typeface="Geist Mono"/>
              </a:rPr>
              <a:t>Ctrl+D</a:t>
            </a:r>
          </a:p>
        </p:txBody>
      </p:sp>
      <p:sp>
        <p:nvSpPr>
          <p:cNvPr id="12" name="TextBox 11"/>
          <p:cNvSpPr txBox="1"/>
          <p:nvPr/>
        </p:nvSpPr>
        <p:spPr>
          <a:xfrm>
            <a:off x="4343400" y="5048250"/>
            <a:ext cx="4286250" cy="1104900"/>
          </a:xfrm>
          <a:prstGeom prst="rect">
            <a:avLst/>
          </a:prstGeom>
          <a:noFill/>
        </p:spPr>
        <p:txBody>
          <a:bodyPr wrap="square" lIns="0" rIns="0" tIns="0" bIns="0" anchor="ctr">
            <a:spAutoFit/>
          </a:bodyPr>
          <a:lstStyle/>
          <a:p>
            <a:pPr algn="l">
              <a:lnSpc>
                <a:spcPct val="120000"/>
              </a:lnSpc>
            </a:pPr>
            <a:r>
              <a:rPr sz="2100" b="0" i="0">
                <a:solidFill>
                  <a:srgbClr val="F0E8E8"/>
                </a:solidFill>
                <a:latin typeface="Geist"/>
                <a:ea typeface="Geist"/>
                <a:cs typeface="Geist"/>
              </a:rPr>
              <a:t>Select the next match of the same word</a:t>
            </a:r>
          </a:p>
        </p:txBody>
      </p:sp>
      <p:sp>
        <p:nvSpPr>
          <p:cNvPr id="13" name="Rounded Rectangle 12"/>
          <p:cNvSpPr/>
          <p:nvPr/>
        </p:nvSpPr>
        <p:spPr>
          <a:xfrm>
            <a:off x="9334500" y="2857500"/>
            <a:ext cx="8039100" cy="1676400"/>
          </a:xfrm>
          <a:prstGeom prst="roundRect">
            <a:avLst>
              <a:gd name="adj" fmla="val 909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ounded Rectangle 13"/>
          <p:cNvSpPr/>
          <p:nvPr/>
        </p:nvSpPr>
        <p:spPr>
          <a:xfrm>
            <a:off x="9677400" y="3333750"/>
            <a:ext cx="2762250" cy="723900"/>
          </a:xfrm>
          <a:prstGeom prst="roundRect">
            <a:avLst>
              <a:gd name="adj" fmla="val 13157"/>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9677400" y="3333750"/>
            <a:ext cx="2762250" cy="723900"/>
          </a:xfrm>
          <a:prstGeom prst="rect">
            <a:avLst/>
          </a:prstGeom>
          <a:noFill/>
        </p:spPr>
        <p:txBody>
          <a:bodyPr wrap="square" lIns="0" rIns="0" tIns="0" bIns="0" anchor="ctr">
            <a:spAutoFit/>
          </a:bodyPr>
          <a:lstStyle/>
          <a:p>
            <a:pPr algn="ctr"/>
            <a:r>
              <a:rPr sz="2250" b="1" i="0">
                <a:solidFill>
                  <a:srgbClr val="CC2200"/>
                </a:solidFill>
                <a:latin typeface="Geist Mono"/>
                <a:ea typeface="Geist Mono"/>
                <a:cs typeface="Geist Mono"/>
              </a:rPr>
              <a:t>Ctrl+Click</a:t>
            </a:r>
          </a:p>
        </p:txBody>
      </p:sp>
      <p:sp>
        <p:nvSpPr>
          <p:cNvPr id="16" name="TextBox 15"/>
          <p:cNvSpPr txBox="1"/>
          <p:nvPr/>
        </p:nvSpPr>
        <p:spPr>
          <a:xfrm>
            <a:off x="12763500" y="3143250"/>
            <a:ext cx="4286250" cy="1104900"/>
          </a:xfrm>
          <a:prstGeom prst="rect">
            <a:avLst/>
          </a:prstGeom>
          <a:noFill/>
        </p:spPr>
        <p:txBody>
          <a:bodyPr wrap="square" lIns="0" rIns="0" tIns="0" bIns="0" anchor="ctr">
            <a:spAutoFit/>
          </a:bodyPr>
          <a:lstStyle/>
          <a:p>
            <a:pPr algn="l">
              <a:lnSpc>
                <a:spcPct val="120000"/>
              </a:lnSpc>
            </a:pPr>
            <a:r>
              <a:rPr sz="2100" b="0" i="0">
                <a:solidFill>
                  <a:srgbClr val="F0E8E8"/>
                </a:solidFill>
                <a:latin typeface="Geist"/>
                <a:ea typeface="Geist"/>
                <a:cs typeface="Geist"/>
              </a:rPr>
              <a:t>Jump to where a method or variable is defined</a:t>
            </a:r>
          </a:p>
        </p:txBody>
      </p:sp>
      <p:sp>
        <p:nvSpPr>
          <p:cNvPr id="17" name="Rounded Rectangle 16"/>
          <p:cNvSpPr/>
          <p:nvPr/>
        </p:nvSpPr>
        <p:spPr>
          <a:xfrm>
            <a:off x="9334500" y="4762500"/>
            <a:ext cx="8039100" cy="1676400"/>
          </a:xfrm>
          <a:prstGeom prst="roundRect">
            <a:avLst>
              <a:gd name="adj" fmla="val 909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ounded Rectangle 17"/>
          <p:cNvSpPr/>
          <p:nvPr/>
        </p:nvSpPr>
        <p:spPr>
          <a:xfrm>
            <a:off x="9677400" y="5238750"/>
            <a:ext cx="2762250" cy="723900"/>
          </a:xfrm>
          <a:prstGeom prst="roundRect">
            <a:avLst>
              <a:gd name="adj" fmla="val 13157"/>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677400" y="5238750"/>
            <a:ext cx="2762250" cy="723900"/>
          </a:xfrm>
          <a:prstGeom prst="rect">
            <a:avLst/>
          </a:prstGeom>
          <a:noFill/>
        </p:spPr>
        <p:txBody>
          <a:bodyPr wrap="square" lIns="0" rIns="0" tIns="0" bIns="0" anchor="ctr">
            <a:spAutoFit/>
          </a:bodyPr>
          <a:lstStyle/>
          <a:p>
            <a:pPr algn="ctr"/>
            <a:r>
              <a:rPr sz="2250" b="1" i="0">
                <a:solidFill>
                  <a:srgbClr val="CC2200"/>
                </a:solidFill>
                <a:latin typeface="Geist Mono"/>
                <a:ea typeface="Geist Mono"/>
                <a:cs typeface="Geist Mono"/>
              </a:rPr>
              <a:t>Ctrl+Shift+P</a:t>
            </a:r>
          </a:p>
        </p:txBody>
      </p:sp>
      <p:sp>
        <p:nvSpPr>
          <p:cNvPr id="20" name="TextBox 19"/>
          <p:cNvSpPr txBox="1"/>
          <p:nvPr/>
        </p:nvSpPr>
        <p:spPr>
          <a:xfrm>
            <a:off x="12763500" y="5048250"/>
            <a:ext cx="4286250" cy="1104900"/>
          </a:xfrm>
          <a:prstGeom prst="rect">
            <a:avLst/>
          </a:prstGeom>
          <a:noFill/>
        </p:spPr>
        <p:txBody>
          <a:bodyPr wrap="square" lIns="0" rIns="0" tIns="0" bIns="0" anchor="ctr">
            <a:spAutoFit/>
          </a:bodyPr>
          <a:lstStyle/>
          <a:p>
            <a:pPr algn="l">
              <a:lnSpc>
                <a:spcPct val="120000"/>
              </a:lnSpc>
            </a:pPr>
            <a:r>
              <a:rPr sz="2100" b="0" i="0">
                <a:solidFill>
                  <a:srgbClr val="F0E8E8"/>
                </a:solidFill>
                <a:latin typeface="Geist"/>
                <a:ea typeface="Geist"/>
                <a:cs typeface="Geist"/>
              </a:rPr>
              <a:t>Run a command, like WPILib: Build Robot Code</a:t>
            </a:r>
          </a:p>
        </p:txBody>
      </p:sp>
      <p:sp>
        <p:nvSpPr>
          <p:cNvPr id="21" name="Rounded Rectangle 20"/>
          <p:cNvSpPr/>
          <p:nvPr/>
        </p:nvSpPr>
        <p:spPr>
          <a:xfrm>
            <a:off x="914400" y="6858000"/>
            <a:ext cx="16459200" cy="1047750"/>
          </a:xfrm>
          <a:prstGeom prst="roundRect">
            <a:avLst>
              <a:gd name="adj" fmla="val 14545"/>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terminal.png"/>
          <p:cNvPicPr>
            <a:picLocks noChangeAspect="1"/>
          </p:cNvPicPr>
          <p:nvPr/>
        </p:nvPicPr>
        <p:blipFill>
          <a:blip r:embed="rId3"/>
          <a:stretch>
            <a:fillRect/>
          </a:stretch>
        </p:blipFill>
        <p:spPr>
          <a:xfrm>
            <a:off x="1333500" y="7115175"/>
            <a:ext cx="609600" cy="533400"/>
          </a:xfrm>
          <a:prstGeom prst="rect">
            <a:avLst/>
          </a:prstGeom>
        </p:spPr>
      </p:pic>
      <p:sp>
        <p:nvSpPr>
          <p:cNvPr id="23" name="TextBox 22"/>
          <p:cNvSpPr txBox="1"/>
          <p:nvPr/>
        </p:nvSpPr>
        <p:spPr>
          <a:xfrm>
            <a:off x="2190750" y="6858000"/>
            <a:ext cx="14801850" cy="1047750"/>
          </a:xfrm>
          <a:prstGeom prst="rect">
            <a:avLst/>
          </a:prstGeom>
          <a:noFill/>
        </p:spPr>
        <p:txBody>
          <a:bodyPr wrap="square" lIns="0" rIns="0" tIns="0" bIns="0" anchor="ctr">
            <a:spAutoFit/>
          </a:bodyPr>
          <a:lstStyle/>
          <a:p>
            <a:pPr algn="l">
              <a:lnSpc>
                <a:spcPct val="130000"/>
              </a:lnSpc>
            </a:pPr>
            <a:r>
              <a:rPr sz="2100" b="1" i="0">
                <a:solidFill>
                  <a:srgbClr val="F0E8E8"/>
                </a:solidFill>
                <a:latin typeface="Geist"/>
                <a:ea typeface="Geist"/>
                <a:cs typeface="Geist"/>
              </a:rPr>
              <a:t>Build failed?  </a:t>
            </a:r>
            <a:r>
              <a:rPr sz="2100" b="0" i="0">
                <a:solidFill>
                  <a:srgbClr val="F0E8E8"/>
                </a:solidFill>
                <a:latin typeface="Geist"/>
                <a:ea typeface="Geist"/>
                <a:cs typeface="Geist"/>
              </a:rPr>
              <a:t>Read the terminal. The compiler usually says what went wrong and on which line.</a:t>
            </a:r>
          </a:p>
        </p:txBody>
      </p:sp>
      <p:pic>
        <p:nvPicPr>
          <p:cNvPr id="24" name="Picture 23" descr="mw_logo_small.png"/>
          <p:cNvPicPr>
            <a:picLocks noChangeAspect="1"/>
          </p:cNvPicPr>
          <p:nvPr/>
        </p:nvPicPr>
        <p:blipFill>
          <a:blip r:embed="rId4"/>
          <a:stretch>
            <a:fillRect/>
          </a:stretch>
        </p:blipFill>
        <p:spPr>
          <a:xfrm>
            <a:off x="914400" y="9410700"/>
            <a:ext cx="583564" cy="495300"/>
          </a:xfrm>
          <a:prstGeom prst="rect">
            <a:avLst/>
          </a:prstGeom>
        </p:spPr>
      </p:pic>
      <p:sp>
        <p:nvSpPr>
          <p:cNvPr id="25" name="TextBox 24"/>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MEET THE EDITOR</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What happens when you press Run</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952750"/>
            <a:ext cx="3543300" cy="1714500"/>
          </a:xfrm>
          <a:prstGeom prst="roundRect">
            <a:avLst>
              <a:gd name="adj" fmla="val 888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009650" y="3333750"/>
            <a:ext cx="3352800" cy="533400"/>
          </a:xfrm>
          <a:prstGeom prst="rect">
            <a:avLst/>
          </a:prstGeom>
          <a:noFill/>
        </p:spPr>
        <p:txBody>
          <a:bodyPr wrap="square" lIns="0" rIns="0" tIns="0" bIns="0" anchor="t">
            <a:spAutoFit/>
          </a:bodyPr>
          <a:lstStyle/>
          <a:p>
            <a:pPr algn="ctr"/>
            <a:r>
              <a:rPr sz="2550" b="1" i="0">
                <a:solidFill>
                  <a:srgbClr val="F0E8E8"/>
                </a:solidFill>
                <a:latin typeface="Geist Mono"/>
                <a:ea typeface="Geist Mono"/>
                <a:cs typeface="Geist Mono"/>
              </a:rPr>
              <a:t>Main.java</a:t>
            </a:r>
          </a:p>
        </p:txBody>
      </p:sp>
      <p:sp>
        <p:nvSpPr>
          <p:cNvPr id="7" name="TextBox 6"/>
          <p:cNvSpPr txBox="1"/>
          <p:nvPr/>
        </p:nvSpPr>
        <p:spPr>
          <a:xfrm>
            <a:off x="1066800" y="3924300"/>
            <a:ext cx="3238500" cy="571500"/>
          </a:xfrm>
          <a:prstGeom prst="rect">
            <a:avLst/>
          </a:prstGeom>
          <a:noFill/>
        </p:spPr>
        <p:txBody>
          <a:bodyPr wrap="square" lIns="0" rIns="0" tIns="0" bIns="0" anchor="t">
            <a:spAutoFit/>
          </a:bodyPr>
          <a:lstStyle/>
          <a:p>
            <a:pPr algn="ctr">
              <a:lnSpc>
                <a:spcPct val="120000"/>
              </a:lnSpc>
            </a:pPr>
            <a:r>
              <a:rPr sz="1650" b="0" i="0">
                <a:solidFill>
                  <a:srgbClr val="9A7878"/>
                </a:solidFill>
                <a:latin typeface="Geist"/>
                <a:ea typeface="Geist"/>
                <a:cs typeface="Geist"/>
              </a:rPr>
              <a:t>The code you typed</a:t>
            </a:r>
          </a:p>
        </p:txBody>
      </p:sp>
      <p:cxnSp>
        <p:nvCxnSpPr>
          <p:cNvPr id="8" name="Connector 7"/>
          <p:cNvCxnSpPr/>
          <p:nvPr/>
        </p:nvCxnSpPr>
        <p:spPr>
          <a:xfrm>
            <a:off x="4533900" y="3810000"/>
            <a:ext cx="609600" cy="0"/>
          </a:xfrm>
          <a:prstGeom prst="line">
            <a:avLst/>
          </a:prstGeom>
          <a:ln w="28575">
            <a:solidFill>
              <a:srgbClr val="9A7878"/>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5219700" y="2952750"/>
            <a:ext cx="3543300" cy="1714500"/>
          </a:xfrm>
          <a:prstGeom prst="roundRect">
            <a:avLst>
              <a:gd name="adj" fmla="val 8888"/>
            </a:avLst>
          </a:prstGeom>
          <a:solidFill>
            <a:srgbClr val="111111"/>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314950" y="3333750"/>
            <a:ext cx="3352800" cy="533400"/>
          </a:xfrm>
          <a:prstGeom prst="rect">
            <a:avLst/>
          </a:prstGeom>
          <a:noFill/>
        </p:spPr>
        <p:txBody>
          <a:bodyPr wrap="square" lIns="0" rIns="0" tIns="0" bIns="0" anchor="t">
            <a:spAutoFit/>
          </a:bodyPr>
          <a:lstStyle/>
          <a:p>
            <a:pPr algn="ctr"/>
            <a:r>
              <a:rPr sz="2550" b="1" i="0">
                <a:solidFill>
                  <a:srgbClr val="F0E8E8"/>
                </a:solidFill>
                <a:latin typeface="Geist"/>
                <a:ea typeface="Geist"/>
                <a:cs typeface="Geist"/>
              </a:rPr>
              <a:t>Compile</a:t>
            </a:r>
          </a:p>
        </p:txBody>
      </p:sp>
      <p:sp>
        <p:nvSpPr>
          <p:cNvPr id="11" name="TextBox 10"/>
          <p:cNvSpPr txBox="1"/>
          <p:nvPr/>
        </p:nvSpPr>
        <p:spPr>
          <a:xfrm>
            <a:off x="5372100" y="3924300"/>
            <a:ext cx="3238500" cy="571500"/>
          </a:xfrm>
          <a:prstGeom prst="rect">
            <a:avLst/>
          </a:prstGeom>
          <a:noFill/>
        </p:spPr>
        <p:txBody>
          <a:bodyPr wrap="square" lIns="0" rIns="0" tIns="0" bIns="0" anchor="t">
            <a:spAutoFit/>
          </a:bodyPr>
          <a:lstStyle/>
          <a:p>
            <a:pPr algn="ctr">
              <a:lnSpc>
                <a:spcPct val="120000"/>
              </a:lnSpc>
            </a:pPr>
            <a:r>
              <a:rPr sz="1650" b="0" i="0">
                <a:solidFill>
                  <a:srgbClr val="9A7878"/>
                </a:solidFill>
                <a:latin typeface="Geist"/>
                <a:ea typeface="Geist"/>
                <a:cs typeface="Geist"/>
              </a:rPr>
              <a:t>Check it and translate it</a:t>
            </a:r>
          </a:p>
        </p:txBody>
      </p:sp>
      <p:cxnSp>
        <p:nvCxnSpPr>
          <p:cNvPr id="12" name="Connector 11"/>
          <p:cNvCxnSpPr/>
          <p:nvPr/>
        </p:nvCxnSpPr>
        <p:spPr>
          <a:xfrm>
            <a:off x="8839200" y="3810000"/>
            <a:ext cx="609600" cy="0"/>
          </a:xfrm>
          <a:prstGeom prst="line">
            <a:avLst/>
          </a:prstGeom>
          <a:ln w="28575">
            <a:solidFill>
              <a:srgbClr val="9A787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9525000" y="2952750"/>
            <a:ext cx="3543300" cy="1714500"/>
          </a:xfrm>
          <a:prstGeom prst="roundRect">
            <a:avLst>
              <a:gd name="adj" fmla="val 888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620250" y="3333750"/>
            <a:ext cx="3352800" cy="533400"/>
          </a:xfrm>
          <a:prstGeom prst="rect">
            <a:avLst/>
          </a:prstGeom>
          <a:noFill/>
        </p:spPr>
        <p:txBody>
          <a:bodyPr wrap="square" lIns="0" rIns="0" tIns="0" bIns="0" anchor="t">
            <a:spAutoFit/>
          </a:bodyPr>
          <a:lstStyle/>
          <a:p>
            <a:pPr algn="ctr"/>
            <a:r>
              <a:rPr sz="2550" b="1" i="0">
                <a:solidFill>
                  <a:srgbClr val="F0E8E8"/>
                </a:solidFill>
                <a:latin typeface="Geist"/>
                <a:ea typeface="Geist"/>
                <a:cs typeface="Geist"/>
              </a:rPr>
              <a:t>Run</a:t>
            </a:r>
          </a:p>
        </p:txBody>
      </p:sp>
      <p:sp>
        <p:nvSpPr>
          <p:cNvPr id="15" name="TextBox 14"/>
          <p:cNvSpPr txBox="1"/>
          <p:nvPr/>
        </p:nvSpPr>
        <p:spPr>
          <a:xfrm>
            <a:off x="9677400" y="3924300"/>
            <a:ext cx="3238500" cy="571500"/>
          </a:xfrm>
          <a:prstGeom prst="rect">
            <a:avLst/>
          </a:prstGeom>
          <a:noFill/>
        </p:spPr>
        <p:txBody>
          <a:bodyPr wrap="square" lIns="0" rIns="0" tIns="0" bIns="0" anchor="t">
            <a:spAutoFit/>
          </a:bodyPr>
          <a:lstStyle/>
          <a:p>
            <a:pPr algn="ctr">
              <a:lnSpc>
                <a:spcPct val="120000"/>
              </a:lnSpc>
            </a:pPr>
            <a:r>
              <a:rPr sz="1650" b="0" i="0">
                <a:solidFill>
                  <a:srgbClr val="9A7878"/>
                </a:solidFill>
                <a:latin typeface="Geist"/>
                <a:ea typeface="Geist"/>
                <a:cs typeface="Geist"/>
              </a:rPr>
              <a:t>The computer follows it</a:t>
            </a:r>
          </a:p>
        </p:txBody>
      </p:sp>
      <p:cxnSp>
        <p:nvCxnSpPr>
          <p:cNvPr id="16" name="Connector 15"/>
          <p:cNvCxnSpPr/>
          <p:nvPr/>
        </p:nvCxnSpPr>
        <p:spPr>
          <a:xfrm>
            <a:off x="13144500" y="3810000"/>
            <a:ext cx="609600" cy="0"/>
          </a:xfrm>
          <a:prstGeom prst="line">
            <a:avLst/>
          </a:prstGeom>
          <a:ln w="28575">
            <a:solidFill>
              <a:srgbClr val="9A787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13830300" y="2952750"/>
            <a:ext cx="3543300" cy="1714500"/>
          </a:xfrm>
          <a:prstGeom prst="roundRect">
            <a:avLst>
              <a:gd name="adj" fmla="val 888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13925550" y="3333750"/>
            <a:ext cx="3352800" cy="533400"/>
          </a:xfrm>
          <a:prstGeom prst="rect">
            <a:avLst/>
          </a:prstGeom>
          <a:noFill/>
        </p:spPr>
        <p:txBody>
          <a:bodyPr wrap="square" lIns="0" rIns="0" tIns="0" bIns="0" anchor="t">
            <a:spAutoFit/>
          </a:bodyPr>
          <a:lstStyle/>
          <a:p>
            <a:pPr algn="ctr"/>
            <a:r>
              <a:rPr sz="2550" b="1" i="0">
                <a:solidFill>
                  <a:srgbClr val="F0E8E8"/>
                </a:solidFill>
                <a:latin typeface="Geist"/>
                <a:ea typeface="Geist"/>
                <a:cs typeface="Geist"/>
              </a:rPr>
              <a:t>Output</a:t>
            </a:r>
          </a:p>
        </p:txBody>
      </p:sp>
      <p:sp>
        <p:nvSpPr>
          <p:cNvPr id="19" name="TextBox 18"/>
          <p:cNvSpPr txBox="1"/>
          <p:nvPr/>
        </p:nvSpPr>
        <p:spPr>
          <a:xfrm>
            <a:off x="13982700" y="3924300"/>
            <a:ext cx="3238500" cy="571500"/>
          </a:xfrm>
          <a:prstGeom prst="rect">
            <a:avLst/>
          </a:prstGeom>
          <a:noFill/>
        </p:spPr>
        <p:txBody>
          <a:bodyPr wrap="square" lIns="0" rIns="0" tIns="0" bIns="0" anchor="t">
            <a:spAutoFit/>
          </a:bodyPr>
          <a:lstStyle/>
          <a:p>
            <a:pPr algn="ctr">
              <a:lnSpc>
                <a:spcPct val="120000"/>
              </a:lnSpc>
            </a:pPr>
            <a:r>
              <a:rPr sz="1650" b="0" i="0">
                <a:solidFill>
                  <a:srgbClr val="9A7878"/>
                </a:solidFill>
                <a:latin typeface="Geist"/>
                <a:ea typeface="Geist"/>
                <a:cs typeface="Geist"/>
              </a:rPr>
              <a:t>Printed in the terminal</a:t>
            </a:r>
          </a:p>
        </p:txBody>
      </p:sp>
      <p:sp>
        <p:nvSpPr>
          <p:cNvPr id="20" name="Rounded Rectangle 19"/>
          <p:cNvSpPr/>
          <p:nvPr/>
        </p:nvSpPr>
        <p:spPr>
          <a:xfrm>
            <a:off x="914400" y="5619750"/>
            <a:ext cx="10477500" cy="2867025"/>
          </a:xfrm>
          <a:prstGeom prst="roundRect">
            <a:avLst>
              <a:gd name="adj" fmla="val 5315"/>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933450" y="6842760"/>
            <a:ext cx="10439400" cy="421005"/>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933450" y="6842760"/>
            <a:ext cx="57150" cy="421005"/>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1295400" y="6000750"/>
            <a:ext cx="9715500" cy="421005"/>
          </a:xfrm>
          <a:prstGeom prst="rect">
            <a:avLst/>
          </a:prstGeom>
          <a:noFill/>
        </p:spPr>
        <p:txBody>
          <a:bodyPr wrap="square" lIns="0" rIns="0" tIns="0" bIns="0" anchor="ctr">
            <a:spAutoFit/>
          </a:bodyPr>
          <a:lstStyle/>
          <a:p>
            <a:pPr algn="l"/>
            <a:r>
              <a:rPr sz="1950" b="0" i="0">
                <a:solidFill>
                  <a:srgbClr val="E0785F"/>
                </a:solidFill>
                <a:latin typeface="Geist Mono"/>
                <a:ea typeface="Geist Mono"/>
                <a:cs typeface="Geist Mono"/>
              </a:rPr>
              <a:t>public class </a:t>
            </a:r>
            <a:r>
              <a:rPr sz="1950" b="0" i="0">
                <a:solidFill>
                  <a:srgbClr val="F0E8E8"/>
                </a:solidFill>
                <a:latin typeface="Geist Mono"/>
                <a:ea typeface="Geist Mono"/>
                <a:cs typeface="Geist Mono"/>
              </a:rPr>
              <a:t>Main {</a:t>
            </a:r>
          </a:p>
        </p:txBody>
      </p:sp>
      <p:sp>
        <p:nvSpPr>
          <p:cNvPr id="24" name="TextBox 23"/>
          <p:cNvSpPr txBox="1"/>
          <p:nvPr/>
        </p:nvSpPr>
        <p:spPr>
          <a:xfrm>
            <a:off x="1295400" y="6421755"/>
            <a:ext cx="9715500" cy="421005"/>
          </a:xfrm>
          <a:prstGeom prst="rect">
            <a:avLst/>
          </a:prstGeom>
          <a:noFill/>
        </p:spPr>
        <p:txBody>
          <a:bodyPr wrap="square" lIns="0" rIns="0" tIns="0" bIns="0" anchor="ctr">
            <a:spAutoFit/>
          </a:bodyPr>
          <a:lstStyle/>
          <a:p>
            <a:pPr algn="l"/>
            <a:r>
              <a:rPr sz="1950" b="0" i="0">
                <a:solidFill>
                  <a:srgbClr val="E0785F"/>
                </a:solidFill>
                <a:latin typeface="Geist Mono"/>
                <a:ea typeface="Geist Mono"/>
                <a:cs typeface="Geist Mono"/>
              </a:rPr>
              <a:t>  public static void </a:t>
            </a:r>
            <a:r>
              <a:rPr sz="1950" b="0" i="0">
                <a:solidFill>
                  <a:srgbClr val="F0E8E8"/>
                </a:solidFill>
                <a:latin typeface="Geist Mono"/>
                <a:ea typeface="Geist Mono"/>
                <a:cs typeface="Geist Mono"/>
              </a:rPr>
              <a:t>main(String[] args) {</a:t>
            </a:r>
          </a:p>
        </p:txBody>
      </p:sp>
      <p:sp>
        <p:nvSpPr>
          <p:cNvPr id="25" name="TextBox 24"/>
          <p:cNvSpPr txBox="1"/>
          <p:nvPr/>
        </p:nvSpPr>
        <p:spPr>
          <a:xfrm>
            <a:off x="1295400" y="6842760"/>
            <a:ext cx="9715500" cy="421005"/>
          </a:xfrm>
          <a:prstGeom prst="rect">
            <a:avLst/>
          </a:prstGeom>
          <a:noFill/>
        </p:spPr>
        <p:txBody>
          <a:bodyPr wrap="square" lIns="0" rIns="0" tIns="0" bIns="0" anchor="ctr">
            <a:spAutoFit/>
          </a:bodyPr>
          <a:lstStyle/>
          <a:p>
            <a:pPr algn="l"/>
            <a:r>
              <a:rPr sz="1950" b="0" i="0">
                <a:solidFill>
                  <a:srgbClr val="F0E8E8"/>
                </a:solidFill>
                <a:latin typeface="Geist Mono"/>
                <a:ea typeface="Geist Mono"/>
                <a:cs typeface="Geist Mono"/>
              </a:rPr>
              <a:t>    System.out.println(</a:t>
            </a:r>
            <a:r>
              <a:rPr sz="1950" b="0" i="0">
                <a:solidFill>
                  <a:srgbClr val="9FD29A"/>
                </a:solidFill>
                <a:latin typeface="Geist Mono"/>
                <a:ea typeface="Geist Mono"/>
                <a:cs typeface="Geist Mono"/>
              </a:rPr>
              <a:t>"Hello, my name is ..."</a:t>
            </a:r>
            <a:r>
              <a:rPr sz="1950" b="0" i="0">
                <a:solidFill>
                  <a:srgbClr val="F0E8E8"/>
                </a:solidFill>
                <a:latin typeface="Geist Mono"/>
                <a:ea typeface="Geist Mono"/>
                <a:cs typeface="Geist Mono"/>
              </a:rPr>
              <a:t>);</a:t>
            </a:r>
          </a:p>
        </p:txBody>
      </p:sp>
      <p:sp>
        <p:nvSpPr>
          <p:cNvPr id="26" name="TextBox 25"/>
          <p:cNvSpPr txBox="1"/>
          <p:nvPr/>
        </p:nvSpPr>
        <p:spPr>
          <a:xfrm>
            <a:off x="1295400" y="7263765"/>
            <a:ext cx="9715500" cy="421005"/>
          </a:xfrm>
          <a:prstGeom prst="rect">
            <a:avLst/>
          </a:prstGeom>
          <a:noFill/>
        </p:spPr>
        <p:txBody>
          <a:bodyPr wrap="square" lIns="0" rIns="0" tIns="0" bIns="0" anchor="ctr">
            <a:spAutoFit/>
          </a:bodyPr>
          <a:lstStyle/>
          <a:p>
            <a:pPr algn="l"/>
            <a:r>
              <a:rPr sz="1950" b="0" i="0">
                <a:solidFill>
                  <a:srgbClr val="F0E8E8"/>
                </a:solidFill>
                <a:latin typeface="Geist Mono"/>
                <a:ea typeface="Geist Mono"/>
                <a:cs typeface="Geist Mono"/>
              </a:rPr>
              <a:t>  }</a:t>
            </a:r>
          </a:p>
        </p:txBody>
      </p:sp>
      <p:sp>
        <p:nvSpPr>
          <p:cNvPr id="27" name="TextBox 26"/>
          <p:cNvSpPr txBox="1"/>
          <p:nvPr/>
        </p:nvSpPr>
        <p:spPr>
          <a:xfrm>
            <a:off x="1295400" y="7684770"/>
            <a:ext cx="9715500" cy="421005"/>
          </a:xfrm>
          <a:prstGeom prst="rect">
            <a:avLst/>
          </a:prstGeom>
          <a:noFill/>
        </p:spPr>
        <p:txBody>
          <a:bodyPr wrap="square" lIns="0" rIns="0" tIns="0" bIns="0" anchor="ctr">
            <a:spAutoFit/>
          </a:bodyPr>
          <a:lstStyle/>
          <a:p>
            <a:pPr algn="l"/>
            <a:r>
              <a:rPr sz="1950" b="0" i="0">
                <a:solidFill>
                  <a:srgbClr val="F0E8E8"/>
                </a:solidFill>
                <a:latin typeface="Geist Mono"/>
                <a:ea typeface="Geist Mono"/>
                <a:cs typeface="Geist Mono"/>
              </a:rPr>
              <a:t>}</a:t>
            </a:r>
          </a:p>
        </p:txBody>
      </p:sp>
      <p:sp>
        <p:nvSpPr>
          <p:cNvPr id="28" name="Rounded Rectangle 27"/>
          <p:cNvSpPr/>
          <p:nvPr/>
        </p:nvSpPr>
        <p:spPr>
          <a:xfrm>
            <a:off x="12039600" y="5619750"/>
            <a:ext cx="5334000" cy="3162300"/>
          </a:xfrm>
          <a:prstGeom prst="roundRect">
            <a:avLst>
              <a:gd name="adj" fmla="val 4819"/>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2420600" y="5905500"/>
            <a:ext cx="4572000" cy="381000"/>
          </a:xfrm>
          <a:prstGeom prst="rect">
            <a:avLst/>
          </a:prstGeom>
          <a:noFill/>
        </p:spPr>
        <p:txBody>
          <a:bodyPr wrap="square" lIns="0" rIns="0" tIns="0" bIns="0" anchor="t">
            <a:spAutoFit/>
          </a:bodyPr>
          <a:lstStyle/>
          <a:p>
            <a:pPr algn="l"/>
            <a:r>
              <a:rPr sz="1500" b="1" i="0" spc="130">
                <a:solidFill>
                  <a:srgbClr val="9A7878"/>
                </a:solidFill>
                <a:latin typeface="Geist"/>
                <a:ea typeface="Geist"/>
                <a:cs typeface="Geist"/>
              </a:rPr>
              <a:t>OUTPUT</a:t>
            </a:r>
          </a:p>
        </p:txBody>
      </p:sp>
      <p:sp>
        <p:nvSpPr>
          <p:cNvPr id="30" name="TextBox 29"/>
          <p:cNvSpPr txBox="1"/>
          <p:nvPr/>
        </p:nvSpPr>
        <p:spPr>
          <a:xfrm>
            <a:off x="12420600" y="6381750"/>
            <a:ext cx="4572000" cy="571500"/>
          </a:xfrm>
          <a:prstGeom prst="rect">
            <a:avLst/>
          </a:prstGeom>
          <a:noFill/>
        </p:spPr>
        <p:txBody>
          <a:bodyPr wrap="square" lIns="0" rIns="0" tIns="0" bIns="0" anchor="t">
            <a:spAutoFit/>
          </a:bodyPr>
          <a:lstStyle/>
          <a:p>
            <a:pPr algn="l"/>
            <a:r>
              <a:rPr sz="2100" b="0" i="0">
                <a:solidFill>
                  <a:srgbClr val="9FD29A"/>
                </a:solidFill>
                <a:latin typeface="Geist Mono"/>
                <a:ea typeface="Geist Mono"/>
                <a:cs typeface="Geist Mono"/>
              </a:rPr>
              <a:t>Hello, my name is Ava</a:t>
            </a:r>
          </a:p>
        </p:txBody>
      </p:sp>
      <p:sp>
        <p:nvSpPr>
          <p:cNvPr id="31" name="TextBox 30"/>
          <p:cNvSpPr txBox="1"/>
          <p:nvPr/>
        </p:nvSpPr>
        <p:spPr>
          <a:xfrm>
            <a:off x="12420600" y="7143750"/>
            <a:ext cx="4572000" cy="1428750"/>
          </a:xfrm>
          <a:prstGeom prst="rect">
            <a:avLst/>
          </a:prstGeom>
          <a:noFill/>
        </p:spPr>
        <p:txBody>
          <a:bodyPr wrap="square" lIns="0" rIns="0" tIns="0" bIns="0" anchor="t">
            <a:spAutoFit/>
          </a:bodyPr>
          <a:lstStyle/>
          <a:p>
            <a:pPr algn="l">
              <a:lnSpc>
                <a:spcPct val="130000"/>
              </a:lnSpc>
            </a:pPr>
            <a:r>
              <a:rPr sz="1950" b="0" i="0">
                <a:solidFill>
                  <a:srgbClr val="9A7878"/>
                </a:solidFill>
                <a:latin typeface="Geist"/>
                <a:ea typeface="Geist"/>
                <a:cs typeface="Geist"/>
              </a:rPr>
              <a:t>A typo? Compiling stops and points at the line.</a:t>
            </a:r>
          </a:p>
        </p:txBody>
      </p:sp>
      <p:pic>
        <p:nvPicPr>
          <p:cNvPr id="32" name="Picture 31" descr="mw_logo_small.png"/>
          <p:cNvPicPr>
            <a:picLocks noChangeAspect="1"/>
          </p:cNvPicPr>
          <p:nvPr/>
        </p:nvPicPr>
        <p:blipFill>
          <a:blip r:embed="rId3"/>
          <a:stretch>
            <a:fillRect/>
          </a:stretch>
        </p:blipFill>
        <p:spPr>
          <a:xfrm>
            <a:off x="914400" y="9410700"/>
            <a:ext cx="583564" cy="495300"/>
          </a:xfrm>
          <a:prstGeom prst="rect">
            <a:avLst/>
          </a:prstGeom>
        </p:spPr>
      </p:pic>
      <p:sp>
        <p:nvSpPr>
          <p:cNvPr id="33" name="TextBox 32"/>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2857500"/>
            <a:ext cx="13335000" cy="2476500"/>
          </a:xfrm>
          <a:prstGeom prst="rect">
            <a:avLst/>
          </a:prstGeom>
          <a:noFill/>
        </p:spPr>
        <p:txBody>
          <a:bodyPr wrap="square" lIns="0" rIns="0" tIns="0" bIns="0" anchor="t">
            <a:spAutoFit/>
          </a:bodyPr>
          <a:lstStyle/>
          <a:p>
            <a:pPr algn="l"/>
            <a:r>
              <a:rPr sz="16500" b="1" i="0">
                <a:solidFill>
                  <a:srgbClr val="CC2200"/>
                </a:solidFill>
                <a:latin typeface="Geist"/>
                <a:ea typeface="Geist"/>
                <a:cs typeface="Geist"/>
              </a:rPr>
              <a:t>02</a:t>
            </a:r>
          </a:p>
        </p:txBody>
      </p:sp>
      <p:sp>
        <p:nvSpPr>
          <p:cNvPr id="3" name="TextBox 2"/>
          <p:cNvSpPr txBox="1"/>
          <p:nvPr/>
        </p:nvSpPr>
        <p:spPr>
          <a:xfrm>
            <a:off x="914400" y="5334000"/>
            <a:ext cx="14287500" cy="952500"/>
          </a:xfrm>
          <a:prstGeom prst="rect">
            <a:avLst/>
          </a:prstGeom>
          <a:noFill/>
        </p:spPr>
        <p:txBody>
          <a:bodyPr wrap="square" lIns="0" rIns="0" tIns="0" bIns="0" anchor="t">
            <a:spAutoFit/>
          </a:bodyPr>
          <a:lstStyle/>
          <a:p>
            <a:pPr algn="l"/>
            <a:r>
              <a:rPr sz="5400" b="1" i="0">
                <a:solidFill>
                  <a:srgbClr val="F0E8E8"/>
                </a:solidFill>
                <a:latin typeface="Geist"/>
                <a:ea typeface="Geist"/>
                <a:cs typeface="Geist"/>
              </a:rPr>
              <a:t>Git Basics</a:t>
            </a:r>
          </a:p>
        </p:txBody>
      </p:sp>
      <p:sp>
        <p:nvSpPr>
          <p:cNvPr id="4" name="TextBox 3"/>
          <p:cNvSpPr txBox="1"/>
          <p:nvPr/>
        </p:nvSpPr>
        <p:spPr>
          <a:xfrm>
            <a:off x="914400" y="6362700"/>
            <a:ext cx="13335000" cy="476250"/>
          </a:xfrm>
          <a:prstGeom prst="rect">
            <a:avLst/>
          </a:prstGeom>
          <a:noFill/>
        </p:spPr>
        <p:txBody>
          <a:bodyPr wrap="square" lIns="0" rIns="0" tIns="0" bIns="0" anchor="t">
            <a:spAutoFit/>
          </a:bodyPr>
          <a:lstStyle/>
          <a:p>
            <a:pPr algn="l"/>
            <a:r>
              <a:rPr sz="2100" b="0" i="0">
                <a:solidFill>
                  <a:srgbClr val="9A7878"/>
                </a:solidFill>
                <a:latin typeface="Geist"/>
                <a:ea typeface="Geist"/>
                <a:cs typeface="Geist"/>
              </a:rPr>
              <a:t>Version control: saving history and working as a team</a:t>
            </a:r>
          </a:p>
        </p:txBody>
      </p:sp>
      <p:pic>
        <p:nvPicPr>
          <p:cNvPr id="5" name="Picture 4" descr="mw_logo_small.png"/>
          <p:cNvPicPr>
            <a:picLocks noChangeAspect="1"/>
          </p:cNvPicPr>
          <p:nvPr/>
        </p:nvPicPr>
        <p:blipFill>
          <a:blip r:embed="rId3"/>
          <a:stretch>
            <a:fillRect/>
          </a:stretch>
        </p:blipFill>
        <p:spPr>
          <a:xfrm>
            <a:off x="914400" y="9410700"/>
            <a:ext cx="583564" cy="495300"/>
          </a:xfrm>
          <a:prstGeom prst="rect">
            <a:avLst/>
          </a:prstGeom>
        </p:spPr>
      </p:pic>
      <p:sp>
        <p:nvSpPr>
          <p:cNvPr id="6" name="TextBox 5"/>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13</a:t>
            </a:r>
          </a:p>
        </p:txBody>
      </p:sp>
      <p:pic>
        <p:nvPicPr>
          <p:cNvPr id="7" name="Picture 6" descr="dozer_look_up.png"/>
          <p:cNvPicPr>
            <a:picLocks noChangeAspect="1"/>
          </p:cNvPicPr>
          <p:nvPr/>
        </p:nvPicPr>
        <p:blipFill>
          <a:blip r:embed="rId4"/>
          <a:stretch>
            <a:fillRect/>
          </a:stretch>
        </p:blipFill>
        <p:spPr>
          <a:xfrm>
            <a:off x="13620750" y="7048500"/>
            <a:ext cx="3429000" cy="2107613"/>
          </a:xfrm>
          <a:prstGeom prst="rect">
            <a:avLst/>
          </a:prstGeom>
        </p:spPr>
      </p:pic>
      <p:sp>
        <p:nvSpPr>
          <p:cNvPr id="8" name="Isosceles Triangle 7"/>
          <p:cNvSpPr/>
          <p:nvPr/>
        </p:nvSpPr>
        <p:spPr>
          <a:xfrm rot="10800000">
            <a:off x="16261080" y="6572250"/>
            <a:ext cx="342900" cy="285750"/>
          </a:xfrm>
          <a:prstGeom prst="triangl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0953750" y="5372100"/>
            <a:ext cx="5715000" cy="1238250"/>
          </a:xfrm>
          <a:prstGeom prst="roundRect">
            <a:avLst>
              <a:gd name="adj" fmla="val 15384"/>
            </a:avLst>
          </a:prstGeom>
          <a:solidFill>
            <a:srgbClr val="1A0F0F"/>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1220450" y="5372100"/>
            <a:ext cx="5181600" cy="1238250"/>
          </a:xfrm>
          <a:prstGeom prst="rect">
            <a:avLst/>
          </a:prstGeom>
          <a:noFill/>
        </p:spPr>
        <p:txBody>
          <a:bodyPr wrap="square" lIns="0" rIns="0" tIns="0" bIns="0" anchor="ctr">
            <a:spAutoFit/>
          </a:bodyPr>
          <a:lstStyle/>
          <a:p>
            <a:pPr algn="l">
              <a:lnSpc>
                <a:spcPct val="125000"/>
              </a:lnSpc>
            </a:pPr>
            <a:r>
              <a:rPr sz="1950" b="0" i="0">
                <a:solidFill>
                  <a:srgbClr val="F0E8E8"/>
                </a:solidFill>
                <a:latin typeface="Geist"/>
                <a:ea typeface="Geist"/>
                <a:cs typeface="Geist"/>
              </a:rPr>
              <a:t>Commit small steps. Future you will say thanks.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GIT BASICS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What is version control?</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14400" y="2857500"/>
            <a:ext cx="9525000" cy="396240"/>
          </a:xfrm>
          <a:prstGeom prst="rect">
            <a:avLst/>
          </a:prstGeom>
          <a:noFill/>
        </p:spPr>
        <p:txBody>
          <a:bodyPr wrap="square" lIns="0" rIns="0" tIns="0" bIns="0" anchor="t">
            <a:spAutoFit/>
          </a:bodyPr>
          <a:lstStyle/>
          <a:p>
            <a:pPr algn="l">
              <a:lnSpc>
                <a:spcPct val="125000"/>
              </a:lnSpc>
            </a:pPr>
            <a:r>
              <a:rPr sz="2400" b="1" i="0">
                <a:solidFill>
                  <a:srgbClr val="CC2200"/>
                </a:solidFill>
                <a:latin typeface="Geist"/>
                <a:ea typeface="Geist"/>
                <a:cs typeface="Geist"/>
              </a:rPr>
              <a:t>•  </a:t>
            </a:r>
            <a:r>
              <a:rPr sz="2400" b="1" i="0">
                <a:solidFill>
                  <a:srgbClr val="F0E8E8"/>
                </a:solidFill>
                <a:latin typeface="Geist"/>
                <a:ea typeface="Geist"/>
                <a:cs typeface="Geist"/>
              </a:rPr>
              <a:t>Remembers every version</a:t>
            </a:r>
            <a:r>
              <a:rPr sz="2400" b="0" i="0">
                <a:solidFill>
                  <a:srgbClr val="F0E8E8"/>
                </a:solidFill>
                <a:latin typeface="Geist"/>
                <a:ea typeface="Geist"/>
                <a:cs typeface="Geist"/>
              </a:rPr>
              <a:t> of your code</a:t>
            </a:r>
          </a:p>
        </p:txBody>
      </p:sp>
      <p:sp>
        <p:nvSpPr>
          <p:cNvPr id="6" name="TextBox 5"/>
          <p:cNvSpPr txBox="1"/>
          <p:nvPr/>
        </p:nvSpPr>
        <p:spPr>
          <a:xfrm>
            <a:off x="914400" y="3539490"/>
            <a:ext cx="9525000" cy="396240"/>
          </a:xfrm>
          <a:prstGeom prst="rect">
            <a:avLst/>
          </a:prstGeom>
          <a:noFill/>
        </p:spPr>
        <p:txBody>
          <a:bodyPr wrap="square" lIns="0" rIns="0" tIns="0" bIns="0" anchor="t">
            <a:spAutoFit/>
          </a:bodyPr>
          <a:lstStyle/>
          <a:p>
            <a:pPr algn="l">
              <a:lnSpc>
                <a:spcPct val="125000"/>
              </a:lnSpc>
            </a:pPr>
            <a:r>
              <a:rPr sz="2400" b="1" i="0">
                <a:solidFill>
                  <a:srgbClr val="CC2200"/>
                </a:solidFill>
                <a:latin typeface="Geist"/>
                <a:ea typeface="Geist"/>
                <a:cs typeface="Geist"/>
              </a:rPr>
              <a:t>•  </a:t>
            </a:r>
            <a:r>
              <a:rPr sz="2400" b="1" i="0">
                <a:solidFill>
                  <a:srgbClr val="F0E8E8"/>
                </a:solidFill>
                <a:latin typeface="Geist"/>
                <a:ea typeface="Geist"/>
                <a:cs typeface="Geist"/>
              </a:rPr>
              <a:t>Undo</a:t>
            </a:r>
            <a:r>
              <a:rPr sz="2400" b="0" i="0">
                <a:solidFill>
                  <a:srgbClr val="F0E8E8"/>
                </a:solidFill>
                <a:latin typeface="Geist"/>
                <a:ea typeface="Geist"/>
                <a:cs typeface="Geist"/>
              </a:rPr>
              <a:t> back to any earlier save point</a:t>
            </a:r>
          </a:p>
        </p:txBody>
      </p:sp>
      <p:sp>
        <p:nvSpPr>
          <p:cNvPr id="7" name="TextBox 6"/>
          <p:cNvSpPr txBox="1"/>
          <p:nvPr/>
        </p:nvSpPr>
        <p:spPr>
          <a:xfrm>
            <a:off x="914400" y="4221480"/>
            <a:ext cx="9525000" cy="396240"/>
          </a:xfrm>
          <a:prstGeom prst="rect">
            <a:avLst/>
          </a:prstGeom>
          <a:noFill/>
        </p:spPr>
        <p:txBody>
          <a:bodyPr wrap="square" lIns="0" rIns="0" tIns="0" bIns="0" anchor="t">
            <a:spAutoFit/>
          </a:bodyPr>
          <a:lstStyle/>
          <a:p>
            <a:pPr algn="l">
              <a:lnSpc>
                <a:spcPct val="125000"/>
              </a:lnSpc>
            </a:pPr>
            <a:r>
              <a:rPr sz="2400" b="1" i="0">
                <a:solidFill>
                  <a:srgbClr val="CC2200"/>
                </a:solidFill>
                <a:latin typeface="Geist"/>
                <a:ea typeface="Geist"/>
                <a:cs typeface="Geist"/>
              </a:rPr>
              <a:t>•  </a:t>
            </a:r>
            <a:r>
              <a:rPr sz="2400" b="1" i="0">
                <a:solidFill>
                  <a:srgbClr val="F0E8E8"/>
                </a:solidFill>
                <a:latin typeface="Geist"/>
                <a:ea typeface="Geist"/>
                <a:cs typeface="Geist"/>
              </a:rPr>
              <a:t>Many people</a:t>
            </a:r>
            <a:r>
              <a:rPr sz="2400" b="0" i="0">
                <a:solidFill>
                  <a:srgbClr val="F0E8E8"/>
                </a:solidFill>
                <a:latin typeface="Geist"/>
                <a:ea typeface="Geist"/>
                <a:cs typeface="Geist"/>
              </a:rPr>
              <a:t> work at once without overwriting</a:t>
            </a:r>
          </a:p>
        </p:txBody>
      </p:sp>
      <p:sp>
        <p:nvSpPr>
          <p:cNvPr id="8" name="TextBox 7"/>
          <p:cNvSpPr txBox="1"/>
          <p:nvPr/>
        </p:nvSpPr>
        <p:spPr>
          <a:xfrm>
            <a:off x="914400" y="4903470"/>
            <a:ext cx="9525000" cy="396240"/>
          </a:xfrm>
          <a:prstGeom prst="rect">
            <a:avLst/>
          </a:prstGeom>
          <a:noFill/>
        </p:spPr>
        <p:txBody>
          <a:bodyPr wrap="square" lIns="0" rIns="0" tIns="0" bIns="0" anchor="t">
            <a:spAutoFit/>
          </a:bodyPr>
          <a:lstStyle/>
          <a:p>
            <a:pPr algn="l">
              <a:lnSpc>
                <a:spcPct val="125000"/>
              </a:lnSpc>
            </a:pPr>
            <a:r>
              <a:rPr sz="2400" b="1" i="0">
                <a:solidFill>
                  <a:srgbClr val="CC2200"/>
                </a:solidFill>
                <a:latin typeface="Geist"/>
                <a:ea typeface="Geist"/>
                <a:cs typeface="Geist"/>
              </a:rPr>
              <a:t>•  </a:t>
            </a:r>
            <a:r>
              <a:rPr sz="2400" b="0" i="0">
                <a:solidFill>
                  <a:srgbClr val="F0E8E8"/>
                </a:solidFill>
                <a:latin typeface="Geist"/>
                <a:ea typeface="Geist"/>
                <a:cs typeface="Geist"/>
              </a:rPr>
              <a:t>Built on three ideas: </a:t>
            </a:r>
            <a:r>
              <a:rPr sz="2400" b="1" i="0">
                <a:solidFill>
                  <a:srgbClr val="F0E8E8"/>
                </a:solidFill>
                <a:latin typeface="Geist"/>
                <a:ea typeface="Geist"/>
                <a:cs typeface="Geist"/>
              </a:rPr>
              <a:t>repositories, commits, branches</a:t>
            </a:r>
          </a:p>
        </p:txBody>
      </p:sp>
      <p:sp>
        <p:nvSpPr>
          <p:cNvPr id="9" name="Rounded Rectangle 8"/>
          <p:cNvSpPr/>
          <p:nvPr/>
        </p:nvSpPr>
        <p:spPr>
          <a:xfrm>
            <a:off x="11430000" y="2857500"/>
            <a:ext cx="5943600" cy="5334000"/>
          </a:xfrm>
          <a:prstGeom prst="roundRect">
            <a:avLst>
              <a:gd name="adj" fmla="val 2857"/>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1811000" y="3143250"/>
            <a:ext cx="5181600" cy="381000"/>
          </a:xfrm>
          <a:prstGeom prst="rect">
            <a:avLst/>
          </a:prstGeom>
          <a:noFill/>
        </p:spPr>
        <p:txBody>
          <a:bodyPr wrap="square" lIns="0" rIns="0" tIns="0" bIns="0" anchor="t">
            <a:spAutoFit/>
          </a:bodyPr>
          <a:lstStyle/>
          <a:p>
            <a:pPr algn="l"/>
            <a:r>
              <a:rPr sz="1500" b="1" i="0" spc="130">
                <a:solidFill>
                  <a:srgbClr val="E05540"/>
                </a:solidFill>
                <a:latin typeface="Geist"/>
                <a:ea typeface="Geist"/>
                <a:cs typeface="Geist"/>
              </a:rPr>
              <a:t>WITHOUT GIT</a:t>
            </a:r>
          </a:p>
        </p:txBody>
      </p:sp>
      <p:pic>
        <p:nvPicPr>
          <p:cNvPr id="11" name="Picture 10" descr="folder2-open.png"/>
          <p:cNvPicPr>
            <a:picLocks noChangeAspect="1"/>
          </p:cNvPicPr>
          <p:nvPr/>
        </p:nvPicPr>
        <p:blipFill>
          <a:blip r:embed="rId3"/>
          <a:stretch>
            <a:fillRect/>
          </a:stretch>
        </p:blipFill>
        <p:spPr>
          <a:xfrm>
            <a:off x="11811000" y="3848100"/>
            <a:ext cx="461596" cy="381000"/>
          </a:xfrm>
          <a:prstGeom prst="rect">
            <a:avLst/>
          </a:prstGeom>
        </p:spPr>
      </p:pic>
      <p:sp>
        <p:nvSpPr>
          <p:cNvPr id="12" name="TextBox 11"/>
          <p:cNvSpPr txBox="1"/>
          <p:nvPr/>
        </p:nvSpPr>
        <p:spPr>
          <a:xfrm>
            <a:off x="12382500" y="3771900"/>
            <a:ext cx="4762500" cy="533400"/>
          </a:xfrm>
          <a:prstGeom prst="rect">
            <a:avLst/>
          </a:prstGeom>
          <a:noFill/>
        </p:spPr>
        <p:txBody>
          <a:bodyPr wrap="square" lIns="0" rIns="0" tIns="0" bIns="0" anchor="ctr">
            <a:spAutoFit/>
          </a:bodyPr>
          <a:lstStyle/>
          <a:p>
            <a:pPr algn="l"/>
            <a:r>
              <a:rPr sz="2100" b="0" i="0">
                <a:solidFill>
                  <a:srgbClr val="9A7878"/>
                </a:solidFill>
                <a:latin typeface="Geist Mono"/>
                <a:ea typeface="Geist Mono"/>
                <a:cs typeface="Geist Mono"/>
              </a:rPr>
              <a:t>robot-code-v1</a:t>
            </a:r>
          </a:p>
        </p:txBody>
      </p:sp>
      <p:pic>
        <p:nvPicPr>
          <p:cNvPr id="13" name="Picture 12" descr="folder2-open.png"/>
          <p:cNvPicPr>
            <a:picLocks noChangeAspect="1"/>
          </p:cNvPicPr>
          <p:nvPr/>
        </p:nvPicPr>
        <p:blipFill>
          <a:blip r:embed="rId3"/>
          <a:stretch>
            <a:fillRect/>
          </a:stretch>
        </p:blipFill>
        <p:spPr>
          <a:xfrm>
            <a:off x="11811000" y="4610100"/>
            <a:ext cx="461596" cy="381000"/>
          </a:xfrm>
          <a:prstGeom prst="rect">
            <a:avLst/>
          </a:prstGeom>
        </p:spPr>
      </p:pic>
      <p:sp>
        <p:nvSpPr>
          <p:cNvPr id="14" name="TextBox 13"/>
          <p:cNvSpPr txBox="1"/>
          <p:nvPr/>
        </p:nvSpPr>
        <p:spPr>
          <a:xfrm>
            <a:off x="12382500" y="4533900"/>
            <a:ext cx="4762500" cy="533400"/>
          </a:xfrm>
          <a:prstGeom prst="rect">
            <a:avLst/>
          </a:prstGeom>
          <a:noFill/>
        </p:spPr>
        <p:txBody>
          <a:bodyPr wrap="square" lIns="0" rIns="0" tIns="0" bIns="0" anchor="ctr">
            <a:spAutoFit/>
          </a:bodyPr>
          <a:lstStyle/>
          <a:p>
            <a:pPr algn="l"/>
            <a:r>
              <a:rPr sz="2100" b="0" i="0">
                <a:solidFill>
                  <a:srgbClr val="9A7878"/>
                </a:solidFill>
                <a:latin typeface="Geist Mono"/>
                <a:ea typeface="Geist Mono"/>
                <a:cs typeface="Geist Mono"/>
              </a:rPr>
              <a:t>robot-code-v2</a:t>
            </a:r>
          </a:p>
        </p:txBody>
      </p:sp>
      <p:pic>
        <p:nvPicPr>
          <p:cNvPr id="15" name="Picture 14" descr="folder2-open.png"/>
          <p:cNvPicPr>
            <a:picLocks noChangeAspect="1"/>
          </p:cNvPicPr>
          <p:nvPr/>
        </p:nvPicPr>
        <p:blipFill>
          <a:blip r:embed="rId3"/>
          <a:stretch>
            <a:fillRect/>
          </a:stretch>
        </p:blipFill>
        <p:spPr>
          <a:xfrm>
            <a:off x="11811000" y="5372100"/>
            <a:ext cx="461596" cy="381000"/>
          </a:xfrm>
          <a:prstGeom prst="rect">
            <a:avLst/>
          </a:prstGeom>
        </p:spPr>
      </p:pic>
      <p:sp>
        <p:nvSpPr>
          <p:cNvPr id="16" name="TextBox 15"/>
          <p:cNvSpPr txBox="1"/>
          <p:nvPr/>
        </p:nvSpPr>
        <p:spPr>
          <a:xfrm>
            <a:off x="12382500" y="5295900"/>
            <a:ext cx="4762500" cy="533400"/>
          </a:xfrm>
          <a:prstGeom prst="rect">
            <a:avLst/>
          </a:prstGeom>
          <a:noFill/>
        </p:spPr>
        <p:txBody>
          <a:bodyPr wrap="square" lIns="0" rIns="0" tIns="0" bIns="0" anchor="ctr">
            <a:spAutoFit/>
          </a:bodyPr>
          <a:lstStyle/>
          <a:p>
            <a:pPr algn="l"/>
            <a:r>
              <a:rPr sz="2100" b="0" i="0">
                <a:solidFill>
                  <a:srgbClr val="9A7878"/>
                </a:solidFill>
                <a:latin typeface="Geist Mono"/>
                <a:ea typeface="Geist Mono"/>
                <a:cs typeface="Geist Mono"/>
              </a:rPr>
              <a:t>robot-code-final</a:t>
            </a:r>
          </a:p>
        </p:txBody>
      </p:sp>
      <p:pic>
        <p:nvPicPr>
          <p:cNvPr id="17" name="Picture 16" descr="folder2-open.png"/>
          <p:cNvPicPr>
            <a:picLocks noChangeAspect="1"/>
          </p:cNvPicPr>
          <p:nvPr/>
        </p:nvPicPr>
        <p:blipFill>
          <a:blip r:embed="rId3"/>
          <a:stretch>
            <a:fillRect/>
          </a:stretch>
        </p:blipFill>
        <p:spPr>
          <a:xfrm>
            <a:off x="11811000" y="6134100"/>
            <a:ext cx="461596" cy="381000"/>
          </a:xfrm>
          <a:prstGeom prst="rect">
            <a:avLst/>
          </a:prstGeom>
        </p:spPr>
      </p:pic>
      <p:sp>
        <p:nvSpPr>
          <p:cNvPr id="18" name="TextBox 17"/>
          <p:cNvSpPr txBox="1"/>
          <p:nvPr/>
        </p:nvSpPr>
        <p:spPr>
          <a:xfrm>
            <a:off x="12382500" y="6057900"/>
            <a:ext cx="4762500" cy="533400"/>
          </a:xfrm>
          <a:prstGeom prst="rect">
            <a:avLst/>
          </a:prstGeom>
          <a:noFill/>
        </p:spPr>
        <p:txBody>
          <a:bodyPr wrap="square" lIns="0" rIns="0" tIns="0" bIns="0" anchor="ctr">
            <a:spAutoFit/>
          </a:bodyPr>
          <a:lstStyle/>
          <a:p>
            <a:pPr algn="l"/>
            <a:r>
              <a:rPr sz="2100" b="0" i="0">
                <a:solidFill>
                  <a:srgbClr val="9A7878"/>
                </a:solidFill>
                <a:latin typeface="Geist Mono"/>
                <a:ea typeface="Geist Mono"/>
                <a:cs typeface="Geist Mono"/>
              </a:rPr>
              <a:t>robot-code-final-2</a:t>
            </a:r>
          </a:p>
        </p:txBody>
      </p:sp>
      <p:pic>
        <p:nvPicPr>
          <p:cNvPr id="19" name="Picture 18" descr="folder2-open.png"/>
          <p:cNvPicPr>
            <a:picLocks noChangeAspect="1"/>
          </p:cNvPicPr>
          <p:nvPr/>
        </p:nvPicPr>
        <p:blipFill>
          <a:blip r:embed="rId3"/>
          <a:stretch>
            <a:fillRect/>
          </a:stretch>
        </p:blipFill>
        <p:spPr>
          <a:xfrm>
            <a:off x="11811000" y="6896100"/>
            <a:ext cx="461596" cy="381000"/>
          </a:xfrm>
          <a:prstGeom prst="rect">
            <a:avLst/>
          </a:prstGeom>
        </p:spPr>
      </p:pic>
      <p:sp>
        <p:nvSpPr>
          <p:cNvPr id="20" name="TextBox 19"/>
          <p:cNvSpPr txBox="1"/>
          <p:nvPr/>
        </p:nvSpPr>
        <p:spPr>
          <a:xfrm>
            <a:off x="12382500" y="6819900"/>
            <a:ext cx="4762500" cy="533400"/>
          </a:xfrm>
          <a:prstGeom prst="rect">
            <a:avLst/>
          </a:prstGeom>
          <a:noFill/>
        </p:spPr>
        <p:txBody>
          <a:bodyPr wrap="square" lIns="0" rIns="0" tIns="0" bIns="0" anchor="ctr">
            <a:spAutoFit/>
          </a:bodyPr>
          <a:lstStyle/>
          <a:p>
            <a:pPr algn="l"/>
            <a:r>
              <a:rPr sz="2100" b="0" i="0">
                <a:solidFill>
                  <a:srgbClr val="F0E8E8"/>
                </a:solidFill>
                <a:latin typeface="Geist Mono"/>
                <a:ea typeface="Geist Mono"/>
                <a:cs typeface="Geist Mono"/>
              </a:rPr>
              <a:t>robot-code-final-really</a:t>
            </a:r>
          </a:p>
        </p:txBody>
      </p:sp>
      <p:sp>
        <p:nvSpPr>
          <p:cNvPr id="21" name="TextBox 20"/>
          <p:cNvSpPr txBox="1"/>
          <p:nvPr/>
        </p:nvSpPr>
        <p:spPr>
          <a:xfrm>
            <a:off x="11811000" y="7620000"/>
            <a:ext cx="5181600" cy="381000"/>
          </a:xfrm>
          <a:prstGeom prst="rect">
            <a:avLst/>
          </a:prstGeom>
          <a:noFill/>
        </p:spPr>
        <p:txBody>
          <a:bodyPr wrap="square" lIns="0" rIns="0" tIns="0" bIns="0" anchor="t">
            <a:spAutoFit/>
          </a:bodyPr>
          <a:lstStyle/>
          <a:p>
            <a:pPr algn="l"/>
            <a:r>
              <a:rPr sz="1650" b="0" i="0">
                <a:solidFill>
                  <a:srgbClr val="9A7878"/>
                </a:solidFill>
                <a:latin typeface="Geist"/>
                <a:ea typeface="Geist"/>
                <a:cs typeface="Geist"/>
              </a:rPr>
              <a:t>...emailed around, on a thumb drive</a:t>
            </a:r>
          </a:p>
        </p:txBody>
      </p:sp>
      <p:pic>
        <p:nvPicPr>
          <p:cNvPr id="22" name="Picture 21" descr="mw_logo_small.png"/>
          <p:cNvPicPr>
            <a:picLocks noChangeAspect="1"/>
          </p:cNvPicPr>
          <p:nvPr/>
        </p:nvPicPr>
        <p:blipFill>
          <a:blip r:embed="rId4"/>
          <a:stretch>
            <a:fillRect/>
          </a:stretch>
        </p:blipFill>
        <p:spPr>
          <a:xfrm>
            <a:off x="914400" y="9410700"/>
            <a:ext cx="583564" cy="495300"/>
          </a:xfrm>
          <a:prstGeom prst="rect">
            <a:avLst/>
          </a:prstGeom>
        </p:spPr>
      </p:pic>
      <p:sp>
        <p:nvSpPr>
          <p:cNvPr id="23" name="TextBox 22"/>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GIT BASICS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Repositories</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14400" y="2857500"/>
            <a:ext cx="8572500" cy="396240"/>
          </a:xfrm>
          <a:prstGeom prst="rect">
            <a:avLst/>
          </a:prstGeom>
          <a:noFill/>
        </p:spPr>
        <p:txBody>
          <a:bodyPr wrap="square" lIns="0" rIns="0" tIns="0" bIns="0" anchor="t">
            <a:spAutoFit/>
          </a:bodyPr>
          <a:lstStyle/>
          <a:p>
            <a:pPr algn="l">
              <a:lnSpc>
                <a:spcPct val="125000"/>
              </a:lnSpc>
            </a:pPr>
            <a:r>
              <a:rPr sz="2400" b="1" i="0">
                <a:solidFill>
                  <a:srgbClr val="CC2200"/>
                </a:solidFill>
                <a:latin typeface="Geist"/>
                <a:ea typeface="Geist"/>
                <a:cs typeface="Geist"/>
              </a:rPr>
              <a:t>•  </a:t>
            </a:r>
            <a:r>
              <a:rPr sz="2400" b="1" i="0">
                <a:solidFill>
                  <a:srgbClr val="F0E8E8"/>
                </a:solidFill>
                <a:latin typeface="Geist"/>
                <a:ea typeface="Geist"/>
                <a:cs typeface="Geist"/>
              </a:rPr>
              <a:t>A repo</a:t>
            </a:r>
            <a:r>
              <a:rPr sz="2400" b="0" i="0">
                <a:solidFill>
                  <a:srgbClr val="F0E8E8"/>
                </a:solidFill>
                <a:latin typeface="Geist"/>
                <a:ea typeface="Geist"/>
                <a:cs typeface="Geist"/>
              </a:rPr>
              <a:t> is a project folder git is watching</a:t>
            </a:r>
          </a:p>
        </p:txBody>
      </p:sp>
      <p:sp>
        <p:nvSpPr>
          <p:cNvPr id="6" name="TextBox 5"/>
          <p:cNvSpPr txBox="1"/>
          <p:nvPr/>
        </p:nvSpPr>
        <p:spPr>
          <a:xfrm>
            <a:off x="914400" y="3539490"/>
            <a:ext cx="8572500" cy="396240"/>
          </a:xfrm>
          <a:prstGeom prst="rect">
            <a:avLst/>
          </a:prstGeom>
          <a:noFill/>
        </p:spPr>
        <p:txBody>
          <a:bodyPr wrap="square" lIns="0" rIns="0" tIns="0" bIns="0" anchor="t">
            <a:spAutoFit/>
          </a:bodyPr>
          <a:lstStyle/>
          <a:p>
            <a:pPr algn="l">
              <a:lnSpc>
                <a:spcPct val="125000"/>
              </a:lnSpc>
            </a:pPr>
            <a:r>
              <a:rPr sz="2400" b="1" i="0">
                <a:solidFill>
                  <a:srgbClr val="CC2200"/>
                </a:solidFill>
                <a:latin typeface="Geist"/>
                <a:ea typeface="Geist"/>
                <a:cs typeface="Geist"/>
              </a:rPr>
              <a:t>•  </a:t>
            </a:r>
            <a:r>
              <a:rPr sz="2400" b="0" i="0">
                <a:solidFill>
                  <a:srgbClr val="F0E8E8"/>
                </a:solidFill>
                <a:latin typeface="Geist"/>
                <a:ea typeface="Geist"/>
                <a:cs typeface="Geist"/>
              </a:rPr>
              <a:t>Each project is usually its own repo</a:t>
            </a:r>
          </a:p>
        </p:txBody>
      </p:sp>
      <p:sp>
        <p:nvSpPr>
          <p:cNvPr id="7" name="TextBox 6"/>
          <p:cNvSpPr txBox="1"/>
          <p:nvPr/>
        </p:nvSpPr>
        <p:spPr>
          <a:xfrm>
            <a:off x="914400" y="4221480"/>
            <a:ext cx="8572500" cy="396240"/>
          </a:xfrm>
          <a:prstGeom prst="rect">
            <a:avLst/>
          </a:prstGeom>
          <a:noFill/>
        </p:spPr>
        <p:txBody>
          <a:bodyPr wrap="square" lIns="0" rIns="0" tIns="0" bIns="0" anchor="t">
            <a:spAutoFit/>
          </a:bodyPr>
          <a:lstStyle/>
          <a:p>
            <a:pPr algn="l">
              <a:lnSpc>
                <a:spcPct val="125000"/>
              </a:lnSpc>
            </a:pPr>
            <a:r>
              <a:rPr sz="2400" b="1" i="0">
                <a:solidFill>
                  <a:srgbClr val="CC2200"/>
                </a:solidFill>
                <a:latin typeface="Geist"/>
                <a:ea typeface="Geist"/>
                <a:cs typeface="Geist"/>
              </a:rPr>
              <a:t>•  </a:t>
            </a:r>
            <a:r>
              <a:rPr sz="2400" b="0" i="0">
                <a:solidFill>
                  <a:srgbClr val="F0E8E8"/>
                </a:solidFill>
                <a:latin typeface="Geist"/>
                <a:ea typeface="Geist"/>
                <a:cs typeface="Geist"/>
              </a:rPr>
              <a:t>The history lives in a hidden </a:t>
            </a:r>
            <a:r>
              <a:rPr sz="2400" b="0" i="0">
                <a:solidFill>
                  <a:srgbClr val="E0785F"/>
                </a:solidFill>
                <a:latin typeface="Geist Mono"/>
                <a:ea typeface="Geist Mono"/>
                <a:cs typeface="Geist Mono"/>
              </a:rPr>
              <a:t>  .git  </a:t>
            </a:r>
            <a:r>
              <a:rPr sz="2400" b="0" i="0">
                <a:solidFill>
                  <a:srgbClr val="F0E8E8"/>
                </a:solidFill>
                <a:latin typeface="Geist"/>
                <a:ea typeface="Geist"/>
                <a:cs typeface="Geist"/>
              </a:rPr>
              <a:t> folder</a:t>
            </a:r>
          </a:p>
        </p:txBody>
      </p:sp>
      <p:sp>
        <p:nvSpPr>
          <p:cNvPr id="8" name="Rounded Rectangle 7"/>
          <p:cNvSpPr/>
          <p:nvPr/>
        </p:nvSpPr>
        <p:spPr>
          <a:xfrm>
            <a:off x="10287000" y="2857500"/>
            <a:ext cx="7086600" cy="4953000"/>
          </a:xfrm>
          <a:prstGeom prst="roundRect">
            <a:avLst>
              <a:gd name="adj" fmla="val 3076"/>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668000" y="3238500"/>
            <a:ext cx="6096000" cy="571500"/>
          </a:xfrm>
          <a:prstGeom prst="rect">
            <a:avLst/>
          </a:prstGeom>
          <a:noFill/>
        </p:spPr>
        <p:txBody>
          <a:bodyPr wrap="square" lIns="0" rIns="0" tIns="0" bIns="0" anchor="ctr">
            <a:spAutoFit/>
          </a:bodyPr>
          <a:lstStyle/>
          <a:p>
            <a:pPr algn="l"/>
            <a:r>
              <a:rPr sz="2250" b="0" i="0">
                <a:solidFill>
                  <a:srgbClr val="F0E8E8"/>
                </a:solidFill>
                <a:latin typeface="Geist Mono"/>
                <a:ea typeface="Geist Mono"/>
                <a:cs typeface="Geist Mono"/>
              </a:rPr>
              <a:t>RobotCode/</a:t>
            </a:r>
          </a:p>
        </p:txBody>
      </p:sp>
      <p:sp>
        <p:nvSpPr>
          <p:cNvPr id="10" name="TextBox 9"/>
          <p:cNvSpPr txBox="1"/>
          <p:nvPr/>
        </p:nvSpPr>
        <p:spPr>
          <a:xfrm>
            <a:off x="11087100" y="3905250"/>
            <a:ext cx="6096000" cy="571500"/>
          </a:xfrm>
          <a:prstGeom prst="rect">
            <a:avLst/>
          </a:prstGeom>
          <a:noFill/>
        </p:spPr>
        <p:txBody>
          <a:bodyPr wrap="square" lIns="0" rIns="0" tIns="0" bIns="0" anchor="ctr">
            <a:spAutoFit/>
          </a:bodyPr>
          <a:lstStyle/>
          <a:p>
            <a:pPr algn="l"/>
            <a:r>
              <a:rPr sz="2250" b="0" i="0">
                <a:solidFill>
                  <a:srgbClr val="E0785F"/>
                </a:solidFill>
                <a:latin typeface="Geist Mono"/>
                <a:ea typeface="Geist Mono"/>
                <a:cs typeface="Geist Mono"/>
              </a:rPr>
              <a:t>.git/</a:t>
            </a:r>
          </a:p>
        </p:txBody>
      </p:sp>
      <p:sp>
        <p:nvSpPr>
          <p:cNvPr id="11" name="TextBox 10"/>
          <p:cNvSpPr txBox="1"/>
          <p:nvPr/>
        </p:nvSpPr>
        <p:spPr>
          <a:xfrm>
            <a:off x="11087100" y="4572000"/>
            <a:ext cx="6096000" cy="571500"/>
          </a:xfrm>
          <a:prstGeom prst="rect">
            <a:avLst/>
          </a:prstGeom>
          <a:noFill/>
        </p:spPr>
        <p:txBody>
          <a:bodyPr wrap="square" lIns="0" rIns="0" tIns="0" bIns="0" anchor="ctr">
            <a:spAutoFit/>
          </a:bodyPr>
          <a:lstStyle/>
          <a:p>
            <a:pPr algn="l"/>
            <a:r>
              <a:rPr sz="2250" b="0" i="0">
                <a:solidFill>
                  <a:srgbClr val="F0E8E8"/>
                </a:solidFill>
                <a:latin typeface="Geist Mono"/>
                <a:ea typeface="Geist Mono"/>
                <a:cs typeface="Geist Mono"/>
              </a:rPr>
              <a:t>src/</a:t>
            </a:r>
          </a:p>
        </p:txBody>
      </p:sp>
      <p:sp>
        <p:nvSpPr>
          <p:cNvPr id="12" name="TextBox 11"/>
          <p:cNvSpPr txBox="1"/>
          <p:nvPr/>
        </p:nvSpPr>
        <p:spPr>
          <a:xfrm>
            <a:off x="11087100" y="5238750"/>
            <a:ext cx="6096000" cy="571500"/>
          </a:xfrm>
          <a:prstGeom prst="rect">
            <a:avLst/>
          </a:prstGeom>
          <a:noFill/>
        </p:spPr>
        <p:txBody>
          <a:bodyPr wrap="square" lIns="0" rIns="0" tIns="0" bIns="0" anchor="ctr">
            <a:spAutoFit/>
          </a:bodyPr>
          <a:lstStyle/>
          <a:p>
            <a:pPr algn="l"/>
            <a:r>
              <a:rPr sz="2250" b="0" i="0">
                <a:solidFill>
                  <a:srgbClr val="F0E8E8"/>
                </a:solidFill>
                <a:latin typeface="Geist Mono"/>
                <a:ea typeface="Geist Mono"/>
                <a:cs typeface="Geist Mono"/>
              </a:rPr>
              <a:t>build.gradle</a:t>
            </a:r>
          </a:p>
        </p:txBody>
      </p:sp>
      <p:sp>
        <p:nvSpPr>
          <p:cNvPr id="13" name="TextBox 12"/>
          <p:cNvSpPr txBox="1"/>
          <p:nvPr/>
        </p:nvSpPr>
        <p:spPr>
          <a:xfrm>
            <a:off x="11087100" y="5905500"/>
            <a:ext cx="6096000" cy="571500"/>
          </a:xfrm>
          <a:prstGeom prst="rect">
            <a:avLst/>
          </a:prstGeom>
          <a:noFill/>
        </p:spPr>
        <p:txBody>
          <a:bodyPr wrap="square" lIns="0" rIns="0" tIns="0" bIns="0" anchor="ctr">
            <a:spAutoFit/>
          </a:bodyPr>
          <a:lstStyle/>
          <a:p>
            <a:pPr algn="l"/>
            <a:r>
              <a:rPr sz="2250" b="0" i="0">
                <a:solidFill>
                  <a:srgbClr val="F0E8E8"/>
                </a:solidFill>
                <a:latin typeface="Geist Mono"/>
                <a:ea typeface="Geist Mono"/>
                <a:cs typeface="Geist Mono"/>
              </a:rPr>
              <a:t>README.md</a:t>
            </a:r>
          </a:p>
        </p:txBody>
      </p:sp>
      <p:sp>
        <p:nvSpPr>
          <p:cNvPr id="14" name="TextBox 13"/>
          <p:cNvSpPr txBox="1"/>
          <p:nvPr/>
        </p:nvSpPr>
        <p:spPr>
          <a:xfrm>
            <a:off x="10668000" y="6858000"/>
            <a:ext cx="6096000" cy="571500"/>
          </a:xfrm>
          <a:prstGeom prst="rect">
            <a:avLst/>
          </a:prstGeom>
          <a:noFill/>
        </p:spPr>
        <p:txBody>
          <a:bodyPr wrap="square" lIns="0" rIns="0" tIns="0" bIns="0" anchor="ctr">
            <a:spAutoFit/>
          </a:bodyPr>
          <a:lstStyle/>
          <a:p>
            <a:pPr algn="l"/>
            <a:r>
              <a:rPr sz="1650" b="0" i="0">
                <a:solidFill>
                  <a:srgbClr val="9A7878"/>
                </a:solidFill>
                <a:latin typeface="Geist"/>
                <a:ea typeface="Geist"/>
                <a:cs typeface="Geist"/>
              </a:rPr>
              <a:t>the .git folder holds every version</a:t>
            </a:r>
          </a:p>
        </p:txBody>
      </p:sp>
      <p:pic>
        <p:nvPicPr>
          <p:cNvPr id="15" name="Picture 14" descr="mw_logo_small.png"/>
          <p:cNvPicPr>
            <a:picLocks noChangeAspect="1"/>
          </p:cNvPicPr>
          <p:nvPr/>
        </p:nvPicPr>
        <p:blipFill>
          <a:blip r:embed="rId3"/>
          <a:stretch>
            <a:fillRect/>
          </a:stretch>
        </p:blipFill>
        <p:spPr>
          <a:xfrm>
            <a:off x="914400" y="9410700"/>
            <a:ext cx="583564" cy="495300"/>
          </a:xfrm>
          <a:prstGeom prst="rect">
            <a:avLst/>
          </a:prstGeom>
        </p:spPr>
      </p:pic>
      <p:sp>
        <p:nvSpPr>
          <p:cNvPr id="16" name="TextBox 15"/>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GIT BASICS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Commits: save points with a message</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5" name="Connector 4"/>
          <p:cNvCxnSpPr/>
          <p:nvPr/>
        </p:nvCxnSpPr>
        <p:spPr>
          <a:xfrm>
            <a:off x="1524000" y="3238500"/>
            <a:ext cx="0" cy="3429000"/>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sp>
        <p:nvSpPr>
          <p:cNvPr id="6" name="Oval 5"/>
          <p:cNvSpPr/>
          <p:nvPr/>
        </p:nvSpPr>
        <p:spPr>
          <a:xfrm>
            <a:off x="1333500" y="3048000"/>
            <a:ext cx="381000" cy="38100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000250" y="2990850"/>
            <a:ext cx="6667500" cy="495300"/>
          </a:xfrm>
          <a:prstGeom prst="rect">
            <a:avLst/>
          </a:prstGeom>
          <a:noFill/>
        </p:spPr>
        <p:txBody>
          <a:bodyPr wrap="square" lIns="0" rIns="0" tIns="0" bIns="0" anchor="ctr">
            <a:spAutoFit/>
          </a:bodyPr>
          <a:lstStyle/>
          <a:p>
            <a:pPr algn="l"/>
            <a:r>
              <a:rPr sz="2250" b="0" i="0">
                <a:solidFill>
                  <a:srgbClr val="F0E8E8"/>
                </a:solidFill>
                <a:latin typeface="Geist"/>
                <a:ea typeface="Geist"/>
                <a:cs typeface="Geist"/>
              </a:rPr>
              <a:t>Created Arm subsystem</a:t>
            </a:r>
          </a:p>
        </p:txBody>
      </p:sp>
      <p:sp>
        <p:nvSpPr>
          <p:cNvPr id="8" name="Oval 7"/>
          <p:cNvSpPr/>
          <p:nvPr/>
        </p:nvSpPr>
        <p:spPr>
          <a:xfrm>
            <a:off x="1333500" y="4191000"/>
            <a:ext cx="381000" cy="38100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000250" y="4133850"/>
            <a:ext cx="6667500" cy="495300"/>
          </a:xfrm>
          <a:prstGeom prst="rect">
            <a:avLst/>
          </a:prstGeom>
          <a:noFill/>
        </p:spPr>
        <p:txBody>
          <a:bodyPr wrap="square" lIns="0" rIns="0" tIns="0" bIns="0" anchor="ctr">
            <a:spAutoFit/>
          </a:bodyPr>
          <a:lstStyle/>
          <a:p>
            <a:pPr algn="l"/>
            <a:r>
              <a:rPr sz="2250" b="0" i="0">
                <a:solidFill>
                  <a:srgbClr val="F0E8E8"/>
                </a:solidFill>
                <a:latin typeface="Geist"/>
                <a:ea typeface="Geist"/>
                <a:cs typeface="Geist"/>
              </a:rPr>
              <a:t>Added arm motors</a:t>
            </a:r>
          </a:p>
        </p:txBody>
      </p:sp>
      <p:sp>
        <p:nvSpPr>
          <p:cNvPr id="10" name="Oval 9"/>
          <p:cNvSpPr/>
          <p:nvPr/>
        </p:nvSpPr>
        <p:spPr>
          <a:xfrm>
            <a:off x="1333500" y="5334000"/>
            <a:ext cx="381000" cy="38100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000250" y="5276850"/>
            <a:ext cx="6667500" cy="495300"/>
          </a:xfrm>
          <a:prstGeom prst="rect">
            <a:avLst/>
          </a:prstGeom>
          <a:noFill/>
        </p:spPr>
        <p:txBody>
          <a:bodyPr wrap="square" lIns="0" rIns="0" tIns="0" bIns="0" anchor="ctr">
            <a:spAutoFit/>
          </a:bodyPr>
          <a:lstStyle/>
          <a:p>
            <a:pPr algn="l"/>
            <a:r>
              <a:rPr sz="2250" b="0" i="0">
                <a:solidFill>
                  <a:srgbClr val="F0E8E8"/>
                </a:solidFill>
                <a:latin typeface="Geist"/>
                <a:ea typeface="Geist"/>
                <a:cs typeface="Geist"/>
              </a:rPr>
              <a:t>Added arm PID controller</a:t>
            </a:r>
          </a:p>
        </p:txBody>
      </p:sp>
      <p:sp>
        <p:nvSpPr>
          <p:cNvPr id="12" name="Oval 11"/>
          <p:cNvSpPr/>
          <p:nvPr/>
        </p:nvSpPr>
        <p:spPr>
          <a:xfrm>
            <a:off x="1333500" y="6477000"/>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000250" y="6419850"/>
            <a:ext cx="6667500" cy="495300"/>
          </a:xfrm>
          <a:prstGeom prst="rect">
            <a:avLst/>
          </a:prstGeom>
          <a:noFill/>
        </p:spPr>
        <p:txBody>
          <a:bodyPr wrap="square" lIns="0" rIns="0" tIns="0" bIns="0" anchor="ctr">
            <a:spAutoFit/>
          </a:bodyPr>
          <a:lstStyle/>
          <a:p>
            <a:pPr algn="l"/>
            <a:r>
              <a:rPr sz="2250" b="0" i="0">
                <a:solidFill>
                  <a:srgbClr val="F0E8E8"/>
                </a:solidFill>
                <a:latin typeface="Geist"/>
                <a:ea typeface="Geist"/>
                <a:cs typeface="Geist"/>
              </a:rPr>
              <a:t>Tuned arm PID controller</a:t>
            </a:r>
          </a:p>
        </p:txBody>
      </p:sp>
      <p:sp>
        <p:nvSpPr>
          <p:cNvPr id="14" name="TextBox 13"/>
          <p:cNvSpPr txBox="1"/>
          <p:nvPr/>
        </p:nvSpPr>
        <p:spPr>
          <a:xfrm>
            <a:off x="914400" y="7810500"/>
            <a:ext cx="7810500" cy="952500"/>
          </a:xfrm>
          <a:prstGeom prst="rect">
            <a:avLst/>
          </a:prstGeom>
          <a:noFill/>
        </p:spPr>
        <p:txBody>
          <a:bodyPr wrap="square" lIns="0" rIns="0" tIns="0" bIns="0" anchor="t">
            <a:spAutoFit/>
          </a:bodyPr>
          <a:lstStyle/>
          <a:p>
            <a:pPr algn="l">
              <a:lnSpc>
                <a:spcPct val="130000"/>
              </a:lnSpc>
            </a:pPr>
            <a:r>
              <a:rPr sz="1950" b="0" i="0">
                <a:solidFill>
                  <a:srgbClr val="9A7878"/>
                </a:solidFill>
                <a:latin typeface="Geist"/>
                <a:ea typeface="Geist"/>
                <a:cs typeface="Geist"/>
              </a:rPr>
              <a:t>Each commit gets an ID (a SHA), shortened to 7 characters: </a:t>
            </a:r>
            <a:r>
              <a:rPr sz="1950" b="0" i="0">
                <a:solidFill>
                  <a:srgbClr val="E0785F"/>
                </a:solidFill>
                <a:latin typeface="Geist Mono"/>
                <a:ea typeface="Geist Mono"/>
                <a:cs typeface="Geist Mono"/>
              </a:rPr>
              <a:t>2c37172</a:t>
            </a:r>
          </a:p>
        </p:txBody>
      </p:sp>
      <p:sp>
        <p:nvSpPr>
          <p:cNvPr id="15" name="Rounded Rectangle 14"/>
          <p:cNvSpPr/>
          <p:nvPr/>
        </p:nvSpPr>
        <p:spPr>
          <a:xfrm>
            <a:off x="9525000" y="2857500"/>
            <a:ext cx="7848600" cy="2857500"/>
          </a:xfrm>
          <a:prstGeom prst="roundRect">
            <a:avLst>
              <a:gd name="adj" fmla="val 5333"/>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906000" y="3143250"/>
            <a:ext cx="7086600" cy="381000"/>
          </a:xfrm>
          <a:prstGeom prst="rect">
            <a:avLst/>
          </a:prstGeom>
          <a:noFill/>
        </p:spPr>
        <p:txBody>
          <a:bodyPr wrap="square" lIns="0" rIns="0" tIns="0" bIns="0" anchor="t">
            <a:spAutoFit/>
          </a:bodyPr>
          <a:lstStyle/>
          <a:p>
            <a:pPr algn="l"/>
            <a:r>
              <a:rPr sz="1500" b="1" i="0" spc="130">
                <a:solidFill>
                  <a:srgbClr val="198754"/>
                </a:solidFill>
                <a:latin typeface="Geist"/>
                <a:ea typeface="Geist"/>
                <a:cs typeface="Geist"/>
              </a:rPr>
              <a:t>GOOD MESSAGES</a:t>
            </a:r>
          </a:p>
        </p:txBody>
      </p:sp>
      <p:sp>
        <p:nvSpPr>
          <p:cNvPr id="17" name="TextBox 16"/>
          <p:cNvSpPr txBox="1"/>
          <p:nvPr/>
        </p:nvSpPr>
        <p:spPr>
          <a:xfrm>
            <a:off x="9906000" y="3619500"/>
            <a:ext cx="7086600" cy="346710"/>
          </a:xfrm>
          <a:prstGeom prst="rect">
            <a:avLst/>
          </a:prstGeom>
          <a:noFill/>
        </p:spPr>
        <p:txBody>
          <a:bodyPr wrap="square" lIns="0" rIns="0" tIns="0" bIns="0" anchor="t">
            <a:spAutoFit/>
          </a:bodyPr>
          <a:lstStyle/>
          <a:p>
            <a:pPr algn="l">
              <a:lnSpc>
                <a:spcPct val="125000"/>
              </a:lnSpc>
            </a:pPr>
            <a:r>
              <a:rPr sz="2100" b="1" i="0">
                <a:solidFill>
                  <a:srgbClr val="CC2200"/>
                </a:solidFill>
                <a:latin typeface="Geist"/>
                <a:ea typeface="Geist"/>
                <a:cs typeface="Geist"/>
              </a:rPr>
              <a:t>•  </a:t>
            </a:r>
            <a:r>
              <a:rPr sz="2100" b="0" i="0">
                <a:solidFill>
                  <a:srgbClr val="F0E8E8"/>
                </a:solidFill>
                <a:latin typeface="Geist"/>
                <a:ea typeface="Geist"/>
                <a:cs typeface="Geist"/>
              </a:rPr>
              <a:t>Say what changed</a:t>
            </a:r>
          </a:p>
        </p:txBody>
      </p:sp>
      <p:sp>
        <p:nvSpPr>
          <p:cNvPr id="18" name="TextBox 17"/>
          <p:cNvSpPr txBox="1"/>
          <p:nvPr/>
        </p:nvSpPr>
        <p:spPr>
          <a:xfrm>
            <a:off x="9906000" y="4118610"/>
            <a:ext cx="7086600" cy="346710"/>
          </a:xfrm>
          <a:prstGeom prst="rect">
            <a:avLst/>
          </a:prstGeom>
          <a:noFill/>
        </p:spPr>
        <p:txBody>
          <a:bodyPr wrap="square" lIns="0" rIns="0" tIns="0" bIns="0" anchor="t">
            <a:spAutoFit/>
          </a:bodyPr>
          <a:lstStyle/>
          <a:p>
            <a:pPr algn="l">
              <a:lnSpc>
                <a:spcPct val="125000"/>
              </a:lnSpc>
            </a:pPr>
            <a:r>
              <a:rPr sz="2100" b="1" i="0">
                <a:solidFill>
                  <a:srgbClr val="CC2200"/>
                </a:solidFill>
                <a:latin typeface="Geist"/>
                <a:ea typeface="Geist"/>
                <a:cs typeface="Geist"/>
              </a:rPr>
              <a:t>•  </a:t>
            </a:r>
            <a:r>
              <a:rPr sz="2100" b="0" i="0">
                <a:solidFill>
                  <a:srgbClr val="F0E8E8"/>
                </a:solidFill>
                <a:latin typeface="Geist"/>
                <a:ea typeface="Geist"/>
                <a:cs typeface="Geist"/>
              </a:rPr>
              <a:t>One small step each</a:t>
            </a:r>
          </a:p>
        </p:txBody>
      </p:sp>
      <p:sp>
        <p:nvSpPr>
          <p:cNvPr id="19" name="TextBox 18"/>
          <p:cNvSpPr txBox="1"/>
          <p:nvPr/>
        </p:nvSpPr>
        <p:spPr>
          <a:xfrm>
            <a:off x="9906000" y="4617720"/>
            <a:ext cx="7086600" cy="346710"/>
          </a:xfrm>
          <a:prstGeom prst="rect">
            <a:avLst/>
          </a:prstGeom>
          <a:noFill/>
        </p:spPr>
        <p:txBody>
          <a:bodyPr wrap="square" lIns="0" rIns="0" tIns="0" bIns="0" anchor="t">
            <a:spAutoFit/>
          </a:bodyPr>
          <a:lstStyle/>
          <a:p>
            <a:pPr algn="l">
              <a:lnSpc>
                <a:spcPct val="125000"/>
              </a:lnSpc>
            </a:pPr>
            <a:r>
              <a:rPr sz="2100" b="1" i="0">
                <a:solidFill>
                  <a:srgbClr val="CC2200"/>
                </a:solidFill>
                <a:latin typeface="Geist"/>
                <a:ea typeface="Geist"/>
                <a:cs typeface="Geist"/>
              </a:rPr>
              <a:t>•  </a:t>
            </a:r>
            <a:r>
              <a:rPr sz="2100" b="0" i="0">
                <a:solidFill>
                  <a:srgbClr val="F0E8E8"/>
                </a:solidFill>
                <a:latin typeface="Geist"/>
                <a:ea typeface="Geist"/>
                <a:cs typeface="Geist"/>
              </a:rPr>
              <a:t>Fit in 52 characters, or the commit is too big</a:t>
            </a:r>
          </a:p>
        </p:txBody>
      </p:sp>
      <p:sp>
        <p:nvSpPr>
          <p:cNvPr id="20" name="Rounded Rectangle 19"/>
          <p:cNvSpPr/>
          <p:nvPr/>
        </p:nvSpPr>
        <p:spPr>
          <a:xfrm>
            <a:off x="9525000" y="6000750"/>
            <a:ext cx="7848600" cy="2762250"/>
          </a:xfrm>
          <a:prstGeom prst="roundRect">
            <a:avLst>
              <a:gd name="adj" fmla="val 5517"/>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9906000" y="6286500"/>
            <a:ext cx="7086600" cy="381000"/>
          </a:xfrm>
          <a:prstGeom prst="rect">
            <a:avLst/>
          </a:prstGeom>
          <a:noFill/>
        </p:spPr>
        <p:txBody>
          <a:bodyPr wrap="square" lIns="0" rIns="0" tIns="0" bIns="0" anchor="t">
            <a:spAutoFit/>
          </a:bodyPr>
          <a:lstStyle/>
          <a:p>
            <a:pPr algn="l"/>
            <a:r>
              <a:rPr sz="1500" b="1" i="0" spc="130">
                <a:solidFill>
                  <a:srgbClr val="E05540"/>
                </a:solidFill>
                <a:latin typeface="Geist"/>
                <a:ea typeface="Geist"/>
                <a:cs typeface="Geist"/>
              </a:rPr>
              <a:t>NOT HELPFUL</a:t>
            </a:r>
          </a:p>
        </p:txBody>
      </p:sp>
      <p:sp>
        <p:nvSpPr>
          <p:cNvPr id="22" name="TextBox 21"/>
          <p:cNvSpPr txBox="1"/>
          <p:nvPr/>
        </p:nvSpPr>
        <p:spPr>
          <a:xfrm>
            <a:off x="9906000" y="6762750"/>
            <a:ext cx="7086600" cy="1905000"/>
          </a:xfrm>
          <a:prstGeom prst="rect">
            <a:avLst/>
          </a:prstGeom>
          <a:noFill/>
        </p:spPr>
        <p:txBody>
          <a:bodyPr wrap="square" lIns="0" rIns="0" tIns="0" bIns="0" anchor="t">
            <a:spAutoFit/>
          </a:bodyPr>
          <a:lstStyle/>
          <a:p>
            <a:pPr algn="l">
              <a:lnSpc>
                <a:spcPct val="140000"/>
              </a:lnSpc>
            </a:pPr>
            <a:r>
              <a:rPr sz="2100" b="0" i="0">
                <a:solidFill>
                  <a:srgbClr val="9A7878"/>
                </a:solidFill>
                <a:latin typeface="Geist Mono"/>
                <a:ea typeface="Geist Mono"/>
                <a:cs typeface="Geist Mono"/>
              </a:rPr>
              <a:t>"stuff"</a:t>
            </a:r>
          </a:p>
          <a:p>
            <a:pPr algn="l">
              <a:lnSpc>
                <a:spcPct val="140000"/>
              </a:lnSpc>
            </a:pPr>
            <a:r>
              <a:rPr sz="2100" b="0" i="0">
                <a:solidFill>
                  <a:srgbClr val="9A7878"/>
                </a:solidFill>
                <a:latin typeface="Geist Mono"/>
                <a:ea typeface="Geist Mono"/>
                <a:cs typeface="Geist Mono"/>
              </a:rPr>
              <a:t>"fixed it"</a:t>
            </a:r>
          </a:p>
          <a:p>
            <a:pPr algn="l">
              <a:lnSpc>
                <a:spcPct val="140000"/>
              </a:lnSpc>
            </a:pPr>
            <a:r>
              <a:rPr sz="2100" b="0" i="0">
                <a:solidFill>
                  <a:srgbClr val="9A7878"/>
                </a:solidFill>
                <a:latin typeface="Geist Mono"/>
                <a:ea typeface="Geist Mono"/>
                <a:cs typeface="Geist Mono"/>
              </a:rPr>
              <a:t>"asdf"</a:t>
            </a:r>
          </a:p>
        </p:txBody>
      </p:sp>
      <p:pic>
        <p:nvPicPr>
          <p:cNvPr id="23" name="Picture 22" descr="mw_logo_small.png"/>
          <p:cNvPicPr>
            <a:picLocks noChangeAspect="1"/>
          </p:cNvPicPr>
          <p:nvPr/>
        </p:nvPicPr>
        <p:blipFill>
          <a:blip r:embed="rId3"/>
          <a:stretch>
            <a:fillRect/>
          </a:stretch>
        </p:blipFill>
        <p:spPr>
          <a:xfrm>
            <a:off x="914400" y="9410700"/>
            <a:ext cx="583564" cy="495300"/>
          </a:xfrm>
          <a:prstGeom prst="rect">
            <a:avLst/>
          </a:prstGeom>
        </p:spPr>
      </p:pic>
      <p:sp>
        <p:nvSpPr>
          <p:cNvPr id="24" name="TextBox 23"/>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GIT BASICS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Four places your code lives</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3143250"/>
            <a:ext cx="3543300" cy="2095500"/>
          </a:xfrm>
          <a:prstGeom prst="roundRect">
            <a:avLst>
              <a:gd name="adj" fmla="val 7272"/>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009650" y="3714750"/>
            <a:ext cx="3352800" cy="533400"/>
          </a:xfrm>
          <a:prstGeom prst="rect">
            <a:avLst/>
          </a:prstGeom>
          <a:noFill/>
        </p:spPr>
        <p:txBody>
          <a:bodyPr wrap="square" lIns="0" rIns="0" tIns="0" bIns="0" anchor="t">
            <a:spAutoFit/>
          </a:bodyPr>
          <a:lstStyle/>
          <a:p>
            <a:pPr algn="ctr"/>
            <a:r>
              <a:rPr sz="2550" b="1" i="0">
                <a:solidFill>
                  <a:srgbClr val="F0E8E8"/>
                </a:solidFill>
                <a:latin typeface="Geist"/>
                <a:ea typeface="Geist"/>
                <a:cs typeface="Geist"/>
              </a:rPr>
              <a:t>Working</a:t>
            </a:r>
          </a:p>
        </p:txBody>
      </p:sp>
      <p:sp>
        <p:nvSpPr>
          <p:cNvPr id="7" name="TextBox 6"/>
          <p:cNvSpPr txBox="1"/>
          <p:nvPr/>
        </p:nvSpPr>
        <p:spPr>
          <a:xfrm>
            <a:off x="1066800" y="4305300"/>
            <a:ext cx="3238500" cy="571500"/>
          </a:xfrm>
          <a:prstGeom prst="rect">
            <a:avLst/>
          </a:prstGeom>
          <a:noFill/>
        </p:spPr>
        <p:txBody>
          <a:bodyPr wrap="square" lIns="0" rIns="0" tIns="0" bIns="0" anchor="t">
            <a:spAutoFit/>
          </a:bodyPr>
          <a:lstStyle/>
          <a:p>
            <a:pPr algn="ctr">
              <a:lnSpc>
                <a:spcPct val="120000"/>
              </a:lnSpc>
            </a:pPr>
            <a:r>
              <a:rPr sz="1650" b="0" i="0">
                <a:solidFill>
                  <a:srgbClr val="9A7878"/>
                </a:solidFill>
                <a:latin typeface="Geist"/>
                <a:ea typeface="Geist"/>
                <a:cs typeface="Geist"/>
              </a:rPr>
              <a:t>Files you edit and save</a:t>
            </a:r>
          </a:p>
        </p:txBody>
      </p:sp>
      <p:cxnSp>
        <p:nvCxnSpPr>
          <p:cNvPr id="8" name="Connector 7"/>
          <p:cNvCxnSpPr/>
          <p:nvPr/>
        </p:nvCxnSpPr>
        <p:spPr>
          <a:xfrm>
            <a:off x="4533900" y="4191000"/>
            <a:ext cx="609600" cy="0"/>
          </a:xfrm>
          <a:prstGeom prst="line">
            <a:avLst/>
          </a:prstGeom>
          <a:ln w="28575">
            <a:solidFill>
              <a:srgbClr val="9A7878"/>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5219700" y="3143250"/>
            <a:ext cx="3543300" cy="2095500"/>
          </a:xfrm>
          <a:prstGeom prst="roundRect">
            <a:avLst>
              <a:gd name="adj" fmla="val 7272"/>
            </a:avLst>
          </a:prstGeom>
          <a:solidFill>
            <a:srgbClr val="111111"/>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314950" y="3714750"/>
            <a:ext cx="3352800" cy="533400"/>
          </a:xfrm>
          <a:prstGeom prst="rect">
            <a:avLst/>
          </a:prstGeom>
          <a:noFill/>
        </p:spPr>
        <p:txBody>
          <a:bodyPr wrap="square" lIns="0" rIns="0" tIns="0" bIns="0" anchor="t">
            <a:spAutoFit/>
          </a:bodyPr>
          <a:lstStyle/>
          <a:p>
            <a:pPr algn="ctr"/>
            <a:r>
              <a:rPr sz="2550" b="1" i="0">
                <a:solidFill>
                  <a:srgbClr val="F0E8E8"/>
                </a:solidFill>
                <a:latin typeface="Geist"/>
                <a:ea typeface="Geist"/>
                <a:cs typeface="Geist"/>
              </a:rPr>
              <a:t>Staged</a:t>
            </a:r>
          </a:p>
        </p:txBody>
      </p:sp>
      <p:sp>
        <p:nvSpPr>
          <p:cNvPr id="11" name="TextBox 10"/>
          <p:cNvSpPr txBox="1"/>
          <p:nvPr/>
        </p:nvSpPr>
        <p:spPr>
          <a:xfrm>
            <a:off x="5372100" y="4305300"/>
            <a:ext cx="3238500" cy="571500"/>
          </a:xfrm>
          <a:prstGeom prst="rect">
            <a:avLst/>
          </a:prstGeom>
          <a:noFill/>
        </p:spPr>
        <p:txBody>
          <a:bodyPr wrap="square" lIns="0" rIns="0" tIns="0" bIns="0" anchor="t">
            <a:spAutoFit/>
          </a:bodyPr>
          <a:lstStyle/>
          <a:p>
            <a:pPr algn="ctr">
              <a:lnSpc>
                <a:spcPct val="120000"/>
              </a:lnSpc>
            </a:pPr>
            <a:r>
              <a:rPr sz="1650" b="0" i="0">
                <a:solidFill>
                  <a:srgbClr val="9A7878"/>
                </a:solidFill>
                <a:latin typeface="Geist"/>
                <a:ea typeface="Geist"/>
                <a:cs typeface="Geist"/>
              </a:rPr>
              <a:t>Picked for the next commit</a:t>
            </a:r>
          </a:p>
        </p:txBody>
      </p:sp>
      <p:cxnSp>
        <p:nvCxnSpPr>
          <p:cNvPr id="12" name="Connector 11"/>
          <p:cNvCxnSpPr/>
          <p:nvPr/>
        </p:nvCxnSpPr>
        <p:spPr>
          <a:xfrm>
            <a:off x="8839200" y="4191000"/>
            <a:ext cx="609600" cy="0"/>
          </a:xfrm>
          <a:prstGeom prst="line">
            <a:avLst/>
          </a:prstGeom>
          <a:ln w="28575">
            <a:solidFill>
              <a:srgbClr val="9A787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9525000" y="3143250"/>
            <a:ext cx="3543300" cy="2095500"/>
          </a:xfrm>
          <a:prstGeom prst="roundRect">
            <a:avLst>
              <a:gd name="adj" fmla="val 7272"/>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620250" y="3714750"/>
            <a:ext cx="3352800" cy="533400"/>
          </a:xfrm>
          <a:prstGeom prst="rect">
            <a:avLst/>
          </a:prstGeom>
          <a:noFill/>
        </p:spPr>
        <p:txBody>
          <a:bodyPr wrap="square" lIns="0" rIns="0" tIns="0" bIns="0" anchor="t">
            <a:spAutoFit/>
          </a:bodyPr>
          <a:lstStyle/>
          <a:p>
            <a:pPr algn="ctr"/>
            <a:r>
              <a:rPr sz="2550" b="1" i="0">
                <a:solidFill>
                  <a:srgbClr val="F0E8E8"/>
                </a:solidFill>
                <a:latin typeface="Geist"/>
                <a:ea typeface="Geist"/>
                <a:cs typeface="Geist"/>
              </a:rPr>
              <a:t>Local repo</a:t>
            </a:r>
          </a:p>
        </p:txBody>
      </p:sp>
      <p:sp>
        <p:nvSpPr>
          <p:cNvPr id="15" name="TextBox 14"/>
          <p:cNvSpPr txBox="1"/>
          <p:nvPr/>
        </p:nvSpPr>
        <p:spPr>
          <a:xfrm>
            <a:off x="9677400" y="4305300"/>
            <a:ext cx="3238500" cy="571500"/>
          </a:xfrm>
          <a:prstGeom prst="rect">
            <a:avLst/>
          </a:prstGeom>
          <a:noFill/>
        </p:spPr>
        <p:txBody>
          <a:bodyPr wrap="square" lIns="0" rIns="0" tIns="0" bIns="0" anchor="t">
            <a:spAutoFit/>
          </a:bodyPr>
          <a:lstStyle/>
          <a:p>
            <a:pPr algn="ctr">
              <a:lnSpc>
                <a:spcPct val="120000"/>
              </a:lnSpc>
            </a:pPr>
            <a:r>
              <a:rPr sz="1650" b="0" i="0">
                <a:solidFill>
                  <a:srgbClr val="9A7878"/>
                </a:solidFill>
                <a:latin typeface="Geist"/>
                <a:ea typeface="Geist"/>
                <a:cs typeface="Geist"/>
              </a:rPr>
              <a:t>Commits on your computer</a:t>
            </a:r>
          </a:p>
        </p:txBody>
      </p:sp>
      <p:cxnSp>
        <p:nvCxnSpPr>
          <p:cNvPr id="16" name="Connector 15"/>
          <p:cNvCxnSpPr/>
          <p:nvPr/>
        </p:nvCxnSpPr>
        <p:spPr>
          <a:xfrm>
            <a:off x="13144500" y="4191000"/>
            <a:ext cx="609600" cy="0"/>
          </a:xfrm>
          <a:prstGeom prst="line">
            <a:avLst/>
          </a:prstGeom>
          <a:ln w="28575">
            <a:solidFill>
              <a:srgbClr val="9A787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13830300" y="3143250"/>
            <a:ext cx="3543300" cy="2095500"/>
          </a:xfrm>
          <a:prstGeom prst="roundRect">
            <a:avLst>
              <a:gd name="adj" fmla="val 7272"/>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13925550" y="3714750"/>
            <a:ext cx="3352800" cy="533400"/>
          </a:xfrm>
          <a:prstGeom prst="rect">
            <a:avLst/>
          </a:prstGeom>
          <a:noFill/>
        </p:spPr>
        <p:txBody>
          <a:bodyPr wrap="square" lIns="0" rIns="0" tIns="0" bIns="0" anchor="t">
            <a:spAutoFit/>
          </a:bodyPr>
          <a:lstStyle/>
          <a:p>
            <a:pPr algn="ctr"/>
            <a:r>
              <a:rPr sz="2550" b="1" i="0">
                <a:solidFill>
                  <a:srgbClr val="F0E8E8"/>
                </a:solidFill>
                <a:latin typeface="Geist"/>
                <a:ea typeface="Geist"/>
                <a:cs typeface="Geist"/>
              </a:rPr>
              <a:t>Remote</a:t>
            </a:r>
          </a:p>
        </p:txBody>
      </p:sp>
      <p:sp>
        <p:nvSpPr>
          <p:cNvPr id="19" name="TextBox 18"/>
          <p:cNvSpPr txBox="1"/>
          <p:nvPr/>
        </p:nvSpPr>
        <p:spPr>
          <a:xfrm>
            <a:off x="13982700" y="4305300"/>
            <a:ext cx="3238500" cy="571500"/>
          </a:xfrm>
          <a:prstGeom prst="rect">
            <a:avLst/>
          </a:prstGeom>
          <a:noFill/>
        </p:spPr>
        <p:txBody>
          <a:bodyPr wrap="square" lIns="0" rIns="0" tIns="0" bIns="0" anchor="t">
            <a:spAutoFit/>
          </a:bodyPr>
          <a:lstStyle/>
          <a:p>
            <a:pPr algn="ctr">
              <a:lnSpc>
                <a:spcPct val="120000"/>
              </a:lnSpc>
            </a:pPr>
            <a:r>
              <a:rPr sz="1650" b="0" i="0">
                <a:solidFill>
                  <a:srgbClr val="9A7878"/>
                </a:solidFill>
                <a:latin typeface="Geist"/>
                <a:ea typeface="Geist"/>
                <a:cs typeface="Geist"/>
              </a:rPr>
              <a:t>The team's copy on GitHub</a:t>
            </a:r>
          </a:p>
        </p:txBody>
      </p:sp>
      <p:sp>
        <p:nvSpPr>
          <p:cNvPr id="20" name="TextBox 19"/>
          <p:cNvSpPr txBox="1"/>
          <p:nvPr/>
        </p:nvSpPr>
        <p:spPr>
          <a:xfrm>
            <a:off x="4076700" y="2667000"/>
            <a:ext cx="1524000" cy="381000"/>
          </a:xfrm>
          <a:prstGeom prst="rect">
            <a:avLst/>
          </a:prstGeom>
          <a:noFill/>
        </p:spPr>
        <p:txBody>
          <a:bodyPr wrap="square" lIns="0" rIns="0" tIns="0" bIns="0" anchor="t">
            <a:spAutoFit/>
          </a:bodyPr>
          <a:lstStyle/>
          <a:p>
            <a:pPr algn="ctr"/>
            <a:r>
              <a:rPr sz="1500" b="0" i="0">
                <a:solidFill>
                  <a:srgbClr val="E0785F"/>
                </a:solidFill>
                <a:latin typeface="Geist Mono"/>
                <a:ea typeface="Geist Mono"/>
                <a:cs typeface="Geist Mono"/>
              </a:rPr>
              <a:t>git add</a:t>
            </a:r>
          </a:p>
        </p:txBody>
      </p:sp>
      <p:sp>
        <p:nvSpPr>
          <p:cNvPr id="21" name="TextBox 20"/>
          <p:cNvSpPr txBox="1"/>
          <p:nvPr/>
        </p:nvSpPr>
        <p:spPr>
          <a:xfrm>
            <a:off x="8382000" y="2667000"/>
            <a:ext cx="1524000" cy="381000"/>
          </a:xfrm>
          <a:prstGeom prst="rect">
            <a:avLst/>
          </a:prstGeom>
          <a:noFill/>
        </p:spPr>
        <p:txBody>
          <a:bodyPr wrap="square" lIns="0" rIns="0" tIns="0" bIns="0" anchor="t">
            <a:spAutoFit/>
          </a:bodyPr>
          <a:lstStyle/>
          <a:p>
            <a:pPr algn="ctr"/>
            <a:r>
              <a:rPr sz="1500" b="0" i="0">
                <a:solidFill>
                  <a:srgbClr val="E0785F"/>
                </a:solidFill>
                <a:latin typeface="Geist Mono"/>
                <a:ea typeface="Geist Mono"/>
                <a:cs typeface="Geist Mono"/>
              </a:rPr>
              <a:t>git commit</a:t>
            </a:r>
          </a:p>
        </p:txBody>
      </p:sp>
      <p:sp>
        <p:nvSpPr>
          <p:cNvPr id="22" name="TextBox 21"/>
          <p:cNvSpPr txBox="1"/>
          <p:nvPr/>
        </p:nvSpPr>
        <p:spPr>
          <a:xfrm>
            <a:off x="12687300" y="2667000"/>
            <a:ext cx="1524000" cy="381000"/>
          </a:xfrm>
          <a:prstGeom prst="rect">
            <a:avLst/>
          </a:prstGeom>
          <a:noFill/>
        </p:spPr>
        <p:txBody>
          <a:bodyPr wrap="square" lIns="0" rIns="0" tIns="0" bIns="0" anchor="t">
            <a:spAutoFit/>
          </a:bodyPr>
          <a:lstStyle/>
          <a:p>
            <a:pPr algn="ctr"/>
            <a:r>
              <a:rPr sz="1500" b="0" i="0">
                <a:solidFill>
                  <a:srgbClr val="E0785F"/>
                </a:solidFill>
                <a:latin typeface="Geist Mono"/>
                <a:ea typeface="Geist Mono"/>
                <a:cs typeface="Geist Mono"/>
              </a:rPr>
              <a:t>git push</a:t>
            </a:r>
          </a:p>
        </p:txBody>
      </p:sp>
      <p:sp>
        <p:nvSpPr>
          <p:cNvPr id="23" name="TextBox 22"/>
          <p:cNvSpPr txBox="1"/>
          <p:nvPr/>
        </p:nvSpPr>
        <p:spPr>
          <a:xfrm>
            <a:off x="914400" y="5715000"/>
            <a:ext cx="16459200" cy="38100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THE EVERYDAY ROUTINE</a:t>
            </a:r>
          </a:p>
        </p:txBody>
      </p:sp>
      <p:sp>
        <p:nvSpPr>
          <p:cNvPr id="24" name="Rounded Rectangle 23"/>
          <p:cNvSpPr/>
          <p:nvPr/>
        </p:nvSpPr>
        <p:spPr>
          <a:xfrm>
            <a:off x="914400" y="6191250"/>
            <a:ext cx="3048000" cy="914400"/>
          </a:xfrm>
          <a:prstGeom prst="roundRect">
            <a:avLst>
              <a:gd name="adj" fmla="val 12500"/>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914400" y="6191250"/>
            <a:ext cx="3048000" cy="914400"/>
          </a:xfrm>
          <a:prstGeom prst="rect">
            <a:avLst/>
          </a:prstGeom>
          <a:noFill/>
        </p:spPr>
        <p:txBody>
          <a:bodyPr wrap="square" lIns="0" rIns="0" tIns="0" bIns="0" anchor="ctr">
            <a:spAutoFit/>
          </a:bodyPr>
          <a:lstStyle/>
          <a:p>
            <a:pPr algn="ctr"/>
            <a:r>
              <a:rPr sz="2250" b="1" i="0">
                <a:solidFill>
                  <a:srgbClr val="F0E8E8"/>
                </a:solidFill>
                <a:latin typeface="Geist"/>
                <a:ea typeface="Geist"/>
                <a:cs typeface="Geist"/>
              </a:rPr>
              <a:t>1  Edit</a:t>
            </a:r>
          </a:p>
        </p:txBody>
      </p:sp>
      <p:sp>
        <p:nvSpPr>
          <p:cNvPr id="26" name="Rounded Rectangle 25"/>
          <p:cNvSpPr/>
          <p:nvPr/>
        </p:nvSpPr>
        <p:spPr>
          <a:xfrm>
            <a:off x="4267200" y="6191250"/>
            <a:ext cx="3048000" cy="914400"/>
          </a:xfrm>
          <a:prstGeom prst="roundRect">
            <a:avLst>
              <a:gd name="adj" fmla="val 12500"/>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4267200" y="6191250"/>
            <a:ext cx="3048000" cy="914400"/>
          </a:xfrm>
          <a:prstGeom prst="rect">
            <a:avLst/>
          </a:prstGeom>
          <a:noFill/>
        </p:spPr>
        <p:txBody>
          <a:bodyPr wrap="square" lIns="0" rIns="0" tIns="0" bIns="0" anchor="ctr">
            <a:spAutoFit/>
          </a:bodyPr>
          <a:lstStyle/>
          <a:p>
            <a:pPr algn="ctr"/>
            <a:r>
              <a:rPr sz="2250" b="1" i="0">
                <a:solidFill>
                  <a:srgbClr val="F0E8E8"/>
                </a:solidFill>
                <a:latin typeface="Geist"/>
                <a:ea typeface="Geist"/>
                <a:cs typeface="Geist"/>
              </a:rPr>
              <a:t>2  Save</a:t>
            </a:r>
          </a:p>
        </p:txBody>
      </p:sp>
      <p:sp>
        <p:nvSpPr>
          <p:cNvPr id="28" name="Rounded Rectangle 27"/>
          <p:cNvSpPr/>
          <p:nvPr/>
        </p:nvSpPr>
        <p:spPr>
          <a:xfrm>
            <a:off x="7620000" y="6191250"/>
            <a:ext cx="3048000" cy="914400"/>
          </a:xfrm>
          <a:prstGeom prst="roundRect">
            <a:avLst>
              <a:gd name="adj" fmla="val 12500"/>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7620000" y="6191250"/>
            <a:ext cx="3048000" cy="914400"/>
          </a:xfrm>
          <a:prstGeom prst="rect">
            <a:avLst/>
          </a:prstGeom>
          <a:noFill/>
        </p:spPr>
        <p:txBody>
          <a:bodyPr wrap="square" lIns="0" rIns="0" tIns="0" bIns="0" anchor="ctr">
            <a:spAutoFit/>
          </a:bodyPr>
          <a:lstStyle/>
          <a:p>
            <a:pPr algn="ctr"/>
            <a:r>
              <a:rPr sz="2250" b="1" i="0">
                <a:solidFill>
                  <a:srgbClr val="F0E8E8"/>
                </a:solidFill>
                <a:latin typeface="Geist"/>
                <a:ea typeface="Geist"/>
                <a:cs typeface="Geist"/>
              </a:rPr>
              <a:t>3  Stage +</a:t>
            </a:r>
          </a:p>
        </p:txBody>
      </p:sp>
      <p:sp>
        <p:nvSpPr>
          <p:cNvPr id="30" name="Rounded Rectangle 29"/>
          <p:cNvSpPr/>
          <p:nvPr/>
        </p:nvSpPr>
        <p:spPr>
          <a:xfrm>
            <a:off x="10972800" y="6191250"/>
            <a:ext cx="3048000" cy="914400"/>
          </a:xfrm>
          <a:prstGeom prst="roundRect">
            <a:avLst>
              <a:gd name="adj" fmla="val 12500"/>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10972800" y="6191250"/>
            <a:ext cx="3048000" cy="914400"/>
          </a:xfrm>
          <a:prstGeom prst="rect">
            <a:avLst/>
          </a:prstGeom>
          <a:noFill/>
        </p:spPr>
        <p:txBody>
          <a:bodyPr wrap="square" lIns="0" rIns="0" tIns="0" bIns="0" anchor="ctr">
            <a:spAutoFit/>
          </a:bodyPr>
          <a:lstStyle/>
          <a:p>
            <a:pPr algn="ctr"/>
            <a:r>
              <a:rPr sz="2250" b="1" i="0">
                <a:solidFill>
                  <a:srgbClr val="F0E8E8"/>
                </a:solidFill>
                <a:latin typeface="Geist"/>
                <a:ea typeface="Geist"/>
                <a:cs typeface="Geist"/>
              </a:rPr>
              <a:t>4  Message</a:t>
            </a:r>
          </a:p>
        </p:txBody>
      </p:sp>
      <p:sp>
        <p:nvSpPr>
          <p:cNvPr id="32" name="Rounded Rectangle 31"/>
          <p:cNvSpPr/>
          <p:nvPr/>
        </p:nvSpPr>
        <p:spPr>
          <a:xfrm>
            <a:off x="14325600" y="6191250"/>
            <a:ext cx="3048000" cy="914400"/>
          </a:xfrm>
          <a:prstGeom prst="roundRect">
            <a:avLst>
              <a:gd name="adj" fmla="val 12500"/>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4325600" y="6191250"/>
            <a:ext cx="3048000" cy="914400"/>
          </a:xfrm>
          <a:prstGeom prst="rect">
            <a:avLst/>
          </a:prstGeom>
          <a:noFill/>
        </p:spPr>
        <p:txBody>
          <a:bodyPr wrap="square" lIns="0" rIns="0" tIns="0" bIns="0" anchor="ctr">
            <a:spAutoFit/>
          </a:bodyPr>
          <a:lstStyle/>
          <a:p>
            <a:pPr algn="ctr"/>
            <a:r>
              <a:rPr sz="2250" b="1" i="0">
                <a:solidFill>
                  <a:srgbClr val="F0E8E8"/>
                </a:solidFill>
                <a:latin typeface="Geist"/>
                <a:ea typeface="Geist"/>
                <a:cs typeface="Geist"/>
              </a:rPr>
              <a:t>5  Commit</a:t>
            </a:r>
          </a:p>
        </p:txBody>
      </p:sp>
      <p:sp>
        <p:nvSpPr>
          <p:cNvPr id="34" name="TextBox 33"/>
          <p:cNvSpPr txBox="1"/>
          <p:nvPr/>
        </p:nvSpPr>
        <p:spPr>
          <a:xfrm>
            <a:off x="914400" y="7524750"/>
            <a:ext cx="16459200" cy="381000"/>
          </a:xfrm>
          <a:prstGeom prst="rect">
            <a:avLst/>
          </a:prstGeom>
          <a:noFill/>
        </p:spPr>
        <p:txBody>
          <a:bodyPr wrap="square" lIns="0" rIns="0" tIns="0" bIns="0" anchor="t">
            <a:spAutoFit/>
          </a:bodyPr>
          <a:lstStyle/>
          <a:p>
            <a:pPr algn="l"/>
            <a:r>
              <a:rPr sz="1950" b="0" i="0">
                <a:solidFill>
                  <a:srgbClr val="9A7878"/>
                </a:solidFill>
                <a:latin typeface="Geist"/>
                <a:ea typeface="Geist"/>
                <a:cs typeface="Geist"/>
              </a:rPr>
              <a:t>In the editor, every step is a button in Source Control (the branch icon on the left).</a:t>
            </a:r>
          </a:p>
        </p:txBody>
      </p:sp>
      <p:pic>
        <p:nvPicPr>
          <p:cNvPr id="35" name="Picture 34" descr="mw_logo_small.png"/>
          <p:cNvPicPr>
            <a:picLocks noChangeAspect="1"/>
          </p:cNvPicPr>
          <p:nvPr/>
        </p:nvPicPr>
        <p:blipFill>
          <a:blip r:embed="rId3"/>
          <a:stretch>
            <a:fillRect/>
          </a:stretch>
        </p:blipFill>
        <p:spPr>
          <a:xfrm>
            <a:off x="914400" y="9410700"/>
            <a:ext cx="583564" cy="495300"/>
          </a:xfrm>
          <a:prstGeom prst="rect">
            <a:avLst/>
          </a:prstGeom>
        </p:spPr>
      </p:pic>
      <p:sp>
        <p:nvSpPr>
          <p:cNvPr id="36" name="TextBox 35"/>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GIT BASICS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Branches: parallel lines of work</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14400" y="2857500"/>
            <a:ext cx="5715000" cy="371475"/>
          </a:xfrm>
          <a:prstGeom prst="rect">
            <a:avLst/>
          </a:prstGeom>
          <a:noFill/>
        </p:spPr>
        <p:txBody>
          <a:bodyPr wrap="square" lIns="0" rIns="0" tIns="0" bIns="0" anchor="t">
            <a:spAutoFit/>
          </a:bodyPr>
          <a:lstStyle/>
          <a:p>
            <a:pPr algn="l">
              <a:lnSpc>
                <a:spcPct val="125000"/>
              </a:lnSpc>
            </a:pPr>
            <a:r>
              <a:rPr sz="2250" b="1" i="0">
                <a:solidFill>
                  <a:srgbClr val="CC2200"/>
                </a:solidFill>
                <a:latin typeface="Geist"/>
                <a:ea typeface="Geist"/>
                <a:cs typeface="Geist"/>
              </a:rPr>
              <a:t>•  </a:t>
            </a:r>
            <a:r>
              <a:rPr sz="2250" b="0" i="0">
                <a:solidFill>
                  <a:srgbClr val="F0E8E8"/>
                </a:solidFill>
                <a:latin typeface="Geist"/>
                <a:ea typeface="Geist"/>
                <a:cs typeface="Geist"/>
              </a:rPr>
              <a:t>Your own line of work</a:t>
            </a:r>
          </a:p>
        </p:txBody>
      </p:sp>
      <p:sp>
        <p:nvSpPr>
          <p:cNvPr id="6" name="TextBox 5"/>
          <p:cNvSpPr txBox="1"/>
          <p:nvPr/>
        </p:nvSpPr>
        <p:spPr>
          <a:xfrm>
            <a:off x="914400" y="3514725"/>
            <a:ext cx="5715000" cy="371475"/>
          </a:xfrm>
          <a:prstGeom prst="rect">
            <a:avLst/>
          </a:prstGeom>
          <a:noFill/>
        </p:spPr>
        <p:txBody>
          <a:bodyPr wrap="square" lIns="0" rIns="0" tIns="0" bIns="0" anchor="t">
            <a:spAutoFit/>
          </a:bodyPr>
          <a:lstStyle/>
          <a:p>
            <a:pPr algn="l">
              <a:lnSpc>
                <a:spcPct val="125000"/>
              </a:lnSpc>
            </a:pPr>
            <a:r>
              <a:rPr sz="2250" b="1" i="0">
                <a:solidFill>
                  <a:srgbClr val="CC2200"/>
                </a:solidFill>
                <a:latin typeface="Geist"/>
                <a:ea typeface="Geist"/>
                <a:cs typeface="Geist"/>
              </a:rPr>
              <a:t>•  </a:t>
            </a:r>
            <a:r>
              <a:rPr sz="2250" b="0" i="0">
                <a:solidFill>
                  <a:srgbClr val="F0E8E8"/>
                </a:solidFill>
                <a:latin typeface="Geist"/>
                <a:ea typeface="Geist"/>
                <a:cs typeface="Geist"/>
              </a:rPr>
              <a:t>Starts from a commit on another branch</a:t>
            </a:r>
          </a:p>
        </p:txBody>
      </p:sp>
      <p:sp>
        <p:nvSpPr>
          <p:cNvPr id="7" name="TextBox 6"/>
          <p:cNvSpPr txBox="1"/>
          <p:nvPr/>
        </p:nvSpPr>
        <p:spPr>
          <a:xfrm>
            <a:off x="914400" y="4171950"/>
            <a:ext cx="5715000" cy="371475"/>
          </a:xfrm>
          <a:prstGeom prst="rect">
            <a:avLst/>
          </a:prstGeom>
          <a:noFill/>
        </p:spPr>
        <p:txBody>
          <a:bodyPr wrap="square" lIns="0" rIns="0" tIns="0" bIns="0" anchor="t">
            <a:spAutoFit/>
          </a:bodyPr>
          <a:lstStyle/>
          <a:p>
            <a:pPr algn="l">
              <a:lnSpc>
                <a:spcPct val="125000"/>
              </a:lnSpc>
            </a:pPr>
            <a:r>
              <a:rPr sz="2250" b="1" i="0">
                <a:solidFill>
                  <a:srgbClr val="CC2200"/>
                </a:solidFill>
                <a:latin typeface="Geist"/>
                <a:ea typeface="Geist"/>
                <a:cs typeface="Geist"/>
              </a:rPr>
              <a:t>•  </a:t>
            </a:r>
            <a:r>
              <a:rPr sz="2250" b="0" i="0">
                <a:solidFill>
                  <a:srgbClr val="F0E8E8"/>
                </a:solidFill>
                <a:latin typeface="Geist"/>
                <a:ea typeface="Geist"/>
                <a:cs typeface="Geist"/>
              </a:rPr>
              <a:t>Always branch for a new feature</a:t>
            </a:r>
          </a:p>
        </p:txBody>
      </p:sp>
      <p:sp>
        <p:nvSpPr>
          <p:cNvPr id="8" name="TextBox 7"/>
          <p:cNvSpPr txBox="1"/>
          <p:nvPr/>
        </p:nvSpPr>
        <p:spPr>
          <a:xfrm>
            <a:off x="914400" y="4829175"/>
            <a:ext cx="5715000" cy="371475"/>
          </a:xfrm>
          <a:prstGeom prst="rect">
            <a:avLst/>
          </a:prstGeom>
          <a:noFill/>
        </p:spPr>
        <p:txBody>
          <a:bodyPr wrap="square" lIns="0" rIns="0" tIns="0" bIns="0" anchor="t">
            <a:spAutoFit/>
          </a:bodyPr>
          <a:lstStyle/>
          <a:p>
            <a:pPr algn="l">
              <a:lnSpc>
                <a:spcPct val="125000"/>
              </a:lnSpc>
            </a:pPr>
            <a:r>
              <a:rPr sz="2250" b="1" i="0">
                <a:solidFill>
                  <a:srgbClr val="CC2200"/>
                </a:solidFill>
                <a:latin typeface="Geist"/>
                <a:ea typeface="Geist"/>
                <a:cs typeface="Geist"/>
              </a:rPr>
              <a:t>•  </a:t>
            </a:r>
            <a:r>
              <a:rPr sz="2250" b="0" i="0">
                <a:solidFill>
                  <a:srgbClr val="F0E8E8"/>
                </a:solidFill>
                <a:latin typeface="Geist"/>
                <a:ea typeface="Geist"/>
                <a:cs typeface="Geist"/>
              </a:rPr>
              <a:t>Lets people work in parallel</a:t>
            </a:r>
          </a:p>
        </p:txBody>
      </p:sp>
      <p:sp>
        <p:nvSpPr>
          <p:cNvPr id="9" name="Rounded Rectangle 8"/>
          <p:cNvSpPr/>
          <p:nvPr/>
        </p:nvSpPr>
        <p:spPr>
          <a:xfrm>
            <a:off x="7239000" y="2857500"/>
            <a:ext cx="10134600" cy="5334000"/>
          </a:xfrm>
          <a:prstGeom prst="roundRect">
            <a:avLst>
              <a:gd name="adj" fmla="val 2857"/>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ounded Rectangle 9"/>
          <p:cNvSpPr/>
          <p:nvPr/>
        </p:nvSpPr>
        <p:spPr>
          <a:xfrm>
            <a:off x="7543800" y="3714750"/>
            <a:ext cx="2190750" cy="571500"/>
          </a:xfrm>
          <a:prstGeom prst="roundRect">
            <a:avLst>
              <a:gd name="adj" fmla="val 50000"/>
            </a:avLst>
          </a:prstGeom>
          <a:solidFill>
            <a:srgbClr val="111111"/>
          </a:solidFill>
          <a:ln w="19050">
            <a:solidFill>
              <a:srgbClr val="F0E8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543800" y="3714750"/>
            <a:ext cx="2190750" cy="571500"/>
          </a:xfrm>
          <a:prstGeom prst="rect">
            <a:avLst/>
          </a:prstGeom>
          <a:noFill/>
        </p:spPr>
        <p:txBody>
          <a:bodyPr wrap="square" lIns="0" rIns="0" tIns="0" bIns="0" anchor="ctr">
            <a:spAutoFit/>
          </a:bodyPr>
          <a:lstStyle/>
          <a:p>
            <a:pPr algn="ctr"/>
            <a:r>
              <a:rPr sz="1800" b="0" i="0">
                <a:solidFill>
                  <a:srgbClr val="F0E8E8"/>
                </a:solidFill>
                <a:latin typeface="Geist Mono"/>
                <a:ea typeface="Geist Mono"/>
                <a:cs typeface="Geist Mono"/>
              </a:rPr>
              <a:t>main</a:t>
            </a:r>
          </a:p>
        </p:txBody>
      </p:sp>
      <p:cxnSp>
        <p:nvCxnSpPr>
          <p:cNvPr id="12" name="Connector 11"/>
          <p:cNvCxnSpPr/>
          <p:nvPr/>
        </p:nvCxnSpPr>
        <p:spPr>
          <a:xfrm>
            <a:off x="10287000" y="4000500"/>
            <a:ext cx="6477000" cy="0"/>
          </a:xfrm>
          <a:prstGeom prst="line">
            <a:avLst/>
          </a:prstGeom>
          <a:ln w="57150">
            <a:solidFill>
              <a:srgbClr val="F0E8E8"/>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7543800" y="5238750"/>
            <a:ext cx="2190750" cy="571500"/>
          </a:xfrm>
          <a:prstGeom prst="roundRect">
            <a:avLst>
              <a:gd name="adj" fmla="val 50000"/>
            </a:avLst>
          </a:prstGeom>
          <a:solidFill>
            <a:srgbClr val="111111"/>
          </a:solidFill>
          <a:ln w="19050">
            <a:solidFill>
              <a:srgbClr val="6FA8D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7543800" y="5238750"/>
            <a:ext cx="2190750" cy="571500"/>
          </a:xfrm>
          <a:prstGeom prst="rect">
            <a:avLst/>
          </a:prstGeom>
          <a:noFill/>
        </p:spPr>
        <p:txBody>
          <a:bodyPr wrap="square" lIns="0" rIns="0" tIns="0" bIns="0" anchor="ctr">
            <a:spAutoFit/>
          </a:bodyPr>
          <a:lstStyle/>
          <a:p>
            <a:pPr algn="ctr"/>
            <a:r>
              <a:rPr sz="1800" b="0" i="0">
                <a:solidFill>
                  <a:srgbClr val="6FA8DC"/>
                </a:solidFill>
                <a:latin typeface="Geist Mono"/>
                <a:ea typeface="Geist Mono"/>
                <a:cs typeface="Geist Mono"/>
              </a:rPr>
              <a:t>bugfix</a:t>
            </a:r>
          </a:p>
        </p:txBody>
      </p:sp>
      <p:cxnSp>
        <p:nvCxnSpPr>
          <p:cNvPr id="15" name="Connector 14"/>
          <p:cNvCxnSpPr/>
          <p:nvPr/>
        </p:nvCxnSpPr>
        <p:spPr>
          <a:xfrm>
            <a:off x="14287500" y="5524500"/>
            <a:ext cx="1333500" cy="0"/>
          </a:xfrm>
          <a:prstGeom prst="line">
            <a:avLst/>
          </a:prstGeom>
          <a:ln w="57150">
            <a:solidFill>
              <a:srgbClr val="6FA8DC"/>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7543800" y="6762750"/>
            <a:ext cx="2190750" cy="571500"/>
          </a:xfrm>
          <a:prstGeom prst="roundRect">
            <a:avLst>
              <a:gd name="adj" fmla="val 50000"/>
            </a:avLst>
          </a:prstGeom>
          <a:solidFill>
            <a:srgbClr val="111111"/>
          </a:solidFill>
          <a:ln w="19050">
            <a:solidFill>
              <a:srgbClr val="E055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7543800" y="6762750"/>
            <a:ext cx="2190750" cy="571500"/>
          </a:xfrm>
          <a:prstGeom prst="rect">
            <a:avLst/>
          </a:prstGeom>
          <a:noFill/>
        </p:spPr>
        <p:txBody>
          <a:bodyPr wrap="square" lIns="0" rIns="0" tIns="0" bIns="0" anchor="ctr">
            <a:spAutoFit/>
          </a:bodyPr>
          <a:lstStyle/>
          <a:p>
            <a:pPr algn="ctr"/>
            <a:r>
              <a:rPr sz="1800" b="0" i="0">
                <a:solidFill>
                  <a:srgbClr val="E05540"/>
                </a:solidFill>
                <a:latin typeface="Geist Mono"/>
                <a:ea typeface="Geist Mono"/>
                <a:cs typeface="Geist Mono"/>
              </a:rPr>
              <a:t>new-feature</a:t>
            </a:r>
          </a:p>
        </p:txBody>
      </p:sp>
      <p:cxnSp>
        <p:nvCxnSpPr>
          <p:cNvPr id="18" name="Connector 17"/>
          <p:cNvCxnSpPr/>
          <p:nvPr/>
        </p:nvCxnSpPr>
        <p:spPr>
          <a:xfrm>
            <a:off x="12954000" y="7048500"/>
            <a:ext cx="4000500" cy="0"/>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12954000" y="4000500"/>
            <a:ext cx="133156" cy="22216"/>
          </a:xfrm>
          <a:prstGeom prst="line">
            <a:avLst/>
          </a:prstGeom>
          <a:ln w="57150">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13087156" y="4022716"/>
            <a:ext cx="115660" cy="62204"/>
          </a:xfrm>
          <a:prstGeom prst="line">
            <a:avLst/>
          </a:prstGeom>
          <a:ln w="57150">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13202816" y="4084920"/>
            <a:ext cx="101082" cy="95528"/>
          </a:xfrm>
          <a:prstGeom prst="line">
            <a:avLst/>
          </a:prstGeom>
          <a:ln w="57150">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13303898" y="4180448"/>
            <a:ext cx="89418" cy="122186"/>
          </a:xfrm>
          <a:prstGeom prst="line">
            <a:avLst/>
          </a:prstGeom>
          <a:ln w="57150">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13393316" y="4302634"/>
            <a:ext cx="80671" cy="142181"/>
          </a:xfrm>
          <a:prstGeom prst="line">
            <a:avLst/>
          </a:prstGeom>
          <a:ln w="57150">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13473987" y="4444815"/>
            <a:ext cx="74840" cy="155510"/>
          </a:xfrm>
          <a:prstGeom prst="line">
            <a:avLst/>
          </a:prstGeom>
          <a:ln w="57150">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13548827" y="4600325"/>
            <a:ext cx="71923" cy="162175"/>
          </a:xfrm>
          <a:prstGeom prst="line">
            <a:avLst/>
          </a:prstGeom>
          <a:ln w="57150">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13620750" y="4762500"/>
            <a:ext cx="71923" cy="162175"/>
          </a:xfrm>
          <a:prstGeom prst="line">
            <a:avLst/>
          </a:prstGeom>
          <a:ln w="57150">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13692673" y="4924675"/>
            <a:ext cx="74840" cy="155510"/>
          </a:xfrm>
          <a:prstGeom prst="line">
            <a:avLst/>
          </a:prstGeom>
          <a:ln w="57150">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13767513" y="5080185"/>
            <a:ext cx="80671" cy="142181"/>
          </a:xfrm>
          <a:prstGeom prst="line">
            <a:avLst/>
          </a:prstGeom>
          <a:ln w="57150">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13848184" y="5222366"/>
            <a:ext cx="89418" cy="122186"/>
          </a:xfrm>
          <a:prstGeom prst="line">
            <a:avLst/>
          </a:prstGeom>
          <a:ln w="57150">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13937602" y="5344552"/>
            <a:ext cx="101082" cy="95528"/>
          </a:xfrm>
          <a:prstGeom prst="line">
            <a:avLst/>
          </a:prstGeom>
          <a:ln w="57150">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14038684" y="5440080"/>
            <a:ext cx="115660" cy="62204"/>
          </a:xfrm>
          <a:prstGeom prst="line">
            <a:avLst/>
          </a:prstGeom>
          <a:ln w="57150">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14154344" y="5502284"/>
            <a:ext cx="133156" cy="22216"/>
          </a:xfrm>
          <a:prstGeom prst="line">
            <a:avLst/>
          </a:prstGeom>
          <a:ln w="57150">
            <a:solidFill>
              <a:srgbClr val="6FA8DC"/>
            </a:solidFill>
          </a:ln>
        </p:spPr>
        <p:style>
          <a:lnRef idx="2">
            <a:schemeClr val="accent1"/>
          </a:lnRef>
          <a:fillRef idx="0">
            <a:schemeClr val="accent1"/>
          </a:fillRef>
          <a:effectRef idx="1">
            <a:schemeClr val="accent1"/>
          </a:effectRef>
          <a:fontRef idx="minor">
            <a:schemeClr val="tx1"/>
          </a:fontRef>
        </p:style>
      </p:cxnSp>
      <p:sp>
        <p:nvSpPr>
          <p:cNvPr id="33" name="Oval 32"/>
          <p:cNvSpPr/>
          <p:nvPr/>
        </p:nvSpPr>
        <p:spPr>
          <a:xfrm>
            <a:off x="13058581" y="3994141"/>
            <a:ext cx="57150" cy="57150"/>
          </a:xfrm>
          <a:prstGeom prst="ellipse">
            <a:avLst/>
          </a:prstGeom>
          <a:solidFill>
            <a:srgbClr val="6FA8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13174241" y="4056345"/>
            <a:ext cx="57150" cy="57150"/>
          </a:xfrm>
          <a:prstGeom prst="ellipse">
            <a:avLst/>
          </a:prstGeom>
          <a:solidFill>
            <a:srgbClr val="6FA8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13275323" y="4151873"/>
            <a:ext cx="57150" cy="57150"/>
          </a:xfrm>
          <a:prstGeom prst="ellipse">
            <a:avLst/>
          </a:prstGeom>
          <a:solidFill>
            <a:srgbClr val="6FA8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13364741" y="4274059"/>
            <a:ext cx="57150" cy="57150"/>
          </a:xfrm>
          <a:prstGeom prst="ellipse">
            <a:avLst/>
          </a:prstGeom>
          <a:solidFill>
            <a:srgbClr val="6FA8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3445412" y="4416240"/>
            <a:ext cx="57150" cy="57150"/>
          </a:xfrm>
          <a:prstGeom prst="ellipse">
            <a:avLst/>
          </a:prstGeom>
          <a:solidFill>
            <a:srgbClr val="6FA8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13520252" y="4571750"/>
            <a:ext cx="57150" cy="57150"/>
          </a:xfrm>
          <a:prstGeom prst="ellipse">
            <a:avLst/>
          </a:prstGeom>
          <a:solidFill>
            <a:srgbClr val="6FA8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3592175" y="4733925"/>
            <a:ext cx="57150" cy="57150"/>
          </a:xfrm>
          <a:prstGeom prst="ellipse">
            <a:avLst/>
          </a:prstGeom>
          <a:solidFill>
            <a:srgbClr val="6FA8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13664098" y="4896100"/>
            <a:ext cx="57150" cy="57150"/>
          </a:xfrm>
          <a:prstGeom prst="ellipse">
            <a:avLst/>
          </a:prstGeom>
          <a:solidFill>
            <a:srgbClr val="6FA8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13738938" y="5051610"/>
            <a:ext cx="57150" cy="57150"/>
          </a:xfrm>
          <a:prstGeom prst="ellipse">
            <a:avLst/>
          </a:prstGeom>
          <a:solidFill>
            <a:srgbClr val="6FA8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13819609" y="5193791"/>
            <a:ext cx="57150" cy="57150"/>
          </a:xfrm>
          <a:prstGeom prst="ellipse">
            <a:avLst/>
          </a:prstGeom>
          <a:solidFill>
            <a:srgbClr val="6FA8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13909027" y="5315977"/>
            <a:ext cx="57150" cy="57150"/>
          </a:xfrm>
          <a:prstGeom prst="ellipse">
            <a:avLst/>
          </a:prstGeom>
          <a:solidFill>
            <a:srgbClr val="6FA8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14010109" y="5411505"/>
            <a:ext cx="57150" cy="57150"/>
          </a:xfrm>
          <a:prstGeom prst="ellipse">
            <a:avLst/>
          </a:prstGeom>
          <a:solidFill>
            <a:srgbClr val="6FA8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14125769" y="5473709"/>
            <a:ext cx="57150" cy="57150"/>
          </a:xfrm>
          <a:prstGeom prst="ellipse">
            <a:avLst/>
          </a:prstGeom>
          <a:solidFill>
            <a:srgbClr val="6FA8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6" name="Connector 45"/>
          <p:cNvCxnSpPr/>
          <p:nvPr/>
        </p:nvCxnSpPr>
        <p:spPr>
          <a:xfrm>
            <a:off x="11620500" y="4000500"/>
            <a:ext cx="133156" cy="44431"/>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11753656" y="4044931"/>
            <a:ext cx="115660" cy="124409"/>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11869316" y="4169340"/>
            <a:ext cx="101082" cy="191055"/>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11970398" y="4360395"/>
            <a:ext cx="89418" cy="244373"/>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12059816" y="4604768"/>
            <a:ext cx="80671" cy="284362"/>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12140487" y="4889130"/>
            <a:ext cx="74840" cy="311020"/>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12215327" y="5200150"/>
            <a:ext cx="71923" cy="324350"/>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12287250" y="5524500"/>
            <a:ext cx="71923" cy="324350"/>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12359173" y="5848850"/>
            <a:ext cx="74840" cy="311020"/>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12434013" y="6159870"/>
            <a:ext cx="80671" cy="284362"/>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a:off x="12514684" y="6444232"/>
            <a:ext cx="89418" cy="244373"/>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12604102" y="6688605"/>
            <a:ext cx="101082" cy="191055"/>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a:off x="12705184" y="6879660"/>
            <a:ext cx="115660" cy="124409"/>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a:off x="12820844" y="7004069"/>
            <a:ext cx="133156" cy="44431"/>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sp>
        <p:nvSpPr>
          <p:cNvPr id="60" name="Oval 59"/>
          <p:cNvSpPr/>
          <p:nvPr/>
        </p:nvSpPr>
        <p:spPr>
          <a:xfrm>
            <a:off x="11725081" y="4016356"/>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Oval 60"/>
          <p:cNvSpPr/>
          <p:nvPr/>
        </p:nvSpPr>
        <p:spPr>
          <a:xfrm>
            <a:off x="11840741" y="4140765"/>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Oval 61"/>
          <p:cNvSpPr/>
          <p:nvPr/>
        </p:nvSpPr>
        <p:spPr>
          <a:xfrm>
            <a:off x="11941823" y="4331820"/>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Oval 62"/>
          <p:cNvSpPr/>
          <p:nvPr/>
        </p:nvSpPr>
        <p:spPr>
          <a:xfrm>
            <a:off x="12031241" y="4576193"/>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Oval 63"/>
          <p:cNvSpPr/>
          <p:nvPr/>
        </p:nvSpPr>
        <p:spPr>
          <a:xfrm>
            <a:off x="12111912" y="4860555"/>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Oval 64"/>
          <p:cNvSpPr/>
          <p:nvPr/>
        </p:nvSpPr>
        <p:spPr>
          <a:xfrm>
            <a:off x="12186752" y="5171575"/>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Oval 65"/>
          <p:cNvSpPr/>
          <p:nvPr/>
        </p:nvSpPr>
        <p:spPr>
          <a:xfrm>
            <a:off x="12258675" y="5495925"/>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Oval 66"/>
          <p:cNvSpPr/>
          <p:nvPr/>
        </p:nvSpPr>
        <p:spPr>
          <a:xfrm>
            <a:off x="12330598" y="5820275"/>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Oval 67"/>
          <p:cNvSpPr/>
          <p:nvPr/>
        </p:nvSpPr>
        <p:spPr>
          <a:xfrm>
            <a:off x="12405438" y="6131295"/>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Oval 68"/>
          <p:cNvSpPr/>
          <p:nvPr/>
        </p:nvSpPr>
        <p:spPr>
          <a:xfrm>
            <a:off x="12486109" y="6415657"/>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Oval 69"/>
          <p:cNvSpPr/>
          <p:nvPr/>
        </p:nvSpPr>
        <p:spPr>
          <a:xfrm>
            <a:off x="12575527" y="6660030"/>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Oval 70"/>
          <p:cNvSpPr/>
          <p:nvPr/>
        </p:nvSpPr>
        <p:spPr>
          <a:xfrm>
            <a:off x="12676609" y="6851085"/>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Oval 71"/>
          <p:cNvSpPr/>
          <p:nvPr/>
        </p:nvSpPr>
        <p:spPr>
          <a:xfrm>
            <a:off x="12792269" y="6975494"/>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Oval 72"/>
          <p:cNvSpPr/>
          <p:nvPr/>
        </p:nvSpPr>
        <p:spPr>
          <a:xfrm>
            <a:off x="10077450" y="3790950"/>
            <a:ext cx="419100" cy="41910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Oval 73"/>
          <p:cNvSpPr/>
          <p:nvPr/>
        </p:nvSpPr>
        <p:spPr>
          <a:xfrm>
            <a:off x="10144125" y="3857625"/>
            <a:ext cx="285750" cy="285750"/>
          </a:xfrm>
          <a:prstGeom prst="ellipse">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Oval 74"/>
          <p:cNvSpPr/>
          <p:nvPr/>
        </p:nvSpPr>
        <p:spPr>
          <a:xfrm>
            <a:off x="11410950" y="3790950"/>
            <a:ext cx="419100" cy="41910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Oval 75"/>
          <p:cNvSpPr/>
          <p:nvPr/>
        </p:nvSpPr>
        <p:spPr>
          <a:xfrm>
            <a:off x="11477625" y="3857625"/>
            <a:ext cx="285750" cy="285750"/>
          </a:xfrm>
          <a:prstGeom prst="ellipse">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Oval 76"/>
          <p:cNvSpPr/>
          <p:nvPr/>
        </p:nvSpPr>
        <p:spPr>
          <a:xfrm>
            <a:off x="12744450" y="3790950"/>
            <a:ext cx="419100" cy="41910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Oval 77"/>
          <p:cNvSpPr/>
          <p:nvPr/>
        </p:nvSpPr>
        <p:spPr>
          <a:xfrm>
            <a:off x="12811125" y="3857625"/>
            <a:ext cx="285750" cy="285750"/>
          </a:xfrm>
          <a:prstGeom prst="ellipse">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Oval 78"/>
          <p:cNvSpPr/>
          <p:nvPr/>
        </p:nvSpPr>
        <p:spPr>
          <a:xfrm>
            <a:off x="16554450" y="3790950"/>
            <a:ext cx="419100" cy="41910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Oval 79"/>
          <p:cNvSpPr/>
          <p:nvPr/>
        </p:nvSpPr>
        <p:spPr>
          <a:xfrm>
            <a:off x="16621125" y="3857625"/>
            <a:ext cx="285750" cy="285750"/>
          </a:xfrm>
          <a:prstGeom prst="ellipse">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Oval 80"/>
          <p:cNvSpPr/>
          <p:nvPr/>
        </p:nvSpPr>
        <p:spPr>
          <a:xfrm>
            <a:off x="14077950" y="5314950"/>
            <a:ext cx="419100" cy="419100"/>
          </a:xfrm>
          <a:prstGeom prst="ellipse">
            <a:avLst/>
          </a:prstGeom>
          <a:solidFill>
            <a:srgbClr val="6FA8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Oval 81"/>
          <p:cNvSpPr/>
          <p:nvPr/>
        </p:nvSpPr>
        <p:spPr>
          <a:xfrm>
            <a:off x="14144625" y="5381625"/>
            <a:ext cx="285750" cy="285750"/>
          </a:xfrm>
          <a:prstGeom prst="ellipse">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Oval 82"/>
          <p:cNvSpPr/>
          <p:nvPr/>
        </p:nvSpPr>
        <p:spPr>
          <a:xfrm>
            <a:off x="15411450" y="5314950"/>
            <a:ext cx="419100" cy="419100"/>
          </a:xfrm>
          <a:prstGeom prst="ellipse">
            <a:avLst/>
          </a:prstGeom>
          <a:solidFill>
            <a:srgbClr val="6FA8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Oval 83"/>
          <p:cNvSpPr/>
          <p:nvPr/>
        </p:nvSpPr>
        <p:spPr>
          <a:xfrm>
            <a:off x="15478125" y="5381625"/>
            <a:ext cx="285750" cy="285750"/>
          </a:xfrm>
          <a:prstGeom prst="ellipse">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Oval 84"/>
          <p:cNvSpPr/>
          <p:nvPr/>
        </p:nvSpPr>
        <p:spPr>
          <a:xfrm>
            <a:off x="12744450" y="6838950"/>
            <a:ext cx="419100" cy="41910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Oval 85"/>
          <p:cNvSpPr/>
          <p:nvPr/>
        </p:nvSpPr>
        <p:spPr>
          <a:xfrm>
            <a:off x="12811125" y="6905625"/>
            <a:ext cx="285750" cy="285750"/>
          </a:xfrm>
          <a:prstGeom prst="ellipse">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Oval 86"/>
          <p:cNvSpPr/>
          <p:nvPr/>
        </p:nvSpPr>
        <p:spPr>
          <a:xfrm>
            <a:off x="14077950" y="6838950"/>
            <a:ext cx="419100" cy="41910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Oval 87"/>
          <p:cNvSpPr/>
          <p:nvPr/>
        </p:nvSpPr>
        <p:spPr>
          <a:xfrm>
            <a:off x="14144625" y="6905625"/>
            <a:ext cx="285750" cy="285750"/>
          </a:xfrm>
          <a:prstGeom prst="ellipse">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Oval 88"/>
          <p:cNvSpPr/>
          <p:nvPr/>
        </p:nvSpPr>
        <p:spPr>
          <a:xfrm>
            <a:off x="15411450" y="6838950"/>
            <a:ext cx="419100" cy="41910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Oval 89"/>
          <p:cNvSpPr/>
          <p:nvPr/>
        </p:nvSpPr>
        <p:spPr>
          <a:xfrm>
            <a:off x="15478125" y="6905625"/>
            <a:ext cx="285750" cy="285750"/>
          </a:xfrm>
          <a:prstGeom prst="ellipse">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Oval 90"/>
          <p:cNvSpPr/>
          <p:nvPr/>
        </p:nvSpPr>
        <p:spPr>
          <a:xfrm>
            <a:off x="16744950" y="6838950"/>
            <a:ext cx="419100" cy="41910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Oval 91"/>
          <p:cNvSpPr/>
          <p:nvPr/>
        </p:nvSpPr>
        <p:spPr>
          <a:xfrm>
            <a:off x="16811625" y="6905625"/>
            <a:ext cx="285750" cy="285750"/>
          </a:xfrm>
          <a:prstGeom prst="ellipse">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10096500" y="3333750"/>
            <a:ext cx="3810000" cy="285750"/>
          </a:xfrm>
          <a:prstGeom prst="rect">
            <a:avLst/>
          </a:prstGeom>
          <a:noFill/>
        </p:spPr>
        <p:txBody>
          <a:bodyPr wrap="square" lIns="0" rIns="0" tIns="0" bIns="0" anchor="t">
            <a:spAutoFit/>
          </a:bodyPr>
          <a:lstStyle/>
          <a:p>
            <a:pPr algn="l"/>
            <a:r>
              <a:rPr sz="1500" b="0" i="0">
                <a:solidFill>
                  <a:srgbClr val="9A7878"/>
                </a:solidFill>
                <a:latin typeface="Geist"/>
                <a:ea typeface="Geist"/>
                <a:cs typeface="Geist"/>
              </a:rPr>
              <a:t>older</a:t>
            </a:r>
          </a:p>
        </p:txBody>
      </p:sp>
      <p:sp>
        <p:nvSpPr>
          <p:cNvPr id="94" name="TextBox 93"/>
          <p:cNvSpPr txBox="1"/>
          <p:nvPr/>
        </p:nvSpPr>
        <p:spPr>
          <a:xfrm>
            <a:off x="15240000" y="3333750"/>
            <a:ext cx="1809750" cy="285750"/>
          </a:xfrm>
          <a:prstGeom prst="rect">
            <a:avLst/>
          </a:prstGeom>
          <a:noFill/>
        </p:spPr>
        <p:txBody>
          <a:bodyPr wrap="square" lIns="0" rIns="0" tIns="0" bIns="0" anchor="t">
            <a:spAutoFit/>
          </a:bodyPr>
          <a:lstStyle/>
          <a:p>
            <a:pPr algn="r"/>
            <a:r>
              <a:rPr sz="1500" b="0" i="0">
                <a:solidFill>
                  <a:srgbClr val="9A7878"/>
                </a:solidFill>
                <a:latin typeface="Geist"/>
                <a:ea typeface="Geist"/>
                <a:cs typeface="Geist"/>
              </a:rPr>
              <a:t>newer</a:t>
            </a:r>
          </a:p>
        </p:txBody>
      </p:sp>
      <p:cxnSp>
        <p:nvCxnSpPr>
          <p:cNvPr id="95" name="Connector 94"/>
          <p:cNvCxnSpPr/>
          <p:nvPr/>
        </p:nvCxnSpPr>
        <p:spPr>
          <a:xfrm>
            <a:off x="10953750" y="3476625"/>
            <a:ext cx="4095750" cy="0"/>
          </a:xfrm>
          <a:prstGeom prst="line">
            <a:avLst/>
          </a:prstGeom>
          <a:ln w="19050">
            <a:solidFill>
              <a:srgbClr val="2A1A1A"/>
            </a:solidFill>
            <a:tailEnd type="triangle" w="med" len="med"/>
          </a:ln>
        </p:spPr>
        <p:style>
          <a:lnRef idx="2">
            <a:schemeClr val="accent1"/>
          </a:lnRef>
          <a:fillRef idx="0">
            <a:schemeClr val="accent1"/>
          </a:fillRef>
          <a:effectRef idx="1">
            <a:schemeClr val="accent1"/>
          </a:effectRef>
          <a:fontRef idx="minor">
            <a:schemeClr val="tx1"/>
          </a:fontRef>
        </p:style>
      </p:cxnSp>
      <p:pic>
        <p:nvPicPr>
          <p:cNvPr id="96" name="Picture 95" descr="mw_logo_small.png"/>
          <p:cNvPicPr>
            <a:picLocks noChangeAspect="1"/>
          </p:cNvPicPr>
          <p:nvPr/>
        </p:nvPicPr>
        <p:blipFill>
          <a:blip r:embed="rId3"/>
          <a:stretch>
            <a:fillRect/>
          </a:stretch>
        </p:blipFill>
        <p:spPr>
          <a:xfrm>
            <a:off x="914400" y="9410700"/>
            <a:ext cx="583564" cy="495300"/>
          </a:xfrm>
          <a:prstGeom prst="rect">
            <a:avLst/>
          </a:prstGeom>
        </p:spPr>
      </p:pic>
      <p:sp>
        <p:nvSpPr>
          <p:cNvPr id="97" name="TextBox 96"/>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GIT BASICS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How our team uses branches</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762250"/>
            <a:ext cx="16459200" cy="4476750"/>
          </a:xfrm>
          <a:prstGeom prst="roundRect">
            <a:avLst>
              <a:gd name="adj" fmla="val 3404"/>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ounded Rectangle 5"/>
          <p:cNvSpPr/>
          <p:nvPr/>
        </p:nvSpPr>
        <p:spPr>
          <a:xfrm>
            <a:off x="1295400" y="3333750"/>
            <a:ext cx="3619500" cy="571500"/>
          </a:xfrm>
          <a:prstGeom prst="roundRect">
            <a:avLst>
              <a:gd name="adj" fmla="val 50000"/>
            </a:avLst>
          </a:prstGeom>
          <a:solidFill>
            <a:srgbClr val="111111"/>
          </a:solidFill>
          <a:ln w="19050">
            <a:solidFill>
              <a:srgbClr val="F0E8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5400" y="3333750"/>
            <a:ext cx="3619500" cy="571500"/>
          </a:xfrm>
          <a:prstGeom prst="rect">
            <a:avLst/>
          </a:prstGeom>
          <a:noFill/>
        </p:spPr>
        <p:txBody>
          <a:bodyPr wrap="square" lIns="0" rIns="0" tIns="0" bIns="0" anchor="ctr">
            <a:spAutoFit/>
          </a:bodyPr>
          <a:lstStyle/>
          <a:p>
            <a:pPr algn="ctr"/>
            <a:r>
              <a:rPr sz="1800" b="0" i="0">
                <a:solidFill>
                  <a:srgbClr val="F0E8E8"/>
                </a:solidFill>
                <a:latin typeface="Geist Mono"/>
                <a:ea typeface="Geist Mono"/>
                <a:cs typeface="Geist Mono"/>
              </a:rPr>
              <a:t>main</a:t>
            </a:r>
          </a:p>
        </p:txBody>
      </p:sp>
      <p:cxnSp>
        <p:nvCxnSpPr>
          <p:cNvPr id="8" name="Connector 7"/>
          <p:cNvCxnSpPr/>
          <p:nvPr/>
        </p:nvCxnSpPr>
        <p:spPr>
          <a:xfrm>
            <a:off x="6096000" y="3619500"/>
            <a:ext cx="10477500" cy="0"/>
          </a:xfrm>
          <a:prstGeom prst="line">
            <a:avLst/>
          </a:prstGeom>
          <a:ln w="57150">
            <a:solidFill>
              <a:srgbClr val="F0E8E8"/>
            </a:solidFill>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1295400" y="4762500"/>
            <a:ext cx="3619500" cy="571500"/>
          </a:xfrm>
          <a:prstGeom prst="roundRect">
            <a:avLst>
              <a:gd name="adj" fmla="val 50000"/>
            </a:avLst>
          </a:prstGeom>
          <a:solidFill>
            <a:srgbClr val="111111"/>
          </a:solidFill>
          <a:ln w="19050">
            <a:solidFill>
              <a:srgbClr val="E8C27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295400" y="4762500"/>
            <a:ext cx="3619500" cy="571500"/>
          </a:xfrm>
          <a:prstGeom prst="rect">
            <a:avLst/>
          </a:prstGeom>
          <a:noFill/>
        </p:spPr>
        <p:txBody>
          <a:bodyPr wrap="square" lIns="0" rIns="0" tIns="0" bIns="0" anchor="ctr">
            <a:spAutoFit/>
          </a:bodyPr>
          <a:lstStyle/>
          <a:p>
            <a:pPr algn="ctr"/>
            <a:r>
              <a:rPr sz="1800" b="0" i="0">
                <a:solidFill>
                  <a:srgbClr val="E8C27A"/>
                </a:solidFill>
                <a:latin typeface="Geist Mono"/>
                <a:ea typeface="Geist Mono"/>
                <a:cs typeface="Geist Mono"/>
              </a:rPr>
              <a:t>develop</a:t>
            </a:r>
          </a:p>
        </p:txBody>
      </p:sp>
      <p:cxnSp>
        <p:nvCxnSpPr>
          <p:cNvPr id="11" name="Connector 10"/>
          <p:cNvCxnSpPr/>
          <p:nvPr/>
        </p:nvCxnSpPr>
        <p:spPr>
          <a:xfrm>
            <a:off x="7620000" y="5048250"/>
            <a:ext cx="7429500" cy="0"/>
          </a:xfrm>
          <a:prstGeom prst="line">
            <a:avLst/>
          </a:prstGeom>
          <a:ln w="57150">
            <a:solidFill>
              <a:srgbClr val="E8C27A"/>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1295400" y="6191250"/>
            <a:ext cx="3619500" cy="571500"/>
          </a:xfrm>
          <a:prstGeom prst="roundRect">
            <a:avLst>
              <a:gd name="adj" fmla="val 50000"/>
            </a:avLst>
          </a:prstGeom>
          <a:solidFill>
            <a:srgbClr val="111111"/>
          </a:solidFill>
          <a:ln w="19050">
            <a:solidFill>
              <a:srgbClr val="E055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1295400" y="6191250"/>
            <a:ext cx="3619500" cy="571500"/>
          </a:xfrm>
          <a:prstGeom prst="rect">
            <a:avLst/>
          </a:prstGeom>
          <a:noFill/>
        </p:spPr>
        <p:txBody>
          <a:bodyPr wrap="square" lIns="0" rIns="0" tIns="0" bIns="0" anchor="ctr">
            <a:spAutoFit/>
          </a:bodyPr>
          <a:lstStyle/>
          <a:p>
            <a:pPr algn="ctr"/>
            <a:r>
              <a:rPr sz="1800" b="0" i="0">
                <a:solidFill>
                  <a:srgbClr val="E05540"/>
                </a:solidFill>
                <a:latin typeface="Geist Mono"/>
                <a:ea typeface="Geist Mono"/>
                <a:cs typeface="Geist Mono"/>
              </a:rPr>
              <a:t>issue-12-turbo-boost</a:t>
            </a:r>
          </a:p>
        </p:txBody>
      </p:sp>
      <p:cxnSp>
        <p:nvCxnSpPr>
          <p:cNvPr id="14" name="Connector 13"/>
          <p:cNvCxnSpPr/>
          <p:nvPr/>
        </p:nvCxnSpPr>
        <p:spPr>
          <a:xfrm>
            <a:off x="9144000" y="6477000"/>
            <a:ext cx="2667000" cy="0"/>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6096000" y="3619500"/>
            <a:ext cx="152178" cy="20827"/>
          </a:xfrm>
          <a:prstGeom prst="line">
            <a:avLst/>
          </a:prstGeom>
          <a:ln w="57150">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6248178" y="3640327"/>
            <a:ext cx="132184" cy="58317"/>
          </a:xfrm>
          <a:prstGeom prst="line">
            <a:avLst/>
          </a:prstGeom>
          <a:ln w="57150">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6380362" y="3698644"/>
            <a:ext cx="115521" cy="89557"/>
          </a:xfrm>
          <a:prstGeom prst="line">
            <a:avLst/>
          </a:prstGeom>
          <a:ln w="57150">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6495883" y="3788201"/>
            <a:ext cx="102193" cy="114550"/>
          </a:xfrm>
          <a:prstGeom prst="line">
            <a:avLst/>
          </a:prstGeom>
          <a:ln w="57150">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6598076" y="3902751"/>
            <a:ext cx="92195" cy="133294"/>
          </a:xfrm>
          <a:prstGeom prst="line">
            <a:avLst/>
          </a:prstGeom>
          <a:ln w="57150">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6690271" y="4036045"/>
            <a:ext cx="85531" cy="145791"/>
          </a:xfrm>
          <a:prstGeom prst="line">
            <a:avLst/>
          </a:prstGeom>
          <a:ln w="57150">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6775802" y="4181836"/>
            <a:ext cx="82198" cy="152039"/>
          </a:xfrm>
          <a:prstGeom prst="line">
            <a:avLst/>
          </a:prstGeom>
          <a:ln w="57150">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6858000" y="4333875"/>
            <a:ext cx="82198" cy="152039"/>
          </a:xfrm>
          <a:prstGeom prst="line">
            <a:avLst/>
          </a:prstGeom>
          <a:ln w="57150">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6940198" y="4485914"/>
            <a:ext cx="85531" cy="145791"/>
          </a:xfrm>
          <a:prstGeom prst="line">
            <a:avLst/>
          </a:prstGeom>
          <a:ln w="57150">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7025729" y="4631705"/>
            <a:ext cx="92195" cy="133294"/>
          </a:xfrm>
          <a:prstGeom prst="line">
            <a:avLst/>
          </a:prstGeom>
          <a:ln w="57150">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7117924" y="4764999"/>
            <a:ext cx="102193" cy="114550"/>
          </a:xfrm>
          <a:prstGeom prst="line">
            <a:avLst/>
          </a:prstGeom>
          <a:ln w="57150">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7220117" y="4879549"/>
            <a:ext cx="115521" cy="89557"/>
          </a:xfrm>
          <a:prstGeom prst="line">
            <a:avLst/>
          </a:prstGeom>
          <a:ln w="57150">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7335638" y="4969106"/>
            <a:ext cx="132184" cy="58317"/>
          </a:xfrm>
          <a:prstGeom prst="line">
            <a:avLst/>
          </a:prstGeom>
          <a:ln w="57150">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7467822" y="5027423"/>
            <a:ext cx="152178" cy="20827"/>
          </a:xfrm>
          <a:prstGeom prst="line">
            <a:avLst/>
          </a:prstGeom>
          <a:ln w="57150">
            <a:solidFill>
              <a:srgbClr val="E8C27A"/>
            </a:solidFill>
          </a:ln>
        </p:spPr>
        <p:style>
          <a:lnRef idx="2">
            <a:schemeClr val="accent1"/>
          </a:lnRef>
          <a:fillRef idx="0">
            <a:schemeClr val="accent1"/>
          </a:fillRef>
          <a:effectRef idx="1">
            <a:schemeClr val="accent1"/>
          </a:effectRef>
          <a:fontRef idx="minor">
            <a:schemeClr val="tx1"/>
          </a:fontRef>
        </p:style>
      </p:cxnSp>
      <p:sp>
        <p:nvSpPr>
          <p:cNvPr id="29" name="Oval 28"/>
          <p:cNvSpPr/>
          <p:nvPr/>
        </p:nvSpPr>
        <p:spPr>
          <a:xfrm>
            <a:off x="6219603" y="3611752"/>
            <a:ext cx="57150" cy="5715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6351787" y="3670069"/>
            <a:ext cx="57150" cy="5715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6467308" y="3759626"/>
            <a:ext cx="57150" cy="5715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6569501" y="3874176"/>
            <a:ext cx="57150" cy="5715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6661696" y="4007470"/>
            <a:ext cx="57150" cy="5715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747227" y="4153261"/>
            <a:ext cx="57150" cy="5715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6829425" y="4305300"/>
            <a:ext cx="57150" cy="5715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6911623" y="4457339"/>
            <a:ext cx="57150" cy="5715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6997154" y="4603130"/>
            <a:ext cx="57150" cy="5715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7089349" y="4736424"/>
            <a:ext cx="57150" cy="5715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7191542" y="4850974"/>
            <a:ext cx="57150" cy="5715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7307063" y="4940531"/>
            <a:ext cx="57150" cy="5715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7439247" y="4998848"/>
            <a:ext cx="57150" cy="5715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2" name="Connector 41"/>
          <p:cNvCxnSpPr/>
          <p:nvPr/>
        </p:nvCxnSpPr>
        <p:spPr>
          <a:xfrm>
            <a:off x="7620000" y="5048250"/>
            <a:ext cx="152178" cy="20827"/>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7772178" y="5069077"/>
            <a:ext cx="132184" cy="58317"/>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7904362" y="5127394"/>
            <a:ext cx="115521" cy="89557"/>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8019883" y="5216951"/>
            <a:ext cx="102193" cy="114550"/>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8122076" y="5331501"/>
            <a:ext cx="92195" cy="133294"/>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8214271" y="5464795"/>
            <a:ext cx="85531" cy="145791"/>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8299802" y="5610586"/>
            <a:ext cx="82198" cy="152039"/>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8382000" y="5762625"/>
            <a:ext cx="82198" cy="152039"/>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8464198" y="5914664"/>
            <a:ext cx="85531" cy="145791"/>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8549729" y="6060455"/>
            <a:ext cx="92195" cy="133294"/>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8641924" y="6193749"/>
            <a:ext cx="102193" cy="114550"/>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8744117" y="6308299"/>
            <a:ext cx="115521" cy="89557"/>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8859638" y="6397856"/>
            <a:ext cx="132184" cy="58317"/>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8991822" y="6456173"/>
            <a:ext cx="152178" cy="20827"/>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sp>
        <p:nvSpPr>
          <p:cNvPr id="56" name="Oval 55"/>
          <p:cNvSpPr/>
          <p:nvPr/>
        </p:nvSpPr>
        <p:spPr>
          <a:xfrm>
            <a:off x="7743603" y="5040502"/>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Oval 56"/>
          <p:cNvSpPr/>
          <p:nvPr/>
        </p:nvSpPr>
        <p:spPr>
          <a:xfrm>
            <a:off x="7875787" y="5098819"/>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Oval 57"/>
          <p:cNvSpPr/>
          <p:nvPr/>
        </p:nvSpPr>
        <p:spPr>
          <a:xfrm>
            <a:off x="7991308" y="5188376"/>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Oval 58"/>
          <p:cNvSpPr/>
          <p:nvPr/>
        </p:nvSpPr>
        <p:spPr>
          <a:xfrm>
            <a:off x="8093501" y="5302926"/>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Oval 59"/>
          <p:cNvSpPr/>
          <p:nvPr/>
        </p:nvSpPr>
        <p:spPr>
          <a:xfrm>
            <a:off x="8185696" y="5436220"/>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Oval 60"/>
          <p:cNvSpPr/>
          <p:nvPr/>
        </p:nvSpPr>
        <p:spPr>
          <a:xfrm>
            <a:off x="8271227" y="5582011"/>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Oval 61"/>
          <p:cNvSpPr/>
          <p:nvPr/>
        </p:nvSpPr>
        <p:spPr>
          <a:xfrm>
            <a:off x="8353425" y="5734050"/>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Oval 62"/>
          <p:cNvSpPr/>
          <p:nvPr/>
        </p:nvSpPr>
        <p:spPr>
          <a:xfrm>
            <a:off x="8435623" y="5886089"/>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Oval 63"/>
          <p:cNvSpPr/>
          <p:nvPr/>
        </p:nvSpPr>
        <p:spPr>
          <a:xfrm>
            <a:off x="8521154" y="6031880"/>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Oval 64"/>
          <p:cNvSpPr/>
          <p:nvPr/>
        </p:nvSpPr>
        <p:spPr>
          <a:xfrm>
            <a:off x="8613349" y="6165174"/>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Oval 65"/>
          <p:cNvSpPr/>
          <p:nvPr/>
        </p:nvSpPr>
        <p:spPr>
          <a:xfrm>
            <a:off x="8715542" y="6279724"/>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Oval 66"/>
          <p:cNvSpPr/>
          <p:nvPr/>
        </p:nvSpPr>
        <p:spPr>
          <a:xfrm>
            <a:off x="8831063" y="6369281"/>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Oval 67"/>
          <p:cNvSpPr/>
          <p:nvPr/>
        </p:nvSpPr>
        <p:spPr>
          <a:xfrm>
            <a:off x="8963247" y="6427598"/>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9" name="Connector 68"/>
          <p:cNvCxnSpPr/>
          <p:nvPr/>
        </p:nvCxnSpPr>
        <p:spPr>
          <a:xfrm flipV="1">
            <a:off x="11811000" y="6456173"/>
            <a:ext cx="190222" cy="20827"/>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flipV="1">
            <a:off x="12001222" y="6397856"/>
            <a:ext cx="165230" cy="58317"/>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flipV="1">
            <a:off x="12166452" y="6308299"/>
            <a:ext cx="144402" cy="89557"/>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flipV="1">
            <a:off x="12310854" y="6193749"/>
            <a:ext cx="127741" cy="114550"/>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flipV="1">
            <a:off x="12438595" y="6060455"/>
            <a:ext cx="115244" cy="133294"/>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flipV="1">
            <a:off x="12553839" y="5914664"/>
            <a:ext cx="106913" cy="145791"/>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flipV="1">
            <a:off x="12660752" y="5762625"/>
            <a:ext cx="102748" cy="152039"/>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flipV="1">
            <a:off x="12763500" y="5610586"/>
            <a:ext cx="102748" cy="152039"/>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flipV="1">
            <a:off x="12866248" y="5464795"/>
            <a:ext cx="106913" cy="145791"/>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flipV="1">
            <a:off x="12973161" y="5331501"/>
            <a:ext cx="115244" cy="133294"/>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flipV="1">
            <a:off x="13088405" y="5216951"/>
            <a:ext cx="127741" cy="114550"/>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flipV="1">
            <a:off x="13216146" y="5127394"/>
            <a:ext cx="144402" cy="89557"/>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flipV="1">
            <a:off x="13360548" y="5069077"/>
            <a:ext cx="165230" cy="58317"/>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flipV="1">
            <a:off x="13525778" y="5048250"/>
            <a:ext cx="190222" cy="20827"/>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sp>
        <p:nvSpPr>
          <p:cNvPr id="83" name="Oval 82"/>
          <p:cNvSpPr/>
          <p:nvPr/>
        </p:nvSpPr>
        <p:spPr>
          <a:xfrm>
            <a:off x="11972647" y="6427598"/>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Oval 83"/>
          <p:cNvSpPr/>
          <p:nvPr/>
        </p:nvSpPr>
        <p:spPr>
          <a:xfrm>
            <a:off x="12137877" y="6369281"/>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Oval 84"/>
          <p:cNvSpPr/>
          <p:nvPr/>
        </p:nvSpPr>
        <p:spPr>
          <a:xfrm>
            <a:off x="12282279" y="6279724"/>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Oval 85"/>
          <p:cNvSpPr/>
          <p:nvPr/>
        </p:nvSpPr>
        <p:spPr>
          <a:xfrm>
            <a:off x="12410020" y="6165174"/>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Oval 86"/>
          <p:cNvSpPr/>
          <p:nvPr/>
        </p:nvSpPr>
        <p:spPr>
          <a:xfrm>
            <a:off x="12525264" y="6031880"/>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Oval 87"/>
          <p:cNvSpPr/>
          <p:nvPr/>
        </p:nvSpPr>
        <p:spPr>
          <a:xfrm>
            <a:off x="12632177" y="5886089"/>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Oval 88"/>
          <p:cNvSpPr/>
          <p:nvPr/>
        </p:nvSpPr>
        <p:spPr>
          <a:xfrm>
            <a:off x="12734925" y="5734050"/>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Oval 89"/>
          <p:cNvSpPr/>
          <p:nvPr/>
        </p:nvSpPr>
        <p:spPr>
          <a:xfrm>
            <a:off x="12837673" y="5582011"/>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Oval 90"/>
          <p:cNvSpPr/>
          <p:nvPr/>
        </p:nvSpPr>
        <p:spPr>
          <a:xfrm>
            <a:off x="12944586" y="5436220"/>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Oval 91"/>
          <p:cNvSpPr/>
          <p:nvPr/>
        </p:nvSpPr>
        <p:spPr>
          <a:xfrm>
            <a:off x="13059830" y="5302926"/>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Oval 92"/>
          <p:cNvSpPr/>
          <p:nvPr/>
        </p:nvSpPr>
        <p:spPr>
          <a:xfrm>
            <a:off x="13187571" y="5188376"/>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Oval 93"/>
          <p:cNvSpPr/>
          <p:nvPr/>
        </p:nvSpPr>
        <p:spPr>
          <a:xfrm>
            <a:off x="13331973" y="5098819"/>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Oval 94"/>
          <p:cNvSpPr/>
          <p:nvPr/>
        </p:nvSpPr>
        <p:spPr>
          <a:xfrm>
            <a:off x="13497203" y="5040502"/>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96" name="Connector 95"/>
          <p:cNvCxnSpPr/>
          <p:nvPr/>
        </p:nvCxnSpPr>
        <p:spPr>
          <a:xfrm flipV="1">
            <a:off x="15049500" y="5027423"/>
            <a:ext cx="152178" cy="20827"/>
          </a:xfrm>
          <a:prstGeom prst="line">
            <a:avLst/>
          </a:prstGeom>
          <a:ln w="57150">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flipV="1">
            <a:off x="15201678" y="4969106"/>
            <a:ext cx="132184" cy="58317"/>
          </a:xfrm>
          <a:prstGeom prst="line">
            <a:avLst/>
          </a:prstGeom>
          <a:ln w="57150">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flipV="1">
            <a:off x="15333862" y="4879549"/>
            <a:ext cx="115521" cy="89557"/>
          </a:xfrm>
          <a:prstGeom prst="line">
            <a:avLst/>
          </a:prstGeom>
          <a:ln w="57150">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flipV="1">
            <a:off x="15449383" y="4764999"/>
            <a:ext cx="102193" cy="114550"/>
          </a:xfrm>
          <a:prstGeom prst="line">
            <a:avLst/>
          </a:prstGeom>
          <a:ln w="57150">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flipV="1">
            <a:off x="15551576" y="4631705"/>
            <a:ext cx="92195" cy="133294"/>
          </a:xfrm>
          <a:prstGeom prst="line">
            <a:avLst/>
          </a:prstGeom>
          <a:ln w="57150">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flipV="1">
            <a:off x="15643771" y="4485914"/>
            <a:ext cx="85531" cy="145791"/>
          </a:xfrm>
          <a:prstGeom prst="line">
            <a:avLst/>
          </a:prstGeom>
          <a:ln w="57150">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flipV="1">
            <a:off x="15729302" y="4333875"/>
            <a:ext cx="82198" cy="152039"/>
          </a:xfrm>
          <a:prstGeom prst="line">
            <a:avLst/>
          </a:prstGeom>
          <a:ln w="57150">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flipV="1">
            <a:off x="15811500" y="4181836"/>
            <a:ext cx="82198" cy="152039"/>
          </a:xfrm>
          <a:prstGeom prst="line">
            <a:avLst/>
          </a:prstGeom>
          <a:ln w="57150">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04" name="Connector 103"/>
          <p:cNvCxnSpPr/>
          <p:nvPr/>
        </p:nvCxnSpPr>
        <p:spPr>
          <a:xfrm flipV="1">
            <a:off x="15893698" y="4036045"/>
            <a:ext cx="85531" cy="145791"/>
          </a:xfrm>
          <a:prstGeom prst="line">
            <a:avLst/>
          </a:prstGeom>
          <a:ln w="57150">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05" name="Connector 104"/>
          <p:cNvCxnSpPr/>
          <p:nvPr/>
        </p:nvCxnSpPr>
        <p:spPr>
          <a:xfrm flipV="1">
            <a:off x="15979229" y="3902751"/>
            <a:ext cx="92195" cy="133294"/>
          </a:xfrm>
          <a:prstGeom prst="line">
            <a:avLst/>
          </a:prstGeom>
          <a:ln w="57150">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06" name="Connector 105"/>
          <p:cNvCxnSpPr/>
          <p:nvPr/>
        </p:nvCxnSpPr>
        <p:spPr>
          <a:xfrm flipV="1">
            <a:off x="16071424" y="3788201"/>
            <a:ext cx="102193" cy="114550"/>
          </a:xfrm>
          <a:prstGeom prst="line">
            <a:avLst/>
          </a:prstGeom>
          <a:ln w="57150">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07" name="Connector 106"/>
          <p:cNvCxnSpPr/>
          <p:nvPr/>
        </p:nvCxnSpPr>
        <p:spPr>
          <a:xfrm flipV="1">
            <a:off x="16173617" y="3698644"/>
            <a:ext cx="115521" cy="89557"/>
          </a:xfrm>
          <a:prstGeom prst="line">
            <a:avLst/>
          </a:prstGeom>
          <a:ln w="57150">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08" name="Connector 107"/>
          <p:cNvCxnSpPr/>
          <p:nvPr/>
        </p:nvCxnSpPr>
        <p:spPr>
          <a:xfrm flipV="1">
            <a:off x="16289138" y="3640327"/>
            <a:ext cx="132184" cy="58317"/>
          </a:xfrm>
          <a:prstGeom prst="line">
            <a:avLst/>
          </a:prstGeom>
          <a:ln w="57150">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09" name="Connector 108"/>
          <p:cNvCxnSpPr/>
          <p:nvPr/>
        </p:nvCxnSpPr>
        <p:spPr>
          <a:xfrm flipV="1">
            <a:off x="16421322" y="3619500"/>
            <a:ext cx="152178" cy="20827"/>
          </a:xfrm>
          <a:prstGeom prst="line">
            <a:avLst/>
          </a:prstGeom>
          <a:ln w="57150">
            <a:solidFill>
              <a:srgbClr val="E8C27A"/>
            </a:solidFill>
          </a:ln>
        </p:spPr>
        <p:style>
          <a:lnRef idx="2">
            <a:schemeClr val="accent1"/>
          </a:lnRef>
          <a:fillRef idx="0">
            <a:schemeClr val="accent1"/>
          </a:fillRef>
          <a:effectRef idx="1">
            <a:schemeClr val="accent1"/>
          </a:effectRef>
          <a:fontRef idx="minor">
            <a:schemeClr val="tx1"/>
          </a:fontRef>
        </p:style>
      </p:cxnSp>
      <p:sp>
        <p:nvSpPr>
          <p:cNvPr id="110" name="Oval 109"/>
          <p:cNvSpPr/>
          <p:nvPr/>
        </p:nvSpPr>
        <p:spPr>
          <a:xfrm>
            <a:off x="15173103" y="4998848"/>
            <a:ext cx="57150" cy="5715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Oval 110"/>
          <p:cNvSpPr/>
          <p:nvPr/>
        </p:nvSpPr>
        <p:spPr>
          <a:xfrm>
            <a:off x="15305287" y="4940531"/>
            <a:ext cx="57150" cy="5715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Oval 111"/>
          <p:cNvSpPr/>
          <p:nvPr/>
        </p:nvSpPr>
        <p:spPr>
          <a:xfrm>
            <a:off x="15420808" y="4850974"/>
            <a:ext cx="57150" cy="5715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Oval 112"/>
          <p:cNvSpPr/>
          <p:nvPr/>
        </p:nvSpPr>
        <p:spPr>
          <a:xfrm>
            <a:off x="15523001" y="4736424"/>
            <a:ext cx="57150" cy="5715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Oval 113"/>
          <p:cNvSpPr/>
          <p:nvPr/>
        </p:nvSpPr>
        <p:spPr>
          <a:xfrm>
            <a:off x="15615196" y="4603130"/>
            <a:ext cx="57150" cy="5715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Oval 114"/>
          <p:cNvSpPr/>
          <p:nvPr/>
        </p:nvSpPr>
        <p:spPr>
          <a:xfrm>
            <a:off x="15700727" y="4457339"/>
            <a:ext cx="57150" cy="5715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Oval 115"/>
          <p:cNvSpPr/>
          <p:nvPr/>
        </p:nvSpPr>
        <p:spPr>
          <a:xfrm>
            <a:off x="15782925" y="4305300"/>
            <a:ext cx="57150" cy="5715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Oval 116"/>
          <p:cNvSpPr/>
          <p:nvPr/>
        </p:nvSpPr>
        <p:spPr>
          <a:xfrm>
            <a:off x="15865123" y="4153261"/>
            <a:ext cx="57150" cy="5715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Oval 117"/>
          <p:cNvSpPr/>
          <p:nvPr/>
        </p:nvSpPr>
        <p:spPr>
          <a:xfrm>
            <a:off x="15950654" y="4007470"/>
            <a:ext cx="57150" cy="5715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Oval 118"/>
          <p:cNvSpPr/>
          <p:nvPr/>
        </p:nvSpPr>
        <p:spPr>
          <a:xfrm>
            <a:off x="16042849" y="3874176"/>
            <a:ext cx="57150" cy="5715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Oval 119"/>
          <p:cNvSpPr/>
          <p:nvPr/>
        </p:nvSpPr>
        <p:spPr>
          <a:xfrm>
            <a:off x="16145042" y="3759626"/>
            <a:ext cx="57150" cy="5715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Oval 120"/>
          <p:cNvSpPr/>
          <p:nvPr/>
        </p:nvSpPr>
        <p:spPr>
          <a:xfrm>
            <a:off x="16260563" y="3670069"/>
            <a:ext cx="57150" cy="5715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Oval 121"/>
          <p:cNvSpPr/>
          <p:nvPr/>
        </p:nvSpPr>
        <p:spPr>
          <a:xfrm>
            <a:off x="16392747" y="3611752"/>
            <a:ext cx="57150" cy="5715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Oval 122"/>
          <p:cNvSpPr/>
          <p:nvPr/>
        </p:nvSpPr>
        <p:spPr>
          <a:xfrm>
            <a:off x="5886450" y="3409950"/>
            <a:ext cx="419100" cy="41910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Oval 123"/>
          <p:cNvSpPr/>
          <p:nvPr/>
        </p:nvSpPr>
        <p:spPr>
          <a:xfrm>
            <a:off x="5953125" y="3476625"/>
            <a:ext cx="285750" cy="285750"/>
          </a:xfrm>
          <a:prstGeom prst="ellipse">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TextBox 124"/>
          <p:cNvSpPr txBox="1"/>
          <p:nvPr/>
        </p:nvSpPr>
        <p:spPr>
          <a:xfrm>
            <a:off x="4857750" y="2971800"/>
            <a:ext cx="2476500" cy="342900"/>
          </a:xfrm>
          <a:prstGeom prst="rect">
            <a:avLst/>
          </a:prstGeom>
          <a:noFill/>
        </p:spPr>
        <p:txBody>
          <a:bodyPr wrap="square" lIns="0" rIns="0" tIns="0" bIns="0" anchor="t">
            <a:spAutoFit/>
          </a:bodyPr>
          <a:lstStyle/>
          <a:p>
            <a:pPr algn="ctr"/>
            <a:r>
              <a:rPr sz="1650" b="0" i="0">
                <a:solidFill>
                  <a:srgbClr val="9A7878"/>
                </a:solidFill>
                <a:latin typeface="Geist"/>
                <a:ea typeface="Geist"/>
                <a:cs typeface="Geist"/>
              </a:rPr>
              <a:t>competition-ready</a:t>
            </a:r>
          </a:p>
        </p:txBody>
      </p:sp>
      <p:sp>
        <p:nvSpPr>
          <p:cNvPr id="126" name="Oval 125"/>
          <p:cNvSpPr/>
          <p:nvPr/>
        </p:nvSpPr>
        <p:spPr>
          <a:xfrm>
            <a:off x="16325850" y="3371850"/>
            <a:ext cx="495300" cy="49530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TextBox 126"/>
          <p:cNvSpPr txBox="1"/>
          <p:nvPr/>
        </p:nvSpPr>
        <p:spPr>
          <a:xfrm>
            <a:off x="15335250" y="2971800"/>
            <a:ext cx="2476500" cy="342900"/>
          </a:xfrm>
          <a:prstGeom prst="rect">
            <a:avLst/>
          </a:prstGeom>
          <a:noFill/>
        </p:spPr>
        <p:txBody>
          <a:bodyPr wrap="square" lIns="0" rIns="0" tIns="0" bIns="0" anchor="t">
            <a:spAutoFit/>
          </a:bodyPr>
          <a:lstStyle/>
          <a:p>
            <a:pPr algn="ctr"/>
            <a:r>
              <a:rPr sz="1650" b="1" i="0">
                <a:solidFill>
                  <a:srgbClr val="F0E8E8"/>
                </a:solidFill>
                <a:latin typeface="Geist"/>
                <a:ea typeface="Geist"/>
                <a:cs typeface="Geist"/>
              </a:rPr>
              <a:t>release</a:t>
            </a:r>
          </a:p>
        </p:txBody>
      </p:sp>
      <p:sp>
        <p:nvSpPr>
          <p:cNvPr id="128" name="Oval 127"/>
          <p:cNvSpPr/>
          <p:nvPr/>
        </p:nvSpPr>
        <p:spPr>
          <a:xfrm>
            <a:off x="7410450" y="4838700"/>
            <a:ext cx="419100" cy="41910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Oval 128"/>
          <p:cNvSpPr/>
          <p:nvPr/>
        </p:nvSpPr>
        <p:spPr>
          <a:xfrm>
            <a:off x="7477125" y="4905375"/>
            <a:ext cx="285750" cy="285750"/>
          </a:xfrm>
          <a:prstGeom prst="ellipse">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Oval 129"/>
          <p:cNvSpPr/>
          <p:nvPr/>
        </p:nvSpPr>
        <p:spPr>
          <a:xfrm>
            <a:off x="13468350" y="4800600"/>
            <a:ext cx="495300" cy="49530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Oval 130"/>
          <p:cNvSpPr/>
          <p:nvPr/>
        </p:nvSpPr>
        <p:spPr>
          <a:xfrm>
            <a:off x="14839950" y="4838700"/>
            <a:ext cx="419100" cy="41910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Oval 131"/>
          <p:cNvSpPr/>
          <p:nvPr/>
        </p:nvSpPr>
        <p:spPr>
          <a:xfrm>
            <a:off x="14906625" y="4905375"/>
            <a:ext cx="285750" cy="285750"/>
          </a:xfrm>
          <a:prstGeom prst="ellipse">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Oval 132"/>
          <p:cNvSpPr/>
          <p:nvPr/>
        </p:nvSpPr>
        <p:spPr>
          <a:xfrm>
            <a:off x="8934450" y="6267450"/>
            <a:ext cx="419100" cy="41910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Oval 133"/>
          <p:cNvSpPr/>
          <p:nvPr/>
        </p:nvSpPr>
        <p:spPr>
          <a:xfrm>
            <a:off x="9001125" y="6334125"/>
            <a:ext cx="285750" cy="285750"/>
          </a:xfrm>
          <a:prstGeom prst="ellipse">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Oval 134"/>
          <p:cNvSpPr/>
          <p:nvPr/>
        </p:nvSpPr>
        <p:spPr>
          <a:xfrm>
            <a:off x="10267950" y="6267450"/>
            <a:ext cx="419100" cy="41910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Oval 135"/>
          <p:cNvSpPr/>
          <p:nvPr/>
        </p:nvSpPr>
        <p:spPr>
          <a:xfrm>
            <a:off x="10334625" y="6334125"/>
            <a:ext cx="285750" cy="285750"/>
          </a:xfrm>
          <a:prstGeom prst="ellipse">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Oval 136"/>
          <p:cNvSpPr/>
          <p:nvPr/>
        </p:nvSpPr>
        <p:spPr>
          <a:xfrm>
            <a:off x="11601450" y="6267450"/>
            <a:ext cx="419100" cy="41910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Oval 137"/>
          <p:cNvSpPr/>
          <p:nvPr/>
        </p:nvSpPr>
        <p:spPr>
          <a:xfrm>
            <a:off x="11668125" y="6334125"/>
            <a:ext cx="285750" cy="285750"/>
          </a:xfrm>
          <a:prstGeom prst="ellipse">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TextBox 138"/>
          <p:cNvSpPr txBox="1"/>
          <p:nvPr/>
        </p:nvSpPr>
        <p:spPr>
          <a:xfrm>
            <a:off x="12668250" y="6362700"/>
            <a:ext cx="2857500" cy="342900"/>
          </a:xfrm>
          <a:prstGeom prst="rect">
            <a:avLst/>
          </a:prstGeom>
          <a:noFill/>
        </p:spPr>
        <p:txBody>
          <a:bodyPr wrap="square" lIns="0" rIns="0" tIns="0" bIns="0" anchor="t">
            <a:spAutoFit/>
          </a:bodyPr>
          <a:lstStyle/>
          <a:p>
            <a:pPr algn="l"/>
            <a:r>
              <a:rPr sz="1650" b="1" i="0">
                <a:solidFill>
                  <a:srgbClr val="E05540"/>
                </a:solidFill>
                <a:latin typeface="Geist"/>
                <a:ea typeface="Geist"/>
                <a:cs typeface="Geist"/>
              </a:rPr>
              <a:t>pull request</a:t>
            </a:r>
          </a:p>
        </p:txBody>
      </p:sp>
      <p:sp>
        <p:nvSpPr>
          <p:cNvPr id="140" name="TextBox 139"/>
          <p:cNvSpPr txBox="1"/>
          <p:nvPr/>
        </p:nvSpPr>
        <p:spPr>
          <a:xfrm>
            <a:off x="914400" y="7620000"/>
            <a:ext cx="16459200" cy="321945"/>
          </a:xfrm>
          <a:prstGeom prst="rect">
            <a:avLst/>
          </a:prstGeom>
          <a:noFill/>
        </p:spPr>
        <p:txBody>
          <a:bodyPr wrap="square" lIns="0" rIns="0" tIns="0" bIns="0" anchor="t">
            <a:spAutoFit/>
          </a:bodyPr>
          <a:lstStyle/>
          <a:p>
            <a:pPr algn="l">
              <a:lnSpc>
                <a:spcPct val="125000"/>
              </a:lnSpc>
            </a:pPr>
            <a:r>
              <a:rPr sz="1950" b="1" i="0">
                <a:solidFill>
                  <a:srgbClr val="CC2200"/>
                </a:solidFill>
                <a:latin typeface="Geist"/>
                <a:ea typeface="Geist"/>
                <a:cs typeface="Geist"/>
              </a:rPr>
              <a:t>•  </a:t>
            </a:r>
            <a:r>
              <a:rPr sz="1950" b="1" i="0">
                <a:solidFill>
                  <a:srgbClr val="F0E8E8"/>
                </a:solidFill>
                <a:latin typeface="Geist"/>
                <a:ea typeface="Geist"/>
                <a:cs typeface="Geist"/>
              </a:rPr>
              <a:t>main</a:t>
            </a:r>
            <a:r>
              <a:rPr sz="1950" b="0" i="0">
                <a:solidFill>
                  <a:srgbClr val="F0E8E8"/>
                </a:solidFill>
                <a:latin typeface="Geist"/>
                <a:ea typeface="Geist"/>
                <a:cs typeface="Geist"/>
              </a:rPr>
              <a:t> is production-ready.  </a:t>
            </a:r>
            <a:r>
              <a:rPr sz="1950" b="1" i="0">
                <a:solidFill>
                  <a:srgbClr val="F0E8E8"/>
                </a:solidFill>
                <a:latin typeface="Geist"/>
                <a:ea typeface="Geist"/>
                <a:cs typeface="Geist"/>
              </a:rPr>
              <a:t>develop</a:t>
            </a:r>
            <a:r>
              <a:rPr sz="1950" b="0" i="0">
                <a:solidFill>
                  <a:srgbClr val="F0E8E8"/>
                </a:solidFill>
                <a:latin typeface="Geist"/>
                <a:ea typeface="Geist"/>
                <a:cs typeface="Geist"/>
              </a:rPr>
              <a:t> collects finished features.</a:t>
            </a:r>
          </a:p>
        </p:txBody>
      </p:sp>
      <p:sp>
        <p:nvSpPr>
          <p:cNvPr id="141" name="TextBox 140"/>
          <p:cNvSpPr txBox="1"/>
          <p:nvPr/>
        </p:nvSpPr>
        <p:spPr>
          <a:xfrm>
            <a:off x="914400" y="8056245"/>
            <a:ext cx="16459200" cy="321945"/>
          </a:xfrm>
          <a:prstGeom prst="rect">
            <a:avLst/>
          </a:prstGeom>
          <a:noFill/>
        </p:spPr>
        <p:txBody>
          <a:bodyPr wrap="square" lIns="0" rIns="0" tIns="0" bIns="0" anchor="t">
            <a:spAutoFit/>
          </a:bodyPr>
          <a:lstStyle/>
          <a:p>
            <a:pPr algn="l">
              <a:lnSpc>
                <a:spcPct val="125000"/>
              </a:lnSpc>
            </a:pPr>
            <a:r>
              <a:rPr sz="1950" b="1" i="0">
                <a:solidFill>
                  <a:srgbClr val="CC2200"/>
                </a:solidFill>
                <a:latin typeface="Geist"/>
                <a:ea typeface="Geist"/>
                <a:cs typeface="Geist"/>
              </a:rPr>
              <a:t>•  </a:t>
            </a:r>
            <a:r>
              <a:rPr sz="1950" b="0" i="0">
                <a:solidFill>
                  <a:srgbClr val="F0E8E8"/>
                </a:solidFill>
                <a:latin typeface="Geist"/>
                <a:ea typeface="Geist"/>
                <a:cs typeface="Geist"/>
              </a:rPr>
              <a:t>Name branches </a:t>
            </a:r>
            <a:r>
              <a:rPr sz="1950" b="0" i="0">
                <a:solidFill>
                  <a:srgbClr val="E0785F"/>
                </a:solidFill>
                <a:latin typeface="Geist Mono"/>
                <a:ea typeface="Geist Mono"/>
                <a:cs typeface="Geist Mono"/>
              </a:rPr>
              <a:t>issue-&lt;number&gt;-&lt;description&gt;</a:t>
            </a:r>
            <a:r>
              <a:rPr sz="1950" b="0" i="0">
                <a:solidFill>
                  <a:srgbClr val="F0E8E8"/>
                </a:solidFill>
                <a:latin typeface="Geist"/>
                <a:ea typeface="Geist"/>
                <a:cs typeface="Geist"/>
              </a:rPr>
              <a:t>, starting from develop</a:t>
            </a:r>
          </a:p>
        </p:txBody>
      </p:sp>
      <p:sp>
        <p:nvSpPr>
          <p:cNvPr id="142" name="TextBox 141"/>
          <p:cNvSpPr txBox="1"/>
          <p:nvPr/>
        </p:nvSpPr>
        <p:spPr>
          <a:xfrm>
            <a:off x="914400" y="8492490"/>
            <a:ext cx="16459200" cy="321945"/>
          </a:xfrm>
          <a:prstGeom prst="rect">
            <a:avLst/>
          </a:prstGeom>
          <a:noFill/>
        </p:spPr>
        <p:txBody>
          <a:bodyPr wrap="square" lIns="0" rIns="0" tIns="0" bIns="0" anchor="t">
            <a:spAutoFit/>
          </a:bodyPr>
          <a:lstStyle/>
          <a:p>
            <a:pPr algn="l">
              <a:lnSpc>
                <a:spcPct val="125000"/>
              </a:lnSpc>
            </a:pPr>
            <a:r>
              <a:rPr sz="1950" b="1" i="0">
                <a:solidFill>
                  <a:srgbClr val="CC2200"/>
                </a:solidFill>
                <a:latin typeface="Geist"/>
                <a:ea typeface="Geist"/>
                <a:cs typeface="Geist"/>
              </a:rPr>
              <a:t>•  </a:t>
            </a:r>
            <a:r>
              <a:rPr sz="1950" b="0" i="0">
                <a:solidFill>
                  <a:srgbClr val="F0E8E8"/>
                </a:solidFill>
                <a:latin typeface="Geist"/>
                <a:ea typeface="Geist"/>
                <a:cs typeface="Geist"/>
              </a:rPr>
              <a:t>Nobody pushes straight to main or develop</a:t>
            </a:r>
          </a:p>
        </p:txBody>
      </p:sp>
      <p:pic>
        <p:nvPicPr>
          <p:cNvPr id="143" name="Picture 142" descr="mw_logo_small.png"/>
          <p:cNvPicPr>
            <a:picLocks noChangeAspect="1"/>
          </p:cNvPicPr>
          <p:nvPr/>
        </p:nvPicPr>
        <p:blipFill>
          <a:blip r:embed="rId3"/>
          <a:stretch>
            <a:fillRect/>
          </a:stretch>
        </p:blipFill>
        <p:spPr>
          <a:xfrm>
            <a:off x="914400" y="9410700"/>
            <a:ext cx="583564" cy="495300"/>
          </a:xfrm>
          <a:prstGeom prst="rect">
            <a:avLst/>
          </a:prstGeom>
        </p:spPr>
      </p:pic>
      <p:sp>
        <p:nvSpPr>
          <p:cNvPr id="144" name="TextBox 143"/>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GIT BASICS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Merging: bringing work together</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14400" y="2857500"/>
            <a:ext cx="5715000" cy="371475"/>
          </a:xfrm>
          <a:prstGeom prst="rect">
            <a:avLst/>
          </a:prstGeom>
          <a:noFill/>
        </p:spPr>
        <p:txBody>
          <a:bodyPr wrap="square" lIns="0" rIns="0" tIns="0" bIns="0" anchor="t">
            <a:spAutoFit/>
          </a:bodyPr>
          <a:lstStyle/>
          <a:p>
            <a:pPr algn="l">
              <a:lnSpc>
                <a:spcPct val="125000"/>
              </a:lnSpc>
            </a:pPr>
            <a:r>
              <a:rPr sz="2250" b="1" i="0">
                <a:solidFill>
                  <a:srgbClr val="CC2200"/>
                </a:solidFill>
                <a:latin typeface="Geist"/>
                <a:ea typeface="Geist"/>
                <a:cs typeface="Geist"/>
              </a:rPr>
              <a:t>•  </a:t>
            </a:r>
            <a:r>
              <a:rPr sz="2250" b="0" i="0">
                <a:solidFill>
                  <a:srgbClr val="F0E8E8"/>
                </a:solidFill>
                <a:latin typeface="Geist"/>
                <a:ea typeface="Geist"/>
                <a:cs typeface="Geist"/>
              </a:rPr>
              <a:t>Combines two branches into one</a:t>
            </a:r>
          </a:p>
        </p:txBody>
      </p:sp>
      <p:sp>
        <p:nvSpPr>
          <p:cNvPr id="6" name="TextBox 5"/>
          <p:cNvSpPr txBox="1"/>
          <p:nvPr/>
        </p:nvSpPr>
        <p:spPr>
          <a:xfrm>
            <a:off x="914400" y="3514725"/>
            <a:ext cx="5715000" cy="742950"/>
          </a:xfrm>
          <a:prstGeom prst="rect">
            <a:avLst/>
          </a:prstGeom>
          <a:noFill/>
        </p:spPr>
        <p:txBody>
          <a:bodyPr wrap="square" lIns="0" rIns="0" tIns="0" bIns="0" anchor="t">
            <a:spAutoFit/>
          </a:bodyPr>
          <a:lstStyle/>
          <a:p>
            <a:pPr algn="l">
              <a:lnSpc>
                <a:spcPct val="125000"/>
              </a:lnSpc>
            </a:pPr>
            <a:r>
              <a:rPr sz="2250" b="1" i="0">
                <a:solidFill>
                  <a:srgbClr val="CC2200"/>
                </a:solidFill>
                <a:latin typeface="Geist"/>
                <a:ea typeface="Geist"/>
                <a:cs typeface="Geist"/>
              </a:rPr>
              <a:t>•  </a:t>
            </a:r>
            <a:r>
              <a:rPr sz="2250" b="0" i="0">
                <a:solidFill>
                  <a:srgbClr val="F0E8E8"/>
                </a:solidFill>
                <a:latin typeface="Geist"/>
                <a:ea typeface="Geist"/>
                <a:cs typeface="Geist"/>
              </a:rPr>
              <a:t>Stand on the branch that receives the work</a:t>
            </a:r>
          </a:p>
        </p:txBody>
      </p:sp>
      <p:sp>
        <p:nvSpPr>
          <p:cNvPr id="7" name="TextBox 6"/>
          <p:cNvSpPr txBox="1"/>
          <p:nvPr/>
        </p:nvSpPr>
        <p:spPr>
          <a:xfrm>
            <a:off x="914400" y="4543425"/>
            <a:ext cx="5715000" cy="371475"/>
          </a:xfrm>
          <a:prstGeom prst="rect">
            <a:avLst/>
          </a:prstGeom>
          <a:noFill/>
        </p:spPr>
        <p:txBody>
          <a:bodyPr wrap="square" lIns="0" rIns="0" tIns="0" bIns="0" anchor="t">
            <a:spAutoFit/>
          </a:bodyPr>
          <a:lstStyle/>
          <a:p>
            <a:pPr algn="l">
              <a:lnSpc>
                <a:spcPct val="125000"/>
              </a:lnSpc>
            </a:pPr>
            <a:r>
              <a:rPr sz="2250" b="1" i="0">
                <a:solidFill>
                  <a:srgbClr val="CC2200"/>
                </a:solidFill>
                <a:latin typeface="Geist"/>
                <a:ea typeface="Geist"/>
                <a:cs typeface="Geist"/>
              </a:rPr>
              <a:t>•  </a:t>
            </a:r>
            <a:r>
              <a:rPr sz="2250" b="0" i="0">
                <a:solidFill>
                  <a:srgbClr val="F0E8E8"/>
                </a:solidFill>
                <a:latin typeface="Geist"/>
                <a:ea typeface="Geist"/>
                <a:cs typeface="Geist"/>
              </a:rPr>
              <a:t>Makes a merge commit with two parents</a:t>
            </a:r>
          </a:p>
        </p:txBody>
      </p:sp>
      <p:sp>
        <p:nvSpPr>
          <p:cNvPr id="8" name="TextBox 7"/>
          <p:cNvSpPr txBox="1"/>
          <p:nvPr/>
        </p:nvSpPr>
        <p:spPr>
          <a:xfrm>
            <a:off x="914400" y="5200650"/>
            <a:ext cx="5715000" cy="742950"/>
          </a:xfrm>
          <a:prstGeom prst="rect">
            <a:avLst/>
          </a:prstGeom>
          <a:noFill/>
        </p:spPr>
        <p:txBody>
          <a:bodyPr wrap="square" lIns="0" rIns="0" tIns="0" bIns="0" anchor="t">
            <a:spAutoFit/>
          </a:bodyPr>
          <a:lstStyle/>
          <a:p>
            <a:pPr algn="l">
              <a:lnSpc>
                <a:spcPct val="125000"/>
              </a:lnSpc>
            </a:pPr>
            <a:r>
              <a:rPr sz="2250" b="1" i="0">
                <a:solidFill>
                  <a:srgbClr val="CC2200"/>
                </a:solidFill>
                <a:latin typeface="Geist"/>
                <a:ea typeface="Geist"/>
                <a:cs typeface="Geist"/>
              </a:rPr>
              <a:t>•  </a:t>
            </a:r>
            <a:r>
              <a:rPr sz="2250" b="0" i="0">
                <a:solidFill>
                  <a:srgbClr val="F0E8E8"/>
                </a:solidFill>
                <a:latin typeface="Geist"/>
                <a:ea typeface="Geist"/>
                <a:cs typeface="Geist"/>
              </a:rPr>
              <a:t>On the team, merges go through a pull request</a:t>
            </a:r>
          </a:p>
        </p:txBody>
      </p:sp>
      <p:sp>
        <p:nvSpPr>
          <p:cNvPr id="9" name="Rounded Rectangle 8"/>
          <p:cNvSpPr/>
          <p:nvPr/>
        </p:nvSpPr>
        <p:spPr>
          <a:xfrm>
            <a:off x="7239000" y="2857500"/>
            <a:ext cx="10134600" cy="6096000"/>
          </a:xfrm>
          <a:prstGeom prst="roundRect">
            <a:avLst>
              <a:gd name="adj" fmla="val 2500"/>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ounded Rectangle 9"/>
          <p:cNvSpPr/>
          <p:nvPr/>
        </p:nvSpPr>
        <p:spPr>
          <a:xfrm>
            <a:off x="7543800" y="4191000"/>
            <a:ext cx="1905000" cy="571500"/>
          </a:xfrm>
          <a:prstGeom prst="roundRect">
            <a:avLst>
              <a:gd name="adj" fmla="val 50000"/>
            </a:avLst>
          </a:prstGeom>
          <a:solidFill>
            <a:srgbClr val="111111"/>
          </a:solidFill>
          <a:ln w="19050">
            <a:solidFill>
              <a:srgbClr val="E8C27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543800" y="4191000"/>
            <a:ext cx="1905000" cy="571500"/>
          </a:xfrm>
          <a:prstGeom prst="rect">
            <a:avLst/>
          </a:prstGeom>
          <a:noFill/>
        </p:spPr>
        <p:txBody>
          <a:bodyPr wrap="square" lIns="0" rIns="0" tIns="0" bIns="0" anchor="ctr">
            <a:spAutoFit/>
          </a:bodyPr>
          <a:lstStyle/>
          <a:p>
            <a:pPr algn="ctr"/>
            <a:r>
              <a:rPr sz="1800" b="0" i="0">
                <a:solidFill>
                  <a:srgbClr val="E8C27A"/>
                </a:solidFill>
                <a:latin typeface="Geist Mono"/>
                <a:ea typeface="Geist Mono"/>
                <a:cs typeface="Geist Mono"/>
              </a:rPr>
              <a:t>develop</a:t>
            </a:r>
          </a:p>
        </p:txBody>
      </p:sp>
      <p:cxnSp>
        <p:nvCxnSpPr>
          <p:cNvPr id="12" name="Connector 11"/>
          <p:cNvCxnSpPr/>
          <p:nvPr/>
        </p:nvCxnSpPr>
        <p:spPr>
          <a:xfrm>
            <a:off x="10096500" y="4476750"/>
            <a:ext cx="6096000" cy="0"/>
          </a:xfrm>
          <a:prstGeom prst="line">
            <a:avLst/>
          </a:prstGeom>
          <a:ln w="57150">
            <a:solidFill>
              <a:srgbClr val="E8C27A"/>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7543800" y="6096000"/>
            <a:ext cx="1905000" cy="571500"/>
          </a:xfrm>
          <a:prstGeom prst="roundRect">
            <a:avLst>
              <a:gd name="adj" fmla="val 50000"/>
            </a:avLst>
          </a:prstGeom>
          <a:solidFill>
            <a:srgbClr val="111111"/>
          </a:solidFill>
          <a:ln w="19050">
            <a:solidFill>
              <a:srgbClr val="E055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7543800" y="6096000"/>
            <a:ext cx="1905000" cy="571500"/>
          </a:xfrm>
          <a:prstGeom prst="rect">
            <a:avLst/>
          </a:prstGeom>
          <a:noFill/>
        </p:spPr>
        <p:txBody>
          <a:bodyPr wrap="square" lIns="0" rIns="0" tIns="0" bIns="0" anchor="ctr">
            <a:spAutoFit/>
          </a:bodyPr>
          <a:lstStyle/>
          <a:p>
            <a:pPr algn="ctr"/>
            <a:r>
              <a:rPr sz="1800" b="0" i="0">
                <a:solidFill>
                  <a:srgbClr val="E05540"/>
                </a:solidFill>
                <a:latin typeface="Geist Mono"/>
                <a:ea typeface="Geist Mono"/>
                <a:cs typeface="Geist Mono"/>
              </a:rPr>
              <a:t>shooter</a:t>
            </a:r>
          </a:p>
        </p:txBody>
      </p:sp>
      <p:cxnSp>
        <p:nvCxnSpPr>
          <p:cNvPr id="15" name="Connector 14"/>
          <p:cNvCxnSpPr/>
          <p:nvPr/>
        </p:nvCxnSpPr>
        <p:spPr>
          <a:xfrm>
            <a:off x="12382500" y="6381750"/>
            <a:ext cx="2286000" cy="0"/>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1430000" y="4476750"/>
            <a:ext cx="95111" cy="27770"/>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1525111" y="4504520"/>
            <a:ext cx="82615" cy="77755"/>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1607726" y="4582275"/>
            <a:ext cx="72201" cy="119409"/>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11679927" y="4701684"/>
            <a:ext cx="63870" cy="152734"/>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11743797" y="4854418"/>
            <a:ext cx="57622" cy="177726"/>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11801419" y="5032144"/>
            <a:ext cx="53457" cy="194387"/>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11854876" y="5226531"/>
            <a:ext cx="51374" cy="202719"/>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11906250" y="5429250"/>
            <a:ext cx="51374" cy="202719"/>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11957624" y="5631969"/>
            <a:ext cx="53457" cy="194387"/>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12011081" y="5826356"/>
            <a:ext cx="57622" cy="177726"/>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12068703" y="6004082"/>
            <a:ext cx="63870" cy="152734"/>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12132573" y="6156816"/>
            <a:ext cx="72201" cy="119409"/>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12204774" y="6276225"/>
            <a:ext cx="82615" cy="77755"/>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12287389" y="6353980"/>
            <a:ext cx="95111" cy="27770"/>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sp>
        <p:nvSpPr>
          <p:cNvPr id="30" name="Oval 29"/>
          <p:cNvSpPr/>
          <p:nvPr/>
        </p:nvSpPr>
        <p:spPr>
          <a:xfrm>
            <a:off x="11496536" y="4475945"/>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11579151" y="4553700"/>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1651352" y="4673109"/>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1715222" y="4825843"/>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11772844" y="5003569"/>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11826301" y="5197956"/>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11877675" y="5400675"/>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1929049" y="5603394"/>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11982506" y="5797781"/>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2040128" y="5975507"/>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12103998" y="6128241"/>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12176199" y="6247650"/>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12258814" y="6325405"/>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3" name="Connector 42"/>
          <p:cNvCxnSpPr/>
          <p:nvPr/>
        </p:nvCxnSpPr>
        <p:spPr>
          <a:xfrm flipV="1">
            <a:off x="14668500" y="6353980"/>
            <a:ext cx="152178" cy="27770"/>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V="1">
            <a:off x="14820678" y="6276225"/>
            <a:ext cx="132184" cy="77755"/>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V="1">
            <a:off x="14952862" y="6156816"/>
            <a:ext cx="115521" cy="119409"/>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V="1">
            <a:off x="15068383" y="6004082"/>
            <a:ext cx="102193" cy="152734"/>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V="1">
            <a:off x="15170576" y="5826356"/>
            <a:ext cx="92195" cy="177726"/>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V="1">
            <a:off x="15262771" y="5631969"/>
            <a:ext cx="85531" cy="194387"/>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V="1">
            <a:off x="15348302" y="5429250"/>
            <a:ext cx="82198" cy="202719"/>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V="1">
            <a:off x="15430500" y="5226531"/>
            <a:ext cx="82198" cy="202719"/>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V="1">
            <a:off x="15512698" y="5032144"/>
            <a:ext cx="85531" cy="194387"/>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V="1">
            <a:off x="15598229" y="4854418"/>
            <a:ext cx="92195" cy="177726"/>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V="1">
            <a:off x="15690424" y="4701684"/>
            <a:ext cx="102193" cy="152734"/>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V="1">
            <a:off x="15792617" y="4582275"/>
            <a:ext cx="115521" cy="119409"/>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V="1">
            <a:off x="15908138" y="4504520"/>
            <a:ext cx="132184" cy="77755"/>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V="1">
            <a:off x="16040322" y="4476750"/>
            <a:ext cx="152178" cy="27770"/>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sp>
        <p:nvSpPr>
          <p:cNvPr id="57" name="Oval 56"/>
          <p:cNvSpPr/>
          <p:nvPr/>
        </p:nvSpPr>
        <p:spPr>
          <a:xfrm>
            <a:off x="14792103" y="6325405"/>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Oval 57"/>
          <p:cNvSpPr/>
          <p:nvPr/>
        </p:nvSpPr>
        <p:spPr>
          <a:xfrm>
            <a:off x="14924287" y="6247650"/>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Oval 58"/>
          <p:cNvSpPr/>
          <p:nvPr/>
        </p:nvSpPr>
        <p:spPr>
          <a:xfrm>
            <a:off x="15039808" y="6128241"/>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Oval 59"/>
          <p:cNvSpPr/>
          <p:nvPr/>
        </p:nvSpPr>
        <p:spPr>
          <a:xfrm>
            <a:off x="15142001" y="5975507"/>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Oval 60"/>
          <p:cNvSpPr/>
          <p:nvPr/>
        </p:nvSpPr>
        <p:spPr>
          <a:xfrm>
            <a:off x="15234196" y="5797781"/>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Oval 61"/>
          <p:cNvSpPr/>
          <p:nvPr/>
        </p:nvSpPr>
        <p:spPr>
          <a:xfrm>
            <a:off x="15319727" y="5603394"/>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Oval 62"/>
          <p:cNvSpPr/>
          <p:nvPr/>
        </p:nvSpPr>
        <p:spPr>
          <a:xfrm>
            <a:off x="15401925" y="5400675"/>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Oval 63"/>
          <p:cNvSpPr/>
          <p:nvPr/>
        </p:nvSpPr>
        <p:spPr>
          <a:xfrm>
            <a:off x="15484123" y="5197956"/>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Oval 64"/>
          <p:cNvSpPr/>
          <p:nvPr/>
        </p:nvSpPr>
        <p:spPr>
          <a:xfrm>
            <a:off x="15569654" y="5003569"/>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Oval 65"/>
          <p:cNvSpPr/>
          <p:nvPr/>
        </p:nvSpPr>
        <p:spPr>
          <a:xfrm>
            <a:off x="15661849" y="4825843"/>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Oval 66"/>
          <p:cNvSpPr/>
          <p:nvPr/>
        </p:nvSpPr>
        <p:spPr>
          <a:xfrm>
            <a:off x="15764042" y="4673109"/>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Oval 67"/>
          <p:cNvSpPr/>
          <p:nvPr/>
        </p:nvSpPr>
        <p:spPr>
          <a:xfrm>
            <a:off x="15879563" y="4553700"/>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Oval 68"/>
          <p:cNvSpPr/>
          <p:nvPr/>
        </p:nvSpPr>
        <p:spPr>
          <a:xfrm>
            <a:off x="16011747" y="4475945"/>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Oval 69"/>
          <p:cNvSpPr/>
          <p:nvPr/>
        </p:nvSpPr>
        <p:spPr>
          <a:xfrm>
            <a:off x="9886950" y="4267200"/>
            <a:ext cx="419100" cy="41910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Oval 70"/>
          <p:cNvSpPr/>
          <p:nvPr/>
        </p:nvSpPr>
        <p:spPr>
          <a:xfrm>
            <a:off x="9953625" y="4333875"/>
            <a:ext cx="285750" cy="285750"/>
          </a:xfrm>
          <a:prstGeom prst="ellipse">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Oval 71"/>
          <p:cNvSpPr/>
          <p:nvPr/>
        </p:nvSpPr>
        <p:spPr>
          <a:xfrm>
            <a:off x="11220450" y="4267200"/>
            <a:ext cx="419100" cy="41910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Oval 72"/>
          <p:cNvSpPr/>
          <p:nvPr/>
        </p:nvSpPr>
        <p:spPr>
          <a:xfrm>
            <a:off x="11287125" y="4333875"/>
            <a:ext cx="285750" cy="285750"/>
          </a:xfrm>
          <a:prstGeom prst="ellipse">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Oval 73"/>
          <p:cNvSpPr/>
          <p:nvPr/>
        </p:nvSpPr>
        <p:spPr>
          <a:xfrm>
            <a:off x="13315950" y="4267200"/>
            <a:ext cx="419100" cy="41910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Oval 74"/>
          <p:cNvSpPr/>
          <p:nvPr/>
        </p:nvSpPr>
        <p:spPr>
          <a:xfrm>
            <a:off x="13382625" y="4333875"/>
            <a:ext cx="285750" cy="285750"/>
          </a:xfrm>
          <a:prstGeom prst="ellipse">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12287250" y="3829050"/>
            <a:ext cx="2476500" cy="342900"/>
          </a:xfrm>
          <a:prstGeom prst="rect">
            <a:avLst/>
          </a:prstGeom>
          <a:noFill/>
        </p:spPr>
        <p:txBody>
          <a:bodyPr wrap="square" lIns="0" rIns="0" tIns="0" bIns="0" anchor="t">
            <a:spAutoFit/>
          </a:bodyPr>
          <a:lstStyle/>
          <a:p>
            <a:pPr algn="ctr"/>
            <a:r>
              <a:rPr sz="1650" b="0" i="0">
                <a:solidFill>
                  <a:srgbClr val="9A7878"/>
                </a:solidFill>
                <a:latin typeface="Geist"/>
                <a:ea typeface="Geist"/>
                <a:cs typeface="Geist"/>
              </a:rPr>
              <a:t>teammate's commit</a:t>
            </a:r>
          </a:p>
        </p:txBody>
      </p:sp>
      <p:sp>
        <p:nvSpPr>
          <p:cNvPr id="77" name="Oval 76"/>
          <p:cNvSpPr/>
          <p:nvPr/>
        </p:nvSpPr>
        <p:spPr>
          <a:xfrm>
            <a:off x="15944850" y="4229100"/>
            <a:ext cx="495300" cy="49530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14954250" y="3829050"/>
            <a:ext cx="2476500" cy="342900"/>
          </a:xfrm>
          <a:prstGeom prst="rect">
            <a:avLst/>
          </a:prstGeom>
          <a:noFill/>
        </p:spPr>
        <p:txBody>
          <a:bodyPr wrap="square" lIns="0" rIns="0" tIns="0" bIns="0" anchor="t">
            <a:spAutoFit/>
          </a:bodyPr>
          <a:lstStyle/>
          <a:p>
            <a:pPr algn="ctr"/>
            <a:r>
              <a:rPr sz="1650" b="1" i="0">
                <a:solidFill>
                  <a:srgbClr val="E8C27A"/>
                </a:solidFill>
                <a:latin typeface="Geist"/>
                <a:ea typeface="Geist"/>
                <a:cs typeface="Geist"/>
              </a:rPr>
              <a:t>merge commit</a:t>
            </a:r>
          </a:p>
        </p:txBody>
      </p:sp>
      <p:sp>
        <p:nvSpPr>
          <p:cNvPr id="79" name="Oval 78"/>
          <p:cNvSpPr/>
          <p:nvPr/>
        </p:nvSpPr>
        <p:spPr>
          <a:xfrm>
            <a:off x="12172950" y="6172200"/>
            <a:ext cx="419100" cy="41910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Oval 79"/>
          <p:cNvSpPr/>
          <p:nvPr/>
        </p:nvSpPr>
        <p:spPr>
          <a:xfrm>
            <a:off x="12239625" y="6238875"/>
            <a:ext cx="285750" cy="285750"/>
          </a:xfrm>
          <a:prstGeom prst="ellipse">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Oval 80"/>
          <p:cNvSpPr/>
          <p:nvPr/>
        </p:nvSpPr>
        <p:spPr>
          <a:xfrm>
            <a:off x="13315950" y="6172200"/>
            <a:ext cx="419100" cy="41910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Oval 81"/>
          <p:cNvSpPr/>
          <p:nvPr/>
        </p:nvSpPr>
        <p:spPr>
          <a:xfrm>
            <a:off x="13382625" y="6238875"/>
            <a:ext cx="285750" cy="285750"/>
          </a:xfrm>
          <a:prstGeom prst="ellipse">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Oval 82"/>
          <p:cNvSpPr/>
          <p:nvPr/>
        </p:nvSpPr>
        <p:spPr>
          <a:xfrm>
            <a:off x="14458950" y="6172200"/>
            <a:ext cx="419100" cy="41910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Oval 83"/>
          <p:cNvSpPr/>
          <p:nvPr/>
        </p:nvSpPr>
        <p:spPr>
          <a:xfrm>
            <a:off x="14525625" y="6238875"/>
            <a:ext cx="285750" cy="285750"/>
          </a:xfrm>
          <a:prstGeom prst="ellipse">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Rounded Rectangle 84"/>
          <p:cNvSpPr/>
          <p:nvPr/>
        </p:nvSpPr>
        <p:spPr>
          <a:xfrm>
            <a:off x="7543800" y="7010400"/>
            <a:ext cx="9525000" cy="1447800"/>
          </a:xfrm>
          <a:prstGeom prst="roundRect">
            <a:avLst>
              <a:gd name="adj" fmla="val 10526"/>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6" name="TextBox 85"/>
          <p:cNvSpPr txBox="1"/>
          <p:nvPr/>
        </p:nvSpPr>
        <p:spPr>
          <a:xfrm>
            <a:off x="7924800" y="7391400"/>
            <a:ext cx="8763000" cy="342900"/>
          </a:xfrm>
          <a:prstGeom prst="rect">
            <a:avLst/>
          </a:prstGeom>
          <a:noFill/>
        </p:spPr>
        <p:txBody>
          <a:bodyPr wrap="square" lIns="0" rIns="0" tIns="0" bIns="0" anchor="ctr">
            <a:spAutoFit/>
          </a:bodyPr>
          <a:lstStyle/>
          <a:p>
            <a:pPr algn="l"/>
            <a:r>
              <a:rPr sz="1800" b="0" i="0">
                <a:solidFill>
                  <a:srgbClr val="E0785F"/>
                </a:solidFill>
                <a:latin typeface="Geist Mono"/>
                <a:ea typeface="Geist Mono"/>
                <a:cs typeface="Geist Mono"/>
              </a:rPr>
              <a:t>git checkout </a:t>
            </a:r>
            <a:r>
              <a:rPr sz="1800" b="0" i="0">
                <a:solidFill>
                  <a:srgbClr val="F0E8E8"/>
                </a:solidFill>
                <a:latin typeface="Geist Mono"/>
                <a:ea typeface="Geist Mono"/>
                <a:cs typeface="Geist Mono"/>
              </a:rPr>
              <a:t>develop</a:t>
            </a:r>
          </a:p>
        </p:txBody>
      </p:sp>
      <p:sp>
        <p:nvSpPr>
          <p:cNvPr id="87" name="TextBox 86"/>
          <p:cNvSpPr txBox="1"/>
          <p:nvPr/>
        </p:nvSpPr>
        <p:spPr>
          <a:xfrm>
            <a:off x="7924800" y="7734300"/>
            <a:ext cx="8763000" cy="342900"/>
          </a:xfrm>
          <a:prstGeom prst="rect">
            <a:avLst/>
          </a:prstGeom>
          <a:noFill/>
        </p:spPr>
        <p:txBody>
          <a:bodyPr wrap="square" lIns="0" rIns="0" tIns="0" bIns="0" anchor="ctr">
            <a:spAutoFit/>
          </a:bodyPr>
          <a:lstStyle/>
          <a:p>
            <a:pPr algn="l"/>
            <a:r>
              <a:rPr sz="1800" b="0" i="0">
                <a:solidFill>
                  <a:srgbClr val="E0785F"/>
                </a:solidFill>
                <a:latin typeface="Geist Mono"/>
                <a:ea typeface="Geist Mono"/>
                <a:cs typeface="Geist Mono"/>
              </a:rPr>
              <a:t>git merge </a:t>
            </a:r>
            <a:r>
              <a:rPr sz="1800" b="0" i="0">
                <a:solidFill>
                  <a:srgbClr val="F0E8E8"/>
                </a:solidFill>
                <a:latin typeface="Geist Mono"/>
                <a:ea typeface="Geist Mono"/>
                <a:cs typeface="Geist Mono"/>
              </a:rPr>
              <a:t>shooter</a:t>
            </a:r>
          </a:p>
        </p:txBody>
      </p:sp>
      <p:pic>
        <p:nvPicPr>
          <p:cNvPr id="88" name="Picture 87" descr="mw_logo_small.png"/>
          <p:cNvPicPr>
            <a:picLocks noChangeAspect="1"/>
          </p:cNvPicPr>
          <p:nvPr/>
        </p:nvPicPr>
        <p:blipFill>
          <a:blip r:embed="rId3"/>
          <a:stretch>
            <a:fillRect/>
          </a:stretch>
        </p:blipFill>
        <p:spPr>
          <a:xfrm>
            <a:off x="914400" y="9410700"/>
            <a:ext cx="583564" cy="495300"/>
          </a:xfrm>
          <a:prstGeom prst="rect">
            <a:avLst/>
          </a:prstGeom>
        </p:spPr>
      </p:pic>
      <p:sp>
        <p:nvSpPr>
          <p:cNvPr id="89" name="TextBox 88"/>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GIT BASICS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Merge conflicts: when git has to ask</a:t>
            </a:r>
          </a:p>
        </p:txBody>
      </p:sp>
      <p:sp>
        <p:nvSpPr>
          <p:cNvPr id="4" name="TextBox 3"/>
          <p:cNvSpPr txBox="1"/>
          <p:nvPr/>
        </p:nvSpPr>
        <p:spPr>
          <a:xfrm>
            <a:off x="914400" y="2724150"/>
            <a:ext cx="9906000" cy="304800"/>
          </a:xfrm>
          <a:prstGeom prst="rect">
            <a:avLst/>
          </a:prstGeom>
          <a:noFill/>
        </p:spPr>
        <p:txBody>
          <a:bodyPr wrap="square" lIns="0" rIns="0" tIns="0" bIns="0" anchor="t">
            <a:spAutoFit/>
          </a:bodyPr>
          <a:lstStyle/>
          <a:p>
            <a:pPr algn="l"/>
            <a:r>
              <a:rPr sz="1650" b="0" i="0">
                <a:solidFill>
                  <a:srgbClr val="9A7878"/>
                </a:solidFill>
                <a:latin typeface="Geist Mono"/>
                <a:ea typeface="Geist Mono"/>
                <a:cs typeface="Geist Mono"/>
              </a:rPr>
              <a:t>Constants.java</a:t>
            </a:r>
          </a:p>
        </p:txBody>
      </p:sp>
      <p:sp>
        <p:nvSpPr>
          <p:cNvPr id="5" name="Rounded Rectangle 4"/>
          <p:cNvSpPr/>
          <p:nvPr/>
        </p:nvSpPr>
        <p:spPr>
          <a:xfrm>
            <a:off x="914400" y="3143250"/>
            <a:ext cx="9906000" cy="2867025"/>
          </a:xfrm>
          <a:prstGeom prst="roundRect">
            <a:avLst>
              <a:gd name="adj" fmla="val 5315"/>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295400" y="3524250"/>
            <a:ext cx="9144000" cy="421005"/>
          </a:xfrm>
          <a:prstGeom prst="rect">
            <a:avLst/>
          </a:prstGeom>
          <a:noFill/>
        </p:spPr>
        <p:txBody>
          <a:bodyPr wrap="square" lIns="0" rIns="0" tIns="0" bIns="0" anchor="ctr">
            <a:spAutoFit/>
          </a:bodyPr>
          <a:lstStyle/>
          <a:p>
            <a:pPr algn="l"/>
            <a:r>
              <a:rPr sz="1950" b="0" i="0">
                <a:solidFill>
                  <a:srgbClr val="CC2200"/>
                </a:solidFill>
                <a:latin typeface="Geist Mono"/>
                <a:ea typeface="Geist Mono"/>
                <a:cs typeface="Geist Mono"/>
              </a:rPr>
              <a:t>&lt;&lt;&lt;&lt;&lt;&lt;&lt; HEAD</a:t>
            </a:r>
          </a:p>
        </p:txBody>
      </p:sp>
      <p:sp>
        <p:nvSpPr>
          <p:cNvPr id="7" name="TextBox 6"/>
          <p:cNvSpPr txBox="1"/>
          <p:nvPr/>
        </p:nvSpPr>
        <p:spPr>
          <a:xfrm>
            <a:off x="1295400" y="3945255"/>
            <a:ext cx="9144000" cy="421005"/>
          </a:xfrm>
          <a:prstGeom prst="rect">
            <a:avLst/>
          </a:prstGeom>
          <a:noFill/>
        </p:spPr>
        <p:txBody>
          <a:bodyPr wrap="square" lIns="0" rIns="0" tIns="0" bIns="0" anchor="ctr">
            <a:spAutoFit/>
          </a:bodyPr>
          <a:lstStyle/>
          <a:p>
            <a:pPr algn="l"/>
            <a:r>
              <a:rPr sz="1950" b="0" i="0">
                <a:solidFill>
                  <a:srgbClr val="E0785F"/>
                </a:solidFill>
                <a:latin typeface="Geist Mono"/>
                <a:ea typeface="Geist Mono"/>
                <a:cs typeface="Geist Mono"/>
              </a:rPr>
              <a:t>public static final double </a:t>
            </a:r>
            <a:r>
              <a:rPr sz="1950" b="0" i="0">
                <a:solidFill>
                  <a:srgbClr val="F0E8E8"/>
                </a:solidFill>
                <a:latin typeface="Geist Mono"/>
                <a:ea typeface="Geist Mono"/>
                <a:cs typeface="Geist Mono"/>
              </a:rPr>
              <a:t>MAX_SPEED = </a:t>
            </a:r>
            <a:r>
              <a:rPr sz="1950" b="0" i="0">
                <a:solidFill>
                  <a:srgbClr val="E8C27A"/>
                </a:solidFill>
                <a:latin typeface="Geist Mono"/>
                <a:ea typeface="Geist Mono"/>
                <a:cs typeface="Geist Mono"/>
              </a:rPr>
              <a:t>4.0</a:t>
            </a:r>
            <a:r>
              <a:rPr sz="1950" b="0" i="0">
                <a:solidFill>
                  <a:srgbClr val="F0E8E8"/>
                </a:solidFill>
                <a:latin typeface="Geist Mono"/>
                <a:ea typeface="Geist Mono"/>
                <a:cs typeface="Geist Mono"/>
              </a:rPr>
              <a:t>;</a:t>
            </a:r>
          </a:p>
        </p:txBody>
      </p:sp>
      <p:sp>
        <p:nvSpPr>
          <p:cNvPr id="8" name="TextBox 7"/>
          <p:cNvSpPr txBox="1"/>
          <p:nvPr/>
        </p:nvSpPr>
        <p:spPr>
          <a:xfrm>
            <a:off x="1295400" y="4366260"/>
            <a:ext cx="9144000" cy="421005"/>
          </a:xfrm>
          <a:prstGeom prst="rect">
            <a:avLst/>
          </a:prstGeom>
          <a:noFill/>
        </p:spPr>
        <p:txBody>
          <a:bodyPr wrap="square" lIns="0" rIns="0" tIns="0" bIns="0" anchor="ctr">
            <a:spAutoFit/>
          </a:bodyPr>
          <a:lstStyle/>
          <a:p>
            <a:pPr algn="l"/>
            <a:r>
              <a:rPr sz="1950" b="0" i="0">
                <a:solidFill>
                  <a:srgbClr val="CC2200"/>
                </a:solidFill>
                <a:latin typeface="Geist Mono"/>
                <a:ea typeface="Geist Mono"/>
                <a:cs typeface="Geist Mono"/>
              </a:rPr>
              <a:t>=======</a:t>
            </a:r>
          </a:p>
        </p:txBody>
      </p:sp>
      <p:sp>
        <p:nvSpPr>
          <p:cNvPr id="9" name="TextBox 8"/>
          <p:cNvSpPr txBox="1"/>
          <p:nvPr/>
        </p:nvSpPr>
        <p:spPr>
          <a:xfrm>
            <a:off x="1295400" y="4787265"/>
            <a:ext cx="9144000" cy="421005"/>
          </a:xfrm>
          <a:prstGeom prst="rect">
            <a:avLst/>
          </a:prstGeom>
          <a:noFill/>
        </p:spPr>
        <p:txBody>
          <a:bodyPr wrap="square" lIns="0" rIns="0" tIns="0" bIns="0" anchor="ctr">
            <a:spAutoFit/>
          </a:bodyPr>
          <a:lstStyle/>
          <a:p>
            <a:pPr algn="l"/>
            <a:r>
              <a:rPr sz="1950" b="0" i="0">
                <a:solidFill>
                  <a:srgbClr val="E0785F"/>
                </a:solidFill>
                <a:latin typeface="Geist Mono"/>
                <a:ea typeface="Geist Mono"/>
                <a:cs typeface="Geist Mono"/>
              </a:rPr>
              <a:t>public static final double </a:t>
            </a:r>
            <a:r>
              <a:rPr sz="1950" b="0" i="0">
                <a:solidFill>
                  <a:srgbClr val="F0E8E8"/>
                </a:solidFill>
                <a:latin typeface="Geist Mono"/>
                <a:ea typeface="Geist Mono"/>
                <a:cs typeface="Geist Mono"/>
              </a:rPr>
              <a:t>MAX_SPEED = </a:t>
            </a:r>
            <a:r>
              <a:rPr sz="1950" b="0" i="0">
                <a:solidFill>
                  <a:srgbClr val="E8C27A"/>
                </a:solidFill>
                <a:latin typeface="Geist Mono"/>
                <a:ea typeface="Geist Mono"/>
                <a:cs typeface="Geist Mono"/>
              </a:rPr>
              <a:t>5.0</a:t>
            </a:r>
            <a:r>
              <a:rPr sz="1950" b="0" i="0">
                <a:solidFill>
                  <a:srgbClr val="F0E8E8"/>
                </a:solidFill>
                <a:latin typeface="Geist Mono"/>
                <a:ea typeface="Geist Mono"/>
                <a:cs typeface="Geist Mono"/>
              </a:rPr>
              <a:t>;</a:t>
            </a:r>
          </a:p>
        </p:txBody>
      </p:sp>
      <p:sp>
        <p:nvSpPr>
          <p:cNvPr id="10" name="TextBox 9"/>
          <p:cNvSpPr txBox="1"/>
          <p:nvPr/>
        </p:nvSpPr>
        <p:spPr>
          <a:xfrm>
            <a:off x="1295400" y="5208270"/>
            <a:ext cx="9144000" cy="421005"/>
          </a:xfrm>
          <a:prstGeom prst="rect">
            <a:avLst/>
          </a:prstGeom>
          <a:noFill/>
        </p:spPr>
        <p:txBody>
          <a:bodyPr wrap="square" lIns="0" rIns="0" tIns="0" bIns="0" anchor="ctr">
            <a:spAutoFit/>
          </a:bodyPr>
          <a:lstStyle/>
          <a:p>
            <a:pPr algn="l"/>
            <a:r>
              <a:rPr sz="1950" b="0" i="0">
                <a:solidFill>
                  <a:srgbClr val="CC2200"/>
                </a:solidFill>
                <a:latin typeface="Geist Mono"/>
                <a:ea typeface="Geist Mono"/>
                <a:cs typeface="Geist Mono"/>
              </a:rPr>
              <a:t>&gt;&gt;&gt;&gt;&gt;&gt;&gt; issue-9-max-speed</a:t>
            </a:r>
          </a:p>
        </p:txBody>
      </p:sp>
      <p:sp>
        <p:nvSpPr>
          <p:cNvPr id="11" name="Oval 10"/>
          <p:cNvSpPr/>
          <p:nvPr/>
        </p:nvSpPr>
        <p:spPr>
          <a:xfrm>
            <a:off x="10096500" y="3907155"/>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96500" y="3907155"/>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13" name="Oval 12"/>
          <p:cNvSpPr/>
          <p:nvPr/>
        </p:nvSpPr>
        <p:spPr>
          <a:xfrm>
            <a:off x="10096500" y="4749165"/>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96500" y="4749165"/>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15" name="Oval 14"/>
          <p:cNvSpPr/>
          <p:nvPr/>
        </p:nvSpPr>
        <p:spPr>
          <a:xfrm>
            <a:off x="11620500" y="3143250"/>
            <a:ext cx="495300" cy="4953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1620500" y="3143250"/>
            <a:ext cx="495300" cy="4953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17" name="TextBox 16"/>
          <p:cNvSpPr txBox="1"/>
          <p:nvPr/>
        </p:nvSpPr>
        <p:spPr>
          <a:xfrm>
            <a:off x="12306300" y="3105150"/>
            <a:ext cx="5143500" cy="381000"/>
          </a:xfrm>
          <a:prstGeom prst="rect">
            <a:avLst/>
          </a:prstGeom>
          <a:noFill/>
        </p:spPr>
        <p:txBody>
          <a:bodyPr wrap="square" lIns="0" rIns="0" tIns="0" bIns="0" anchor="t">
            <a:spAutoFit/>
          </a:bodyPr>
          <a:lstStyle/>
          <a:p>
            <a:pPr algn="l"/>
            <a:r>
              <a:rPr sz="2400" b="1" i="0">
                <a:solidFill>
                  <a:srgbClr val="F0E8E8"/>
                </a:solidFill>
                <a:latin typeface="Geist"/>
                <a:ea typeface="Geist"/>
                <a:cs typeface="Geist"/>
              </a:rPr>
              <a:t>Yours</a:t>
            </a:r>
          </a:p>
        </p:txBody>
      </p:sp>
      <p:sp>
        <p:nvSpPr>
          <p:cNvPr id="18" name="TextBox 17"/>
          <p:cNvSpPr txBox="1"/>
          <p:nvPr/>
        </p:nvSpPr>
        <p:spPr>
          <a:xfrm>
            <a:off x="12306300" y="3562350"/>
            <a:ext cx="5143500" cy="952500"/>
          </a:xfrm>
          <a:prstGeom prst="rect">
            <a:avLst/>
          </a:prstGeom>
          <a:noFill/>
        </p:spPr>
        <p:txBody>
          <a:bodyPr wrap="square" lIns="0" rIns="0" tIns="0" bIns="0" anchor="t">
            <a:spAutoFit/>
          </a:bodyPr>
          <a:lstStyle/>
          <a:p>
            <a:pPr algn="l">
              <a:lnSpc>
                <a:spcPct val="130000"/>
              </a:lnSpc>
            </a:pPr>
            <a:r>
              <a:rPr sz="1800" b="0" i="0">
                <a:solidFill>
                  <a:srgbClr val="9A7878"/>
                </a:solidFill>
                <a:latin typeface="Geist"/>
                <a:ea typeface="Geist"/>
                <a:cs typeface="Geist"/>
              </a:rPr>
              <a:t>What's on the branch you're on</a:t>
            </a:r>
          </a:p>
        </p:txBody>
      </p:sp>
      <p:sp>
        <p:nvSpPr>
          <p:cNvPr id="19" name="Oval 18"/>
          <p:cNvSpPr/>
          <p:nvPr/>
        </p:nvSpPr>
        <p:spPr>
          <a:xfrm>
            <a:off x="11620500" y="4762500"/>
            <a:ext cx="495300" cy="4953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1620500" y="4762500"/>
            <a:ext cx="495300" cy="4953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21" name="TextBox 20"/>
          <p:cNvSpPr txBox="1"/>
          <p:nvPr/>
        </p:nvSpPr>
        <p:spPr>
          <a:xfrm>
            <a:off x="12306300" y="4724400"/>
            <a:ext cx="5143500" cy="381000"/>
          </a:xfrm>
          <a:prstGeom prst="rect">
            <a:avLst/>
          </a:prstGeom>
          <a:noFill/>
        </p:spPr>
        <p:txBody>
          <a:bodyPr wrap="square" lIns="0" rIns="0" tIns="0" bIns="0" anchor="t">
            <a:spAutoFit/>
          </a:bodyPr>
          <a:lstStyle/>
          <a:p>
            <a:pPr algn="l"/>
            <a:r>
              <a:rPr sz="2400" b="1" i="0">
                <a:solidFill>
                  <a:srgbClr val="F0E8E8"/>
                </a:solidFill>
                <a:latin typeface="Geist"/>
                <a:ea typeface="Geist"/>
                <a:cs typeface="Geist"/>
              </a:rPr>
              <a:t>Incoming</a:t>
            </a:r>
          </a:p>
        </p:txBody>
      </p:sp>
      <p:sp>
        <p:nvSpPr>
          <p:cNvPr id="22" name="TextBox 21"/>
          <p:cNvSpPr txBox="1"/>
          <p:nvPr/>
        </p:nvSpPr>
        <p:spPr>
          <a:xfrm>
            <a:off x="12306300" y="5181600"/>
            <a:ext cx="5143500" cy="952500"/>
          </a:xfrm>
          <a:prstGeom prst="rect">
            <a:avLst/>
          </a:prstGeom>
          <a:noFill/>
        </p:spPr>
        <p:txBody>
          <a:bodyPr wrap="square" lIns="0" rIns="0" tIns="0" bIns="0" anchor="t">
            <a:spAutoFit/>
          </a:bodyPr>
          <a:lstStyle/>
          <a:p>
            <a:pPr algn="l">
              <a:lnSpc>
                <a:spcPct val="130000"/>
              </a:lnSpc>
            </a:pPr>
            <a:r>
              <a:rPr sz="1800" b="0" i="0">
                <a:solidFill>
                  <a:srgbClr val="9A7878"/>
                </a:solidFill>
                <a:latin typeface="Geist"/>
                <a:ea typeface="Geist"/>
                <a:cs typeface="Geist"/>
              </a:rPr>
              <a:t>What the other branch changed</a:t>
            </a:r>
          </a:p>
        </p:txBody>
      </p:sp>
      <p:sp>
        <p:nvSpPr>
          <p:cNvPr id="23" name="Oval 22"/>
          <p:cNvSpPr/>
          <p:nvPr/>
        </p:nvSpPr>
        <p:spPr>
          <a:xfrm>
            <a:off x="11620500" y="6381750"/>
            <a:ext cx="495300" cy="4953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1620500" y="6381750"/>
            <a:ext cx="495300" cy="4953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25" name="TextBox 24"/>
          <p:cNvSpPr txBox="1"/>
          <p:nvPr/>
        </p:nvSpPr>
        <p:spPr>
          <a:xfrm>
            <a:off x="12306300" y="6343650"/>
            <a:ext cx="5143500" cy="381000"/>
          </a:xfrm>
          <a:prstGeom prst="rect">
            <a:avLst/>
          </a:prstGeom>
          <a:noFill/>
        </p:spPr>
        <p:txBody>
          <a:bodyPr wrap="square" lIns="0" rIns="0" tIns="0" bIns="0" anchor="t">
            <a:spAutoFit/>
          </a:bodyPr>
          <a:lstStyle/>
          <a:p>
            <a:pPr algn="l"/>
            <a:r>
              <a:rPr sz="2400" b="1" i="0">
                <a:solidFill>
                  <a:srgbClr val="F0E8E8"/>
                </a:solidFill>
                <a:latin typeface="Geist"/>
                <a:ea typeface="Geist"/>
                <a:cs typeface="Geist"/>
              </a:rPr>
              <a:t>You decide</a:t>
            </a:r>
          </a:p>
        </p:txBody>
      </p:sp>
      <p:sp>
        <p:nvSpPr>
          <p:cNvPr id="26" name="TextBox 25"/>
          <p:cNvSpPr txBox="1"/>
          <p:nvPr/>
        </p:nvSpPr>
        <p:spPr>
          <a:xfrm>
            <a:off x="12306300" y="6800850"/>
            <a:ext cx="5143500" cy="952500"/>
          </a:xfrm>
          <a:prstGeom prst="rect">
            <a:avLst/>
          </a:prstGeom>
          <a:noFill/>
        </p:spPr>
        <p:txBody>
          <a:bodyPr wrap="square" lIns="0" rIns="0" tIns="0" bIns="0" anchor="t">
            <a:spAutoFit/>
          </a:bodyPr>
          <a:lstStyle/>
          <a:p>
            <a:pPr algn="l">
              <a:lnSpc>
                <a:spcPct val="130000"/>
              </a:lnSpc>
            </a:pPr>
            <a:r>
              <a:rPr sz="1800" b="0" i="0">
                <a:solidFill>
                  <a:srgbClr val="9A7878"/>
                </a:solidFill>
                <a:latin typeface="Geist"/>
                <a:ea typeface="Geist"/>
                <a:cs typeface="Geist"/>
              </a:rPr>
              <a:t>Keep one, save, stage with +, commit</a:t>
            </a:r>
          </a:p>
        </p:txBody>
      </p:sp>
      <p:sp>
        <p:nvSpPr>
          <p:cNvPr id="27" name="Rounded Rectangle 26"/>
          <p:cNvSpPr/>
          <p:nvPr/>
        </p:nvSpPr>
        <p:spPr>
          <a:xfrm>
            <a:off x="914400" y="7620000"/>
            <a:ext cx="16459200" cy="1047750"/>
          </a:xfrm>
          <a:prstGeom prst="roundRect">
            <a:avLst>
              <a:gd name="adj" fmla="val 14545"/>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1333500" y="7620000"/>
            <a:ext cx="15659100" cy="1047750"/>
          </a:xfrm>
          <a:prstGeom prst="rect">
            <a:avLst/>
          </a:prstGeom>
          <a:noFill/>
        </p:spPr>
        <p:txBody>
          <a:bodyPr wrap="square" lIns="0" rIns="0" tIns="0" bIns="0" anchor="ctr">
            <a:spAutoFit/>
          </a:bodyPr>
          <a:lstStyle/>
          <a:p>
            <a:pPr algn="l">
              <a:lnSpc>
                <a:spcPct val="130000"/>
              </a:lnSpc>
            </a:pPr>
            <a:r>
              <a:rPr sz="2100" b="1" i="0">
                <a:solidFill>
                  <a:srgbClr val="F0E8E8"/>
                </a:solidFill>
                <a:latin typeface="Geist"/>
                <a:ea typeface="Geist"/>
                <a:cs typeface="Geist"/>
              </a:rPr>
              <a:t>Why?  </a:t>
            </a:r>
            <a:r>
              <a:rPr sz="2100" b="0" i="0">
                <a:solidFill>
                  <a:srgbClr val="F0E8E8"/>
                </a:solidFill>
                <a:latin typeface="Geist"/>
                <a:ea typeface="Geist"/>
                <a:cs typeface="Geist"/>
              </a:rPr>
              <a:t>Two branches changed the same line, so git can't pick. That's normal, not an error.</a:t>
            </a:r>
          </a:p>
        </p:txBody>
      </p:sp>
      <p:pic>
        <p:nvPicPr>
          <p:cNvPr id="29" name="Picture 28" descr="dozer_wide_left.png"/>
          <p:cNvPicPr>
            <a:picLocks noChangeAspect="1"/>
          </p:cNvPicPr>
          <p:nvPr/>
        </p:nvPicPr>
        <p:blipFill>
          <a:blip r:embed="rId3"/>
          <a:stretch>
            <a:fillRect/>
          </a:stretch>
        </p:blipFill>
        <p:spPr>
          <a:xfrm>
            <a:off x="15716250" y="7705725"/>
            <a:ext cx="1428750" cy="878172"/>
          </a:xfrm>
          <a:prstGeom prst="rect">
            <a:avLst/>
          </a:prstGeom>
        </p:spPr>
      </p:pic>
      <p:pic>
        <p:nvPicPr>
          <p:cNvPr id="30" name="Picture 29" descr="mw_logo_small.png"/>
          <p:cNvPicPr>
            <a:picLocks noChangeAspect="1"/>
          </p:cNvPicPr>
          <p:nvPr/>
        </p:nvPicPr>
        <p:blipFill>
          <a:blip r:embed="rId4"/>
          <a:stretch>
            <a:fillRect/>
          </a:stretch>
        </p:blipFill>
        <p:spPr>
          <a:xfrm>
            <a:off x="914400" y="9410700"/>
            <a:ext cx="583564" cy="495300"/>
          </a:xfrm>
          <a:prstGeom prst="rect">
            <a:avLst/>
          </a:prstGeom>
        </p:spPr>
      </p:pic>
      <p:sp>
        <p:nvSpPr>
          <p:cNvPr id="31" name="TextBox 30"/>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GIT BASICS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Rebase: replay your work on top</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762250"/>
            <a:ext cx="9334500" cy="5905500"/>
          </a:xfrm>
          <a:prstGeom prst="roundRect">
            <a:avLst>
              <a:gd name="adj" fmla="val 2580"/>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295400" y="2952750"/>
            <a:ext cx="3810000" cy="381000"/>
          </a:xfrm>
          <a:prstGeom prst="rect">
            <a:avLst/>
          </a:prstGeom>
          <a:noFill/>
        </p:spPr>
        <p:txBody>
          <a:bodyPr wrap="square" lIns="0" rIns="0" tIns="0" bIns="0" anchor="t">
            <a:spAutoFit/>
          </a:bodyPr>
          <a:lstStyle/>
          <a:p>
            <a:pPr algn="l"/>
            <a:r>
              <a:rPr sz="1650" b="1" i="0" spc="130">
                <a:solidFill>
                  <a:srgbClr val="9A7878"/>
                </a:solidFill>
                <a:latin typeface="Geist"/>
                <a:ea typeface="Geist"/>
                <a:cs typeface="Geist"/>
              </a:rPr>
              <a:t>BEFORE</a:t>
            </a:r>
          </a:p>
        </p:txBody>
      </p:sp>
      <p:sp>
        <p:nvSpPr>
          <p:cNvPr id="7" name="Rounded Rectangle 6"/>
          <p:cNvSpPr/>
          <p:nvPr/>
        </p:nvSpPr>
        <p:spPr>
          <a:xfrm>
            <a:off x="1295400" y="3524250"/>
            <a:ext cx="2000250" cy="571500"/>
          </a:xfrm>
          <a:prstGeom prst="roundRect">
            <a:avLst>
              <a:gd name="adj" fmla="val 50000"/>
            </a:avLst>
          </a:prstGeom>
          <a:solidFill>
            <a:srgbClr val="111111"/>
          </a:solidFill>
          <a:ln w="19050">
            <a:solidFill>
              <a:srgbClr val="E8C27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295400" y="3524250"/>
            <a:ext cx="2000250" cy="571500"/>
          </a:xfrm>
          <a:prstGeom prst="rect">
            <a:avLst/>
          </a:prstGeom>
          <a:noFill/>
        </p:spPr>
        <p:txBody>
          <a:bodyPr wrap="square" lIns="0" rIns="0" tIns="0" bIns="0" anchor="ctr">
            <a:spAutoFit/>
          </a:bodyPr>
          <a:lstStyle/>
          <a:p>
            <a:pPr algn="ctr"/>
            <a:r>
              <a:rPr sz="1800" b="0" i="0">
                <a:solidFill>
                  <a:srgbClr val="E8C27A"/>
                </a:solidFill>
                <a:latin typeface="Geist Mono"/>
                <a:ea typeface="Geist Mono"/>
                <a:cs typeface="Geist Mono"/>
              </a:rPr>
              <a:t>develop</a:t>
            </a:r>
          </a:p>
        </p:txBody>
      </p:sp>
      <p:cxnSp>
        <p:nvCxnSpPr>
          <p:cNvPr id="9" name="Connector 8"/>
          <p:cNvCxnSpPr/>
          <p:nvPr/>
        </p:nvCxnSpPr>
        <p:spPr>
          <a:xfrm>
            <a:off x="4000500" y="3810000"/>
            <a:ext cx="4000500" cy="0"/>
          </a:xfrm>
          <a:prstGeom prst="line">
            <a:avLst/>
          </a:prstGeom>
          <a:ln w="57150">
            <a:solidFill>
              <a:srgbClr val="E8C27A"/>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1295400" y="4572000"/>
            <a:ext cx="2000250" cy="571500"/>
          </a:xfrm>
          <a:prstGeom prst="roundRect">
            <a:avLst>
              <a:gd name="adj" fmla="val 50000"/>
            </a:avLst>
          </a:prstGeom>
          <a:solidFill>
            <a:srgbClr val="111111"/>
          </a:solidFill>
          <a:ln w="19050">
            <a:solidFill>
              <a:srgbClr val="E055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295400" y="4572000"/>
            <a:ext cx="2000250" cy="571500"/>
          </a:xfrm>
          <a:prstGeom prst="rect">
            <a:avLst/>
          </a:prstGeom>
          <a:noFill/>
        </p:spPr>
        <p:txBody>
          <a:bodyPr wrap="square" lIns="0" rIns="0" tIns="0" bIns="0" anchor="ctr">
            <a:spAutoFit/>
          </a:bodyPr>
          <a:lstStyle/>
          <a:p>
            <a:pPr algn="ctr"/>
            <a:r>
              <a:rPr sz="1800" b="0" i="0">
                <a:solidFill>
                  <a:srgbClr val="E05540"/>
                </a:solidFill>
                <a:latin typeface="Geist Mono"/>
                <a:ea typeface="Geist Mono"/>
                <a:cs typeface="Geist Mono"/>
              </a:rPr>
              <a:t>my-feature</a:t>
            </a:r>
          </a:p>
        </p:txBody>
      </p:sp>
      <p:cxnSp>
        <p:nvCxnSpPr>
          <p:cNvPr id="12" name="Connector 11"/>
          <p:cNvCxnSpPr/>
          <p:nvPr/>
        </p:nvCxnSpPr>
        <p:spPr>
          <a:xfrm>
            <a:off x="6667500" y="4857750"/>
            <a:ext cx="1333500" cy="0"/>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5334000" y="3810000"/>
            <a:ext cx="133156" cy="15273"/>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5467156" y="3825273"/>
            <a:ext cx="115660" cy="42766"/>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5582816" y="3868039"/>
            <a:ext cx="101082" cy="65675"/>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5683898" y="3933714"/>
            <a:ext cx="89418" cy="84003"/>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5773316" y="4017717"/>
            <a:ext cx="80671" cy="97749"/>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5853987" y="4115466"/>
            <a:ext cx="74840" cy="106914"/>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5928827" y="4222380"/>
            <a:ext cx="71923" cy="111495"/>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6000750" y="4333875"/>
            <a:ext cx="71923" cy="111495"/>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6072673" y="4445370"/>
            <a:ext cx="74840" cy="106914"/>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6147513" y="4552284"/>
            <a:ext cx="80671" cy="97749"/>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6228184" y="4650033"/>
            <a:ext cx="89418" cy="84003"/>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6317602" y="4734036"/>
            <a:ext cx="101082" cy="65675"/>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6418684" y="4799711"/>
            <a:ext cx="115660" cy="42766"/>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6534344" y="4842477"/>
            <a:ext cx="133156" cy="15273"/>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sp>
        <p:nvSpPr>
          <p:cNvPr id="27" name="Oval 26"/>
          <p:cNvSpPr/>
          <p:nvPr/>
        </p:nvSpPr>
        <p:spPr>
          <a:xfrm>
            <a:off x="5438581" y="3796698"/>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5554241" y="3839464"/>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5655323" y="3905139"/>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5744741" y="3989142"/>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5825412" y="4086891"/>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5900252" y="4193805"/>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5972175" y="4305300"/>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044098" y="4416795"/>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6118938" y="4523709"/>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6199609" y="4621458"/>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6289027" y="4705461"/>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6390109" y="4771136"/>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6505769" y="4813902"/>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3790950" y="3600450"/>
            <a:ext cx="419100" cy="41910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3857625" y="3667125"/>
            <a:ext cx="285750" cy="285750"/>
          </a:xfrm>
          <a:prstGeom prst="ellipse">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5124450" y="3600450"/>
            <a:ext cx="419100" cy="41910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5191125" y="3667125"/>
            <a:ext cx="285750" cy="285750"/>
          </a:xfrm>
          <a:prstGeom prst="ellipse">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7791450" y="3600450"/>
            <a:ext cx="419100" cy="41910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7858125" y="3667125"/>
            <a:ext cx="285750" cy="285750"/>
          </a:xfrm>
          <a:prstGeom prst="ellipse">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762750" y="3162300"/>
            <a:ext cx="2476500" cy="342900"/>
          </a:xfrm>
          <a:prstGeom prst="rect">
            <a:avLst/>
          </a:prstGeom>
          <a:noFill/>
        </p:spPr>
        <p:txBody>
          <a:bodyPr wrap="square" lIns="0" rIns="0" tIns="0" bIns="0" anchor="t">
            <a:spAutoFit/>
          </a:bodyPr>
          <a:lstStyle/>
          <a:p>
            <a:pPr algn="ctr"/>
            <a:r>
              <a:rPr sz="1650" b="0" i="0">
                <a:solidFill>
                  <a:srgbClr val="9A7878"/>
                </a:solidFill>
                <a:latin typeface="Geist"/>
                <a:ea typeface="Geist"/>
                <a:cs typeface="Geist"/>
              </a:rPr>
              <a:t>new on develop</a:t>
            </a:r>
          </a:p>
        </p:txBody>
      </p:sp>
      <p:sp>
        <p:nvSpPr>
          <p:cNvPr id="47" name="Oval 46"/>
          <p:cNvSpPr/>
          <p:nvPr/>
        </p:nvSpPr>
        <p:spPr>
          <a:xfrm>
            <a:off x="6457950" y="4648200"/>
            <a:ext cx="419100" cy="41910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Oval 47"/>
          <p:cNvSpPr/>
          <p:nvPr/>
        </p:nvSpPr>
        <p:spPr>
          <a:xfrm>
            <a:off x="6524625" y="4714875"/>
            <a:ext cx="285750" cy="285750"/>
          </a:xfrm>
          <a:prstGeom prst="ellipse">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429250" y="5162550"/>
            <a:ext cx="2476500" cy="342900"/>
          </a:xfrm>
          <a:prstGeom prst="rect">
            <a:avLst/>
          </a:prstGeom>
          <a:noFill/>
        </p:spPr>
        <p:txBody>
          <a:bodyPr wrap="square" lIns="0" rIns="0" tIns="0" bIns="0" anchor="t">
            <a:spAutoFit/>
          </a:bodyPr>
          <a:lstStyle/>
          <a:p>
            <a:pPr algn="ctr"/>
            <a:r>
              <a:rPr sz="1650" b="0" i="0">
                <a:solidFill>
                  <a:srgbClr val="9A7878"/>
                </a:solidFill>
                <a:latin typeface="Geist"/>
                <a:ea typeface="Geist"/>
                <a:cs typeface="Geist"/>
              </a:rPr>
              <a:t>A</a:t>
            </a:r>
          </a:p>
        </p:txBody>
      </p:sp>
      <p:sp>
        <p:nvSpPr>
          <p:cNvPr id="50" name="Oval 49"/>
          <p:cNvSpPr/>
          <p:nvPr/>
        </p:nvSpPr>
        <p:spPr>
          <a:xfrm>
            <a:off x="7791450" y="4648200"/>
            <a:ext cx="419100" cy="41910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Oval 50"/>
          <p:cNvSpPr/>
          <p:nvPr/>
        </p:nvSpPr>
        <p:spPr>
          <a:xfrm>
            <a:off x="7858125" y="4714875"/>
            <a:ext cx="285750" cy="285750"/>
          </a:xfrm>
          <a:prstGeom prst="ellipse">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762750" y="5162550"/>
            <a:ext cx="2476500" cy="342900"/>
          </a:xfrm>
          <a:prstGeom prst="rect">
            <a:avLst/>
          </a:prstGeom>
          <a:noFill/>
        </p:spPr>
        <p:txBody>
          <a:bodyPr wrap="square" lIns="0" rIns="0" tIns="0" bIns="0" anchor="t">
            <a:spAutoFit/>
          </a:bodyPr>
          <a:lstStyle/>
          <a:p>
            <a:pPr algn="ctr"/>
            <a:r>
              <a:rPr sz="1650" b="0" i="0">
                <a:solidFill>
                  <a:srgbClr val="9A7878"/>
                </a:solidFill>
                <a:latin typeface="Geist"/>
                <a:ea typeface="Geist"/>
                <a:cs typeface="Geist"/>
              </a:rPr>
              <a:t>B</a:t>
            </a:r>
          </a:p>
        </p:txBody>
      </p:sp>
      <p:cxnSp>
        <p:nvCxnSpPr>
          <p:cNvPr id="53" name="Connector 52"/>
          <p:cNvCxnSpPr/>
          <p:nvPr/>
        </p:nvCxnSpPr>
        <p:spPr>
          <a:xfrm>
            <a:off x="1295400" y="5715000"/>
            <a:ext cx="8572500" cy="0"/>
          </a:xfrm>
          <a:prstGeom prst="line">
            <a:avLst/>
          </a:prstGeom>
          <a:ln w="19050">
            <a:solidFill>
              <a:srgbClr val="2A1A1A"/>
            </a:solidFill>
          </a:ln>
        </p:spPr>
        <p:style>
          <a:lnRef idx="2">
            <a:schemeClr val="accent1"/>
          </a:lnRef>
          <a:fillRef idx="0">
            <a:schemeClr val="accent1"/>
          </a:fillRef>
          <a:effectRef idx="1">
            <a:schemeClr val="accent1"/>
          </a:effectRef>
          <a:fontRef idx="minor">
            <a:schemeClr val="tx1"/>
          </a:fontRef>
        </p:style>
      </p:cxnSp>
      <p:sp>
        <p:nvSpPr>
          <p:cNvPr id="54" name="TextBox 53"/>
          <p:cNvSpPr txBox="1"/>
          <p:nvPr/>
        </p:nvSpPr>
        <p:spPr>
          <a:xfrm>
            <a:off x="1295400" y="5905500"/>
            <a:ext cx="3810000" cy="381000"/>
          </a:xfrm>
          <a:prstGeom prst="rect">
            <a:avLst/>
          </a:prstGeom>
          <a:noFill/>
        </p:spPr>
        <p:txBody>
          <a:bodyPr wrap="square" lIns="0" rIns="0" tIns="0" bIns="0" anchor="t">
            <a:spAutoFit/>
          </a:bodyPr>
          <a:lstStyle/>
          <a:p>
            <a:pPr algn="l"/>
            <a:r>
              <a:rPr sz="1650" b="1" i="0" spc="130">
                <a:solidFill>
                  <a:srgbClr val="E05540"/>
                </a:solidFill>
                <a:latin typeface="Geist"/>
                <a:ea typeface="Geist"/>
                <a:cs typeface="Geist"/>
              </a:rPr>
              <a:t>AFTER  git rebase develop</a:t>
            </a:r>
          </a:p>
        </p:txBody>
      </p:sp>
      <p:sp>
        <p:nvSpPr>
          <p:cNvPr id="55" name="Rounded Rectangle 54"/>
          <p:cNvSpPr/>
          <p:nvPr/>
        </p:nvSpPr>
        <p:spPr>
          <a:xfrm>
            <a:off x="1295400" y="6477000"/>
            <a:ext cx="2000250" cy="571500"/>
          </a:xfrm>
          <a:prstGeom prst="roundRect">
            <a:avLst>
              <a:gd name="adj" fmla="val 50000"/>
            </a:avLst>
          </a:prstGeom>
          <a:solidFill>
            <a:srgbClr val="111111"/>
          </a:solidFill>
          <a:ln w="19050">
            <a:solidFill>
              <a:srgbClr val="E8C27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TextBox 55"/>
          <p:cNvSpPr txBox="1"/>
          <p:nvPr/>
        </p:nvSpPr>
        <p:spPr>
          <a:xfrm>
            <a:off x="1295400" y="6477000"/>
            <a:ext cx="2000250" cy="571500"/>
          </a:xfrm>
          <a:prstGeom prst="rect">
            <a:avLst/>
          </a:prstGeom>
          <a:noFill/>
        </p:spPr>
        <p:txBody>
          <a:bodyPr wrap="square" lIns="0" rIns="0" tIns="0" bIns="0" anchor="ctr">
            <a:spAutoFit/>
          </a:bodyPr>
          <a:lstStyle/>
          <a:p>
            <a:pPr algn="ctr"/>
            <a:r>
              <a:rPr sz="1800" b="0" i="0">
                <a:solidFill>
                  <a:srgbClr val="E8C27A"/>
                </a:solidFill>
                <a:latin typeface="Geist Mono"/>
                <a:ea typeface="Geist Mono"/>
                <a:cs typeface="Geist Mono"/>
              </a:rPr>
              <a:t>develop</a:t>
            </a:r>
          </a:p>
        </p:txBody>
      </p:sp>
      <p:cxnSp>
        <p:nvCxnSpPr>
          <p:cNvPr id="57" name="Connector 56"/>
          <p:cNvCxnSpPr/>
          <p:nvPr/>
        </p:nvCxnSpPr>
        <p:spPr>
          <a:xfrm>
            <a:off x="4000500" y="6762750"/>
            <a:ext cx="2667000" cy="0"/>
          </a:xfrm>
          <a:prstGeom prst="line">
            <a:avLst/>
          </a:prstGeom>
          <a:ln w="57150">
            <a:solidFill>
              <a:srgbClr val="E8C27A"/>
            </a:solidFill>
          </a:ln>
        </p:spPr>
        <p:style>
          <a:lnRef idx="2">
            <a:schemeClr val="accent1"/>
          </a:lnRef>
          <a:fillRef idx="0">
            <a:schemeClr val="accent1"/>
          </a:fillRef>
          <a:effectRef idx="1">
            <a:schemeClr val="accent1"/>
          </a:effectRef>
          <a:fontRef idx="minor">
            <a:schemeClr val="tx1"/>
          </a:fontRef>
        </p:style>
      </p:cxnSp>
      <p:sp>
        <p:nvSpPr>
          <p:cNvPr id="58" name="Rounded Rectangle 57"/>
          <p:cNvSpPr/>
          <p:nvPr/>
        </p:nvSpPr>
        <p:spPr>
          <a:xfrm>
            <a:off x="1295400" y="7524750"/>
            <a:ext cx="2000250" cy="571500"/>
          </a:xfrm>
          <a:prstGeom prst="roundRect">
            <a:avLst>
              <a:gd name="adj" fmla="val 50000"/>
            </a:avLst>
          </a:prstGeom>
          <a:solidFill>
            <a:srgbClr val="111111"/>
          </a:solidFill>
          <a:ln w="19050">
            <a:solidFill>
              <a:srgbClr val="E055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9" name="TextBox 58"/>
          <p:cNvSpPr txBox="1"/>
          <p:nvPr/>
        </p:nvSpPr>
        <p:spPr>
          <a:xfrm>
            <a:off x="1295400" y="7524750"/>
            <a:ext cx="2000250" cy="571500"/>
          </a:xfrm>
          <a:prstGeom prst="rect">
            <a:avLst/>
          </a:prstGeom>
          <a:noFill/>
        </p:spPr>
        <p:txBody>
          <a:bodyPr wrap="square" lIns="0" rIns="0" tIns="0" bIns="0" anchor="ctr">
            <a:spAutoFit/>
          </a:bodyPr>
          <a:lstStyle/>
          <a:p>
            <a:pPr algn="ctr"/>
            <a:r>
              <a:rPr sz="1800" b="0" i="0">
                <a:solidFill>
                  <a:srgbClr val="E05540"/>
                </a:solidFill>
                <a:latin typeface="Geist Mono"/>
                <a:ea typeface="Geist Mono"/>
                <a:cs typeface="Geist Mono"/>
              </a:rPr>
              <a:t>my-feature</a:t>
            </a:r>
          </a:p>
        </p:txBody>
      </p:sp>
      <p:cxnSp>
        <p:nvCxnSpPr>
          <p:cNvPr id="60" name="Connector 59"/>
          <p:cNvCxnSpPr/>
          <p:nvPr/>
        </p:nvCxnSpPr>
        <p:spPr>
          <a:xfrm>
            <a:off x="8001000" y="7810500"/>
            <a:ext cx="1333500" cy="0"/>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a:off x="6667500" y="6762750"/>
            <a:ext cx="133156" cy="15273"/>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a:off x="6800656" y="6778023"/>
            <a:ext cx="115660" cy="42766"/>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a:off x="6916316" y="6820789"/>
            <a:ext cx="101082" cy="65675"/>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a:off x="7017398" y="6886464"/>
            <a:ext cx="89418" cy="84003"/>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a:off x="7106816" y="6970467"/>
            <a:ext cx="80671" cy="97749"/>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a:off x="7187487" y="7068216"/>
            <a:ext cx="74840" cy="106914"/>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a:off x="7262327" y="7175130"/>
            <a:ext cx="71923" cy="111495"/>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a:off x="7334250" y="7286625"/>
            <a:ext cx="71923" cy="111495"/>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a:off x="7406173" y="7398120"/>
            <a:ext cx="74840" cy="106914"/>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a:off x="7481013" y="7505034"/>
            <a:ext cx="80671" cy="97749"/>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a:off x="7561684" y="7602783"/>
            <a:ext cx="89418" cy="84003"/>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a:off x="7651102" y="7686786"/>
            <a:ext cx="101082" cy="65675"/>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a:off x="7752184" y="7752461"/>
            <a:ext cx="115660" cy="42766"/>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a:off x="7867844" y="7795227"/>
            <a:ext cx="133156" cy="15273"/>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sp>
        <p:nvSpPr>
          <p:cNvPr id="75" name="Oval 74"/>
          <p:cNvSpPr/>
          <p:nvPr/>
        </p:nvSpPr>
        <p:spPr>
          <a:xfrm>
            <a:off x="6772081" y="6749448"/>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Oval 75"/>
          <p:cNvSpPr/>
          <p:nvPr/>
        </p:nvSpPr>
        <p:spPr>
          <a:xfrm>
            <a:off x="6887741" y="6792214"/>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Oval 76"/>
          <p:cNvSpPr/>
          <p:nvPr/>
        </p:nvSpPr>
        <p:spPr>
          <a:xfrm>
            <a:off x="6988823" y="6857889"/>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Oval 77"/>
          <p:cNvSpPr/>
          <p:nvPr/>
        </p:nvSpPr>
        <p:spPr>
          <a:xfrm>
            <a:off x="7078241" y="6941892"/>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Oval 78"/>
          <p:cNvSpPr/>
          <p:nvPr/>
        </p:nvSpPr>
        <p:spPr>
          <a:xfrm>
            <a:off x="7158912" y="7039641"/>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Oval 79"/>
          <p:cNvSpPr/>
          <p:nvPr/>
        </p:nvSpPr>
        <p:spPr>
          <a:xfrm>
            <a:off x="7233752" y="7146555"/>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Oval 80"/>
          <p:cNvSpPr/>
          <p:nvPr/>
        </p:nvSpPr>
        <p:spPr>
          <a:xfrm>
            <a:off x="7305675" y="7258050"/>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Oval 81"/>
          <p:cNvSpPr/>
          <p:nvPr/>
        </p:nvSpPr>
        <p:spPr>
          <a:xfrm>
            <a:off x="7377598" y="7369545"/>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Oval 82"/>
          <p:cNvSpPr/>
          <p:nvPr/>
        </p:nvSpPr>
        <p:spPr>
          <a:xfrm>
            <a:off x="7452438" y="7476459"/>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Oval 83"/>
          <p:cNvSpPr/>
          <p:nvPr/>
        </p:nvSpPr>
        <p:spPr>
          <a:xfrm>
            <a:off x="7533109" y="7574208"/>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Oval 84"/>
          <p:cNvSpPr/>
          <p:nvPr/>
        </p:nvSpPr>
        <p:spPr>
          <a:xfrm>
            <a:off x="7622527" y="7658211"/>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Oval 85"/>
          <p:cNvSpPr/>
          <p:nvPr/>
        </p:nvSpPr>
        <p:spPr>
          <a:xfrm>
            <a:off x="7723609" y="7723886"/>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Oval 86"/>
          <p:cNvSpPr/>
          <p:nvPr/>
        </p:nvSpPr>
        <p:spPr>
          <a:xfrm>
            <a:off x="7839269" y="7766652"/>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Oval 87"/>
          <p:cNvSpPr/>
          <p:nvPr/>
        </p:nvSpPr>
        <p:spPr>
          <a:xfrm>
            <a:off x="3790950" y="6553200"/>
            <a:ext cx="419100" cy="41910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Oval 88"/>
          <p:cNvSpPr/>
          <p:nvPr/>
        </p:nvSpPr>
        <p:spPr>
          <a:xfrm>
            <a:off x="3857625" y="6619875"/>
            <a:ext cx="285750" cy="285750"/>
          </a:xfrm>
          <a:prstGeom prst="ellipse">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Oval 89"/>
          <p:cNvSpPr/>
          <p:nvPr/>
        </p:nvSpPr>
        <p:spPr>
          <a:xfrm>
            <a:off x="5124450" y="6553200"/>
            <a:ext cx="419100" cy="41910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Oval 90"/>
          <p:cNvSpPr/>
          <p:nvPr/>
        </p:nvSpPr>
        <p:spPr>
          <a:xfrm>
            <a:off x="5191125" y="6619875"/>
            <a:ext cx="285750" cy="285750"/>
          </a:xfrm>
          <a:prstGeom prst="ellipse">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Oval 91"/>
          <p:cNvSpPr/>
          <p:nvPr/>
        </p:nvSpPr>
        <p:spPr>
          <a:xfrm>
            <a:off x="6457950" y="6553200"/>
            <a:ext cx="419100" cy="41910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Oval 92"/>
          <p:cNvSpPr/>
          <p:nvPr/>
        </p:nvSpPr>
        <p:spPr>
          <a:xfrm>
            <a:off x="6524625" y="6619875"/>
            <a:ext cx="285750" cy="285750"/>
          </a:xfrm>
          <a:prstGeom prst="ellipse">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Oval 93"/>
          <p:cNvSpPr/>
          <p:nvPr/>
        </p:nvSpPr>
        <p:spPr>
          <a:xfrm>
            <a:off x="7791450" y="7600950"/>
            <a:ext cx="419100" cy="41910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Oval 94"/>
          <p:cNvSpPr/>
          <p:nvPr/>
        </p:nvSpPr>
        <p:spPr>
          <a:xfrm>
            <a:off x="7858125" y="7667625"/>
            <a:ext cx="285750" cy="285750"/>
          </a:xfrm>
          <a:prstGeom prst="ellipse">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6762750" y="8115300"/>
            <a:ext cx="2476500" cy="342900"/>
          </a:xfrm>
          <a:prstGeom prst="rect">
            <a:avLst/>
          </a:prstGeom>
          <a:noFill/>
        </p:spPr>
        <p:txBody>
          <a:bodyPr wrap="square" lIns="0" rIns="0" tIns="0" bIns="0" anchor="t">
            <a:spAutoFit/>
          </a:bodyPr>
          <a:lstStyle/>
          <a:p>
            <a:pPr algn="ctr"/>
            <a:r>
              <a:rPr sz="1650" b="0" i="0">
                <a:solidFill>
                  <a:srgbClr val="9A7878"/>
                </a:solidFill>
                <a:latin typeface="Geist"/>
                <a:ea typeface="Geist"/>
                <a:cs typeface="Geist"/>
              </a:rPr>
              <a:t>A'</a:t>
            </a:r>
          </a:p>
        </p:txBody>
      </p:sp>
      <p:sp>
        <p:nvSpPr>
          <p:cNvPr id="97" name="Oval 96"/>
          <p:cNvSpPr/>
          <p:nvPr/>
        </p:nvSpPr>
        <p:spPr>
          <a:xfrm>
            <a:off x="9124950" y="7600950"/>
            <a:ext cx="419100" cy="41910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Oval 97"/>
          <p:cNvSpPr/>
          <p:nvPr/>
        </p:nvSpPr>
        <p:spPr>
          <a:xfrm>
            <a:off x="9191625" y="7667625"/>
            <a:ext cx="285750" cy="285750"/>
          </a:xfrm>
          <a:prstGeom prst="ellipse">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8096250" y="8115300"/>
            <a:ext cx="2476500" cy="342900"/>
          </a:xfrm>
          <a:prstGeom prst="rect">
            <a:avLst/>
          </a:prstGeom>
          <a:noFill/>
        </p:spPr>
        <p:txBody>
          <a:bodyPr wrap="square" lIns="0" rIns="0" tIns="0" bIns="0" anchor="t">
            <a:spAutoFit/>
          </a:bodyPr>
          <a:lstStyle/>
          <a:p>
            <a:pPr algn="ctr"/>
            <a:r>
              <a:rPr sz="1650" b="0" i="0">
                <a:solidFill>
                  <a:srgbClr val="9A7878"/>
                </a:solidFill>
                <a:latin typeface="Geist"/>
                <a:ea typeface="Geist"/>
                <a:cs typeface="Geist"/>
              </a:rPr>
              <a:t>B'</a:t>
            </a:r>
          </a:p>
        </p:txBody>
      </p:sp>
      <p:sp>
        <p:nvSpPr>
          <p:cNvPr id="100" name="Rounded Rectangle 99"/>
          <p:cNvSpPr/>
          <p:nvPr/>
        </p:nvSpPr>
        <p:spPr>
          <a:xfrm>
            <a:off x="10668000" y="2762250"/>
            <a:ext cx="6705600" cy="5905500"/>
          </a:xfrm>
          <a:prstGeom prst="roundRect">
            <a:avLst>
              <a:gd name="adj" fmla="val 258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1" name="TextBox 100"/>
          <p:cNvSpPr txBox="1"/>
          <p:nvPr/>
        </p:nvSpPr>
        <p:spPr>
          <a:xfrm>
            <a:off x="11049000" y="3143250"/>
            <a:ext cx="5905500" cy="476250"/>
          </a:xfrm>
          <a:prstGeom prst="rect">
            <a:avLst/>
          </a:prstGeom>
          <a:noFill/>
        </p:spPr>
        <p:txBody>
          <a:bodyPr wrap="square" lIns="0" rIns="0" tIns="0" bIns="0" anchor="t">
            <a:spAutoFit/>
          </a:bodyPr>
          <a:lstStyle/>
          <a:p>
            <a:pPr algn="l"/>
            <a:r>
              <a:rPr sz="2700" b="1" i="0">
                <a:solidFill>
                  <a:srgbClr val="F0E8E8"/>
                </a:solidFill>
                <a:latin typeface="Geist"/>
                <a:ea typeface="Geist"/>
                <a:cs typeface="Geist"/>
              </a:rPr>
              <a:t>Merge or rebase?</a:t>
            </a:r>
          </a:p>
        </p:txBody>
      </p:sp>
      <p:sp>
        <p:nvSpPr>
          <p:cNvPr id="102" name="TextBox 101"/>
          <p:cNvSpPr txBox="1"/>
          <p:nvPr/>
        </p:nvSpPr>
        <p:spPr>
          <a:xfrm>
            <a:off x="11049000" y="3905250"/>
            <a:ext cx="5905500" cy="693420"/>
          </a:xfrm>
          <a:prstGeom prst="rect">
            <a:avLst/>
          </a:prstGeom>
          <a:noFill/>
        </p:spPr>
        <p:txBody>
          <a:bodyPr wrap="square" lIns="0" rIns="0" tIns="0" bIns="0" anchor="t">
            <a:spAutoFit/>
          </a:bodyPr>
          <a:lstStyle/>
          <a:p>
            <a:pPr algn="l">
              <a:lnSpc>
                <a:spcPct val="125000"/>
              </a:lnSpc>
            </a:pPr>
            <a:r>
              <a:rPr sz="2100" b="1" i="0">
                <a:solidFill>
                  <a:srgbClr val="CC2200"/>
                </a:solidFill>
                <a:latin typeface="Geist"/>
                <a:ea typeface="Geist"/>
                <a:cs typeface="Geist"/>
              </a:rPr>
              <a:t>•  </a:t>
            </a:r>
            <a:r>
              <a:rPr sz="2100" b="1" i="0">
                <a:solidFill>
                  <a:srgbClr val="F0E8E8"/>
                </a:solidFill>
                <a:latin typeface="Geist"/>
                <a:ea typeface="Geist"/>
                <a:cs typeface="Geist"/>
              </a:rPr>
              <a:t>Rebase</a:t>
            </a:r>
            <a:r>
              <a:rPr sz="2100" b="0" i="0">
                <a:solidFill>
                  <a:srgbClr val="F0E8E8"/>
                </a:solidFill>
                <a:latin typeface="Geist"/>
                <a:ea typeface="Geist"/>
                <a:cs typeface="Geist"/>
              </a:rPr>
              <a:t>: one straight line, but your commits get new IDs</a:t>
            </a:r>
          </a:p>
        </p:txBody>
      </p:sp>
      <p:sp>
        <p:nvSpPr>
          <p:cNvPr id="103" name="TextBox 102"/>
          <p:cNvSpPr txBox="1"/>
          <p:nvPr/>
        </p:nvSpPr>
        <p:spPr>
          <a:xfrm>
            <a:off x="11049000" y="4827270"/>
            <a:ext cx="5905500" cy="693420"/>
          </a:xfrm>
          <a:prstGeom prst="rect">
            <a:avLst/>
          </a:prstGeom>
          <a:noFill/>
        </p:spPr>
        <p:txBody>
          <a:bodyPr wrap="square" lIns="0" rIns="0" tIns="0" bIns="0" anchor="t">
            <a:spAutoFit/>
          </a:bodyPr>
          <a:lstStyle/>
          <a:p>
            <a:pPr algn="l">
              <a:lnSpc>
                <a:spcPct val="125000"/>
              </a:lnSpc>
            </a:pPr>
            <a:r>
              <a:rPr sz="2100" b="1" i="0">
                <a:solidFill>
                  <a:srgbClr val="CC2200"/>
                </a:solidFill>
                <a:latin typeface="Geist"/>
                <a:ea typeface="Geist"/>
                <a:cs typeface="Geist"/>
              </a:rPr>
              <a:t>•  </a:t>
            </a:r>
            <a:r>
              <a:rPr sz="2100" b="1" i="0">
                <a:solidFill>
                  <a:srgbClr val="F0E8E8"/>
                </a:solidFill>
                <a:latin typeface="Geist"/>
                <a:ea typeface="Geist"/>
                <a:cs typeface="Geist"/>
              </a:rPr>
              <a:t>Merge</a:t>
            </a:r>
            <a:r>
              <a:rPr sz="2100" b="0" i="0">
                <a:solidFill>
                  <a:srgbClr val="F0E8E8"/>
                </a:solidFill>
                <a:latin typeface="Geist"/>
                <a:ea typeface="Geist"/>
                <a:cs typeface="Geist"/>
              </a:rPr>
              <a:t>: keeps history exactly as it was, always safe</a:t>
            </a:r>
          </a:p>
        </p:txBody>
      </p:sp>
      <p:sp>
        <p:nvSpPr>
          <p:cNvPr id="104" name="TextBox 103"/>
          <p:cNvSpPr txBox="1"/>
          <p:nvPr/>
        </p:nvSpPr>
        <p:spPr>
          <a:xfrm>
            <a:off x="11049000" y="5749290"/>
            <a:ext cx="5905500" cy="346710"/>
          </a:xfrm>
          <a:prstGeom prst="rect">
            <a:avLst/>
          </a:prstGeom>
          <a:noFill/>
        </p:spPr>
        <p:txBody>
          <a:bodyPr wrap="square" lIns="0" rIns="0" tIns="0" bIns="0" anchor="t">
            <a:spAutoFit/>
          </a:bodyPr>
          <a:lstStyle/>
          <a:p>
            <a:pPr algn="l">
              <a:lnSpc>
                <a:spcPct val="125000"/>
              </a:lnSpc>
            </a:pPr>
            <a:r>
              <a:rPr sz="2100" b="1" i="0">
                <a:solidFill>
                  <a:srgbClr val="CC2200"/>
                </a:solidFill>
                <a:latin typeface="Geist"/>
                <a:ea typeface="Geist"/>
                <a:cs typeface="Geist"/>
              </a:rPr>
              <a:t>•  </a:t>
            </a:r>
            <a:r>
              <a:rPr sz="2100" b="0" i="0">
                <a:solidFill>
                  <a:srgbClr val="F0E8E8"/>
                </a:solidFill>
                <a:latin typeface="Geist"/>
                <a:ea typeface="Geist"/>
                <a:cs typeface="Geist"/>
              </a:rPr>
              <a:t>Only rebase branches nobody else has</a:t>
            </a:r>
          </a:p>
        </p:txBody>
      </p:sp>
      <p:sp>
        <p:nvSpPr>
          <p:cNvPr id="105" name="TextBox 104"/>
          <p:cNvSpPr txBox="1"/>
          <p:nvPr/>
        </p:nvSpPr>
        <p:spPr>
          <a:xfrm>
            <a:off x="11049000" y="6324600"/>
            <a:ext cx="5905500" cy="346710"/>
          </a:xfrm>
          <a:prstGeom prst="rect">
            <a:avLst/>
          </a:prstGeom>
          <a:noFill/>
        </p:spPr>
        <p:txBody>
          <a:bodyPr wrap="square" lIns="0" rIns="0" tIns="0" bIns="0" anchor="t">
            <a:spAutoFit/>
          </a:bodyPr>
          <a:lstStyle/>
          <a:p>
            <a:pPr algn="l">
              <a:lnSpc>
                <a:spcPct val="125000"/>
              </a:lnSpc>
            </a:pPr>
            <a:r>
              <a:rPr sz="2100" b="1" i="0">
                <a:solidFill>
                  <a:srgbClr val="CC2200"/>
                </a:solidFill>
                <a:latin typeface="Geist"/>
                <a:ea typeface="Geist"/>
                <a:cs typeface="Geist"/>
              </a:rPr>
              <a:t>•  </a:t>
            </a:r>
            <a:r>
              <a:rPr sz="2100" b="0" i="0">
                <a:solidFill>
                  <a:srgbClr val="F0E8E8"/>
                </a:solidFill>
                <a:latin typeface="Geist"/>
                <a:ea typeface="Geist"/>
                <a:cs typeface="Geist"/>
              </a:rPr>
              <a:t>Not sure? </a:t>
            </a:r>
            <a:r>
              <a:rPr sz="2100" b="1" i="0">
                <a:solidFill>
                  <a:srgbClr val="F0E8E8"/>
                </a:solidFill>
                <a:latin typeface="Geist"/>
                <a:ea typeface="Geist"/>
                <a:cs typeface="Geist"/>
              </a:rPr>
              <a:t>Merge.</a:t>
            </a:r>
          </a:p>
        </p:txBody>
      </p:sp>
      <p:pic>
        <p:nvPicPr>
          <p:cNvPr id="106" name="Picture 105" descr="mw_logo_small.png"/>
          <p:cNvPicPr>
            <a:picLocks noChangeAspect="1"/>
          </p:cNvPicPr>
          <p:nvPr/>
        </p:nvPicPr>
        <p:blipFill>
          <a:blip r:embed="rId3"/>
          <a:stretch>
            <a:fillRect/>
          </a:stretch>
        </p:blipFill>
        <p:spPr>
          <a:xfrm>
            <a:off x="914400" y="9410700"/>
            <a:ext cx="583564" cy="495300"/>
          </a:xfrm>
          <a:prstGeom prst="rect">
            <a:avLst/>
          </a:prstGeom>
        </p:spPr>
      </p:pic>
      <p:sp>
        <p:nvSpPr>
          <p:cNvPr id="107" name="TextBox 106"/>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GIT BASICS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Local and remote: push and pull</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3143250"/>
            <a:ext cx="5334000" cy="2857500"/>
          </a:xfrm>
          <a:prstGeom prst="roundRect">
            <a:avLst>
              <a:gd name="adj" fmla="val 5333"/>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display.png"/>
          <p:cNvPicPr>
            <a:picLocks noChangeAspect="1"/>
          </p:cNvPicPr>
          <p:nvPr/>
        </p:nvPicPr>
        <p:blipFill>
          <a:blip r:embed="rId3"/>
          <a:stretch>
            <a:fillRect/>
          </a:stretch>
        </p:blipFill>
        <p:spPr>
          <a:xfrm>
            <a:off x="1295400" y="3524250"/>
            <a:ext cx="780288" cy="609600"/>
          </a:xfrm>
          <a:prstGeom prst="rect">
            <a:avLst/>
          </a:prstGeom>
        </p:spPr>
      </p:pic>
      <p:sp>
        <p:nvSpPr>
          <p:cNvPr id="7" name="TextBox 6"/>
          <p:cNvSpPr txBox="1"/>
          <p:nvPr/>
        </p:nvSpPr>
        <p:spPr>
          <a:xfrm>
            <a:off x="1295400" y="4381500"/>
            <a:ext cx="4572000" cy="571500"/>
          </a:xfrm>
          <a:prstGeom prst="rect">
            <a:avLst/>
          </a:prstGeom>
          <a:noFill/>
        </p:spPr>
        <p:txBody>
          <a:bodyPr wrap="square" lIns="0" rIns="0" tIns="0" bIns="0" anchor="t">
            <a:spAutoFit/>
          </a:bodyPr>
          <a:lstStyle/>
          <a:p>
            <a:pPr algn="l"/>
            <a:r>
              <a:rPr sz="3000" b="1" i="0">
                <a:solidFill>
                  <a:srgbClr val="F0E8E8"/>
                </a:solidFill>
                <a:latin typeface="Geist"/>
                <a:ea typeface="Geist"/>
                <a:cs typeface="Geist"/>
              </a:rPr>
              <a:t>Local</a:t>
            </a:r>
          </a:p>
        </p:txBody>
      </p:sp>
      <p:sp>
        <p:nvSpPr>
          <p:cNvPr id="8" name="TextBox 7"/>
          <p:cNvSpPr txBox="1"/>
          <p:nvPr/>
        </p:nvSpPr>
        <p:spPr>
          <a:xfrm>
            <a:off x="1295400" y="4953000"/>
            <a:ext cx="4572000" cy="762000"/>
          </a:xfrm>
          <a:prstGeom prst="rect">
            <a:avLst/>
          </a:prstGeom>
          <a:noFill/>
        </p:spPr>
        <p:txBody>
          <a:bodyPr wrap="square" lIns="0" rIns="0" tIns="0" bIns="0" anchor="t">
            <a:spAutoFit/>
          </a:bodyPr>
          <a:lstStyle/>
          <a:p>
            <a:pPr algn="l"/>
            <a:r>
              <a:rPr sz="1950" b="0" i="0">
                <a:solidFill>
                  <a:srgbClr val="9A7878"/>
                </a:solidFill>
                <a:latin typeface="Geist"/>
                <a:ea typeface="Geist"/>
                <a:cs typeface="Geist"/>
              </a:rPr>
              <a:t>Your copy, on your computer</a:t>
            </a:r>
          </a:p>
        </p:txBody>
      </p:sp>
      <p:sp>
        <p:nvSpPr>
          <p:cNvPr id="9" name="Rounded Rectangle 8"/>
          <p:cNvSpPr/>
          <p:nvPr/>
        </p:nvSpPr>
        <p:spPr>
          <a:xfrm>
            <a:off x="12039600" y="3143250"/>
            <a:ext cx="5334000" cy="2857500"/>
          </a:xfrm>
          <a:prstGeom prst="roundRect">
            <a:avLst>
              <a:gd name="adj" fmla="val 5333"/>
            </a:avLst>
          </a:prstGeom>
          <a:solidFill>
            <a:srgbClr val="111111"/>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cloud-arrow-up.png"/>
          <p:cNvPicPr>
            <a:picLocks noChangeAspect="1"/>
          </p:cNvPicPr>
          <p:nvPr/>
        </p:nvPicPr>
        <p:blipFill>
          <a:blip r:embed="rId4"/>
          <a:stretch>
            <a:fillRect/>
          </a:stretch>
        </p:blipFill>
        <p:spPr>
          <a:xfrm>
            <a:off x="12420600" y="3524250"/>
            <a:ext cx="831273" cy="571500"/>
          </a:xfrm>
          <a:prstGeom prst="rect">
            <a:avLst/>
          </a:prstGeom>
        </p:spPr>
      </p:pic>
      <p:sp>
        <p:nvSpPr>
          <p:cNvPr id="11" name="TextBox 10"/>
          <p:cNvSpPr txBox="1"/>
          <p:nvPr/>
        </p:nvSpPr>
        <p:spPr>
          <a:xfrm>
            <a:off x="12420600" y="4381500"/>
            <a:ext cx="4572000" cy="571500"/>
          </a:xfrm>
          <a:prstGeom prst="rect">
            <a:avLst/>
          </a:prstGeom>
          <a:noFill/>
        </p:spPr>
        <p:txBody>
          <a:bodyPr wrap="square" lIns="0" rIns="0" tIns="0" bIns="0" anchor="t">
            <a:spAutoFit/>
          </a:bodyPr>
          <a:lstStyle/>
          <a:p>
            <a:pPr algn="l"/>
            <a:r>
              <a:rPr sz="3000" b="1" i="0">
                <a:solidFill>
                  <a:srgbClr val="F0E8E8"/>
                </a:solidFill>
                <a:latin typeface="Geist"/>
                <a:ea typeface="Geist"/>
                <a:cs typeface="Geist"/>
              </a:rPr>
              <a:t>Remote (origin)</a:t>
            </a:r>
          </a:p>
        </p:txBody>
      </p:sp>
      <p:sp>
        <p:nvSpPr>
          <p:cNvPr id="12" name="TextBox 11"/>
          <p:cNvSpPr txBox="1"/>
          <p:nvPr/>
        </p:nvSpPr>
        <p:spPr>
          <a:xfrm>
            <a:off x="12420600" y="4953000"/>
            <a:ext cx="4572000" cy="762000"/>
          </a:xfrm>
          <a:prstGeom prst="rect">
            <a:avLst/>
          </a:prstGeom>
          <a:noFill/>
        </p:spPr>
        <p:txBody>
          <a:bodyPr wrap="square" lIns="0" rIns="0" tIns="0" bIns="0" anchor="t">
            <a:spAutoFit/>
          </a:bodyPr>
          <a:lstStyle/>
          <a:p>
            <a:pPr algn="l"/>
            <a:r>
              <a:rPr sz="1950" b="0" i="0">
                <a:solidFill>
                  <a:srgbClr val="9A7878"/>
                </a:solidFill>
                <a:latin typeface="Geist"/>
                <a:ea typeface="Geist"/>
                <a:cs typeface="Geist"/>
              </a:rPr>
              <a:t>The shared copy on GitHub</a:t>
            </a:r>
          </a:p>
        </p:txBody>
      </p:sp>
      <p:cxnSp>
        <p:nvCxnSpPr>
          <p:cNvPr id="13" name="Connector 12"/>
          <p:cNvCxnSpPr/>
          <p:nvPr/>
        </p:nvCxnSpPr>
        <p:spPr>
          <a:xfrm>
            <a:off x="6477000" y="4000500"/>
            <a:ext cx="5334000" cy="0"/>
          </a:xfrm>
          <a:prstGeom prst="line">
            <a:avLst/>
          </a:prstGeom>
          <a:ln w="38100">
            <a:solidFill>
              <a:srgbClr val="9A787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6477000" y="3429000"/>
            <a:ext cx="5334000" cy="419100"/>
          </a:xfrm>
          <a:prstGeom prst="rect">
            <a:avLst/>
          </a:prstGeom>
          <a:noFill/>
        </p:spPr>
        <p:txBody>
          <a:bodyPr wrap="square" lIns="0" rIns="0" tIns="0" bIns="0" anchor="t">
            <a:spAutoFit/>
          </a:bodyPr>
          <a:lstStyle/>
          <a:p>
            <a:pPr algn="ctr"/>
            <a:r>
              <a:rPr sz="2100" b="1" i="0">
                <a:solidFill>
                  <a:srgbClr val="F0E8E8"/>
                </a:solidFill>
                <a:latin typeface="Geist"/>
                <a:ea typeface="Geist"/>
                <a:cs typeface="Geist"/>
              </a:rPr>
              <a:t>push: send your commits</a:t>
            </a:r>
          </a:p>
        </p:txBody>
      </p:sp>
      <p:cxnSp>
        <p:nvCxnSpPr>
          <p:cNvPr id="15" name="Connector 14"/>
          <p:cNvCxnSpPr/>
          <p:nvPr/>
        </p:nvCxnSpPr>
        <p:spPr>
          <a:xfrm flipH="1">
            <a:off x="6477000" y="5143500"/>
            <a:ext cx="5334000" cy="0"/>
          </a:xfrm>
          <a:prstGeom prst="line">
            <a:avLst/>
          </a:prstGeom>
          <a:ln w="38100">
            <a:solidFill>
              <a:srgbClr val="9A787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6477000" y="5334000"/>
            <a:ext cx="5334000" cy="419100"/>
          </a:xfrm>
          <a:prstGeom prst="rect">
            <a:avLst/>
          </a:prstGeom>
          <a:noFill/>
        </p:spPr>
        <p:txBody>
          <a:bodyPr wrap="square" lIns="0" rIns="0" tIns="0" bIns="0" anchor="t">
            <a:spAutoFit/>
          </a:bodyPr>
          <a:lstStyle/>
          <a:p>
            <a:pPr algn="ctr"/>
            <a:r>
              <a:rPr sz="2100" b="1" i="0">
                <a:solidFill>
                  <a:srgbClr val="F0E8E8"/>
                </a:solidFill>
                <a:latin typeface="Geist"/>
                <a:ea typeface="Geist"/>
                <a:cs typeface="Geist"/>
              </a:rPr>
              <a:t>pull: get teammates' commits</a:t>
            </a:r>
          </a:p>
        </p:txBody>
      </p:sp>
      <p:sp>
        <p:nvSpPr>
          <p:cNvPr id="17" name="Rounded Rectangle 16"/>
          <p:cNvSpPr/>
          <p:nvPr/>
        </p:nvSpPr>
        <p:spPr>
          <a:xfrm>
            <a:off x="914400" y="6381750"/>
            <a:ext cx="16459200" cy="1047750"/>
          </a:xfrm>
          <a:prstGeom prst="roundRect">
            <a:avLst>
              <a:gd name="adj" fmla="val 14545"/>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exclamation-circle.png"/>
          <p:cNvPicPr>
            <a:picLocks noChangeAspect="1"/>
          </p:cNvPicPr>
          <p:nvPr/>
        </p:nvPicPr>
        <p:blipFill>
          <a:blip r:embed="rId5"/>
          <a:stretch>
            <a:fillRect/>
          </a:stretch>
        </p:blipFill>
        <p:spPr>
          <a:xfrm>
            <a:off x="1333500" y="6638925"/>
            <a:ext cx="533400" cy="533400"/>
          </a:xfrm>
          <a:prstGeom prst="rect">
            <a:avLst/>
          </a:prstGeom>
        </p:spPr>
      </p:pic>
      <p:sp>
        <p:nvSpPr>
          <p:cNvPr id="19" name="TextBox 18"/>
          <p:cNvSpPr txBox="1"/>
          <p:nvPr/>
        </p:nvSpPr>
        <p:spPr>
          <a:xfrm>
            <a:off x="2190750" y="6381750"/>
            <a:ext cx="14801850" cy="1047750"/>
          </a:xfrm>
          <a:prstGeom prst="rect">
            <a:avLst/>
          </a:prstGeom>
          <a:noFill/>
        </p:spPr>
        <p:txBody>
          <a:bodyPr wrap="square" lIns="0" rIns="0" tIns="0" bIns="0" anchor="ctr">
            <a:spAutoFit/>
          </a:bodyPr>
          <a:lstStyle/>
          <a:p>
            <a:pPr algn="l">
              <a:lnSpc>
                <a:spcPct val="130000"/>
              </a:lnSpc>
            </a:pPr>
            <a:r>
              <a:rPr sz="2100" b="1" i="0">
                <a:solidFill>
                  <a:srgbClr val="F0E8E8"/>
                </a:solidFill>
                <a:latin typeface="Geist"/>
                <a:ea typeface="Geist"/>
                <a:cs typeface="Geist"/>
              </a:rPr>
              <a:t>Golden rule:  </a:t>
            </a:r>
            <a:r>
              <a:rPr sz="2100" b="0" i="0">
                <a:solidFill>
                  <a:srgbClr val="F0E8E8"/>
                </a:solidFill>
                <a:latin typeface="Geist"/>
                <a:ea typeface="Geist"/>
                <a:cs typeface="Geist"/>
              </a:rPr>
              <a:t>pull when you start a session, push when you finish. Use Push and Pull, not Sync Changes.</a:t>
            </a:r>
          </a:p>
        </p:txBody>
      </p:sp>
      <p:sp>
        <p:nvSpPr>
          <p:cNvPr id="20" name="Rounded Rectangle 19"/>
          <p:cNvSpPr/>
          <p:nvPr/>
        </p:nvSpPr>
        <p:spPr>
          <a:xfrm>
            <a:off x="914400" y="7620000"/>
            <a:ext cx="16459200" cy="1047750"/>
          </a:xfrm>
          <a:prstGeom prst="roundRect">
            <a:avLst>
              <a:gd name="adj" fmla="val 14545"/>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1" name="Picture 20" descr="archive.png"/>
          <p:cNvPicPr>
            <a:picLocks noChangeAspect="1"/>
          </p:cNvPicPr>
          <p:nvPr/>
        </p:nvPicPr>
        <p:blipFill>
          <a:blip r:embed="rId6"/>
          <a:stretch>
            <a:fillRect/>
          </a:stretch>
        </p:blipFill>
        <p:spPr>
          <a:xfrm>
            <a:off x="1333500" y="7877175"/>
            <a:ext cx="609600" cy="533400"/>
          </a:xfrm>
          <a:prstGeom prst="rect">
            <a:avLst/>
          </a:prstGeom>
        </p:spPr>
      </p:pic>
      <p:sp>
        <p:nvSpPr>
          <p:cNvPr id="22" name="TextBox 21"/>
          <p:cNvSpPr txBox="1"/>
          <p:nvPr/>
        </p:nvSpPr>
        <p:spPr>
          <a:xfrm>
            <a:off x="2190750" y="7620000"/>
            <a:ext cx="14801850" cy="1047750"/>
          </a:xfrm>
          <a:prstGeom prst="rect">
            <a:avLst/>
          </a:prstGeom>
          <a:noFill/>
        </p:spPr>
        <p:txBody>
          <a:bodyPr wrap="square" lIns="0" rIns="0" tIns="0" bIns="0" anchor="ctr">
            <a:spAutoFit/>
          </a:bodyPr>
          <a:lstStyle/>
          <a:p>
            <a:pPr algn="l">
              <a:lnSpc>
                <a:spcPct val="130000"/>
              </a:lnSpc>
            </a:pPr>
            <a:r>
              <a:rPr sz="2100" b="1" i="0">
                <a:solidFill>
                  <a:srgbClr val="F0E8E8"/>
                </a:solidFill>
                <a:latin typeface="Geist"/>
                <a:ea typeface="Geist"/>
                <a:cs typeface="Geist"/>
              </a:rPr>
              <a:t>Stash  </a:t>
            </a:r>
            <a:r>
              <a:rPr sz="2100" b="0" i="0">
                <a:solidFill>
                  <a:srgbClr val="F0E8E8"/>
                </a:solidFill>
                <a:latin typeface="Geist"/>
                <a:ea typeface="Geist"/>
                <a:cs typeface="Geist"/>
              </a:rPr>
              <a:t>Shelve unfinished work so you can switch branches. Stash pop brings it back.</a:t>
            </a:r>
          </a:p>
        </p:txBody>
      </p:sp>
      <p:pic>
        <p:nvPicPr>
          <p:cNvPr id="23" name="Picture 22" descr="mw_logo_small.png"/>
          <p:cNvPicPr>
            <a:picLocks noChangeAspect="1"/>
          </p:cNvPicPr>
          <p:nvPr/>
        </p:nvPicPr>
        <p:blipFill>
          <a:blip r:embed="rId7"/>
          <a:stretch>
            <a:fillRect/>
          </a:stretch>
        </p:blipFill>
        <p:spPr>
          <a:xfrm>
            <a:off x="914400" y="9410700"/>
            <a:ext cx="583564" cy="495300"/>
          </a:xfrm>
          <a:prstGeom prst="rect">
            <a:avLst/>
          </a:prstGeom>
        </p:spPr>
      </p:pic>
      <p:sp>
        <p:nvSpPr>
          <p:cNvPr id="24" name="TextBox 23"/>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GIT BASICS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GitHub: how the team works together</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5283200" cy="4381500"/>
          </a:xfrm>
          <a:prstGeom prst="roundRect">
            <a:avLst>
              <a:gd name="adj" fmla="val 347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people-fill.png"/>
          <p:cNvPicPr>
            <a:picLocks noChangeAspect="1"/>
          </p:cNvPicPr>
          <p:nvPr/>
        </p:nvPicPr>
        <p:blipFill>
          <a:blip r:embed="rId3"/>
          <a:stretch>
            <a:fillRect/>
          </a:stretch>
        </p:blipFill>
        <p:spPr>
          <a:xfrm>
            <a:off x="1295400" y="3238500"/>
            <a:ext cx="914400" cy="685800"/>
          </a:xfrm>
          <a:prstGeom prst="rect">
            <a:avLst/>
          </a:prstGeom>
        </p:spPr>
      </p:pic>
      <p:sp>
        <p:nvSpPr>
          <p:cNvPr id="7" name="TextBox 6"/>
          <p:cNvSpPr txBox="1"/>
          <p:nvPr/>
        </p:nvSpPr>
        <p:spPr>
          <a:xfrm>
            <a:off x="1295400" y="4191000"/>
            <a:ext cx="4521200" cy="571500"/>
          </a:xfrm>
          <a:prstGeom prst="rect">
            <a:avLst/>
          </a:prstGeom>
          <a:noFill/>
        </p:spPr>
        <p:txBody>
          <a:bodyPr wrap="square" lIns="0" rIns="0" tIns="0" bIns="0" anchor="t">
            <a:spAutoFit/>
          </a:bodyPr>
          <a:lstStyle/>
          <a:p>
            <a:pPr algn="l">
              <a:lnSpc>
                <a:spcPct val="110000"/>
              </a:lnSpc>
            </a:pPr>
            <a:r>
              <a:rPr sz="2550" b="1" i="0">
                <a:solidFill>
                  <a:srgbClr val="F0E8E8"/>
                </a:solidFill>
                <a:latin typeface="Geist"/>
                <a:ea typeface="Geist"/>
                <a:cs typeface="Geist"/>
              </a:rPr>
              <a:t>Pull requests</a:t>
            </a:r>
          </a:p>
        </p:txBody>
      </p:sp>
      <p:sp>
        <p:nvSpPr>
          <p:cNvPr id="8" name="TextBox 7"/>
          <p:cNvSpPr txBox="1"/>
          <p:nvPr/>
        </p:nvSpPr>
        <p:spPr>
          <a:xfrm>
            <a:off x="1295400" y="4802505"/>
            <a:ext cx="4521200" cy="2476500"/>
          </a:xfrm>
          <a:prstGeom prst="rect">
            <a:avLst/>
          </a:prstGeom>
          <a:noFill/>
        </p:spPr>
        <p:txBody>
          <a:bodyPr wrap="square" lIns="0" rIns="0" tIns="0" bIns="0" anchor="t">
            <a:spAutoFit/>
          </a:bodyPr>
          <a:lstStyle/>
          <a:p>
            <a:pPr algn="l">
              <a:lnSpc>
                <a:spcPct val="130000"/>
              </a:lnSpc>
            </a:pPr>
            <a:r>
              <a:rPr sz="1950" b="0" i="0">
                <a:solidFill>
                  <a:srgbClr val="9A7878"/>
                </a:solidFill>
                <a:latin typeface="Geist"/>
                <a:ea typeface="Geist"/>
                <a:cs typeface="Geist"/>
              </a:rPr>
              <a:t>Ask to merge a branch. Teammates review the code first.</a:t>
            </a:r>
          </a:p>
        </p:txBody>
      </p:sp>
      <p:sp>
        <p:nvSpPr>
          <p:cNvPr id="9" name="Rounded Rectangle 8"/>
          <p:cNvSpPr/>
          <p:nvPr/>
        </p:nvSpPr>
        <p:spPr>
          <a:xfrm>
            <a:off x="6502400" y="2857500"/>
            <a:ext cx="5283200" cy="4381500"/>
          </a:xfrm>
          <a:prstGeom prst="roundRect">
            <a:avLst>
              <a:gd name="adj" fmla="val 347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exclamation-circle.png"/>
          <p:cNvPicPr>
            <a:picLocks noChangeAspect="1"/>
          </p:cNvPicPr>
          <p:nvPr/>
        </p:nvPicPr>
        <p:blipFill>
          <a:blip r:embed="rId4"/>
          <a:stretch>
            <a:fillRect/>
          </a:stretch>
        </p:blipFill>
        <p:spPr>
          <a:xfrm>
            <a:off x="6883400" y="3238500"/>
            <a:ext cx="685800" cy="685800"/>
          </a:xfrm>
          <a:prstGeom prst="rect">
            <a:avLst/>
          </a:prstGeom>
        </p:spPr>
      </p:pic>
      <p:sp>
        <p:nvSpPr>
          <p:cNvPr id="11" name="TextBox 10"/>
          <p:cNvSpPr txBox="1"/>
          <p:nvPr/>
        </p:nvSpPr>
        <p:spPr>
          <a:xfrm>
            <a:off x="6883400" y="4191000"/>
            <a:ext cx="4521200" cy="571500"/>
          </a:xfrm>
          <a:prstGeom prst="rect">
            <a:avLst/>
          </a:prstGeom>
          <a:noFill/>
        </p:spPr>
        <p:txBody>
          <a:bodyPr wrap="square" lIns="0" rIns="0" tIns="0" bIns="0" anchor="t">
            <a:spAutoFit/>
          </a:bodyPr>
          <a:lstStyle/>
          <a:p>
            <a:pPr algn="l">
              <a:lnSpc>
                <a:spcPct val="110000"/>
              </a:lnSpc>
            </a:pPr>
            <a:r>
              <a:rPr sz="2550" b="1" i="0">
                <a:solidFill>
                  <a:srgbClr val="F0E8E8"/>
                </a:solidFill>
                <a:latin typeface="Geist"/>
                <a:ea typeface="Geist"/>
                <a:cs typeface="Geist"/>
              </a:rPr>
              <a:t>Issues</a:t>
            </a:r>
          </a:p>
        </p:txBody>
      </p:sp>
      <p:sp>
        <p:nvSpPr>
          <p:cNvPr id="12" name="TextBox 11"/>
          <p:cNvSpPr txBox="1"/>
          <p:nvPr/>
        </p:nvSpPr>
        <p:spPr>
          <a:xfrm>
            <a:off x="6883400" y="4802505"/>
            <a:ext cx="4521200" cy="2476500"/>
          </a:xfrm>
          <a:prstGeom prst="rect">
            <a:avLst/>
          </a:prstGeom>
          <a:noFill/>
        </p:spPr>
        <p:txBody>
          <a:bodyPr wrap="square" lIns="0" rIns="0" tIns="0" bIns="0" anchor="t">
            <a:spAutoFit/>
          </a:bodyPr>
          <a:lstStyle/>
          <a:p>
            <a:pPr algn="l">
              <a:lnSpc>
                <a:spcPct val="130000"/>
              </a:lnSpc>
            </a:pPr>
            <a:r>
              <a:rPr sz="1950" b="0" i="0">
                <a:solidFill>
                  <a:srgbClr val="9A7878"/>
                </a:solidFill>
                <a:latin typeface="Geist"/>
                <a:ea typeface="Geist"/>
                <a:cs typeface="Geist"/>
              </a:rPr>
              <a:t>One task or bug each. The number goes in your branch name.</a:t>
            </a:r>
          </a:p>
        </p:txBody>
      </p:sp>
      <p:sp>
        <p:nvSpPr>
          <p:cNvPr id="13" name="Rounded Rectangle 12"/>
          <p:cNvSpPr/>
          <p:nvPr/>
        </p:nvSpPr>
        <p:spPr>
          <a:xfrm>
            <a:off x="12090400" y="2857500"/>
            <a:ext cx="5283200" cy="4381500"/>
          </a:xfrm>
          <a:prstGeom prst="roundRect">
            <a:avLst>
              <a:gd name="adj" fmla="val 347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kanban.png"/>
          <p:cNvPicPr>
            <a:picLocks noChangeAspect="1"/>
          </p:cNvPicPr>
          <p:nvPr/>
        </p:nvPicPr>
        <p:blipFill>
          <a:blip r:embed="rId5"/>
          <a:stretch>
            <a:fillRect/>
          </a:stretch>
        </p:blipFill>
        <p:spPr>
          <a:xfrm>
            <a:off x="12471400" y="3238500"/>
            <a:ext cx="642938" cy="685800"/>
          </a:xfrm>
          <a:prstGeom prst="rect">
            <a:avLst/>
          </a:prstGeom>
        </p:spPr>
      </p:pic>
      <p:sp>
        <p:nvSpPr>
          <p:cNvPr id="15" name="TextBox 14"/>
          <p:cNvSpPr txBox="1"/>
          <p:nvPr/>
        </p:nvSpPr>
        <p:spPr>
          <a:xfrm>
            <a:off x="12471400" y="4191000"/>
            <a:ext cx="4521200" cy="571500"/>
          </a:xfrm>
          <a:prstGeom prst="rect">
            <a:avLst/>
          </a:prstGeom>
          <a:noFill/>
        </p:spPr>
        <p:txBody>
          <a:bodyPr wrap="square" lIns="0" rIns="0" tIns="0" bIns="0" anchor="t">
            <a:spAutoFit/>
          </a:bodyPr>
          <a:lstStyle/>
          <a:p>
            <a:pPr algn="l">
              <a:lnSpc>
                <a:spcPct val="110000"/>
              </a:lnSpc>
            </a:pPr>
            <a:r>
              <a:rPr sz="2550" b="1" i="0">
                <a:solidFill>
                  <a:srgbClr val="F0E8E8"/>
                </a:solidFill>
                <a:latin typeface="Geist"/>
                <a:ea typeface="Geist"/>
                <a:cs typeface="Geist"/>
              </a:rPr>
              <a:t>Projects</a:t>
            </a:r>
          </a:p>
        </p:txBody>
      </p:sp>
      <p:sp>
        <p:nvSpPr>
          <p:cNvPr id="16" name="TextBox 15"/>
          <p:cNvSpPr txBox="1"/>
          <p:nvPr/>
        </p:nvSpPr>
        <p:spPr>
          <a:xfrm>
            <a:off x="12471400" y="4802505"/>
            <a:ext cx="4521200" cy="2476500"/>
          </a:xfrm>
          <a:prstGeom prst="rect">
            <a:avLst/>
          </a:prstGeom>
          <a:noFill/>
        </p:spPr>
        <p:txBody>
          <a:bodyPr wrap="square" lIns="0" rIns="0" tIns="0" bIns="0" anchor="t">
            <a:spAutoFit/>
          </a:bodyPr>
          <a:lstStyle/>
          <a:p>
            <a:pPr algn="l">
              <a:lnSpc>
                <a:spcPct val="130000"/>
              </a:lnSpc>
            </a:pPr>
            <a:r>
              <a:rPr sz="1950" b="0" i="0">
                <a:solidFill>
                  <a:srgbClr val="9A7878"/>
                </a:solidFill>
                <a:latin typeface="Geist"/>
                <a:ea typeface="Geist"/>
                <a:cs typeface="Geist"/>
              </a:rPr>
              <a:t>A board of issues by status, from Backlog to Done.</a:t>
            </a:r>
          </a:p>
        </p:txBody>
      </p:sp>
      <p:sp>
        <p:nvSpPr>
          <p:cNvPr id="17" name="TextBox 16"/>
          <p:cNvSpPr txBox="1"/>
          <p:nvPr/>
        </p:nvSpPr>
        <p:spPr>
          <a:xfrm>
            <a:off x="914400" y="7620000"/>
            <a:ext cx="16459200" cy="381000"/>
          </a:xfrm>
          <a:prstGeom prst="rect">
            <a:avLst/>
          </a:prstGeom>
          <a:noFill/>
        </p:spPr>
        <p:txBody>
          <a:bodyPr wrap="square" lIns="0" rIns="0" tIns="0" bIns="0" anchor="t">
            <a:spAutoFit/>
          </a:bodyPr>
          <a:lstStyle/>
          <a:p>
            <a:pPr algn="l"/>
            <a:r>
              <a:rPr sz="2100" b="0" i="0">
                <a:solidFill>
                  <a:srgbClr val="9A7878"/>
                </a:solidFill>
                <a:latin typeface="Geist"/>
                <a:ea typeface="Geist"/>
                <a:cs typeface="Geist"/>
              </a:rPr>
              <a:t>All our code lives at github.com/FRC-Team-4143</a:t>
            </a:r>
          </a:p>
        </p:txBody>
      </p:sp>
      <p:pic>
        <p:nvPicPr>
          <p:cNvPr id="18" name="Picture 17" descr="mw_logo_small.png"/>
          <p:cNvPicPr>
            <a:picLocks noChangeAspect="1"/>
          </p:cNvPicPr>
          <p:nvPr/>
        </p:nvPicPr>
        <p:blipFill>
          <a:blip r:embed="rId6"/>
          <a:stretch>
            <a:fillRect/>
          </a:stretch>
        </p:blipFill>
        <p:spPr>
          <a:xfrm>
            <a:off x="914400" y="9410700"/>
            <a:ext cx="583564" cy="495300"/>
          </a:xfrm>
          <a:prstGeom prst="rect">
            <a:avLst/>
          </a:prstGeom>
        </p:spPr>
      </p:pic>
      <p:sp>
        <p:nvSpPr>
          <p:cNvPr id="19" name="TextBox 18"/>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GIT BASICS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The team workflow</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2552700" cy="2286000"/>
          </a:xfrm>
          <a:prstGeom prst="roundRect">
            <a:avLst>
              <a:gd name="adj" fmla="val 6666"/>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143000" y="3086100"/>
            <a:ext cx="762000" cy="38100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01</a:t>
            </a:r>
          </a:p>
        </p:txBody>
      </p:sp>
      <p:sp>
        <p:nvSpPr>
          <p:cNvPr id="7" name="TextBox 6"/>
          <p:cNvSpPr txBox="1"/>
          <p:nvPr/>
        </p:nvSpPr>
        <p:spPr>
          <a:xfrm>
            <a:off x="1143000" y="3562350"/>
            <a:ext cx="2095500" cy="47625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Issue</a:t>
            </a:r>
          </a:p>
        </p:txBody>
      </p:sp>
      <p:sp>
        <p:nvSpPr>
          <p:cNvPr id="8" name="TextBox 7"/>
          <p:cNvSpPr txBox="1"/>
          <p:nvPr/>
        </p:nvSpPr>
        <p:spPr>
          <a:xfrm>
            <a:off x="1143000" y="4095750"/>
            <a:ext cx="2095500" cy="952500"/>
          </a:xfrm>
          <a:prstGeom prst="rect">
            <a:avLst/>
          </a:prstGeom>
          <a:noFill/>
        </p:spPr>
        <p:txBody>
          <a:bodyPr wrap="square" lIns="0" rIns="0" tIns="0" bIns="0" anchor="t">
            <a:spAutoFit/>
          </a:bodyPr>
          <a:lstStyle/>
          <a:p>
            <a:pPr algn="l">
              <a:lnSpc>
                <a:spcPct val="125000"/>
              </a:lnSpc>
            </a:pPr>
            <a:r>
              <a:rPr sz="1650" b="0" i="0">
                <a:solidFill>
                  <a:srgbClr val="9A7878"/>
                </a:solidFill>
                <a:latin typeface="Geist"/>
                <a:ea typeface="Geist"/>
                <a:cs typeface="Geist"/>
              </a:rPr>
              <a:t>Find it, assign yourself</a:t>
            </a:r>
          </a:p>
        </p:txBody>
      </p:sp>
      <p:sp>
        <p:nvSpPr>
          <p:cNvPr id="9" name="Rounded Rectangle 8"/>
          <p:cNvSpPr/>
          <p:nvPr/>
        </p:nvSpPr>
        <p:spPr>
          <a:xfrm>
            <a:off x="3695700" y="2857500"/>
            <a:ext cx="2552700" cy="2286000"/>
          </a:xfrm>
          <a:prstGeom prst="roundRect">
            <a:avLst>
              <a:gd name="adj" fmla="val 6666"/>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3924300" y="3086100"/>
            <a:ext cx="762000" cy="38100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02</a:t>
            </a:r>
          </a:p>
        </p:txBody>
      </p:sp>
      <p:sp>
        <p:nvSpPr>
          <p:cNvPr id="11" name="TextBox 10"/>
          <p:cNvSpPr txBox="1"/>
          <p:nvPr/>
        </p:nvSpPr>
        <p:spPr>
          <a:xfrm>
            <a:off x="3924300" y="3562350"/>
            <a:ext cx="2095500" cy="47625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Branch</a:t>
            </a:r>
          </a:p>
        </p:txBody>
      </p:sp>
      <p:sp>
        <p:nvSpPr>
          <p:cNvPr id="12" name="TextBox 11"/>
          <p:cNvSpPr txBox="1"/>
          <p:nvPr/>
        </p:nvSpPr>
        <p:spPr>
          <a:xfrm>
            <a:off x="3924300" y="4095750"/>
            <a:ext cx="2095500" cy="952500"/>
          </a:xfrm>
          <a:prstGeom prst="rect">
            <a:avLst/>
          </a:prstGeom>
          <a:noFill/>
        </p:spPr>
        <p:txBody>
          <a:bodyPr wrap="square" lIns="0" rIns="0" tIns="0" bIns="0" anchor="t">
            <a:spAutoFit/>
          </a:bodyPr>
          <a:lstStyle/>
          <a:p>
            <a:pPr algn="l">
              <a:lnSpc>
                <a:spcPct val="125000"/>
              </a:lnSpc>
            </a:pPr>
            <a:r>
              <a:rPr sz="1650" b="0" i="0">
                <a:solidFill>
                  <a:srgbClr val="9A7878"/>
                </a:solidFill>
                <a:latin typeface="Geist Mono"/>
                <a:ea typeface="Geist Mono"/>
                <a:cs typeface="Geist Mono"/>
              </a:rPr>
              <a:t>issue-12-turbo-boost</a:t>
            </a:r>
          </a:p>
        </p:txBody>
      </p:sp>
      <p:sp>
        <p:nvSpPr>
          <p:cNvPr id="13" name="Rounded Rectangle 12"/>
          <p:cNvSpPr/>
          <p:nvPr/>
        </p:nvSpPr>
        <p:spPr>
          <a:xfrm>
            <a:off x="6477000" y="2857500"/>
            <a:ext cx="2552700" cy="2286000"/>
          </a:xfrm>
          <a:prstGeom prst="roundRect">
            <a:avLst>
              <a:gd name="adj" fmla="val 6666"/>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705600" y="3086100"/>
            <a:ext cx="762000" cy="38100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03</a:t>
            </a:r>
          </a:p>
        </p:txBody>
      </p:sp>
      <p:sp>
        <p:nvSpPr>
          <p:cNvPr id="15" name="TextBox 14"/>
          <p:cNvSpPr txBox="1"/>
          <p:nvPr/>
        </p:nvSpPr>
        <p:spPr>
          <a:xfrm>
            <a:off x="6705600" y="3562350"/>
            <a:ext cx="2095500" cy="47625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Commit</a:t>
            </a:r>
          </a:p>
        </p:txBody>
      </p:sp>
      <p:sp>
        <p:nvSpPr>
          <p:cNvPr id="16" name="TextBox 15"/>
          <p:cNvSpPr txBox="1"/>
          <p:nvPr/>
        </p:nvSpPr>
        <p:spPr>
          <a:xfrm>
            <a:off x="6705600" y="4095750"/>
            <a:ext cx="2095500" cy="952500"/>
          </a:xfrm>
          <a:prstGeom prst="rect">
            <a:avLst/>
          </a:prstGeom>
          <a:noFill/>
        </p:spPr>
        <p:txBody>
          <a:bodyPr wrap="square" lIns="0" rIns="0" tIns="0" bIns="0" anchor="t">
            <a:spAutoFit/>
          </a:bodyPr>
          <a:lstStyle/>
          <a:p>
            <a:pPr algn="l">
              <a:lnSpc>
                <a:spcPct val="125000"/>
              </a:lnSpc>
            </a:pPr>
            <a:r>
              <a:rPr sz="1650" b="0" i="0">
                <a:solidFill>
                  <a:srgbClr val="9A7878"/>
                </a:solidFill>
                <a:latin typeface="Geist"/>
                <a:ea typeface="Geist"/>
                <a:cs typeface="Geist"/>
              </a:rPr>
              <a:t>Small steps, update the issue</a:t>
            </a:r>
          </a:p>
        </p:txBody>
      </p:sp>
      <p:sp>
        <p:nvSpPr>
          <p:cNvPr id="17" name="Rounded Rectangle 16"/>
          <p:cNvSpPr/>
          <p:nvPr/>
        </p:nvSpPr>
        <p:spPr>
          <a:xfrm>
            <a:off x="9258300" y="2857500"/>
            <a:ext cx="2552700" cy="2286000"/>
          </a:xfrm>
          <a:prstGeom prst="roundRect">
            <a:avLst>
              <a:gd name="adj" fmla="val 6666"/>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9486900" y="3086100"/>
            <a:ext cx="762000" cy="38100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04</a:t>
            </a:r>
          </a:p>
        </p:txBody>
      </p:sp>
      <p:sp>
        <p:nvSpPr>
          <p:cNvPr id="19" name="TextBox 18"/>
          <p:cNvSpPr txBox="1"/>
          <p:nvPr/>
        </p:nvSpPr>
        <p:spPr>
          <a:xfrm>
            <a:off x="9486900" y="3562350"/>
            <a:ext cx="2095500" cy="476250"/>
          </a:xfrm>
          <a:prstGeom prst="rect">
            <a:avLst/>
          </a:prstGeom>
          <a:noFill/>
        </p:spPr>
        <p:txBody>
          <a:bodyPr wrap="square" lIns="0" rIns="0" tIns="0" bIns="0" anchor="t">
            <a:spAutoFit/>
          </a:bodyPr>
          <a:lstStyle/>
          <a:p>
            <a:pPr algn="l"/>
            <a:r>
              <a:rPr sz="1950" b="1" i="0">
                <a:solidFill>
                  <a:srgbClr val="F0E8E8"/>
                </a:solidFill>
                <a:latin typeface="Geist"/>
                <a:ea typeface="Geist"/>
                <a:cs typeface="Geist"/>
              </a:rPr>
              <a:t>Pull request</a:t>
            </a:r>
          </a:p>
        </p:txBody>
      </p:sp>
      <p:sp>
        <p:nvSpPr>
          <p:cNvPr id="20" name="TextBox 19"/>
          <p:cNvSpPr txBox="1"/>
          <p:nvPr/>
        </p:nvSpPr>
        <p:spPr>
          <a:xfrm>
            <a:off x="9486900" y="4095750"/>
            <a:ext cx="2095500" cy="952500"/>
          </a:xfrm>
          <a:prstGeom prst="rect">
            <a:avLst/>
          </a:prstGeom>
          <a:noFill/>
        </p:spPr>
        <p:txBody>
          <a:bodyPr wrap="square" lIns="0" rIns="0" tIns="0" bIns="0" anchor="t">
            <a:spAutoFit/>
          </a:bodyPr>
          <a:lstStyle/>
          <a:p>
            <a:pPr algn="l">
              <a:lnSpc>
                <a:spcPct val="125000"/>
              </a:lnSpc>
            </a:pPr>
            <a:r>
              <a:rPr sz="1650" b="0" i="0">
                <a:solidFill>
                  <a:srgbClr val="9A7878"/>
                </a:solidFill>
                <a:latin typeface="Geist"/>
                <a:ea typeface="Geist"/>
                <a:cs typeface="Geist"/>
              </a:rPr>
              <a:t>Linked to the issue</a:t>
            </a:r>
          </a:p>
        </p:txBody>
      </p:sp>
      <p:sp>
        <p:nvSpPr>
          <p:cNvPr id="21" name="Rounded Rectangle 20"/>
          <p:cNvSpPr/>
          <p:nvPr/>
        </p:nvSpPr>
        <p:spPr>
          <a:xfrm>
            <a:off x="12039600" y="2857500"/>
            <a:ext cx="2552700" cy="2286000"/>
          </a:xfrm>
          <a:prstGeom prst="roundRect">
            <a:avLst>
              <a:gd name="adj" fmla="val 6666"/>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12268200" y="3086100"/>
            <a:ext cx="762000" cy="38100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05</a:t>
            </a:r>
          </a:p>
        </p:txBody>
      </p:sp>
      <p:sp>
        <p:nvSpPr>
          <p:cNvPr id="23" name="TextBox 22"/>
          <p:cNvSpPr txBox="1"/>
          <p:nvPr/>
        </p:nvSpPr>
        <p:spPr>
          <a:xfrm>
            <a:off x="12268200" y="3562350"/>
            <a:ext cx="2095500" cy="47625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Review</a:t>
            </a:r>
          </a:p>
        </p:txBody>
      </p:sp>
      <p:sp>
        <p:nvSpPr>
          <p:cNvPr id="24" name="TextBox 23"/>
          <p:cNvSpPr txBox="1"/>
          <p:nvPr/>
        </p:nvSpPr>
        <p:spPr>
          <a:xfrm>
            <a:off x="12268200" y="4095750"/>
            <a:ext cx="2095500" cy="952500"/>
          </a:xfrm>
          <a:prstGeom prst="rect">
            <a:avLst/>
          </a:prstGeom>
          <a:noFill/>
        </p:spPr>
        <p:txBody>
          <a:bodyPr wrap="square" lIns="0" rIns="0" tIns="0" bIns="0" anchor="t">
            <a:spAutoFit/>
          </a:bodyPr>
          <a:lstStyle/>
          <a:p>
            <a:pPr algn="l">
              <a:lnSpc>
                <a:spcPct val="125000"/>
              </a:lnSpc>
            </a:pPr>
            <a:r>
              <a:rPr sz="1650" b="0" i="0">
                <a:solidFill>
                  <a:srgbClr val="9A7878"/>
                </a:solidFill>
                <a:latin typeface="Geist"/>
                <a:ea typeface="Geist"/>
                <a:cs typeface="Geist"/>
              </a:rPr>
              <a:t>Teammate or mentor</a:t>
            </a:r>
          </a:p>
        </p:txBody>
      </p:sp>
      <p:sp>
        <p:nvSpPr>
          <p:cNvPr id="25" name="Rounded Rectangle 24"/>
          <p:cNvSpPr/>
          <p:nvPr/>
        </p:nvSpPr>
        <p:spPr>
          <a:xfrm>
            <a:off x="14820900" y="2857500"/>
            <a:ext cx="2552700" cy="2286000"/>
          </a:xfrm>
          <a:prstGeom prst="roundRect">
            <a:avLst>
              <a:gd name="adj" fmla="val 6666"/>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15049500" y="3086100"/>
            <a:ext cx="762000" cy="38100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06</a:t>
            </a:r>
          </a:p>
        </p:txBody>
      </p:sp>
      <p:sp>
        <p:nvSpPr>
          <p:cNvPr id="27" name="TextBox 26"/>
          <p:cNvSpPr txBox="1"/>
          <p:nvPr/>
        </p:nvSpPr>
        <p:spPr>
          <a:xfrm>
            <a:off x="15049500" y="3562350"/>
            <a:ext cx="2095500" cy="47625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Merge</a:t>
            </a:r>
          </a:p>
        </p:txBody>
      </p:sp>
      <p:sp>
        <p:nvSpPr>
          <p:cNvPr id="28" name="TextBox 27"/>
          <p:cNvSpPr txBox="1"/>
          <p:nvPr/>
        </p:nvSpPr>
        <p:spPr>
          <a:xfrm>
            <a:off x="15049500" y="4095750"/>
            <a:ext cx="2095500" cy="952500"/>
          </a:xfrm>
          <a:prstGeom prst="rect">
            <a:avLst/>
          </a:prstGeom>
          <a:noFill/>
        </p:spPr>
        <p:txBody>
          <a:bodyPr wrap="square" lIns="0" rIns="0" tIns="0" bIns="0" anchor="t">
            <a:spAutoFit/>
          </a:bodyPr>
          <a:lstStyle/>
          <a:p>
            <a:pPr algn="l">
              <a:lnSpc>
                <a:spcPct val="125000"/>
              </a:lnSpc>
            </a:pPr>
            <a:r>
              <a:rPr sz="1650" b="0" i="0">
                <a:solidFill>
                  <a:srgbClr val="9A7878"/>
                </a:solidFill>
                <a:latin typeface="Geist"/>
                <a:ea typeface="Geist"/>
                <a:cs typeface="Geist"/>
              </a:rPr>
              <a:t>Then delete the branch</a:t>
            </a:r>
          </a:p>
        </p:txBody>
      </p:sp>
      <p:sp>
        <p:nvSpPr>
          <p:cNvPr id="29" name="TextBox 28"/>
          <p:cNvSpPr txBox="1"/>
          <p:nvPr/>
        </p:nvSpPr>
        <p:spPr>
          <a:xfrm>
            <a:off x="914400" y="5715000"/>
            <a:ext cx="16459200" cy="38100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THE PROJECT BOARD</a:t>
            </a:r>
          </a:p>
        </p:txBody>
      </p:sp>
      <p:sp>
        <p:nvSpPr>
          <p:cNvPr id="30" name="Rounded Rectangle 29"/>
          <p:cNvSpPr/>
          <p:nvPr/>
        </p:nvSpPr>
        <p:spPr>
          <a:xfrm>
            <a:off x="914400" y="6191250"/>
            <a:ext cx="3108960" cy="2095500"/>
          </a:xfrm>
          <a:prstGeom prst="roundRect">
            <a:avLst>
              <a:gd name="adj" fmla="val 5454"/>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1143000" y="6381750"/>
            <a:ext cx="2651760" cy="419100"/>
          </a:xfrm>
          <a:prstGeom prst="rect">
            <a:avLst/>
          </a:prstGeom>
          <a:noFill/>
        </p:spPr>
        <p:txBody>
          <a:bodyPr wrap="square" lIns="0" rIns="0" tIns="0" bIns="0" anchor="t">
            <a:spAutoFit/>
          </a:bodyPr>
          <a:lstStyle/>
          <a:p>
            <a:pPr algn="l"/>
            <a:r>
              <a:rPr sz="2100" b="1" i="0">
                <a:solidFill>
                  <a:srgbClr val="F0E8E8"/>
                </a:solidFill>
                <a:latin typeface="Geist"/>
                <a:ea typeface="Geist"/>
                <a:cs typeface="Geist"/>
              </a:rPr>
              <a:t>Backlog</a:t>
            </a:r>
          </a:p>
        </p:txBody>
      </p:sp>
      <p:sp>
        <p:nvSpPr>
          <p:cNvPr id="32" name="Rounded Rectangle 31"/>
          <p:cNvSpPr/>
          <p:nvPr/>
        </p:nvSpPr>
        <p:spPr>
          <a:xfrm>
            <a:off x="1143000" y="6972300"/>
            <a:ext cx="2651760" cy="457200"/>
          </a:xfrm>
          <a:prstGeom prst="roundRect">
            <a:avLst>
              <a:gd name="adj" fmla="val 16666"/>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ounded Rectangle 32"/>
          <p:cNvSpPr/>
          <p:nvPr/>
        </p:nvSpPr>
        <p:spPr>
          <a:xfrm>
            <a:off x="1143000" y="7562850"/>
            <a:ext cx="2651760" cy="457200"/>
          </a:xfrm>
          <a:prstGeom prst="roundRect">
            <a:avLst>
              <a:gd name="adj" fmla="val 16666"/>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Rounded Rectangle 33"/>
          <p:cNvSpPr/>
          <p:nvPr/>
        </p:nvSpPr>
        <p:spPr>
          <a:xfrm>
            <a:off x="4251960" y="6191250"/>
            <a:ext cx="3108960" cy="2095500"/>
          </a:xfrm>
          <a:prstGeom prst="roundRect">
            <a:avLst>
              <a:gd name="adj" fmla="val 5454"/>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4480560" y="6381750"/>
            <a:ext cx="2651760" cy="419100"/>
          </a:xfrm>
          <a:prstGeom prst="rect">
            <a:avLst/>
          </a:prstGeom>
          <a:noFill/>
        </p:spPr>
        <p:txBody>
          <a:bodyPr wrap="square" lIns="0" rIns="0" tIns="0" bIns="0" anchor="t">
            <a:spAutoFit/>
          </a:bodyPr>
          <a:lstStyle/>
          <a:p>
            <a:pPr algn="l"/>
            <a:r>
              <a:rPr sz="2100" b="1" i="0">
                <a:solidFill>
                  <a:srgbClr val="F0E8E8"/>
                </a:solidFill>
                <a:latin typeface="Geist"/>
                <a:ea typeface="Geist"/>
                <a:cs typeface="Geist"/>
              </a:rPr>
              <a:t>Ready</a:t>
            </a:r>
          </a:p>
        </p:txBody>
      </p:sp>
      <p:sp>
        <p:nvSpPr>
          <p:cNvPr id="36" name="Rounded Rectangle 35"/>
          <p:cNvSpPr/>
          <p:nvPr/>
        </p:nvSpPr>
        <p:spPr>
          <a:xfrm>
            <a:off x="4480560" y="6972300"/>
            <a:ext cx="2651760" cy="457200"/>
          </a:xfrm>
          <a:prstGeom prst="roundRect">
            <a:avLst>
              <a:gd name="adj" fmla="val 16666"/>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ounded Rectangle 36"/>
          <p:cNvSpPr/>
          <p:nvPr/>
        </p:nvSpPr>
        <p:spPr>
          <a:xfrm>
            <a:off x="4480560" y="7562850"/>
            <a:ext cx="2651760" cy="457200"/>
          </a:xfrm>
          <a:prstGeom prst="roundRect">
            <a:avLst>
              <a:gd name="adj" fmla="val 16666"/>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Rounded Rectangle 37"/>
          <p:cNvSpPr/>
          <p:nvPr/>
        </p:nvSpPr>
        <p:spPr>
          <a:xfrm>
            <a:off x="7589520" y="6191250"/>
            <a:ext cx="3108960" cy="2095500"/>
          </a:xfrm>
          <a:prstGeom prst="roundRect">
            <a:avLst>
              <a:gd name="adj" fmla="val 5454"/>
            </a:avLst>
          </a:prstGeom>
          <a:solidFill>
            <a:srgbClr val="1A0F0F"/>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7818120" y="6381750"/>
            <a:ext cx="2651760" cy="419100"/>
          </a:xfrm>
          <a:prstGeom prst="rect">
            <a:avLst/>
          </a:prstGeom>
          <a:noFill/>
        </p:spPr>
        <p:txBody>
          <a:bodyPr wrap="square" lIns="0" rIns="0" tIns="0" bIns="0" anchor="t">
            <a:spAutoFit/>
          </a:bodyPr>
          <a:lstStyle/>
          <a:p>
            <a:pPr algn="l"/>
            <a:r>
              <a:rPr sz="2100" b="1" i="0">
                <a:solidFill>
                  <a:srgbClr val="F0E8E8"/>
                </a:solidFill>
                <a:latin typeface="Geist"/>
                <a:ea typeface="Geist"/>
                <a:cs typeface="Geist"/>
              </a:rPr>
              <a:t>In progress</a:t>
            </a:r>
          </a:p>
        </p:txBody>
      </p:sp>
      <p:sp>
        <p:nvSpPr>
          <p:cNvPr id="40" name="Rounded Rectangle 39"/>
          <p:cNvSpPr/>
          <p:nvPr/>
        </p:nvSpPr>
        <p:spPr>
          <a:xfrm>
            <a:off x="7818120" y="6972300"/>
            <a:ext cx="2651760" cy="457200"/>
          </a:xfrm>
          <a:prstGeom prst="roundRect">
            <a:avLst>
              <a:gd name="adj" fmla="val 16666"/>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Rounded Rectangle 40"/>
          <p:cNvSpPr/>
          <p:nvPr/>
        </p:nvSpPr>
        <p:spPr>
          <a:xfrm>
            <a:off x="10927080" y="6191250"/>
            <a:ext cx="3108960" cy="2095500"/>
          </a:xfrm>
          <a:prstGeom prst="roundRect">
            <a:avLst>
              <a:gd name="adj" fmla="val 5454"/>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11155680" y="6381750"/>
            <a:ext cx="2651760" cy="419100"/>
          </a:xfrm>
          <a:prstGeom prst="rect">
            <a:avLst/>
          </a:prstGeom>
          <a:noFill/>
        </p:spPr>
        <p:txBody>
          <a:bodyPr wrap="square" lIns="0" rIns="0" tIns="0" bIns="0" anchor="t">
            <a:spAutoFit/>
          </a:bodyPr>
          <a:lstStyle/>
          <a:p>
            <a:pPr algn="l"/>
            <a:r>
              <a:rPr sz="2100" b="1" i="0">
                <a:solidFill>
                  <a:srgbClr val="F0E8E8"/>
                </a:solidFill>
                <a:latin typeface="Geist"/>
                <a:ea typeface="Geist"/>
                <a:cs typeface="Geist"/>
              </a:rPr>
              <a:t>In review</a:t>
            </a:r>
          </a:p>
        </p:txBody>
      </p:sp>
      <p:sp>
        <p:nvSpPr>
          <p:cNvPr id="43" name="Rounded Rectangle 42"/>
          <p:cNvSpPr/>
          <p:nvPr/>
        </p:nvSpPr>
        <p:spPr>
          <a:xfrm>
            <a:off x="11155680" y="6972300"/>
            <a:ext cx="2651760" cy="457200"/>
          </a:xfrm>
          <a:prstGeom prst="roundRect">
            <a:avLst>
              <a:gd name="adj" fmla="val 16666"/>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Rounded Rectangle 43"/>
          <p:cNvSpPr/>
          <p:nvPr/>
        </p:nvSpPr>
        <p:spPr>
          <a:xfrm>
            <a:off x="11155680" y="7562850"/>
            <a:ext cx="2651760" cy="457200"/>
          </a:xfrm>
          <a:prstGeom prst="roundRect">
            <a:avLst>
              <a:gd name="adj" fmla="val 16666"/>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Rounded Rectangle 44"/>
          <p:cNvSpPr/>
          <p:nvPr/>
        </p:nvSpPr>
        <p:spPr>
          <a:xfrm>
            <a:off x="14264640" y="6191250"/>
            <a:ext cx="3108960" cy="2095500"/>
          </a:xfrm>
          <a:prstGeom prst="roundRect">
            <a:avLst>
              <a:gd name="adj" fmla="val 5454"/>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TextBox 45"/>
          <p:cNvSpPr txBox="1"/>
          <p:nvPr/>
        </p:nvSpPr>
        <p:spPr>
          <a:xfrm>
            <a:off x="14493240" y="6381750"/>
            <a:ext cx="2651760" cy="419100"/>
          </a:xfrm>
          <a:prstGeom prst="rect">
            <a:avLst/>
          </a:prstGeom>
          <a:noFill/>
        </p:spPr>
        <p:txBody>
          <a:bodyPr wrap="square" lIns="0" rIns="0" tIns="0" bIns="0" anchor="t">
            <a:spAutoFit/>
          </a:bodyPr>
          <a:lstStyle/>
          <a:p>
            <a:pPr algn="l"/>
            <a:r>
              <a:rPr sz="2100" b="1" i="0">
                <a:solidFill>
                  <a:srgbClr val="F0E8E8"/>
                </a:solidFill>
                <a:latin typeface="Geist"/>
                <a:ea typeface="Geist"/>
                <a:cs typeface="Geist"/>
              </a:rPr>
              <a:t>Done</a:t>
            </a:r>
          </a:p>
        </p:txBody>
      </p:sp>
      <p:sp>
        <p:nvSpPr>
          <p:cNvPr id="47" name="Rounded Rectangle 46"/>
          <p:cNvSpPr/>
          <p:nvPr/>
        </p:nvSpPr>
        <p:spPr>
          <a:xfrm>
            <a:off x="14493240" y="6972300"/>
            <a:ext cx="2651760" cy="457200"/>
          </a:xfrm>
          <a:prstGeom prst="roundRect">
            <a:avLst>
              <a:gd name="adj" fmla="val 16666"/>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Rounded Rectangle 47"/>
          <p:cNvSpPr/>
          <p:nvPr/>
        </p:nvSpPr>
        <p:spPr>
          <a:xfrm>
            <a:off x="14493240" y="7562850"/>
            <a:ext cx="2651760" cy="457200"/>
          </a:xfrm>
          <a:prstGeom prst="roundRect">
            <a:avLst>
              <a:gd name="adj" fmla="val 16666"/>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9" name="Picture 48" descr="mw_logo_small.png"/>
          <p:cNvPicPr>
            <a:picLocks noChangeAspect="1"/>
          </p:cNvPicPr>
          <p:nvPr/>
        </p:nvPicPr>
        <p:blipFill>
          <a:blip r:embed="rId3"/>
          <a:stretch>
            <a:fillRect/>
          </a:stretch>
        </p:blipFill>
        <p:spPr>
          <a:xfrm>
            <a:off x="914400" y="9410700"/>
            <a:ext cx="583564" cy="495300"/>
          </a:xfrm>
          <a:prstGeom prst="rect">
            <a:avLst/>
          </a:prstGeom>
        </p:spPr>
      </p:pic>
      <p:sp>
        <p:nvSpPr>
          <p:cNvPr id="50" name="TextBox 49"/>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2857500"/>
            <a:ext cx="13335000" cy="2476500"/>
          </a:xfrm>
          <a:prstGeom prst="rect">
            <a:avLst/>
          </a:prstGeom>
          <a:noFill/>
        </p:spPr>
        <p:txBody>
          <a:bodyPr wrap="square" lIns="0" rIns="0" tIns="0" bIns="0" anchor="t">
            <a:spAutoFit/>
          </a:bodyPr>
          <a:lstStyle/>
          <a:p>
            <a:pPr algn="l"/>
            <a:r>
              <a:rPr sz="16500" b="1" i="0">
                <a:solidFill>
                  <a:srgbClr val="CC2200"/>
                </a:solidFill>
                <a:latin typeface="Geist"/>
                <a:ea typeface="Geist"/>
                <a:cs typeface="Geist"/>
              </a:rPr>
              <a:t>03</a:t>
            </a:r>
          </a:p>
        </p:txBody>
      </p:sp>
      <p:sp>
        <p:nvSpPr>
          <p:cNvPr id="3" name="TextBox 2"/>
          <p:cNvSpPr txBox="1"/>
          <p:nvPr/>
        </p:nvSpPr>
        <p:spPr>
          <a:xfrm>
            <a:off x="914400" y="5334000"/>
            <a:ext cx="14287500" cy="952500"/>
          </a:xfrm>
          <a:prstGeom prst="rect">
            <a:avLst/>
          </a:prstGeom>
          <a:noFill/>
        </p:spPr>
        <p:txBody>
          <a:bodyPr wrap="square" lIns="0" rIns="0" tIns="0" bIns="0" anchor="t">
            <a:spAutoFit/>
          </a:bodyPr>
          <a:lstStyle/>
          <a:p>
            <a:pPr algn="l"/>
            <a:r>
              <a:rPr sz="5400" b="1" i="0">
                <a:solidFill>
                  <a:srgbClr val="F0E8E8"/>
                </a:solidFill>
                <a:latin typeface="Geist"/>
                <a:ea typeface="Geist"/>
                <a:cs typeface="Geist"/>
              </a:rPr>
              <a:t>AdvantageScope</a:t>
            </a:r>
          </a:p>
        </p:txBody>
      </p:sp>
      <p:sp>
        <p:nvSpPr>
          <p:cNvPr id="4" name="TextBox 3"/>
          <p:cNvSpPr txBox="1"/>
          <p:nvPr/>
        </p:nvSpPr>
        <p:spPr>
          <a:xfrm>
            <a:off x="914400" y="6362700"/>
            <a:ext cx="13335000" cy="476250"/>
          </a:xfrm>
          <a:prstGeom prst="rect">
            <a:avLst/>
          </a:prstGeom>
          <a:noFill/>
        </p:spPr>
        <p:txBody>
          <a:bodyPr wrap="square" lIns="0" rIns="0" tIns="0" bIns="0" anchor="t">
            <a:spAutoFit/>
          </a:bodyPr>
          <a:lstStyle/>
          <a:p>
            <a:pPr algn="l"/>
            <a:r>
              <a:rPr sz="2100" b="0" i="0">
                <a:solidFill>
                  <a:srgbClr val="9A7878"/>
                </a:solidFill>
                <a:latin typeface="Geist"/>
                <a:ea typeface="Geist"/>
                <a:cs typeface="Geist"/>
              </a:rPr>
              <a:t>Telemetry: seeing what the robot is doing</a:t>
            </a:r>
          </a:p>
        </p:txBody>
      </p:sp>
      <p:pic>
        <p:nvPicPr>
          <p:cNvPr id="5" name="Picture 4" descr="mw_logo_small.png"/>
          <p:cNvPicPr>
            <a:picLocks noChangeAspect="1"/>
          </p:cNvPicPr>
          <p:nvPr/>
        </p:nvPicPr>
        <p:blipFill>
          <a:blip r:embed="rId3"/>
          <a:stretch>
            <a:fillRect/>
          </a:stretch>
        </p:blipFill>
        <p:spPr>
          <a:xfrm>
            <a:off x="914400" y="9410700"/>
            <a:ext cx="583564" cy="495300"/>
          </a:xfrm>
          <a:prstGeom prst="rect">
            <a:avLst/>
          </a:prstGeom>
        </p:spPr>
      </p:pic>
      <p:sp>
        <p:nvSpPr>
          <p:cNvPr id="6" name="TextBox 5"/>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26</a:t>
            </a:r>
          </a:p>
        </p:txBody>
      </p:sp>
      <p:pic>
        <p:nvPicPr>
          <p:cNvPr id="7" name="Picture 6" descr="dozer_look_up.png"/>
          <p:cNvPicPr>
            <a:picLocks noChangeAspect="1"/>
          </p:cNvPicPr>
          <p:nvPr/>
        </p:nvPicPr>
        <p:blipFill>
          <a:blip r:embed="rId4"/>
          <a:stretch>
            <a:fillRect/>
          </a:stretch>
        </p:blipFill>
        <p:spPr>
          <a:xfrm>
            <a:off x="13620750" y="7048500"/>
            <a:ext cx="3429000" cy="2107613"/>
          </a:xfrm>
          <a:prstGeom prst="rect">
            <a:avLst/>
          </a:prstGeom>
        </p:spPr>
      </p:pic>
      <p:sp>
        <p:nvSpPr>
          <p:cNvPr id="8" name="Isosceles Triangle 7"/>
          <p:cNvSpPr/>
          <p:nvPr/>
        </p:nvSpPr>
        <p:spPr>
          <a:xfrm rot="10800000">
            <a:off x="16261080" y="6572250"/>
            <a:ext cx="342900" cy="285750"/>
          </a:xfrm>
          <a:prstGeom prst="triangl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0953750" y="5372100"/>
            <a:ext cx="5715000" cy="1238250"/>
          </a:xfrm>
          <a:prstGeom prst="roundRect">
            <a:avLst>
              <a:gd name="adj" fmla="val 15384"/>
            </a:avLst>
          </a:prstGeom>
          <a:solidFill>
            <a:srgbClr val="1A0F0F"/>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1220450" y="5372100"/>
            <a:ext cx="5181600" cy="1238250"/>
          </a:xfrm>
          <a:prstGeom prst="rect">
            <a:avLst/>
          </a:prstGeom>
          <a:noFill/>
        </p:spPr>
        <p:txBody>
          <a:bodyPr wrap="square" lIns="0" rIns="0" tIns="0" bIns="0" anchor="ctr">
            <a:spAutoFit/>
          </a:bodyPr>
          <a:lstStyle/>
          <a:p>
            <a:pPr algn="l">
              <a:lnSpc>
                <a:spcPct val="125000"/>
              </a:lnSpc>
            </a:pPr>
            <a:r>
              <a:rPr sz="1950" b="0" i="0">
                <a:solidFill>
                  <a:srgbClr val="F0E8E8"/>
                </a:solidFill>
                <a:latin typeface="Geist"/>
                <a:ea typeface="Geist"/>
                <a:cs typeface="Geist"/>
              </a:rPr>
              <a:t>You can't see inside me, so graph what I'm thinking.</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ADVANTAGESCOPE</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What is telemetry?</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3143250"/>
            <a:ext cx="3543300" cy="1905000"/>
          </a:xfrm>
          <a:prstGeom prst="roundRect">
            <a:avLst>
              <a:gd name="adj" fmla="val 80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009650" y="3619500"/>
            <a:ext cx="3352800" cy="533400"/>
          </a:xfrm>
          <a:prstGeom prst="rect">
            <a:avLst/>
          </a:prstGeom>
          <a:noFill/>
        </p:spPr>
        <p:txBody>
          <a:bodyPr wrap="square" lIns="0" rIns="0" tIns="0" bIns="0" anchor="t">
            <a:spAutoFit/>
          </a:bodyPr>
          <a:lstStyle/>
          <a:p>
            <a:pPr algn="ctr"/>
            <a:r>
              <a:rPr sz="2550" b="1" i="0">
                <a:solidFill>
                  <a:srgbClr val="F0E8E8"/>
                </a:solidFill>
                <a:latin typeface="Geist"/>
                <a:ea typeface="Geist"/>
                <a:cs typeface="Geist"/>
              </a:rPr>
              <a:t>Robot code</a:t>
            </a:r>
          </a:p>
        </p:txBody>
      </p:sp>
      <p:sp>
        <p:nvSpPr>
          <p:cNvPr id="7" name="TextBox 6"/>
          <p:cNvSpPr txBox="1"/>
          <p:nvPr/>
        </p:nvSpPr>
        <p:spPr>
          <a:xfrm>
            <a:off x="1066800" y="4210050"/>
            <a:ext cx="3238500" cy="571500"/>
          </a:xfrm>
          <a:prstGeom prst="rect">
            <a:avLst/>
          </a:prstGeom>
          <a:noFill/>
        </p:spPr>
        <p:txBody>
          <a:bodyPr wrap="square" lIns="0" rIns="0" tIns="0" bIns="0" anchor="t">
            <a:spAutoFit/>
          </a:bodyPr>
          <a:lstStyle/>
          <a:p>
            <a:pPr algn="ctr">
              <a:lnSpc>
                <a:spcPct val="120000"/>
              </a:lnSpc>
            </a:pPr>
            <a:r>
              <a:rPr sz="1650" b="0" i="0">
                <a:solidFill>
                  <a:srgbClr val="9A7878"/>
                </a:solidFill>
                <a:latin typeface="Geist"/>
                <a:ea typeface="Geist"/>
                <a:cs typeface="Geist"/>
              </a:rPr>
              <a:t>Publishes values every loop</a:t>
            </a:r>
          </a:p>
        </p:txBody>
      </p:sp>
      <p:cxnSp>
        <p:nvCxnSpPr>
          <p:cNvPr id="8" name="Connector 7"/>
          <p:cNvCxnSpPr/>
          <p:nvPr/>
        </p:nvCxnSpPr>
        <p:spPr>
          <a:xfrm>
            <a:off x="4533900" y="4095750"/>
            <a:ext cx="609600" cy="0"/>
          </a:xfrm>
          <a:prstGeom prst="line">
            <a:avLst/>
          </a:prstGeom>
          <a:ln w="28575">
            <a:solidFill>
              <a:srgbClr val="9A7878"/>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5219700" y="3143250"/>
            <a:ext cx="3543300" cy="1905000"/>
          </a:xfrm>
          <a:prstGeom prst="roundRect">
            <a:avLst>
              <a:gd name="adj" fmla="val 80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314950" y="3619500"/>
            <a:ext cx="3352800" cy="533400"/>
          </a:xfrm>
          <a:prstGeom prst="rect">
            <a:avLst/>
          </a:prstGeom>
          <a:noFill/>
        </p:spPr>
        <p:txBody>
          <a:bodyPr wrap="square" lIns="0" rIns="0" tIns="0" bIns="0" anchor="t">
            <a:spAutoFit/>
          </a:bodyPr>
          <a:lstStyle/>
          <a:p>
            <a:pPr algn="ctr"/>
            <a:r>
              <a:rPr sz="2550" b="1" i="0">
                <a:solidFill>
                  <a:srgbClr val="F0E8E8"/>
                </a:solidFill>
                <a:latin typeface="Geist"/>
                <a:ea typeface="Geist"/>
                <a:cs typeface="Geist"/>
              </a:rPr>
              <a:t>NetworkTables</a:t>
            </a:r>
          </a:p>
        </p:txBody>
      </p:sp>
      <p:sp>
        <p:nvSpPr>
          <p:cNvPr id="11" name="TextBox 10"/>
          <p:cNvSpPr txBox="1"/>
          <p:nvPr/>
        </p:nvSpPr>
        <p:spPr>
          <a:xfrm>
            <a:off x="5372100" y="4210050"/>
            <a:ext cx="3238500" cy="571500"/>
          </a:xfrm>
          <a:prstGeom prst="rect">
            <a:avLst/>
          </a:prstGeom>
          <a:noFill/>
        </p:spPr>
        <p:txBody>
          <a:bodyPr wrap="square" lIns="0" rIns="0" tIns="0" bIns="0" anchor="t">
            <a:spAutoFit/>
          </a:bodyPr>
          <a:lstStyle/>
          <a:p>
            <a:pPr algn="ctr">
              <a:lnSpc>
                <a:spcPct val="120000"/>
              </a:lnSpc>
            </a:pPr>
            <a:r>
              <a:rPr sz="1650" b="0" i="0">
                <a:solidFill>
                  <a:srgbClr val="9A7878"/>
                </a:solidFill>
                <a:latin typeface="Geist"/>
                <a:ea typeface="Geist"/>
                <a:cs typeface="Geist"/>
              </a:rPr>
              <a:t>Sends them to the laptop</a:t>
            </a:r>
          </a:p>
        </p:txBody>
      </p:sp>
      <p:cxnSp>
        <p:nvCxnSpPr>
          <p:cNvPr id="12" name="Connector 11"/>
          <p:cNvCxnSpPr/>
          <p:nvPr/>
        </p:nvCxnSpPr>
        <p:spPr>
          <a:xfrm>
            <a:off x="8839200" y="4095750"/>
            <a:ext cx="609600" cy="0"/>
          </a:xfrm>
          <a:prstGeom prst="line">
            <a:avLst/>
          </a:prstGeom>
          <a:ln w="28575">
            <a:solidFill>
              <a:srgbClr val="9A787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9525000" y="3143250"/>
            <a:ext cx="3543300" cy="1905000"/>
          </a:xfrm>
          <a:prstGeom prst="roundRect">
            <a:avLst>
              <a:gd name="adj" fmla="val 8000"/>
            </a:avLst>
          </a:prstGeom>
          <a:solidFill>
            <a:srgbClr val="111111"/>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620250" y="3619500"/>
            <a:ext cx="3352800" cy="533400"/>
          </a:xfrm>
          <a:prstGeom prst="rect">
            <a:avLst/>
          </a:prstGeom>
          <a:noFill/>
        </p:spPr>
        <p:txBody>
          <a:bodyPr wrap="square" lIns="0" rIns="0" tIns="0" bIns="0" anchor="t">
            <a:spAutoFit/>
          </a:bodyPr>
          <a:lstStyle/>
          <a:p>
            <a:pPr algn="ctr"/>
            <a:r>
              <a:rPr sz="2550" b="1" i="0">
                <a:solidFill>
                  <a:srgbClr val="F0E8E8"/>
                </a:solidFill>
                <a:latin typeface="Geist"/>
                <a:ea typeface="Geist"/>
                <a:cs typeface="Geist"/>
              </a:rPr>
              <a:t>AdvantageScope</a:t>
            </a:r>
          </a:p>
        </p:txBody>
      </p:sp>
      <p:sp>
        <p:nvSpPr>
          <p:cNvPr id="15" name="TextBox 14"/>
          <p:cNvSpPr txBox="1"/>
          <p:nvPr/>
        </p:nvSpPr>
        <p:spPr>
          <a:xfrm>
            <a:off x="9677400" y="4210050"/>
            <a:ext cx="3238500" cy="571500"/>
          </a:xfrm>
          <a:prstGeom prst="rect">
            <a:avLst/>
          </a:prstGeom>
          <a:noFill/>
        </p:spPr>
        <p:txBody>
          <a:bodyPr wrap="square" lIns="0" rIns="0" tIns="0" bIns="0" anchor="t">
            <a:spAutoFit/>
          </a:bodyPr>
          <a:lstStyle/>
          <a:p>
            <a:pPr algn="ctr">
              <a:lnSpc>
                <a:spcPct val="120000"/>
              </a:lnSpc>
            </a:pPr>
            <a:r>
              <a:rPr sz="1650" b="0" i="0">
                <a:solidFill>
                  <a:srgbClr val="9A7878"/>
                </a:solidFill>
                <a:latin typeface="Geist"/>
                <a:ea typeface="Geist"/>
                <a:cs typeface="Geist"/>
              </a:rPr>
              <a:t>Graphs and draws them</a:t>
            </a:r>
          </a:p>
        </p:txBody>
      </p:sp>
      <p:cxnSp>
        <p:nvCxnSpPr>
          <p:cNvPr id="16" name="Connector 15"/>
          <p:cNvCxnSpPr/>
          <p:nvPr/>
        </p:nvCxnSpPr>
        <p:spPr>
          <a:xfrm>
            <a:off x="13144500" y="4095750"/>
            <a:ext cx="609600" cy="0"/>
          </a:xfrm>
          <a:prstGeom prst="line">
            <a:avLst/>
          </a:prstGeom>
          <a:ln w="28575">
            <a:solidFill>
              <a:srgbClr val="9A787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13830300" y="3143250"/>
            <a:ext cx="3543300" cy="1905000"/>
          </a:xfrm>
          <a:prstGeom prst="roundRect">
            <a:avLst>
              <a:gd name="adj" fmla="val 80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13925550" y="3619500"/>
            <a:ext cx="3352800" cy="533400"/>
          </a:xfrm>
          <a:prstGeom prst="rect">
            <a:avLst/>
          </a:prstGeom>
          <a:noFill/>
        </p:spPr>
        <p:txBody>
          <a:bodyPr wrap="square" lIns="0" rIns="0" tIns="0" bIns="0" anchor="t">
            <a:spAutoFit/>
          </a:bodyPr>
          <a:lstStyle/>
          <a:p>
            <a:pPr algn="ctr"/>
            <a:r>
              <a:rPr sz="2550" b="1" i="0">
                <a:solidFill>
                  <a:srgbClr val="F0E8E8"/>
                </a:solidFill>
                <a:latin typeface="Geist"/>
                <a:ea typeface="Geist"/>
                <a:cs typeface="Geist"/>
              </a:rPr>
              <a:t>Elastic</a:t>
            </a:r>
          </a:p>
        </p:txBody>
      </p:sp>
      <p:sp>
        <p:nvSpPr>
          <p:cNvPr id="19" name="TextBox 18"/>
          <p:cNvSpPr txBox="1"/>
          <p:nvPr/>
        </p:nvSpPr>
        <p:spPr>
          <a:xfrm>
            <a:off x="13982700" y="4210050"/>
            <a:ext cx="3238500" cy="571500"/>
          </a:xfrm>
          <a:prstGeom prst="rect">
            <a:avLst/>
          </a:prstGeom>
          <a:noFill/>
        </p:spPr>
        <p:txBody>
          <a:bodyPr wrap="square" lIns="0" rIns="0" tIns="0" bIns="0" anchor="t">
            <a:spAutoFit/>
          </a:bodyPr>
          <a:lstStyle/>
          <a:p>
            <a:pPr algn="ctr">
              <a:lnSpc>
                <a:spcPct val="120000"/>
              </a:lnSpc>
            </a:pPr>
            <a:r>
              <a:rPr sz="1650" b="0" i="0">
                <a:solidFill>
                  <a:srgbClr val="9A7878"/>
                </a:solidFill>
                <a:latin typeface="Geist"/>
                <a:ea typeface="Geist"/>
                <a:cs typeface="Geist"/>
              </a:rPr>
              <a:t>Shows drivers what matters</a:t>
            </a:r>
          </a:p>
        </p:txBody>
      </p:sp>
      <p:sp>
        <p:nvSpPr>
          <p:cNvPr id="20" name="TextBox 19"/>
          <p:cNvSpPr txBox="1"/>
          <p:nvPr/>
        </p:nvSpPr>
        <p:spPr>
          <a:xfrm>
            <a:off x="914400" y="5810250"/>
            <a:ext cx="16459200" cy="371475"/>
          </a:xfrm>
          <a:prstGeom prst="rect">
            <a:avLst/>
          </a:prstGeom>
          <a:noFill/>
        </p:spPr>
        <p:txBody>
          <a:bodyPr wrap="square" lIns="0" rIns="0" tIns="0" bIns="0" anchor="t">
            <a:spAutoFit/>
          </a:bodyPr>
          <a:lstStyle/>
          <a:p>
            <a:pPr algn="l">
              <a:lnSpc>
                <a:spcPct val="125000"/>
              </a:lnSpc>
            </a:pPr>
            <a:r>
              <a:rPr sz="2250" b="1" i="0">
                <a:solidFill>
                  <a:srgbClr val="CC2200"/>
                </a:solidFill>
                <a:latin typeface="Geist"/>
                <a:ea typeface="Geist"/>
                <a:cs typeface="Geist"/>
              </a:rPr>
              <a:t>•  </a:t>
            </a:r>
            <a:r>
              <a:rPr sz="2250" b="1" i="0">
                <a:solidFill>
                  <a:srgbClr val="F0E8E8"/>
                </a:solidFill>
                <a:latin typeface="Geist"/>
                <a:ea typeface="Geist"/>
                <a:cs typeface="Geist"/>
              </a:rPr>
              <a:t>Telemetry</a:t>
            </a:r>
            <a:r>
              <a:rPr sz="2250" b="0" i="0">
                <a:solidFill>
                  <a:srgbClr val="F0E8E8"/>
                </a:solidFill>
                <a:latin typeface="Geist"/>
                <a:ea typeface="Geist"/>
                <a:cs typeface="Geist"/>
              </a:rPr>
              <a:t>: data the robot reports about itself</a:t>
            </a:r>
          </a:p>
        </p:txBody>
      </p:sp>
      <p:sp>
        <p:nvSpPr>
          <p:cNvPr id="21" name="TextBox 20"/>
          <p:cNvSpPr txBox="1"/>
          <p:nvPr/>
        </p:nvSpPr>
        <p:spPr>
          <a:xfrm>
            <a:off x="914400" y="6410325"/>
            <a:ext cx="16459200" cy="371475"/>
          </a:xfrm>
          <a:prstGeom prst="rect">
            <a:avLst/>
          </a:prstGeom>
          <a:noFill/>
        </p:spPr>
        <p:txBody>
          <a:bodyPr wrap="square" lIns="0" rIns="0" tIns="0" bIns="0" anchor="t">
            <a:spAutoFit/>
          </a:bodyPr>
          <a:lstStyle/>
          <a:p>
            <a:pPr algn="l">
              <a:lnSpc>
                <a:spcPct val="125000"/>
              </a:lnSpc>
            </a:pPr>
            <a:r>
              <a:rPr sz="2250" b="1" i="0">
                <a:solidFill>
                  <a:srgbClr val="CC2200"/>
                </a:solidFill>
                <a:latin typeface="Geist"/>
                <a:ea typeface="Geist"/>
                <a:cs typeface="Geist"/>
              </a:rPr>
              <a:t>•  </a:t>
            </a:r>
            <a:r>
              <a:rPr sz="2250" b="0" i="0">
                <a:solidFill>
                  <a:srgbClr val="F0E8E8"/>
                </a:solidFill>
                <a:latin typeface="Geist"/>
                <a:ea typeface="Geist"/>
                <a:cs typeface="Geist"/>
              </a:rPr>
              <a:t>Sent about </a:t>
            </a:r>
            <a:r>
              <a:rPr sz="2250" b="1" i="0">
                <a:solidFill>
                  <a:srgbClr val="F0E8E8"/>
                </a:solidFill>
                <a:latin typeface="Geist"/>
                <a:ea typeface="Geist"/>
                <a:cs typeface="Geist"/>
              </a:rPr>
              <a:t>50 times a second</a:t>
            </a:r>
            <a:r>
              <a:rPr sz="2250" b="0" i="0">
                <a:solidFill>
                  <a:srgbClr val="F0E8E8"/>
                </a:solidFill>
                <a:latin typeface="Geist"/>
                <a:ea typeface="Geist"/>
                <a:cs typeface="Geist"/>
              </a:rPr>
              <a:t> while it runs</a:t>
            </a:r>
          </a:p>
        </p:txBody>
      </p:sp>
      <p:sp>
        <p:nvSpPr>
          <p:cNvPr id="22" name="TextBox 21"/>
          <p:cNvSpPr txBox="1"/>
          <p:nvPr/>
        </p:nvSpPr>
        <p:spPr>
          <a:xfrm>
            <a:off x="914400" y="7010400"/>
            <a:ext cx="16459200" cy="371475"/>
          </a:xfrm>
          <a:prstGeom prst="rect">
            <a:avLst/>
          </a:prstGeom>
          <a:noFill/>
        </p:spPr>
        <p:txBody>
          <a:bodyPr wrap="square" lIns="0" rIns="0" tIns="0" bIns="0" anchor="t">
            <a:spAutoFit/>
          </a:bodyPr>
          <a:lstStyle/>
          <a:p>
            <a:pPr algn="l">
              <a:lnSpc>
                <a:spcPct val="125000"/>
              </a:lnSpc>
            </a:pPr>
            <a:r>
              <a:rPr sz="2250" b="1" i="0">
                <a:solidFill>
                  <a:srgbClr val="CC2200"/>
                </a:solidFill>
                <a:latin typeface="Geist"/>
                <a:ea typeface="Geist"/>
                <a:cs typeface="Geist"/>
              </a:rPr>
              <a:t>•  </a:t>
            </a:r>
            <a:r>
              <a:rPr sz="2250" b="0" i="0">
                <a:solidFill>
                  <a:srgbClr val="F0E8E8"/>
                </a:solidFill>
                <a:latin typeface="Geist"/>
                <a:ea typeface="Geist"/>
                <a:cs typeface="Geist"/>
              </a:rPr>
              <a:t>Live while running, or saved to a </a:t>
            </a:r>
            <a:r>
              <a:rPr sz="2250" b="1" i="0">
                <a:solidFill>
                  <a:srgbClr val="F0E8E8"/>
                </a:solidFill>
                <a:latin typeface="Geist"/>
                <a:ea typeface="Geist"/>
                <a:cs typeface="Geist"/>
              </a:rPr>
              <a:t>log file</a:t>
            </a:r>
            <a:r>
              <a:rPr sz="2250" b="0" i="0">
                <a:solidFill>
                  <a:srgbClr val="F0E8E8"/>
                </a:solidFill>
                <a:latin typeface="Geist"/>
                <a:ea typeface="Geist"/>
                <a:cs typeface="Geist"/>
              </a:rPr>
              <a:t> to replay later</a:t>
            </a:r>
          </a:p>
        </p:txBody>
      </p:sp>
      <p:pic>
        <p:nvPicPr>
          <p:cNvPr id="23" name="Picture 22" descr="mw_logo_small.png"/>
          <p:cNvPicPr>
            <a:picLocks noChangeAspect="1"/>
          </p:cNvPicPr>
          <p:nvPr/>
        </p:nvPicPr>
        <p:blipFill>
          <a:blip r:embed="rId3"/>
          <a:stretch>
            <a:fillRect/>
          </a:stretch>
        </p:blipFill>
        <p:spPr>
          <a:xfrm>
            <a:off x="914400" y="9410700"/>
            <a:ext cx="583564" cy="495300"/>
          </a:xfrm>
          <a:prstGeom prst="rect">
            <a:avLst/>
          </a:prstGeom>
        </p:spPr>
      </p:pic>
      <p:sp>
        <p:nvSpPr>
          <p:cNvPr id="24" name="TextBox 23"/>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ADVANTAGESCOPE</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Fields and their types</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16459200" cy="609600"/>
          </a:xfrm>
          <a:prstGeom prst="roundRect">
            <a:avLst>
              <a:gd name="adj" fmla="val 12500"/>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295400" y="2857500"/>
            <a:ext cx="4762500" cy="609600"/>
          </a:xfrm>
          <a:prstGeom prst="rect">
            <a:avLst/>
          </a:prstGeom>
          <a:noFill/>
        </p:spPr>
        <p:txBody>
          <a:bodyPr wrap="square" lIns="0" rIns="0" tIns="0" bIns="0" anchor="ctr">
            <a:spAutoFit/>
          </a:bodyPr>
          <a:lstStyle/>
          <a:p>
            <a:pPr algn="l"/>
            <a:r>
              <a:rPr sz="1500" b="1" i="0" spc="130">
                <a:solidFill>
                  <a:srgbClr val="9A7878"/>
                </a:solidFill>
                <a:latin typeface="Geist"/>
                <a:ea typeface="Geist"/>
                <a:cs typeface="Geist"/>
              </a:rPr>
              <a:t>TYPE</a:t>
            </a:r>
          </a:p>
        </p:txBody>
      </p:sp>
      <p:sp>
        <p:nvSpPr>
          <p:cNvPr id="7" name="TextBox 6"/>
          <p:cNvSpPr txBox="1"/>
          <p:nvPr/>
        </p:nvSpPr>
        <p:spPr>
          <a:xfrm>
            <a:off x="6667500" y="2857500"/>
            <a:ext cx="4762500" cy="609600"/>
          </a:xfrm>
          <a:prstGeom prst="rect">
            <a:avLst/>
          </a:prstGeom>
          <a:noFill/>
        </p:spPr>
        <p:txBody>
          <a:bodyPr wrap="square" lIns="0" rIns="0" tIns="0" bIns="0" anchor="ctr">
            <a:spAutoFit/>
          </a:bodyPr>
          <a:lstStyle/>
          <a:p>
            <a:pPr algn="l"/>
            <a:r>
              <a:rPr sz="1500" b="1" i="0" spc="130">
                <a:solidFill>
                  <a:srgbClr val="9A7878"/>
                </a:solidFill>
                <a:latin typeface="Geist"/>
                <a:ea typeface="Geist"/>
                <a:cs typeface="Geist"/>
              </a:rPr>
              <a:t>EXAMPLE FIELD</a:t>
            </a:r>
          </a:p>
        </p:txBody>
      </p:sp>
      <p:sp>
        <p:nvSpPr>
          <p:cNvPr id="8" name="TextBox 7"/>
          <p:cNvSpPr txBox="1"/>
          <p:nvPr/>
        </p:nvSpPr>
        <p:spPr>
          <a:xfrm>
            <a:off x="12001500" y="2857500"/>
            <a:ext cx="4762500" cy="609600"/>
          </a:xfrm>
          <a:prstGeom prst="rect">
            <a:avLst/>
          </a:prstGeom>
          <a:noFill/>
        </p:spPr>
        <p:txBody>
          <a:bodyPr wrap="square" lIns="0" rIns="0" tIns="0" bIns="0" anchor="ctr">
            <a:spAutoFit/>
          </a:bodyPr>
          <a:lstStyle/>
          <a:p>
            <a:pPr algn="l"/>
            <a:r>
              <a:rPr sz="1500" b="1" i="0" spc="130">
                <a:solidFill>
                  <a:srgbClr val="9A7878"/>
                </a:solidFill>
                <a:latin typeface="Geist"/>
                <a:ea typeface="Geist"/>
                <a:cs typeface="Geist"/>
              </a:rPr>
              <a:t>SHOWN AS</a:t>
            </a:r>
          </a:p>
        </p:txBody>
      </p:sp>
      <p:sp>
        <p:nvSpPr>
          <p:cNvPr id="9" name="Rounded Rectangle 8"/>
          <p:cNvSpPr/>
          <p:nvPr/>
        </p:nvSpPr>
        <p:spPr>
          <a:xfrm>
            <a:off x="914400" y="3619500"/>
            <a:ext cx="16459200" cy="800100"/>
          </a:xfrm>
          <a:prstGeom prst="roundRect">
            <a:avLst>
              <a:gd name="adj" fmla="val 11904"/>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295400" y="3619500"/>
            <a:ext cx="5334000" cy="800100"/>
          </a:xfrm>
          <a:prstGeom prst="rect">
            <a:avLst/>
          </a:prstGeom>
          <a:noFill/>
        </p:spPr>
        <p:txBody>
          <a:bodyPr wrap="square" lIns="0" rIns="0" tIns="0" bIns="0" anchor="ctr">
            <a:spAutoFit/>
          </a:bodyPr>
          <a:lstStyle/>
          <a:p>
            <a:pPr algn="l"/>
            <a:r>
              <a:rPr sz="2100" b="0" i="0">
                <a:solidFill>
                  <a:srgbClr val="E0785F"/>
                </a:solidFill>
                <a:latin typeface="Geist Mono"/>
                <a:ea typeface="Geist Mono"/>
                <a:cs typeface="Geist Mono"/>
              </a:rPr>
              <a:t>Number</a:t>
            </a:r>
          </a:p>
        </p:txBody>
      </p:sp>
      <p:sp>
        <p:nvSpPr>
          <p:cNvPr id="11" name="TextBox 10"/>
          <p:cNvSpPr txBox="1"/>
          <p:nvPr/>
        </p:nvSpPr>
        <p:spPr>
          <a:xfrm>
            <a:off x="6667500" y="3619500"/>
            <a:ext cx="5143500" cy="800100"/>
          </a:xfrm>
          <a:prstGeom prst="rect">
            <a:avLst/>
          </a:prstGeom>
          <a:noFill/>
        </p:spPr>
        <p:txBody>
          <a:bodyPr wrap="square" lIns="0" rIns="0" tIns="0" bIns="0" anchor="ctr">
            <a:spAutoFit/>
          </a:bodyPr>
          <a:lstStyle/>
          <a:p>
            <a:pPr algn="l"/>
            <a:r>
              <a:rPr sz="1950" b="0" i="0">
                <a:solidFill>
                  <a:srgbClr val="F0E8E8"/>
                </a:solidFill>
                <a:latin typeface="Geist Mono"/>
                <a:ea typeface="Geist Mono"/>
                <a:cs typeface="Geist Mono"/>
              </a:rPr>
              <a:t>FlywheelRPM</a:t>
            </a:r>
          </a:p>
        </p:txBody>
      </p:sp>
      <p:sp>
        <p:nvSpPr>
          <p:cNvPr id="12" name="TextBox 11"/>
          <p:cNvSpPr txBox="1"/>
          <p:nvPr/>
        </p:nvSpPr>
        <p:spPr>
          <a:xfrm>
            <a:off x="12001500" y="3619500"/>
            <a:ext cx="5143500" cy="800100"/>
          </a:xfrm>
          <a:prstGeom prst="rect">
            <a:avLst/>
          </a:prstGeom>
          <a:noFill/>
        </p:spPr>
        <p:txBody>
          <a:bodyPr wrap="square" lIns="0" rIns="0" tIns="0" bIns="0" anchor="ctr">
            <a:spAutoFit/>
          </a:bodyPr>
          <a:lstStyle/>
          <a:p>
            <a:pPr algn="l"/>
            <a:r>
              <a:rPr sz="2100" b="0" i="0">
                <a:solidFill>
                  <a:srgbClr val="F0E8E8"/>
                </a:solidFill>
                <a:latin typeface="Geist"/>
                <a:ea typeface="Geist"/>
                <a:cs typeface="Geist"/>
              </a:rPr>
              <a:t>A line on a graph</a:t>
            </a:r>
          </a:p>
        </p:txBody>
      </p:sp>
      <p:sp>
        <p:nvSpPr>
          <p:cNvPr id="13" name="Rounded Rectangle 12"/>
          <p:cNvSpPr/>
          <p:nvPr/>
        </p:nvSpPr>
        <p:spPr>
          <a:xfrm>
            <a:off x="914400" y="4533900"/>
            <a:ext cx="16459200" cy="800100"/>
          </a:xfrm>
          <a:prstGeom prst="roundRect">
            <a:avLst>
              <a:gd name="adj" fmla="val 11904"/>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295400" y="4533900"/>
            <a:ext cx="5334000" cy="800100"/>
          </a:xfrm>
          <a:prstGeom prst="rect">
            <a:avLst/>
          </a:prstGeom>
          <a:noFill/>
        </p:spPr>
        <p:txBody>
          <a:bodyPr wrap="square" lIns="0" rIns="0" tIns="0" bIns="0" anchor="ctr">
            <a:spAutoFit/>
          </a:bodyPr>
          <a:lstStyle/>
          <a:p>
            <a:pPr algn="l"/>
            <a:r>
              <a:rPr sz="2100" b="0" i="0">
                <a:solidFill>
                  <a:srgbClr val="E0785F"/>
                </a:solidFill>
                <a:latin typeface="Geist Mono"/>
                <a:ea typeface="Geist Mono"/>
                <a:cs typeface="Geist Mono"/>
              </a:rPr>
              <a:t>Boolean</a:t>
            </a:r>
          </a:p>
        </p:txBody>
      </p:sp>
      <p:sp>
        <p:nvSpPr>
          <p:cNvPr id="15" name="TextBox 14"/>
          <p:cNvSpPr txBox="1"/>
          <p:nvPr/>
        </p:nvSpPr>
        <p:spPr>
          <a:xfrm>
            <a:off x="6667500" y="4533900"/>
            <a:ext cx="5143500" cy="800100"/>
          </a:xfrm>
          <a:prstGeom prst="rect">
            <a:avLst/>
          </a:prstGeom>
          <a:noFill/>
        </p:spPr>
        <p:txBody>
          <a:bodyPr wrap="square" lIns="0" rIns="0" tIns="0" bIns="0" anchor="ctr">
            <a:spAutoFit/>
          </a:bodyPr>
          <a:lstStyle/>
          <a:p>
            <a:pPr algn="l"/>
            <a:r>
              <a:rPr sz="1950" b="0" i="0">
                <a:solidFill>
                  <a:srgbClr val="F0E8E8"/>
                </a:solidFill>
                <a:latin typeface="Geist Mono"/>
                <a:ea typeface="Geist Mono"/>
                <a:cs typeface="Geist Mono"/>
              </a:rPr>
              <a:t>GamePieceLoaded</a:t>
            </a:r>
          </a:p>
        </p:txBody>
      </p:sp>
      <p:sp>
        <p:nvSpPr>
          <p:cNvPr id="16" name="TextBox 15"/>
          <p:cNvSpPr txBox="1"/>
          <p:nvPr/>
        </p:nvSpPr>
        <p:spPr>
          <a:xfrm>
            <a:off x="12001500" y="4533900"/>
            <a:ext cx="5143500" cy="800100"/>
          </a:xfrm>
          <a:prstGeom prst="rect">
            <a:avLst/>
          </a:prstGeom>
          <a:noFill/>
        </p:spPr>
        <p:txBody>
          <a:bodyPr wrap="square" lIns="0" rIns="0" tIns="0" bIns="0" anchor="ctr">
            <a:spAutoFit/>
          </a:bodyPr>
          <a:lstStyle/>
          <a:p>
            <a:pPr algn="l"/>
            <a:r>
              <a:rPr sz="2100" b="0" i="0">
                <a:solidFill>
                  <a:srgbClr val="F0E8E8"/>
                </a:solidFill>
                <a:latin typeface="Geist"/>
                <a:ea typeface="Geist"/>
                <a:cs typeface="Geist"/>
              </a:rPr>
              <a:t>Colored true/false bands</a:t>
            </a:r>
          </a:p>
        </p:txBody>
      </p:sp>
      <p:sp>
        <p:nvSpPr>
          <p:cNvPr id="17" name="Rounded Rectangle 16"/>
          <p:cNvSpPr/>
          <p:nvPr/>
        </p:nvSpPr>
        <p:spPr>
          <a:xfrm>
            <a:off x="914400" y="5448300"/>
            <a:ext cx="16459200" cy="800100"/>
          </a:xfrm>
          <a:prstGeom prst="roundRect">
            <a:avLst>
              <a:gd name="adj" fmla="val 11904"/>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1295400" y="5448300"/>
            <a:ext cx="5334000" cy="800100"/>
          </a:xfrm>
          <a:prstGeom prst="rect">
            <a:avLst/>
          </a:prstGeom>
          <a:noFill/>
        </p:spPr>
        <p:txBody>
          <a:bodyPr wrap="square" lIns="0" rIns="0" tIns="0" bIns="0" anchor="ctr">
            <a:spAutoFit/>
          </a:bodyPr>
          <a:lstStyle/>
          <a:p>
            <a:pPr algn="l"/>
            <a:r>
              <a:rPr sz="2100" b="0" i="0">
                <a:solidFill>
                  <a:srgbClr val="E0785F"/>
                </a:solidFill>
                <a:latin typeface="Geist Mono"/>
                <a:ea typeface="Geist Mono"/>
                <a:cs typeface="Geist Mono"/>
              </a:rPr>
              <a:t>Pose2d</a:t>
            </a:r>
          </a:p>
        </p:txBody>
      </p:sp>
      <p:sp>
        <p:nvSpPr>
          <p:cNvPr id="19" name="TextBox 18"/>
          <p:cNvSpPr txBox="1"/>
          <p:nvPr/>
        </p:nvSpPr>
        <p:spPr>
          <a:xfrm>
            <a:off x="6667500" y="5448300"/>
            <a:ext cx="5143500" cy="800100"/>
          </a:xfrm>
          <a:prstGeom prst="rect">
            <a:avLst/>
          </a:prstGeom>
          <a:noFill/>
        </p:spPr>
        <p:txBody>
          <a:bodyPr wrap="square" lIns="0" rIns="0" tIns="0" bIns="0" anchor="ctr">
            <a:spAutoFit/>
          </a:bodyPr>
          <a:lstStyle/>
          <a:p>
            <a:pPr algn="l"/>
            <a:r>
              <a:rPr sz="1950" b="0" i="0">
                <a:solidFill>
                  <a:srgbClr val="F0E8E8"/>
                </a:solidFill>
                <a:latin typeface="Geist Mono"/>
                <a:ea typeface="Geist Mono"/>
                <a:cs typeface="Geist Mono"/>
              </a:rPr>
              <a:t>RobotPose2d</a:t>
            </a:r>
          </a:p>
        </p:txBody>
      </p:sp>
      <p:sp>
        <p:nvSpPr>
          <p:cNvPr id="20" name="TextBox 19"/>
          <p:cNvSpPr txBox="1"/>
          <p:nvPr/>
        </p:nvSpPr>
        <p:spPr>
          <a:xfrm>
            <a:off x="12001500" y="5448300"/>
            <a:ext cx="5143500" cy="800100"/>
          </a:xfrm>
          <a:prstGeom prst="rect">
            <a:avLst/>
          </a:prstGeom>
          <a:noFill/>
        </p:spPr>
        <p:txBody>
          <a:bodyPr wrap="square" lIns="0" rIns="0" tIns="0" bIns="0" anchor="ctr">
            <a:spAutoFit/>
          </a:bodyPr>
          <a:lstStyle/>
          <a:p>
            <a:pPr algn="l"/>
            <a:r>
              <a:rPr sz="2100" b="0" i="0">
                <a:solidFill>
                  <a:srgbClr val="F0E8E8"/>
                </a:solidFill>
                <a:latin typeface="Geist"/>
                <a:ea typeface="Geist"/>
                <a:cs typeface="Geist"/>
              </a:rPr>
              <a:t>The robot on a 2D field</a:t>
            </a:r>
          </a:p>
        </p:txBody>
      </p:sp>
      <p:sp>
        <p:nvSpPr>
          <p:cNvPr id="21" name="Rounded Rectangle 20"/>
          <p:cNvSpPr/>
          <p:nvPr/>
        </p:nvSpPr>
        <p:spPr>
          <a:xfrm>
            <a:off x="914400" y="6362700"/>
            <a:ext cx="16459200" cy="800100"/>
          </a:xfrm>
          <a:prstGeom prst="roundRect">
            <a:avLst>
              <a:gd name="adj" fmla="val 11904"/>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1295400" y="6362700"/>
            <a:ext cx="5334000" cy="800100"/>
          </a:xfrm>
          <a:prstGeom prst="rect">
            <a:avLst/>
          </a:prstGeom>
          <a:noFill/>
        </p:spPr>
        <p:txBody>
          <a:bodyPr wrap="square" lIns="0" rIns="0" tIns="0" bIns="0" anchor="ctr">
            <a:spAutoFit/>
          </a:bodyPr>
          <a:lstStyle/>
          <a:p>
            <a:pPr algn="l"/>
            <a:r>
              <a:rPr sz="2100" b="0" i="0">
                <a:solidFill>
                  <a:srgbClr val="E0785F"/>
                </a:solidFill>
                <a:latin typeface="Geist Mono"/>
                <a:ea typeface="Geist Mono"/>
                <a:cs typeface="Geist Mono"/>
              </a:rPr>
              <a:t>Pose3d</a:t>
            </a:r>
          </a:p>
        </p:txBody>
      </p:sp>
      <p:sp>
        <p:nvSpPr>
          <p:cNvPr id="23" name="TextBox 22"/>
          <p:cNvSpPr txBox="1"/>
          <p:nvPr/>
        </p:nvSpPr>
        <p:spPr>
          <a:xfrm>
            <a:off x="6667500" y="6362700"/>
            <a:ext cx="5143500" cy="800100"/>
          </a:xfrm>
          <a:prstGeom prst="rect">
            <a:avLst/>
          </a:prstGeom>
          <a:noFill/>
        </p:spPr>
        <p:txBody>
          <a:bodyPr wrap="square" lIns="0" rIns="0" tIns="0" bIns="0" anchor="ctr">
            <a:spAutoFit/>
          </a:bodyPr>
          <a:lstStyle/>
          <a:p>
            <a:pPr algn="l"/>
            <a:r>
              <a:rPr sz="1950" b="0" i="0">
                <a:solidFill>
                  <a:srgbClr val="F0E8E8"/>
                </a:solidFill>
                <a:latin typeface="Geist Mono"/>
                <a:ea typeface="Geist Mono"/>
                <a:cs typeface="Geist Mono"/>
              </a:rPr>
              <a:t>RobotPose3d</a:t>
            </a:r>
          </a:p>
        </p:txBody>
      </p:sp>
      <p:sp>
        <p:nvSpPr>
          <p:cNvPr id="24" name="TextBox 23"/>
          <p:cNvSpPr txBox="1"/>
          <p:nvPr/>
        </p:nvSpPr>
        <p:spPr>
          <a:xfrm>
            <a:off x="12001500" y="6362700"/>
            <a:ext cx="5143500" cy="800100"/>
          </a:xfrm>
          <a:prstGeom prst="rect">
            <a:avLst/>
          </a:prstGeom>
          <a:noFill/>
        </p:spPr>
        <p:txBody>
          <a:bodyPr wrap="square" lIns="0" rIns="0" tIns="0" bIns="0" anchor="ctr">
            <a:spAutoFit/>
          </a:bodyPr>
          <a:lstStyle/>
          <a:p>
            <a:pPr algn="l"/>
            <a:r>
              <a:rPr sz="2100" b="0" i="0">
                <a:solidFill>
                  <a:srgbClr val="F0E8E8"/>
                </a:solidFill>
                <a:latin typeface="Geist"/>
                <a:ea typeface="Geist"/>
                <a:cs typeface="Geist"/>
              </a:rPr>
              <a:t>The robot in 3D</a:t>
            </a:r>
          </a:p>
        </p:txBody>
      </p:sp>
      <p:sp>
        <p:nvSpPr>
          <p:cNvPr id="25" name="Rounded Rectangle 24"/>
          <p:cNvSpPr/>
          <p:nvPr/>
        </p:nvSpPr>
        <p:spPr>
          <a:xfrm>
            <a:off x="914400" y="7277100"/>
            <a:ext cx="16459200" cy="800100"/>
          </a:xfrm>
          <a:prstGeom prst="roundRect">
            <a:avLst>
              <a:gd name="adj" fmla="val 11904"/>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1295400" y="7277100"/>
            <a:ext cx="5334000" cy="800100"/>
          </a:xfrm>
          <a:prstGeom prst="rect">
            <a:avLst/>
          </a:prstGeom>
          <a:noFill/>
        </p:spPr>
        <p:txBody>
          <a:bodyPr wrap="square" lIns="0" rIns="0" tIns="0" bIns="0" anchor="ctr">
            <a:spAutoFit/>
          </a:bodyPr>
          <a:lstStyle/>
          <a:p>
            <a:pPr algn="l"/>
            <a:r>
              <a:rPr sz="2100" b="0" i="0">
                <a:solidFill>
                  <a:srgbClr val="E0785F"/>
                </a:solidFill>
                <a:latin typeface="Geist Mono"/>
                <a:ea typeface="Geist Mono"/>
                <a:cs typeface="Geist Mono"/>
              </a:rPr>
              <a:t>SwerveModuleState[]</a:t>
            </a:r>
          </a:p>
        </p:txBody>
      </p:sp>
      <p:sp>
        <p:nvSpPr>
          <p:cNvPr id="27" name="TextBox 26"/>
          <p:cNvSpPr txBox="1"/>
          <p:nvPr/>
        </p:nvSpPr>
        <p:spPr>
          <a:xfrm>
            <a:off x="6667500" y="7277100"/>
            <a:ext cx="5143500" cy="800100"/>
          </a:xfrm>
          <a:prstGeom prst="rect">
            <a:avLst/>
          </a:prstGeom>
          <a:noFill/>
        </p:spPr>
        <p:txBody>
          <a:bodyPr wrap="square" lIns="0" rIns="0" tIns="0" bIns="0" anchor="ctr">
            <a:spAutoFit/>
          </a:bodyPr>
          <a:lstStyle/>
          <a:p>
            <a:pPr algn="l"/>
            <a:r>
              <a:rPr sz="1950" b="0" i="0">
                <a:solidFill>
                  <a:srgbClr val="F0E8E8"/>
                </a:solidFill>
                <a:latin typeface="Geist Mono"/>
                <a:ea typeface="Geist Mono"/>
                <a:cs typeface="Geist Mono"/>
              </a:rPr>
              <a:t>SwerveModuleStates</a:t>
            </a:r>
          </a:p>
        </p:txBody>
      </p:sp>
      <p:sp>
        <p:nvSpPr>
          <p:cNvPr id="28" name="TextBox 27"/>
          <p:cNvSpPr txBox="1"/>
          <p:nvPr/>
        </p:nvSpPr>
        <p:spPr>
          <a:xfrm>
            <a:off x="12001500" y="7277100"/>
            <a:ext cx="5143500" cy="800100"/>
          </a:xfrm>
          <a:prstGeom prst="rect">
            <a:avLst/>
          </a:prstGeom>
          <a:noFill/>
        </p:spPr>
        <p:txBody>
          <a:bodyPr wrap="square" lIns="0" rIns="0" tIns="0" bIns="0" anchor="ctr">
            <a:spAutoFit/>
          </a:bodyPr>
          <a:lstStyle/>
          <a:p>
            <a:pPr algn="l"/>
            <a:r>
              <a:rPr sz="2100" b="0" i="0">
                <a:solidFill>
                  <a:srgbClr val="F0E8E8"/>
                </a:solidFill>
                <a:latin typeface="Geist"/>
                <a:ea typeface="Geist"/>
                <a:cs typeface="Geist"/>
              </a:rPr>
              <a:t>Wheel arrows on the Swerve tab</a:t>
            </a:r>
          </a:p>
        </p:txBody>
      </p:sp>
      <p:pic>
        <p:nvPicPr>
          <p:cNvPr id="29" name="Picture 28" descr="mw_logo_small.png"/>
          <p:cNvPicPr>
            <a:picLocks noChangeAspect="1"/>
          </p:cNvPicPr>
          <p:nvPr/>
        </p:nvPicPr>
        <p:blipFill>
          <a:blip r:embed="rId3"/>
          <a:stretch>
            <a:fillRect/>
          </a:stretch>
        </p:blipFill>
        <p:spPr>
          <a:xfrm>
            <a:off x="914400" y="9410700"/>
            <a:ext cx="583564" cy="495300"/>
          </a:xfrm>
          <a:prstGeom prst="rect">
            <a:avLst/>
          </a:prstGeom>
        </p:spPr>
      </p:pic>
      <p:sp>
        <p:nvSpPr>
          <p:cNvPr id="30" name="TextBox 29"/>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ADVANTAGESCOPE</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Reading a line graph</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762250"/>
            <a:ext cx="10477500" cy="5715000"/>
          </a:xfrm>
          <a:prstGeom prst="roundRect">
            <a:avLst>
              <a:gd name="adj" fmla="val 2666"/>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6" name="Connector 5"/>
          <p:cNvCxnSpPr/>
          <p:nvPr/>
        </p:nvCxnSpPr>
        <p:spPr>
          <a:xfrm>
            <a:off x="2190750" y="6477000"/>
            <a:ext cx="7715250" cy="0"/>
          </a:xfrm>
          <a:prstGeom prst="line">
            <a:avLst/>
          </a:prstGeom>
          <a:ln w="9525">
            <a:solidFill>
              <a:srgbClr val="2A1A1A"/>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047750" y="6305550"/>
            <a:ext cx="1000125" cy="342900"/>
          </a:xfrm>
          <a:prstGeom prst="rect">
            <a:avLst/>
          </a:prstGeom>
          <a:noFill/>
        </p:spPr>
        <p:txBody>
          <a:bodyPr wrap="square" lIns="0" rIns="0" tIns="0" bIns="0" anchor="t">
            <a:spAutoFit/>
          </a:bodyPr>
          <a:lstStyle/>
          <a:p>
            <a:pPr algn="r"/>
            <a:r>
              <a:rPr sz="1500" b="0" i="0">
                <a:solidFill>
                  <a:srgbClr val="F0E8E8"/>
                </a:solidFill>
                <a:latin typeface="Geist Mono"/>
                <a:ea typeface="Geist Mono"/>
                <a:cs typeface="Geist Mono"/>
              </a:rPr>
              <a:t>0</a:t>
            </a:r>
          </a:p>
        </p:txBody>
      </p:sp>
      <p:sp>
        <p:nvSpPr>
          <p:cNvPr id="8" name="TextBox 7"/>
          <p:cNvSpPr txBox="1"/>
          <p:nvPr/>
        </p:nvSpPr>
        <p:spPr>
          <a:xfrm>
            <a:off x="10020300" y="6305550"/>
            <a:ext cx="1143000" cy="342900"/>
          </a:xfrm>
          <a:prstGeom prst="rect">
            <a:avLst/>
          </a:prstGeom>
          <a:noFill/>
        </p:spPr>
        <p:txBody>
          <a:bodyPr wrap="square" lIns="0" rIns="0" tIns="0" bIns="0" anchor="t">
            <a:spAutoFit/>
          </a:bodyPr>
          <a:lstStyle/>
          <a:p>
            <a:pPr algn="l"/>
            <a:r>
              <a:rPr sz="1500" b="0" i="0">
                <a:solidFill>
                  <a:srgbClr val="E8C27A"/>
                </a:solidFill>
                <a:latin typeface="Geist Mono"/>
                <a:ea typeface="Geist Mono"/>
                <a:cs typeface="Geist Mono"/>
              </a:rPr>
              <a:t>10</a:t>
            </a:r>
          </a:p>
        </p:txBody>
      </p:sp>
      <p:cxnSp>
        <p:nvCxnSpPr>
          <p:cNvPr id="9" name="Connector 8"/>
          <p:cNvCxnSpPr/>
          <p:nvPr/>
        </p:nvCxnSpPr>
        <p:spPr>
          <a:xfrm>
            <a:off x="2190750" y="5429250"/>
            <a:ext cx="7715250" cy="0"/>
          </a:xfrm>
          <a:prstGeom prst="line">
            <a:avLst/>
          </a:prstGeom>
          <a:ln w="9525">
            <a:solidFill>
              <a:srgbClr val="2A1A1A"/>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1047750" y="5257800"/>
            <a:ext cx="1000125" cy="342900"/>
          </a:xfrm>
          <a:prstGeom prst="rect">
            <a:avLst/>
          </a:prstGeom>
          <a:noFill/>
        </p:spPr>
        <p:txBody>
          <a:bodyPr wrap="square" lIns="0" rIns="0" tIns="0" bIns="0" anchor="t">
            <a:spAutoFit/>
          </a:bodyPr>
          <a:lstStyle/>
          <a:p>
            <a:pPr algn="r"/>
            <a:r>
              <a:rPr sz="1500" b="0" i="0">
                <a:solidFill>
                  <a:srgbClr val="F0E8E8"/>
                </a:solidFill>
                <a:latin typeface="Geist Mono"/>
                <a:ea typeface="Geist Mono"/>
                <a:cs typeface="Geist Mono"/>
              </a:rPr>
              <a:t>2,000</a:t>
            </a:r>
          </a:p>
        </p:txBody>
      </p:sp>
      <p:sp>
        <p:nvSpPr>
          <p:cNvPr id="11" name="TextBox 10"/>
          <p:cNvSpPr txBox="1"/>
          <p:nvPr/>
        </p:nvSpPr>
        <p:spPr>
          <a:xfrm>
            <a:off x="10020300" y="5257800"/>
            <a:ext cx="1143000" cy="342900"/>
          </a:xfrm>
          <a:prstGeom prst="rect">
            <a:avLst/>
          </a:prstGeom>
          <a:noFill/>
        </p:spPr>
        <p:txBody>
          <a:bodyPr wrap="square" lIns="0" rIns="0" tIns="0" bIns="0" anchor="t">
            <a:spAutoFit/>
          </a:bodyPr>
          <a:lstStyle/>
          <a:p>
            <a:pPr algn="l"/>
            <a:r>
              <a:rPr sz="1500" b="0" i="0">
                <a:solidFill>
                  <a:srgbClr val="E8C27A"/>
                </a:solidFill>
                <a:latin typeface="Geist Mono"/>
                <a:ea typeface="Geist Mono"/>
                <a:cs typeface="Geist Mono"/>
              </a:rPr>
              <a:t>11</a:t>
            </a:r>
          </a:p>
        </p:txBody>
      </p:sp>
      <p:cxnSp>
        <p:nvCxnSpPr>
          <p:cNvPr id="12" name="Connector 11"/>
          <p:cNvCxnSpPr/>
          <p:nvPr/>
        </p:nvCxnSpPr>
        <p:spPr>
          <a:xfrm>
            <a:off x="2190750" y="4381500"/>
            <a:ext cx="7715250" cy="0"/>
          </a:xfrm>
          <a:prstGeom prst="line">
            <a:avLst/>
          </a:prstGeom>
          <a:ln w="9525">
            <a:solidFill>
              <a:srgbClr val="2A1A1A"/>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1047750" y="4210050"/>
            <a:ext cx="1000125" cy="342900"/>
          </a:xfrm>
          <a:prstGeom prst="rect">
            <a:avLst/>
          </a:prstGeom>
          <a:noFill/>
        </p:spPr>
        <p:txBody>
          <a:bodyPr wrap="square" lIns="0" rIns="0" tIns="0" bIns="0" anchor="t">
            <a:spAutoFit/>
          </a:bodyPr>
          <a:lstStyle/>
          <a:p>
            <a:pPr algn="r"/>
            <a:r>
              <a:rPr sz="1500" b="0" i="0">
                <a:solidFill>
                  <a:srgbClr val="F0E8E8"/>
                </a:solidFill>
                <a:latin typeface="Geist Mono"/>
                <a:ea typeface="Geist Mono"/>
                <a:cs typeface="Geist Mono"/>
              </a:rPr>
              <a:t>4,000</a:t>
            </a:r>
          </a:p>
        </p:txBody>
      </p:sp>
      <p:sp>
        <p:nvSpPr>
          <p:cNvPr id="14" name="TextBox 13"/>
          <p:cNvSpPr txBox="1"/>
          <p:nvPr/>
        </p:nvSpPr>
        <p:spPr>
          <a:xfrm>
            <a:off x="10020300" y="4210050"/>
            <a:ext cx="1143000" cy="342900"/>
          </a:xfrm>
          <a:prstGeom prst="rect">
            <a:avLst/>
          </a:prstGeom>
          <a:noFill/>
        </p:spPr>
        <p:txBody>
          <a:bodyPr wrap="square" lIns="0" rIns="0" tIns="0" bIns="0" anchor="t">
            <a:spAutoFit/>
          </a:bodyPr>
          <a:lstStyle/>
          <a:p>
            <a:pPr algn="l"/>
            <a:r>
              <a:rPr sz="1500" b="0" i="0">
                <a:solidFill>
                  <a:srgbClr val="E8C27A"/>
                </a:solidFill>
                <a:latin typeface="Geist Mono"/>
                <a:ea typeface="Geist Mono"/>
                <a:cs typeface="Geist Mono"/>
              </a:rPr>
              <a:t>12</a:t>
            </a:r>
          </a:p>
        </p:txBody>
      </p:sp>
      <p:cxnSp>
        <p:nvCxnSpPr>
          <p:cNvPr id="15" name="Connector 14"/>
          <p:cNvCxnSpPr/>
          <p:nvPr/>
        </p:nvCxnSpPr>
        <p:spPr>
          <a:xfrm>
            <a:off x="2190750" y="3333750"/>
            <a:ext cx="7715250" cy="0"/>
          </a:xfrm>
          <a:prstGeom prst="line">
            <a:avLst/>
          </a:prstGeom>
          <a:ln w="9525">
            <a:solidFill>
              <a:srgbClr val="2A1A1A"/>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1047750" y="3162300"/>
            <a:ext cx="1000125" cy="342900"/>
          </a:xfrm>
          <a:prstGeom prst="rect">
            <a:avLst/>
          </a:prstGeom>
          <a:noFill/>
        </p:spPr>
        <p:txBody>
          <a:bodyPr wrap="square" lIns="0" rIns="0" tIns="0" bIns="0" anchor="t">
            <a:spAutoFit/>
          </a:bodyPr>
          <a:lstStyle/>
          <a:p>
            <a:pPr algn="r"/>
            <a:r>
              <a:rPr sz="1500" b="0" i="0">
                <a:solidFill>
                  <a:srgbClr val="F0E8E8"/>
                </a:solidFill>
                <a:latin typeface="Geist Mono"/>
                <a:ea typeface="Geist Mono"/>
                <a:cs typeface="Geist Mono"/>
              </a:rPr>
              <a:t>6,000</a:t>
            </a:r>
          </a:p>
        </p:txBody>
      </p:sp>
      <p:sp>
        <p:nvSpPr>
          <p:cNvPr id="17" name="TextBox 16"/>
          <p:cNvSpPr txBox="1"/>
          <p:nvPr/>
        </p:nvSpPr>
        <p:spPr>
          <a:xfrm>
            <a:off x="10020300" y="3162300"/>
            <a:ext cx="1143000" cy="342900"/>
          </a:xfrm>
          <a:prstGeom prst="rect">
            <a:avLst/>
          </a:prstGeom>
          <a:noFill/>
        </p:spPr>
        <p:txBody>
          <a:bodyPr wrap="square" lIns="0" rIns="0" tIns="0" bIns="0" anchor="t">
            <a:spAutoFit/>
          </a:bodyPr>
          <a:lstStyle/>
          <a:p>
            <a:pPr algn="l"/>
            <a:r>
              <a:rPr sz="1500" b="0" i="0">
                <a:solidFill>
                  <a:srgbClr val="E8C27A"/>
                </a:solidFill>
                <a:latin typeface="Geist Mono"/>
                <a:ea typeface="Geist Mono"/>
                <a:cs typeface="Geist Mono"/>
              </a:rPr>
              <a:t>13</a:t>
            </a:r>
          </a:p>
        </p:txBody>
      </p:sp>
      <p:sp>
        <p:nvSpPr>
          <p:cNvPr id="18" name="TextBox 17"/>
          <p:cNvSpPr txBox="1"/>
          <p:nvPr/>
        </p:nvSpPr>
        <p:spPr>
          <a:xfrm>
            <a:off x="1047750" y="2857500"/>
            <a:ext cx="1905000" cy="285750"/>
          </a:xfrm>
          <a:prstGeom prst="rect">
            <a:avLst/>
          </a:prstGeom>
          <a:noFill/>
        </p:spPr>
        <p:txBody>
          <a:bodyPr wrap="square" lIns="0" rIns="0" tIns="0" bIns="0" anchor="t">
            <a:spAutoFit/>
          </a:bodyPr>
          <a:lstStyle/>
          <a:p>
            <a:pPr algn="l"/>
            <a:r>
              <a:rPr sz="1350" b="1" i="0" spc="130">
                <a:solidFill>
                  <a:srgbClr val="9A7878"/>
                </a:solidFill>
                <a:latin typeface="Geist"/>
                <a:ea typeface="Geist"/>
                <a:cs typeface="Geist"/>
              </a:rPr>
              <a:t>RPM</a:t>
            </a:r>
          </a:p>
        </p:txBody>
      </p:sp>
      <p:sp>
        <p:nvSpPr>
          <p:cNvPr id="19" name="TextBox 18"/>
          <p:cNvSpPr txBox="1"/>
          <p:nvPr/>
        </p:nvSpPr>
        <p:spPr>
          <a:xfrm>
            <a:off x="10020300" y="2857500"/>
            <a:ext cx="1143000" cy="285750"/>
          </a:xfrm>
          <a:prstGeom prst="rect">
            <a:avLst/>
          </a:prstGeom>
          <a:noFill/>
        </p:spPr>
        <p:txBody>
          <a:bodyPr wrap="square" lIns="0" rIns="0" tIns="0" bIns="0" anchor="t">
            <a:spAutoFit/>
          </a:bodyPr>
          <a:lstStyle/>
          <a:p>
            <a:pPr algn="l"/>
            <a:r>
              <a:rPr sz="1350" b="1" i="0" spc="130">
                <a:solidFill>
                  <a:srgbClr val="9A7878"/>
                </a:solidFill>
                <a:latin typeface="Geist"/>
                <a:ea typeface="Geist"/>
                <a:cs typeface="Geist"/>
              </a:rPr>
              <a:t>VOLTS</a:t>
            </a:r>
          </a:p>
        </p:txBody>
      </p:sp>
      <p:pic>
        <p:nvPicPr>
          <p:cNvPr id="20" name="Picture 19" descr="lock-fill.png"/>
          <p:cNvPicPr>
            <a:picLocks noChangeAspect="1"/>
          </p:cNvPicPr>
          <p:nvPr/>
        </p:nvPicPr>
        <p:blipFill>
          <a:blip r:embed="rId3"/>
          <a:stretch>
            <a:fillRect/>
          </a:stretch>
        </p:blipFill>
        <p:spPr>
          <a:xfrm>
            <a:off x="1638300" y="2847975"/>
            <a:ext cx="142875" cy="228600"/>
          </a:xfrm>
          <a:prstGeom prst="rect">
            <a:avLst/>
          </a:prstGeom>
        </p:spPr>
      </p:pic>
      <p:cxnSp>
        <p:nvCxnSpPr>
          <p:cNvPr id="21" name="Connector 20"/>
          <p:cNvCxnSpPr/>
          <p:nvPr/>
        </p:nvCxnSpPr>
        <p:spPr>
          <a:xfrm flipV="1">
            <a:off x="2190750" y="6442724"/>
            <a:ext cx="128588" cy="10439"/>
          </a:xfrm>
          <a:prstGeom prst="line">
            <a:avLst/>
          </a:prstGeom>
          <a:ln w="47625">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V="1">
            <a:off x="2319338" y="6427789"/>
            <a:ext cx="128587" cy="14935"/>
          </a:xfrm>
          <a:prstGeom prst="line">
            <a:avLst/>
          </a:prstGeom>
          <a:ln w="47625">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V="1">
            <a:off x="2447925" y="6406498"/>
            <a:ext cx="128587" cy="21291"/>
          </a:xfrm>
          <a:prstGeom prst="line">
            <a:avLst/>
          </a:prstGeom>
          <a:ln w="47625">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V="1">
            <a:off x="2576512" y="6376307"/>
            <a:ext cx="128588" cy="30191"/>
          </a:xfrm>
          <a:prstGeom prst="line">
            <a:avLst/>
          </a:prstGeom>
          <a:ln w="47625">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V="1">
            <a:off x="2705100" y="6333810"/>
            <a:ext cx="128588" cy="42497"/>
          </a:xfrm>
          <a:prstGeom prst="line">
            <a:avLst/>
          </a:prstGeom>
          <a:ln w="47625">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V="1">
            <a:off x="2833688" y="6274613"/>
            <a:ext cx="128587" cy="59197"/>
          </a:xfrm>
          <a:prstGeom prst="line">
            <a:avLst/>
          </a:prstGeom>
          <a:ln w="47625">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V="1">
            <a:off x="2962275" y="6193341"/>
            <a:ext cx="128587" cy="81272"/>
          </a:xfrm>
          <a:prstGeom prst="line">
            <a:avLst/>
          </a:prstGeom>
          <a:ln w="47625">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V="1">
            <a:off x="3090862" y="6083956"/>
            <a:ext cx="128588" cy="109385"/>
          </a:xfrm>
          <a:prstGeom prst="line">
            <a:avLst/>
          </a:prstGeom>
          <a:ln w="47625">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V="1">
            <a:off x="3219450" y="5940602"/>
            <a:ext cx="128588" cy="143354"/>
          </a:xfrm>
          <a:prstGeom prst="line">
            <a:avLst/>
          </a:prstGeom>
          <a:ln w="47625">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V="1">
            <a:off x="3348038" y="5759152"/>
            <a:ext cx="128587" cy="181450"/>
          </a:xfrm>
          <a:prstGeom prst="line">
            <a:avLst/>
          </a:prstGeom>
          <a:ln w="47625">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V="1">
            <a:off x="3476625" y="5539324"/>
            <a:ext cx="128587" cy="219828"/>
          </a:xfrm>
          <a:prstGeom prst="line">
            <a:avLst/>
          </a:prstGeom>
          <a:ln w="47625">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V="1">
            <a:off x="3605212" y="5286707"/>
            <a:ext cx="128588" cy="252617"/>
          </a:xfrm>
          <a:prstGeom prst="line">
            <a:avLst/>
          </a:prstGeom>
          <a:ln w="47625">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V="1">
            <a:off x="3733800" y="5013447"/>
            <a:ext cx="128588" cy="273260"/>
          </a:xfrm>
          <a:prstGeom prst="line">
            <a:avLst/>
          </a:prstGeom>
          <a:ln w="47625">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V="1">
            <a:off x="3862388" y="4736533"/>
            <a:ext cx="128587" cy="276914"/>
          </a:xfrm>
          <a:prstGeom prst="line">
            <a:avLst/>
          </a:prstGeom>
          <a:ln w="47625">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V="1">
            <a:off x="3990975" y="4473867"/>
            <a:ext cx="128587" cy="262666"/>
          </a:xfrm>
          <a:prstGeom prst="line">
            <a:avLst/>
          </a:prstGeom>
          <a:ln w="47625">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V="1">
            <a:off x="4119562" y="4239885"/>
            <a:ext cx="128588" cy="233982"/>
          </a:xfrm>
          <a:prstGeom prst="line">
            <a:avLst/>
          </a:prstGeom>
          <a:ln w="47625">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V="1">
            <a:off x="4248150" y="4042838"/>
            <a:ext cx="128588" cy="197047"/>
          </a:xfrm>
          <a:prstGeom prst="line">
            <a:avLst/>
          </a:prstGeom>
          <a:ln w="47625">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V="1">
            <a:off x="4376738" y="3884594"/>
            <a:ext cx="128587" cy="158244"/>
          </a:xfrm>
          <a:prstGeom prst="line">
            <a:avLst/>
          </a:prstGeom>
          <a:ln w="47625">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V="1">
            <a:off x="4505325" y="3762296"/>
            <a:ext cx="128587" cy="122298"/>
          </a:xfrm>
          <a:prstGeom prst="line">
            <a:avLst/>
          </a:prstGeom>
          <a:ln w="47625">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V="1">
            <a:off x="4633912" y="3670556"/>
            <a:ext cx="128588" cy="91740"/>
          </a:xfrm>
          <a:prstGeom prst="line">
            <a:avLst/>
          </a:prstGeom>
          <a:ln w="47625">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V="1">
            <a:off x="4762500" y="3603277"/>
            <a:ext cx="128588" cy="67279"/>
          </a:xfrm>
          <a:prstGeom prst="line">
            <a:avLst/>
          </a:prstGeom>
          <a:ln w="47625">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V="1">
            <a:off x="4891088" y="3554763"/>
            <a:ext cx="128587" cy="48514"/>
          </a:xfrm>
          <a:prstGeom prst="line">
            <a:avLst/>
          </a:prstGeom>
          <a:ln w="47625">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V="1">
            <a:off x="5019675" y="3520225"/>
            <a:ext cx="128587" cy="34538"/>
          </a:xfrm>
          <a:prstGeom prst="line">
            <a:avLst/>
          </a:prstGeom>
          <a:ln w="47625">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V="1">
            <a:off x="5148262" y="3495888"/>
            <a:ext cx="128588" cy="24337"/>
          </a:xfrm>
          <a:prstGeom prst="line">
            <a:avLst/>
          </a:prstGeom>
          <a:ln w="47625">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V="1">
            <a:off x="5276850" y="3478904"/>
            <a:ext cx="128588" cy="16984"/>
          </a:xfrm>
          <a:prstGeom prst="line">
            <a:avLst/>
          </a:prstGeom>
          <a:ln w="47625">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V="1">
            <a:off x="5405438" y="3467193"/>
            <a:ext cx="128587" cy="11711"/>
          </a:xfrm>
          <a:prstGeom prst="line">
            <a:avLst/>
          </a:prstGeom>
          <a:ln w="47625">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V="1">
            <a:off x="5534025" y="3459275"/>
            <a:ext cx="128587" cy="7918"/>
          </a:xfrm>
          <a:prstGeom prst="line">
            <a:avLst/>
          </a:prstGeom>
          <a:ln w="47625">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V="1">
            <a:off x="5662612" y="3454128"/>
            <a:ext cx="128588" cy="5147"/>
          </a:xfrm>
          <a:prstGeom prst="line">
            <a:avLst/>
          </a:prstGeom>
          <a:ln w="47625">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V="1">
            <a:off x="5791200" y="3451079"/>
            <a:ext cx="128588" cy="3049"/>
          </a:xfrm>
          <a:prstGeom prst="line">
            <a:avLst/>
          </a:prstGeom>
          <a:ln w="47625">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V="1">
            <a:off x="5919788" y="3449723"/>
            <a:ext cx="128587" cy="1356"/>
          </a:xfrm>
          <a:prstGeom prst="line">
            <a:avLst/>
          </a:prstGeom>
          <a:ln w="47625">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6048375" y="3449723"/>
            <a:ext cx="128587" cy="158"/>
          </a:xfrm>
          <a:prstGeom prst="line">
            <a:avLst/>
          </a:prstGeom>
          <a:ln w="47625">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6176962" y="3449881"/>
            <a:ext cx="128588" cy="1691"/>
          </a:xfrm>
          <a:prstGeom prst="line">
            <a:avLst/>
          </a:prstGeom>
          <a:ln w="47625">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6305550" y="3451572"/>
            <a:ext cx="128588" cy="3447"/>
          </a:xfrm>
          <a:prstGeom prst="line">
            <a:avLst/>
          </a:prstGeom>
          <a:ln w="47625">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6434138" y="3455019"/>
            <a:ext cx="128587" cy="5652"/>
          </a:xfrm>
          <a:prstGeom prst="line">
            <a:avLst/>
          </a:prstGeom>
          <a:ln w="47625">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6562725" y="3460671"/>
            <a:ext cx="128587" cy="8584"/>
          </a:xfrm>
          <a:prstGeom prst="line">
            <a:avLst/>
          </a:prstGeom>
          <a:ln w="47625">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a:off x="6691312" y="3469255"/>
            <a:ext cx="128588" cy="12600"/>
          </a:xfrm>
          <a:prstGeom prst="line">
            <a:avLst/>
          </a:prstGeom>
          <a:ln w="47625">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6819900" y="3481855"/>
            <a:ext cx="128588" cy="18158"/>
          </a:xfrm>
          <a:prstGeom prst="line">
            <a:avLst/>
          </a:prstGeom>
          <a:ln w="47625">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a:off x="6948488" y="3500013"/>
            <a:ext cx="128587" cy="25838"/>
          </a:xfrm>
          <a:prstGeom prst="line">
            <a:avLst/>
          </a:prstGeom>
          <a:ln w="47625">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a:off x="7077075" y="3525851"/>
            <a:ext cx="128587" cy="36339"/>
          </a:xfrm>
          <a:prstGeom prst="line">
            <a:avLst/>
          </a:prstGeom>
          <a:ln w="47625">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a:off x="7205662" y="3562190"/>
            <a:ext cx="128588" cy="50428"/>
          </a:xfrm>
          <a:prstGeom prst="line">
            <a:avLst/>
          </a:prstGeom>
          <a:ln w="47625">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a:off x="7334250" y="3612618"/>
            <a:ext cx="128588" cy="68782"/>
          </a:xfrm>
          <a:prstGeom prst="line">
            <a:avLst/>
          </a:prstGeom>
          <a:ln w="47625">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a:off x="7462838" y="3681400"/>
            <a:ext cx="128587" cy="91709"/>
          </a:xfrm>
          <a:prstGeom prst="line">
            <a:avLst/>
          </a:prstGeom>
          <a:ln w="47625">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a:off x="7591425" y="3773109"/>
            <a:ext cx="128587" cy="118673"/>
          </a:xfrm>
          <a:prstGeom prst="line">
            <a:avLst/>
          </a:prstGeom>
          <a:ln w="47625">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a:off x="7720012" y="3891782"/>
            <a:ext cx="128588" cy="147778"/>
          </a:xfrm>
          <a:prstGeom prst="line">
            <a:avLst/>
          </a:prstGeom>
          <a:ln w="47625">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a:off x="7848600" y="4039560"/>
            <a:ext cx="128588" cy="175481"/>
          </a:xfrm>
          <a:prstGeom prst="line">
            <a:avLst/>
          </a:prstGeom>
          <a:ln w="47625">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a:off x="7977188" y="4215041"/>
            <a:ext cx="128587" cy="196996"/>
          </a:xfrm>
          <a:prstGeom prst="line">
            <a:avLst/>
          </a:prstGeom>
          <a:ln w="47625">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a:off x="8105775" y="4412037"/>
            <a:ext cx="128587" cy="207684"/>
          </a:xfrm>
          <a:prstGeom prst="line">
            <a:avLst/>
          </a:prstGeom>
          <a:ln w="47625">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a:off x="8234362" y="4619721"/>
            <a:ext cx="128588" cy="204944"/>
          </a:xfrm>
          <a:prstGeom prst="line">
            <a:avLst/>
          </a:prstGeom>
          <a:ln w="47625">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a:off x="8362950" y="4824665"/>
            <a:ext cx="128588" cy="189461"/>
          </a:xfrm>
          <a:prstGeom prst="line">
            <a:avLst/>
          </a:prstGeom>
          <a:ln w="47625">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a:off x="8491538" y="5014126"/>
            <a:ext cx="128587" cy="164870"/>
          </a:xfrm>
          <a:prstGeom prst="line">
            <a:avLst/>
          </a:prstGeom>
          <a:ln w="47625">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a:off x="8620125" y="5178996"/>
            <a:ext cx="128587" cy="136088"/>
          </a:xfrm>
          <a:prstGeom prst="line">
            <a:avLst/>
          </a:prstGeom>
          <a:ln w="47625">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a:off x="8748712" y="5315084"/>
            <a:ext cx="128588" cy="107515"/>
          </a:xfrm>
          <a:prstGeom prst="line">
            <a:avLst/>
          </a:prstGeom>
          <a:ln w="47625">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a:off x="8877300" y="5422599"/>
            <a:ext cx="128588" cy="82038"/>
          </a:xfrm>
          <a:prstGeom prst="line">
            <a:avLst/>
          </a:prstGeom>
          <a:ln w="47625">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a:off x="9005888" y="5504637"/>
            <a:ext cx="128587" cy="60954"/>
          </a:xfrm>
          <a:prstGeom prst="line">
            <a:avLst/>
          </a:prstGeom>
          <a:ln w="47625">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a:off x="9134475" y="5565591"/>
            <a:ext cx="128587" cy="44398"/>
          </a:xfrm>
          <a:prstGeom prst="line">
            <a:avLst/>
          </a:prstGeom>
          <a:ln w="47625">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a:off x="9263062" y="5609989"/>
            <a:ext cx="128588" cy="31873"/>
          </a:xfrm>
          <a:prstGeom prst="line">
            <a:avLst/>
          </a:prstGeom>
          <a:ln w="47625">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a:off x="9391650" y="5641862"/>
            <a:ext cx="128588" cy="22643"/>
          </a:xfrm>
          <a:prstGeom prst="line">
            <a:avLst/>
          </a:prstGeom>
          <a:ln w="47625">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a:off x="9520238" y="5664505"/>
            <a:ext cx="128587" cy="15968"/>
          </a:xfrm>
          <a:prstGeom prst="line">
            <a:avLst/>
          </a:prstGeom>
          <a:ln w="47625">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a:off x="9648825" y="5680473"/>
            <a:ext cx="128587" cy="11202"/>
          </a:xfrm>
          <a:prstGeom prst="line">
            <a:avLst/>
          </a:prstGeom>
          <a:ln w="47625">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a:off x="9777412" y="5691675"/>
            <a:ext cx="128588" cy="7829"/>
          </a:xfrm>
          <a:prstGeom prst="line">
            <a:avLst/>
          </a:prstGeom>
          <a:ln w="47625">
            <a:solidFill>
              <a:srgbClr val="F0E8E8"/>
            </a:solidFill>
          </a:ln>
        </p:spPr>
        <p:style>
          <a:lnRef idx="2">
            <a:schemeClr val="accent1"/>
          </a:lnRef>
          <a:fillRef idx="0">
            <a:schemeClr val="accent1"/>
          </a:fillRef>
          <a:effectRef idx="1">
            <a:schemeClr val="accent1"/>
          </a:effectRef>
          <a:fontRef idx="minor">
            <a:schemeClr val="tx1"/>
          </a:fontRef>
        </p:style>
      </p:cxnSp>
      <p:sp>
        <p:nvSpPr>
          <p:cNvPr id="81" name="Oval 80"/>
          <p:cNvSpPr/>
          <p:nvPr/>
        </p:nvSpPr>
        <p:spPr>
          <a:xfrm>
            <a:off x="2295525" y="6418912"/>
            <a:ext cx="47625" cy="47625"/>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Oval 81"/>
          <p:cNvSpPr/>
          <p:nvPr/>
        </p:nvSpPr>
        <p:spPr>
          <a:xfrm>
            <a:off x="2424112" y="6403977"/>
            <a:ext cx="47625" cy="47625"/>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Oval 82"/>
          <p:cNvSpPr/>
          <p:nvPr/>
        </p:nvSpPr>
        <p:spPr>
          <a:xfrm>
            <a:off x="2552700" y="6382686"/>
            <a:ext cx="47625" cy="47625"/>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Oval 83"/>
          <p:cNvSpPr/>
          <p:nvPr/>
        </p:nvSpPr>
        <p:spPr>
          <a:xfrm>
            <a:off x="2681288" y="6352494"/>
            <a:ext cx="47625" cy="47625"/>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Oval 84"/>
          <p:cNvSpPr/>
          <p:nvPr/>
        </p:nvSpPr>
        <p:spPr>
          <a:xfrm>
            <a:off x="2809875" y="6309998"/>
            <a:ext cx="47625" cy="47625"/>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Oval 85"/>
          <p:cNvSpPr/>
          <p:nvPr/>
        </p:nvSpPr>
        <p:spPr>
          <a:xfrm>
            <a:off x="2938462" y="6250801"/>
            <a:ext cx="47625" cy="47625"/>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Oval 86"/>
          <p:cNvSpPr/>
          <p:nvPr/>
        </p:nvSpPr>
        <p:spPr>
          <a:xfrm>
            <a:off x="3067050" y="6169529"/>
            <a:ext cx="47625" cy="47625"/>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Oval 87"/>
          <p:cNvSpPr/>
          <p:nvPr/>
        </p:nvSpPr>
        <p:spPr>
          <a:xfrm>
            <a:off x="3195638" y="6060143"/>
            <a:ext cx="47625" cy="47625"/>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Oval 88"/>
          <p:cNvSpPr/>
          <p:nvPr/>
        </p:nvSpPr>
        <p:spPr>
          <a:xfrm>
            <a:off x="3324225" y="5916790"/>
            <a:ext cx="47625" cy="47625"/>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Oval 89"/>
          <p:cNvSpPr/>
          <p:nvPr/>
        </p:nvSpPr>
        <p:spPr>
          <a:xfrm>
            <a:off x="3452812" y="5735339"/>
            <a:ext cx="47625" cy="47625"/>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Oval 90"/>
          <p:cNvSpPr/>
          <p:nvPr/>
        </p:nvSpPr>
        <p:spPr>
          <a:xfrm>
            <a:off x="3581400" y="5515512"/>
            <a:ext cx="47625" cy="47625"/>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Oval 91"/>
          <p:cNvSpPr/>
          <p:nvPr/>
        </p:nvSpPr>
        <p:spPr>
          <a:xfrm>
            <a:off x="3709988" y="5262895"/>
            <a:ext cx="47625" cy="47625"/>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Oval 92"/>
          <p:cNvSpPr/>
          <p:nvPr/>
        </p:nvSpPr>
        <p:spPr>
          <a:xfrm>
            <a:off x="3838575" y="4989635"/>
            <a:ext cx="47625" cy="47625"/>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Oval 93"/>
          <p:cNvSpPr/>
          <p:nvPr/>
        </p:nvSpPr>
        <p:spPr>
          <a:xfrm>
            <a:off x="3967162" y="4712720"/>
            <a:ext cx="47625" cy="47625"/>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Oval 94"/>
          <p:cNvSpPr/>
          <p:nvPr/>
        </p:nvSpPr>
        <p:spPr>
          <a:xfrm>
            <a:off x="4095750" y="4450054"/>
            <a:ext cx="47625" cy="47625"/>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Oval 95"/>
          <p:cNvSpPr/>
          <p:nvPr/>
        </p:nvSpPr>
        <p:spPr>
          <a:xfrm>
            <a:off x="4224338" y="4216073"/>
            <a:ext cx="47625" cy="47625"/>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Oval 96"/>
          <p:cNvSpPr/>
          <p:nvPr/>
        </p:nvSpPr>
        <p:spPr>
          <a:xfrm>
            <a:off x="4352925" y="4019025"/>
            <a:ext cx="47625" cy="47625"/>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Oval 97"/>
          <p:cNvSpPr/>
          <p:nvPr/>
        </p:nvSpPr>
        <p:spPr>
          <a:xfrm>
            <a:off x="4481512" y="3860782"/>
            <a:ext cx="47625" cy="47625"/>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Oval 98"/>
          <p:cNvSpPr/>
          <p:nvPr/>
        </p:nvSpPr>
        <p:spPr>
          <a:xfrm>
            <a:off x="4610100" y="3738483"/>
            <a:ext cx="47625" cy="47625"/>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Oval 99"/>
          <p:cNvSpPr/>
          <p:nvPr/>
        </p:nvSpPr>
        <p:spPr>
          <a:xfrm>
            <a:off x="4738688" y="3646743"/>
            <a:ext cx="47625" cy="47625"/>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Oval 100"/>
          <p:cNvSpPr/>
          <p:nvPr/>
        </p:nvSpPr>
        <p:spPr>
          <a:xfrm>
            <a:off x="4867275" y="3579465"/>
            <a:ext cx="47625" cy="47625"/>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Oval 101"/>
          <p:cNvSpPr/>
          <p:nvPr/>
        </p:nvSpPr>
        <p:spPr>
          <a:xfrm>
            <a:off x="4995862" y="3530951"/>
            <a:ext cx="47625" cy="47625"/>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Oval 102"/>
          <p:cNvSpPr/>
          <p:nvPr/>
        </p:nvSpPr>
        <p:spPr>
          <a:xfrm>
            <a:off x="5124450" y="3496413"/>
            <a:ext cx="47625" cy="47625"/>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Oval 103"/>
          <p:cNvSpPr/>
          <p:nvPr/>
        </p:nvSpPr>
        <p:spPr>
          <a:xfrm>
            <a:off x="5253038" y="3472075"/>
            <a:ext cx="47625" cy="47625"/>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Oval 104"/>
          <p:cNvSpPr/>
          <p:nvPr/>
        </p:nvSpPr>
        <p:spPr>
          <a:xfrm>
            <a:off x="5381625" y="3455091"/>
            <a:ext cx="47625" cy="47625"/>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Oval 105"/>
          <p:cNvSpPr/>
          <p:nvPr/>
        </p:nvSpPr>
        <p:spPr>
          <a:xfrm>
            <a:off x="5510212" y="3443381"/>
            <a:ext cx="47625" cy="47625"/>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Oval 106"/>
          <p:cNvSpPr/>
          <p:nvPr/>
        </p:nvSpPr>
        <p:spPr>
          <a:xfrm>
            <a:off x="5638800" y="3435463"/>
            <a:ext cx="47625" cy="47625"/>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Oval 107"/>
          <p:cNvSpPr/>
          <p:nvPr/>
        </p:nvSpPr>
        <p:spPr>
          <a:xfrm>
            <a:off x="5767388" y="3430316"/>
            <a:ext cx="47625" cy="47625"/>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Oval 108"/>
          <p:cNvSpPr/>
          <p:nvPr/>
        </p:nvSpPr>
        <p:spPr>
          <a:xfrm>
            <a:off x="5895975" y="3427266"/>
            <a:ext cx="47625" cy="47625"/>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Oval 109"/>
          <p:cNvSpPr/>
          <p:nvPr/>
        </p:nvSpPr>
        <p:spPr>
          <a:xfrm>
            <a:off x="6024562" y="3425910"/>
            <a:ext cx="47625" cy="47625"/>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Oval 110"/>
          <p:cNvSpPr/>
          <p:nvPr/>
        </p:nvSpPr>
        <p:spPr>
          <a:xfrm>
            <a:off x="6153150" y="3426068"/>
            <a:ext cx="47625" cy="47625"/>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Oval 111"/>
          <p:cNvSpPr/>
          <p:nvPr/>
        </p:nvSpPr>
        <p:spPr>
          <a:xfrm>
            <a:off x="6281738" y="3427760"/>
            <a:ext cx="47625" cy="47625"/>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Oval 112"/>
          <p:cNvSpPr/>
          <p:nvPr/>
        </p:nvSpPr>
        <p:spPr>
          <a:xfrm>
            <a:off x="6410325" y="3431207"/>
            <a:ext cx="47625" cy="47625"/>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Oval 113"/>
          <p:cNvSpPr/>
          <p:nvPr/>
        </p:nvSpPr>
        <p:spPr>
          <a:xfrm>
            <a:off x="6538912" y="3436858"/>
            <a:ext cx="47625" cy="47625"/>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Oval 114"/>
          <p:cNvSpPr/>
          <p:nvPr/>
        </p:nvSpPr>
        <p:spPr>
          <a:xfrm>
            <a:off x="6667500" y="3445443"/>
            <a:ext cx="47625" cy="47625"/>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Oval 115"/>
          <p:cNvSpPr/>
          <p:nvPr/>
        </p:nvSpPr>
        <p:spPr>
          <a:xfrm>
            <a:off x="6796088" y="3458043"/>
            <a:ext cx="47625" cy="47625"/>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Oval 116"/>
          <p:cNvSpPr/>
          <p:nvPr/>
        </p:nvSpPr>
        <p:spPr>
          <a:xfrm>
            <a:off x="6924675" y="3476201"/>
            <a:ext cx="47625" cy="47625"/>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Oval 117"/>
          <p:cNvSpPr/>
          <p:nvPr/>
        </p:nvSpPr>
        <p:spPr>
          <a:xfrm>
            <a:off x="7053262" y="3502038"/>
            <a:ext cx="47625" cy="47625"/>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Oval 118"/>
          <p:cNvSpPr/>
          <p:nvPr/>
        </p:nvSpPr>
        <p:spPr>
          <a:xfrm>
            <a:off x="7181850" y="3538378"/>
            <a:ext cx="47625" cy="47625"/>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Oval 119"/>
          <p:cNvSpPr/>
          <p:nvPr/>
        </p:nvSpPr>
        <p:spPr>
          <a:xfrm>
            <a:off x="7310438" y="3588805"/>
            <a:ext cx="47625" cy="47625"/>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Oval 120"/>
          <p:cNvSpPr/>
          <p:nvPr/>
        </p:nvSpPr>
        <p:spPr>
          <a:xfrm>
            <a:off x="7439025" y="3657588"/>
            <a:ext cx="47625" cy="47625"/>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Oval 121"/>
          <p:cNvSpPr/>
          <p:nvPr/>
        </p:nvSpPr>
        <p:spPr>
          <a:xfrm>
            <a:off x="7567612" y="3749297"/>
            <a:ext cx="47625" cy="47625"/>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Oval 122"/>
          <p:cNvSpPr/>
          <p:nvPr/>
        </p:nvSpPr>
        <p:spPr>
          <a:xfrm>
            <a:off x="7696200" y="3867969"/>
            <a:ext cx="47625" cy="47625"/>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Oval 123"/>
          <p:cNvSpPr/>
          <p:nvPr/>
        </p:nvSpPr>
        <p:spPr>
          <a:xfrm>
            <a:off x="7824788" y="4015748"/>
            <a:ext cx="47625" cy="47625"/>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Oval 124"/>
          <p:cNvSpPr/>
          <p:nvPr/>
        </p:nvSpPr>
        <p:spPr>
          <a:xfrm>
            <a:off x="7953375" y="4191229"/>
            <a:ext cx="47625" cy="47625"/>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Oval 125"/>
          <p:cNvSpPr/>
          <p:nvPr/>
        </p:nvSpPr>
        <p:spPr>
          <a:xfrm>
            <a:off x="8081962" y="4388225"/>
            <a:ext cx="47625" cy="47625"/>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Oval 126"/>
          <p:cNvSpPr/>
          <p:nvPr/>
        </p:nvSpPr>
        <p:spPr>
          <a:xfrm>
            <a:off x="8210550" y="4595909"/>
            <a:ext cx="47625" cy="47625"/>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Oval 127"/>
          <p:cNvSpPr/>
          <p:nvPr/>
        </p:nvSpPr>
        <p:spPr>
          <a:xfrm>
            <a:off x="8339138" y="4800852"/>
            <a:ext cx="47625" cy="47625"/>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Oval 128"/>
          <p:cNvSpPr/>
          <p:nvPr/>
        </p:nvSpPr>
        <p:spPr>
          <a:xfrm>
            <a:off x="8467725" y="4990314"/>
            <a:ext cx="47625" cy="47625"/>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Oval 129"/>
          <p:cNvSpPr/>
          <p:nvPr/>
        </p:nvSpPr>
        <p:spPr>
          <a:xfrm>
            <a:off x="8596312" y="5155184"/>
            <a:ext cx="47625" cy="47625"/>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Oval 130"/>
          <p:cNvSpPr/>
          <p:nvPr/>
        </p:nvSpPr>
        <p:spPr>
          <a:xfrm>
            <a:off x="8724900" y="5291271"/>
            <a:ext cx="47625" cy="47625"/>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Oval 131"/>
          <p:cNvSpPr/>
          <p:nvPr/>
        </p:nvSpPr>
        <p:spPr>
          <a:xfrm>
            <a:off x="8853488" y="5398786"/>
            <a:ext cx="47625" cy="47625"/>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Oval 132"/>
          <p:cNvSpPr/>
          <p:nvPr/>
        </p:nvSpPr>
        <p:spPr>
          <a:xfrm>
            <a:off x="8982075" y="5480825"/>
            <a:ext cx="47625" cy="47625"/>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Oval 133"/>
          <p:cNvSpPr/>
          <p:nvPr/>
        </p:nvSpPr>
        <p:spPr>
          <a:xfrm>
            <a:off x="9110662" y="5541779"/>
            <a:ext cx="47625" cy="47625"/>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Oval 134"/>
          <p:cNvSpPr/>
          <p:nvPr/>
        </p:nvSpPr>
        <p:spPr>
          <a:xfrm>
            <a:off x="9239250" y="5586176"/>
            <a:ext cx="47625" cy="47625"/>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Oval 135"/>
          <p:cNvSpPr/>
          <p:nvPr/>
        </p:nvSpPr>
        <p:spPr>
          <a:xfrm>
            <a:off x="9367838" y="5618049"/>
            <a:ext cx="47625" cy="47625"/>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Oval 136"/>
          <p:cNvSpPr/>
          <p:nvPr/>
        </p:nvSpPr>
        <p:spPr>
          <a:xfrm>
            <a:off x="9496425" y="5640693"/>
            <a:ext cx="47625" cy="47625"/>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Oval 137"/>
          <p:cNvSpPr/>
          <p:nvPr/>
        </p:nvSpPr>
        <p:spPr>
          <a:xfrm>
            <a:off x="9625012" y="5656661"/>
            <a:ext cx="47625" cy="47625"/>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Oval 138"/>
          <p:cNvSpPr/>
          <p:nvPr/>
        </p:nvSpPr>
        <p:spPr>
          <a:xfrm>
            <a:off x="9753600" y="5667862"/>
            <a:ext cx="47625" cy="47625"/>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40" name="Connector 139"/>
          <p:cNvCxnSpPr/>
          <p:nvPr/>
        </p:nvCxnSpPr>
        <p:spPr>
          <a:xfrm>
            <a:off x="2190750" y="3755318"/>
            <a:ext cx="128588" cy="1092"/>
          </a:xfrm>
          <a:prstGeom prst="line">
            <a:avLst/>
          </a:prstGeom>
          <a:ln w="38100">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41" name="Connector 140"/>
          <p:cNvCxnSpPr/>
          <p:nvPr/>
        </p:nvCxnSpPr>
        <p:spPr>
          <a:xfrm>
            <a:off x="2319338" y="3756410"/>
            <a:ext cx="128587" cy="1616"/>
          </a:xfrm>
          <a:prstGeom prst="line">
            <a:avLst/>
          </a:prstGeom>
          <a:ln w="38100">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42" name="Connector 141"/>
          <p:cNvCxnSpPr/>
          <p:nvPr/>
        </p:nvCxnSpPr>
        <p:spPr>
          <a:xfrm>
            <a:off x="2447925" y="3758026"/>
            <a:ext cx="128587" cy="2562"/>
          </a:xfrm>
          <a:prstGeom prst="line">
            <a:avLst/>
          </a:prstGeom>
          <a:ln w="38100">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43" name="Connector 142"/>
          <p:cNvCxnSpPr/>
          <p:nvPr/>
        </p:nvCxnSpPr>
        <p:spPr>
          <a:xfrm>
            <a:off x="2576512" y="3760588"/>
            <a:ext cx="128588" cy="4664"/>
          </a:xfrm>
          <a:prstGeom prst="line">
            <a:avLst/>
          </a:prstGeom>
          <a:ln w="38100">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44" name="Connector 143"/>
          <p:cNvCxnSpPr/>
          <p:nvPr/>
        </p:nvCxnSpPr>
        <p:spPr>
          <a:xfrm>
            <a:off x="2705100" y="3765252"/>
            <a:ext cx="128588" cy="10013"/>
          </a:xfrm>
          <a:prstGeom prst="line">
            <a:avLst/>
          </a:prstGeom>
          <a:ln w="38100">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45" name="Connector 144"/>
          <p:cNvCxnSpPr/>
          <p:nvPr/>
        </p:nvCxnSpPr>
        <p:spPr>
          <a:xfrm>
            <a:off x="2833688" y="3775265"/>
            <a:ext cx="128587" cy="23469"/>
          </a:xfrm>
          <a:prstGeom prst="line">
            <a:avLst/>
          </a:prstGeom>
          <a:ln w="38100">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46" name="Connector 145"/>
          <p:cNvCxnSpPr/>
          <p:nvPr/>
        </p:nvCxnSpPr>
        <p:spPr>
          <a:xfrm>
            <a:off x="2962275" y="3798734"/>
            <a:ext cx="128587" cy="53616"/>
          </a:xfrm>
          <a:prstGeom prst="line">
            <a:avLst/>
          </a:prstGeom>
          <a:ln w="38100">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47" name="Connector 146"/>
          <p:cNvCxnSpPr/>
          <p:nvPr/>
        </p:nvCxnSpPr>
        <p:spPr>
          <a:xfrm>
            <a:off x="3090862" y="3852350"/>
            <a:ext cx="128588" cy="110235"/>
          </a:xfrm>
          <a:prstGeom prst="line">
            <a:avLst/>
          </a:prstGeom>
          <a:ln w="38100">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48" name="Connector 147"/>
          <p:cNvCxnSpPr/>
          <p:nvPr/>
        </p:nvCxnSpPr>
        <p:spPr>
          <a:xfrm>
            <a:off x="3219450" y="3962585"/>
            <a:ext cx="128588" cy="194957"/>
          </a:xfrm>
          <a:prstGeom prst="line">
            <a:avLst/>
          </a:prstGeom>
          <a:ln w="38100">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49" name="Connector 148"/>
          <p:cNvCxnSpPr/>
          <p:nvPr/>
        </p:nvCxnSpPr>
        <p:spPr>
          <a:xfrm>
            <a:off x="3348038" y="4157542"/>
            <a:ext cx="128587" cy="287662"/>
          </a:xfrm>
          <a:prstGeom prst="line">
            <a:avLst/>
          </a:prstGeom>
          <a:ln w="38100">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50" name="Connector 149"/>
          <p:cNvCxnSpPr/>
          <p:nvPr/>
        </p:nvCxnSpPr>
        <p:spPr>
          <a:xfrm>
            <a:off x="3476625" y="4445204"/>
            <a:ext cx="128587" cy="342232"/>
          </a:xfrm>
          <a:prstGeom prst="line">
            <a:avLst/>
          </a:prstGeom>
          <a:ln w="38100">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51" name="Connector 150"/>
          <p:cNvCxnSpPr/>
          <p:nvPr/>
        </p:nvCxnSpPr>
        <p:spPr>
          <a:xfrm>
            <a:off x="3605212" y="4787436"/>
            <a:ext cx="128588" cy="307386"/>
          </a:xfrm>
          <a:prstGeom prst="line">
            <a:avLst/>
          </a:prstGeom>
          <a:ln w="38100">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52" name="Connector 151"/>
          <p:cNvCxnSpPr/>
          <p:nvPr/>
        </p:nvCxnSpPr>
        <p:spPr>
          <a:xfrm>
            <a:off x="3733800" y="5094822"/>
            <a:ext cx="128588" cy="167308"/>
          </a:xfrm>
          <a:prstGeom prst="line">
            <a:avLst/>
          </a:prstGeom>
          <a:ln w="38100">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53" name="Connector 152"/>
          <p:cNvCxnSpPr/>
          <p:nvPr/>
        </p:nvCxnSpPr>
        <p:spPr>
          <a:xfrm flipV="1">
            <a:off x="3862388" y="5229344"/>
            <a:ext cx="128587" cy="32786"/>
          </a:xfrm>
          <a:prstGeom prst="line">
            <a:avLst/>
          </a:prstGeom>
          <a:ln w="38100">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54" name="Connector 153"/>
          <p:cNvCxnSpPr/>
          <p:nvPr/>
        </p:nvCxnSpPr>
        <p:spPr>
          <a:xfrm flipV="1">
            <a:off x="3990975" y="5020856"/>
            <a:ext cx="128587" cy="208488"/>
          </a:xfrm>
          <a:prstGeom prst="line">
            <a:avLst/>
          </a:prstGeom>
          <a:ln w="38100">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55" name="Connector 154"/>
          <p:cNvCxnSpPr/>
          <p:nvPr/>
        </p:nvCxnSpPr>
        <p:spPr>
          <a:xfrm flipV="1">
            <a:off x="4119562" y="4728116"/>
            <a:ext cx="128588" cy="292740"/>
          </a:xfrm>
          <a:prstGeom prst="line">
            <a:avLst/>
          </a:prstGeom>
          <a:ln w="38100">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56" name="Connector 155"/>
          <p:cNvCxnSpPr/>
          <p:nvPr/>
        </p:nvCxnSpPr>
        <p:spPr>
          <a:xfrm flipV="1">
            <a:off x="4248150" y="4451664"/>
            <a:ext cx="128588" cy="276452"/>
          </a:xfrm>
          <a:prstGeom prst="line">
            <a:avLst/>
          </a:prstGeom>
          <a:ln w="38100">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57" name="Connector 156"/>
          <p:cNvCxnSpPr/>
          <p:nvPr/>
        </p:nvCxnSpPr>
        <p:spPr>
          <a:xfrm flipV="1">
            <a:off x="4376738" y="4251239"/>
            <a:ext cx="128587" cy="200425"/>
          </a:xfrm>
          <a:prstGeom prst="line">
            <a:avLst/>
          </a:prstGeom>
          <a:ln w="38100">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58" name="Connector 157"/>
          <p:cNvCxnSpPr/>
          <p:nvPr/>
        </p:nvCxnSpPr>
        <p:spPr>
          <a:xfrm flipV="1">
            <a:off x="4505325" y="4135286"/>
            <a:ext cx="128587" cy="115953"/>
          </a:xfrm>
          <a:prstGeom prst="line">
            <a:avLst/>
          </a:prstGeom>
          <a:ln w="38100">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59" name="Connector 158"/>
          <p:cNvCxnSpPr/>
          <p:nvPr/>
        </p:nvCxnSpPr>
        <p:spPr>
          <a:xfrm flipV="1">
            <a:off x="4633912" y="4081603"/>
            <a:ext cx="128588" cy="53683"/>
          </a:xfrm>
          <a:prstGeom prst="line">
            <a:avLst/>
          </a:prstGeom>
          <a:ln w="38100">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60" name="Connector 159"/>
          <p:cNvCxnSpPr/>
          <p:nvPr/>
        </p:nvCxnSpPr>
        <p:spPr>
          <a:xfrm flipV="1">
            <a:off x="4762500" y="4062589"/>
            <a:ext cx="128588" cy="19014"/>
          </a:xfrm>
          <a:prstGeom prst="line">
            <a:avLst/>
          </a:prstGeom>
          <a:ln w="38100">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61" name="Connector 160"/>
          <p:cNvCxnSpPr/>
          <p:nvPr/>
        </p:nvCxnSpPr>
        <p:spPr>
          <a:xfrm flipV="1">
            <a:off x="4891088" y="4058611"/>
            <a:ext cx="128587" cy="3978"/>
          </a:xfrm>
          <a:prstGeom prst="line">
            <a:avLst/>
          </a:prstGeom>
          <a:ln w="38100">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62" name="Connector 161"/>
          <p:cNvCxnSpPr/>
          <p:nvPr/>
        </p:nvCxnSpPr>
        <p:spPr>
          <a:xfrm>
            <a:off x="5019675" y="4058611"/>
            <a:ext cx="128587" cy="936"/>
          </a:xfrm>
          <a:prstGeom prst="line">
            <a:avLst/>
          </a:prstGeom>
          <a:ln w="38100">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63" name="Connector 162"/>
          <p:cNvCxnSpPr/>
          <p:nvPr/>
        </p:nvCxnSpPr>
        <p:spPr>
          <a:xfrm>
            <a:off x="5148262" y="4059547"/>
            <a:ext cx="128588" cy="1862"/>
          </a:xfrm>
          <a:prstGeom prst="line">
            <a:avLst/>
          </a:prstGeom>
          <a:ln w="38100">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64" name="Connector 163"/>
          <p:cNvCxnSpPr/>
          <p:nvPr/>
        </p:nvCxnSpPr>
        <p:spPr>
          <a:xfrm>
            <a:off x="5276850" y="4061409"/>
            <a:ext cx="128588" cy="1618"/>
          </a:xfrm>
          <a:prstGeom prst="line">
            <a:avLst/>
          </a:prstGeom>
          <a:ln w="38100">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65" name="Connector 164"/>
          <p:cNvCxnSpPr/>
          <p:nvPr/>
        </p:nvCxnSpPr>
        <p:spPr>
          <a:xfrm>
            <a:off x="5405438" y="4063027"/>
            <a:ext cx="128587" cy="1187"/>
          </a:xfrm>
          <a:prstGeom prst="line">
            <a:avLst/>
          </a:prstGeom>
          <a:ln w="38100">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66" name="Connector 165"/>
          <p:cNvCxnSpPr/>
          <p:nvPr/>
        </p:nvCxnSpPr>
        <p:spPr>
          <a:xfrm>
            <a:off x="5534025" y="4064214"/>
            <a:ext cx="128587" cy="815"/>
          </a:xfrm>
          <a:prstGeom prst="line">
            <a:avLst/>
          </a:prstGeom>
          <a:ln w="38100">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67" name="Connector 166"/>
          <p:cNvCxnSpPr/>
          <p:nvPr/>
        </p:nvCxnSpPr>
        <p:spPr>
          <a:xfrm>
            <a:off x="5662612" y="4065029"/>
            <a:ext cx="128588" cy="532"/>
          </a:xfrm>
          <a:prstGeom prst="line">
            <a:avLst/>
          </a:prstGeom>
          <a:ln w="38100">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68" name="Connector 167"/>
          <p:cNvCxnSpPr/>
          <p:nvPr/>
        </p:nvCxnSpPr>
        <p:spPr>
          <a:xfrm>
            <a:off x="5791200" y="4065561"/>
            <a:ext cx="128588" cy="315"/>
          </a:xfrm>
          <a:prstGeom prst="line">
            <a:avLst/>
          </a:prstGeom>
          <a:ln w="38100">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69" name="Connector 168"/>
          <p:cNvCxnSpPr/>
          <p:nvPr/>
        </p:nvCxnSpPr>
        <p:spPr>
          <a:xfrm>
            <a:off x="5919788" y="4065876"/>
            <a:ext cx="128587" cy="141"/>
          </a:xfrm>
          <a:prstGeom prst="line">
            <a:avLst/>
          </a:prstGeom>
          <a:ln w="38100">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70" name="Connector 169"/>
          <p:cNvCxnSpPr/>
          <p:nvPr/>
        </p:nvCxnSpPr>
        <p:spPr>
          <a:xfrm flipV="1">
            <a:off x="6048375" y="4066000"/>
            <a:ext cx="128587" cy="17"/>
          </a:xfrm>
          <a:prstGeom prst="line">
            <a:avLst/>
          </a:prstGeom>
          <a:ln w="38100">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71" name="Connector 170"/>
          <p:cNvCxnSpPr/>
          <p:nvPr/>
        </p:nvCxnSpPr>
        <p:spPr>
          <a:xfrm flipV="1">
            <a:off x="6176962" y="4065825"/>
            <a:ext cx="128588" cy="175"/>
          </a:xfrm>
          <a:prstGeom prst="line">
            <a:avLst/>
          </a:prstGeom>
          <a:ln w="38100">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72" name="Connector 171"/>
          <p:cNvCxnSpPr/>
          <p:nvPr/>
        </p:nvCxnSpPr>
        <p:spPr>
          <a:xfrm flipV="1">
            <a:off x="6305550" y="4065469"/>
            <a:ext cx="128588" cy="356"/>
          </a:xfrm>
          <a:prstGeom prst="line">
            <a:avLst/>
          </a:prstGeom>
          <a:ln w="38100">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73" name="Connector 172"/>
          <p:cNvCxnSpPr/>
          <p:nvPr/>
        </p:nvCxnSpPr>
        <p:spPr>
          <a:xfrm flipV="1">
            <a:off x="6434138" y="4064884"/>
            <a:ext cx="128587" cy="585"/>
          </a:xfrm>
          <a:prstGeom prst="line">
            <a:avLst/>
          </a:prstGeom>
          <a:ln w="38100">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74" name="Connector 173"/>
          <p:cNvCxnSpPr/>
          <p:nvPr/>
        </p:nvCxnSpPr>
        <p:spPr>
          <a:xfrm flipV="1">
            <a:off x="6562725" y="4063996"/>
            <a:ext cx="128587" cy="888"/>
          </a:xfrm>
          <a:prstGeom prst="line">
            <a:avLst/>
          </a:prstGeom>
          <a:ln w="38100">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75" name="Connector 174"/>
          <p:cNvCxnSpPr/>
          <p:nvPr/>
        </p:nvCxnSpPr>
        <p:spPr>
          <a:xfrm flipV="1">
            <a:off x="6691312" y="4062693"/>
            <a:ext cx="128588" cy="1303"/>
          </a:xfrm>
          <a:prstGeom prst="line">
            <a:avLst/>
          </a:prstGeom>
          <a:ln w="38100">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76" name="Connector 175"/>
          <p:cNvCxnSpPr/>
          <p:nvPr/>
        </p:nvCxnSpPr>
        <p:spPr>
          <a:xfrm flipV="1">
            <a:off x="6819900" y="4060814"/>
            <a:ext cx="128588" cy="1879"/>
          </a:xfrm>
          <a:prstGeom prst="line">
            <a:avLst/>
          </a:prstGeom>
          <a:ln w="38100">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77" name="Connector 176"/>
          <p:cNvCxnSpPr/>
          <p:nvPr/>
        </p:nvCxnSpPr>
        <p:spPr>
          <a:xfrm flipV="1">
            <a:off x="6948488" y="4058141"/>
            <a:ext cx="128587" cy="2673"/>
          </a:xfrm>
          <a:prstGeom prst="line">
            <a:avLst/>
          </a:prstGeom>
          <a:ln w="38100">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78" name="Connector 177"/>
          <p:cNvCxnSpPr/>
          <p:nvPr/>
        </p:nvCxnSpPr>
        <p:spPr>
          <a:xfrm flipV="1">
            <a:off x="7077075" y="4054382"/>
            <a:ext cx="128587" cy="3759"/>
          </a:xfrm>
          <a:prstGeom prst="line">
            <a:avLst/>
          </a:prstGeom>
          <a:ln w="38100">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79" name="Connector 178"/>
          <p:cNvCxnSpPr/>
          <p:nvPr/>
        </p:nvCxnSpPr>
        <p:spPr>
          <a:xfrm flipV="1">
            <a:off x="7205662" y="4049165"/>
            <a:ext cx="128588" cy="5217"/>
          </a:xfrm>
          <a:prstGeom prst="line">
            <a:avLst/>
          </a:prstGeom>
          <a:ln w="38100">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80" name="Connector 179"/>
          <p:cNvCxnSpPr/>
          <p:nvPr/>
        </p:nvCxnSpPr>
        <p:spPr>
          <a:xfrm flipV="1">
            <a:off x="7334250" y="4042050"/>
            <a:ext cx="128588" cy="7115"/>
          </a:xfrm>
          <a:prstGeom prst="line">
            <a:avLst/>
          </a:prstGeom>
          <a:ln w="38100">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81" name="Connector 180"/>
          <p:cNvCxnSpPr/>
          <p:nvPr/>
        </p:nvCxnSpPr>
        <p:spPr>
          <a:xfrm flipV="1">
            <a:off x="7462838" y="4032563"/>
            <a:ext cx="128587" cy="9487"/>
          </a:xfrm>
          <a:prstGeom prst="line">
            <a:avLst/>
          </a:prstGeom>
          <a:ln w="38100">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82" name="Connector 181"/>
          <p:cNvCxnSpPr/>
          <p:nvPr/>
        </p:nvCxnSpPr>
        <p:spPr>
          <a:xfrm flipV="1">
            <a:off x="7591425" y="4020286"/>
            <a:ext cx="128587" cy="12277"/>
          </a:xfrm>
          <a:prstGeom prst="line">
            <a:avLst/>
          </a:prstGeom>
          <a:ln w="38100">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83" name="Connector 182"/>
          <p:cNvCxnSpPr/>
          <p:nvPr/>
        </p:nvCxnSpPr>
        <p:spPr>
          <a:xfrm flipV="1">
            <a:off x="7720012" y="4004999"/>
            <a:ext cx="128588" cy="15287"/>
          </a:xfrm>
          <a:prstGeom prst="line">
            <a:avLst/>
          </a:prstGeom>
          <a:ln w="38100">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84" name="Connector 183"/>
          <p:cNvCxnSpPr/>
          <p:nvPr/>
        </p:nvCxnSpPr>
        <p:spPr>
          <a:xfrm flipV="1">
            <a:off x="7848600" y="3986846"/>
            <a:ext cx="128588" cy="18153"/>
          </a:xfrm>
          <a:prstGeom prst="line">
            <a:avLst/>
          </a:prstGeom>
          <a:ln w="38100">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85" name="Connector 184"/>
          <p:cNvCxnSpPr/>
          <p:nvPr/>
        </p:nvCxnSpPr>
        <p:spPr>
          <a:xfrm flipV="1">
            <a:off x="7977188" y="3966467"/>
            <a:ext cx="128587" cy="20379"/>
          </a:xfrm>
          <a:prstGeom prst="line">
            <a:avLst/>
          </a:prstGeom>
          <a:ln w="38100">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86" name="Connector 185"/>
          <p:cNvCxnSpPr/>
          <p:nvPr/>
        </p:nvCxnSpPr>
        <p:spPr>
          <a:xfrm flipV="1">
            <a:off x="8105775" y="3944982"/>
            <a:ext cx="128587" cy="21485"/>
          </a:xfrm>
          <a:prstGeom prst="line">
            <a:avLst/>
          </a:prstGeom>
          <a:ln w="38100">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87" name="Connector 186"/>
          <p:cNvCxnSpPr/>
          <p:nvPr/>
        </p:nvCxnSpPr>
        <p:spPr>
          <a:xfrm flipV="1">
            <a:off x="8234362" y="3923781"/>
            <a:ext cx="128588" cy="21201"/>
          </a:xfrm>
          <a:prstGeom prst="line">
            <a:avLst/>
          </a:prstGeom>
          <a:ln w="38100">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88" name="Connector 187"/>
          <p:cNvCxnSpPr/>
          <p:nvPr/>
        </p:nvCxnSpPr>
        <p:spPr>
          <a:xfrm flipV="1">
            <a:off x="8362950" y="3904182"/>
            <a:ext cx="128588" cy="19599"/>
          </a:xfrm>
          <a:prstGeom prst="line">
            <a:avLst/>
          </a:prstGeom>
          <a:ln w="38100">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89" name="Connector 188"/>
          <p:cNvCxnSpPr/>
          <p:nvPr/>
        </p:nvCxnSpPr>
        <p:spPr>
          <a:xfrm flipV="1">
            <a:off x="8491538" y="3887126"/>
            <a:ext cx="128587" cy="17056"/>
          </a:xfrm>
          <a:prstGeom prst="line">
            <a:avLst/>
          </a:prstGeom>
          <a:ln w="38100">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90" name="Connector 189"/>
          <p:cNvCxnSpPr/>
          <p:nvPr/>
        </p:nvCxnSpPr>
        <p:spPr>
          <a:xfrm flipV="1">
            <a:off x="8620125" y="3873048"/>
            <a:ext cx="128587" cy="14078"/>
          </a:xfrm>
          <a:prstGeom prst="line">
            <a:avLst/>
          </a:prstGeom>
          <a:ln w="38100">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91" name="Connector 190"/>
          <p:cNvCxnSpPr/>
          <p:nvPr/>
        </p:nvCxnSpPr>
        <p:spPr>
          <a:xfrm flipV="1">
            <a:off x="8748712" y="3861926"/>
            <a:ext cx="128588" cy="11122"/>
          </a:xfrm>
          <a:prstGeom prst="line">
            <a:avLst/>
          </a:prstGeom>
          <a:ln w="38100">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92" name="Connector 191"/>
          <p:cNvCxnSpPr/>
          <p:nvPr/>
        </p:nvCxnSpPr>
        <p:spPr>
          <a:xfrm flipV="1">
            <a:off x="8877300" y="3853439"/>
            <a:ext cx="128588" cy="8487"/>
          </a:xfrm>
          <a:prstGeom prst="line">
            <a:avLst/>
          </a:prstGeom>
          <a:ln w="38100">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93" name="Connector 192"/>
          <p:cNvCxnSpPr/>
          <p:nvPr/>
        </p:nvCxnSpPr>
        <p:spPr>
          <a:xfrm flipV="1">
            <a:off x="9005888" y="3847134"/>
            <a:ext cx="128587" cy="6305"/>
          </a:xfrm>
          <a:prstGeom prst="line">
            <a:avLst/>
          </a:prstGeom>
          <a:ln w="38100">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94" name="Connector 193"/>
          <p:cNvCxnSpPr/>
          <p:nvPr/>
        </p:nvCxnSpPr>
        <p:spPr>
          <a:xfrm flipV="1">
            <a:off x="9134475" y="3842541"/>
            <a:ext cx="128587" cy="4593"/>
          </a:xfrm>
          <a:prstGeom prst="line">
            <a:avLst/>
          </a:prstGeom>
          <a:ln w="38100">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95" name="Connector 194"/>
          <p:cNvCxnSpPr/>
          <p:nvPr/>
        </p:nvCxnSpPr>
        <p:spPr>
          <a:xfrm flipV="1">
            <a:off x="9263062" y="3839244"/>
            <a:ext cx="128588" cy="3297"/>
          </a:xfrm>
          <a:prstGeom prst="line">
            <a:avLst/>
          </a:prstGeom>
          <a:ln w="38100">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96" name="Connector 195"/>
          <p:cNvCxnSpPr/>
          <p:nvPr/>
        </p:nvCxnSpPr>
        <p:spPr>
          <a:xfrm flipV="1">
            <a:off x="9391650" y="3836901"/>
            <a:ext cx="128588" cy="2343"/>
          </a:xfrm>
          <a:prstGeom prst="line">
            <a:avLst/>
          </a:prstGeom>
          <a:ln w="38100">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97" name="Connector 196"/>
          <p:cNvCxnSpPr/>
          <p:nvPr/>
        </p:nvCxnSpPr>
        <p:spPr>
          <a:xfrm flipV="1">
            <a:off x="9520238" y="3835249"/>
            <a:ext cx="128587" cy="1652"/>
          </a:xfrm>
          <a:prstGeom prst="line">
            <a:avLst/>
          </a:prstGeom>
          <a:ln w="38100">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98" name="Connector 197"/>
          <p:cNvCxnSpPr/>
          <p:nvPr/>
        </p:nvCxnSpPr>
        <p:spPr>
          <a:xfrm flipV="1">
            <a:off x="9648825" y="3834091"/>
            <a:ext cx="128587" cy="1158"/>
          </a:xfrm>
          <a:prstGeom prst="line">
            <a:avLst/>
          </a:prstGeom>
          <a:ln w="38100">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99" name="Connector 198"/>
          <p:cNvCxnSpPr/>
          <p:nvPr/>
        </p:nvCxnSpPr>
        <p:spPr>
          <a:xfrm flipV="1">
            <a:off x="9777412" y="3833281"/>
            <a:ext cx="128588" cy="810"/>
          </a:xfrm>
          <a:prstGeom prst="line">
            <a:avLst/>
          </a:prstGeom>
          <a:ln w="38100">
            <a:solidFill>
              <a:srgbClr val="E8C27A"/>
            </a:solidFill>
          </a:ln>
        </p:spPr>
        <p:style>
          <a:lnRef idx="2">
            <a:schemeClr val="accent1"/>
          </a:lnRef>
          <a:fillRef idx="0">
            <a:schemeClr val="accent1"/>
          </a:fillRef>
          <a:effectRef idx="1">
            <a:schemeClr val="accent1"/>
          </a:effectRef>
          <a:fontRef idx="minor">
            <a:schemeClr val="tx1"/>
          </a:fontRef>
        </p:style>
      </p:cxnSp>
      <p:sp>
        <p:nvSpPr>
          <p:cNvPr id="200" name="Oval 199"/>
          <p:cNvSpPr/>
          <p:nvPr/>
        </p:nvSpPr>
        <p:spPr>
          <a:xfrm>
            <a:off x="2300288" y="3737360"/>
            <a:ext cx="38100" cy="3810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 name="Oval 200"/>
          <p:cNvSpPr/>
          <p:nvPr/>
        </p:nvSpPr>
        <p:spPr>
          <a:xfrm>
            <a:off x="2428875" y="3738976"/>
            <a:ext cx="38100" cy="3810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 name="Oval 201"/>
          <p:cNvSpPr/>
          <p:nvPr/>
        </p:nvSpPr>
        <p:spPr>
          <a:xfrm>
            <a:off x="2557462" y="3741538"/>
            <a:ext cx="38100" cy="3810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 name="Oval 202"/>
          <p:cNvSpPr/>
          <p:nvPr/>
        </p:nvSpPr>
        <p:spPr>
          <a:xfrm>
            <a:off x="2686050" y="3746202"/>
            <a:ext cx="38100" cy="3810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 name="Oval 203"/>
          <p:cNvSpPr/>
          <p:nvPr/>
        </p:nvSpPr>
        <p:spPr>
          <a:xfrm>
            <a:off x="2814638" y="3756215"/>
            <a:ext cx="38100" cy="3810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 name="Oval 204"/>
          <p:cNvSpPr/>
          <p:nvPr/>
        </p:nvSpPr>
        <p:spPr>
          <a:xfrm>
            <a:off x="2943225" y="3779684"/>
            <a:ext cx="38100" cy="3810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 name="Oval 205"/>
          <p:cNvSpPr/>
          <p:nvPr/>
        </p:nvSpPr>
        <p:spPr>
          <a:xfrm>
            <a:off x="3071812" y="3833300"/>
            <a:ext cx="38100" cy="3810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 name="Oval 206"/>
          <p:cNvSpPr/>
          <p:nvPr/>
        </p:nvSpPr>
        <p:spPr>
          <a:xfrm>
            <a:off x="3200400" y="3943535"/>
            <a:ext cx="38100" cy="3810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 name="Oval 207"/>
          <p:cNvSpPr/>
          <p:nvPr/>
        </p:nvSpPr>
        <p:spPr>
          <a:xfrm>
            <a:off x="3328988" y="4138492"/>
            <a:ext cx="38100" cy="3810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 name="Oval 208"/>
          <p:cNvSpPr/>
          <p:nvPr/>
        </p:nvSpPr>
        <p:spPr>
          <a:xfrm>
            <a:off x="3457575" y="4426154"/>
            <a:ext cx="38100" cy="3810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 name="Oval 209"/>
          <p:cNvSpPr/>
          <p:nvPr/>
        </p:nvSpPr>
        <p:spPr>
          <a:xfrm>
            <a:off x="3586162" y="4768386"/>
            <a:ext cx="38100" cy="3810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 name="Oval 210"/>
          <p:cNvSpPr/>
          <p:nvPr/>
        </p:nvSpPr>
        <p:spPr>
          <a:xfrm>
            <a:off x="3714750" y="5075772"/>
            <a:ext cx="38100" cy="3810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 name="Oval 211"/>
          <p:cNvSpPr/>
          <p:nvPr/>
        </p:nvSpPr>
        <p:spPr>
          <a:xfrm>
            <a:off x="3843338" y="5243080"/>
            <a:ext cx="38100" cy="3810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 name="Oval 212"/>
          <p:cNvSpPr/>
          <p:nvPr/>
        </p:nvSpPr>
        <p:spPr>
          <a:xfrm>
            <a:off x="3971925" y="5210294"/>
            <a:ext cx="38100" cy="3810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 name="Oval 213"/>
          <p:cNvSpPr/>
          <p:nvPr/>
        </p:nvSpPr>
        <p:spPr>
          <a:xfrm>
            <a:off x="4100512" y="5001806"/>
            <a:ext cx="38100" cy="3810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 name="Oval 214"/>
          <p:cNvSpPr/>
          <p:nvPr/>
        </p:nvSpPr>
        <p:spPr>
          <a:xfrm>
            <a:off x="4229100" y="4709066"/>
            <a:ext cx="38100" cy="3810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 name="Oval 215"/>
          <p:cNvSpPr/>
          <p:nvPr/>
        </p:nvSpPr>
        <p:spPr>
          <a:xfrm>
            <a:off x="4357688" y="4432614"/>
            <a:ext cx="38100" cy="3810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 name="Oval 216"/>
          <p:cNvSpPr/>
          <p:nvPr/>
        </p:nvSpPr>
        <p:spPr>
          <a:xfrm>
            <a:off x="4486275" y="4232189"/>
            <a:ext cx="38100" cy="3810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 name="Oval 217"/>
          <p:cNvSpPr/>
          <p:nvPr/>
        </p:nvSpPr>
        <p:spPr>
          <a:xfrm>
            <a:off x="4614862" y="4116236"/>
            <a:ext cx="38100" cy="3810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 name="Oval 218"/>
          <p:cNvSpPr/>
          <p:nvPr/>
        </p:nvSpPr>
        <p:spPr>
          <a:xfrm>
            <a:off x="4743450" y="4062553"/>
            <a:ext cx="38100" cy="3810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 name="Oval 219"/>
          <p:cNvSpPr/>
          <p:nvPr/>
        </p:nvSpPr>
        <p:spPr>
          <a:xfrm>
            <a:off x="4872038" y="4043539"/>
            <a:ext cx="38100" cy="3810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 name="Oval 220"/>
          <p:cNvSpPr/>
          <p:nvPr/>
        </p:nvSpPr>
        <p:spPr>
          <a:xfrm>
            <a:off x="5000625" y="4039561"/>
            <a:ext cx="38100" cy="3810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 name="Oval 221"/>
          <p:cNvSpPr/>
          <p:nvPr/>
        </p:nvSpPr>
        <p:spPr>
          <a:xfrm>
            <a:off x="5129212" y="4040497"/>
            <a:ext cx="38100" cy="3810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 name="Oval 222"/>
          <p:cNvSpPr/>
          <p:nvPr/>
        </p:nvSpPr>
        <p:spPr>
          <a:xfrm>
            <a:off x="5257800" y="4042359"/>
            <a:ext cx="38100" cy="3810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 name="Oval 223"/>
          <p:cNvSpPr/>
          <p:nvPr/>
        </p:nvSpPr>
        <p:spPr>
          <a:xfrm>
            <a:off x="5386388" y="4043977"/>
            <a:ext cx="38100" cy="3810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 name="Oval 224"/>
          <p:cNvSpPr/>
          <p:nvPr/>
        </p:nvSpPr>
        <p:spPr>
          <a:xfrm>
            <a:off x="5514975" y="4045164"/>
            <a:ext cx="38100" cy="3810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 name="Oval 225"/>
          <p:cNvSpPr/>
          <p:nvPr/>
        </p:nvSpPr>
        <p:spPr>
          <a:xfrm>
            <a:off x="5643562" y="4045979"/>
            <a:ext cx="38100" cy="3810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 name="Oval 226"/>
          <p:cNvSpPr/>
          <p:nvPr/>
        </p:nvSpPr>
        <p:spPr>
          <a:xfrm>
            <a:off x="5772150" y="4046511"/>
            <a:ext cx="38100" cy="3810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 name="Oval 227"/>
          <p:cNvSpPr/>
          <p:nvPr/>
        </p:nvSpPr>
        <p:spPr>
          <a:xfrm>
            <a:off x="5900738" y="4046826"/>
            <a:ext cx="38100" cy="3810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 name="Oval 228"/>
          <p:cNvSpPr/>
          <p:nvPr/>
        </p:nvSpPr>
        <p:spPr>
          <a:xfrm>
            <a:off x="6029325" y="4046967"/>
            <a:ext cx="38100" cy="3810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 name="Oval 229"/>
          <p:cNvSpPr/>
          <p:nvPr/>
        </p:nvSpPr>
        <p:spPr>
          <a:xfrm>
            <a:off x="6157912" y="4046950"/>
            <a:ext cx="38100" cy="3810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 name="Oval 230"/>
          <p:cNvSpPr/>
          <p:nvPr/>
        </p:nvSpPr>
        <p:spPr>
          <a:xfrm>
            <a:off x="6286500" y="4046775"/>
            <a:ext cx="38100" cy="3810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 name="Oval 231"/>
          <p:cNvSpPr/>
          <p:nvPr/>
        </p:nvSpPr>
        <p:spPr>
          <a:xfrm>
            <a:off x="6415088" y="4046419"/>
            <a:ext cx="38100" cy="3810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 name="Oval 232"/>
          <p:cNvSpPr/>
          <p:nvPr/>
        </p:nvSpPr>
        <p:spPr>
          <a:xfrm>
            <a:off x="6543675" y="4045834"/>
            <a:ext cx="38100" cy="3810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 name="Oval 233"/>
          <p:cNvSpPr/>
          <p:nvPr/>
        </p:nvSpPr>
        <p:spPr>
          <a:xfrm>
            <a:off x="6672262" y="4044946"/>
            <a:ext cx="38100" cy="3810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 name="Oval 234"/>
          <p:cNvSpPr/>
          <p:nvPr/>
        </p:nvSpPr>
        <p:spPr>
          <a:xfrm>
            <a:off x="6800850" y="4043643"/>
            <a:ext cx="38100" cy="3810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 name="Oval 235"/>
          <p:cNvSpPr/>
          <p:nvPr/>
        </p:nvSpPr>
        <p:spPr>
          <a:xfrm>
            <a:off x="6929438" y="4041764"/>
            <a:ext cx="38100" cy="3810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 name="Oval 236"/>
          <p:cNvSpPr/>
          <p:nvPr/>
        </p:nvSpPr>
        <p:spPr>
          <a:xfrm>
            <a:off x="7058025" y="4039091"/>
            <a:ext cx="38100" cy="3810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 name="Oval 237"/>
          <p:cNvSpPr/>
          <p:nvPr/>
        </p:nvSpPr>
        <p:spPr>
          <a:xfrm>
            <a:off x="7186612" y="4035332"/>
            <a:ext cx="38100" cy="3810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 name="Oval 238"/>
          <p:cNvSpPr/>
          <p:nvPr/>
        </p:nvSpPr>
        <p:spPr>
          <a:xfrm>
            <a:off x="7315200" y="4030115"/>
            <a:ext cx="38100" cy="3810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 name="Oval 239"/>
          <p:cNvSpPr/>
          <p:nvPr/>
        </p:nvSpPr>
        <p:spPr>
          <a:xfrm>
            <a:off x="7443788" y="4023000"/>
            <a:ext cx="38100" cy="3810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 name="Oval 240"/>
          <p:cNvSpPr/>
          <p:nvPr/>
        </p:nvSpPr>
        <p:spPr>
          <a:xfrm>
            <a:off x="7572375" y="4013513"/>
            <a:ext cx="38100" cy="3810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 name="Oval 241"/>
          <p:cNvSpPr/>
          <p:nvPr/>
        </p:nvSpPr>
        <p:spPr>
          <a:xfrm>
            <a:off x="7700962" y="4001236"/>
            <a:ext cx="38100" cy="3810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 name="Oval 242"/>
          <p:cNvSpPr/>
          <p:nvPr/>
        </p:nvSpPr>
        <p:spPr>
          <a:xfrm>
            <a:off x="7829550" y="3985949"/>
            <a:ext cx="38100" cy="3810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 name="Oval 243"/>
          <p:cNvSpPr/>
          <p:nvPr/>
        </p:nvSpPr>
        <p:spPr>
          <a:xfrm>
            <a:off x="7958138" y="3967796"/>
            <a:ext cx="38100" cy="3810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 name="Oval 244"/>
          <p:cNvSpPr/>
          <p:nvPr/>
        </p:nvSpPr>
        <p:spPr>
          <a:xfrm>
            <a:off x="8086725" y="3947417"/>
            <a:ext cx="38100" cy="3810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 name="Oval 245"/>
          <p:cNvSpPr/>
          <p:nvPr/>
        </p:nvSpPr>
        <p:spPr>
          <a:xfrm>
            <a:off x="8215312" y="3925932"/>
            <a:ext cx="38100" cy="3810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 name="Oval 246"/>
          <p:cNvSpPr/>
          <p:nvPr/>
        </p:nvSpPr>
        <p:spPr>
          <a:xfrm>
            <a:off x="8343900" y="3904731"/>
            <a:ext cx="38100" cy="3810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 name="Oval 247"/>
          <p:cNvSpPr/>
          <p:nvPr/>
        </p:nvSpPr>
        <p:spPr>
          <a:xfrm>
            <a:off x="8472488" y="3885132"/>
            <a:ext cx="38100" cy="3810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 name="Oval 248"/>
          <p:cNvSpPr/>
          <p:nvPr/>
        </p:nvSpPr>
        <p:spPr>
          <a:xfrm>
            <a:off x="8601075" y="3868076"/>
            <a:ext cx="38100" cy="3810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 name="Oval 249"/>
          <p:cNvSpPr/>
          <p:nvPr/>
        </p:nvSpPr>
        <p:spPr>
          <a:xfrm>
            <a:off x="8729662" y="3853998"/>
            <a:ext cx="38100" cy="3810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 name="Oval 250"/>
          <p:cNvSpPr/>
          <p:nvPr/>
        </p:nvSpPr>
        <p:spPr>
          <a:xfrm>
            <a:off x="8858250" y="3842876"/>
            <a:ext cx="38100" cy="3810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2" name="Oval 251"/>
          <p:cNvSpPr/>
          <p:nvPr/>
        </p:nvSpPr>
        <p:spPr>
          <a:xfrm>
            <a:off x="8986838" y="3834389"/>
            <a:ext cx="38100" cy="3810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3" name="Oval 252"/>
          <p:cNvSpPr/>
          <p:nvPr/>
        </p:nvSpPr>
        <p:spPr>
          <a:xfrm>
            <a:off x="9115425" y="3828084"/>
            <a:ext cx="38100" cy="3810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4" name="Oval 253"/>
          <p:cNvSpPr/>
          <p:nvPr/>
        </p:nvSpPr>
        <p:spPr>
          <a:xfrm>
            <a:off x="9244012" y="3823491"/>
            <a:ext cx="38100" cy="3810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5" name="Oval 254"/>
          <p:cNvSpPr/>
          <p:nvPr/>
        </p:nvSpPr>
        <p:spPr>
          <a:xfrm>
            <a:off x="9372600" y="3820194"/>
            <a:ext cx="38100" cy="3810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6" name="Oval 255"/>
          <p:cNvSpPr/>
          <p:nvPr/>
        </p:nvSpPr>
        <p:spPr>
          <a:xfrm>
            <a:off x="9501188" y="3817851"/>
            <a:ext cx="38100" cy="3810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7" name="Oval 256"/>
          <p:cNvSpPr/>
          <p:nvPr/>
        </p:nvSpPr>
        <p:spPr>
          <a:xfrm>
            <a:off x="9629775" y="3816199"/>
            <a:ext cx="38100" cy="3810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8" name="Oval 257"/>
          <p:cNvSpPr/>
          <p:nvPr/>
        </p:nvSpPr>
        <p:spPr>
          <a:xfrm>
            <a:off x="9758362" y="3815041"/>
            <a:ext cx="38100" cy="3810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9" name="TextBox 258"/>
          <p:cNvSpPr txBox="1"/>
          <p:nvPr/>
        </p:nvSpPr>
        <p:spPr>
          <a:xfrm>
            <a:off x="2190750" y="6667500"/>
            <a:ext cx="3810000" cy="285750"/>
          </a:xfrm>
          <a:prstGeom prst="rect">
            <a:avLst/>
          </a:prstGeom>
          <a:noFill/>
        </p:spPr>
        <p:txBody>
          <a:bodyPr wrap="square" lIns="0" rIns="0" tIns="0" bIns="0" anchor="t">
            <a:spAutoFit/>
          </a:bodyPr>
          <a:lstStyle/>
          <a:p>
            <a:pPr algn="l"/>
            <a:r>
              <a:rPr sz="1350" b="0" i="0">
                <a:solidFill>
                  <a:srgbClr val="9A7878"/>
                </a:solidFill>
                <a:latin typeface="Geist Mono"/>
                <a:ea typeface="Geist Mono"/>
                <a:cs typeface="Geist Mono"/>
              </a:rPr>
              <a:t>GamePieceLoaded</a:t>
            </a:r>
          </a:p>
        </p:txBody>
      </p:sp>
      <p:sp>
        <p:nvSpPr>
          <p:cNvPr id="260" name="Rounded Rectangle 259"/>
          <p:cNvSpPr/>
          <p:nvPr/>
        </p:nvSpPr>
        <p:spPr>
          <a:xfrm>
            <a:off x="2190750" y="7010400"/>
            <a:ext cx="3433762" cy="419100"/>
          </a:xfrm>
          <a:prstGeom prst="roundRect">
            <a:avLst>
              <a:gd name="adj" fmla="val 13636"/>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1" name="TextBox 260"/>
          <p:cNvSpPr txBox="1"/>
          <p:nvPr/>
        </p:nvSpPr>
        <p:spPr>
          <a:xfrm>
            <a:off x="2305050" y="7010400"/>
            <a:ext cx="3243262" cy="419100"/>
          </a:xfrm>
          <a:prstGeom prst="rect">
            <a:avLst/>
          </a:prstGeom>
          <a:noFill/>
        </p:spPr>
        <p:txBody>
          <a:bodyPr wrap="square" lIns="0" rIns="0" tIns="0" bIns="0" anchor="ctr">
            <a:spAutoFit/>
          </a:bodyPr>
          <a:lstStyle/>
          <a:p>
            <a:pPr algn="l"/>
            <a:r>
              <a:rPr sz="1500" b="0" i="0">
                <a:solidFill>
                  <a:srgbClr val="9A7878"/>
                </a:solidFill>
                <a:latin typeface="Geist Mono"/>
                <a:ea typeface="Geist Mono"/>
                <a:cs typeface="Geist Mono"/>
              </a:rPr>
              <a:t>false</a:t>
            </a:r>
          </a:p>
        </p:txBody>
      </p:sp>
      <p:sp>
        <p:nvSpPr>
          <p:cNvPr id="262" name="Rounded Rectangle 261"/>
          <p:cNvSpPr/>
          <p:nvPr/>
        </p:nvSpPr>
        <p:spPr>
          <a:xfrm>
            <a:off x="5662612" y="7010400"/>
            <a:ext cx="2662238" cy="419100"/>
          </a:xfrm>
          <a:prstGeom prst="roundRect">
            <a:avLst>
              <a:gd name="adj" fmla="val 13636"/>
            </a:avLst>
          </a:prstGeom>
          <a:solidFill>
            <a:srgbClr val="1E3B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3" name="TextBox 262"/>
          <p:cNvSpPr txBox="1"/>
          <p:nvPr/>
        </p:nvSpPr>
        <p:spPr>
          <a:xfrm>
            <a:off x="5776912" y="7010400"/>
            <a:ext cx="2471738" cy="419100"/>
          </a:xfrm>
          <a:prstGeom prst="rect">
            <a:avLst/>
          </a:prstGeom>
          <a:noFill/>
        </p:spPr>
        <p:txBody>
          <a:bodyPr wrap="square" lIns="0" rIns="0" tIns="0" bIns="0" anchor="ctr">
            <a:spAutoFit/>
          </a:bodyPr>
          <a:lstStyle/>
          <a:p>
            <a:pPr algn="l"/>
            <a:r>
              <a:rPr sz="1500" b="0" i="0">
                <a:solidFill>
                  <a:srgbClr val="7FD49B"/>
                </a:solidFill>
                <a:latin typeface="Geist Mono"/>
                <a:ea typeface="Geist Mono"/>
                <a:cs typeface="Geist Mono"/>
              </a:rPr>
              <a:t>true</a:t>
            </a:r>
          </a:p>
        </p:txBody>
      </p:sp>
      <p:sp>
        <p:nvSpPr>
          <p:cNvPr id="264" name="Rounded Rectangle 263"/>
          <p:cNvSpPr/>
          <p:nvPr/>
        </p:nvSpPr>
        <p:spPr>
          <a:xfrm>
            <a:off x="8362950" y="7010400"/>
            <a:ext cx="1504950" cy="419100"/>
          </a:xfrm>
          <a:prstGeom prst="roundRect">
            <a:avLst>
              <a:gd name="adj" fmla="val 13636"/>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5" name="TextBox 264"/>
          <p:cNvSpPr txBox="1"/>
          <p:nvPr/>
        </p:nvSpPr>
        <p:spPr>
          <a:xfrm>
            <a:off x="8477250" y="7010400"/>
            <a:ext cx="1314450" cy="419100"/>
          </a:xfrm>
          <a:prstGeom prst="rect">
            <a:avLst/>
          </a:prstGeom>
          <a:noFill/>
        </p:spPr>
        <p:txBody>
          <a:bodyPr wrap="square" lIns="0" rIns="0" tIns="0" bIns="0" anchor="ctr">
            <a:spAutoFit/>
          </a:bodyPr>
          <a:lstStyle/>
          <a:p>
            <a:pPr algn="l"/>
            <a:r>
              <a:rPr sz="1500" b="0" i="0">
                <a:solidFill>
                  <a:srgbClr val="9A7878"/>
                </a:solidFill>
                <a:latin typeface="Geist Mono"/>
                <a:ea typeface="Geist Mono"/>
                <a:cs typeface="Geist Mono"/>
              </a:rPr>
              <a:t>false</a:t>
            </a:r>
          </a:p>
        </p:txBody>
      </p:sp>
      <p:cxnSp>
        <p:nvCxnSpPr>
          <p:cNvPr id="266" name="Connector 265"/>
          <p:cNvCxnSpPr/>
          <p:nvPr/>
        </p:nvCxnSpPr>
        <p:spPr>
          <a:xfrm>
            <a:off x="6434138" y="3238500"/>
            <a:ext cx="0" cy="4286250"/>
          </a:xfrm>
          <a:prstGeom prst="line">
            <a:avLst/>
          </a:prstGeom>
          <a:ln w="19050">
            <a:solidFill>
              <a:srgbClr val="9A7878"/>
            </a:solidFill>
            <a:prstDash val="dash"/>
          </a:ln>
        </p:spPr>
        <p:style>
          <a:lnRef idx="2">
            <a:schemeClr val="accent1"/>
          </a:lnRef>
          <a:fillRef idx="0">
            <a:schemeClr val="accent1"/>
          </a:fillRef>
          <a:effectRef idx="1">
            <a:schemeClr val="accent1"/>
          </a:effectRef>
          <a:fontRef idx="minor">
            <a:schemeClr val="tx1"/>
          </a:fontRef>
        </p:style>
      </p:cxnSp>
      <p:sp>
        <p:nvSpPr>
          <p:cNvPr id="267" name="Rounded Rectangle 266"/>
          <p:cNvSpPr/>
          <p:nvPr/>
        </p:nvSpPr>
        <p:spPr>
          <a:xfrm>
            <a:off x="6586538" y="3619500"/>
            <a:ext cx="2857500" cy="876300"/>
          </a:xfrm>
          <a:prstGeom prst="roundRect">
            <a:avLst>
              <a:gd name="adj" fmla="val 10869"/>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8" name="TextBox 267"/>
          <p:cNvSpPr txBox="1"/>
          <p:nvPr/>
        </p:nvSpPr>
        <p:spPr>
          <a:xfrm>
            <a:off x="6738938" y="3714750"/>
            <a:ext cx="2571750" cy="342900"/>
          </a:xfrm>
          <a:prstGeom prst="rect">
            <a:avLst/>
          </a:prstGeom>
          <a:noFill/>
        </p:spPr>
        <p:txBody>
          <a:bodyPr wrap="square" lIns="0" rIns="0" tIns="0" bIns="0" anchor="t">
            <a:spAutoFit/>
          </a:bodyPr>
          <a:lstStyle/>
          <a:p>
            <a:pPr algn="l"/>
            <a:r>
              <a:rPr sz="1500" b="0" i="0">
                <a:solidFill>
                  <a:srgbClr val="9A7878"/>
                </a:solidFill>
                <a:latin typeface="Geist Mono"/>
                <a:ea typeface="Geist Mono"/>
                <a:cs typeface="Geist Mono"/>
              </a:rPr>
              <a:t>t = 4.2 s</a:t>
            </a:r>
          </a:p>
        </p:txBody>
      </p:sp>
      <p:sp>
        <p:nvSpPr>
          <p:cNvPr id="269" name="TextBox 268"/>
          <p:cNvSpPr txBox="1"/>
          <p:nvPr/>
        </p:nvSpPr>
        <p:spPr>
          <a:xfrm>
            <a:off x="6738938" y="4038600"/>
            <a:ext cx="2571750" cy="342900"/>
          </a:xfrm>
          <a:prstGeom prst="rect">
            <a:avLst/>
          </a:prstGeom>
          <a:noFill/>
        </p:spPr>
        <p:txBody>
          <a:bodyPr wrap="square" lIns="0" rIns="0" tIns="0" bIns="0" anchor="t">
            <a:spAutoFit/>
          </a:bodyPr>
          <a:lstStyle/>
          <a:p>
            <a:pPr algn="l"/>
            <a:r>
              <a:rPr sz="1500" b="0" i="0">
                <a:solidFill>
                  <a:srgbClr val="F0E8E8"/>
                </a:solidFill>
                <a:latin typeface="Geist Mono"/>
                <a:ea typeface="Geist Mono"/>
                <a:cs typeface="Geist Mono"/>
              </a:rPr>
              <a:t>5,790</a:t>
            </a:r>
            <a:r>
              <a:rPr sz="1500" b="0" i="0">
                <a:solidFill>
                  <a:srgbClr val="9A7878"/>
                </a:solidFill>
                <a:latin typeface="Geist Mono"/>
                <a:ea typeface="Geist Mono"/>
                <a:cs typeface="Geist Mono"/>
              </a:rPr>
              <a:t>  RPM   </a:t>
            </a:r>
            <a:r>
              <a:rPr sz="1500" b="0" i="0">
                <a:solidFill>
                  <a:srgbClr val="E8C27A"/>
                </a:solidFill>
                <a:latin typeface="Geist Mono"/>
                <a:ea typeface="Geist Mono"/>
                <a:cs typeface="Geist Mono"/>
              </a:rPr>
              <a:t>12.3</a:t>
            </a:r>
            <a:r>
              <a:rPr sz="1500" b="0" i="0">
                <a:solidFill>
                  <a:srgbClr val="9A7878"/>
                </a:solidFill>
                <a:latin typeface="Geist Mono"/>
                <a:ea typeface="Geist Mono"/>
                <a:cs typeface="Geist Mono"/>
              </a:rPr>
              <a:t> V</a:t>
            </a:r>
          </a:p>
        </p:txBody>
      </p:sp>
      <p:sp>
        <p:nvSpPr>
          <p:cNvPr id="270" name="TextBox 269"/>
          <p:cNvSpPr txBox="1"/>
          <p:nvPr/>
        </p:nvSpPr>
        <p:spPr>
          <a:xfrm>
            <a:off x="2190750" y="7905750"/>
            <a:ext cx="3810000" cy="285750"/>
          </a:xfrm>
          <a:prstGeom prst="rect">
            <a:avLst/>
          </a:prstGeom>
          <a:noFill/>
        </p:spPr>
        <p:txBody>
          <a:bodyPr wrap="square" lIns="0" rIns="0" tIns="0" bIns="0" anchor="t">
            <a:spAutoFit/>
          </a:bodyPr>
          <a:lstStyle/>
          <a:p>
            <a:pPr algn="l"/>
            <a:r>
              <a:rPr sz="1500" b="0" i="0">
                <a:solidFill>
                  <a:srgbClr val="9A7878"/>
                </a:solidFill>
                <a:latin typeface="Geist"/>
                <a:ea typeface="Geist"/>
                <a:cs typeface="Geist"/>
              </a:rPr>
              <a:t>time →</a:t>
            </a:r>
          </a:p>
        </p:txBody>
      </p:sp>
      <p:sp>
        <p:nvSpPr>
          <p:cNvPr id="271" name="Oval 270"/>
          <p:cNvSpPr/>
          <p:nvPr/>
        </p:nvSpPr>
        <p:spPr>
          <a:xfrm>
            <a:off x="10668000" y="5334000"/>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2" name="TextBox 271"/>
          <p:cNvSpPr txBox="1"/>
          <p:nvPr/>
        </p:nvSpPr>
        <p:spPr>
          <a:xfrm>
            <a:off x="10668000" y="533400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273" name="Oval 272"/>
          <p:cNvSpPr/>
          <p:nvPr/>
        </p:nvSpPr>
        <p:spPr>
          <a:xfrm>
            <a:off x="1962150" y="2781300"/>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4" name="TextBox 273"/>
          <p:cNvSpPr txBox="1"/>
          <p:nvPr/>
        </p:nvSpPr>
        <p:spPr>
          <a:xfrm>
            <a:off x="1962150" y="278130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275" name="Oval 274"/>
          <p:cNvSpPr/>
          <p:nvPr/>
        </p:nvSpPr>
        <p:spPr>
          <a:xfrm>
            <a:off x="1676400" y="7029450"/>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6" name="TextBox 275"/>
          <p:cNvSpPr txBox="1"/>
          <p:nvPr/>
        </p:nvSpPr>
        <p:spPr>
          <a:xfrm>
            <a:off x="1676400" y="702945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277" name="Oval 276"/>
          <p:cNvSpPr/>
          <p:nvPr/>
        </p:nvSpPr>
        <p:spPr>
          <a:xfrm>
            <a:off x="6243638" y="2819400"/>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8" name="TextBox 277"/>
          <p:cNvSpPr txBox="1"/>
          <p:nvPr/>
        </p:nvSpPr>
        <p:spPr>
          <a:xfrm>
            <a:off x="6243638" y="281940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4</a:t>
            </a:r>
          </a:p>
        </p:txBody>
      </p:sp>
      <p:sp>
        <p:nvSpPr>
          <p:cNvPr id="279" name="Oval 278"/>
          <p:cNvSpPr/>
          <p:nvPr/>
        </p:nvSpPr>
        <p:spPr>
          <a:xfrm>
            <a:off x="11906250" y="2857500"/>
            <a:ext cx="495300" cy="4953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0" name="TextBox 279"/>
          <p:cNvSpPr txBox="1"/>
          <p:nvPr/>
        </p:nvSpPr>
        <p:spPr>
          <a:xfrm>
            <a:off x="11906250" y="2857500"/>
            <a:ext cx="495300" cy="4953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281" name="TextBox 280"/>
          <p:cNvSpPr txBox="1"/>
          <p:nvPr/>
        </p:nvSpPr>
        <p:spPr>
          <a:xfrm>
            <a:off x="12592050" y="2819400"/>
            <a:ext cx="4762500" cy="381000"/>
          </a:xfrm>
          <a:prstGeom prst="rect">
            <a:avLst/>
          </a:prstGeom>
          <a:noFill/>
        </p:spPr>
        <p:txBody>
          <a:bodyPr wrap="square" lIns="0" rIns="0" tIns="0" bIns="0" anchor="t">
            <a:spAutoFit/>
          </a:bodyPr>
          <a:lstStyle/>
          <a:p>
            <a:pPr algn="l"/>
            <a:r>
              <a:rPr sz="2400" b="1" i="0">
                <a:solidFill>
                  <a:srgbClr val="F0E8E8"/>
                </a:solidFill>
                <a:latin typeface="Geist"/>
                <a:ea typeface="Geist"/>
                <a:cs typeface="Geist"/>
              </a:rPr>
              <a:t>Two axes</a:t>
            </a:r>
          </a:p>
        </p:txBody>
      </p:sp>
      <p:sp>
        <p:nvSpPr>
          <p:cNvPr id="282" name="TextBox 281"/>
          <p:cNvSpPr txBox="1"/>
          <p:nvPr/>
        </p:nvSpPr>
        <p:spPr>
          <a:xfrm>
            <a:off x="12592050" y="3276600"/>
            <a:ext cx="4762500" cy="762000"/>
          </a:xfrm>
          <a:prstGeom prst="rect">
            <a:avLst/>
          </a:prstGeom>
          <a:noFill/>
        </p:spPr>
        <p:txBody>
          <a:bodyPr wrap="square" lIns="0" rIns="0" tIns="0" bIns="0" anchor="t">
            <a:spAutoFit/>
          </a:bodyPr>
          <a:lstStyle/>
          <a:p>
            <a:pPr algn="l">
              <a:lnSpc>
                <a:spcPct val="130000"/>
              </a:lnSpc>
            </a:pPr>
            <a:r>
              <a:rPr sz="1800" b="0" i="0">
                <a:solidFill>
                  <a:srgbClr val="9A7878"/>
                </a:solidFill>
                <a:latin typeface="Geist"/>
                <a:ea typeface="Geist"/>
                <a:cs typeface="Geist"/>
              </a:rPr>
              <a:t>Left and right each have their own scale</a:t>
            </a:r>
          </a:p>
        </p:txBody>
      </p:sp>
      <p:sp>
        <p:nvSpPr>
          <p:cNvPr id="283" name="Oval 282"/>
          <p:cNvSpPr/>
          <p:nvPr/>
        </p:nvSpPr>
        <p:spPr>
          <a:xfrm>
            <a:off x="11906250" y="4381500"/>
            <a:ext cx="495300" cy="4953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4" name="TextBox 283"/>
          <p:cNvSpPr txBox="1"/>
          <p:nvPr/>
        </p:nvSpPr>
        <p:spPr>
          <a:xfrm>
            <a:off x="11906250" y="4381500"/>
            <a:ext cx="495300" cy="4953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285" name="TextBox 284"/>
          <p:cNvSpPr txBox="1"/>
          <p:nvPr/>
        </p:nvSpPr>
        <p:spPr>
          <a:xfrm>
            <a:off x="12592050" y="4343400"/>
            <a:ext cx="4762500" cy="381000"/>
          </a:xfrm>
          <a:prstGeom prst="rect">
            <a:avLst/>
          </a:prstGeom>
          <a:noFill/>
        </p:spPr>
        <p:txBody>
          <a:bodyPr wrap="square" lIns="0" rIns="0" tIns="0" bIns="0" anchor="t">
            <a:spAutoFit/>
          </a:bodyPr>
          <a:lstStyle/>
          <a:p>
            <a:pPr algn="l"/>
            <a:r>
              <a:rPr sz="2400" b="1" i="0">
                <a:solidFill>
                  <a:srgbClr val="F0E8E8"/>
                </a:solidFill>
                <a:latin typeface="Geist"/>
                <a:ea typeface="Geist"/>
                <a:cs typeface="Geist"/>
              </a:rPr>
              <a:t>Lock the range</a:t>
            </a:r>
          </a:p>
        </p:txBody>
      </p:sp>
      <p:sp>
        <p:nvSpPr>
          <p:cNvPr id="286" name="TextBox 285"/>
          <p:cNvSpPr txBox="1"/>
          <p:nvPr/>
        </p:nvSpPr>
        <p:spPr>
          <a:xfrm>
            <a:off x="12592050" y="4800600"/>
            <a:ext cx="4762500" cy="762000"/>
          </a:xfrm>
          <a:prstGeom prst="rect">
            <a:avLst/>
          </a:prstGeom>
          <a:noFill/>
        </p:spPr>
        <p:txBody>
          <a:bodyPr wrap="square" lIns="0" rIns="0" tIns="0" bIns="0" anchor="t">
            <a:spAutoFit/>
          </a:bodyPr>
          <a:lstStyle/>
          <a:p>
            <a:pPr algn="l">
              <a:lnSpc>
                <a:spcPct val="130000"/>
              </a:lnSpc>
            </a:pPr>
            <a:r>
              <a:rPr sz="1800" b="0" i="0">
                <a:solidFill>
                  <a:srgbClr val="9A7878"/>
                </a:solidFill>
                <a:latin typeface="Geist"/>
                <a:ea typeface="Geist"/>
                <a:cs typeface="Geist"/>
              </a:rPr>
              <a:t>The lock stops the scale from jumping</a:t>
            </a:r>
          </a:p>
        </p:txBody>
      </p:sp>
      <p:sp>
        <p:nvSpPr>
          <p:cNvPr id="287" name="Oval 286"/>
          <p:cNvSpPr/>
          <p:nvPr/>
        </p:nvSpPr>
        <p:spPr>
          <a:xfrm>
            <a:off x="11906250" y="5905500"/>
            <a:ext cx="495300" cy="4953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8" name="TextBox 287"/>
          <p:cNvSpPr txBox="1"/>
          <p:nvPr/>
        </p:nvSpPr>
        <p:spPr>
          <a:xfrm>
            <a:off x="11906250" y="5905500"/>
            <a:ext cx="495300" cy="4953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289" name="TextBox 288"/>
          <p:cNvSpPr txBox="1"/>
          <p:nvPr/>
        </p:nvSpPr>
        <p:spPr>
          <a:xfrm>
            <a:off x="12592050" y="5867400"/>
            <a:ext cx="4762500" cy="381000"/>
          </a:xfrm>
          <a:prstGeom prst="rect">
            <a:avLst/>
          </a:prstGeom>
          <a:noFill/>
        </p:spPr>
        <p:txBody>
          <a:bodyPr wrap="square" lIns="0" rIns="0" tIns="0" bIns="0" anchor="t">
            <a:spAutoFit/>
          </a:bodyPr>
          <a:lstStyle/>
          <a:p>
            <a:pPr algn="l"/>
            <a:r>
              <a:rPr sz="2400" b="1" i="0">
                <a:solidFill>
                  <a:srgbClr val="F0E8E8"/>
                </a:solidFill>
                <a:latin typeface="Geist"/>
                <a:ea typeface="Geist"/>
                <a:cs typeface="Geist"/>
              </a:rPr>
              <a:t>Discrete fields</a:t>
            </a:r>
          </a:p>
        </p:txBody>
      </p:sp>
      <p:sp>
        <p:nvSpPr>
          <p:cNvPr id="290" name="TextBox 289"/>
          <p:cNvSpPr txBox="1"/>
          <p:nvPr/>
        </p:nvSpPr>
        <p:spPr>
          <a:xfrm>
            <a:off x="12592050" y="6324600"/>
            <a:ext cx="4762500" cy="762000"/>
          </a:xfrm>
          <a:prstGeom prst="rect">
            <a:avLst/>
          </a:prstGeom>
          <a:noFill/>
        </p:spPr>
        <p:txBody>
          <a:bodyPr wrap="square" lIns="0" rIns="0" tIns="0" bIns="0" anchor="t">
            <a:spAutoFit/>
          </a:bodyPr>
          <a:lstStyle/>
          <a:p>
            <a:pPr algn="l">
              <a:lnSpc>
                <a:spcPct val="130000"/>
              </a:lnSpc>
            </a:pPr>
            <a:r>
              <a:rPr sz="1800" b="0" i="0">
                <a:solidFill>
                  <a:srgbClr val="9A7878"/>
                </a:solidFill>
                <a:latin typeface="Geist"/>
                <a:ea typeface="Geist"/>
                <a:cs typeface="Geist"/>
              </a:rPr>
              <a:t>true/false and text as colored bands</a:t>
            </a:r>
          </a:p>
        </p:txBody>
      </p:sp>
      <p:sp>
        <p:nvSpPr>
          <p:cNvPr id="291" name="Oval 290"/>
          <p:cNvSpPr/>
          <p:nvPr/>
        </p:nvSpPr>
        <p:spPr>
          <a:xfrm>
            <a:off x="11906250" y="7429500"/>
            <a:ext cx="495300" cy="4953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2" name="TextBox 291"/>
          <p:cNvSpPr txBox="1"/>
          <p:nvPr/>
        </p:nvSpPr>
        <p:spPr>
          <a:xfrm>
            <a:off x="11906250" y="7429500"/>
            <a:ext cx="495300" cy="4953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4</a:t>
            </a:r>
          </a:p>
        </p:txBody>
      </p:sp>
      <p:sp>
        <p:nvSpPr>
          <p:cNvPr id="293" name="TextBox 292"/>
          <p:cNvSpPr txBox="1"/>
          <p:nvPr/>
        </p:nvSpPr>
        <p:spPr>
          <a:xfrm>
            <a:off x="12592050" y="7391400"/>
            <a:ext cx="4762500" cy="381000"/>
          </a:xfrm>
          <a:prstGeom prst="rect">
            <a:avLst/>
          </a:prstGeom>
          <a:noFill/>
        </p:spPr>
        <p:txBody>
          <a:bodyPr wrap="square" lIns="0" rIns="0" tIns="0" bIns="0" anchor="t">
            <a:spAutoFit/>
          </a:bodyPr>
          <a:lstStyle/>
          <a:p>
            <a:pPr algn="l"/>
            <a:r>
              <a:rPr sz="2400" b="1" i="0">
                <a:solidFill>
                  <a:srgbClr val="F0E8E8"/>
                </a:solidFill>
                <a:latin typeface="Geist"/>
                <a:ea typeface="Geist"/>
                <a:cs typeface="Geist"/>
              </a:rPr>
              <a:t>Hover and zoom</a:t>
            </a:r>
          </a:p>
        </p:txBody>
      </p:sp>
      <p:sp>
        <p:nvSpPr>
          <p:cNvPr id="294" name="TextBox 293"/>
          <p:cNvSpPr txBox="1"/>
          <p:nvPr/>
        </p:nvSpPr>
        <p:spPr>
          <a:xfrm>
            <a:off x="12592050" y="7848600"/>
            <a:ext cx="4762500" cy="762000"/>
          </a:xfrm>
          <a:prstGeom prst="rect">
            <a:avLst/>
          </a:prstGeom>
          <a:noFill/>
        </p:spPr>
        <p:txBody>
          <a:bodyPr wrap="square" lIns="0" rIns="0" tIns="0" bIns="0" anchor="t">
            <a:spAutoFit/>
          </a:bodyPr>
          <a:lstStyle/>
          <a:p>
            <a:pPr algn="l">
              <a:lnSpc>
                <a:spcPct val="130000"/>
              </a:lnSpc>
            </a:pPr>
            <a:r>
              <a:rPr sz="1800" b="0" i="0">
                <a:solidFill>
                  <a:srgbClr val="9A7878"/>
                </a:solidFill>
                <a:latin typeface="Geist"/>
                <a:ea typeface="Geist"/>
                <a:cs typeface="Geist"/>
              </a:rPr>
              <a:t>Read exact values; scroll to zoom in time</a:t>
            </a:r>
          </a:p>
        </p:txBody>
      </p:sp>
      <p:pic>
        <p:nvPicPr>
          <p:cNvPr id="295" name="Picture 294" descr="mw_logo_small.png"/>
          <p:cNvPicPr>
            <a:picLocks noChangeAspect="1"/>
          </p:cNvPicPr>
          <p:nvPr/>
        </p:nvPicPr>
        <p:blipFill>
          <a:blip r:embed="rId4"/>
          <a:stretch>
            <a:fillRect/>
          </a:stretch>
        </p:blipFill>
        <p:spPr>
          <a:xfrm>
            <a:off x="914400" y="9410700"/>
            <a:ext cx="583564" cy="495300"/>
          </a:xfrm>
          <a:prstGeom prst="rect">
            <a:avLst/>
          </a:prstGeom>
        </p:spPr>
      </p:pic>
      <p:sp>
        <p:nvSpPr>
          <p:cNvPr id="296" name="TextBox 295"/>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ADVANTAGESCOPE</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Differentiate: how fast is it changing?</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762250"/>
            <a:ext cx="16459200" cy="6286500"/>
          </a:xfrm>
          <a:prstGeom prst="roundRect">
            <a:avLst>
              <a:gd name="adj" fmla="val 2424"/>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2857500" y="2952750"/>
            <a:ext cx="5356860" cy="5905500"/>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3048000" y="3028950"/>
            <a:ext cx="4975860" cy="342900"/>
          </a:xfrm>
          <a:prstGeom prst="rect">
            <a:avLst/>
          </a:prstGeom>
          <a:noFill/>
        </p:spPr>
        <p:txBody>
          <a:bodyPr wrap="square" lIns="0" rIns="0" tIns="0" bIns="0" anchor="t">
            <a:spAutoFit/>
          </a:bodyPr>
          <a:lstStyle/>
          <a:p>
            <a:pPr algn="l"/>
            <a:r>
              <a:rPr sz="1500" b="1" i="0" spc="130">
                <a:solidFill>
                  <a:srgbClr val="CC2200"/>
                </a:solidFill>
                <a:latin typeface="Geist"/>
                <a:ea typeface="Geist"/>
                <a:cs typeface="Geist"/>
              </a:rPr>
              <a:t>SPINNING UP</a:t>
            </a:r>
          </a:p>
        </p:txBody>
      </p:sp>
      <p:sp>
        <p:nvSpPr>
          <p:cNvPr id="8" name="TextBox 7"/>
          <p:cNvSpPr txBox="1"/>
          <p:nvPr/>
        </p:nvSpPr>
        <p:spPr>
          <a:xfrm>
            <a:off x="3048000" y="3352800"/>
            <a:ext cx="4975860" cy="342900"/>
          </a:xfrm>
          <a:prstGeom prst="rect">
            <a:avLst/>
          </a:prstGeom>
          <a:noFill/>
        </p:spPr>
        <p:txBody>
          <a:bodyPr wrap="square" lIns="0" rIns="0" tIns="0" bIns="0" anchor="t">
            <a:spAutoFit/>
          </a:bodyPr>
          <a:lstStyle/>
          <a:p>
            <a:pPr algn="l"/>
            <a:r>
              <a:rPr sz="1650" b="0" i="0">
                <a:solidFill>
                  <a:srgbClr val="9A7878"/>
                </a:solidFill>
                <a:latin typeface="Geist"/>
                <a:ea typeface="Geist"/>
                <a:cs typeface="Geist"/>
              </a:rPr>
              <a:t>derivative is big</a:t>
            </a:r>
          </a:p>
        </p:txBody>
      </p:sp>
      <p:sp>
        <p:nvSpPr>
          <p:cNvPr id="9" name="TextBox 8"/>
          <p:cNvSpPr txBox="1"/>
          <p:nvPr/>
        </p:nvSpPr>
        <p:spPr>
          <a:xfrm>
            <a:off x="8404860" y="3028950"/>
            <a:ext cx="3002280" cy="342900"/>
          </a:xfrm>
          <a:prstGeom prst="rect">
            <a:avLst/>
          </a:prstGeom>
          <a:noFill/>
        </p:spPr>
        <p:txBody>
          <a:bodyPr wrap="square" lIns="0" rIns="0" tIns="0" bIns="0" anchor="t">
            <a:spAutoFit/>
          </a:bodyPr>
          <a:lstStyle/>
          <a:p>
            <a:pPr algn="l"/>
            <a:r>
              <a:rPr sz="1500" b="1" i="0" spc="130">
                <a:solidFill>
                  <a:srgbClr val="9A7878"/>
                </a:solidFill>
                <a:latin typeface="Geist"/>
                <a:ea typeface="Geist"/>
                <a:cs typeface="Geist"/>
              </a:rPr>
              <a:t>HOLDING SPEED</a:t>
            </a:r>
          </a:p>
        </p:txBody>
      </p:sp>
      <p:sp>
        <p:nvSpPr>
          <p:cNvPr id="10" name="TextBox 9"/>
          <p:cNvSpPr txBox="1"/>
          <p:nvPr/>
        </p:nvSpPr>
        <p:spPr>
          <a:xfrm>
            <a:off x="8404860" y="3352800"/>
            <a:ext cx="3002280" cy="342900"/>
          </a:xfrm>
          <a:prstGeom prst="rect">
            <a:avLst/>
          </a:prstGeom>
          <a:noFill/>
        </p:spPr>
        <p:txBody>
          <a:bodyPr wrap="square" lIns="0" rIns="0" tIns="0" bIns="0" anchor="t">
            <a:spAutoFit/>
          </a:bodyPr>
          <a:lstStyle/>
          <a:p>
            <a:pPr algn="l"/>
            <a:r>
              <a:rPr sz="1650" b="0" i="0">
                <a:solidFill>
                  <a:srgbClr val="9A7878"/>
                </a:solidFill>
                <a:latin typeface="Geist"/>
                <a:ea typeface="Geist"/>
                <a:cs typeface="Geist"/>
              </a:rPr>
              <a:t>derivative is zero</a:t>
            </a:r>
          </a:p>
        </p:txBody>
      </p:sp>
      <p:sp>
        <p:nvSpPr>
          <p:cNvPr id="11" name="TextBox 10"/>
          <p:cNvSpPr txBox="1"/>
          <p:nvPr/>
        </p:nvSpPr>
        <p:spPr>
          <a:xfrm>
            <a:off x="11788140" y="3028950"/>
            <a:ext cx="4975860" cy="342900"/>
          </a:xfrm>
          <a:prstGeom prst="rect">
            <a:avLst/>
          </a:prstGeom>
          <a:noFill/>
        </p:spPr>
        <p:txBody>
          <a:bodyPr wrap="square" lIns="0" rIns="0" tIns="0" bIns="0" anchor="t">
            <a:spAutoFit/>
          </a:bodyPr>
          <a:lstStyle/>
          <a:p>
            <a:pPr algn="l"/>
            <a:r>
              <a:rPr sz="1500" b="1" i="0" spc="130">
                <a:solidFill>
                  <a:srgbClr val="9A7878"/>
                </a:solidFill>
                <a:latin typeface="Geist"/>
                <a:ea typeface="Geist"/>
                <a:cs typeface="Geist"/>
              </a:rPr>
              <a:t>SLOWING DOWN</a:t>
            </a:r>
          </a:p>
        </p:txBody>
      </p:sp>
      <p:sp>
        <p:nvSpPr>
          <p:cNvPr id="12" name="TextBox 11"/>
          <p:cNvSpPr txBox="1"/>
          <p:nvPr/>
        </p:nvSpPr>
        <p:spPr>
          <a:xfrm>
            <a:off x="11788140" y="3352800"/>
            <a:ext cx="4975860" cy="342900"/>
          </a:xfrm>
          <a:prstGeom prst="rect">
            <a:avLst/>
          </a:prstGeom>
          <a:noFill/>
        </p:spPr>
        <p:txBody>
          <a:bodyPr wrap="square" lIns="0" rIns="0" tIns="0" bIns="0" anchor="t">
            <a:spAutoFit/>
          </a:bodyPr>
          <a:lstStyle/>
          <a:p>
            <a:pPr algn="l"/>
            <a:r>
              <a:rPr sz="1650" b="0" i="0">
                <a:solidFill>
                  <a:srgbClr val="9A7878"/>
                </a:solidFill>
                <a:latin typeface="Geist"/>
                <a:ea typeface="Geist"/>
                <a:cs typeface="Geist"/>
              </a:rPr>
              <a:t>derivative is negative</a:t>
            </a:r>
          </a:p>
        </p:txBody>
      </p:sp>
      <p:cxnSp>
        <p:nvCxnSpPr>
          <p:cNvPr id="13" name="Connector 12"/>
          <p:cNvCxnSpPr/>
          <p:nvPr/>
        </p:nvCxnSpPr>
        <p:spPr>
          <a:xfrm>
            <a:off x="8214360" y="2952750"/>
            <a:ext cx="0" cy="5905500"/>
          </a:xfrm>
          <a:prstGeom prst="line">
            <a:avLst/>
          </a:prstGeom>
          <a:ln w="19050">
            <a:solidFill>
              <a:srgbClr val="2A1A1A"/>
            </a:solidFill>
            <a:prstDash val="dash"/>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1597640" y="2952750"/>
            <a:ext cx="0" cy="5905500"/>
          </a:xfrm>
          <a:prstGeom prst="line">
            <a:avLst/>
          </a:prstGeom>
          <a:ln w="19050">
            <a:solidFill>
              <a:srgbClr val="2A1A1A"/>
            </a:solidFill>
            <a:prstDash val="dash"/>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V="1">
            <a:off x="2857500" y="5874291"/>
            <a:ext cx="176212" cy="8557"/>
          </a:xfrm>
          <a:prstGeom prst="line">
            <a:avLst/>
          </a:prstGeom>
          <a:ln w="47625">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V="1">
            <a:off x="3033712" y="5862576"/>
            <a:ext cx="176213" cy="11715"/>
          </a:xfrm>
          <a:prstGeom prst="line">
            <a:avLst/>
          </a:prstGeom>
          <a:ln w="47625">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V="1">
            <a:off x="3209925" y="5846601"/>
            <a:ext cx="176213" cy="15975"/>
          </a:xfrm>
          <a:prstGeom prst="line">
            <a:avLst/>
          </a:prstGeom>
          <a:ln w="47625">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V="1">
            <a:off x="3386138" y="5824938"/>
            <a:ext cx="176212" cy="21663"/>
          </a:xfrm>
          <a:prstGeom prst="line">
            <a:avLst/>
          </a:prstGeom>
          <a:ln w="47625">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V="1">
            <a:off x="3562350" y="5795782"/>
            <a:ext cx="176212" cy="29156"/>
          </a:xfrm>
          <a:prstGeom prst="line">
            <a:avLst/>
          </a:prstGeom>
          <a:ln w="47625">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V="1">
            <a:off x="3738562" y="5756933"/>
            <a:ext cx="176213" cy="38849"/>
          </a:xfrm>
          <a:prstGeom prst="line">
            <a:avLst/>
          </a:prstGeom>
          <a:ln w="47625">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V="1">
            <a:off x="3914775" y="5705858"/>
            <a:ext cx="176213" cy="51075"/>
          </a:xfrm>
          <a:prstGeom prst="line">
            <a:avLst/>
          </a:prstGeom>
          <a:ln w="47625">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V="1">
            <a:off x="4090988" y="5639880"/>
            <a:ext cx="176212" cy="65978"/>
          </a:xfrm>
          <a:prstGeom prst="line">
            <a:avLst/>
          </a:prstGeom>
          <a:ln w="47625">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V="1">
            <a:off x="4267200" y="5556558"/>
            <a:ext cx="176212" cy="83322"/>
          </a:xfrm>
          <a:prstGeom prst="line">
            <a:avLst/>
          </a:prstGeom>
          <a:ln w="47625">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V="1">
            <a:off x="4443412" y="5454293"/>
            <a:ext cx="176213" cy="102265"/>
          </a:xfrm>
          <a:prstGeom prst="line">
            <a:avLst/>
          </a:prstGeom>
          <a:ln w="47625">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V="1">
            <a:off x="4619625" y="5333083"/>
            <a:ext cx="176213" cy="121210"/>
          </a:xfrm>
          <a:prstGeom prst="line">
            <a:avLst/>
          </a:prstGeom>
          <a:ln w="47625">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V="1">
            <a:off x="4795838" y="5195220"/>
            <a:ext cx="176212" cy="137863"/>
          </a:xfrm>
          <a:prstGeom prst="line">
            <a:avLst/>
          </a:prstGeom>
          <a:ln w="47625">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V="1">
            <a:off x="4972050" y="5045580"/>
            <a:ext cx="176212" cy="149640"/>
          </a:xfrm>
          <a:prstGeom prst="line">
            <a:avLst/>
          </a:prstGeom>
          <a:ln w="47625">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V="1">
            <a:off x="5148262" y="4891180"/>
            <a:ext cx="176213" cy="154400"/>
          </a:xfrm>
          <a:prstGeom prst="line">
            <a:avLst/>
          </a:prstGeom>
          <a:ln w="47625">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V="1">
            <a:off x="5324475" y="4739976"/>
            <a:ext cx="176213" cy="151204"/>
          </a:xfrm>
          <a:prstGeom prst="line">
            <a:avLst/>
          </a:prstGeom>
          <a:ln w="47625">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V="1">
            <a:off x="5500688" y="4599289"/>
            <a:ext cx="176212" cy="140687"/>
          </a:xfrm>
          <a:prstGeom prst="line">
            <a:avLst/>
          </a:prstGeom>
          <a:ln w="47625">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V="1">
            <a:off x="5676900" y="4474484"/>
            <a:ext cx="176212" cy="124805"/>
          </a:xfrm>
          <a:prstGeom prst="line">
            <a:avLst/>
          </a:prstGeom>
          <a:ln w="47625">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V="1">
            <a:off x="5853112" y="4368368"/>
            <a:ext cx="176213" cy="106116"/>
          </a:xfrm>
          <a:prstGeom prst="line">
            <a:avLst/>
          </a:prstGeom>
          <a:ln w="47625">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V="1">
            <a:off x="6029325" y="4281350"/>
            <a:ext cx="176213" cy="87018"/>
          </a:xfrm>
          <a:prstGeom prst="line">
            <a:avLst/>
          </a:prstGeom>
          <a:ln w="47625">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V="1">
            <a:off x="6205538" y="4212087"/>
            <a:ext cx="176212" cy="69263"/>
          </a:xfrm>
          <a:prstGeom prst="line">
            <a:avLst/>
          </a:prstGeom>
          <a:ln w="47625">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V="1">
            <a:off x="6381750" y="4158252"/>
            <a:ext cx="176212" cy="53835"/>
          </a:xfrm>
          <a:prstGeom prst="line">
            <a:avLst/>
          </a:prstGeom>
          <a:ln w="47625">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V="1">
            <a:off x="6557962" y="4117178"/>
            <a:ext cx="176213" cy="41074"/>
          </a:xfrm>
          <a:prstGeom prst="line">
            <a:avLst/>
          </a:prstGeom>
          <a:ln w="47625">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V="1">
            <a:off x="6734175" y="4086283"/>
            <a:ext cx="176213" cy="30895"/>
          </a:xfrm>
          <a:prstGeom prst="line">
            <a:avLst/>
          </a:prstGeom>
          <a:ln w="47625">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V="1">
            <a:off x="6910388" y="4063294"/>
            <a:ext cx="176212" cy="22989"/>
          </a:xfrm>
          <a:prstGeom prst="line">
            <a:avLst/>
          </a:prstGeom>
          <a:ln w="47625">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V="1">
            <a:off x="7086600" y="4046327"/>
            <a:ext cx="176212" cy="16967"/>
          </a:xfrm>
          <a:prstGeom prst="line">
            <a:avLst/>
          </a:prstGeom>
          <a:ln w="47625">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V="1">
            <a:off x="7262812" y="4033883"/>
            <a:ext cx="176213" cy="12444"/>
          </a:xfrm>
          <a:prstGeom prst="line">
            <a:avLst/>
          </a:prstGeom>
          <a:ln w="47625">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V="1">
            <a:off x="7439025" y="4024801"/>
            <a:ext cx="176213" cy="9082"/>
          </a:xfrm>
          <a:prstGeom prst="line">
            <a:avLst/>
          </a:prstGeom>
          <a:ln w="47625">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V="1">
            <a:off x="7615238" y="4018202"/>
            <a:ext cx="176212" cy="6599"/>
          </a:xfrm>
          <a:prstGeom prst="line">
            <a:avLst/>
          </a:prstGeom>
          <a:ln w="47625">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V="1">
            <a:off x="7791450" y="4013428"/>
            <a:ext cx="176212" cy="4774"/>
          </a:xfrm>
          <a:prstGeom prst="line">
            <a:avLst/>
          </a:prstGeom>
          <a:ln w="47625">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V="1">
            <a:off x="7967662" y="4009993"/>
            <a:ext cx="176213" cy="3435"/>
          </a:xfrm>
          <a:prstGeom prst="line">
            <a:avLst/>
          </a:prstGeom>
          <a:ln w="47625">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V="1">
            <a:off x="8143875" y="4007542"/>
            <a:ext cx="176213" cy="2451"/>
          </a:xfrm>
          <a:prstGeom prst="line">
            <a:avLst/>
          </a:prstGeom>
          <a:ln w="47625">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V="1">
            <a:off x="8320088" y="4005816"/>
            <a:ext cx="176212" cy="1726"/>
          </a:xfrm>
          <a:prstGeom prst="line">
            <a:avLst/>
          </a:prstGeom>
          <a:ln w="47625">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V="1">
            <a:off x="8496300" y="4004631"/>
            <a:ext cx="176212" cy="1185"/>
          </a:xfrm>
          <a:prstGeom prst="line">
            <a:avLst/>
          </a:prstGeom>
          <a:ln w="47625">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V="1">
            <a:off x="8672512" y="4003854"/>
            <a:ext cx="176213" cy="777"/>
          </a:xfrm>
          <a:prstGeom prst="line">
            <a:avLst/>
          </a:prstGeom>
          <a:ln w="47625">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V="1">
            <a:off x="8848725" y="4003397"/>
            <a:ext cx="176213" cy="457"/>
          </a:xfrm>
          <a:prstGeom prst="line">
            <a:avLst/>
          </a:prstGeom>
          <a:ln w="47625">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V="1">
            <a:off x="9024938" y="4003200"/>
            <a:ext cx="176212" cy="197"/>
          </a:xfrm>
          <a:prstGeom prst="line">
            <a:avLst/>
          </a:prstGeom>
          <a:ln w="47625">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9201150" y="4003200"/>
            <a:ext cx="176212" cy="30"/>
          </a:xfrm>
          <a:prstGeom prst="line">
            <a:avLst/>
          </a:prstGeom>
          <a:ln w="47625">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9377362" y="4003230"/>
            <a:ext cx="176213" cy="243"/>
          </a:xfrm>
          <a:prstGeom prst="line">
            <a:avLst/>
          </a:prstGeom>
          <a:ln w="47625">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9553575" y="4003473"/>
            <a:ext cx="176213" cy="458"/>
          </a:xfrm>
          <a:prstGeom prst="line">
            <a:avLst/>
          </a:prstGeom>
          <a:ln w="47625">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9729788" y="4003931"/>
            <a:ext cx="176212" cy="695"/>
          </a:xfrm>
          <a:prstGeom prst="line">
            <a:avLst/>
          </a:prstGeom>
          <a:ln w="47625">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9906000" y="4004626"/>
            <a:ext cx="176212" cy="968"/>
          </a:xfrm>
          <a:prstGeom prst="line">
            <a:avLst/>
          </a:prstGeom>
          <a:ln w="47625">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a:off x="10082212" y="4005594"/>
            <a:ext cx="176213" cy="1296"/>
          </a:xfrm>
          <a:prstGeom prst="line">
            <a:avLst/>
          </a:prstGeom>
          <a:ln w="47625">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10258425" y="4006890"/>
            <a:ext cx="176213" cy="1700"/>
          </a:xfrm>
          <a:prstGeom prst="line">
            <a:avLst/>
          </a:prstGeom>
          <a:ln w="47625">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a:off x="10434638" y="4008590"/>
            <a:ext cx="176212" cy="2207"/>
          </a:xfrm>
          <a:prstGeom prst="line">
            <a:avLst/>
          </a:prstGeom>
          <a:ln w="47625">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a:off x="10610850" y="4010797"/>
            <a:ext cx="176212" cy="2846"/>
          </a:xfrm>
          <a:prstGeom prst="line">
            <a:avLst/>
          </a:prstGeom>
          <a:ln w="47625">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a:off x="10787062" y="4013643"/>
            <a:ext cx="176213" cy="3652"/>
          </a:xfrm>
          <a:prstGeom prst="line">
            <a:avLst/>
          </a:prstGeom>
          <a:ln w="47625">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a:off x="10963275" y="4017295"/>
            <a:ext cx="176213" cy="4675"/>
          </a:xfrm>
          <a:prstGeom prst="line">
            <a:avLst/>
          </a:prstGeom>
          <a:ln w="47625">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a:off x="11139488" y="4021970"/>
            <a:ext cx="176212" cy="5968"/>
          </a:xfrm>
          <a:prstGeom prst="line">
            <a:avLst/>
          </a:prstGeom>
          <a:ln w="47625">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a:off x="11315700" y="4027938"/>
            <a:ext cx="176212" cy="7599"/>
          </a:xfrm>
          <a:prstGeom prst="line">
            <a:avLst/>
          </a:prstGeom>
          <a:ln w="47625">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a:off x="11491912" y="4035537"/>
            <a:ext cx="176213" cy="9649"/>
          </a:xfrm>
          <a:prstGeom prst="line">
            <a:avLst/>
          </a:prstGeom>
          <a:ln w="47625">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a:off x="11668125" y="4045186"/>
            <a:ext cx="176213" cy="12210"/>
          </a:xfrm>
          <a:prstGeom prst="line">
            <a:avLst/>
          </a:prstGeom>
          <a:ln w="47625">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a:off x="11844338" y="4057396"/>
            <a:ext cx="176212" cy="15388"/>
          </a:xfrm>
          <a:prstGeom prst="line">
            <a:avLst/>
          </a:prstGeom>
          <a:ln w="47625">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a:off x="12020550" y="4072784"/>
            <a:ext cx="176212" cy="19293"/>
          </a:xfrm>
          <a:prstGeom prst="line">
            <a:avLst/>
          </a:prstGeom>
          <a:ln w="47625">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a:off x="12196762" y="4092077"/>
            <a:ext cx="176213" cy="24035"/>
          </a:xfrm>
          <a:prstGeom prst="line">
            <a:avLst/>
          </a:prstGeom>
          <a:ln w="47625">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a:off x="12372975" y="4116112"/>
            <a:ext cx="176213" cy="29703"/>
          </a:xfrm>
          <a:prstGeom prst="line">
            <a:avLst/>
          </a:prstGeom>
          <a:ln w="47625">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a:off x="12549188" y="4145815"/>
            <a:ext cx="176212" cy="36352"/>
          </a:xfrm>
          <a:prstGeom prst="line">
            <a:avLst/>
          </a:prstGeom>
          <a:ln w="47625">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a:off x="12725400" y="4182167"/>
            <a:ext cx="176212" cy="43958"/>
          </a:xfrm>
          <a:prstGeom prst="line">
            <a:avLst/>
          </a:prstGeom>
          <a:ln w="47625">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a:off x="12901612" y="4226125"/>
            <a:ext cx="176213" cy="52393"/>
          </a:xfrm>
          <a:prstGeom prst="line">
            <a:avLst/>
          </a:prstGeom>
          <a:ln w="47625">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a:off x="13077825" y="4278518"/>
            <a:ext cx="176213" cy="61378"/>
          </a:xfrm>
          <a:prstGeom prst="line">
            <a:avLst/>
          </a:prstGeom>
          <a:ln w="47625">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a:off x="13254038" y="4339896"/>
            <a:ext cx="176212" cy="70471"/>
          </a:xfrm>
          <a:prstGeom prst="line">
            <a:avLst/>
          </a:prstGeom>
          <a:ln w="47625">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a:off x="13430250" y="4410367"/>
            <a:ext cx="176212" cy="79065"/>
          </a:xfrm>
          <a:prstGeom prst="line">
            <a:avLst/>
          </a:prstGeom>
          <a:ln w="47625">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a:off x="13606462" y="4489432"/>
            <a:ext cx="176213" cy="86440"/>
          </a:xfrm>
          <a:prstGeom prst="line">
            <a:avLst/>
          </a:prstGeom>
          <a:ln w="47625">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a:off x="13782675" y="4575872"/>
            <a:ext cx="176213" cy="91871"/>
          </a:xfrm>
          <a:prstGeom prst="line">
            <a:avLst/>
          </a:prstGeom>
          <a:ln w="47625">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a:off x="13958888" y="4667743"/>
            <a:ext cx="176212" cy="94757"/>
          </a:xfrm>
          <a:prstGeom prst="line">
            <a:avLst/>
          </a:prstGeom>
          <a:ln w="47625">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a:off x="14135100" y="4762500"/>
            <a:ext cx="176212" cy="94757"/>
          </a:xfrm>
          <a:prstGeom prst="line">
            <a:avLst/>
          </a:prstGeom>
          <a:ln w="47625">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a:off x="14311312" y="4857257"/>
            <a:ext cx="176213" cy="91871"/>
          </a:xfrm>
          <a:prstGeom prst="line">
            <a:avLst/>
          </a:prstGeom>
          <a:ln w="47625">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a:off x="14487525" y="4949128"/>
            <a:ext cx="176213" cy="86440"/>
          </a:xfrm>
          <a:prstGeom prst="line">
            <a:avLst/>
          </a:prstGeom>
          <a:ln w="47625">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a:off x="14663738" y="5035568"/>
            <a:ext cx="176212" cy="79065"/>
          </a:xfrm>
          <a:prstGeom prst="line">
            <a:avLst/>
          </a:prstGeom>
          <a:ln w="47625">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a:off x="14839950" y="5114633"/>
            <a:ext cx="176212" cy="70472"/>
          </a:xfrm>
          <a:prstGeom prst="line">
            <a:avLst/>
          </a:prstGeom>
          <a:ln w="47625">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a:off x="15016162" y="5185105"/>
            <a:ext cx="176213" cy="61379"/>
          </a:xfrm>
          <a:prstGeom prst="line">
            <a:avLst/>
          </a:prstGeom>
          <a:ln w="47625">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a:off x="15192375" y="5246484"/>
            <a:ext cx="176213" cy="52392"/>
          </a:xfrm>
          <a:prstGeom prst="line">
            <a:avLst/>
          </a:prstGeom>
          <a:ln w="47625">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a:off x="15368588" y="5298876"/>
            <a:ext cx="176212" cy="43959"/>
          </a:xfrm>
          <a:prstGeom prst="line">
            <a:avLst/>
          </a:prstGeom>
          <a:ln w="47625">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a:off x="15544800" y="5342835"/>
            <a:ext cx="176212" cy="36352"/>
          </a:xfrm>
          <a:prstGeom prst="line">
            <a:avLst/>
          </a:prstGeom>
          <a:ln w="47625">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a:off x="15721012" y="5379187"/>
            <a:ext cx="176213" cy="29705"/>
          </a:xfrm>
          <a:prstGeom prst="line">
            <a:avLst/>
          </a:prstGeom>
          <a:ln w="47625">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a:off x="15897225" y="5408892"/>
            <a:ext cx="176213" cy="24036"/>
          </a:xfrm>
          <a:prstGeom prst="line">
            <a:avLst/>
          </a:prstGeom>
          <a:ln w="47625">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a:off x="16073438" y="5432928"/>
            <a:ext cx="176212" cy="19295"/>
          </a:xfrm>
          <a:prstGeom prst="line">
            <a:avLst/>
          </a:prstGeom>
          <a:ln w="47625">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a:off x="16249650" y="5452223"/>
            <a:ext cx="176212" cy="15391"/>
          </a:xfrm>
          <a:prstGeom prst="line">
            <a:avLst/>
          </a:prstGeom>
          <a:ln w="47625">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a:off x="16425862" y="5467614"/>
            <a:ext cx="176213" cy="12214"/>
          </a:xfrm>
          <a:prstGeom prst="line">
            <a:avLst/>
          </a:prstGeom>
          <a:ln w="47625">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a:off x="16602075" y="5479828"/>
            <a:ext cx="176213" cy="9654"/>
          </a:xfrm>
          <a:prstGeom prst="line">
            <a:avLst/>
          </a:prstGeom>
          <a:ln w="47625">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a:off x="16778288" y="5489482"/>
            <a:ext cx="176212" cy="7607"/>
          </a:xfrm>
          <a:prstGeom prst="line">
            <a:avLst/>
          </a:prstGeom>
          <a:ln w="47625">
            <a:solidFill>
              <a:srgbClr val="F0E8E8"/>
            </a:solidFill>
          </a:ln>
        </p:spPr>
        <p:style>
          <a:lnRef idx="2">
            <a:schemeClr val="accent1"/>
          </a:lnRef>
          <a:fillRef idx="0">
            <a:schemeClr val="accent1"/>
          </a:fillRef>
          <a:effectRef idx="1">
            <a:schemeClr val="accent1"/>
          </a:effectRef>
          <a:fontRef idx="minor">
            <a:schemeClr val="tx1"/>
          </a:fontRef>
        </p:style>
      </p:cxnSp>
      <p:sp>
        <p:nvSpPr>
          <p:cNvPr id="95" name="Oval 94"/>
          <p:cNvSpPr/>
          <p:nvPr/>
        </p:nvSpPr>
        <p:spPr>
          <a:xfrm>
            <a:off x="3009900" y="5850478"/>
            <a:ext cx="47625" cy="47625"/>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Oval 95"/>
          <p:cNvSpPr/>
          <p:nvPr/>
        </p:nvSpPr>
        <p:spPr>
          <a:xfrm>
            <a:off x="3186112" y="5838763"/>
            <a:ext cx="47625" cy="47625"/>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Oval 96"/>
          <p:cNvSpPr/>
          <p:nvPr/>
        </p:nvSpPr>
        <p:spPr>
          <a:xfrm>
            <a:off x="3362325" y="5822788"/>
            <a:ext cx="47625" cy="47625"/>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Oval 97"/>
          <p:cNvSpPr/>
          <p:nvPr/>
        </p:nvSpPr>
        <p:spPr>
          <a:xfrm>
            <a:off x="3538538" y="5801126"/>
            <a:ext cx="47625" cy="47625"/>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Oval 98"/>
          <p:cNvSpPr/>
          <p:nvPr/>
        </p:nvSpPr>
        <p:spPr>
          <a:xfrm>
            <a:off x="3714750" y="5771970"/>
            <a:ext cx="47625" cy="47625"/>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Oval 99"/>
          <p:cNvSpPr/>
          <p:nvPr/>
        </p:nvSpPr>
        <p:spPr>
          <a:xfrm>
            <a:off x="3890962" y="5733121"/>
            <a:ext cx="47625" cy="47625"/>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Oval 100"/>
          <p:cNvSpPr/>
          <p:nvPr/>
        </p:nvSpPr>
        <p:spPr>
          <a:xfrm>
            <a:off x="4067175" y="5682046"/>
            <a:ext cx="47625" cy="47625"/>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Oval 101"/>
          <p:cNvSpPr/>
          <p:nvPr/>
        </p:nvSpPr>
        <p:spPr>
          <a:xfrm>
            <a:off x="4243388" y="5616067"/>
            <a:ext cx="47625" cy="47625"/>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Oval 102"/>
          <p:cNvSpPr/>
          <p:nvPr/>
        </p:nvSpPr>
        <p:spPr>
          <a:xfrm>
            <a:off x="4419600" y="5532746"/>
            <a:ext cx="47625" cy="47625"/>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Oval 103"/>
          <p:cNvSpPr/>
          <p:nvPr/>
        </p:nvSpPr>
        <p:spPr>
          <a:xfrm>
            <a:off x="4595812" y="5430481"/>
            <a:ext cx="47625" cy="47625"/>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Oval 104"/>
          <p:cNvSpPr/>
          <p:nvPr/>
        </p:nvSpPr>
        <p:spPr>
          <a:xfrm>
            <a:off x="4772025" y="5309271"/>
            <a:ext cx="47625" cy="47625"/>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Oval 105"/>
          <p:cNvSpPr/>
          <p:nvPr/>
        </p:nvSpPr>
        <p:spPr>
          <a:xfrm>
            <a:off x="4948238" y="5171407"/>
            <a:ext cx="47625" cy="47625"/>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Oval 106"/>
          <p:cNvSpPr/>
          <p:nvPr/>
        </p:nvSpPr>
        <p:spPr>
          <a:xfrm>
            <a:off x="5124450" y="5021768"/>
            <a:ext cx="47625" cy="47625"/>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Oval 107"/>
          <p:cNvSpPr/>
          <p:nvPr/>
        </p:nvSpPr>
        <p:spPr>
          <a:xfrm>
            <a:off x="5300662" y="4867368"/>
            <a:ext cx="47625" cy="47625"/>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Oval 108"/>
          <p:cNvSpPr/>
          <p:nvPr/>
        </p:nvSpPr>
        <p:spPr>
          <a:xfrm>
            <a:off x="5476875" y="4716164"/>
            <a:ext cx="47625" cy="47625"/>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Oval 109"/>
          <p:cNvSpPr/>
          <p:nvPr/>
        </p:nvSpPr>
        <p:spPr>
          <a:xfrm>
            <a:off x="5653088" y="4575476"/>
            <a:ext cx="47625" cy="47625"/>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Oval 110"/>
          <p:cNvSpPr/>
          <p:nvPr/>
        </p:nvSpPr>
        <p:spPr>
          <a:xfrm>
            <a:off x="5829300" y="4450672"/>
            <a:ext cx="47625" cy="47625"/>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Oval 111"/>
          <p:cNvSpPr/>
          <p:nvPr/>
        </p:nvSpPr>
        <p:spPr>
          <a:xfrm>
            <a:off x="6005512" y="4344556"/>
            <a:ext cx="47625" cy="47625"/>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Oval 112"/>
          <p:cNvSpPr/>
          <p:nvPr/>
        </p:nvSpPr>
        <p:spPr>
          <a:xfrm>
            <a:off x="6181725" y="4257538"/>
            <a:ext cx="47625" cy="47625"/>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Oval 113"/>
          <p:cNvSpPr/>
          <p:nvPr/>
        </p:nvSpPr>
        <p:spPr>
          <a:xfrm>
            <a:off x="6357938" y="4188275"/>
            <a:ext cx="47625" cy="47625"/>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Oval 114"/>
          <p:cNvSpPr/>
          <p:nvPr/>
        </p:nvSpPr>
        <p:spPr>
          <a:xfrm>
            <a:off x="6534150" y="4134439"/>
            <a:ext cx="47625" cy="47625"/>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Oval 115"/>
          <p:cNvSpPr/>
          <p:nvPr/>
        </p:nvSpPr>
        <p:spPr>
          <a:xfrm>
            <a:off x="6710362" y="4093365"/>
            <a:ext cx="47625" cy="47625"/>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Oval 116"/>
          <p:cNvSpPr/>
          <p:nvPr/>
        </p:nvSpPr>
        <p:spPr>
          <a:xfrm>
            <a:off x="6886575" y="4062470"/>
            <a:ext cx="47625" cy="47625"/>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Oval 117"/>
          <p:cNvSpPr/>
          <p:nvPr/>
        </p:nvSpPr>
        <p:spPr>
          <a:xfrm>
            <a:off x="7062788" y="4039481"/>
            <a:ext cx="47625" cy="47625"/>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Oval 118"/>
          <p:cNvSpPr/>
          <p:nvPr/>
        </p:nvSpPr>
        <p:spPr>
          <a:xfrm>
            <a:off x="7239000" y="4022515"/>
            <a:ext cx="47625" cy="47625"/>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Oval 119"/>
          <p:cNvSpPr/>
          <p:nvPr/>
        </p:nvSpPr>
        <p:spPr>
          <a:xfrm>
            <a:off x="7415212" y="4010070"/>
            <a:ext cx="47625" cy="47625"/>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Oval 120"/>
          <p:cNvSpPr/>
          <p:nvPr/>
        </p:nvSpPr>
        <p:spPr>
          <a:xfrm>
            <a:off x="7591425" y="4000989"/>
            <a:ext cx="47625" cy="47625"/>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Oval 121"/>
          <p:cNvSpPr/>
          <p:nvPr/>
        </p:nvSpPr>
        <p:spPr>
          <a:xfrm>
            <a:off x="7767638" y="3994390"/>
            <a:ext cx="47625" cy="47625"/>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Oval 122"/>
          <p:cNvSpPr/>
          <p:nvPr/>
        </p:nvSpPr>
        <p:spPr>
          <a:xfrm>
            <a:off x="7943850" y="3989616"/>
            <a:ext cx="47625" cy="47625"/>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Oval 123"/>
          <p:cNvSpPr/>
          <p:nvPr/>
        </p:nvSpPr>
        <p:spPr>
          <a:xfrm>
            <a:off x="8120062" y="3986181"/>
            <a:ext cx="47625" cy="47625"/>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Oval 124"/>
          <p:cNvSpPr/>
          <p:nvPr/>
        </p:nvSpPr>
        <p:spPr>
          <a:xfrm>
            <a:off x="8296275" y="3983730"/>
            <a:ext cx="47625" cy="47625"/>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Oval 125"/>
          <p:cNvSpPr/>
          <p:nvPr/>
        </p:nvSpPr>
        <p:spPr>
          <a:xfrm>
            <a:off x="8472488" y="3982004"/>
            <a:ext cx="47625" cy="47625"/>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Oval 126"/>
          <p:cNvSpPr/>
          <p:nvPr/>
        </p:nvSpPr>
        <p:spPr>
          <a:xfrm>
            <a:off x="8648700" y="3980818"/>
            <a:ext cx="47625" cy="47625"/>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Oval 127"/>
          <p:cNvSpPr/>
          <p:nvPr/>
        </p:nvSpPr>
        <p:spPr>
          <a:xfrm>
            <a:off x="8824912" y="3980042"/>
            <a:ext cx="47625" cy="47625"/>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Oval 128"/>
          <p:cNvSpPr/>
          <p:nvPr/>
        </p:nvSpPr>
        <p:spPr>
          <a:xfrm>
            <a:off x="9001125" y="3979584"/>
            <a:ext cx="47625" cy="47625"/>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Oval 129"/>
          <p:cNvSpPr/>
          <p:nvPr/>
        </p:nvSpPr>
        <p:spPr>
          <a:xfrm>
            <a:off x="9177338" y="3979388"/>
            <a:ext cx="47625" cy="47625"/>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Oval 130"/>
          <p:cNvSpPr/>
          <p:nvPr/>
        </p:nvSpPr>
        <p:spPr>
          <a:xfrm>
            <a:off x="9353550" y="3979418"/>
            <a:ext cx="47625" cy="47625"/>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Oval 131"/>
          <p:cNvSpPr/>
          <p:nvPr/>
        </p:nvSpPr>
        <p:spPr>
          <a:xfrm>
            <a:off x="9529762" y="3979660"/>
            <a:ext cx="47625" cy="47625"/>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Oval 132"/>
          <p:cNvSpPr/>
          <p:nvPr/>
        </p:nvSpPr>
        <p:spPr>
          <a:xfrm>
            <a:off x="9705975" y="3980119"/>
            <a:ext cx="47625" cy="47625"/>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Oval 133"/>
          <p:cNvSpPr/>
          <p:nvPr/>
        </p:nvSpPr>
        <p:spPr>
          <a:xfrm>
            <a:off x="9882188" y="3980814"/>
            <a:ext cx="47625" cy="47625"/>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Oval 134"/>
          <p:cNvSpPr/>
          <p:nvPr/>
        </p:nvSpPr>
        <p:spPr>
          <a:xfrm>
            <a:off x="10058400" y="3981781"/>
            <a:ext cx="47625" cy="47625"/>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Oval 135"/>
          <p:cNvSpPr/>
          <p:nvPr/>
        </p:nvSpPr>
        <p:spPr>
          <a:xfrm>
            <a:off x="10234612" y="3983077"/>
            <a:ext cx="47625" cy="47625"/>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Oval 136"/>
          <p:cNvSpPr/>
          <p:nvPr/>
        </p:nvSpPr>
        <p:spPr>
          <a:xfrm>
            <a:off x="10410825" y="3984778"/>
            <a:ext cx="47625" cy="47625"/>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Oval 137"/>
          <p:cNvSpPr/>
          <p:nvPr/>
        </p:nvSpPr>
        <p:spPr>
          <a:xfrm>
            <a:off x="10587038" y="3986985"/>
            <a:ext cx="47625" cy="47625"/>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Oval 138"/>
          <p:cNvSpPr/>
          <p:nvPr/>
        </p:nvSpPr>
        <p:spPr>
          <a:xfrm>
            <a:off x="10763250" y="3989830"/>
            <a:ext cx="47625" cy="47625"/>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Oval 139"/>
          <p:cNvSpPr/>
          <p:nvPr/>
        </p:nvSpPr>
        <p:spPr>
          <a:xfrm>
            <a:off x="10939462" y="3993483"/>
            <a:ext cx="47625" cy="47625"/>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Oval 140"/>
          <p:cNvSpPr/>
          <p:nvPr/>
        </p:nvSpPr>
        <p:spPr>
          <a:xfrm>
            <a:off x="11115675" y="3998157"/>
            <a:ext cx="47625" cy="47625"/>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Oval 141"/>
          <p:cNvSpPr/>
          <p:nvPr/>
        </p:nvSpPr>
        <p:spPr>
          <a:xfrm>
            <a:off x="11291888" y="4004125"/>
            <a:ext cx="47625" cy="47625"/>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Oval 142"/>
          <p:cNvSpPr/>
          <p:nvPr/>
        </p:nvSpPr>
        <p:spPr>
          <a:xfrm>
            <a:off x="11468100" y="4011724"/>
            <a:ext cx="47625" cy="47625"/>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Oval 143"/>
          <p:cNvSpPr/>
          <p:nvPr/>
        </p:nvSpPr>
        <p:spPr>
          <a:xfrm>
            <a:off x="11644312" y="4021373"/>
            <a:ext cx="47625" cy="47625"/>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Oval 144"/>
          <p:cNvSpPr/>
          <p:nvPr/>
        </p:nvSpPr>
        <p:spPr>
          <a:xfrm>
            <a:off x="11820525" y="4033584"/>
            <a:ext cx="47625" cy="47625"/>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Oval 145"/>
          <p:cNvSpPr/>
          <p:nvPr/>
        </p:nvSpPr>
        <p:spPr>
          <a:xfrm>
            <a:off x="11996738" y="4048972"/>
            <a:ext cx="47625" cy="47625"/>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Oval 146"/>
          <p:cNvSpPr/>
          <p:nvPr/>
        </p:nvSpPr>
        <p:spPr>
          <a:xfrm>
            <a:off x="12172950" y="4068265"/>
            <a:ext cx="47625" cy="47625"/>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 name="Oval 147"/>
          <p:cNvSpPr/>
          <p:nvPr/>
        </p:nvSpPr>
        <p:spPr>
          <a:xfrm>
            <a:off x="12349162" y="4092299"/>
            <a:ext cx="47625" cy="47625"/>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Oval 148"/>
          <p:cNvSpPr/>
          <p:nvPr/>
        </p:nvSpPr>
        <p:spPr>
          <a:xfrm>
            <a:off x="12525375" y="4122003"/>
            <a:ext cx="47625" cy="47625"/>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Oval 149"/>
          <p:cNvSpPr/>
          <p:nvPr/>
        </p:nvSpPr>
        <p:spPr>
          <a:xfrm>
            <a:off x="12701588" y="4158355"/>
            <a:ext cx="47625" cy="47625"/>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Oval 150"/>
          <p:cNvSpPr/>
          <p:nvPr/>
        </p:nvSpPr>
        <p:spPr>
          <a:xfrm>
            <a:off x="12877800" y="4202313"/>
            <a:ext cx="47625" cy="47625"/>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 name="Oval 151"/>
          <p:cNvSpPr/>
          <p:nvPr/>
        </p:nvSpPr>
        <p:spPr>
          <a:xfrm>
            <a:off x="13054012" y="4254705"/>
            <a:ext cx="47625" cy="47625"/>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 name="Oval 152"/>
          <p:cNvSpPr/>
          <p:nvPr/>
        </p:nvSpPr>
        <p:spPr>
          <a:xfrm>
            <a:off x="13230225" y="4316083"/>
            <a:ext cx="47625" cy="47625"/>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 name="Oval 153"/>
          <p:cNvSpPr/>
          <p:nvPr/>
        </p:nvSpPr>
        <p:spPr>
          <a:xfrm>
            <a:off x="13406438" y="4386555"/>
            <a:ext cx="47625" cy="47625"/>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 name="Oval 154"/>
          <p:cNvSpPr/>
          <p:nvPr/>
        </p:nvSpPr>
        <p:spPr>
          <a:xfrm>
            <a:off x="13582650" y="4465620"/>
            <a:ext cx="47625" cy="47625"/>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 name="Oval 155"/>
          <p:cNvSpPr/>
          <p:nvPr/>
        </p:nvSpPr>
        <p:spPr>
          <a:xfrm>
            <a:off x="13758862" y="4552060"/>
            <a:ext cx="47625" cy="47625"/>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 name="Oval 156"/>
          <p:cNvSpPr/>
          <p:nvPr/>
        </p:nvSpPr>
        <p:spPr>
          <a:xfrm>
            <a:off x="13935075" y="4643931"/>
            <a:ext cx="47625" cy="47625"/>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 name="Oval 157"/>
          <p:cNvSpPr/>
          <p:nvPr/>
        </p:nvSpPr>
        <p:spPr>
          <a:xfrm>
            <a:off x="14111288" y="4738688"/>
            <a:ext cx="47625" cy="47625"/>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 name="Oval 158"/>
          <p:cNvSpPr/>
          <p:nvPr/>
        </p:nvSpPr>
        <p:spPr>
          <a:xfrm>
            <a:off x="14287500" y="4833445"/>
            <a:ext cx="47625" cy="47625"/>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 name="Oval 159"/>
          <p:cNvSpPr/>
          <p:nvPr/>
        </p:nvSpPr>
        <p:spPr>
          <a:xfrm>
            <a:off x="14463712" y="4925316"/>
            <a:ext cx="47625" cy="47625"/>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 name="Oval 160"/>
          <p:cNvSpPr/>
          <p:nvPr/>
        </p:nvSpPr>
        <p:spPr>
          <a:xfrm>
            <a:off x="14639925" y="5011756"/>
            <a:ext cx="47625" cy="47625"/>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 name="Oval 161"/>
          <p:cNvSpPr/>
          <p:nvPr/>
        </p:nvSpPr>
        <p:spPr>
          <a:xfrm>
            <a:off x="14816138" y="5090821"/>
            <a:ext cx="47625" cy="47625"/>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 name="Oval 162"/>
          <p:cNvSpPr/>
          <p:nvPr/>
        </p:nvSpPr>
        <p:spPr>
          <a:xfrm>
            <a:off x="14992350" y="5161293"/>
            <a:ext cx="47625" cy="47625"/>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 name="Oval 163"/>
          <p:cNvSpPr/>
          <p:nvPr/>
        </p:nvSpPr>
        <p:spPr>
          <a:xfrm>
            <a:off x="15168562" y="5222671"/>
            <a:ext cx="47625" cy="47625"/>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 name="Oval 164"/>
          <p:cNvSpPr/>
          <p:nvPr/>
        </p:nvSpPr>
        <p:spPr>
          <a:xfrm>
            <a:off x="15344775" y="5275064"/>
            <a:ext cx="47625" cy="47625"/>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 name="Oval 165"/>
          <p:cNvSpPr/>
          <p:nvPr/>
        </p:nvSpPr>
        <p:spPr>
          <a:xfrm>
            <a:off x="15520988" y="5319022"/>
            <a:ext cx="47625" cy="47625"/>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 name="Oval 166"/>
          <p:cNvSpPr/>
          <p:nvPr/>
        </p:nvSpPr>
        <p:spPr>
          <a:xfrm>
            <a:off x="15697200" y="5355375"/>
            <a:ext cx="47625" cy="47625"/>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 name="Oval 167"/>
          <p:cNvSpPr/>
          <p:nvPr/>
        </p:nvSpPr>
        <p:spPr>
          <a:xfrm>
            <a:off x="15873412" y="5385080"/>
            <a:ext cx="47625" cy="47625"/>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 name="Oval 168"/>
          <p:cNvSpPr/>
          <p:nvPr/>
        </p:nvSpPr>
        <p:spPr>
          <a:xfrm>
            <a:off x="16049625" y="5409115"/>
            <a:ext cx="47625" cy="47625"/>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 name="Oval 169"/>
          <p:cNvSpPr/>
          <p:nvPr/>
        </p:nvSpPr>
        <p:spPr>
          <a:xfrm>
            <a:off x="16225838" y="5428410"/>
            <a:ext cx="47625" cy="47625"/>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 name="Oval 170"/>
          <p:cNvSpPr/>
          <p:nvPr/>
        </p:nvSpPr>
        <p:spPr>
          <a:xfrm>
            <a:off x="16402050" y="5443801"/>
            <a:ext cx="47625" cy="47625"/>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 name="Oval 171"/>
          <p:cNvSpPr/>
          <p:nvPr/>
        </p:nvSpPr>
        <p:spPr>
          <a:xfrm>
            <a:off x="16578262" y="5456016"/>
            <a:ext cx="47625" cy="47625"/>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 name="Oval 172"/>
          <p:cNvSpPr/>
          <p:nvPr/>
        </p:nvSpPr>
        <p:spPr>
          <a:xfrm>
            <a:off x="16754475" y="5465670"/>
            <a:ext cx="47625" cy="47625"/>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 name="TextBox 173"/>
          <p:cNvSpPr txBox="1"/>
          <p:nvPr/>
        </p:nvSpPr>
        <p:spPr>
          <a:xfrm>
            <a:off x="1143000" y="4762500"/>
            <a:ext cx="1619250" cy="381000"/>
          </a:xfrm>
          <a:prstGeom prst="rect">
            <a:avLst/>
          </a:prstGeom>
          <a:noFill/>
        </p:spPr>
        <p:txBody>
          <a:bodyPr wrap="square" lIns="0" rIns="0" tIns="0" bIns="0" anchor="t">
            <a:spAutoFit/>
          </a:bodyPr>
          <a:lstStyle/>
          <a:p>
            <a:pPr algn="l"/>
            <a:r>
              <a:rPr sz="1500" b="1" i="0">
                <a:solidFill>
                  <a:srgbClr val="F0E8E8"/>
                </a:solidFill>
                <a:latin typeface="Geist Mono"/>
                <a:ea typeface="Geist Mono"/>
                <a:cs typeface="Geist Mono"/>
              </a:rPr>
              <a:t>FlywheelRPM</a:t>
            </a:r>
          </a:p>
        </p:txBody>
      </p:sp>
      <p:cxnSp>
        <p:nvCxnSpPr>
          <p:cNvPr id="175" name="Connector 174"/>
          <p:cNvCxnSpPr/>
          <p:nvPr/>
        </p:nvCxnSpPr>
        <p:spPr>
          <a:xfrm>
            <a:off x="2857500" y="7524750"/>
            <a:ext cx="14097000" cy="0"/>
          </a:xfrm>
          <a:prstGeom prst="line">
            <a:avLst/>
          </a:prstGeom>
          <a:ln w="19050">
            <a:solidFill>
              <a:srgbClr val="9A7878"/>
            </a:solidFill>
            <a:prstDash val="dash"/>
          </a:ln>
        </p:spPr>
        <p:style>
          <a:lnRef idx="2">
            <a:schemeClr val="accent1"/>
          </a:lnRef>
          <a:fillRef idx="0">
            <a:schemeClr val="accent1"/>
          </a:fillRef>
          <a:effectRef idx="1">
            <a:schemeClr val="accent1"/>
          </a:effectRef>
          <a:fontRef idx="minor">
            <a:schemeClr val="tx1"/>
          </a:fontRef>
        </p:style>
      </p:cxnSp>
      <p:sp>
        <p:nvSpPr>
          <p:cNvPr id="176" name="TextBox 175"/>
          <p:cNvSpPr txBox="1"/>
          <p:nvPr/>
        </p:nvSpPr>
        <p:spPr>
          <a:xfrm>
            <a:off x="2381250" y="7381875"/>
            <a:ext cx="381000" cy="28575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0</a:t>
            </a:r>
          </a:p>
        </p:txBody>
      </p:sp>
      <p:cxnSp>
        <p:nvCxnSpPr>
          <p:cNvPr id="177" name="Connector 176"/>
          <p:cNvCxnSpPr/>
          <p:nvPr/>
        </p:nvCxnSpPr>
        <p:spPr>
          <a:xfrm flipV="1">
            <a:off x="2857500" y="7450471"/>
            <a:ext cx="176212" cy="45481"/>
          </a:xfrm>
          <a:prstGeom prst="line">
            <a:avLst/>
          </a:prstGeom>
          <a:ln w="47625">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78" name="Connector 177"/>
          <p:cNvCxnSpPr/>
          <p:nvPr/>
        </p:nvCxnSpPr>
        <p:spPr>
          <a:xfrm flipV="1">
            <a:off x="3033712" y="7423237"/>
            <a:ext cx="176213" cy="27234"/>
          </a:xfrm>
          <a:prstGeom prst="line">
            <a:avLst/>
          </a:prstGeom>
          <a:ln w="47625">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79" name="Connector 178"/>
          <p:cNvCxnSpPr/>
          <p:nvPr/>
        </p:nvCxnSpPr>
        <p:spPr>
          <a:xfrm flipV="1">
            <a:off x="3209925" y="7386672"/>
            <a:ext cx="176213" cy="36565"/>
          </a:xfrm>
          <a:prstGeom prst="line">
            <a:avLst/>
          </a:prstGeom>
          <a:ln w="47625">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80" name="Connector 179"/>
          <p:cNvCxnSpPr/>
          <p:nvPr/>
        </p:nvCxnSpPr>
        <p:spPr>
          <a:xfrm flipV="1">
            <a:off x="3386138" y="7338138"/>
            <a:ext cx="176212" cy="48534"/>
          </a:xfrm>
          <a:prstGeom prst="line">
            <a:avLst/>
          </a:prstGeom>
          <a:ln w="47625">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81" name="Connector 180"/>
          <p:cNvCxnSpPr/>
          <p:nvPr/>
        </p:nvCxnSpPr>
        <p:spPr>
          <a:xfrm flipV="1">
            <a:off x="3562350" y="7274721"/>
            <a:ext cx="176212" cy="63417"/>
          </a:xfrm>
          <a:prstGeom prst="line">
            <a:avLst/>
          </a:prstGeom>
          <a:ln w="47625">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82" name="Connector 181"/>
          <p:cNvCxnSpPr/>
          <p:nvPr/>
        </p:nvCxnSpPr>
        <p:spPr>
          <a:xfrm flipV="1">
            <a:off x="3738562" y="7193615"/>
            <a:ext cx="176213" cy="81106"/>
          </a:xfrm>
          <a:prstGeom prst="line">
            <a:avLst/>
          </a:prstGeom>
          <a:ln w="47625">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83" name="Connector 182"/>
          <p:cNvCxnSpPr/>
          <p:nvPr/>
        </p:nvCxnSpPr>
        <p:spPr>
          <a:xfrm flipV="1">
            <a:off x="3914775" y="7092875"/>
            <a:ext cx="176213" cy="100740"/>
          </a:xfrm>
          <a:prstGeom prst="line">
            <a:avLst/>
          </a:prstGeom>
          <a:ln w="47625">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84" name="Connector 183"/>
          <p:cNvCxnSpPr/>
          <p:nvPr/>
        </p:nvCxnSpPr>
        <p:spPr>
          <a:xfrm flipV="1">
            <a:off x="4090988" y="6972622"/>
            <a:ext cx="176212" cy="120253"/>
          </a:xfrm>
          <a:prstGeom prst="line">
            <a:avLst/>
          </a:prstGeom>
          <a:ln w="47625">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85" name="Connector 184"/>
          <p:cNvCxnSpPr/>
          <p:nvPr/>
        </p:nvCxnSpPr>
        <p:spPr>
          <a:xfrm flipV="1">
            <a:off x="4267200" y="6836637"/>
            <a:ext cx="176212" cy="135985"/>
          </a:xfrm>
          <a:prstGeom prst="line">
            <a:avLst/>
          </a:prstGeom>
          <a:ln w="47625">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86" name="Connector 185"/>
          <p:cNvCxnSpPr/>
          <p:nvPr/>
        </p:nvCxnSpPr>
        <p:spPr>
          <a:xfrm flipV="1">
            <a:off x="4443412" y="6693884"/>
            <a:ext cx="176213" cy="142753"/>
          </a:xfrm>
          <a:prstGeom prst="line">
            <a:avLst/>
          </a:prstGeom>
          <a:ln w="47625">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87" name="Connector 186"/>
          <p:cNvCxnSpPr/>
          <p:nvPr/>
        </p:nvCxnSpPr>
        <p:spPr>
          <a:xfrm flipV="1">
            <a:off x="4619625" y="6559048"/>
            <a:ext cx="176213" cy="134836"/>
          </a:xfrm>
          <a:prstGeom prst="line">
            <a:avLst/>
          </a:prstGeom>
          <a:ln w="47625">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88" name="Connector 187"/>
          <p:cNvCxnSpPr/>
          <p:nvPr/>
        </p:nvCxnSpPr>
        <p:spPr>
          <a:xfrm flipV="1">
            <a:off x="4795838" y="6450863"/>
            <a:ext cx="176212" cy="108185"/>
          </a:xfrm>
          <a:prstGeom prst="line">
            <a:avLst/>
          </a:prstGeom>
          <a:ln w="47625">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89" name="Connector 188"/>
          <p:cNvCxnSpPr/>
          <p:nvPr/>
        </p:nvCxnSpPr>
        <p:spPr>
          <a:xfrm flipV="1">
            <a:off x="4972050" y="6387730"/>
            <a:ext cx="176212" cy="63133"/>
          </a:xfrm>
          <a:prstGeom prst="line">
            <a:avLst/>
          </a:prstGeom>
          <a:ln w="47625">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90" name="Connector 189"/>
          <p:cNvCxnSpPr/>
          <p:nvPr/>
        </p:nvCxnSpPr>
        <p:spPr>
          <a:xfrm flipV="1">
            <a:off x="5148262" y="6381750"/>
            <a:ext cx="176213" cy="5980"/>
          </a:xfrm>
          <a:prstGeom prst="line">
            <a:avLst/>
          </a:prstGeom>
          <a:ln w="47625">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91" name="Connector 190"/>
          <p:cNvCxnSpPr/>
          <p:nvPr/>
        </p:nvCxnSpPr>
        <p:spPr>
          <a:xfrm>
            <a:off x="5324475" y="6381750"/>
            <a:ext cx="176213" cy="52373"/>
          </a:xfrm>
          <a:prstGeom prst="line">
            <a:avLst/>
          </a:prstGeom>
          <a:ln w="47625">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92" name="Connector 191"/>
          <p:cNvCxnSpPr/>
          <p:nvPr/>
        </p:nvCxnSpPr>
        <p:spPr>
          <a:xfrm>
            <a:off x="5500688" y="6434123"/>
            <a:ext cx="176212" cy="100538"/>
          </a:xfrm>
          <a:prstGeom prst="line">
            <a:avLst/>
          </a:prstGeom>
          <a:ln w="47625">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93" name="Connector 192"/>
          <p:cNvCxnSpPr/>
          <p:nvPr/>
        </p:nvCxnSpPr>
        <p:spPr>
          <a:xfrm>
            <a:off x="5676900" y="6534661"/>
            <a:ext cx="176212" cy="131080"/>
          </a:xfrm>
          <a:prstGeom prst="line">
            <a:avLst/>
          </a:prstGeom>
          <a:ln w="47625">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94" name="Connector 193"/>
          <p:cNvCxnSpPr/>
          <p:nvPr/>
        </p:nvCxnSpPr>
        <p:spPr>
          <a:xfrm>
            <a:off x="5853112" y="6665741"/>
            <a:ext cx="176213" cy="142522"/>
          </a:xfrm>
          <a:prstGeom prst="line">
            <a:avLst/>
          </a:prstGeom>
          <a:ln w="47625">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95" name="Connector 194"/>
          <p:cNvCxnSpPr/>
          <p:nvPr/>
        </p:nvCxnSpPr>
        <p:spPr>
          <a:xfrm>
            <a:off x="6029325" y="6808263"/>
            <a:ext cx="176213" cy="138251"/>
          </a:xfrm>
          <a:prstGeom prst="line">
            <a:avLst/>
          </a:prstGeom>
          <a:ln w="47625">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96" name="Connector 195"/>
          <p:cNvCxnSpPr/>
          <p:nvPr/>
        </p:nvCxnSpPr>
        <p:spPr>
          <a:xfrm>
            <a:off x="6205538" y="6946514"/>
            <a:ext cx="176212" cy="123860"/>
          </a:xfrm>
          <a:prstGeom prst="line">
            <a:avLst/>
          </a:prstGeom>
          <a:ln w="47625">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97" name="Connector 196"/>
          <p:cNvCxnSpPr/>
          <p:nvPr/>
        </p:nvCxnSpPr>
        <p:spPr>
          <a:xfrm>
            <a:off x="6381750" y="7070374"/>
            <a:ext cx="176212" cy="104758"/>
          </a:xfrm>
          <a:prstGeom prst="line">
            <a:avLst/>
          </a:prstGeom>
          <a:ln w="47625">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98" name="Connector 197"/>
          <p:cNvCxnSpPr/>
          <p:nvPr/>
        </p:nvCxnSpPr>
        <p:spPr>
          <a:xfrm>
            <a:off x="6557962" y="7175132"/>
            <a:ext cx="176213" cy="84940"/>
          </a:xfrm>
          <a:prstGeom prst="line">
            <a:avLst/>
          </a:prstGeom>
          <a:ln w="47625">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99" name="Connector 198"/>
          <p:cNvCxnSpPr/>
          <p:nvPr/>
        </p:nvCxnSpPr>
        <p:spPr>
          <a:xfrm>
            <a:off x="6734175" y="7260072"/>
            <a:ext cx="176213" cy="66767"/>
          </a:xfrm>
          <a:prstGeom prst="line">
            <a:avLst/>
          </a:prstGeom>
          <a:ln w="47625">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00" name="Connector 199"/>
          <p:cNvCxnSpPr/>
          <p:nvPr/>
        </p:nvCxnSpPr>
        <p:spPr>
          <a:xfrm>
            <a:off x="6910388" y="7326839"/>
            <a:ext cx="176212" cy="51303"/>
          </a:xfrm>
          <a:prstGeom prst="line">
            <a:avLst/>
          </a:prstGeom>
          <a:ln w="47625">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01" name="Connector 200"/>
          <p:cNvCxnSpPr/>
          <p:nvPr/>
        </p:nvCxnSpPr>
        <p:spPr>
          <a:xfrm>
            <a:off x="7086600" y="7378142"/>
            <a:ext cx="176212" cy="38772"/>
          </a:xfrm>
          <a:prstGeom prst="line">
            <a:avLst/>
          </a:prstGeom>
          <a:ln w="47625">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02" name="Connector 201"/>
          <p:cNvCxnSpPr/>
          <p:nvPr/>
        </p:nvCxnSpPr>
        <p:spPr>
          <a:xfrm>
            <a:off x="7262812" y="7416914"/>
            <a:ext cx="176213" cy="28956"/>
          </a:xfrm>
          <a:prstGeom prst="line">
            <a:avLst/>
          </a:prstGeom>
          <a:ln w="47625">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03" name="Connector 202"/>
          <p:cNvCxnSpPr/>
          <p:nvPr/>
        </p:nvCxnSpPr>
        <p:spPr>
          <a:xfrm>
            <a:off x="7439025" y="7445870"/>
            <a:ext cx="176213" cy="21444"/>
          </a:xfrm>
          <a:prstGeom prst="line">
            <a:avLst/>
          </a:prstGeom>
          <a:ln w="47625">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04" name="Connector 203"/>
          <p:cNvCxnSpPr/>
          <p:nvPr/>
        </p:nvCxnSpPr>
        <p:spPr>
          <a:xfrm>
            <a:off x="7615238" y="7467314"/>
            <a:ext cx="176212" cy="15792"/>
          </a:xfrm>
          <a:prstGeom prst="line">
            <a:avLst/>
          </a:prstGeom>
          <a:ln w="47625">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05" name="Connector 204"/>
          <p:cNvCxnSpPr/>
          <p:nvPr/>
        </p:nvCxnSpPr>
        <p:spPr>
          <a:xfrm>
            <a:off x="7791450" y="7483106"/>
            <a:ext cx="176212" cy="11595"/>
          </a:xfrm>
          <a:prstGeom prst="line">
            <a:avLst/>
          </a:prstGeom>
          <a:ln w="47625">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06" name="Connector 205"/>
          <p:cNvCxnSpPr/>
          <p:nvPr/>
        </p:nvCxnSpPr>
        <p:spPr>
          <a:xfrm>
            <a:off x="7967662" y="7494701"/>
            <a:ext cx="176213" cy="8507"/>
          </a:xfrm>
          <a:prstGeom prst="line">
            <a:avLst/>
          </a:prstGeom>
          <a:ln w="47625">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07" name="Connector 206"/>
          <p:cNvCxnSpPr/>
          <p:nvPr/>
        </p:nvCxnSpPr>
        <p:spPr>
          <a:xfrm>
            <a:off x="8143875" y="7503208"/>
            <a:ext cx="176213" cy="6258"/>
          </a:xfrm>
          <a:prstGeom prst="line">
            <a:avLst/>
          </a:prstGeom>
          <a:ln w="47625">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08" name="Connector 207"/>
          <p:cNvCxnSpPr/>
          <p:nvPr/>
        </p:nvCxnSpPr>
        <p:spPr>
          <a:xfrm>
            <a:off x="8320088" y="7509466"/>
            <a:ext cx="176212" cy="4634"/>
          </a:xfrm>
          <a:prstGeom prst="line">
            <a:avLst/>
          </a:prstGeom>
          <a:ln w="47625">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09" name="Connector 208"/>
          <p:cNvCxnSpPr/>
          <p:nvPr/>
        </p:nvCxnSpPr>
        <p:spPr>
          <a:xfrm>
            <a:off x="8496300" y="7514100"/>
            <a:ext cx="176212" cy="3476"/>
          </a:xfrm>
          <a:prstGeom prst="line">
            <a:avLst/>
          </a:prstGeom>
          <a:ln w="47625">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10" name="Connector 209"/>
          <p:cNvCxnSpPr/>
          <p:nvPr/>
        </p:nvCxnSpPr>
        <p:spPr>
          <a:xfrm>
            <a:off x="8672512" y="7517576"/>
            <a:ext cx="176213" cy="2669"/>
          </a:xfrm>
          <a:prstGeom prst="line">
            <a:avLst/>
          </a:prstGeom>
          <a:ln w="47625">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11" name="Connector 210"/>
          <p:cNvCxnSpPr/>
          <p:nvPr/>
        </p:nvCxnSpPr>
        <p:spPr>
          <a:xfrm>
            <a:off x="8848725" y="7520245"/>
            <a:ext cx="176213" cy="2125"/>
          </a:xfrm>
          <a:prstGeom prst="line">
            <a:avLst/>
          </a:prstGeom>
          <a:ln w="47625">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12" name="Connector 211"/>
          <p:cNvCxnSpPr/>
          <p:nvPr/>
        </p:nvCxnSpPr>
        <p:spPr>
          <a:xfrm>
            <a:off x="9024938" y="7522370"/>
            <a:ext cx="176212" cy="1786"/>
          </a:xfrm>
          <a:prstGeom prst="line">
            <a:avLst/>
          </a:prstGeom>
          <a:ln w="47625">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13" name="Connector 212"/>
          <p:cNvCxnSpPr/>
          <p:nvPr/>
        </p:nvCxnSpPr>
        <p:spPr>
          <a:xfrm>
            <a:off x="9201150" y="7524156"/>
            <a:ext cx="176212" cy="1611"/>
          </a:xfrm>
          <a:prstGeom prst="line">
            <a:avLst/>
          </a:prstGeom>
          <a:ln w="47625">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14" name="Connector 213"/>
          <p:cNvCxnSpPr/>
          <p:nvPr/>
        </p:nvCxnSpPr>
        <p:spPr>
          <a:xfrm>
            <a:off x="9377362" y="7525767"/>
            <a:ext cx="176213" cy="1573"/>
          </a:xfrm>
          <a:prstGeom prst="line">
            <a:avLst/>
          </a:prstGeom>
          <a:ln w="47625">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15" name="Connector 214"/>
          <p:cNvCxnSpPr/>
          <p:nvPr/>
        </p:nvCxnSpPr>
        <p:spPr>
          <a:xfrm>
            <a:off x="9553575" y="7527340"/>
            <a:ext cx="176213" cy="1662"/>
          </a:xfrm>
          <a:prstGeom prst="line">
            <a:avLst/>
          </a:prstGeom>
          <a:ln w="47625">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16" name="Connector 215"/>
          <p:cNvCxnSpPr/>
          <p:nvPr/>
        </p:nvCxnSpPr>
        <p:spPr>
          <a:xfrm>
            <a:off x="9729788" y="7529002"/>
            <a:ext cx="176212" cy="1873"/>
          </a:xfrm>
          <a:prstGeom prst="line">
            <a:avLst/>
          </a:prstGeom>
          <a:ln w="47625">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17" name="Connector 216"/>
          <p:cNvCxnSpPr/>
          <p:nvPr/>
        </p:nvCxnSpPr>
        <p:spPr>
          <a:xfrm>
            <a:off x="9906000" y="7530875"/>
            <a:ext cx="176212" cy="2212"/>
          </a:xfrm>
          <a:prstGeom prst="line">
            <a:avLst/>
          </a:prstGeom>
          <a:ln w="47625">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18" name="Connector 217"/>
          <p:cNvCxnSpPr/>
          <p:nvPr/>
        </p:nvCxnSpPr>
        <p:spPr>
          <a:xfrm>
            <a:off x="10082212" y="7533087"/>
            <a:ext cx="176213" cy="2699"/>
          </a:xfrm>
          <a:prstGeom prst="line">
            <a:avLst/>
          </a:prstGeom>
          <a:ln w="47625">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19" name="Connector 218"/>
          <p:cNvCxnSpPr/>
          <p:nvPr/>
        </p:nvCxnSpPr>
        <p:spPr>
          <a:xfrm>
            <a:off x="10258425" y="7535786"/>
            <a:ext cx="176213" cy="3354"/>
          </a:xfrm>
          <a:prstGeom prst="line">
            <a:avLst/>
          </a:prstGeom>
          <a:ln w="47625">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20" name="Connector 219"/>
          <p:cNvCxnSpPr/>
          <p:nvPr/>
        </p:nvCxnSpPr>
        <p:spPr>
          <a:xfrm>
            <a:off x="10434638" y="7539140"/>
            <a:ext cx="176212" cy="4214"/>
          </a:xfrm>
          <a:prstGeom prst="line">
            <a:avLst/>
          </a:prstGeom>
          <a:ln w="47625">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21" name="Connector 220"/>
          <p:cNvCxnSpPr/>
          <p:nvPr/>
        </p:nvCxnSpPr>
        <p:spPr>
          <a:xfrm>
            <a:off x="10610850" y="7543354"/>
            <a:ext cx="176212" cy="5324"/>
          </a:xfrm>
          <a:prstGeom prst="line">
            <a:avLst/>
          </a:prstGeom>
          <a:ln w="47625">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22" name="Connector 221"/>
          <p:cNvCxnSpPr/>
          <p:nvPr/>
        </p:nvCxnSpPr>
        <p:spPr>
          <a:xfrm>
            <a:off x="10787062" y="7548678"/>
            <a:ext cx="176213" cy="6742"/>
          </a:xfrm>
          <a:prstGeom prst="line">
            <a:avLst/>
          </a:prstGeom>
          <a:ln w="47625">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23" name="Connector 222"/>
          <p:cNvCxnSpPr/>
          <p:nvPr/>
        </p:nvCxnSpPr>
        <p:spPr>
          <a:xfrm>
            <a:off x="10963275" y="7555420"/>
            <a:ext cx="176213" cy="8533"/>
          </a:xfrm>
          <a:prstGeom prst="line">
            <a:avLst/>
          </a:prstGeom>
          <a:ln w="47625">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24" name="Connector 223"/>
          <p:cNvCxnSpPr/>
          <p:nvPr/>
        </p:nvCxnSpPr>
        <p:spPr>
          <a:xfrm>
            <a:off x="11139488" y="7563953"/>
            <a:ext cx="176212" cy="10782"/>
          </a:xfrm>
          <a:prstGeom prst="line">
            <a:avLst/>
          </a:prstGeom>
          <a:ln w="47625">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25" name="Connector 224"/>
          <p:cNvCxnSpPr/>
          <p:nvPr/>
        </p:nvCxnSpPr>
        <p:spPr>
          <a:xfrm>
            <a:off x="11315700" y="7574735"/>
            <a:ext cx="176212" cy="13578"/>
          </a:xfrm>
          <a:prstGeom prst="line">
            <a:avLst/>
          </a:prstGeom>
          <a:ln w="47625">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26" name="Connector 225"/>
          <p:cNvCxnSpPr/>
          <p:nvPr/>
        </p:nvCxnSpPr>
        <p:spPr>
          <a:xfrm>
            <a:off x="11491912" y="7588313"/>
            <a:ext cx="176213" cy="17020"/>
          </a:xfrm>
          <a:prstGeom prst="line">
            <a:avLst/>
          </a:prstGeom>
          <a:ln w="47625">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27" name="Connector 226"/>
          <p:cNvCxnSpPr/>
          <p:nvPr/>
        </p:nvCxnSpPr>
        <p:spPr>
          <a:xfrm>
            <a:off x="11668125" y="7605333"/>
            <a:ext cx="176213" cy="21196"/>
          </a:xfrm>
          <a:prstGeom prst="line">
            <a:avLst/>
          </a:prstGeom>
          <a:ln w="47625">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28" name="Connector 227"/>
          <p:cNvCxnSpPr/>
          <p:nvPr/>
        </p:nvCxnSpPr>
        <p:spPr>
          <a:xfrm>
            <a:off x="11844338" y="7626529"/>
            <a:ext cx="176212" cy="26181"/>
          </a:xfrm>
          <a:prstGeom prst="line">
            <a:avLst/>
          </a:prstGeom>
          <a:ln w="47625">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29" name="Connector 228"/>
          <p:cNvCxnSpPr/>
          <p:nvPr/>
        </p:nvCxnSpPr>
        <p:spPr>
          <a:xfrm>
            <a:off x="12020550" y="7652710"/>
            <a:ext cx="176212" cy="31997"/>
          </a:xfrm>
          <a:prstGeom prst="line">
            <a:avLst/>
          </a:prstGeom>
          <a:ln w="47625">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30" name="Connector 229"/>
          <p:cNvCxnSpPr/>
          <p:nvPr/>
        </p:nvCxnSpPr>
        <p:spPr>
          <a:xfrm>
            <a:off x="12196762" y="7684707"/>
            <a:ext cx="176213" cy="38576"/>
          </a:xfrm>
          <a:prstGeom prst="line">
            <a:avLst/>
          </a:prstGeom>
          <a:ln w="47625">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31" name="Connector 230"/>
          <p:cNvCxnSpPr/>
          <p:nvPr/>
        </p:nvCxnSpPr>
        <p:spPr>
          <a:xfrm>
            <a:off x="12372975" y="7723283"/>
            <a:ext cx="176213" cy="45714"/>
          </a:xfrm>
          <a:prstGeom prst="line">
            <a:avLst/>
          </a:prstGeom>
          <a:ln w="47625">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32" name="Connector 231"/>
          <p:cNvCxnSpPr/>
          <p:nvPr/>
        </p:nvCxnSpPr>
        <p:spPr>
          <a:xfrm>
            <a:off x="12549188" y="7768997"/>
            <a:ext cx="176212" cy="53000"/>
          </a:xfrm>
          <a:prstGeom prst="line">
            <a:avLst/>
          </a:prstGeom>
          <a:ln w="47625">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33" name="Connector 232"/>
          <p:cNvCxnSpPr/>
          <p:nvPr/>
        </p:nvCxnSpPr>
        <p:spPr>
          <a:xfrm>
            <a:off x="12725400" y="7821997"/>
            <a:ext cx="176212" cy="59764"/>
          </a:xfrm>
          <a:prstGeom prst="line">
            <a:avLst/>
          </a:prstGeom>
          <a:ln w="47625">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34" name="Connector 233"/>
          <p:cNvCxnSpPr/>
          <p:nvPr/>
        </p:nvCxnSpPr>
        <p:spPr>
          <a:xfrm>
            <a:off x="12901612" y="7881761"/>
            <a:ext cx="176213" cy="65055"/>
          </a:xfrm>
          <a:prstGeom prst="line">
            <a:avLst/>
          </a:prstGeom>
          <a:ln w="47625">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35" name="Connector 234"/>
          <p:cNvCxnSpPr/>
          <p:nvPr/>
        </p:nvCxnSpPr>
        <p:spPr>
          <a:xfrm>
            <a:off x="13077825" y="7946816"/>
            <a:ext cx="176213" cy="67682"/>
          </a:xfrm>
          <a:prstGeom prst="line">
            <a:avLst/>
          </a:prstGeom>
          <a:ln w="47625">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36" name="Connector 235"/>
          <p:cNvCxnSpPr/>
          <p:nvPr/>
        </p:nvCxnSpPr>
        <p:spPr>
          <a:xfrm>
            <a:off x="13254038" y="8014498"/>
            <a:ext cx="176212" cy="66377"/>
          </a:xfrm>
          <a:prstGeom prst="line">
            <a:avLst/>
          </a:prstGeom>
          <a:ln w="47625">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37" name="Connector 236"/>
          <p:cNvCxnSpPr/>
          <p:nvPr/>
        </p:nvCxnSpPr>
        <p:spPr>
          <a:xfrm>
            <a:off x="13430250" y="8080875"/>
            <a:ext cx="176212" cy="60070"/>
          </a:xfrm>
          <a:prstGeom prst="line">
            <a:avLst/>
          </a:prstGeom>
          <a:ln w="47625">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38" name="Connector 237"/>
          <p:cNvCxnSpPr/>
          <p:nvPr/>
        </p:nvCxnSpPr>
        <p:spPr>
          <a:xfrm>
            <a:off x="13606462" y="8140945"/>
            <a:ext cx="176213" cy="48269"/>
          </a:xfrm>
          <a:prstGeom prst="line">
            <a:avLst/>
          </a:prstGeom>
          <a:ln w="47625">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39" name="Connector 238"/>
          <p:cNvCxnSpPr/>
          <p:nvPr/>
        </p:nvCxnSpPr>
        <p:spPr>
          <a:xfrm>
            <a:off x="13782675" y="8189214"/>
            <a:ext cx="176213" cy="31393"/>
          </a:xfrm>
          <a:prstGeom prst="line">
            <a:avLst/>
          </a:prstGeom>
          <a:ln w="47625">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40" name="Connector 239"/>
          <p:cNvCxnSpPr/>
          <p:nvPr/>
        </p:nvCxnSpPr>
        <p:spPr>
          <a:xfrm>
            <a:off x="13958888" y="8220607"/>
            <a:ext cx="176212" cy="10903"/>
          </a:xfrm>
          <a:prstGeom prst="line">
            <a:avLst/>
          </a:prstGeom>
          <a:ln w="47625">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41" name="Connector 240"/>
          <p:cNvCxnSpPr/>
          <p:nvPr/>
        </p:nvCxnSpPr>
        <p:spPr>
          <a:xfrm flipV="1">
            <a:off x="14135100" y="8220608"/>
            <a:ext cx="176212" cy="10902"/>
          </a:xfrm>
          <a:prstGeom prst="line">
            <a:avLst/>
          </a:prstGeom>
          <a:ln w="47625">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42" name="Connector 241"/>
          <p:cNvCxnSpPr/>
          <p:nvPr/>
        </p:nvCxnSpPr>
        <p:spPr>
          <a:xfrm flipV="1">
            <a:off x="14311312" y="8189214"/>
            <a:ext cx="176213" cy="31394"/>
          </a:xfrm>
          <a:prstGeom prst="line">
            <a:avLst/>
          </a:prstGeom>
          <a:ln w="47625">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43" name="Connector 242"/>
          <p:cNvCxnSpPr/>
          <p:nvPr/>
        </p:nvCxnSpPr>
        <p:spPr>
          <a:xfrm flipV="1">
            <a:off x="14487525" y="8140945"/>
            <a:ext cx="176213" cy="48269"/>
          </a:xfrm>
          <a:prstGeom prst="line">
            <a:avLst/>
          </a:prstGeom>
          <a:ln w="47625">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44" name="Connector 243"/>
          <p:cNvCxnSpPr/>
          <p:nvPr/>
        </p:nvCxnSpPr>
        <p:spPr>
          <a:xfrm flipV="1">
            <a:off x="14663738" y="8080876"/>
            <a:ext cx="176212" cy="60069"/>
          </a:xfrm>
          <a:prstGeom prst="line">
            <a:avLst/>
          </a:prstGeom>
          <a:ln w="47625">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45" name="Connector 244"/>
          <p:cNvCxnSpPr/>
          <p:nvPr/>
        </p:nvCxnSpPr>
        <p:spPr>
          <a:xfrm flipV="1">
            <a:off x="14839950" y="8014500"/>
            <a:ext cx="176212" cy="66376"/>
          </a:xfrm>
          <a:prstGeom prst="line">
            <a:avLst/>
          </a:prstGeom>
          <a:ln w="47625">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46" name="Connector 245"/>
          <p:cNvCxnSpPr/>
          <p:nvPr/>
        </p:nvCxnSpPr>
        <p:spPr>
          <a:xfrm flipV="1">
            <a:off x="15016162" y="7946818"/>
            <a:ext cx="176213" cy="67682"/>
          </a:xfrm>
          <a:prstGeom prst="line">
            <a:avLst/>
          </a:prstGeom>
          <a:ln w="47625">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47" name="Connector 246"/>
          <p:cNvCxnSpPr/>
          <p:nvPr/>
        </p:nvCxnSpPr>
        <p:spPr>
          <a:xfrm flipV="1">
            <a:off x="15192375" y="7881764"/>
            <a:ext cx="176213" cy="65054"/>
          </a:xfrm>
          <a:prstGeom prst="line">
            <a:avLst/>
          </a:prstGeom>
          <a:ln w="47625">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48" name="Connector 247"/>
          <p:cNvCxnSpPr/>
          <p:nvPr/>
        </p:nvCxnSpPr>
        <p:spPr>
          <a:xfrm flipV="1">
            <a:off x="15368588" y="7822001"/>
            <a:ext cx="176212" cy="59763"/>
          </a:xfrm>
          <a:prstGeom prst="line">
            <a:avLst/>
          </a:prstGeom>
          <a:ln w="47625">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49" name="Connector 248"/>
          <p:cNvCxnSpPr/>
          <p:nvPr/>
        </p:nvCxnSpPr>
        <p:spPr>
          <a:xfrm flipV="1">
            <a:off x="15544800" y="7769004"/>
            <a:ext cx="176212" cy="52997"/>
          </a:xfrm>
          <a:prstGeom prst="line">
            <a:avLst/>
          </a:prstGeom>
          <a:ln w="47625">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50" name="Connector 249"/>
          <p:cNvCxnSpPr/>
          <p:nvPr/>
        </p:nvCxnSpPr>
        <p:spPr>
          <a:xfrm flipV="1">
            <a:off x="15721012" y="7723293"/>
            <a:ext cx="176213" cy="45711"/>
          </a:xfrm>
          <a:prstGeom prst="line">
            <a:avLst/>
          </a:prstGeom>
          <a:ln w="47625">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51" name="Connector 250"/>
          <p:cNvCxnSpPr/>
          <p:nvPr/>
        </p:nvCxnSpPr>
        <p:spPr>
          <a:xfrm flipV="1">
            <a:off x="15897225" y="7684720"/>
            <a:ext cx="176213" cy="38573"/>
          </a:xfrm>
          <a:prstGeom prst="line">
            <a:avLst/>
          </a:prstGeom>
          <a:ln w="47625">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52" name="Connector 251"/>
          <p:cNvCxnSpPr/>
          <p:nvPr/>
        </p:nvCxnSpPr>
        <p:spPr>
          <a:xfrm flipV="1">
            <a:off x="16073438" y="7652728"/>
            <a:ext cx="176212" cy="31992"/>
          </a:xfrm>
          <a:prstGeom prst="line">
            <a:avLst/>
          </a:prstGeom>
          <a:ln w="47625">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53" name="Connector 252"/>
          <p:cNvCxnSpPr/>
          <p:nvPr/>
        </p:nvCxnSpPr>
        <p:spPr>
          <a:xfrm flipV="1">
            <a:off x="16249650" y="7626553"/>
            <a:ext cx="176212" cy="26175"/>
          </a:xfrm>
          <a:prstGeom prst="line">
            <a:avLst/>
          </a:prstGeom>
          <a:ln w="47625">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54" name="Connector 253"/>
          <p:cNvCxnSpPr/>
          <p:nvPr/>
        </p:nvCxnSpPr>
        <p:spPr>
          <a:xfrm flipV="1">
            <a:off x="16425862" y="7605366"/>
            <a:ext cx="176213" cy="21187"/>
          </a:xfrm>
          <a:prstGeom prst="line">
            <a:avLst/>
          </a:prstGeom>
          <a:ln w="47625">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55" name="Connector 254"/>
          <p:cNvCxnSpPr/>
          <p:nvPr/>
        </p:nvCxnSpPr>
        <p:spPr>
          <a:xfrm flipV="1">
            <a:off x="16602075" y="7588360"/>
            <a:ext cx="176213" cy="17006"/>
          </a:xfrm>
          <a:prstGeom prst="line">
            <a:avLst/>
          </a:prstGeom>
          <a:ln w="47625">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56" name="Connector 255"/>
          <p:cNvCxnSpPr/>
          <p:nvPr/>
        </p:nvCxnSpPr>
        <p:spPr>
          <a:xfrm flipV="1">
            <a:off x="16778288" y="7550980"/>
            <a:ext cx="176212" cy="37380"/>
          </a:xfrm>
          <a:prstGeom prst="line">
            <a:avLst/>
          </a:prstGeom>
          <a:ln w="47625">
            <a:solidFill>
              <a:srgbClr val="CC2200"/>
            </a:solidFill>
          </a:ln>
        </p:spPr>
        <p:style>
          <a:lnRef idx="2">
            <a:schemeClr val="accent1"/>
          </a:lnRef>
          <a:fillRef idx="0">
            <a:schemeClr val="accent1"/>
          </a:fillRef>
          <a:effectRef idx="1">
            <a:schemeClr val="accent1"/>
          </a:effectRef>
          <a:fontRef idx="minor">
            <a:schemeClr val="tx1"/>
          </a:fontRef>
        </p:style>
      </p:cxnSp>
      <p:sp>
        <p:nvSpPr>
          <p:cNvPr id="257" name="Oval 256"/>
          <p:cNvSpPr/>
          <p:nvPr/>
        </p:nvSpPr>
        <p:spPr>
          <a:xfrm>
            <a:off x="3009900" y="7426659"/>
            <a:ext cx="47625" cy="47625"/>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8" name="Oval 257"/>
          <p:cNvSpPr/>
          <p:nvPr/>
        </p:nvSpPr>
        <p:spPr>
          <a:xfrm>
            <a:off x="3186112" y="7399425"/>
            <a:ext cx="47625" cy="47625"/>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9" name="Oval 258"/>
          <p:cNvSpPr/>
          <p:nvPr/>
        </p:nvSpPr>
        <p:spPr>
          <a:xfrm>
            <a:off x="3362325" y="7362860"/>
            <a:ext cx="47625" cy="47625"/>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0" name="Oval 259"/>
          <p:cNvSpPr/>
          <p:nvPr/>
        </p:nvSpPr>
        <p:spPr>
          <a:xfrm>
            <a:off x="3538538" y="7314325"/>
            <a:ext cx="47625" cy="47625"/>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1" name="Oval 260"/>
          <p:cNvSpPr/>
          <p:nvPr/>
        </p:nvSpPr>
        <p:spPr>
          <a:xfrm>
            <a:off x="3714750" y="7250908"/>
            <a:ext cx="47625" cy="47625"/>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2" name="Oval 261"/>
          <p:cNvSpPr/>
          <p:nvPr/>
        </p:nvSpPr>
        <p:spPr>
          <a:xfrm>
            <a:off x="3890962" y="7169802"/>
            <a:ext cx="47625" cy="47625"/>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3" name="Oval 262"/>
          <p:cNvSpPr/>
          <p:nvPr/>
        </p:nvSpPr>
        <p:spPr>
          <a:xfrm>
            <a:off x="4067175" y="7069063"/>
            <a:ext cx="47625" cy="47625"/>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4" name="Oval 263"/>
          <p:cNvSpPr/>
          <p:nvPr/>
        </p:nvSpPr>
        <p:spPr>
          <a:xfrm>
            <a:off x="4243388" y="6948810"/>
            <a:ext cx="47625" cy="47625"/>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5" name="Oval 264"/>
          <p:cNvSpPr/>
          <p:nvPr/>
        </p:nvSpPr>
        <p:spPr>
          <a:xfrm>
            <a:off x="4419600" y="6812824"/>
            <a:ext cx="47625" cy="47625"/>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6" name="Oval 265"/>
          <p:cNvSpPr/>
          <p:nvPr/>
        </p:nvSpPr>
        <p:spPr>
          <a:xfrm>
            <a:off x="4595812" y="6670072"/>
            <a:ext cx="47625" cy="47625"/>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7" name="Oval 266"/>
          <p:cNvSpPr/>
          <p:nvPr/>
        </p:nvSpPr>
        <p:spPr>
          <a:xfrm>
            <a:off x="4772025" y="6535235"/>
            <a:ext cx="47625" cy="47625"/>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8" name="Oval 267"/>
          <p:cNvSpPr/>
          <p:nvPr/>
        </p:nvSpPr>
        <p:spPr>
          <a:xfrm>
            <a:off x="4948238" y="6427051"/>
            <a:ext cx="47625" cy="47625"/>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9" name="Oval 268"/>
          <p:cNvSpPr/>
          <p:nvPr/>
        </p:nvSpPr>
        <p:spPr>
          <a:xfrm>
            <a:off x="5124450" y="6363917"/>
            <a:ext cx="47625" cy="47625"/>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0" name="Oval 269"/>
          <p:cNvSpPr/>
          <p:nvPr/>
        </p:nvSpPr>
        <p:spPr>
          <a:xfrm>
            <a:off x="5300662" y="6357938"/>
            <a:ext cx="47625" cy="47625"/>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1" name="Oval 270"/>
          <p:cNvSpPr/>
          <p:nvPr/>
        </p:nvSpPr>
        <p:spPr>
          <a:xfrm>
            <a:off x="5476875" y="6410311"/>
            <a:ext cx="47625" cy="47625"/>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2" name="Oval 271"/>
          <p:cNvSpPr/>
          <p:nvPr/>
        </p:nvSpPr>
        <p:spPr>
          <a:xfrm>
            <a:off x="5653088" y="6510848"/>
            <a:ext cx="47625" cy="47625"/>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3" name="Oval 272"/>
          <p:cNvSpPr/>
          <p:nvPr/>
        </p:nvSpPr>
        <p:spPr>
          <a:xfrm>
            <a:off x="5829300" y="6641928"/>
            <a:ext cx="47625" cy="47625"/>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4" name="Oval 273"/>
          <p:cNvSpPr/>
          <p:nvPr/>
        </p:nvSpPr>
        <p:spPr>
          <a:xfrm>
            <a:off x="6005512" y="6784450"/>
            <a:ext cx="47625" cy="47625"/>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5" name="Oval 274"/>
          <p:cNvSpPr/>
          <p:nvPr/>
        </p:nvSpPr>
        <p:spPr>
          <a:xfrm>
            <a:off x="6181725" y="6922702"/>
            <a:ext cx="47625" cy="47625"/>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6" name="Oval 275"/>
          <p:cNvSpPr/>
          <p:nvPr/>
        </p:nvSpPr>
        <p:spPr>
          <a:xfrm>
            <a:off x="6357938" y="7046561"/>
            <a:ext cx="47625" cy="47625"/>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7" name="Oval 276"/>
          <p:cNvSpPr/>
          <p:nvPr/>
        </p:nvSpPr>
        <p:spPr>
          <a:xfrm>
            <a:off x="6534150" y="7151320"/>
            <a:ext cx="47625" cy="47625"/>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8" name="Oval 277"/>
          <p:cNvSpPr/>
          <p:nvPr/>
        </p:nvSpPr>
        <p:spPr>
          <a:xfrm>
            <a:off x="6710362" y="7236260"/>
            <a:ext cx="47625" cy="47625"/>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9" name="Oval 278"/>
          <p:cNvSpPr/>
          <p:nvPr/>
        </p:nvSpPr>
        <p:spPr>
          <a:xfrm>
            <a:off x="6886575" y="7303027"/>
            <a:ext cx="47625" cy="47625"/>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0" name="Oval 279"/>
          <p:cNvSpPr/>
          <p:nvPr/>
        </p:nvSpPr>
        <p:spPr>
          <a:xfrm>
            <a:off x="7062788" y="7354329"/>
            <a:ext cx="47625" cy="47625"/>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1" name="Oval 280"/>
          <p:cNvSpPr/>
          <p:nvPr/>
        </p:nvSpPr>
        <p:spPr>
          <a:xfrm>
            <a:off x="7239000" y="7393102"/>
            <a:ext cx="47625" cy="47625"/>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2" name="Oval 281"/>
          <p:cNvSpPr/>
          <p:nvPr/>
        </p:nvSpPr>
        <p:spPr>
          <a:xfrm>
            <a:off x="7415212" y="7422057"/>
            <a:ext cx="47625" cy="47625"/>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3" name="Oval 282"/>
          <p:cNvSpPr/>
          <p:nvPr/>
        </p:nvSpPr>
        <p:spPr>
          <a:xfrm>
            <a:off x="7591425" y="7443501"/>
            <a:ext cx="47625" cy="47625"/>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4" name="Oval 283"/>
          <p:cNvSpPr/>
          <p:nvPr/>
        </p:nvSpPr>
        <p:spPr>
          <a:xfrm>
            <a:off x="7767638" y="7459294"/>
            <a:ext cx="47625" cy="47625"/>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5" name="Oval 284"/>
          <p:cNvSpPr/>
          <p:nvPr/>
        </p:nvSpPr>
        <p:spPr>
          <a:xfrm>
            <a:off x="7943850" y="7470888"/>
            <a:ext cx="47625" cy="47625"/>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6" name="Oval 285"/>
          <p:cNvSpPr/>
          <p:nvPr/>
        </p:nvSpPr>
        <p:spPr>
          <a:xfrm>
            <a:off x="8120062" y="7479396"/>
            <a:ext cx="47625" cy="47625"/>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7" name="Oval 286"/>
          <p:cNvSpPr/>
          <p:nvPr/>
        </p:nvSpPr>
        <p:spPr>
          <a:xfrm>
            <a:off x="8296275" y="7485653"/>
            <a:ext cx="47625" cy="47625"/>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8" name="Oval 287"/>
          <p:cNvSpPr/>
          <p:nvPr/>
        </p:nvSpPr>
        <p:spPr>
          <a:xfrm>
            <a:off x="8472488" y="7490287"/>
            <a:ext cx="47625" cy="47625"/>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9" name="Oval 288"/>
          <p:cNvSpPr/>
          <p:nvPr/>
        </p:nvSpPr>
        <p:spPr>
          <a:xfrm>
            <a:off x="8648700" y="7493764"/>
            <a:ext cx="47625" cy="47625"/>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0" name="Oval 289"/>
          <p:cNvSpPr/>
          <p:nvPr/>
        </p:nvSpPr>
        <p:spPr>
          <a:xfrm>
            <a:off x="8824912" y="7496433"/>
            <a:ext cx="47625" cy="47625"/>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1" name="Oval 290"/>
          <p:cNvSpPr/>
          <p:nvPr/>
        </p:nvSpPr>
        <p:spPr>
          <a:xfrm>
            <a:off x="9001125" y="7498558"/>
            <a:ext cx="47625" cy="47625"/>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2" name="Oval 291"/>
          <p:cNvSpPr/>
          <p:nvPr/>
        </p:nvSpPr>
        <p:spPr>
          <a:xfrm>
            <a:off x="9177338" y="7500344"/>
            <a:ext cx="47625" cy="47625"/>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3" name="Oval 292"/>
          <p:cNvSpPr/>
          <p:nvPr/>
        </p:nvSpPr>
        <p:spPr>
          <a:xfrm>
            <a:off x="9353550" y="7501954"/>
            <a:ext cx="47625" cy="47625"/>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4" name="Oval 293"/>
          <p:cNvSpPr/>
          <p:nvPr/>
        </p:nvSpPr>
        <p:spPr>
          <a:xfrm>
            <a:off x="9529762" y="7503528"/>
            <a:ext cx="47625" cy="47625"/>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5" name="Oval 294"/>
          <p:cNvSpPr/>
          <p:nvPr/>
        </p:nvSpPr>
        <p:spPr>
          <a:xfrm>
            <a:off x="9705975" y="7505190"/>
            <a:ext cx="47625" cy="47625"/>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6" name="Oval 295"/>
          <p:cNvSpPr/>
          <p:nvPr/>
        </p:nvSpPr>
        <p:spPr>
          <a:xfrm>
            <a:off x="9882188" y="7507062"/>
            <a:ext cx="47625" cy="47625"/>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7" name="Oval 296"/>
          <p:cNvSpPr/>
          <p:nvPr/>
        </p:nvSpPr>
        <p:spPr>
          <a:xfrm>
            <a:off x="10058400" y="7509275"/>
            <a:ext cx="47625" cy="47625"/>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8" name="Oval 297"/>
          <p:cNvSpPr/>
          <p:nvPr/>
        </p:nvSpPr>
        <p:spPr>
          <a:xfrm>
            <a:off x="10234612" y="7511973"/>
            <a:ext cx="47625" cy="47625"/>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9" name="Oval 298"/>
          <p:cNvSpPr/>
          <p:nvPr/>
        </p:nvSpPr>
        <p:spPr>
          <a:xfrm>
            <a:off x="10410825" y="7515327"/>
            <a:ext cx="47625" cy="47625"/>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0" name="Oval 299"/>
          <p:cNvSpPr/>
          <p:nvPr/>
        </p:nvSpPr>
        <p:spPr>
          <a:xfrm>
            <a:off x="10587038" y="7519542"/>
            <a:ext cx="47625" cy="47625"/>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1" name="Oval 300"/>
          <p:cNvSpPr/>
          <p:nvPr/>
        </p:nvSpPr>
        <p:spPr>
          <a:xfrm>
            <a:off x="10763250" y="7524866"/>
            <a:ext cx="47625" cy="47625"/>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2" name="Oval 301"/>
          <p:cNvSpPr/>
          <p:nvPr/>
        </p:nvSpPr>
        <p:spPr>
          <a:xfrm>
            <a:off x="10939462" y="7531607"/>
            <a:ext cx="47625" cy="47625"/>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3" name="Oval 302"/>
          <p:cNvSpPr/>
          <p:nvPr/>
        </p:nvSpPr>
        <p:spPr>
          <a:xfrm>
            <a:off x="11115675" y="7540140"/>
            <a:ext cx="47625" cy="47625"/>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4" name="Oval 303"/>
          <p:cNvSpPr/>
          <p:nvPr/>
        </p:nvSpPr>
        <p:spPr>
          <a:xfrm>
            <a:off x="11291888" y="7550922"/>
            <a:ext cx="47625" cy="47625"/>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5" name="Oval 304"/>
          <p:cNvSpPr/>
          <p:nvPr/>
        </p:nvSpPr>
        <p:spPr>
          <a:xfrm>
            <a:off x="11468100" y="7564501"/>
            <a:ext cx="47625" cy="47625"/>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6" name="Oval 305"/>
          <p:cNvSpPr/>
          <p:nvPr/>
        </p:nvSpPr>
        <p:spPr>
          <a:xfrm>
            <a:off x="11644312" y="7581520"/>
            <a:ext cx="47625" cy="47625"/>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7" name="Oval 306"/>
          <p:cNvSpPr/>
          <p:nvPr/>
        </p:nvSpPr>
        <p:spPr>
          <a:xfrm>
            <a:off x="11820525" y="7602717"/>
            <a:ext cx="47625" cy="47625"/>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8" name="Oval 307"/>
          <p:cNvSpPr/>
          <p:nvPr/>
        </p:nvSpPr>
        <p:spPr>
          <a:xfrm>
            <a:off x="11996738" y="7628898"/>
            <a:ext cx="47625" cy="47625"/>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9" name="Oval 308"/>
          <p:cNvSpPr/>
          <p:nvPr/>
        </p:nvSpPr>
        <p:spPr>
          <a:xfrm>
            <a:off x="12172950" y="7660895"/>
            <a:ext cx="47625" cy="47625"/>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0" name="Oval 309"/>
          <p:cNvSpPr/>
          <p:nvPr/>
        </p:nvSpPr>
        <p:spPr>
          <a:xfrm>
            <a:off x="12349162" y="7699471"/>
            <a:ext cx="47625" cy="47625"/>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1" name="Oval 310"/>
          <p:cNvSpPr/>
          <p:nvPr/>
        </p:nvSpPr>
        <p:spPr>
          <a:xfrm>
            <a:off x="12525375" y="7745185"/>
            <a:ext cx="47625" cy="47625"/>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2" name="Oval 311"/>
          <p:cNvSpPr/>
          <p:nvPr/>
        </p:nvSpPr>
        <p:spPr>
          <a:xfrm>
            <a:off x="12701588" y="7798184"/>
            <a:ext cx="47625" cy="47625"/>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3" name="Oval 312"/>
          <p:cNvSpPr/>
          <p:nvPr/>
        </p:nvSpPr>
        <p:spPr>
          <a:xfrm>
            <a:off x="12877800" y="7857948"/>
            <a:ext cx="47625" cy="47625"/>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4" name="Oval 313"/>
          <p:cNvSpPr/>
          <p:nvPr/>
        </p:nvSpPr>
        <p:spPr>
          <a:xfrm>
            <a:off x="13054012" y="7923003"/>
            <a:ext cx="47625" cy="47625"/>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5" name="Oval 314"/>
          <p:cNvSpPr/>
          <p:nvPr/>
        </p:nvSpPr>
        <p:spPr>
          <a:xfrm>
            <a:off x="13230225" y="7990686"/>
            <a:ext cx="47625" cy="47625"/>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6" name="Oval 315"/>
          <p:cNvSpPr/>
          <p:nvPr/>
        </p:nvSpPr>
        <p:spPr>
          <a:xfrm>
            <a:off x="13406438" y="8057063"/>
            <a:ext cx="47625" cy="47625"/>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7" name="Oval 316"/>
          <p:cNvSpPr/>
          <p:nvPr/>
        </p:nvSpPr>
        <p:spPr>
          <a:xfrm>
            <a:off x="13582650" y="8117132"/>
            <a:ext cx="47625" cy="47625"/>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8" name="Oval 317"/>
          <p:cNvSpPr/>
          <p:nvPr/>
        </p:nvSpPr>
        <p:spPr>
          <a:xfrm>
            <a:off x="13758862" y="8165401"/>
            <a:ext cx="47625" cy="47625"/>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9" name="Oval 318"/>
          <p:cNvSpPr/>
          <p:nvPr/>
        </p:nvSpPr>
        <p:spPr>
          <a:xfrm>
            <a:off x="13935075" y="8196795"/>
            <a:ext cx="47625" cy="47625"/>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0" name="Oval 319"/>
          <p:cNvSpPr/>
          <p:nvPr/>
        </p:nvSpPr>
        <p:spPr>
          <a:xfrm>
            <a:off x="14111288" y="8207697"/>
            <a:ext cx="47625" cy="47625"/>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1" name="Oval 320"/>
          <p:cNvSpPr/>
          <p:nvPr/>
        </p:nvSpPr>
        <p:spPr>
          <a:xfrm>
            <a:off x="14287500" y="8196795"/>
            <a:ext cx="47625" cy="47625"/>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2" name="Oval 321"/>
          <p:cNvSpPr/>
          <p:nvPr/>
        </p:nvSpPr>
        <p:spPr>
          <a:xfrm>
            <a:off x="14463712" y="8165402"/>
            <a:ext cx="47625" cy="47625"/>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3" name="Oval 322"/>
          <p:cNvSpPr/>
          <p:nvPr/>
        </p:nvSpPr>
        <p:spPr>
          <a:xfrm>
            <a:off x="14639925" y="8117133"/>
            <a:ext cx="47625" cy="47625"/>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4" name="Oval 323"/>
          <p:cNvSpPr/>
          <p:nvPr/>
        </p:nvSpPr>
        <p:spPr>
          <a:xfrm>
            <a:off x="14816138" y="8057064"/>
            <a:ext cx="47625" cy="47625"/>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5" name="Oval 324"/>
          <p:cNvSpPr/>
          <p:nvPr/>
        </p:nvSpPr>
        <p:spPr>
          <a:xfrm>
            <a:off x="14992350" y="7990688"/>
            <a:ext cx="47625" cy="47625"/>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6" name="Oval 325"/>
          <p:cNvSpPr/>
          <p:nvPr/>
        </p:nvSpPr>
        <p:spPr>
          <a:xfrm>
            <a:off x="15168562" y="7923006"/>
            <a:ext cx="47625" cy="47625"/>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7" name="Oval 326"/>
          <p:cNvSpPr/>
          <p:nvPr/>
        </p:nvSpPr>
        <p:spPr>
          <a:xfrm>
            <a:off x="15344775" y="7857951"/>
            <a:ext cx="47625" cy="47625"/>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8" name="Oval 327"/>
          <p:cNvSpPr/>
          <p:nvPr/>
        </p:nvSpPr>
        <p:spPr>
          <a:xfrm>
            <a:off x="15520988" y="7798189"/>
            <a:ext cx="47625" cy="47625"/>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9" name="Oval 328"/>
          <p:cNvSpPr/>
          <p:nvPr/>
        </p:nvSpPr>
        <p:spPr>
          <a:xfrm>
            <a:off x="15697200" y="7745191"/>
            <a:ext cx="47625" cy="47625"/>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0" name="Oval 329"/>
          <p:cNvSpPr/>
          <p:nvPr/>
        </p:nvSpPr>
        <p:spPr>
          <a:xfrm>
            <a:off x="15873412" y="7699480"/>
            <a:ext cx="47625" cy="47625"/>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1" name="Oval 330"/>
          <p:cNvSpPr/>
          <p:nvPr/>
        </p:nvSpPr>
        <p:spPr>
          <a:xfrm>
            <a:off x="16049625" y="7660907"/>
            <a:ext cx="47625" cy="47625"/>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2" name="Oval 331"/>
          <p:cNvSpPr/>
          <p:nvPr/>
        </p:nvSpPr>
        <p:spPr>
          <a:xfrm>
            <a:off x="16225838" y="7628915"/>
            <a:ext cx="47625" cy="47625"/>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3" name="Oval 332"/>
          <p:cNvSpPr/>
          <p:nvPr/>
        </p:nvSpPr>
        <p:spPr>
          <a:xfrm>
            <a:off x="16402050" y="7602741"/>
            <a:ext cx="47625" cy="47625"/>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4" name="Oval 333"/>
          <p:cNvSpPr/>
          <p:nvPr/>
        </p:nvSpPr>
        <p:spPr>
          <a:xfrm>
            <a:off x="16578262" y="7581554"/>
            <a:ext cx="47625" cy="47625"/>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5" name="Oval 334"/>
          <p:cNvSpPr/>
          <p:nvPr/>
        </p:nvSpPr>
        <p:spPr>
          <a:xfrm>
            <a:off x="16754475" y="7564547"/>
            <a:ext cx="47625" cy="47625"/>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6" name="TextBox 335"/>
          <p:cNvSpPr txBox="1"/>
          <p:nvPr/>
        </p:nvSpPr>
        <p:spPr>
          <a:xfrm>
            <a:off x="1143000" y="6572250"/>
            <a:ext cx="1619250" cy="381000"/>
          </a:xfrm>
          <a:prstGeom prst="rect">
            <a:avLst/>
          </a:prstGeom>
          <a:noFill/>
        </p:spPr>
        <p:txBody>
          <a:bodyPr wrap="square" lIns="0" rIns="0" tIns="0" bIns="0" anchor="t">
            <a:spAutoFit/>
          </a:bodyPr>
          <a:lstStyle/>
          <a:p>
            <a:pPr algn="l"/>
            <a:r>
              <a:rPr sz="1500" b="1" i="0">
                <a:solidFill>
                  <a:srgbClr val="CC2200"/>
                </a:solidFill>
                <a:latin typeface="Geist Mono"/>
                <a:ea typeface="Geist Mono"/>
                <a:cs typeface="Geist Mono"/>
              </a:rPr>
              <a:t>differentiated</a:t>
            </a:r>
          </a:p>
        </p:txBody>
      </p:sp>
      <p:pic>
        <p:nvPicPr>
          <p:cNvPr id="337" name="Picture 336" descr="mw_logo_small.png"/>
          <p:cNvPicPr>
            <a:picLocks noChangeAspect="1"/>
          </p:cNvPicPr>
          <p:nvPr/>
        </p:nvPicPr>
        <p:blipFill>
          <a:blip r:embed="rId3"/>
          <a:stretch>
            <a:fillRect/>
          </a:stretch>
        </p:blipFill>
        <p:spPr>
          <a:xfrm>
            <a:off x="914400" y="9410700"/>
            <a:ext cx="583564" cy="495300"/>
          </a:xfrm>
          <a:prstGeom prst="rect">
            <a:avLst/>
          </a:prstGeom>
        </p:spPr>
      </p:pic>
      <p:sp>
        <p:nvSpPr>
          <p:cNvPr id="338" name="TextBox 337"/>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ADVANTAGESCOPE</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Poses: where is the robot?</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762250"/>
            <a:ext cx="10572750" cy="6191250"/>
          </a:xfrm>
          <a:prstGeom prst="roundRect">
            <a:avLst>
              <a:gd name="adj" fmla="val 2461"/>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ounded Rectangle 5"/>
          <p:cNvSpPr/>
          <p:nvPr/>
        </p:nvSpPr>
        <p:spPr>
          <a:xfrm>
            <a:off x="2009775" y="3048000"/>
            <a:ext cx="8382000" cy="4086225"/>
          </a:xfrm>
          <a:prstGeom prst="roundRect">
            <a:avLst>
              <a:gd name="adj" fmla="val 1398"/>
            </a:avLst>
          </a:prstGeom>
          <a:solidFill>
            <a:srgbClr val="0E1412"/>
          </a:solidFill>
          <a:ln w="28575">
            <a:solidFill>
              <a:srgbClr val="3A4A4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7" name="Connector 6"/>
          <p:cNvCxnSpPr/>
          <p:nvPr/>
        </p:nvCxnSpPr>
        <p:spPr>
          <a:xfrm>
            <a:off x="6200775" y="3048000"/>
            <a:ext cx="0" cy="4086225"/>
          </a:xfrm>
          <a:prstGeom prst="line">
            <a:avLst/>
          </a:prstGeom>
          <a:ln w="28575">
            <a:solidFill>
              <a:srgbClr val="3A4A44"/>
            </a:solidFill>
          </a:ln>
        </p:spPr>
        <p:style>
          <a:lnRef idx="2">
            <a:schemeClr val="accent1"/>
          </a:lnRef>
          <a:fillRef idx="0">
            <a:schemeClr val="accent1"/>
          </a:fillRef>
          <a:effectRef idx="1">
            <a:schemeClr val="accent1"/>
          </a:effectRef>
          <a:fontRef idx="minor">
            <a:schemeClr val="tx1"/>
          </a:fontRef>
        </p:style>
      </p:cxnSp>
      <p:sp>
        <p:nvSpPr>
          <p:cNvPr id="8" name="Rectangle 7"/>
          <p:cNvSpPr/>
          <p:nvPr/>
        </p:nvSpPr>
        <p:spPr>
          <a:xfrm>
            <a:off x="2009775" y="3048000"/>
            <a:ext cx="133350" cy="4086225"/>
          </a:xfrm>
          <a:prstGeom prst="rect">
            <a:avLst/>
          </a:prstGeom>
          <a:solidFill>
            <a:srgbClr val="6FA8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10258425" y="3048000"/>
            <a:ext cx="133350" cy="4086225"/>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10" name="Connector 9"/>
          <p:cNvCxnSpPr/>
          <p:nvPr/>
        </p:nvCxnSpPr>
        <p:spPr>
          <a:xfrm>
            <a:off x="2009775" y="5613911"/>
            <a:ext cx="2787243" cy="0"/>
          </a:xfrm>
          <a:prstGeom prst="line">
            <a:avLst/>
          </a:prstGeom>
          <a:ln w="19050">
            <a:solidFill>
              <a:srgbClr val="9A7878"/>
            </a:solidFill>
            <a:prstDash val="dash"/>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4797018" y="5613911"/>
            <a:ext cx="0" cy="1520314"/>
          </a:xfrm>
          <a:prstGeom prst="line">
            <a:avLst/>
          </a:prstGeom>
          <a:ln w="19050">
            <a:solidFill>
              <a:srgbClr val="9A7878"/>
            </a:solidFill>
            <a:prstDash val="dash"/>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2295525" y="5232911"/>
            <a:ext cx="2215743" cy="323850"/>
          </a:xfrm>
          <a:prstGeom prst="rect">
            <a:avLst/>
          </a:prstGeom>
          <a:noFill/>
        </p:spPr>
        <p:txBody>
          <a:bodyPr wrap="square" lIns="0" rIns="0" tIns="0" bIns="0" anchor="t">
            <a:spAutoFit/>
          </a:bodyPr>
          <a:lstStyle/>
          <a:p>
            <a:pPr algn="ctr"/>
            <a:r>
              <a:rPr sz="1650" b="0" i="0">
                <a:solidFill>
                  <a:srgbClr val="F0E8E8"/>
                </a:solidFill>
                <a:latin typeface="Geist Mono"/>
                <a:ea typeface="Geist Mono"/>
                <a:cs typeface="Geist Mono"/>
              </a:rPr>
              <a:t>x = 5.5 m</a:t>
            </a:r>
          </a:p>
        </p:txBody>
      </p:sp>
      <p:sp>
        <p:nvSpPr>
          <p:cNvPr id="13" name="TextBox 12"/>
          <p:cNvSpPr txBox="1"/>
          <p:nvPr/>
        </p:nvSpPr>
        <p:spPr>
          <a:xfrm>
            <a:off x="4911318" y="6185411"/>
            <a:ext cx="1905000" cy="323850"/>
          </a:xfrm>
          <a:prstGeom prst="rect">
            <a:avLst/>
          </a:prstGeom>
          <a:noFill/>
        </p:spPr>
        <p:txBody>
          <a:bodyPr wrap="square" lIns="0" rIns="0" tIns="0" bIns="0" anchor="t">
            <a:spAutoFit/>
          </a:bodyPr>
          <a:lstStyle/>
          <a:p>
            <a:pPr algn="l"/>
            <a:r>
              <a:rPr sz="1650" b="0" i="0">
                <a:solidFill>
                  <a:srgbClr val="F0E8E8"/>
                </a:solidFill>
                <a:latin typeface="Geist Mono"/>
                <a:ea typeface="Geist Mono"/>
                <a:cs typeface="Geist Mono"/>
              </a:rPr>
              <a:t>y = 3.0 m</a:t>
            </a:r>
          </a:p>
        </p:txBody>
      </p:sp>
      <p:sp>
        <p:nvSpPr>
          <p:cNvPr id="14" name="Oval 13"/>
          <p:cNvSpPr/>
          <p:nvPr/>
        </p:nvSpPr>
        <p:spPr>
          <a:xfrm>
            <a:off x="2755779" y="6487384"/>
            <a:ext cx="95250" cy="95250"/>
          </a:xfrm>
          <a:prstGeom prst="ellipse">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2884124" y="6486927"/>
            <a:ext cx="95250" cy="95250"/>
          </a:xfrm>
          <a:prstGeom prst="ellipse">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006414" y="6477789"/>
            <a:ext cx="95250" cy="95250"/>
          </a:xfrm>
          <a:prstGeom prst="ellipse">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3123079" y="6460655"/>
            <a:ext cx="95250" cy="95250"/>
          </a:xfrm>
          <a:prstGeom prst="ellipse">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3234547" y="6436212"/>
            <a:ext cx="95250" cy="95250"/>
          </a:xfrm>
          <a:prstGeom prst="ellipse">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3341246" y="6405143"/>
            <a:ext cx="95250" cy="95250"/>
          </a:xfrm>
          <a:prstGeom prst="ellipse">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3443605" y="6368134"/>
            <a:ext cx="95250" cy="95250"/>
          </a:xfrm>
          <a:prstGeom prst="ellipse">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3542051" y="6325872"/>
            <a:ext cx="95250" cy="95250"/>
          </a:xfrm>
          <a:prstGeom prst="ellipse">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3637014" y="6279040"/>
            <a:ext cx="95250" cy="95250"/>
          </a:xfrm>
          <a:prstGeom prst="ellipse">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3728921" y="6228325"/>
            <a:ext cx="95250" cy="95250"/>
          </a:xfrm>
          <a:prstGeom prst="ellipse">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3818200" y="6174411"/>
            <a:ext cx="95250" cy="95250"/>
          </a:xfrm>
          <a:prstGeom prst="ellipse">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3905282" y="6117985"/>
            <a:ext cx="95250" cy="95250"/>
          </a:xfrm>
          <a:prstGeom prst="ellipse">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3990592" y="6059731"/>
            <a:ext cx="95250" cy="95250"/>
          </a:xfrm>
          <a:prstGeom prst="ellipse">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4074561" y="6000335"/>
            <a:ext cx="95250" cy="95250"/>
          </a:xfrm>
          <a:prstGeom prst="ellipse">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4157616" y="5940482"/>
            <a:ext cx="95250" cy="95250"/>
          </a:xfrm>
          <a:prstGeom prst="ellipse">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4240185" y="5880857"/>
            <a:ext cx="95250" cy="95250"/>
          </a:xfrm>
          <a:prstGeom prst="ellipse">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2344728" y="6230824"/>
            <a:ext cx="647700" cy="590550"/>
          </a:xfrm>
          <a:prstGeom prst="roundRect">
            <a:avLst>
              <a:gd name="adj" fmla="val 12903"/>
            </a:avLst>
          </a:prstGeom>
          <a:noFill/>
          <a:ln w="19050">
            <a:solidFill>
              <a:srgbClr val="9A787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2097078" y="6888049"/>
            <a:ext cx="1143000" cy="285750"/>
          </a:xfrm>
          <a:prstGeom prst="rect">
            <a:avLst/>
          </a:prstGeom>
          <a:noFill/>
        </p:spPr>
        <p:txBody>
          <a:bodyPr wrap="square" lIns="0" rIns="0" tIns="0" bIns="0" anchor="t">
            <a:spAutoFit/>
          </a:bodyPr>
          <a:lstStyle/>
          <a:p>
            <a:pPr algn="ctr"/>
            <a:r>
              <a:rPr sz="1500" b="0" i="0">
                <a:solidFill>
                  <a:srgbClr val="9A7878"/>
                </a:solidFill>
                <a:latin typeface="Geist"/>
                <a:ea typeface="Geist"/>
                <a:cs typeface="Geist"/>
              </a:rPr>
              <a:t>start</a:t>
            </a:r>
          </a:p>
        </p:txBody>
      </p:sp>
      <p:cxnSp>
        <p:nvCxnSpPr>
          <p:cNvPr id="32" name="Connector 31"/>
          <p:cNvCxnSpPr/>
          <p:nvPr/>
        </p:nvCxnSpPr>
        <p:spPr>
          <a:xfrm flipV="1">
            <a:off x="4797018" y="4661411"/>
            <a:ext cx="1649778" cy="952500"/>
          </a:xfrm>
          <a:prstGeom prst="line">
            <a:avLst/>
          </a:prstGeom>
          <a:ln w="57150">
            <a:solidFill>
              <a:srgbClr val="CC2200"/>
            </a:solidFill>
            <a:tailEnd type="triangle" w="med" len="med"/>
          </a:ln>
        </p:spPr>
        <p:style>
          <a:lnRef idx="2">
            <a:schemeClr val="accent1"/>
          </a:lnRef>
          <a:fillRef idx="0">
            <a:schemeClr val="accent1"/>
          </a:fillRef>
          <a:effectRef idx="1">
            <a:schemeClr val="accent1"/>
          </a:effectRef>
          <a:fontRef idx="minor">
            <a:schemeClr val="tx1"/>
          </a:fontRef>
        </p:style>
      </p:cxnSp>
      <p:pic>
        <p:nvPicPr>
          <p:cNvPr id="33" name="Picture 32" descr="dozer_top.png"/>
          <p:cNvPicPr>
            <a:picLocks noChangeAspect="1"/>
          </p:cNvPicPr>
          <p:nvPr/>
        </p:nvPicPr>
        <p:blipFill>
          <a:blip r:embed="rId3"/>
          <a:stretch>
            <a:fillRect/>
          </a:stretch>
        </p:blipFill>
        <p:spPr>
          <a:xfrm rot="19800000">
            <a:off x="4082643" y="4956686"/>
            <a:ext cx="1428750" cy="1313311"/>
          </a:xfrm>
          <a:prstGeom prst="rect">
            <a:avLst/>
          </a:prstGeom>
        </p:spPr>
      </p:pic>
      <p:cxnSp>
        <p:nvCxnSpPr>
          <p:cNvPr id="34" name="Connector 33"/>
          <p:cNvCxnSpPr/>
          <p:nvPr/>
        </p:nvCxnSpPr>
        <p:spPr>
          <a:xfrm>
            <a:off x="4797018" y="5613911"/>
            <a:ext cx="1809750" cy="0"/>
          </a:xfrm>
          <a:prstGeom prst="line">
            <a:avLst/>
          </a:prstGeom>
          <a:ln w="19050">
            <a:solidFill>
              <a:srgbClr val="2A1A1A"/>
            </a:solidFill>
            <a:prstDash val="dash"/>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6702018" y="5451986"/>
            <a:ext cx="1905000" cy="323850"/>
          </a:xfrm>
          <a:prstGeom prst="rect">
            <a:avLst/>
          </a:prstGeom>
          <a:noFill/>
        </p:spPr>
        <p:txBody>
          <a:bodyPr wrap="square" lIns="0" rIns="0" tIns="0" bIns="0" anchor="t">
            <a:spAutoFit/>
          </a:bodyPr>
          <a:lstStyle/>
          <a:p>
            <a:pPr algn="l"/>
            <a:r>
              <a:rPr sz="1650" b="1" i="0">
                <a:solidFill>
                  <a:srgbClr val="CC2200"/>
                </a:solidFill>
                <a:latin typeface="Geist Mono"/>
                <a:ea typeface="Geist Mono"/>
                <a:cs typeface="Geist Mono"/>
              </a:rPr>
              <a:t>θ = 30°</a:t>
            </a:r>
          </a:p>
        </p:txBody>
      </p:sp>
      <p:sp>
        <p:nvSpPr>
          <p:cNvPr id="36" name="Oval 35"/>
          <p:cNvSpPr/>
          <p:nvPr/>
        </p:nvSpPr>
        <p:spPr>
          <a:xfrm>
            <a:off x="1933575" y="7058025"/>
            <a:ext cx="152400" cy="15240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724025" y="7267575"/>
            <a:ext cx="1905000" cy="285750"/>
          </a:xfrm>
          <a:prstGeom prst="rect">
            <a:avLst/>
          </a:prstGeom>
          <a:noFill/>
        </p:spPr>
        <p:txBody>
          <a:bodyPr wrap="square" lIns="0" rIns="0" tIns="0" bIns="0" anchor="t">
            <a:spAutoFit/>
          </a:bodyPr>
          <a:lstStyle/>
          <a:p>
            <a:pPr algn="l"/>
            <a:r>
              <a:rPr sz="1500" b="0" i="0">
                <a:solidFill>
                  <a:srgbClr val="F0E8E8"/>
                </a:solidFill>
                <a:latin typeface="Geist Mono"/>
                <a:ea typeface="Geist Mono"/>
                <a:cs typeface="Geist Mono"/>
              </a:rPr>
              <a:t>(0, 0)</a:t>
            </a:r>
          </a:p>
        </p:txBody>
      </p:sp>
      <p:sp>
        <p:nvSpPr>
          <p:cNvPr id="38" name="TextBox 37"/>
          <p:cNvSpPr txBox="1"/>
          <p:nvPr/>
        </p:nvSpPr>
        <p:spPr>
          <a:xfrm>
            <a:off x="7534275" y="7267575"/>
            <a:ext cx="2857500" cy="285750"/>
          </a:xfrm>
          <a:prstGeom prst="rect">
            <a:avLst/>
          </a:prstGeom>
          <a:noFill/>
        </p:spPr>
        <p:txBody>
          <a:bodyPr wrap="square" lIns="0" rIns="0" tIns="0" bIns="0" anchor="t">
            <a:spAutoFit/>
          </a:bodyPr>
          <a:lstStyle/>
          <a:p>
            <a:pPr algn="r"/>
            <a:r>
              <a:rPr sz="1500" b="0" i="0">
                <a:solidFill>
                  <a:srgbClr val="9A7878"/>
                </a:solidFill>
                <a:latin typeface="Geist"/>
                <a:ea typeface="Geist"/>
                <a:cs typeface="Geist"/>
              </a:rPr>
              <a:t>x →</a:t>
            </a:r>
          </a:p>
        </p:txBody>
      </p:sp>
      <p:sp>
        <p:nvSpPr>
          <p:cNvPr id="39" name="Rounded Rectangle 38"/>
          <p:cNvSpPr/>
          <p:nvPr/>
        </p:nvSpPr>
        <p:spPr>
          <a:xfrm>
            <a:off x="2009775" y="7620000"/>
            <a:ext cx="8382000" cy="1055370"/>
          </a:xfrm>
          <a:prstGeom prst="roundRect">
            <a:avLst>
              <a:gd name="adj" fmla="val 14440"/>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2390775" y="8001000"/>
            <a:ext cx="7620000" cy="293370"/>
          </a:xfrm>
          <a:prstGeom prst="rect">
            <a:avLst/>
          </a:prstGeom>
          <a:noFill/>
        </p:spPr>
        <p:txBody>
          <a:bodyPr wrap="square" lIns="0" rIns="0" tIns="0" bIns="0" anchor="ctr">
            <a:spAutoFit/>
          </a:bodyPr>
          <a:lstStyle/>
          <a:p>
            <a:pPr algn="l"/>
            <a:r>
              <a:rPr sz="1650" b="0" i="0">
                <a:solidFill>
                  <a:srgbClr val="E0785F"/>
                </a:solidFill>
                <a:latin typeface="Geist Mono"/>
                <a:ea typeface="Geist Mono"/>
                <a:cs typeface="Geist Mono"/>
              </a:rPr>
              <a:t>new </a:t>
            </a:r>
            <a:r>
              <a:rPr sz="1650" b="0" i="0">
                <a:solidFill>
                  <a:srgbClr val="F0E8E8"/>
                </a:solidFill>
                <a:latin typeface="Geist Mono"/>
                <a:ea typeface="Geist Mono"/>
                <a:cs typeface="Geist Mono"/>
              </a:rPr>
              <a:t>Pose2d(</a:t>
            </a:r>
            <a:r>
              <a:rPr sz="1650" b="0" i="0">
                <a:solidFill>
                  <a:srgbClr val="E8C27A"/>
                </a:solidFill>
                <a:latin typeface="Geist Mono"/>
                <a:ea typeface="Geist Mono"/>
                <a:cs typeface="Geist Mono"/>
              </a:rPr>
              <a:t>5.5</a:t>
            </a:r>
            <a:r>
              <a:rPr sz="1650" b="0" i="0">
                <a:solidFill>
                  <a:srgbClr val="F0E8E8"/>
                </a:solidFill>
                <a:latin typeface="Geist Mono"/>
                <a:ea typeface="Geist Mono"/>
                <a:cs typeface="Geist Mono"/>
              </a:rPr>
              <a:t>, </a:t>
            </a:r>
            <a:r>
              <a:rPr sz="1650" b="0" i="0">
                <a:solidFill>
                  <a:srgbClr val="E8C27A"/>
                </a:solidFill>
                <a:latin typeface="Geist Mono"/>
                <a:ea typeface="Geist Mono"/>
                <a:cs typeface="Geist Mono"/>
              </a:rPr>
              <a:t>3.0</a:t>
            </a:r>
            <a:r>
              <a:rPr sz="1650" b="0" i="0">
                <a:solidFill>
                  <a:srgbClr val="F0E8E8"/>
                </a:solidFill>
                <a:latin typeface="Geist Mono"/>
                <a:ea typeface="Geist Mono"/>
                <a:cs typeface="Geist Mono"/>
              </a:rPr>
              <a:t>, Rotation2d.fromDegrees(</a:t>
            </a:r>
            <a:r>
              <a:rPr sz="1650" b="0" i="0">
                <a:solidFill>
                  <a:srgbClr val="E8C27A"/>
                </a:solidFill>
                <a:latin typeface="Geist Mono"/>
                <a:ea typeface="Geist Mono"/>
                <a:cs typeface="Geist Mono"/>
              </a:rPr>
              <a:t>30</a:t>
            </a:r>
            <a:r>
              <a:rPr sz="1650" b="0" i="0">
                <a:solidFill>
                  <a:srgbClr val="F0E8E8"/>
                </a:solidFill>
                <a:latin typeface="Geist Mono"/>
                <a:ea typeface="Geist Mono"/>
                <a:cs typeface="Geist Mono"/>
              </a:rPr>
              <a:t>))</a:t>
            </a:r>
          </a:p>
        </p:txBody>
      </p:sp>
      <p:sp>
        <p:nvSpPr>
          <p:cNvPr id="41" name="Rounded Rectangle 40"/>
          <p:cNvSpPr/>
          <p:nvPr/>
        </p:nvSpPr>
        <p:spPr>
          <a:xfrm>
            <a:off x="11906250" y="2857500"/>
            <a:ext cx="5467350" cy="1314450"/>
          </a:xfrm>
          <a:prstGeom prst="roundRect">
            <a:avLst>
              <a:gd name="adj" fmla="val 10144"/>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12249150" y="3028950"/>
            <a:ext cx="4762500" cy="419100"/>
          </a:xfrm>
          <a:prstGeom prst="rect">
            <a:avLst/>
          </a:prstGeom>
          <a:noFill/>
        </p:spPr>
        <p:txBody>
          <a:bodyPr wrap="square" lIns="0" rIns="0" tIns="0" bIns="0" anchor="t">
            <a:spAutoFit/>
          </a:bodyPr>
          <a:lstStyle/>
          <a:p>
            <a:pPr algn="l"/>
            <a:r>
              <a:rPr sz="2400" b="1" i="0">
                <a:solidFill>
                  <a:srgbClr val="CC2200"/>
                </a:solidFill>
                <a:latin typeface="Geist Mono"/>
                <a:ea typeface="Geist Mono"/>
                <a:cs typeface="Geist Mono"/>
              </a:rPr>
              <a:t>x</a:t>
            </a:r>
          </a:p>
        </p:txBody>
      </p:sp>
      <p:sp>
        <p:nvSpPr>
          <p:cNvPr id="43" name="TextBox 42"/>
          <p:cNvSpPr txBox="1"/>
          <p:nvPr/>
        </p:nvSpPr>
        <p:spPr>
          <a:xfrm>
            <a:off x="12249150" y="3524250"/>
            <a:ext cx="4857750" cy="47625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Meters from the blue alliance wall</a:t>
            </a:r>
          </a:p>
        </p:txBody>
      </p:sp>
      <p:sp>
        <p:nvSpPr>
          <p:cNvPr id="44" name="Rounded Rectangle 43"/>
          <p:cNvSpPr/>
          <p:nvPr/>
        </p:nvSpPr>
        <p:spPr>
          <a:xfrm>
            <a:off x="11906250" y="4362450"/>
            <a:ext cx="5467350" cy="1314450"/>
          </a:xfrm>
          <a:prstGeom prst="roundRect">
            <a:avLst>
              <a:gd name="adj" fmla="val 10144"/>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12249150" y="4533900"/>
            <a:ext cx="4762500" cy="419100"/>
          </a:xfrm>
          <a:prstGeom prst="rect">
            <a:avLst/>
          </a:prstGeom>
          <a:noFill/>
        </p:spPr>
        <p:txBody>
          <a:bodyPr wrap="square" lIns="0" rIns="0" tIns="0" bIns="0" anchor="t">
            <a:spAutoFit/>
          </a:bodyPr>
          <a:lstStyle/>
          <a:p>
            <a:pPr algn="l"/>
            <a:r>
              <a:rPr sz="2400" b="1" i="0">
                <a:solidFill>
                  <a:srgbClr val="CC2200"/>
                </a:solidFill>
                <a:latin typeface="Geist Mono"/>
                <a:ea typeface="Geist Mono"/>
                <a:cs typeface="Geist Mono"/>
              </a:rPr>
              <a:t>y</a:t>
            </a:r>
          </a:p>
        </p:txBody>
      </p:sp>
      <p:sp>
        <p:nvSpPr>
          <p:cNvPr id="46" name="TextBox 45"/>
          <p:cNvSpPr txBox="1"/>
          <p:nvPr/>
        </p:nvSpPr>
        <p:spPr>
          <a:xfrm>
            <a:off x="12249150" y="5029200"/>
            <a:ext cx="4857750" cy="47625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Meters from the side of the field</a:t>
            </a:r>
          </a:p>
        </p:txBody>
      </p:sp>
      <p:sp>
        <p:nvSpPr>
          <p:cNvPr id="47" name="Rounded Rectangle 46"/>
          <p:cNvSpPr/>
          <p:nvPr/>
        </p:nvSpPr>
        <p:spPr>
          <a:xfrm>
            <a:off x="11906250" y="5867400"/>
            <a:ext cx="5467350" cy="1314450"/>
          </a:xfrm>
          <a:prstGeom prst="roundRect">
            <a:avLst>
              <a:gd name="adj" fmla="val 10144"/>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12249150" y="6038850"/>
            <a:ext cx="4762500" cy="419100"/>
          </a:xfrm>
          <a:prstGeom prst="rect">
            <a:avLst/>
          </a:prstGeom>
          <a:noFill/>
        </p:spPr>
        <p:txBody>
          <a:bodyPr wrap="square" lIns="0" rIns="0" tIns="0" bIns="0" anchor="t">
            <a:spAutoFit/>
          </a:bodyPr>
          <a:lstStyle/>
          <a:p>
            <a:pPr algn="l"/>
            <a:r>
              <a:rPr sz="2400" b="1" i="0">
                <a:solidFill>
                  <a:srgbClr val="CC2200"/>
                </a:solidFill>
                <a:latin typeface="Geist"/>
                <a:ea typeface="Geist"/>
                <a:cs typeface="Geist"/>
              </a:rPr>
              <a:t>Rotation</a:t>
            </a:r>
          </a:p>
        </p:txBody>
      </p:sp>
      <p:sp>
        <p:nvSpPr>
          <p:cNvPr id="49" name="TextBox 48"/>
          <p:cNvSpPr txBox="1"/>
          <p:nvPr/>
        </p:nvSpPr>
        <p:spPr>
          <a:xfrm>
            <a:off x="12249150" y="6534150"/>
            <a:ext cx="4857750" cy="47625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Which way it faces, counterclockwise</a:t>
            </a:r>
          </a:p>
        </p:txBody>
      </p:sp>
      <p:sp>
        <p:nvSpPr>
          <p:cNvPr id="50" name="Rounded Rectangle 49"/>
          <p:cNvSpPr/>
          <p:nvPr/>
        </p:nvSpPr>
        <p:spPr>
          <a:xfrm>
            <a:off x="11906250" y="7372350"/>
            <a:ext cx="5467350" cy="1314450"/>
          </a:xfrm>
          <a:prstGeom prst="roundRect">
            <a:avLst>
              <a:gd name="adj" fmla="val 10144"/>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TextBox 50"/>
          <p:cNvSpPr txBox="1"/>
          <p:nvPr/>
        </p:nvSpPr>
        <p:spPr>
          <a:xfrm>
            <a:off x="12249150" y="7543800"/>
            <a:ext cx="4762500" cy="419100"/>
          </a:xfrm>
          <a:prstGeom prst="rect">
            <a:avLst/>
          </a:prstGeom>
          <a:noFill/>
        </p:spPr>
        <p:txBody>
          <a:bodyPr wrap="square" lIns="0" rIns="0" tIns="0" bIns="0" anchor="t">
            <a:spAutoFit/>
          </a:bodyPr>
          <a:lstStyle/>
          <a:p>
            <a:pPr algn="l"/>
            <a:r>
              <a:rPr sz="2400" b="1" i="0">
                <a:solidFill>
                  <a:srgbClr val="F0E8E8"/>
                </a:solidFill>
                <a:latin typeface="Geist"/>
                <a:ea typeface="Geist"/>
                <a:cs typeface="Geist"/>
              </a:rPr>
              <a:t>Pose3d</a:t>
            </a:r>
          </a:p>
        </p:txBody>
      </p:sp>
      <p:sp>
        <p:nvSpPr>
          <p:cNvPr id="52" name="TextBox 51"/>
          <p:cNvSpPr txBox="1"/>
          <p:nvPr/>
        </p:nvSpPr>
        <p:spPr>
          <a:xfrm>
            <a:off x="12249150" y="8039100"/>
            <a:ext cx="4857750" cy="47625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Adds height, tilt and roll</a:t>
            </a:r>
          </a:p>
        </p:txBody>
      </p:sp>
      <p:pic>
        <p:nvPicPr>
          <p:cNvPr id="53" name="Picture 52" descr="mw_logo_small.png"/>
          <p:cNvPicPr>
            <a:picLocks noChangeAspect="1"/>
          </p:cNvPicPr>
          <p:nvPr/>
        </p:nvPicPr>
        <p:blipFill>
          <a:blip r:embed="rId4"/>
          <a:stretch>
            <a:fillRect/>
          </a:stretch>
        </p:blipFill>
        <p:spPr>
          <a:xfrm>
            <a:off x="914400" y="9410700"/>
            <a:ext cx="583564" cy="495300"/>
          </a:xfrm>
          <a:prstGeom prst="rect">
            <a:avLst/>
          </a:prstGeom>
        </p:spPr>
      </p:pic>
      <p:sp>
        <p:nvSpPr>
          <p:cNvPr id="54" name="TextBox 53"/>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ADVANTAGESCOPE</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Live data or log files</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8039100" cy="4381500"/>
          </a:xfrm>
          <a:prstGeom prst="roundRect">
            <a:avLst>
              <a:gd name="adj" fmla="val 347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broadcast.png"/>
          <p:cNvPicPr>
            <a:picLocks noChangeAspect="1"/>
          </p:cNvPicPr>
          <p:nvPr/>
        </p:nvPicPr>
        <p:blipFill>
          <a:blip r:embed="rId3"/>
          <a:stretch>
            <a:fillRect/>
          </a:stretch>
        </p:blipFill>
        <p:spPr>
          <a:xfrm>
            <a:off x="1371600" y="3238500"/>
            <a:ext cx="839019" cy="609600"/>
          </a:xfrm>
          <a:prstGeom prst="rect">
            <a:avLst/>
          </a:prstGeom>
        </p:spPr>
      </p:pic>
      <p:sp>
        <p:nvSpPr>
          <p:cNvPr id="7" name="TextBox 6"/>
          <p:cNvSpPr txBox="1"/>
          <p:nvPr/>
        </p:nvSpPr>
        <p:spPr>
          <a:xfrm>
            <a:off x="2533650" y="3181350"/>
            <a:ext cx="5715000" cy="666750"/>
          </a:xfrm>
          <a:prstGeom prst="rect">
            <a:avLst/>
          </a:prstGeom>
          <a:noFill/>
        </p:spPr>
        <p:txBody>
          <a:bodyPr wrap="square" lIns="0" rIns="0" tIns="0" bIns="0" anchor="ctr">
            <a:spAutoFit/>
          </a:bodyPr>
          <a:lstStyle/>
          <a:p>
            <a:pPr algn="l"/>
            <a:r>
              <a:rPr sz="3300" b="1" i="0">
                <a:solidFill>
                  <a:srgbClr val="F0E8E8"/>
                </a:solidFill>
                <a:latin typeface="Geist"/>
                <a:ea typeface="Geist"/>
                <a:cs typeface="Geist"/>
              </a:rPr>
              <a:t>Live</a:t>
            </a:r>
          </a:p>
        </p:txBody>
      </p:sp>
      <p:sp>
        <p:nvSpPr>
          <p:cNvPr id="8" name="TextBox 7"/>
          <p:cNvSpPr txBox="1"/>
          <p:nvPr/>
        </p:nvSpPr>
        <p:spPr>
          <a:xfrm>
            <a:off x="1371600" y="4095750"/>
            <a:ext cx="6667500" cy="381000"/>
          </a:xfrm>
          <a:prstGeom prst="rect">
            <a:avLst/>
          </a:prstGeom>
          <a:noFill/>
        </p:spPr>
        <p:txBody>
          <a:bodyPr wrap="square" lIns="0" rIns="0" tIns="0" bIns="0" anchor="t">
            <a:spAutoFit/>
          </a:bodyPr>
          <a:lstStyle/>
          <a:p>
            <a:pPr algn="l"/>
            <a:r>
              <a:rPr sz="1950" b="0" i="0">
                <a:solidFill>
                  <a:srgbClr val="9A7878"/>
                </a:solidFill>
                <a:latin typeface="Geist"/>
                <a:ea typeface="Geist"/>
                <a:cs typeface="Geist"/>
              </a:rPr>
              <a:t>While the robot or sim runs</a:t>
            </a:r>
          </a:p>
        </p:txBody>
      </p:sp>
      <p:sp>
        <p:nvSpPr>
          <p:cNvPr id="9" name="TextBox 8"/>
          <p:cNvSpPr txBox="1"/>
          <p:nvPr/>
        </p:nvSpPr>
        <p:spPr>
          <a:xfrm>
            <a:off x="1371600" y="4762500"/>
            <a:ext cx="7239000" cy="346710"/>
          </a:xfrm>
          <a:prstGeom prst="rect">
            <a:avLst/>
          </a:prstGeom>
          <a:noFill/>
        </p:spPr>
        <p:txBody>
          <a:bodyPr wrap="square" lIns="0" rIns="0" tIns="0" bIns="0" anchor="t">
            <a:spAutoFit/>
          </a:bodyPr>
          <a:lstStyle/>
          <a:p>
            <a:pPr algn="l">
              <a:lnSpc>
                <a:spcPct val="125000"/>
              </a:lnSpc>
            </a:pPr>
            <a:r>
              <a:rPr sz="2100" b="1" i="0">
                <a:solidFill>
                  <a:srgbClr val="CC2200"/>
                </a:solidFill>
                <a:latin typeface="Geist"/>
                <a:ea typeface="Geist"/>
                <a:cs typeface="Geist"/>
              </a:rPr>
              <a:t>•  </a:t>
            </a:r>
            <a:r>
              <a:rPr sz="2100" b="0" i="0">
                <a:solidFill>
                  <a:srgbClr val="F0E8E8"/>
                </a:solidFill>
                <a:latin typeface="Geist"/>
                <a:ea typeface="Geist"/>
                <a:cs typeface="Geist"/>
              </a:rPr>
              <a:t>Anything published to NetworkTables</a:t>
            </a:r>
          </a:p>
        </p:txBody>
      </p:sp>
      <p:sp>
        <p:nvSpPr>
          <p:cNvPr id="10" name="TextBox 9"/>
          <p:cNvSpPr txBox="1"/>
          <p:nvPr/>
        </p:nvSpPr>
        <p:spPr>
          <a:xfrm>
            <a:off x="1371600" y="5318760"/>
            <a:ext cx="7239000" cy="346710"/>
          </a:xfrm>
          <a:prstGeom prst="rect">
            <a:avLst/>
          </a:prstGeom>
          <a:noFill/>
        </p:spPr>
        <p:txBody>
          <a:bodyPr wrap="square" lIns="0" rIns="0" tIns="0" bIns="0" anchor="t">
            <a:spAutoFit/>
          </a:bodyPr>
          <a:lstStyle/>
          <a:p>
            <a:pPr algn="l">
              <a:lnSpc>
                <a:spcPct val="125000"/>
              </a:lnSpc>
            </a:pPr>
            <a:r>
              <a:rPr sz="2100" b="1" i="0">
                <a:solidFill>
                  <a:srgbClr val="CC2200"/>
                </a:solidFill>
                <a:latin typeface="Geist"/>
                <a:ea typeface="Geist"/>
                <a:cs typeface="Geist"/>
              </a:rPr>
              <a:t>•  </a:t>
            </a:r>
            <a:r>
              <a:rPr sz="2100" b="0" i="0">
                <a:solidFill>
                  <a:srgbClr val="F0E8E8"/>
                </a:solidFill>
                <a:latin typeface="Geist"/>
                <a:ea typeface="Geist"/>
                <a:cs typeface="Geist"/>
              </a:rPr>
              <a:t>File &gt; Connect to Robot</a:t>
            </a:r>
          </a:p>
        </p:txBody>
      </p:sp>
      <p:sp>
        <p:nvSpPr>
          <p:cNvPr id="11" name="TextBox 10"/>
          <p:cNvSpPr txBox="1"/>
          <p:nvPr/>
        </p:nvSpPr>
        <p:spPr>
          <a:xfrm>
            <a:off x="1371600" y="5875020"/>
            <a:ext cx="7239000" cy="346710"/>
          </a:xfrm>
          <a:prstGeom prst="rect">
            <a:avLst/>
          </a:prstGeom>
          <a:noFill/>
        </p:spPr>
        <p:txBody>
          <a:bodyPr wrap="square" lIns="0" rIns="0" tIns="0" bIns="0" anchor="t">
            <a:spAutoFit/>
          </a:bodyPr>
          <a:lstStyle/>
          <a:p>
            <a:pPr algn="l">
              <a:lnSpc>
                <a:spcPct val="125000"/>
              </a:lnSpc>
            </a:pPr>
            <a:r>
              <a:rPr sz="2100" b="1" i="0">
                <a:solidFill>
                  <a:srgbClr val="CC2200"/>
                </a:solidFill>
                <a:latin typeface="Geist"/>
                <a:ea typeface="Geist"/>
                <a:cs typeface="Geist"/>
              </a:rPr>
              <a:t>•  </a:t>
            </a:r>
            <a:r>
              <a:rPr sz="2100" b="0" i="0">
                <a:solidFill>
                  <a:srgbClr val="F0E8E8"/>
                </a:solidFill>
                <a:latin typeface="Geist"/>
                <a:ea typeface="Geist"/>
                <a:cs typeface="Geist"/>
              </a:rPr>
              <a:t>or Connect to Simulator</a:t>
            </a:r>
          </a:p>
        </p:txBody>
      </p:sp>
      <p:sp>
        <p:nvSpPr>
          <p:cNvPr id="12" name="Rounded Rectangle 11"/>
          <p:cNvSpPr/>
          <p:nvPr/>
        </p:nvSpPr>
        <p:spPr>
          <a:xfrm>
            <a:off x="9334500" y="2857500"/>
            <a:ext cx="8039100" cy="4381500"/>
          </a:xfrm>
          <a:prstGeom prst="roundRect">
            <a:avLst>
              <a:gd name="adj" fmla="val 347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3" name="Picture 12" descr="journal-code.png"/>
          <p:cNvPicPr>
            <a:picLocks noChangeAspect="1"/>
          </p:cNvPicPr>
          <p:nvPr/>
        </p:nvPicPr>
        <p:blipFill>
          <a:blip r:embed="rId4"/>
          <a:stretch>
            <a:fillRect/>
          </a:stretch>
        </p:blipFill>
        <p:spPr>
          <a:xfrm>
            <a:off x="9791700" y="3238500"/>
            <a:ext cx="571500" cy="609600"/>
          </a:xfrm>
          <a:prstGeom prst="rect">
            <a:avLst/>
          </a:prstGeom>
        </p:spPr>
      </p:pic>
      <p:sp>
        <p:nvSpPr>
          <p:cNvPr id="14" name="TextBox 13"/>
          <p:cNvSpPr txBox="1"/>
          <p:nvPr/>
        </p:nvSpPr>
        <p:spPr>
          <a:xfrm>
            <a:off x="10953750" y="3181350"/>
            <a:ext cx="5715000" cy="666750"/>
          </a:xfrm>
          <a:prstGeom prst="rect">
            <a:avLst/>
          </a:prstGeom>
          <a:noFill/>
        </p:spPr>
        <p:txBody>
          <a:bodyPr wrap="square" lIns="0" rIns="0" tIns="0" bIns="0" anchor="ctr">
            <a:spAutoFit/>
          </a:bodyPr>
          <a:lstStyle/>
          <a:p>
            <a:pPr algn="l"/>
            <a:r>
              <a:rPr sz="3300" b="1" i="0">
                <a:solidFill>
                  <a:srgbClr val="F0E8E8"/>
                </a:solidFill>
                <a:latin typeface="Geist"/>
                <a:ea typeface="Geist"/>
                <a:cs typeface="Geist"/>
              </a:rPr>
              <a:t>Log files</a:t>
            </a:r>
          </a:p>
        </p:txBody>
      </p:sp>
      <p:sp>
        <p:nvSpPr>
          <p:cNvPr id="15" name="TextBox 14"/>
          <p:cNvSpPr txBox="1"/>
          <p:nvPr/>
        </p:nvSpPr>
        <p:spPr>
          <a:xfrm>
            <a:off x="9791700" y="4095750"/>
            <a:ext cx="6667500" cy="381000"/>
          </a:xfrm>
          <a:prstGeom prst="rect">
            <a:avLst/>
          </a:prstGeom>
          <a:noFill/>
        </p:spPr>
        <p:txBody>
          <a:bodyPr wrap="square" lIns="0" rIns="0" tIns="0" bIns="0" anchor="t">
            <a:spAutoFit/>
          </a:bodyPr>
          <a:lstStyle/>
          <a:p>
            <a:pPr algn="l"/>
            <a:r>
              <a:rPr sz="1950" b="0" i="0">
                <a:solidFill>
                  <a:srgbClr val="9A7878"/>
                </a:solidFill>
                <a:latin typeface="Geist"/>
                <a:ea typeface="Geist"/>
                <a:cs typeface="Geist"/>
              </a:rPr>
              <a:t>After a test or a match</a:t>
            </a:r>
          </a:p>
        </p:txBody>
      </p:sp>
      <p:sp>
        <p:nvSpPr>
          <p:cNvPr id="16" name="TextBox 15"/>
          <p:cNvSpPr txBox="1"/>
          <p:nvPr/>
        </p:nvSpPr>
        <p:spPr>
          <a:xfrm>
            <a:off x="9791700" y="4762500"/>
            <a:ext cx="7239000" cy="346710"/>
          </a:xfrm>
          <a:prstGeom prst="rect">
            <a:avLst/>
          </a:prstGeom>
          <a:noFill/>
        </p:spPr>
        <p:txBody>
          <a:bodyPr wrap="square" lIns="0" rIns="0" tIns="0" bIns="0" anchor="t">
            <a:spAutoFit/>
          </a:bodyPr>
          <a:lstStyle/>
          <a:p>
            <a:pPr algn="l">
              <a:lnSpc>
                <a:spcPct val="125000"/>
              </a:lnSpc>
            </a:pPr>
            <a:r>
              <a:rPr sz="2100" b="1" i="0">
                <a:solidFill>
                  <a:srgbClr val="CC2200"/>
                </a:solidFill>
                <a:latin typeface="Geist"/>
                <a:ea typeface="Geist"/>
                <a:cs typeface="Geist"/>
              </a:rPr>
              <a:t>•  </a:t>
            </a:r>
            <a:r>
              <a:rPr sz="2100" b="0" i="0">
                <a:solidFill>
                  <a:srgbClr val="E0785F"/>
                </a:solidFill>
                <a:latin typeface="Geist Mono"/>
                <a:ea typeface="Geist Mono"/>
                <a:cs typeface="Geist Mono"/>
              </a:rPr>
              <a:t>  .wpilog  .hoot  .dslog  </a:t>
            </a:r>
          </a:p>
        </p:txBody>
      </p:sp>
      <p:sp>
        <p:nvSpPr>
          <p:cNvPr id="17" name="TextBox 16"/>
          <p:cNvSpPr txBox="1"/>
          <p:nvPr/>
        </p:nvSpPr>
        <p:spPr>
          <a:xfrm>
            <a:off x="9791700" y="5318760"/>
            <a:ext cx="7239000" cy="346710"/>
          </a:xfrm>
          <a:prstGeom prst="rect">
            <a:avLst/>
          </a:prstGeom>
          <a:noFill/>
        </p:spPr>
        <p:txBody>
          <a:bodyPr wrap="square" lIns="0" rIns="0" tIns="0" bIns="0" anchor="t">
            <a:spAutoFit/>
          </a:bodyPr>
          <a:lstStyle/>
          <a:p>
            <a:pPr algn="l">
              <a:lnSpc>
                <a:spcPct val="125000"/>
              </a:lnSpc>
            </a:pPr>
            <a:r>
              <a:rPr sz="2100" b="1" i="0">
                <a:solidFill>
                  <a:srgbClr val="CC2200"/>
                </a:solidFill>
                <a:latin typeface="Geist"/>
                <a:ea typeface="Geist"/>
                <a:cs typeface="Geist"/>
              </a:rPr>
              <a:t>•  </a:t>
            </a:r>
            <a:r>
              <a:rPr sz="2100" b="0" i="0">
                <a:solidFill>
                  <a:srgbClr val="F0E8E8"/>
                </a:solidFill>
                <a:latin typeface="Geist"/>
                <a:ea typeface="Geist"/>
                <a:cs typeface="Geist"/>
              </a:rPr>
              <a:t>File &gt; Open Log(s)</a:t>
            </a:r>
          </a:p>
        </p:txBody>
      </p:sp>
      <p:sp>
        <p:nvSpPr>
          <p:cNvPr id="18" name="TextBox 17"/>
          <p:cNvSpPr txBox="1"/>
          <p:nvPr/>
        </p:nvSpPr>
        <p:spPr>
          <a:xfrm>
            <a:off x="9791700" y="5875020"/>
            <a:ext cx="7239000" cy="346710"/>
          </a:xfrm>
          <a:prstGeom prst="rect">
            <a:avLst/>
          </a:prstGeom>
          <a:noFill/>
        </p:spPr>
        <p:txBody>
          <a:bodyPr wrap="square" lIns="0" rIns="0" tIns="0" bIns="0" anchor="t">
            <a:spAutoFit/>
          </a:bodyPr>
          <a:lstStyle/>
          <a:p>
            <a:pPr algn="l">
              <a:lnSpc>
                <a:spcPct val="125000"/>
              </a:lnSpc>
            </a:pPr>
            <a:r>
              <a:rPr sz="2100" b="1" i="0">
                <a:solidFill>
                  <a:srgbClr val="CC2200"/>
                </a:solidFill>
                <a:latin typeface="Geist"/>
                <a:ea typeface="Geist"/>
                <a:cs typeface="Geist"/>
              </a:rPr>
              <a:t>•  </a:t>
            </a:r>
            <a:r>
              <a:rPr sz="2100" b="0" i="0">
                <a:solidFill>
                  <a:srgbClr val="F0E8E8"/>
                </a:solidFill>
                <a:latin typeface="Geist"/>
                <a:ea typeface="Geist"/>
                <a:cs typeface="Geist"/>
              </a:rPr>
              <a:t>Replay exactly what happened</a:t>
            </a:r>
          </a:p>
        </p:txBody>
      </p:sp>
      <p:sp>
        <p:nvSpPr>
          <p:cNvPr id="19" name="Rounded Rectangle 18"/>
          <p:cNvSpPr/>
          <p:nvPr/>
        </p:nvSpPr>
        <p:spPr>
          <a:xfrm>
            <a:off x="914400" y="7620000"/>
            <a:ext cx="16459200" cy="1047750"/>
          </a:xfrm>
          <a:prstGeom prst="roundRect">
            <a:avLst>
              <a:gd name="adj" fmla="val 14545"/>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333500" y="7620000"/>
            <a:ext cx="15659100" cy="1047750"/>
          </a:xfrm>
          <a:prstGeom prst="rect">
            <a:avLst/>
          </a:prstGeom>
          <a:noFill/>
        </p:spPr>
        <p:txBody>
          <a:bodyPr wrap="square" lIns="0" rIns="0" tIns="0" bIns="0" anchor="ctr">
            <a:spAutoFit/>
          </a:bodyPr>
          <a:lstStyle/>
          <a:p>
            <a:pPr algn="l">
              <a:lnSpc>
                <a:spcPct val="130000"/>
              </a:lnSpc>
            </a:pPr>
            <a:r>
              <a:rPr sz="2100" b="1" i="0">
                <a:solidFill>
                  <a:srgbClr val="F0E8E8"/>
                </a:solidFill>
                <a:latin typeface="Geist"/>
                <a:ea typeface="Geist"/>
                <a:cs typeface="Geist"/>
              </a:rPr>
              <a:t>For the pits, not the match.  </a:t>
            </a:r>
            <a:r>
              <a:rPr sz="2100" b="0" i="0">
                <a:solidFill>
                  <a:srgbClr val="F0E8E8"/>
                </a:solidFill>
                <a:latin typeface="Geist"/>
                <a:ea typeface="Geist"/>
                <a:cs typeface="Geist"/>
              </a:rPr>
              <a:t>Drivers use Elastic. Load the team's layouts with File &gt; Import Layout.</a:t>
            </a:r>
          </a:p>
        </p:txBody>
      </p:sp>
      <p:pic>
        <p:nvPicPr>
          <p:cNvPr id="21" name="Picture 20" descr="mw_logo_small.png"/>
          <p:cNvPicPr>
            <a:picLocks noChangeAspect="1"/>
          </p:cNvPicPr>
          <p:nvPr/>
        </p:nvPicPr>
        <p:blipFill>
          <a:blip r:embed="rId5"/>
          <a:stretch>
            <a:fillRect/>
          </a:stretch>
        </p:blipFill>
        <p:spPr>
          <a:xfrm>
            <a:off x="914400" y="9410700"/>
            <a:ext cx="583564" cy="495300"/>
          </a:xfrm>
          <a:prstGeom prst="rect">
            <a:avLst/>
          </a:prstGeom>
        </p:spPr>
      </p:pic>
      <p:sp>
        <p:nvSpPr>
          <p:cNvPr id="22" name="TextBox 21"/>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ADVANTAGESCOPE</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Tuning Mode: changing values live</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14400" y="2857500"/>
            <a:ext cx="9525000" cy="371475"/>
          </a:xfrm>
          <a:prstGeom prst="rect">
            <a:avLst/>
          </a:prstGeom>
          <a:noFill/>
        </p:spPr>
        <p:txBody>
          <a:bodyPr wrap="square" lIns="0" rIns="0" tIns="0" bIns="0" anchor="t">
            <a:spAutoFit/>
          </a:bodyPr>
          <a:lstStyle/>
          <a:p>
            <a:pPr algn="l">
              <a:lnSpc>
                <a:spcPct val="125000"/>
              </a:lnSpc>
            </a:pPr>
            <a:r>
              <a:rPr sz="2250" b="1" i="0">
                <a:solidFill>
                  <a:srgbClr val="CC2200"/>
                </a:solidFill>
                <a:latin typeface="Geist"/>
                <a:ea typeface="Geist"/>
                <a:cs typeface="Geist"/>
              </a:rPr>
              <a:t>•  </a:t>
            </a:r>
            <a:r>
              <a:rPr sz="2250" b="0" i="0">
                <a:solidFill>
                  <a:srgbClr val="F0E8E8"/>
                </a:solidFill>
                <a:latin typeface="Geist"/>
                <a:ea typeface="Geist"/>
                <a:cs typeface="Geist"/>
              </a:rPr>
              <a:t>Most fields are read-only</a:t>
            </a:r>
          </a:p>
        </p:txBody>
      </p:sp>
      <p:sp>
        <p:nvSpPr>
          <p:cNvPr id="6" name="TextBox 5"/>
          <p:cNvSpPr txBox="1"/>
          <p:nvPr/>
        </p:nvSpPr>
        <p:spPr>
          <a:xfrm>
            <a:off x="914400" y="3514725"/>
            <a:ext cx="9525000" cy="371475"/>
          </a:xfrm>
          <a:prstGeom prst="rect">
            <a:avLst/>
          </a:prstGeom>
          <a:noFill/>
        </p:spPr>
        <p:txBody>
          <a:bodyPr wrap="square" lIns="0" rIns="0" tIns="0" bIns="0" anchor="t">
            <a:spAutoFit/>
          </a:bodyPr>
          <a:lstStyle/>
          <a:p>
            <a:pPr algn="l">
              <a:lnSpc>
                <a:spcPct val="125000"/>
              </a:lnSpc>
            </a:pPr>
            <a:r>
              <a:rPr sz="2250" b="1" i="0">
                <a:solidFill>
                  <a:srgbClr val="CC2200"/>
                </a:solidFill>
                <a:latin typeface="Geist"/>
                <a:ea typeface="Geist"/>
                <a:cs typeface="Geist"/>
              </a:rPr>
              <a:t>•  </a:t>
            </a:r>
            <a:r>
              <a:rPr sz="2250" b="1" i="0">
                <a:solidFill>
                  <a:srgbClr val="F0E8E8"/>
                </a:solidFill>
                <a:latin typeface="Geist"/>
                <a:ea typeface="Geist"/>
                <a:cs typeface="Geist"/>
              </a:rPr>
              <a:t>Tuning Mode</a:t>
            </a:r>
            <a:r>
              <a:rPr sz="2250" b="0" i="0">
                <a:solidFill>
                  <a:srgbClr val="F0E8E8"/>
                </a:solidFill>
                <a:latin typeface="Geist"/>
                <a:ea typeface="Geist"/>
                <a:cs typeface="Geist"/>
              </a:rPr>
              <a:t> (the slider icon) lets you type new values</a:t>
            </a:r>
          </a:p>
        </p:txBody>
      </p:sp>
      <p:sp>
        <p:nvSpPr>
          <p:cNvPr id="7" name="TextBox 6"/>
          <p:cNvSpPr txBox="1"/>
          <p:nvPr/>
        </p:nvSpPr>
        <p:spPr>
          <a:xfrm>
            <a:off x="914400" y="4171950"/>
            <a:ext cx="9525000" cy="371475"/>
          </a:xfrm>
          <a:prstGeom prst="rect">
            <a:avLst/>
          </a:prstGeom>
          <a:noFill/>
        </p:spPr>
        <p:txBody>
          <a:bodyPr wrap="square" lIns="0" rIns="0" tIns="0" bIns="0" anchor="t">
            <a:spAutoFit/>
          </a:bodyPr>
          <a:lstStyle/>
          <a:p>
            <a:pPr algn="l">
              <a:lnSpc>
                <a:spcPct val="125000"/>
              </a:lnSpc>
            </a:pPr>
            <a:r>
              <a:rPr sz="2250" b="1" i="0">
                <a:solidFill>
                  <a:srgbClr val="CC2200"/>
                </a:solidFill>
                <a:latin typeface="Geist"/>
                <a:ea typeface="Geist"/>
                <a:cs typeface="Geist"/>
              </a:rPr>
              <a:t>•  </a:t>
            </a:r>
            <a:r>
              <a:rPr sz="2250" b="0" i="0">
                <a:solidFill>
                  <a:srgbClr val="F0E8E8"/>
                </a:solidFill>
                <a:latin typeface="Geist"/>
                <a:ea typeface="Geist"/>
                <a:cs typeface="Geist"/>
              </a:rPr>
              <a:t>Only for values under </a:t>
            </a:r>
            <a:r>
              <a:rPr sz="2250" b="0" i="0">
                <a:solidFill>
                  <a:srgbClr val="E0785F"/>
                </a:solidFill>
                <a:latin typeface="Geist Mono"/>
                <a:ea typeface="Geist Mono"/>
                <a:cs typeface="Geist Mono"/>
              </a:rPr>
              <a:t>/Tuning</a:t>
            </a:r>
          </a:p>
        </p:txBody>
      </p:sp>
      <p:sp>
        <p:nvSpPr>
          <p:cNvPr id="8" name="TextBox 7"/>
          <p:cNvSpPr txBox="1"/>
          <p:nvPr/>
        </p:nvSpPr>
        <p:spPr>
          <a:xfrm>
            <a:off x="914400" y="4829175"/>
            <a:ext cx="9525000" cy="371475"/>
          </a:xfrm>
          <a:prstGeom prst="rect">
            <a:avLst/>
          </a:prstGeom>
          <a:noFill/>
        </p:spPr>
        <p:txBody>
          <a:bodyPr wrap="square" lIns="0" rIns="0" tIns="0" bIns="0" anchor="t">
            <a:spAutoFit/>
          </a:bodyPr>
          <a:lstStyle/>
          <a:p>
            <a:pPr algn="l">
              <a:lnSpc>
                <a:spcPct val="125000"/>
              </a:lnSpc>
            </a:pPr>
            <a:r>
              <a:rPr sz="2250" b="1" i="0">
                <a:solidFill>
                  <a:srgbClr val="CC2200"/>
                </a:solidFill>
                <a:latin typeface="Geist"/>
                <a:ea typeface="Geist"/>
                <a:cs typeface="Geist"/>
              </a:rPr>
              <a:t>•  </a:t>
            </a:r>
            <a:r>
              <a:rPr sz="2250" b="0" i="0">
                <a:solidFill>
                  <a:srgbClr val="F0E8E8"/>
                </a:solidFill>
                <a:latin typeface="Geist"/>
                <a:ea typeface="Geist"/>
                <a:cs typeface="Geist"/>
              </a:rPr>
              <a:t>Tune things like flywheel speed without redeploying</a:t>
            </a:r>
          </a:p>
        </p:txBody>
      </p:sp>
      <p:sp>
        <p:nvSpPr>
          <p:cNvPr id="9" name="Rounded Rectangle 8"/>
          <p:cNvSpPr/>
          <p:nvPr/>
        </p:nvSpPr>
        <p:spPr>
          <a:xfrm>
            <a:off x="11430000" y="2857500"/>
            <a:ext cx="5943600" cy="4953000"/>
          </a:xfrm>
          <a:prstGeom prst="roundRect">
            <a:avLst>
              <a:gd name="adj" fmla="val 3076"/>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sliders.png"/>
          <p:cNvPicPr>
            <a:picLocks noChangeAspect="1"/>
          </p:cNvPicPr>
          <p:nvPr/>
        </p:nvPicPr>
        <p:blipFill>
          <a:blip r:embed="rId3"/>
          <a:stretch>
            <a:fillRect/>
          </a:stretch>
        </p:blipFill>
        <p:spPr>
          <a:xfrm>
            <a:off x="13792200" y="3429000"/>
            <a:ext cx="1300480" cy="1219200"/>
          </a:xfrm>
          <a:prstGeom prst="rect">
            <a:avLst/>
          </a:prstGeom>
        </p:spPr>
      </p:pic>
      <p:sp>
        <p:nvSpPr>
          <p:cNvPr id="11" name="TextBox 10"/>
          <p:cNvSpPr txBox="1"/>
          <p:nvPr/>
        </p:nvSpPr>
        <p:spPr>
          <a:xfrm>
            <a:off x="11811000" y="5143500"/>
            <a:ext cx="5181600" cy="571500"/>
          </a:xfrm>
          <a:prstGeom prst="rect">
            <a:avLst/>
          </a:prstGeom>
          <a:noFill/>
        </p:spPr>
        <p:txBody>
          <a:bodyPr wrap="square" lIns="0" rIns="0" tIns="0" bIns="0" anchor="t">
            <a:spAutoFit/>
          </a:bodyPr>
          <a:lstStyle/>
          <a:p>
            <a:pPr algn="ctr"/>
            <a:r>
              <a:rPr sz="1950" b="0" i="0">
                <a:solidFill>
                  <a:srgbClr val="E0785F"/>
                </a:solidFill>
                <a:latin typeface="Geist Mono"/>
                <a:ea typeface="Geist Mono"/>
                <a:cs typeface="Geist Mono"/>
              </a:rPr>
              <a:t>/Tuning/FlywheelTargetRPM</a:t>
            </a:r>
          </a:p>
        </p:txBody>
      </p:sp>
      <p:sp>
        <p:nvSpPr>
          <p:cNvPr id="12" name="TextBox 11"/>
          <p:cNvSpPr txBox="1"/>
          <p:nvPr/>
        </p:nvSpPr>
        <p:spPr>
          <a:xfrm>
            <a:off x="11811000" y="5810250"/>
            <a:ext cx="5181600" cy="1333500"/>
          </a:xfrm>
          <a:prstGeom prst="rect">
            <a:avLst/>
          </a:prstGeom>
          <a:noFill/>
        </p:spPr>
        <p:txBody>
          <a:bodyPr wrap="square" lIns="0" rIns="0" tIns="0" bIns="0" anchor="t">
            <a:spAutoFit/>
          </a:bodyPr>
          <a:lstStyle/>
          <a:p>
            <a:pPr algn="ctr">
              <a:lnSpc>
                <a:spcPct val="130000"/>
              </a:lnSpc>
            </a:pPr>
            <a:r>
              <a:rPr sz="1950" b="0" i="0">
                <a:solidFill>
                  <a:srgbClr val="9A7878"/>
                </a:solidFill>
                <a:latin typeface="Geist"/>
                <a:ea typeface="Geist"/>
                <a:cs typeface="Geist"/>
              </a:rPr>
              <a:t>Writable, because it's published under /Tuning</a:t>
            </a:r>
          </a:p>
        </p:txBody>
      </p:sp>
      <p:pic>
        <p:nvPicPr>
          <p:cNvPr id="13" name="Picture 12" descr="mw_logo_small.png"/>
          <p:cNvPicPr>
            <a:picLocks noChangeAspect="1"/>
          </p:cNvPicPr>
          <p:nvPr/>
        </p:nvPicPr>
        <p:blipFill>
          <a:blip r:embed="rId4"/>
          <a:stretch>
            <a:fillRect/>
          </a:stretch>
        </p:blipFill>
        <p:spPr>
          <a:xfrm>
            <a:off x="914400" y="9410700"/>
            <a:ext cx="583564" cy="495300"/>
          </a:xfrm>
          <a:prstGeom prst="rect">
            <a:avLst/>
          </a:prstGeom>
        </p:spPr>
      </p:pic>
      <p:sp>
        <p:nvSpPr>
          <p:cNvPr id="14" name="TextBox 13"/>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2857500"/>
            <a:ext cx="13335000" cy="2476500"/>
          </a:xfrm>
          <a:prstGeom prst="rect">
            <a:avLst/>
          </a:prstGeom>
          <a:noFill/>
        </p:spPr>
        <p:txBody>
          <a:bodyPr wrap="square" lIns="0" rIns="0" tIns="0" bIns="0" anchor="t">
            <a:spAutoFit/>
          </a:bodyPr>
          <a:lstStyle/>
          <a:p>
            <a:pPr algn="l"/>
            <a:r>
              <a:rPr sz="16500" b="1" i="0">
                <a:solidFill>
                  <a:srgbClr val="CC2200"/>
                </a:solidFill>
                <a:latin typeface="Geist"/>
                <a:ea typeface="Geist"/>
                <a:cs typeface="Geist"/>
              </a:rPr>
              <a:t>04</a:t>
            </a:r>
          </a:p>
        </p:txBody>
      </p:sp>
      <p:sp>
        <p:nvSpPr>
          <p:cNvPr id="3" name="TextBox 2"/>
          <p:cNvSpPr txBox="1"/>
          <p:nvPr/>
        </p:nvSpPr>
        <p:spPr>
          <a:xfrm>
            <a:off x="914400" y="5334000"/>
            <a:ext cx="14287500" cy="952500"/>
          </a:xfrm>
          <a:prstGeom prst="rect">
            <a:avLst/>
          </a:prstGeom>
          <a:noFill/>
        </p:spPr>
        <p:txBody>
          <a:bodyPr wrap="square" lIns="0" rIns="0" tIns="0" bIns="0" anchor="t">
            <a:spAutoFit/>
          </a:bodyPr>
          <a:lstStyle/>
          <a:p>
            <a:pPr algn="l"/>
            <a:r>
              <a:rPr sz="5400" b="1" i="0">
                <a:solidFill>
                  <a:srgbClr val="F0E8E8"/>
                </a:solidFill>
                <a:latin typeface="Geist"/>
                <a:ea typeface="Geist"/>
                <a:cs typeface="Geist"/>
              </a:rPr>
              <a:t>Elastic</a:t>
            </a:r>
          </a:p>
        </p:txBody>
      </p:sp>
      <p:sp>
        <p:nvSpPr>
          <p:cNvPr id="4" name="TextBox 3"/>
          <p:cNvSpPr txBox="1"/>
          <p:nvPr/>
        </p:nvSpPr>
        <p:spPr>
          <a:xfrm>
            <a:off x="914400" y="6362700"/>
            <a:ext cx="13335000" cy="476250"/>
          </a:xfrm>
          <a:prstGeom prst="rect">
            <a:avLst/>
          </a:prstGeom>
          <a:noFill/>
        </p:spPr>
        <p:txBody>
          <a:bodyPr wrap="square" lIns="0" rIns="0" tIns="0" bIns="0" anchor="t">
            <a:spAutoFit/>
          </a:bodyPr>
          <a:lstStyle/>
          <a:p>
            <a:pPr algn="l"/>
            <a:r>
              <a:rPr sz="2100" b="0" i="0">
                <a:solidFill>
                  <a:srgbClr val="9A7878"/>
                </a:solidFill>
                <a:latin typeface="Geist"/>
                <a:ea typeface="Geist"/>
                <a:cs typeface="Geist"/>
              </a:rPr>
              <a:t>Dashboards: what drivers see during a match</a:t>
            </a:r>
          </a:p>
        </p:txBody>
      </p:sp>
      <p:pic>
        <p:nvPicPr>
          <p:cNvPr id="5" name="Picture 4" descr="mw_logo_small.png"/>
          <p:cNvPicPr>
            <a:picLocks noChangeAspect="1"/>
          </p:cNvPicPr>
          <p:nvPr/>
        </p:nvPicPr>
        <p:blipFill>
          <a:blip r:embed="rId3"/>
          <a:stretch>
            <a:fillRect/>
          </a:stretch>
        </p:blipFill>
        <p:spPr>
          <a:xfrm>
            <a:off x="914400" y="9410700"/>
            <a:ext cx="583564" cy="495300"/>
          </a:xfrm>
          <a:prstGeom prst="rect">
            <a:avLst/>
          </a:prstGeom>
        </p:spPr>
      </p:pic>
      <p:sp>
        <p:nvSpPr>
          <p:cNvPr id="6" name="TextBox 5"/>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34</a:t>
            </a:r>
          </a:p>
        </p:txBody>
      </p:sp>
      <p:pic>
        <p:nvPicPr>
          <p:cNvPr id="7" name="Picture 6" descr="dozer_look_up.png"/>
          <p:cNvPicPr>
            <a:picLocks noChangeAspect="1"/>
          </p:cNvPicPr>
          <p:nvPr/>
        </p:nvPicPr>
        <p:blipFill>
          <a:blip r:embed="rId4"/>
          <a:stretch>
            <a:fillRect/>
          </a:stretch>
        </p:blipFill>
        <p:spPr>
          <a:xfrm>
            <a:off x="13620750" y="7048500"/>
            <a:ext cx="3429000" cy="2107613"/>
          </a:xfrm>
          <a:prstGeom prst="rect">
            <a:avLst/>
          </a:prstGeom>
        </p:spPr>
      </p:pic>
      <p:sp>
        <p:nvSpPr>
          <p:cNvPr id="8" name="Isosceles Triangle 7"/>
          <p:cNvSpPr/>
          <p:nvPr/>
        </p:nvSpPr>
        <p:spPr>
          <a:xfrm rot="10800000">
            <a:off x="16261080" y="6572250"/>
            <a:ext cx="342900" cy="285750"/>
          </a:xfrm>
          <a:prstGeom prst="triangl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0953750" y="5372100"/>
            <a:ext cx="5715000" cy="1238250"/>
          </a:xfrm>
          <a:prstGeom prst="roundRect">
            <a:avLst>
              <a:gd name="adj" fmla="val 15384"/>
            </a:avLst>
          </a:prstGeom>
          <a:solidFill>
            <a:srgbClr val="1A0F0F"/>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1220450" y="5372100"/>
            <a:ext cx="5181600" cy="1238250"/>
          </a:xfrm>
          <a:prstGeom prst="rect">
            <a:avLst/>
          </a:prstGeom>
          <a:noFill/>
        </p:spPr>
        <p:txBody>
          <a:bodyPr wrap="square" lIns="0" rIns="0" tIns="0" bIns="0" anchor="ctr">
            <a:spAutoFit/>
          </a:bodyPr>
          <a:lstStyle/>
          <a:p>
            <a:pPr algn="l">
              <a:lnSpc>
                <a:spcPct val="125000"/>
              </a:lnSpc>
            </a:pPr>
            <a:r>
              <a:rPr sz="1950" b="0" i="0">
                <a:solidFill>
                  <a:srgbClr val="F0E8E8"/>
                </a:solidFill>
                <a:latin typeface="Geist"/>
                <a:ea typeface="Geist"/>
                <a:cs typeface="Geist"/>
              </a:rPr>
              <a:t>Drivers glance, they don't read. Keep it big and simple.</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ELASTIC</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Dashboard or analysis tool?</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8039100" cy="5334000"/>
          </a:xfrm>
          <a:prstGeom prst="roundRect">
            <a:avLst>
              <a:gd name="adj" fmla="val 2857"/>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371600" y="3238500"/>
            <a:ext cx="6667500" cy="666750"/>
          </a:xfrm>
          <a:prstGeom prst="rect">
            <a:avLst/>
          </a:prstGeom>
          <a:noFill/>
        </p:spPr>
        <p:txBody>
          <a:bodyPr wrap="square" lIns="0" rIns="0" tIns="0" bIns="0" anchor="t">
            <a:spAutoFit/>
          </a:bodyPr>
          <a:lstStyle/>
          <a:p>
            <a:pPr algn="l"/>
            <a:r>
              <a:rPr sz="3300" b="1" i="0">
                <a:solidFill>
                  <a:srgbClr val="F0E8E8"/>
                </a:solidFill>
                <a:latin typeface="Geist"/>
                <a:ea typeface="Geist"/>
                <a:cs typeface="Geist"/>
              </a:rPr>
              <a:t>AdvantageScope</a:t>
            </a:r>
          </a:p>
        </p:txBody>
      </p:sp>
      <p:sp>
        <p:nvSpPr>
          <p:cNvPr id="7" name="TextBox 6"/>
          <p:cNvSpPr txBox="1"/>
          <p:nvPr/>
        </p:nvSpPr>
        <p:spPr>
          <a:xfrm>
            <a:off x="1371600" y="3905250"/>
            <a:ext cx="5715000" cy="381000"/>
          </a:xfrm>
          <a:prstGeom prst="rect">
            <a:avLst/>
          </a:prstGeom>
          <a:noFill/>
        </p:spPr>
        <p:txBody>
          <a:bodyPr wrap="square" lIns="0" rIns="0" tIns="0" bIns="0" anchor="t">
            <a:spAutoFit/>
          </a:bodyPr>
          <a:lstStyle/>
          <a:p>
            <a:pPr algn="l"/>
            <a:r>
              <a:rPr sz="1950" b="0" i="0">
                <a:solidFill>
                  <a:srgbClr val="9A7878"/>
                </a:solidFill>
                <a:latin typeface="Geist"/>
                <a:ea typeface="Geist"/>
                <a:cs typeface="Geist"/>
              </a:rPr>
              <a:t>For programmers</a:t>
            </a:r>
          </a:p>
        </p:txBody>
      </p:sp>
      <p:sp>
        <p:nvSpPr>
          <p:cNvPr id="8" name="TextBox 7"/>
          <p:cNvSpPr txBox="1"/>
          <p:nvPr/>
        </p:nvSpPr>
        <p:spPr>
          <a:xfrm>
            <a:off x="1371600" y="4667250"/>
            <a:ext cx="7239000" cy="371475"/>
          </a:xfrm>
          <a:prstGeom prst="rect">
            <a:avLst/>
          </a:prstGeom>
          <a:noFill/>
        </p:spPr>
        <p:txBody>
          <a:bodyPr wrap="square" lIns="0" rIns="0" tIns="0" bIns="0" anchor="t">
            <a:spAutoFit/>
          </a:bodyPr>
          <a:lstStyle/>
          <a:p>
            <a:pPr algn="l">
              <a:lnSpc>
                <a:spcPct val="125000"/>
              </a:lnSpc>
            </a:pPr>
            <a:r>
              <a:rPr sz="2250" b="1" i="0">
                <a:solidFill>
                  <a:srgbClr val="CC2200"/>
                </a:solidFill>
                <a:latin typeface="Geist"/>
                <a:ea typeface="Geist"/>
                <a:cs typeface="Geist"/>
              </a:rPr>
              <a:t>•  </a:t>
            </a:r>
            <a:r>
              <a:rPr sz="2250" b="0" i="0">
                <a:solidFill>
                  <a:srgbClr val="F0E8E8"/>
                </a:solidFill>
                <a:latin typeface="Geist"/>
                <a:ea typeface="Geist"/>
                <a:cs typeface="Geist"/>
              </a:rPr>
              <a:t>Graphs, fields, replays</a:t>
            </a:r>
          </a:p>
        </p:txBody>
      </p:sp>
      <p:sp>
        <p:nvSpPr>
          <p:cNvPr id="9" name="TextBox 8"/>
          <p:cNvSpPr txBox="1"/>
          <p:nvPr/>
        </p:nvSpPr>
        <p:spPr>
          <a:xfrm>
            <a:off x="1371600" y="5267325"/>
            <a:ext cx="7239000" cy="371475"/>
          </a:xfrm>
          <a:prstGeom prst="rect">
            <a:avLst/>
          </a:prstGeom>
          <a:noFill/>
        </p:spPr>
        <p:txBody>
          <a:bodyPr wrap="square" lIns="0" rIns="0" tIns="0" bIns="0" anchor="t">
            <a:spAutoFit/>
          </a:bodyPr>
          <a:lstStyle/>
          <a:p>
            <a:pPr algn="l">
              <a:lnSpc>
                <a:spcPct val="125000"/>
              </a:lnSpc>
            </a:pPr>
            <a:r>
              <a:rPr sz="2250" b="1" i="0">
                <a:solidFill>
                  <a:srgbClr val="CC2200"/>
                </a:solidFill>
                <a:latin typeface="Geist"/>
                <a:ea typeface="Geist"/>
                <a:cs typeface="Geist"/>
              </a:rPr>
              <a:t>•  </a:t>
            </a:r>
            <a:r>
              <a:rPr sz="2250" b="0" i="0">
                <a:solidFill>
                  <a:srgbClr val="F0E8E8"/>
                </a:solidFill>
                <a:latin typeface="Geist"/>
                <a:ea typeface="Geist"/>
                <a:cs typeface="Geist"/>
              </a:rPr>
              <a:t>Digging into what happened</a:t>
            </a:r>
          </a:p>
        </p:txBody>
      </p:sp>
      <p:sp>
        <p:nvSpPr>
          <p:cNvPr id="10" name="TextBox 9"/>
          <p:cNvSpPr txBox="1"/>
          <p:nvPr/>
        </p:nvSpPr>
        <p:spPr>
          <a:xfrm>
            <a:off x="1371600" y="5867400"/>
            <a:ext cx="7239000" cy="371475"/>
          </a:xfrm>
          <a:prstGeom prst="rect">
            <a:avLst/>
          </a:prstGeom>
          <a:noFill/>
        </p:spPr>
        <p:txBody>
          <a:bodyPr wrap="square" lIns="0" rIns="0" tIns="0" bIns="0" anchor="t">
            <a:spAutoFit/>
          </a:bodyPr>
          <a:lstStyle/>
          <a:p>
            <a:pPr algn="l">
              <a:lnSpc>
                <a:spcPct val="125000"/>
              </a:lnSpc>
            </a:pPr>
            <a:r>
              <a:rPr sz="2250" b="1" i="0">
                <a:solidFill>
                  <a:srgbClr val="CC2200"/>
                </a:solidFill>
                <a:latin typeface="Geist"/>
                <a:ea typeface="Geist"/>
                <a:cs typeface="Geist"/>
              </a:rPr>
              <a:t>•  </a:t>
            </a:r>
            <a:r>
              <a:rPr sz="2250" b="0" i="0">
                <a:solidFill>
                  <a:srgbClr val="F0E8E8"/>
                </a:solidFill>
                <a:latin typeface="Geist"/>
                <a:ea typeface="Geist"/>
                <a:cs typeface="Geist"/>
              </a:rPr>
              <a:t>Used in the pits and while testing</a:t>
            </a:r>
          </a:p>
        </p:txBody>
      </p:sp>
      <p:sp>
        <p:nvSpPr>
          <p:cNvPr id="11" name="Rounded Rectangle 10"/>
          <p:cNvSpPr/>
          <p:nvPr/>
        </p:nvSpPr>
        <p:spPr>
          <a:xfrm>
            <a:off x="9334500" y="2857500"/>
            <a:ext cx="8039100" cy="5334000"/>
          </a:xfrm>
          <a:prstGeom prst="roundRect">
            <a:avLst>
              <a:gd name="adj" fmla="val 2857"/>
            </a:avLst>
          </a:prstGeom>
          <a:solidFill>
            <a:srgbClr val="111111"/>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9791700" y="3238500"/>
            <a:ext cx="6667500" cy="666750"/>
          </a:xfrm>
          <a:prstGeom prst="rect">
            <a:avLst/>
          </a:prstGeom>
          <a:noFill/>
        </p:spPr>
        <p:txBody>
          <a:bodyPr wrap="square" lIns="0" rIns="0" tIns="0" bIns="0" anchor="t">
            <a:spAutoFit/>
          </a:bodyPr>
          <a:lstStyle/>
          <a:p>
            <a:pPr algn="l"/>
            <a:r>
              <a:rPr sz="3300" b="1" i="0">
                <a:solidFill>
                  <a:srgbClr val="F0E8E8"/>
                </a:solidFill>
                <a:latin typeface="Geist"/>
                <a:ea typeface="Geist"/>
                <a:cs typeface="Geist"/>
              </a:rPr>
              <a:t>Elastic</a:t>
            </a:r>
          </a:p>
        </p:txBody>
      </p:sp>
      <p:sp>
        <p:nvSpPr>
          <p:cNvPr id="13" name="TextBox 12"/>
          <p:cNvSpPr txBox="1"/>
          <p:nvPr/>
        </p:nvSpPr>
        <p:spPr>
          <a:xfrm>
            <a:off x="9791700" y="3905250"/>
            <a:ext cx="5715000" cy="381000"/>
          </a:xfrm>
          <a:prstGeom prst="rect">
            <a:avLst/>
          </a:prstGeom>
          <a:noFill/>
        </p:spPr>
        <p:txBody>
          <a:bodyPr wrap="square" lIns="0" rIns="0" tIns="0" bIns="0" anchor="t">
            <a:spAutoFit/>
          </a:bodyPr>
          <a:lstStyle/>
          <a:p>
            <a:pPr algn="l"/>
            <a:r>
              <a:rPr sz="1950" b="0" i="0">
                <a:solidFill>
                  <a:srgbClr val="9A7878"/>
                </a:solidFill>
                <a:latin typeface="Geist"/>
                <a:ea typeface="Geist"/>
                <a:cs typeface="Geist"/>
              </a:rPr>
              <a:t>For drivers</a:t>
            </a:r>
          </a:p>
        </p:txBody>
      </p:sp>
      <p:sp>
        <p:nvSpPr>
          <p:cNvPr id="14" name="TextBox 13"/>
          <p:cNvSpPr txBox="1"/>
          <p:nvPr/>
        </p:nvSpPr>
        <p:spPr>
          <a:xfrm>
            <a:off x="9791700" y="4667250"/>
            <a:ext cx="7239000" cy="371475"/>
          </a:xfrm>
          <a:prstGeom prst="rect">
            <a:avLst/>
          </a:prstGeom>
          <a:noFill/>
        </p:spPr>
        <p:txBody>
          <a:bodyPr wrap="square" lIns="0" rIns="0" tIns="0" bIns="0" anchor="t">
            <a:spAutoFit/>
          </a:bodyPr>
          <a:lstStyle/>
          <a:p>
            <a:pPr algn="l">
              <a:lnSpc>
                <a:spcPct val="125000"/>
              </a:lnSpc>
            </a:pPr>
            <a:r>
              <a:rPr sz="2250" b="1" i="0">
                <a:solidFill>
                  <a:srgbClr val="CC2200"/>
                </a:solidFill>
                <a:latin typeface="Geist"/>
                <a:ea typeface="Geist"/>
                <a:cs typeface="Geist"/>
              </a:rPr>
              <a:t>•  </a:t>
            </a:r>
            <a:r>
              <a:rPr sz="2250" b="0" i="0">
                <a:solidFill>
                  <a:srgbClr val="F0E8E8"/>
                </a:solidFill>
                <a:latin typeface="Geist"/>
                <a:ea typeface="Geist"/>
                <a:cs typeface="Geist"/>
              </a:rPr>
              <a:t>Big, simple widgets</a:t>
            </a:r>
          </a:p>
        </p:txBody>
      </p:sp>
      <p:sp>
        <p:nvSpPr>
          <p:cNvPr id="15" name="TextBox 14"/>
          <p:cNvSpPr txBox="1"/>
          <p:nvPr/>
        </p:nvSpPr>
        <p:spPr>
          <a:xfrm>
            <a:off x="9791700" y="5267325"/>
            <a:ext cx="7239000" cy="371475"/>
          </a:xfrm>
          <a:prstGeom prst="rect">
            <a:avLst/>
          </a:prstGeom>
          <a:noFill/>
        </p:spPr>
        <p:txBody>
          <a:bodyPr wrap="square" lIns="0" rIns="0" tIns="0" bIns="0" anchor="t">
            <a:spAutoFit/>
          </a:bodyPr>
          <a:lstStyle/>
          <a:p>
            <a:pPr algn="l">
              <a:lnSpc>
                <a:spcPct val="125000"/>
              </a:lnSpc>
            </a:pPr>
            <a:r>
              <a:rPr sz="2250" b="1" i="0">
                <a:solidFill>
                  <a:srgbClr val="CC2200"/>
                </a:solidFill>
                <a:latin typeface="Geist"/>
                <a:ea typeface="Geist"/>
                <a:cs typeface="Geist"/>
              </a:rPr>
              <a:t>•  </a:t>
            </a:r>
            <a:r>
              <a:rPr sz="2250" b="0" i="0">
                <a:solidFill>
                  <a:srgbClr val="F0E8E8"/>
                </a:solidFill>
                <a:latin typeface="Geist"/>
                <a:ea typeface="Geist"/>
                <a:cs typeface="Geist"/>
              </a:rPr>
              <a:t>Read in a glance during a match</a:t>
            </a:r>
          </a:p>
        </p:txBody>
      </p:sp>
      <p:sp>
        <p:nvSpPr>
          <p:cNvPr id="16" name="TextBox 15"/>
          <p:cNvSpPr txBox="1"/>
          <p:nvPr/>
        </p:nvSpPr>
        <p:spPr>
          <a:xfrm>
            <a:off x="9791700" y="5867400"/>
            <a:ext cx="7239000" cy="371475"/>
          </a:xfrm>
          <a:prstGeom prst="rect">
            <a:avLst/>
          </a:prstGeom>
          <a:noFill/>
        </p:spPr>
        <p:txBody>
          <a:bodyPr wrap="square" lIns="0" rIns="0" tIns="0" bIns="0" anchor="t">
            <a:spAutoFit/>
          </a:bodyPr>
          <a:lstStyle/>
          <a:p>
            <a:pPr algn="l">
              <a:lnSpc>
                <a:spcPct val="125000"/>
              </a:lnSpc>
            </a:pPr>
            <a:r>
              <a:rPr sz="2250" b="1" i="0">
                <a:solidFill>
                  <a:srgbClr val="CC2200"/>
                </a:solidFill>
                <a:latin typeface="Geist"/>
                <a:ea typeface="Geist"/>
                <a:cs typeface="Geist"/>
              </a:rPr>
              <a:t>•  </a:t>
            </a:r>
            <a:r>
              <a:rPr sz="2250" b="0" i="0">
                <a:solidFill>
                  <a:srgbClr val="F0E8E8"/>
                </a:solidFill>
                <a:latin typeface="Geist"/>
                <a:ea typeface="Geist"/>
                <a:cs typeface="Geist"/>
              </a:rPr>
              <a:t>Set options like the auto routine</a:t>
            </a:r>
          </a:p>
        </p:txBody>
      </p:sp>
      <p:pic>
        <p:nvPicPr>
          <p:cNvPr id="17" name="Picture 16" descr="mw_logo_small.png"/>
          <p:cNvPicPr>
            <a:picLocks noChangeAspect="1"/>
          </p:cNvPicPr>
          <p:nvPr/>
        </p:nvPicPr>
        <p:blipFill>
          <a:blip r:embed="rId3"/>
          <a:stretch>
            <a:fillRect/>
          </a:stretch>
        </p:blipFill>
        <p:spPr>
          <a:xfrm>
            <a:off x="914400" y="9410700"/>
            <a:ext cx="583564" cy="495300"/>
          </a:xfrm>
          <a:prstGeom prst="rect">
            <a:avLst/>
          </a:prstGeom>
        </p:spPr>
      </p:pic>
      <p:sp>
        <p:nvSpPr>
          <p:cNvPr id="18" name="TextBox 17"/>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ELASTIC</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Topics: values with names</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3143250"/>
            <a:ext cx="4978400" cy="1905000"/>
          </a:xfrm>
          <a:prstGeom prst="roundRect">
            <a:avLst>
              <a:gd name="adj" fmla="val 80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009650" y="3619500"/>
            <a:ext cx="4787900" cy="533400"/>
          </a:xfrm>
          <a:prstGeom prst="rect">
            <a:avLst/>
          </a:prstGeom>
          <a:noFill/>
        </p:spPr>
        <p:txBody>
          <a:bodyPr wrap="square" lIns="0" rIns="0" tIns="0" bIns="0" anchor="t">
            <a:spAutoFit/>
          </a:bodyPr>
          <a:lstStyle/>
          <a:p>
            <a:pPr algn="ctr"/>
            <a:r>
              <a:rPr sz="2550" b="1" i="0">
                <a:solidFill>
                  <a:srgbClr val="F0E8E8"/>
                </a:solidFill>
                <a:latin typeface="Geist"/>
                <a:ea typeface="Geist"/>
                <a:cs typeface="Geist"/>
              </a:rPr>
              <a:t>Robot</a:t>
            </a:r>
          </a:p>
        </p:txBody>
      </p:sp>
      <p:sp>
        <p:nvSpPr>
          <p:cNvPr id="7" name="TextBox 6"/>
          <p:cNvSpPr txBox="1"/>
          <p:nvPr/>
        </p:nvSpPr>
        <p:spPr>
          <a:xfrm>
            <a:off x="1066800" y="4210050"/>
            <a:ext cx="4673600" cy="571500"/>
          </a:xfrm>
          <a:prstGeom prst="rect">
            <a:avLst/>
          </a:prstGeom>
          <a:noFill/>
        </p:spPr>
        <p:txBody>
          <a:bodyPr wrap="square" lIns="0" rIns="0" tIns="0" bIns="0" anchor="t">
            <a:spAutoFit/>
          </a:bodyPr>
          <a:lstStyle/>
          <a:p>
            <a:pPr algn="ctr">
              <a:lnSpc>
                <a:spcPct val="120000"/>
              </a:lnSpc>
            </a:pPr>
            <a:r>
              <a:rPr sz="1650" b="0" i="0">
                <a:solidFill>
                  <a:srgbClr val="9A7878"/>
                </a:solidFill>
                <a:latin typeface="Geist"/>
                <a:ea typeface="Geist"/>
                <a:cs typeface="Geist"/>
              </a:rPr>
              <a:t>Publishes ClimberSpeed</a:t>
            </a:r>
          </a:p>
        </p:txBody>
      </p:sp>
      <p:cxnSp>
        <p:nvCxnSpPr>
          <p:cNvPr id="8" name="Connector 7"/>
          <p:cNvCxnSpPr/>
          <p:nvPr/>
        </p:nvCxnSpPr>
        <p:spPr>
          <a:xfrm>
            <a:off x="5969000" y="4095750"/>
            <a:ext cx="609600" cy="0"/>
          </a:xfrm>
          <a:prstGeom prst="line">
            <a:avLst/>
          </a:prstGeom>
          <a:ln w="28575">
            <a:solidFill>
              <a:srgbClr val="9A7878"/>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6654800" y="3143250"/>
            <a:ext cx="4978400" cy="1905000"/>
          </a:xfrm>
          <a:prstGeom prst="roundRect">
            <a:avLst>
              <a:gd name="adj" fmla="val 8000"/>
            </a:avLst>
          </a:prstGeom>
          <a:solidFill>
            <a:srgbClr val="111111"/>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750050" y="3619500"/>
            <a:ext cx="4787900" cy="533400"/>
          </a:xfrm>
          <a:prstGeom prst="rect">
            <a:avLst/>
          </a:prstGeom>
          <a:noFill/>
        </p:spPr>
        <p:txBody>
          <a:bodyPr wrap="square" lIns="0" rIns="0" tIns="0" bIns="0" anchor="t">
            <a:spAutoFit/>
          </a:bodyPr>
          <a:lstStyle/>
          <a:p>
            <a:pPr algn="ctr"/>
            <a:r>
              <a:rPr sz="2550" b="1" i="0">
                <a:solidFill>
                  <a:srgbClr val="F0E8E8"/>
                </a:solidFill>
                <a:latin typeface="Geist"/>
                <a:ea typeface="Geist"/>
                <a:cs typeface="Geist"/>
              </a:rPr>
              <a:t>NetworkTables</a:t>
            </a:r>
          </a:p>
        </p:txBody>
      </p:sp>
      <p:sp>
        <p:nvSpPr>
          <p:cNvPr id="11" name="TextBox 10"/>
          <p:cNvSpPr txBox="1"/>
          <p:nvPr/>
        </p:nvSpPr>
        <p:spPr>
          <a:xfrm>
            <a:off x="6807200" y="4210050"/>
            <a:ext cx="4673600" cy="571500"/>
          </a:xfrm>
          <a:prstGeom prst="rect">
            <a:avLst/>
          </a:prstGeom>
          <a:noFill/>
        </p:spPr>
        <p:txBody>
          <a:bodyPr wrap="square" lIns="0" rIns="0" tIns="0" bIns="0" anchor="t">
            <a:spAutoFit/>
          </a:bodyPr>
          <a:lstStyle/>
          <a:p>
            <a:pPr algn="ctr">
              <a:lnSpc>
                <a:spcPct val="120000"/>
              </a:lnSpc>
            </a:pPr>
            <a:r>
              <a:rPr sz="1650" b="0" i="0">
                <a:solidFill>
                  <a:srgbClr val="9A7878"/>
                </a:solidFill>
                <a:latin typeface="Geist"/>
                <a:ea typeface="Geist"/>
                <a:cs typeface="Geist"/>
              </a:rPr>
              <a:t>A shared table of topics</a:t>
            </a:r>
          </a:p>
        </p:txBody>
      </p:sp>
      <p:cxnSp>
        <p:nvCxnSpPr>
          <p:cNvPr id="12" name="Connector 11"/>
          <p:cNvCxnSpPr/>
          <p:nvPr/>
        </p:nvCxnSpPr>
        <p:spPr>
          <a:xfrm>
            <a:off x="11709400" y="4095750"/>
            <a:ext cx="609600" cy="0"/>
          </a:xfrm>
          <a:prstGeom prst="line">
            <a:avLst/>
          </a:prstGeom>
          <a:ln w="28575">
            <a:solidFill>
              <a:srgbClr val="9A787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12395200" y="3143250"/>
            <a:ext cx="4978400" cy="1905000"/>
          </a:xfrm>
          <a:prstGeom prst="roundRect">
            <a:avLst>
              <a:gd name="adj" fmla="val 80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2490450" y="3619500"/>
            <a:ext cx="4787900" cy="533400"/>
          </a:xfrm>
          <a:prstGeom prst="rect">
            <a:avLst/>
          </a:prstGeom>
          <a:noFill/>
        </p:spPr>
        <p:txBody>
          <a:bodyPr wrap="square" lIns="0" rIns="0" tIns="0" bIns="0" anchor="t">
            <a:spAutoFit/>
          </a:bodyPr>
          <a:lstStyle/>
          <a:p>
            <a:pPr algn="ctr"/>
            <a:r>
              <a:rPr sz="2550" b="1" i="0">
                <a:solidFill>
                  <a:srgbClr val="F0E8E8"/>
                </a:solidFill>
                <a:latin typeface="Geist"/>
                <a:ea typeface="Geist"/>
                <a:cs typeface="Geist"/>
              </a:rPr>
              <a:t>Elastic</a:t>
            </a:r>
          </a:p>
        </p:txBody>
      </p:sp>
      <p:sp>
        <p:nvSpPr>
          <p:cNvPr id="15" name="TextBox 14"/>
          <p:cNvSpPr txBox="1"/>
          <p:nvPr/>
        </p:nvSpPr>
        <p:spPr>
          <a:xfrm>
            <a:off x="12547600" y="4210050"/>
            <a:ext cx="4673600" cy="571500"/>
          </a:xfrm>
          <a:prstGeom prst="rect">
            <a:avLst/>
          </a:prstGeom>
          <a:noFill/>
        </p:spPr>
        <p:txBody>
          <a:bodyPr wrap="square" lIns="0" rIns="0" tIns="0" bIns="0" anchor="t">
            <a:spAutoFit/>
          </a:bodyPr>
          <a:lstStyle/>
          <a:p>
            <a:pPr algn="ctr">
              <a:lnSpc>
                <a:spcPct val="120000"/>
              </a:lnSpc>
            </a:pPr>
            <a:r>
              <a:rPr sz="1650" b="0" i="0">
                <a:solidFill>
                  <a:srgbClr val="9A7878"/>
                </a:solidFill>
                <a:latin typeface="Geist"/>
                <a:ea typeface="Geist"/>
                <a:cs typeface="Geist"/>
              </a:rPr>
              <a:t>Subscribes by name</a:t>
            </a:r>
          </a:p>
        </p:txBody>
      </p:sp>
      <p:sp>
        <p:nvSpPr>
          <p:cNvPr id="16" name="Rounded Rectangle 15"/>
          <p:cNvSpPr/>
          <p:nvPr/>
        </p:nvSpPr>
        <p:spPr>
          <a:xfrm>
            <a:off x="914400" y="5715000"/>
            <a:ext cx="16459200" cy="2857500"/>
          </a:xfrm>
          <a:prstGeom prst="roundRect">
            <a:avLst>
              <a:gd name="adj" fmla="val 5333"/>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1295400" y="6000750"/>
            <a:ext cx="6667500" cy="533400"/>
          </a:xfrm>
          <a:prstGeom prst="rect">
            <a:avLst/>
          </a:prstGeom>
          <a:noFill/>
        </p:spPr>
        <p:txBody>
          <a:bodyPr wrap="square" lIns="0" rIns="0" tIns="0" bIns="0" anchor="ctr">
            <a:spAutoFit/>
          </a:bodyPr>
          <a:lstStyle/>
          <a:p>
            <a:pPr algn="l"/>
            <a:r>
              <a:rPr sz="2100" b="0" i="0">
                <a:solidFill>
                  <a:srgbClr val="F0E8E8"/>
                </a:solidFill>
                <a:latin typeface="Geist Mono"/>
                <a:ea typeface="Geist Mono"/>
                <a:cs typeface="Geist Mono"/>
              </a:rPr>
              <a:t>ClimberSpeed</a:t>
            </a:r>
          </a:p>
        </p:txBody>
      </p:sp>
      <p:sp>
        <p:nvSpPr>
          <p:cNvPr id="18" name="TextBox 17"/>
          <p:cNvSpPr txBox="1"/>
          <p:nvPr/>
        </p:nvSpPr>
        <p:spPr>
          <a:xfrm>
            <a:off x="8572500" y="6000750"/>
            <a:ext cx="6667500" cy="533400"/>
          </a:xfrm>
          <a:prstGeom prst="rect">
            <a:avLst/>
          </a:prstGeom>
          <a:noFill/>
        </p:spPr>
        <p:txBody>
          <a:bodyPr wrap="square" lIns="0" rIns="0" tIns="0" bIns="0" anchor="ctr">
            <a:spAutoFit/>
          </a:bodyPr>
          <a:lstStyle/>
          <a:p>
            <a:pPr algn="l"/>
            <a:r>
              <a:rPr sz="2100" b="0" i="0">
                <a:solidFill>
                  <a:srgbClr val="E8C27A"/>
                </a:solidFill>
                <a:latin typeface="Geist Mono"/>
                <a:ea typeface="Geist Mono"/>
                <a:cs typeface="Geist Mono"/>
              </a:rPr>
              <a:t>0.65</a:t>
            </a:r>
          </a:p>
        </p:txBody>
      </p:sp>
      <p:sp>
        <p:nvSpPr>
          <p:cNvPr id="19" name="TextBox 18"/>
          <p:cNvSpPr txBox="1"/>
          <p:nvPr/>
        </p:nvSpPr>
        <p:spPr>
          <a:xfrm>
            <a:off x="1295400" y="6610350"/>
            <a:ext cx="6667500" cy="533400"/>
          </a:xfrm>
          <a:prstGeom prst="rect">
            <a:avLst/>
          </a:prstGeom>
          <a:noFill/>
        </p:spPr>
        <p:txBody>
          <a:bodyPr wrap="square" lIns="0" rIns="0" tIns="0" bIns="0" anchor="ctr">
            <a:spAutoFit/>
          </a:bodyPr>
          <a:lstStyle/>
          <a:p>
            <a:pPr algn="l"/>
            <a:r>
              <a:rPr sz="2100" b="0" i="0">
                <a:solidFill>
                  <a:srgbClr val="F0E8E8"/>
                </a:solidFill>
                <a:latin typeface="Geist Mono"/>
                <a:ea typeface="Geist Mono"/>
                <a:cs typeface="Geist Mono"/>
              </a:rPr>
              <a:t>BatteryVoltage</a:t>
            </a:r>
          </a:p>
        </p:txBody>
      </p:sp>
      <p:sp>
        <p:nvSpPr>
          <p:cNvPr id="20" name="TextBox 19"/>
          <p:cNvSpPr txBox="1"/>
          <p:nvPr/>
        </p:nvSpPr>
        <p:spPr>
          <a:xfrm>
            <a:off x="8572500" y="6610350"/>
            <a:ext cx="6667500" cy="533400"/>
          </a:xfrm>
          <a:prstGeom prst="rect">
            <a:avLst/>
          </a:prstGeom>
          <a:noFill/>
        </p:spPr>
        <p:txBody>
          <a:bodyPr wrap="square" lIns="0" rIns="0" tIns="0" bIns="0" anchor="ctr">
            <a:spAutoFit/>
          </a:bodyPr>
          <a:lstStyle/>
          <a:p>
            <a:pPr algn="l"/>
            <a:r>
              <a:rPr sz="2100" b="0" i="0">
                <a:solidFill>
                  <a:srgbClr val="E8C27A"/>
                </a:solidFill>
                <a:latin typeface="Geist Mono"/>
                <a:ea typeface="Geist Mono"/>
                <a:cs typeface="Geist Mono"/>
              </a:rPr>
              <a:t>12.4</a:t>
            </a:r>
          </a:p>
        </p:txBody>
      </p:sp>
      <p:sp>
        <p:nvSpPr>
          <p:cNvPr id="21" name="TextBox 20"/>
          <p:cNvSpPr txBox="1"/>
          <p:nvPr/>
        </p:nvSpPr>
        <p:spPr>
          <a:xfrm>
            <a:off x="1295400" y="7219950"/>
            <a:ext cx="6667500" cy="533400"/>
          </a:xfrm>
          <a:prstGeom prst="rect">
            <a:avLst/>
          </a:prstGeom>
          <a:noFill/>
        </p:spPr>
        <p:txBody>
          <a:bodyPr wrap="square" lIns="0" rIns="0" tIns="0" bIns="0" anchor="ctr">
            <a:spAutoFit/>
          </a:bodyPr>
          <a:lstStyle/>
          <a:p>
            <a:pPr algn="l"/>
            <a:r>
              <a:rPr sz="2100" b="0" i="0">
                <a:solidFill>
                  <a:srgbClr val="F0E8E8"/>
                </a:solidFill>
                <a:latin typeface="Geist Mono"/>
                <a:ea typeface="Geist Mono"/>
                <a:cs typeface="Geist Mono"/>
              </a:rPr>
              <a:t>GamePieceLoaded</a:t>
            </a:r>
          </a:p>
        </p:txBody>
      </p:sp>
      <p:sp>
        <p:nvSpPr>
          <p:cNvPr id="22" name="TextBox 21"/>
          <p:cNvSpPr txBox="1"/>
          <p:nvPr/>
        </p:nvSpPr>
        <p:spPr>
          <a:xfrm>
            <a:off x="8572500" y="7219950"/>
            <a:ext cx="6667500" cy="533400"/>
          </a:xfrm>
          <a:prstGeom prst="rect">
            <a:avLst/>
          </a:prstGeom>
          <a:noFill/>
        </p:spPr>
        <p:txBody>
          <a:bodyPr wrap="square" lIns="0" rIns="0" tIns="0" bIns="0" anchor="ctr">
            <a:spAutoFit/>
          </a:bodyPr>
          <a:lstStyle/>
          <a:p>
            <a:pPr algn="l"/>
            <a:r>
              <a:rPr sz="2100" b="0" i="0">
                <a:solidFill>
                  <a:srgbClr val="E0785F"/>
                </a:solidFill>
                <a:latin typeface="Geist Mono"/>
                <a:ea typeface="Geist Mono"/>
                <a:cs typeface="Geist Mono"/>
              </a:rPr>
              <a:t>true</a:t>
            </a:r>
          </a:p>
        </p:txBody>
      </p:sp>
      <p:sp>
        <p:nvSpPr>
          <p:cNvPr id="23" name="TextBox 22"/>
          <p:cNvSpPr txBox="1"/>
          <p:nvPr/>
        </p:nvSpPr>
        <p:spPr>
          <a:xfrm>
            <a:off x="1295400" y="7829550"/>
            <a:ext cx="6667500" cy="533400"/>
          </a:xfrm>
          <a:prstGeom prst="rect">
            <a:avLst/>
          </a:prstGeom>
          <a:noFill/>
        </p:spPr>
        <p:txBody>
          <a:bodyPr wrap="square" lIns="0" rIns="0" tIns="0" bIns="0" anchor="ctr">
            <a:spAutoFit/>
          </a:bodyPr>
          <a:lstStyle/>
          <a:p>
            <a:pPr algn="l"/>
            <a:r>
              <a:rPr sz="2100" b="0" i="0">
                <a:solidFill>
                  <a:srgbClr val="F0E8E8"/>
                </a:solidFill>
                <a:latin typeface="Geist Mono"/>
                <a:ea typeface="Geist Mono"/>
                <a:cs typeface="Geist Mono"/>
              </a:rPr>
              <a:t>AutoRoutine</a:t>
            </a:r>
          </a:p>
        </p:txBody>
      </p:sp>
      <p:sp>
        <p:nvSpPr>
          <p:cNvPr id="24" name="TextBox 23"/>
          <p:cNvSpPr txBox="1"/>
          <p:nvPr/>
        </p:nvSpPr>
        <p:spPr>
          <a:xfrm>
            <a:off x="8572500" y="7829550"/>
            <a:ext cx="6667500" cy="533400"/>
          </a:xfrm>
          <a:prstGeom prst="rect">
            <a:avLst/>
          </a:prstGeom>
          <a:noFill/>
        </p:spPr>
        <p:txBody>
          <a:bodyPr wrap="square" lIns="0" rIns="0" tIns="0" bIns="0" anchor="ctr">
            <a:spAutoFit/>
          </a:bodyPr>
          <a:lstStyle/>
          <a:p>
            <a:pPr algn="l"/>
            <a:r>
              <a:rPr sz="2100" b="0" i="0">
                <a:solidFill>
                  <a:srgbClr val="9FD29A"/>
                </a:solidFill>
                <a:latin typeface="Geist Mono"/>
                <a:ea typeface="Geist Mono"/>
                <a:cs typeface="Geist Mono"/>
              </a:rPr>
              <a:t>"Left, shoot 2"</a:t>
            </a:r>
          </a:p>
        </p:txBody>
      </p:sp>
      <p:pic>
        <p:nvPicPr>
          <p:cNvPr id="25" name="Picture 24" descr="mw_logo_small.png"/>
          <p:cNvPicPr>
            <a:picLocks noChangeAspect="1"/>
          </p:cNvPicPr>
          <p:nvPr/>
        </p:nvPicPr>
        <p:blipFill>
          <a:blip r:embed="rId3"/>
          <a:stretch>
            <a:fillRect/>
          </a:stretch>
        </p:blipFill>
        <p:spPr>
          <a:xfrm>
            <a:off x="914400" y="9410700"/>
            <a:ext cx="583564" cy="495300"/>
          </a:xfrm>
          <a:prstGeom prst="rect">
            <a:avLst/>
          </a:prstGeom>
        </p:spPr>
      </p:pic>
      <p:sp>
        <p:nvSpPr>
          <p:cNvPr id="26" name="TextBox 25"/>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ELASTIC</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Widgets match the data</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8039100" cy="1581150"/>
          </a:xfrm>
          <a:prstGeom prst="roundRect">
            <a:avLst>
              <a:gd name="adj" fmla="val 963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295400" y="3124200"/>
            <a:ext cx="7239000" cy="476250"/>
          </a:xfrm>
          <a:prstGeom prst="rect">
            <a:avLst/>
          </a:prstGeom>
          <a:noFill/>
        </p:spPr>
        <p:txBody>
          <a:bodyPr wrap="square" lIns="0" rIns="0" tIns="0" bIns="0" anchor="t">
            <a:spAutoFit/>
          </a:bodyPr>
          <a:lstStyle/>
          <a:p>
            <a:pPr algn="l"/>
            <a:r>
              <a:rPr sz="2550" b="1" i="0">
                <a:solidFill>
                  <a:srgbClr val="F0E8E8"/>
                </a:solidFill>
                <a:latin typeface="Geist"/>
                <a:ea typeface="Geist"/>
                <a:cs typeface="Geist"/>
              </a:rPr>
              <a:t>Boolean Box</a:t>
            </a:r>
          </a:p>
        </p:txBody>
      </p:sp>
      <p:sp>
        <p:nvSpPr>
          <p:cNvPr id="7" name="TextBox 6"/>
          <p:cNvSpPr txBox="1"/>
          <p:nvPr/>
        </p:nvSpPr>
        <p:spPr>
          <a:xfrm>
            <a:off x="1295400" y="3695700"/>
            <a:ext cx="7239000" cy="381000"/>
          </a:xfrm>
          <a:prstGeom prst="rect">
            <a:avLst/>
          </a:prstGeom>
          <a:noFill/>
        </p:spPr>
        <p:txBody>
          <a:bodyPr wrap="square" lIns="0" rIns="0" tIns="0" bIns="0" anchor="t">
            <a:spAutoFit/>
          </a:bodyPr>
          <a:lstStyle/>
          <a:p>
            <a:pPr algn="l"/>
            <a:r>
              <a:rPr sz="1950" b="0" i="0">
                <a:solidFill>
                  <a:srgbClr val="9A7878"/>
                </a:solidFill>
                <a:latin typeface="Geist"/>
                <a:ea typeface="Geist"/>
                <a:cs typeface="Geist"/>
              </a:rPr>
              <a:t>Game piece loaded?  ·  </a:t>
            </a:r>
            <a:r>
              <a:rPr sz="1800" b="0" i="0">
                <a:solidFill>
                  <a:srgbClr val="E0785F"/>
                </a:solidFill>
                <a:latin typeface="Geist Mono"/>
                <a:ea typeface="Geist Mono"/>
                <a:cs typeface="Geist Mono"/>
              </a:rPr>
              <a:t>true / false</a:t>
            </a:r>
          </a:p>
        </p:txBody>
      </p:sp>
      <p:sp>
        <p:nvSpPr>
          <p:cNvPr id="8" name="Rounded Rectangle 7"/>
          <p:cNvSpPr/>
          <p:nvPr/>
        </p:nvSpPr>
        <p:spPr>
          <a:xfrm>
            <a:off x="914400" y="4667250"/>
            <a:ext cx="8039100" cy="1581150"/>
          </a:xfrm>
          <a:prstGeom prst="roundRect">
            <a:avLst>
              <a:gd name="adj" fmla="val 963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295400" y="4933950"/>
            <a:ext cx="7239000" cy="476250"/>
          </a:xfrm>
          <a:prstGeom prst="rect">
            <a:avLst/>
          </a:prstGeom>
          <a:noFill/>
        </p:spPr>
        <p:txBody>
          <a:bodyPr wrap="square" lIns="0" rIns="0" tIns="0" bIns="0" anchor="t">
            <a:spAutoFit/>
          </a:bodyPr>
          <a:lstStyle/>
          <a:p>
            <a:pPr algn="l"/>
            <a:r>
              <a:rPr sz="2550" b="1" i="0">
                <a:solidFill>
                  <a:srgbClr val="F0E8E8"/>
                </a:solidFill>
                <a:latin typeface="Geist"/>
                <a:ea typeface="Geist"/>
                <a:cs typeface="Geist"/>
              </a:rPr>
              <a:t>Number Bar</a:t>
            </a:r>
          </a:p>
        </p:txBody>
      </p:sp>
      <p:sp>
        <p:nvSpPr>
          <p:cNvPr id="10" name="TextBox 9"/>
          <p:cNvSpPr txBox="1"/>
          <p:nvPr/>
        </p:nvSpPr>
        <p:spPr>
          <a:xfrm>
            <a:off x="1295400" y="5505450"/>
            <a:ext cx="7239000" cy="381000"/>
          </a:xfrm>
          <a:prstGeom prst="rect">
            <a:avLst/>
          </a:prstGeom>
          <a:noFill/>
        </p:spPr>
        <p:txBody>
          <a:bodyPr wrap="square" lIns="0" rIns="0" tIns="0" bIns="0" anchor="t">
            <a:spAutoFit/>
          </a:bodyPr>
          <a:lstStyle/>
          <a:p>
            <a:pPr algn="l"/>
            <a:r>
              <a:rPr sz="1950" b="0" i="0">
                <a:solidFill>
                  <a:srgbClr val="9A7878"/>
                </a:solidFill>
                <a:latin typeface="Geist"/>
                <a:ea typeface="Geist"/>
                <a:cs typeface="Geist"/>
              </a:rPr>
              <a:t>Climber speed  ·  </a:t>
            </a:r>
            <a:r>
              <a:rPr sz="1800" b="0" i="0">
                <a:solidFill>
                  <a:srgbClr val="E0785F"/>
                </a:solidFill>
                <a:latin typeface="Geist Mono"/>
                <a:ea typeface="Geist Mono"/>
                <a:cs typeface="Geist Mono"/>
              </a:rPr>
              <a:t>number in a range</a:t>
            </a:r>
          </a:p>
        </p:txBody>
      </p:sp>
      <p:sp>
        <p:nvSpPr>
          <p:cNvPr id="11" name="Rounded Rectangle 10"/>
          <p:cNvSpPr/>
          <p:nvPr/>
        </p:nvSpPr>
        <p:spPr>
          <a:xfrm>
            <a:off x="914400" y="6477000"/>
            <a:ext cx="8039100" cy="1581150"/>
          </a:xfrm>
          <a:prstGeom prst="roundRect">
            <a:avLst>
              <a:gd name="adj" fmla="val 963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1295400" y="6743700"/>
            <a:ext cx="7239000" cy="476250"/>
          </a:xfrm>
          <a:prstGeom prst="rect">
            <a:avLst/>
          </a:prstGeom>
          <a:noFill/>
        </p:spPr>
        <p:txBody>
          <a:bodyPr wrap="square" lIns="0" rIns="0" tIns="0" bIns="0" anchor="t">
            <a:spAutoFit/>
          </a:bodyPr>
          <a:lstStyle/>
          <a:p>
            <a:pPr algn="l"/>
            <a:r>
              <a:rPr sz="2550" b="1" i="0">
                <a:solidFill>
                  <a:srgbClr val="F0E8E8"/>
                </a:solidFill>
                <a:latin typeface="Geist"/>
                <a:ea typeface="Geist"/>
                <a:cs typeface="Geist"/>
              </a:rPr>
              <a:t>Voltage View</a:t>
            </a:r>
          </a:p>
        </p:txBody>
      </p:sp>
      <p:sp>
        <p:nvSpPr>
          <p:cNvPr id="13" name="TextBox 12"/>
          <p:cNvSpPr txBox="1"/>
          <p:nvPr/>
        </p:nvSpPr>
        <p:spPr>
          <a:xfrm>
            <a:off x="1295400" y="7315200"/>
            <a:ext cx="7239000" cy="381000"/>
          </a:xfrm>
          <a:prstGeom prst="rect">
            <a:avLst/>
          </a:prstGeom>
          <a:noFill/>
        </p:spPr>
        <p:txBody>
          <a:bodyPr wrap="square" lIns="0" rIns="0" tIns="0" bIns="0" anchor="t">
            <a:spAutoFit/>
          </a:bodyPr>
          <a:lstStyle/>
          <a:p>
            <a:pPr algn="l"/>
            <a:r>
              <a:rPr sz="1950" b="0" i="0">
                <a:solidFill>
                  <a:srgbClr val="9A7878"/>
                </a:solidFill>
                <a:latin typeface="Geist"/>
                <a:ea typeface="Geist"/>
                <a:cs typeface="Geist"/>
              </a:rPr>
              <a:t>Battery voltage  ·  </a:t>
            </a:r>
            <a:r>
              <a:rPr sz="1800" b="0" i="0">
                <a:solidFill>
                  <a:srgbClr val="E0785F"/>
                </a:solidFill>
                <a:latin typeface="Geist Mono"/>
                <a:ea typeface="Geist Mono"/>
                <a:cs typeface="Geist Mono"/>
              </a:rPr>
              <a:t>number</a:t>
            </a:r>
          </a:p>
        </p:txBody>
      </p:sp>
      <p:sp>
        <p:nvSpPr>
          <p:cNvPr id="14" name="Rounded Rectangle 13"/>
          <p:cNvSpPr/>
          <p:nvPr/>
        </p:nvSpPr>
        <p:spPr>
          <a:xfrm>
            <a:off x="9334500" y="2857500"/>
            <a:ext cx="8039100" cy="1581150"/>
          </a:xfrm>
          <a:prstGeom prst="roundRect">
            <a:avLst>
              <a:gd name="adj" fmla="val 963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9715500" y="3124200"/>
            <a:ext cx="7239000" cy="476250"/>
          </a:xfrm>
          <a:prstGeom prst="rect">
            <a:avLst/>
          </a:prstGeom>
          <a:noFill/>
        </p:spPr>
        <p:txBody>
          <a:bodyPr wrap="square" lIns="0" rIns="0" tIns="0" bIns="0" anchor="t">
            <a:spAutoFit/>
          </a:bodyPr>
          <a:lstStyle/>
          <a:p>
            <a:pPr algn="l"/>
            <a:r>
              <a:rPr sz="2550" b="1" i="0">
                <a:solidFill>
                  <a:srgbClr val="F0E8E8"/>
                </a:solidFill>
                <a:latin typeface="Geist"/>
                <a:ea typeface="Geist"/>
                <a:cs typeface="Geist"/>
              </a:rPr>
              <a:t>Radial Gauge</a:t>
            </a:r>
          </a:p>
        </p:txBody>
      </p:sp>
      <p:sp>
        <p:nvSpPr>
          <p:cNvPr id="16" name="TextBox 15"/>
          <p:cNvSpPr txBox="1"/>
          <p:nvPr/>
        </p:nvSpPr>
        <p:spPr>
          <a:xfrm>
            <a:off x="9715500" y="3695700"/>
            <a:ext cx="7239000" cy="381000"/>
          </a:xfrm>
          <a:prstGeom prst="rect">
            <a:avLst/>
          </a:prstGeom>
          <a:noFill/>
        </p:spPr>
        <p:txBody>
          <a:bodyPr wrap="square" lIns="0" rIns="0" tIns="0" bIns="0" anchor="t">
            <a:spAutoFit/>
          </a:bodyPr>
          <a:lstStyle/>
          <a:p>
            <a:pPr algn="l"/>
            <a:r>
              <a:rPr sz="1950" b="0" i="0">
                <a:solidFill>
                  <a:srgbClr val="9A7878"/>
                </a:solidFill>
                <a:latin typeface="Geist"/>
                <a:ea typeface="Geist"/>
                <a:cs typeface="Geist"/>
              </a:rPr>
              <a:t>Gyro heading  ·  </a:t>
            </a:r>
            <a:r>
              <a:rPr sz="1800" b="0" i="0">
                <a:solidFill>
                  <a:srgbClr val="E0785F"/>
                </a:solidFill>
                <a:latin typeface="Geist Mono"/>
                <a:ea typeface="Geist Mono"/>
                <a:cs typeface="Geist Mono"/>
              </a:rPr>
              <a:t>number in degrees</a:t>
            </a:r>
          </a:p>
        </p:txBody>
      </p:sp>
      <p:sp>
        <p:nvSpPr>
          <p:cNvPr id="17" name="Rounded Rectangle 16"/>
          <p:cNvSpPr/>
          <p:nvPr/>
        </p:nvSpPr>
        <p:spPr>
          <a:xfrm>
            <a:off x="9334500" y="4667250"/>
            <a:ext cx="8039100" cy="1581150"/>
          </a:xfrm>
          <a:prstGeom prst="roundRect">
            <a:avLst>
              <a:gd name="adj" fmla="val 963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9715500" y="4933950"/>
            <a:ext cx="7239000" cy="476250"/>
          </a:xfrm>
          <a:prstGeom prst="rect">
            <a:avLst/>
          </a:prstGeom>
          <a:noFill/>
        </p:spPr>
        <p:txBody>
          <a:bodyPr wrap="square" lIns="0" rIns="0" tIns="0" bIns="0" anchor="t">
            <a:spAutoFit/>
          </a:bodyPr>
          <a:lstStyle/>
          <a:p>
            <a:pPr algn="l"/>
            <a:r>
              <a:rPr sz="2550" b="1" i="0">
                <a:solidFill>
                  <a:srgbClr val="F0E8E8"/>
                </a:solidFill>
                <a:latin typeface="Geist"/>
                <a:ea typeface="Geist"/>
                <a:cs typeface="Geist"/>
              </a:rPr>
              <a:t>Match Time</a:t>
            </a:r>
          </a:p>
        </p:txBody>
      </p:sp>
      <p:sp>
        <p:nvSpPr>
          <p:cNvPr id="19" name="TextBox 18"/>
          <p:cNvSpPr txBox="1"/>
          <p:nvPr/>
        </p:nvSpPr>
        <p:spPr>
          <a:xfrm>
            <a:off x="9715500" y="5505450"/>
            <a:ext cx="7239000" cy="381000"/>
          </a:xfrm>
          <a:prstGeom prst="rect">
            <a:avLst/>
          </a:prstGeom>
          <a:noFill/>
        </p:spPr>
        <p:txBody>
          <a:bodyPr wrap="square" lIns="0" rIns="0" tIns="0" bIns="0" anchor="t">
            <a:spAutoFit/>
          </a:bodyPr>
          <a:lstStyle/>
          <a:p>
            <a:pPr algn="l"/>
            <a:r>
              <a:rPr sz="1950" b="0" i="0">
                <a:solidFill>
                  <a:srgbClr val="9A7878"/>
                </a:solidFill>
                <a:latin typeface="Geist"/>
                <a:ea typeface="Geist"/>
                <a:cs typeface="Geist"/>
              </a:rPr>
              <a:t>Time left  ·  </a:t>
            </a:r>
            <a:r>
              <a:rPr sz="1800" b="0" i="0">
                <a:solidFill>
                  <a:srgbClr val="E0785F"/>
                </a:solidFill>
                <a:latin typeface="Geist Mono"/>
                <a:ea typeface="Geist Mono"/>
                <a:cs typeface="Geist Mono"/>
              </a:rPr>
              <a:t>number of seconds</a:t>
            </a:r>
          </a:p>
        </p:txBody>
      </p:sp>
      <p:sp>
        <p:nvSpPr>
          <p:cNvPr id="20" name="Rounded Rectangle 19"/>
          <p:cNvSpPr/>
          <p:nvPr/>
        </p:nvSpPr>
        <p:spPr>
          <a:xfrm>
            <a:off x="9334500" y="6477000"/>
            <a:ext cx="8039100" cy="1581150"/>
          </a:xfrm>
          <a:prstGeom prst="roundRect">
            <a:avLst>
              <a:gd name="adj" fmla="val 963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9715500" y="6743700"/>
            <a:ext cx="7239000" cy="476250"/>
          </a:xfrm>
          <a:prstGeom prst="rect">
            <a:avLst/>
          </a:prstGeom>
          <a:noFill/>
        </p:spPr>
        <p:txBody>
          <a:bodyPr wrap="square" lIns="0" rIns="0" tIns="0" bIns="0" anchor="t">
            <a:spAutoFit/>
          </a:bodyPr>
          <a:lstStyle/>
          <a:p>
            <a:pPr algn="l"/>
            <a:r>
              <a:rPr sz="2550" b="1" i="0">
                <a:solidFill>
                  <a:srgbClr val="F0E8E8"/>
                </a:solidFill>
                <a:latin typeface="Geist"/>
                <a:ea typeface="Geist"/>
                <a:cs typeface="Geist"/>
              </a:rPr>
              <a:t>Field</a:t>
            </a:r>
          </a:p>
        </p:txBody>
      </p:sp>
      <p:sp>
        <p:nvSpPr>
          <p:cNvPr id="22" name="TextBox 21"/>
          <p:cNvSpPr txBox="1"/>
          <p:nvPr/>
        </p:nvSpPr>
        <p:spPr>
          <a:xfrm>
            <a:off x="9715500" y="7315200"/>
            <a:ext cx="7239000" cy="381000"/>
          </a:xfrm>
          <a:prstGeom prst="rect">
            <a:avLst/>
          </a:prstGeom>
          <a:noFill/>
        </p:spPr>
        <p:txBody>
          <a:bodyPr wrap="square" lIns="0" rIns="0" tIns="0" bIns="0" anchor="t">
            <a:spAutoFit/>
          </a:bodyPr>
          <a:lstStyle/>
          <a:p>
            <a:pPr algn="l"/>
            <a:r>
              <a:rPr sz="1950" b="0" i="0">
                <a:solidFill>
                  <a:srgbClr val="9A7878"/>
                </a:solidFill>
                <a:latin typeface="Geist"/>
                <a:ea typeface="Geist"/>
                <a:cs typeface="Geist"/>
              </a:rPr>
              <a:t>Robot pose  ·  </a:t>
            </a:r>
            <a:r>
              <a:rPr sz="1800" b="0" i="0">
                <a:solidFill>
                  <a:srgbClr val="E0785F"/>
                </a:solidFill>
                <a:latin typeface="Geist Mono"/>
                <a:ea typeface="Geist Mono"/>
                <a:cs typeface="Geist Mono"/>
              </a:rPr>
              <a:t>Pose2d</a:t>
            </a:r>
          </a:p>
        </p:txBody>
      </p:sp>
      <p:pic>
        <p:nvPicPr>
          <p:cNvPr id="23" name="Picture 22" descr="mw_logo_small.png"/>
          <p:cNvPicPr>
            <a:picLocks noChangeAspect="1"/>
          </p:cNvPicPr>
          <p:nvPr/>
        </p:nvPicPr>
        <p:blipFill>
          <a:blip r:embed="rId3"/>
          <a:stretch>
            <a:fillRect/>
          </a:stretch>
        </p:blipFill>
        <p:spPr>
          <a:xfrm>
            <a:off x="914400" y="9410700"/>
            <a:ext cx="583564" cy="495300"/>
          </a:xfrm>
          <a:prstGeom prst="rect">
            <a:avLst/>
          </a:prstGeom>
        </p:spPr>
      </p:pic>
      <p:sp>
        <p:nvSpPr>
          <p:cNvPr id="24" name="TextBox 23"/>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ELASTIC</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Showing values, and sending them</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8039100" cy="4381500"/>
          </a:xfrm>
          <a:prstGeom prst="roundRect">
            <a:avLst>
              <a:gd name="adj" fmla="val 347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371600" y="3238500"/>
            <a:ext cx="3810000" cy="666750"/>
          </a:xfrm>
          <a:prstGeom prst="rect">
            <a:avLst/>
          </a:prstGeom>
          <a:noFill/>
        </p:spPr>
        <p:txBody>
          <a:bodyPr wrap="square" lIns="0" rIns="0" tIns="0" bIns="0" anchor="t">
            <a:spAutoFit/>
          </a:bodyPr>
          <a:lstStyle/>
          <a:p>
            <a:pPr algn="l"/>
            <a:r>
              <a:rPr sz="3600" b="1" i="0">
                <a:solidFill>
                  <a:srgbClr val="F0E8E8"/>
                </a:solidFill>
                <a:latin typeface="Geist"/>
                <a:ea typeface="Geist"/>
                <a:cs typeface="Geist"/>
              </a:rPr>
              <a:t>Show</a:t>
            </a:r>
          </a:p>
        </p:txBody>
      </p:sp>
      <p:sp>
        <p:nvSpPr>
          <p:cNvPr id="7" name="TextBox 6"/>
          <p:cNvSpPr txBox="1"/>
          <p:nvPr/>
        </p:nvSpPr>
        <p:spPr>
          <a:xfrm>
            <a:off x="1371600" y="3905250"/>
            <a:ext cx="5715000" cy="381000"/>
          </a:xfrm>
          <a:prstGeom prst="rect">
            <a:avLst/>
          </a:prstGeom>
          <a:noFill/>
        </p:spPr>
        <p:txBody>
          <a:bodyPr wrap="square" lIns="0" rIns="0" tIns="0" bIns="0" anchor="t">
            <a:spAutoFit/>
          </a:bodyPr>
          <a:lstStyle/>
          <a:p>
            <a:pPr algn="l"/>
            <a:r>
              <a:rPr sz="1950" b="0" i="0">
                <a:solidFill>
                  <a:srgbClr val="9A7878"/>
                </a:solidFill>
                <a:latin typeface="Geist"/>
                <a:ea typeface="Geist"/>
                <a:cs typeface="Geist"/>
              </a:rPr>
              <a:t>Robot → driver</a:t>
            </a:r>
          </a:p>
        </p:txBody>
      </p:sp>
      <p:sp>
        <p:nvSpPr>
          <p:cNvPr id="8" name="TextBox 7"/>
          <p:cNvSpPr txBox="1"/>
          <p:nvPr/>
        </p:nvSpPr>
        <p:spPr>
          <a:xfrm>
            <a:off x="1371600" y="4667250"/>
            <a:ext cx="7239000" cy="371475"/>
          </a:xfrm>
          <a:prstGeom prst="rect">
            <a:avLst/>
          </a:prstGeom>
          <a:noFill/>
        </p:spPr>
        <p:txBody>
          <a:bodyPr wrap="square" lIns="0" rIns="0" tIns="0" bIns="0" anchor="t">
            <a:spAutoFit/>
          </a:bodyPr>
          <a:lstStyle/>
          <a:p>
            <a:pPr algn="l">
              <a:lnSpc>
                <a:spcPct val="125000"/>
              </a:lnSpc>
            </a:pPr>
            <a:r>
              <a:rPr sz="2250" b="1" i="0">
                <a:solidFill>
                  <a:srgbClr val="CC2200"/>
                </a:solidFill>
                <a:latin typeface="Geist"/>
                <a:ea typeface="Geist"/>
                <a:cs typeface="Geist"/>
              </a:rPr>
              <a:t>•  </a:t>
            </a:r>
            <a:r>
              <a:rPr sz="2250" b="0" i="0">
                <a:solidFill>
                  <a:srgbClr val="F0E8E8"/>
                </a:solidFill>
                <a:latin typeface="Geist"/>
                <a:ea typeface="Geist"/>
                <a:cs typeface="Geist"/>
              </a:rPr>
              <a:t>Text Display, Number Bar</a:t>
            </a:r>
          </a:p>
        </p:txBody>
      </p:sp>
      <p:sp>
        <p:nvSpPr>
          <p:cNvPr id="9" name="TextBox 8"/>
          <p:cNvSpPr txBox="1"/>
          <p:nvPr/>
        </p:nvSpPr>
        <p:spPr>
          <a:xfrm>
            <a:off x="1371600" y="5248275"/>
            <a:ext cx="7239000" cy="371475"/>
          </a:xfrm>
          <a:prstGeom prst="rect">
            <a:avLst/>
          </a:prstGeom>
          <a:noFill/>
        </p:spPr>
        <p:txBody>
          <a:bodyPr wrap="square" lIns="0" rIns="0" tIns="0" bIns="0" anchor="t">
            <a:spAutoFit/>
          </a:bodyPr>
          <a:lstStyle/>
          <a:p>
            <a:pPr algn="l">
              <a:lnSpc>
                <a:spcPct val="125000"/>
              </a:lnSpc>
            </a:pPr>
            <a:r>
              <a:rPr sz="2250" b="1" i="0">
                <a:solidFill>
                  <a:srgbClr val="CC2200"/>
                </a:solidFill>
                <a:latin typeface="Geist"/>
                <a:ea typeface="Geist"/>
                <a:cs typeface="Geist"/>
              </a:rPr>
              <a:t>•  </a:t>
            </a:r>
            <a:r>
              <a:rPr sz="2250" b="0" i="0">
                <a:solidFill>
                  <a:srgbClr val="F0E8E8"/>
                </a:solidFill>
                <a:latin typeface="Geist"/>
                <a:ea typeface="Geist"/>
                <a:cs typeface="Geist"/>
              </a:rPr>
              <a:t>Voltage View, Radial Gauge</a:t>
            </a:r>
          </a:p>
        </p:txBody>
      </p:sp>
      <p:sp>
        <p:nvSpPr>
          <p:cNvPr id="10" name="TextBox 9"/>
          <p:cNvSpPr txBox="1"/>
          <p:nvPr/>
        </p:nvSpPr>
        <p:spPr>
          <a:xfrm>
            <a:off x="1371600" y="5829300"/>
            <a:ext cx="7239000" cy="371475"/>
          </a:xfrm>
          <a:prstGeom prst="rect">
            <a:avLst/>
          </a:prstGeom>
          <a:noFill/>
        </p:spPr>
        <p:txBody>
          <a:bodyPr wrap="square" lIns="0" rIns="0" tIns="0" bIns="0" anchor="t">
            <a:spAutoFit/>
          </a:bodyPr>
          <a:lstStyle/>
          <a:p>
            <a:pPr algn="l">
              <a:lnSpc>
                <a:spcPct val="125000"/>
              </a:lnSpc>
            </a:pPr>
            <a:r>
              <a:rPr sz="2250" b="1" i="0">
                <a:solidFill>
                  <a:srgbClr val="CC2200"/>
                </a:solidFill>
                <a:latin typeface="Geist"/>
                <a:ea typeface="Geist"/>
                <a:cs typeface="Geist"/>
              </a:rPr>
              <a:t>•  </a:t>
            </a:r>
            <a:r>
              <a:rPr sz="2250" b="0" i="0">
                <a:solidFill>
                  <a:srgbClr val="F0E8E8"/>
                </a:solidFill>
                <a:latin typeface="Geist"/>
                <a:ea typeface="Geist"/>
                <a:cs typeface="Geist"/>
              </a:rPr>
              <a:t>Graph, Match Time, Boolean Box</a:t>
            </a:r>
          </a:p>
        </p:txBody>
      </p:sp>
      <p:sp>
        <p:nvSpPr>
          <p:cNvPr id="11" name="Rounded Rectangle 10"/>
          <p:cNvSpPr/>
          <p:nvPr/>
        </p:nvSpPr>
        <p:spPr>
          <a:xfrm>
            <a:off x="9334500" y="2857500"/>
            <a:ext cx="8039100" cy="4381500"/>
          </a:xfrm>
          <a:prstGeom prst="roundRect">
            <a:avLst>
              <a:gd name="adj" fmla="val 3478"/>
            </a:avLst>
          </a:prstGeom>
          <a:solidFill>
            <a:srgbClr val="111111"/>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9791700" y="3238500"/>
            <a:ext cx="3810000" cy="666750"/>
          </a:xfrm>
          <a:prstGeom prst="rect">
            <a:avLst/>
          </a:prstGeom>
          <a:noFill/>
        </p:spPr>
        <p:txBody>
          <a:bodyPr wrap="square" lIns="0" rIns="0" tIns="0" bIns="0" anchor="t">
            <a:spAutoFit/>
          </a:bodyPr>
          <a:lstStyle/>
          <a:p>
            <a:pPr algn="l"/>
            <a:r>
              <a:rPr sz="3600" b="1" i="0">
                <a:solidFill>
                  <a:srgbClr val="F0E8E8"/>
                </a:solidFill>
                <a:latin typeface="Geist"/>
                <a:ea typeface="Geist"/>
                <a:cs typeface="Geist"/>
              </a:rPr>
              <a:t>Send</a:t>
            </a:r>
          </a:p>
        </p:txBody>
      </p:sp>
      <p:sp>
        <p:nvSpPr>
          <p:cNvPr id="13" name="TextBox 12"/>
          <p:cNvSpPr txBox="1"/>
          <p:nvPr/>
        </p:nvSpPr>
        <p:spPr>
          <a:xfrm>
            <a:off x="9791700" y="3905250"/>
            <a:ext cx="5715000" cy="381000"/>
          </a:xfrm>
          <a:prstGeom prst="rect">
            <a:avLst/>
          </a:prstGeom>
          <a:noFill/>
        </p:spPr>
        <p:txBody>
          <a:bodyPr wrap="square" lIns="0" rIns="0" tIns="0" bIns="0" anchor="t">
            <a:spAutoFit/>
          </a:bodyPr>
          <a:lstStyle/>
          <a:p>
            <a:pPr algn="l"/>
            <a:r>
              <a:rPr sz="1950" b="0" i="0">
                <a:solidFill>
                  <a:srgbClr val="9A7878"/>
                </a:solidFill>
                <a:latin typeface="Geist"/>
                <a:ea typeface="Geist"/>
                <a:cs typeface="Geist"/>
              </a:rPr>
              <a:t>Driver → robot</a:t>
            </a:r>
          </a:p>
        </p:txBody>
      </p:sp>
      <p:sp>
        <p:nvSpPr>
          <p:cNvPr id="14" name="TextBox 13"/>
          <p:cNvSpPr txBox="1"/>
          <p:nvPr/>
        </p:nvSpPr>
        <p:spPr>
          <a:xfrm>
            <a:off x="9791700" y="4667250"/>
            <a:ext cx="7239000" cy="371475"/>
          </a:xfrm>
          <a:prstGeom prst="rect">
            <a:avLst/>
          </a:prstGeom>
          <a:noFill/>
        </p:spPr>
        <p:txBody>
          <a:bodyPr wrap="square" lIns="0" rIns="0" tIns="0" bIns="0" anchor="t">
            <a:spAutoFit/>
          </a:bodyPr>
          <a:lstStyle/>
          <a:p>
            <a:pPr algn="l">
              <a:lnSpc>
                <a:spcPct val="125000"/>
              </a:lnSpc>
            </a:pPr>
            <a:r>
              <a:rPr sz="2250" b="1" i="0">
                <a:solidFill>
                  <a:srgbClr val="CC2200"/>
                </a:solidFill>
                <a:latin typeface="Geist"/>
                <a:ea typeface="Geist"/>
                <a:cs typeface="Geist"/>
              </a:rPr>
              <a:t>•  </a:t>
            </a:r>
            <a:r>
              <a:rPr sz="2250" b="0" i="0">
                <a:solidFill>
                  <a:srgbClr val="F0E8E8"/>
                </a:solidFill>
                <a:latin typeface="Geist"/>
                <a:ea typeface="Geist"/>
                <a:cs typeface="Geist"/>
              </a:rPr>
              <a:t>Number Slider, Toggle Button</a:t>
            </a:r>
          </a:p>
        </p:txBody>
      </p:sp>
      <p:sp>
        <p:nvSpPr>
          <p:cNvPr id="15" name="TextBox 14"/>
          <p:cNvSpPr txBox="1"/>
          <p:nvPr/>
        </p:nvSpPr>
        <p:spPr>
          <a:xfrm>
            <a:off x="9791700" y="5248275"/>
            <a:ext cx="7239000" cy="371475"/>
          </a:xfrm>
          <a:prstGeom prst="rect">
            <a:avLst/>
          </a:prstGeom>
          <a:noFill/>
        </p:spPr>
        <p:txBody>
          <a:bodyPr wrap="square" lIns="0" rIns="0" tIns="0" bIns="0" anchor="t">
            <a:spAutoFit/>
          </a:bodyPr>
          <a:lstStyle/>
          <a:p>
            <a:pPr algn="l">
              <a:lnSpc>
                <a:spcPct val="125000"/>
              </a:lnSpc>
            </a:pPr>
            <a:r>
              <a:rPr sz="2250" b="1" i="0">
                <a:solidFill>
                  <a:srgbClr val="CC2200"/>
                </a:solidFill>
                <a:latin typeface="Geist"/>
                <a:ea typeface="Geist"/>
                <a:cs typeface="Geist"/>
              </a:rPr>
              <a:t>•  </a:t>
            </a:r>
            <a:r>
              <a:rPr sz="2250" b="0" i="0">
                <a:solidFill>
                  <a:srgbClr val="F0E8E8"/>
                </a:solidFill>
                <a:latin typeface="Geist"/>
                <a:ea typeface="Geist"/>
                <a:cs typeface="Geist"/>
              </a:rPr>
              <a:t>Choosers: pick the auto routine</a:t>
            </a:r>
          </a:p>
        </p:txBody>
      </p:sp>
      <p:sp>
        <p:nvSpPr>
          <p:cNvPr id="16" name="TextBox 15"/>
          <p:cNvSpPr txBox="1"/>
          <p:nvPr/>
        </p:nvSpPr>
        <p:spPr>
          <a:xfrm>
            <a:off x="9791700" y="5829300"/>
            <a:ext cx="7239000" cy="371475"/>
          </a:xfrm>
          <a:prstGeom prst="rect">
            <a:avLst/>
          </a:prstGeom>
          <a:noFill/>
        </p:spPr>
        <p:txBody>
          <a:bodyPr wrap="square" lIns="0" rIns="0" tIns="0" bIns="0" anchor="t">
            <a:spAutoFit/>
          </a:bodyPr>
          <a:lstStyle/>
          <a:p>
            <a:pPr algn="l">
              <a:lnSpc>
                <a:spcPct val="125000"/>
              </a:lnSpc>
            </a:pPr>
            <a:r>
              <a:rPr sz="2250" b="1" i="0">
                <a:solidFill>
                  <a:srgbClr val="CC2200"/>
                </a:solidFill>
                <a:latin typeface="Geist"/>
                <a:ea typeface="Geist"/>
                <a:cs typeface="Geist"/>
              </a:rPr>
              <a:t>•  </a:t>
            </a:r>
            <a:r>
              <a:rPr sz="2250" b="0" i="0">
                <a:solidFill>
                  <a:srgbClr val="F0E8E8"/>
                </a:solidFill>
                <a:latin typeface="Geist"/>
                <a:ea typeface="Geist"/>
                <a:cs typeface="Geist"/>
              </a:rPr>
              <a:t>Text with a Submit button</a:t>
            </a:r>
          </a:p>
        </p:txBody>
      </p:sp>
      <p:sp>
        <p:nvSpPr>
          <p:cNvPr id="17" name="Rounded Rectangle 16"/>
          <p:cNvSpPr/>
          <p:nvPr/>
        </p:nvSpPr>
        <p:spPr>
          <a:xfrm>
            <a:off x="914400" y="7620000"/>
            <a:ext cx="16459200" cy="1047750"/>
          </a:xfrm>
          <a:prstGeom prst="roundRect">
            <a:avLst>
              <a:gd name="adj" fmla="val 14545"/>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1333500" y="7620000"/>
            <a:ext cx="15659100" cy="1047750"/>
          </a:xfrm>
          <a:prstGeom prst="rect">
            <a:avLst/>
          </a:prstGeom>
          <a:noFill/>
        </p:spPr>
        <p:txBody>
          <a:bodyPr wrap="square" lIns="0" rIns="0" tIns="0" bIns="0" anchor="ctr">
            <a:spAutoFit/>
          </a:bodyPr>
          <a:lstStyle/>
          <a:p>
            <a:pPr algn="l">
              <a:lnSpc>
                <a:spcPct val="130000"/>
              </a:lnSpc>
            </a:pPr>
            <a:r>
              <a:rPr sz="2100" b="1" i="0">
                <a:solidFill>
                  <a:srgbClr val="F0E8E8"/>
                </a:solidFill>
                <a:latin typeface="Geist"/>
                <a:ea typeface="Geist"/>
                <a:cs typeface="Geist"/>
              </a:rPr>
              <a:t>Tabs and layouts:  </a:t>
            </a:r>
            <a:r>
              <a:rPr sz="2100" b="0" i="0">
                <a:solidFill>
                  <a:srgbClr val="F0E8E8"/>
                </a:solidFill>
                <a:latin typeface="Geist"/>
                <a:ea typeface="Geist"/>
                <a:cs typeface="Geist"/>
              </a:rPr>
              <a:t>a few tabs for competition, the rest for debugging. Use File &gt; Save.</a:t>
            </a:r>
          </a:p>
        </p:txBody>
      </p:sp>
      <p:pic>
        <p:nvPicPr>
          <p:cNvPr id="19" name="Picture 18" descr="mw_logo_small.png"/>
          <p:cNvPicPr>
            <a:picLocks noChangeAspect="1"/>
          </p:cNvPicPr>
          <p:nvPr/>
        </p:nvPicPr>
        <p:blipFill>
          <a:blip r:embed="rId3"/>
          <a:stretch>
            <a:fillRect/>
          </a:stretch>
        </p:blipFill>
        <p:spPr>
          <a:xfrm>
            <a:off x="914400" y="9410700"/>
            <a:ext cx="583564" cy="495300"/>
          </a:xfrm>
          <a:prstGeom prst="rect">
            <a:avLst/>
          </a:prstGeom>
        </p:spPr>
      </p:pic>
      <p:sp>
        <p:nvSpPr>
          <p:cNvPr id="20" name="TextBox 19"/>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2857500"/>
            <a:ext cx="13335000" cy="2476500"/>
          </a:xfrm>
          <a:prstGeom prst="rect">
            <a:avLst/>
          </a:prstGeom>
          <a:noFill/>
        </p:spPr>
        <p:txBody>
          <a:bodyPr wrap="square" lIns="0" rIns="0" tIns="0" bIns="0" anchor="t">
            <a:spAutoFit/>
          </a:bodyPr>
          <a:lstStyle/>
          <a:p>
            <a:pPr algn="l"/>
            <a:r>
              <a:rPr sz="16500" b="1" i="0">
                <a:solidFill>
                  <a:srgbClr val="CC2200"/>
                </a:solidFill>
                <a:latin typeface="Geist"/>
                <a:ea typeface="Geist"/>
                <a:cs typeface="Geist"/>
              </a:rPr>
              <a:t>05</a:t>
            </a:r>
          </a:p>
        </p:txBody>
      </p:sp>
      <p:sp>
        <p:nvSpPr>
          <p:cNvPr id="3" name="TextBox 2"/>
          <p:cNvSpPr txBox="1"/>
          <p:nvPr/>
        </p:nvSpPr>
        <p:spPr>
          <a:xfrm>
            <a:off x="914400" y="5334000"/>
            <a:ext cx="14287500" cy="952500"/>
          </a:xfrm>
          <a:prstGeom prst="rect">
            <a:avLst/>
          </a:prstGeom>
          <a:noFill/>
        </p:spPr>
        <p:txBody>
          <a:bodyPr wrap="square" lIns="0" rIns="0" tIns="0" bIns="0" anchor="t">
            <a:spAutoFit/>
          </a:bodyPr>
          <a:lstStyle/>
          <a:p>
            <a:pPr algn="l"/>
            <a:r>
              <a:rPr sz="5400" b="1" i="0">
                <a:solidFill>
                  <a:srgbClr val="F0E8E8"/>
                </a:solidFill>
                <a:latin typeface="Geist"/>
                <a:ea typeface="Geist"/>
                <a:cs typeface="Geist"/>
              </a:rPr>
              <a:t>Choreo</a:t>
            </a:r>
          </a:p>
        </p:txBody>
      </p:sp>
      <p:sp>
        <p:nvSpPr>
          <p:cNvPr id="4" name="TextBox 3"/>
          <p:cNvSpPr txBox="1"/>
          <p:nvPr/>
        </p:nvSpPr>
        <p:spPr>
          <a:xfrm>
            <a:off x="914400" y="6362700"/>
            <a:ext cx="13335000" cy="476250"/>
          </a:xfrm>
          <a:prstGeom prst="rect">
            <a:avLst/>
          </a:prstGeom>
          <a:noFill/>
        </p:spPr>
        <p:txBody>
          <a:bodyPr wrap="square" lIns="0" rIns="0" tIns="0" bIns="0" anchor="t">
            <a:spAutoFit/>
          </a:bodyPr>
          <a:lstStyle/>
          <a:p>
            <a:pPr algn="l"/>
            <a:r>
              <a:rPr sz="2100" b="0" i="0">
                <a:solidFill>
                  <a:srgbClr val="9A7878"/>
                </a:solidFill>
                <a:latin typeface="Geist"/>
                <a:ea typeface="Geist"/>
                <a:cs typeface="Geist"/>
              </a:rPr>
              <a:t>Planning paths for autonomous</a:t>
            </a:r>
          </a:p>
        </p:txBody>
      </p:sp>
      <p:pic>
        <p:nvPicPr>
          <p:cNvPr id="5" name="Picture 4" descr="mw_logo_small.png"/>
          <p:cNvPicPr>
            <a:picLocks noChangeAspect="1"/>
          </p:cNvPicPr>
          <p:nvPr/>
        </p:nvPicPr>
        <p:blipFill>
          <a:blip r:embed="rId3"/>
          <a:stretch>
            <a:fillRect/>
          </a:stretch>
        </p:blipFill>
        <p:spPr>
          <a:xfrm>
            <a:off x="914400" y="9410700"/>
            <a:ext cx="583564" cy="495300"/>
          </a:xfrm>
          <a:prstGeom prst="rect">
            <a:avLst/>
          </a:prstGeom>
        </p:spPr>
      </p:pic>
      <p:sp>
        <p:nvSpPr>
          <p:cNvPr id="6" name="TextBox 5"/>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39</a:t>
            </a:r>
          </a:p>
        </p:txBody>
      </p:sp>
      <p:pic>
        <p:nvPicPr>
          <p:cNvPr id="7" name="Picture 6" descr="dozer_look_up.png"/>
          <p:cNvPicPr>
            <a:picLocks noChangeAspect="1"/>
          </p:cNvPicPr>
          <p:nvPr/>
        </p:nvPicPr>
        <p:blipFill>
          <a:blip r:embed="rId4"/>
          <a:stretch>
            <a:fillRect/>
          </a:stretch>
        </p:blipFill>
        <p:spPr>
          <a:xfrm>
            <a:off x="13620750" y="7048500"/>
            <a:ext cx="3429000" cy="2107613"/>
          </a:xfrm>
          <a:prstGeom prst="rect">
            <a:avLst/>
          </a:prstGeom>
        </p:spPr>
      </p:pic>
      <p:sp>
        <p:nvSpPr>
          <p:cNvPr id="8" name="Isosceles Triangle 7"/>
          <p:cNvSpPr/>
          <p:nvPr/>
        </p:nvSpPr>
        <p:spPr>
          <a:xfrm rot="10800000">
            <a:off x="16261080" y="6572250"/>
            <a:ext cx="342900" cy="285750"/>
          </a:xfrm>
          <a:prstGeom prst="triangl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0953750" y="5372100"/>
            <a:ext cx="5715000" cy="1238250"/>
          </a:xfrm>
          <a:prstGeom prst="roundRect">
            <a:avLst>
              <a:gd name="adj" fmla="val 15384"/>
            </a:avLst>
          </a:prstGeom>
          <a:solidFill>
            <a:srgbClr val="1A0F0F"/>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1220450" y="5372100"/>
            <a:ext cx="5181600" cy="1238250"/>
          </a:xfrm>
          <a:prstGeom prst="rect">
            <a:avLst/>
          </a:prstGeom>
          <a:noFill/>
        </p:spPr>
        <p:txBody>
          <a:bodyPr wrap="square" lIns="0" rIns="0" tIns="0" bIns="0" anchor="ctr">
            <a:spAutoFit/>
          </a:bodyPr>
          <a:lstStyle/>
          <a:p>
            <a:pPr algn="l">
              <a:lnSpc>
                <a:spcPct val="125000"/>
              </a:lnSpc>
            </a:pPr>
            <a:r>
              <a:rPr sz="1950" b="0" i="0">
                <a:solidFill>
                  <a:srgbClr val="F0E8E8"/>
                </a:solidFill>
                <a:latin typeface="Geist"/>
                <a:ea typeface="Geist"/>
                <a:cs typeface="Geist"/>
              </a:rPr>
              <a:t>Nobody drives me in auto. I just follow the plan!</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CHOREO</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What is autonomous?</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14400" y="2857500"/>
            <a:ext cx="7239000" cy="371475"/>
          </a:xfrm>
          <a:prstGeom prst="rect">
            <a:avLst/>
          </a:prstGeom>
          <a:noFill/>
        </p:spPr>
        <p:txBody>
          <a:bodyPr wrap="square" lIns="0" rIns="0" tIns="0" bIns="0" anchor="t">
            <a:spAutoFit/>
          </a:bodyPr>
          <a:lstStyle/>
          <a:p>
            <a:pPr algn="l">
              <a:lnSpc>
                <a:spcPct val="125000"/>
              </a:lnSpc>
            </a:pPr>
            <a:r>
              <a:rPr sz="2250" b="1" i="0">
                <a:solidFill>
                  <a:srgbClr val="CC2200"/>
                </a:solidFill>
                <a:latin typeface="Geist"/>
                <a:ea typeface="Geist"/>
                <a:cs typeface="Geist"/>
              </a:rPr>
              <a:t>•  </a:t>
            </a:r>
            <a:r>
              <a:rPr sz="2250" b="0" i="0">
                <a:solidFill>
                  <a:srgbClr val="F0E8E8"/>
                </a:solidFill>
                <a:latin typeface="Geist"/>
                <a:ea typeface="Geist"/>
                <a:cs typeface="Geist"/>
              </a:rPr>
              <a:t>The start of every match</a:t>
            </a:r>
          </a:p>
        </p:txBody>
      </p:sp>
      <p:sp>
        <p:nvSpPr>
          <p:cNvPr id="6" name="TextBox 5"/>
          <p:cNvSpPr txBox="1"/>
          <p:nvPr/>
        </p:nvSpPr>
        <p:spPr>
          <a:xfrm>
            <a:off x="914400" y="3514725"/>
            <a:ext cx="7239000" cy="371475"/>
          </a:xfrm>
          <a:prstGeom prst="rect">
            <a:avLst/>
          </a:prstGeom>
          <a:noFill/>
        </p:spPr>
        <p:txBody>
          <a:bodyPr wrap="square" lIns="0" rIns="0" tIns="0" bIns="0" anchor="t">
            <a:spAutoFit/>
          </a:bodyPr>
          <a:lstStyle/>
          <a:p>
            <a:pPr algn="l">
              <a:lnSpc>
                <a:spcPct val="125000"/>
              </a:lnSpc>
            </a:pPr>
            <a:r>
              <a:rPr sz="2250" b="1" i="0">
                <a:solidFill>
                  <a:srgbClr val="CC2200"/>
                </a:solidFill>
                <a:latin typeface="Geist"/>
                <a:ea typeface="Geist"/>
                <a:cs typeface="Geist"/>
              </a:rPr>
              <a:t>•  </a:t>
            </a:r>
            <a:r>
              <a:rPr sz="2250" b="0" i="0">
                <a:solidFill>
                  <a:srgbClr val="F0E8E8"/>
                </a:solidFill>
                <a:latin typeface="Geist"/>
                <a:ea typeface="Geist"/>
                <a:cs typeface="Geist"/>
              </a:rPr>
              <a:t>No driver: the robot follows a plan</a:t>
            </a:r>
          </a:p>
        </p:txBody>
      </p:sp>
      <p:sp>
        <p:nvSpPr>
          <p:cNvPr id="7" name="TextBox 6"/>
          <p:cNvSpPr txBox="1"/>
          <p:nvPr/>
        </p:nvSpPr>
        <p:spPr>
          <a:xfrm>
            <a:off x="914400" y="4171950"/>
            <a:ext cx="7239000" cy="371475"/>
          </a:xfrm>
          <a:prstGeom prst="rect">
            <a:avLst/>
          </a:prstGeom>
          <a:noFill/>
        </p:spPr>
        <p:txBody>
          <a:bodyPr wrap="square" lIns="0" rIns="0" tIns="0" bIns="0" anchor="t">
            <a:spAutoFit/>
          </a:bodyPr>
          <a:lstStyle/>
          <a:p>
            <a:pPr algn="l">
              <a:lnSpc>
                <a:spcPct val="125000"/>
              </a:lnSpc>
            </a:pPr>
            <a:r>
              <a:rPr sz="2250" b="1" i="0">
                <a:solidFill>
                  <a:srgbClr val="CC2200"/>
                </a:solidFill>
                <a:latin typeface="Geist"/>
                <a:ea typeface="Geist"/>
                <a:cs typeface="Geist"/>
              </a:rPr>
              <a:t>•  </a:t>
            </a:r>
            <a:r>
              <a:rPr sz="2250" b="0" i="0">
                <a:solidFill>
                  <a:srgbClr val="F0E8E8"/>
                </a:solidFill>
                <a:latin typeface="Geist"/>
                <a:ea typeface="Geist"/>
                <a:cs typeface="Geist"/>
              </a:rPr>
              <a:t>Points scored here often decide matches</a:t>
            </a:r>
          </a:p>
        </p:txBody>
      </p:sp>
      <p:sp>
        <p:nvSpPr>
          <p:cNvPr id="8" name="TextBox 7"/>
          <p:cNvSpPr txBox="1"/>
          <p:nvPr/>
        </p:nvSpPr>
        <p:spPr>
          <a:xfrm>
            <a:off x="914400" y="4829175"/>
            <a:ext cx="7239000" cy="371475"/>
          </a:xfrm>
          <a:prstGeom prst="rect">
            <a:avLst/>
          </a:prstGeom>
          <a:noFill/>
        </p:spPr>
        <p:txBody>
          <a:bodyPr wrap="square" lIns="0" rIns="0" tIns="0" bIns="0" anchor="t">
            <a:spAutoFit/>
          </a:bodyPr>
          <a:lstStyle/>
          <a:p>
            <a:pPr algn="l">
              <a:lnSpc>
                <a:spcPct val="125000"/>
              </a:lnSpc>
            </a:pPr>
            <a:r>
              <a:rPr sz="2250" b="1" i="0">
                <a:solidFill>
                  <a:srgbClr val="CC2200"/>
                </a:solidFill>
                <a:latin typeface="Geist"/>
                <a:ea typeface="Geist"/>
                <a:cs typeface="Geist"/>
              </a:rPr>
              <a:t>•  </a:t>
            </a:r>
            <a:r>
              <a:rPr sz="2250" b="0" i="0">
                <a:solidFill>
                  <a:srgbClr val="F0E8E8"/>
                </a:solidFill>
                <a:latin typeface="Geist"/>
                <a:ea typeface="Geist"/>
                <a:cs typeface="Geist"/>
              </a:rPr>
              <a:t>Choreo makes the plan: a trajectory</a:t>
            </a:r>
          </a:p>
        </p:txBody>
      </p:sp>
      <p:sp>
        <p:nvSpPr>
          <p:cNvPr id="9" name="Rectangle 8"/>
          <p:cNvSpPr/>
          <p:nvPr/>
        </p:nvSpPr>
        <p:spPr>
          <a:xfrm>
            <a:off x="9144000" y="2857500"/>
            <a:ext cx="8103949" cy="5715000"/>
          </a:xfrm>
          <a:prstGeom prst="rect">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choreo.png"/>
          <p:cNvPicPr>
            <a:picLocks noChangeAspect="1"/>
          </p:cNvPicPr>
          <p:nvPr/>
        </p:nvPicPr>
        <p:blipFill>
          <a:blip r:embed="rId3"/>
          <a:stretch>
            <a:fillRect/>
          </a:stretch>
        </p:blipFill>
        <p:spPr>
          <a:xfrm>
            <a:off x="9144000" y="2857500"/>
            <a:ext cx="8103949" cy="5715000"/>
          </a:xfrm>
          <a:prstGeom prst="rect">
            <a:avLst/>
          </a:prstGeom>
        </p:spPr>
      </p:pic>
      <p:sp>
        <p:nvSpPr>
          <p:cNvPr id="11" name="Rectangle 10"/>
          <p:cNvSpPr/>
          <p:nvPr/>
        </p:nvSpPr>
        <p:spPr>
          <a:xfrm>
            <a:off x="9144000" y="2857500"/>
            <a:ext cx="8103949" cy="5715000"/>
          </a:xfrm>
          <a:prstGeom prst="rect">
            <a:avLst/>
          </a:prstGeom>
          <a:no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mw_logo_small.png"/>
          <p:cNvPicPr>
            <a:picLocks noChangeAspect="1"/>
          </p:cNvPicPr>
          <p:nvPr/>
        </p:nvPicPr>
        <p:blipFill>
          <a:blip r:embed="rId4"/>
          <a:stretch>
            <a:fillRect/>
          </a:stretch>
        </p:blipFill>
        <p:spPr>
          <a:xfrm>
            <a:off x="914400" y="9410700"/>
            <a:ext cx="583564" cy="495300"/>
          </a:xfrm>
          <a:prstGeom prst="rect">
            <a:avLst/>
          </a:prstGeom>
        </p:spPr>
      </p:pic>
      <p:sp>
        <p:nvSpPr>
          <p:cNvPr id="13" name="TextBox 12"/>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CHOREO</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Path vs trajectory</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8077200" cy="4000500"/>
          </a:xfrm>
          <a:prstGeom prst="roundRect">
            <a:avLst>
              <a:gd name="adj" fmla="val 3809"/>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pin-map.png"/>
          <p:cNvPicPr>
            <a:picLocks noChangeAspect="1"/>
          </p:cNvPicPr>
          <p:nvPr/>
        </p:nvPicPr>
        <p:blipFill>
          <a:blip r:embed="rId3"/>
          <a:stretch>
            <a:fillRect/>
          </a:stretch>
        </p:blipFill>
        <p:spPr>
          <a:xfrm>
            <a:off x="1295400" y="3238500"/>
            <a:ext cx="685800" cy="685800"/>
          </a:xfrm>
          <a:prstGeom prst="rect">
            <a:avLst/>
          </a:prstGeom>
        </p:spPr>
      </p:pic>
      <p:sp>
        <p:nvSpPr>
          <p:cNvPr id="7" name="TextBox 6"/>
          <p:cNvSpPr txBox="1"/>
          <p:nvPr/>
        </p:nvSpPr>
        <p:spPr>
          <a:xfrm>
            <a:off x="1295400" y="4191000"/>
            <a:ext cx="7315200" cy="571500"/>
          </a:xfrm>
          <a:prstGeom prst="rect">
            <a:avLst/>
          </a:prstGeom>
          <a:noFill/>
        </p:spPr>
        <p:txBody>
          <a:bodyPr wrap="square" lIns="0" rIns="0" tIns="0" bIns="0" anchor="t">
            <a:spAutoFit/>
          </a:bodyPr>
          <a:lstStyle/>
          <a:p>
            <a:pPr algn="l">
              <a:lnSpc>
                <a:spcPct val="110000"/>
              </a:lnSpc>
            </a:pPr>
            <a:r>
              <a:rPr sz="2550" b="1" i="0">
                <a:solidFill>
                  <a:srgbClr val="F0E8E8"/>
                </a:solidFill>
                <a:latin typeface="Geist"/>
                <a:ea typeface="Geist"/>
                <a:cs typeface="Geist"/>
              </a:rPr>
              <a:t>Path</a:t>
            </a:r>
          </a:p>
        </p:txBody>
      </p:sp>
      <p:sp>
        <p:nvSpPr>
          <p:cNvPr id="8" name="TextBox 7"/>
          <p:cNvSpPr txBox="1"/>
          <p:nvPr/>
        </p:nvSpPr>
        <p:spPr>
          <a:xfrm>
            <a:off x="1295400" y="4802505"/>
            <a:ext cx="7315200" cy="2095500"/>
          </a:xfrm>
          <a:prstGeom prst="rect">
            <a:avLst/>
          </a:prstGeom>
          <a:noFill/>
        </p:spPr>
        <p:txBody>
          <a:bodyPr wrap="square" lIns="0" rIns="0" tIns="0" bIns="0" anchor="t">
            <a:spAutoFit/>
          </a:bodyPr>
          <a:lstStyle/>
          <a:p>
            <a:pPr algn="l">
              <a:lnSpc>
                <a:spcPct val="130000"/>
              </a:lnSpc>
            </a:pPr>
            <a:r>
              <a:rPr sz="1950" b="0" i="0">
                <a:solidFill>
                  <a:srgbClr val="9A7878"/>
                </a:solidFill>
                <a:latin typeface="Geist"/>
                <a:ea typeface="Geist"/>
                <a:cs typeface="Geist"/>
              </a:rPr>
              <a:t>The route: the points the robot drives through.</a:t>
            </a:r>
          </a:p>
        </p:txBody>
      </p:sp>
      <p:sp>
        <p:nvSpPr>
          <p:cNvPr id="9" name="Rounded Rectangle 8"/>
          <p:cNvSpPr/>
          <p:nvPr/>
        </p:nvSpPr>
        <p:spPr>
          <a:xfrm>
            <a:off x="9296400" y="2857500"/>
            <a:ext cx="8077200" cy="4000500"/>
          </a:xfrm>
          <a:prstGeom prst="roundRect">
            <a:avLst>
              <a:gd name="adj" fmla="val 3809"/>
            </a:avLst>
          </a:prstGeom>
          <a:solidFill>
            <a:srgbClr val="111111"/>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stopwatch.png"/>
          <p:cNvPicPr>
            <a:picLocks noChangeAspect="1"/>
          </p:cNvPicPr>
          <p:nvPr/>
        </p:nvPicPr>
        <p:blipFill>
          <a:blip r:embed="rId4"/>
          <a:stretch>
            <a:fillRect/>
          </a:stretch>
        </p:blipFill>
        <p:spPr>
          <a:xfrm>
            <a:off x="9677400" y="3238500"/>
            <a:ext cx="619432" cy="685800"/>
          </a:xfrm>
          <a:prstGeom prst="rect">
            <a:avLst/>
          </a:prstGeom>
        </p:spPr>
      </p:pic>
      <p:sp>
        <p:nvSpPr>
          <p:cNvPr id="11" name="TextBox 10"/>
          <p:cNvSpPr txBox="1"/>
          <p:nvPr/>
        </p:nvSpPr>
        <p:spPr>
          <a:xfrm>
            <a:off x="9677400" y="4191000"/>
            <a:ext cx="7315200" cy="571500"/>
          </a:xfrm>
          <a:prstGeom prst="rect">
            <a:avLst/>
          </a:prstGeom>
          <a:noFill/>
        </p:spPr>
        <p:txBody>
          <a:bodyPr wrap="square" lIns="0" rIns="0" tIns="0" bIns="0" anchor="t">
            <a:spAutoFit/>
          </a:bodyPr>
          <a:lstStyle/>
          <a:p>
            <a:pPr algn="l">
              <a:lnSpc>
                <a:spcPct val="110000"/>
              </a:lnSpc>
            </a:pPr>
            <a:r>
              <a:rPr sz="2550" b="1" i="0">
                <a:solidFill>
                  <a:srgbClr val="F0E8E8"/>
                </a:solidFill>
                <a:latin typeface="Geist"/>
                <a:ea typeface="Geist"/>
                <a:cs typeface="Geist"/>
              </a:rPr>
              <a:t>Trajectory</a:t>
            </a:r>
          </a:p>
        </p:txBody>
      </p:sp>
      <p:sp>
        <p:nvSpPr>
          <p:cNvPr id="12" name="TextBox 11"/>
          <p:cNvSpPr txBox="1"/>
          <p:nvPr/>
        </p:nvSpPr>
        <p:spPr>
          <a:xfrm>
            <a:off x="9677400" y="4802505"/>
            <a:ext cx="7315200" cy="2095500"/>
          </a:xfrm>
          <a:prstGeom prst="rect">
            <a:avLst/>
          </a:prstGeom>
          <a:noFill/>
        </p:spPr>
        <p:txBody>
          <a:bodyPr wrap="square" lIns="0" rIns="0" tIns="0" bIns="0" anchor="t">
            <a:spAutoFit/>
          </a:bodyPr>
          <a:lstStyle/>
          <a:p>
            <a:pPr algn="l">
              <a:lnSpc>
                <a:spcPct val="130000"/>
              </a:lnSpc>
            </a:pPr>
            <a:r>
              <a:rPr sz="1950" b="0" i="0">
                <a:solidFill>
                  <a:srgbClr val="9A7878"/>
                </a:solidFill>
                <a:latin typeface="Geist"/>
                <a:ea typeface="Geist"/>
                <a:cs typeface="Geist"/>
              </a:rPr>
              <a:t>The route plus timing: position, heading and speed at every moment.</a:t>
            </a:r>
          </a:p>
        </p:txBody>
      </p:sp>
      <p:sp>
        <p:nvSpPr>
          <p:cNvPr id="13" name="Rounded Rectangle 12"/>
          <p:cNvSpPr/>
          <p:nvPr/>
        </p:nvSpPr>
        <p:spPr>
          <a:xfrm>
            <a:off x="914400" y="7429500"/>
            <a:ext cx="16459200" cy="1047750"/>
          </a:xfrm>
          <a:prstGeom prst="roundRect">
            <a:avLst>
              <a:gd name="adj" fmla="val 14545"/>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robot.png"/>
          <p:cNvPicPr>
            <a:picLocks noChangeAspect="1"/>
          </p:cNvPicPr>
          <p:nvPr/>
        </p:nvPicPr>
        <p:blipFill>
          <a:blip r:embed="rId5"/>
          <a:stretch>
            <a:fillRect/>
          </a:stretch>
        </p:blipFill>
        <p:spPr>
          <a:xfrm>
            <a:off x="1333500" y="7686675"/>
            <a:ext cx="568960" cy="533400"/>
          </a:xfrm>
          <a:prstGeom prst="rect">
            <a:avLst/>
          </a:prstGeom>
        </p:spPr>
      </p:pic>
      <p:sp>
        <p:nvSpPr>
          <p:cNvPr id="15" name="TextBox 14"/>
          <p:cNvSpPr txBox="1"/>
          <p:nvPr/>
        </p:nvSpPr>
        <p:spPr>
          <a:xfrm>
            <a:off x="2190750" y="7429500"/>
            <a:ext cx="14801850" cy="1047750"/>
          </a:xfrm>
          <a:prstGeom prst="rect">
            <a:avLst/>
          </a:prstGeom>
          <a:noFill/>
        </p:spPr>
        <p:txBody>
          <a:bodyPr wrap="square" lIns="0" rIns="0" tIns="0" bIns="0" anchor="ctr">
            <a:spAutoFit/>
          </a:bodyPr>
          <a:lstStyle/>
          <a:p>
            <a:pPr algn="l">
              <a:lnSpc>
                <a:spcPct val="130000"/>
              </a:lnSpc>
            </a:pPr>
            <a:r>
              <a:rPr sz="2100" b="1" i="0">
                <a:solidFill>
                  <a:srgbClr val="F0E8E8"/>
                </a:solidFill>
                <a:latin typeface="Geist"/>
                <a:ea typeface="Geist"/>
                <a:cs typeface="Geist"/>
              </a:rPr>
              <a:t>Robot code  </a:t>
            </a:r>
            <a:r>
              <a:rPr sz="2100" b="0" i="0">
                <a:solidFill>
                  <a:srgbClr val="F0E8E8"/>
                </a:solidFill>
                <a:latin typeface="Geist"/>
                <a:ea typeface="Geist"/>
                <a:cs typeface="Geist"/>
              </a:rPr>
              <a:t>follows the trajectory, checking every loop where it should be right now.</a:t>
            </a:r>
          </a:p>
        </p:txBody>
      </p:sp>
      <p:pic>
        <p:nvPicPr>
          <p:cNvPr id="16" name="Picture 15" descr="mw_logo_small.png"/>
          <p:cNvPicPr>
            <a:picLocks noChangeAspect="1"/>
          </p:cNvPicPr>
          <p:nvPr/>
        </p:nvPicPr>
        <p:blipFill>
          <a:blip r:embed="rId6"/>
          <a:stretch>
            <a:fillRect/>
          </a:stretch>
        </p:blipFill>
        <p:spPr>
          <a:xfrm>
            <a:off x="914400" y="9410700"/>
            <a:ext cx="583564" cy="495300"/>
          </a:xfrm>
          <a:prstGeom prst="rect">
            <a:avLst/>
          </a:prstGeom>
        </p:spPr>
      </p:pic>
      <p:sp>
        <p:nvSpPr>
          <p:cNvPr id="17" name="TextBox 16"/>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CHOREO</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Waypoints and constraints</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5283200" cy="4000500"/>
          </a:xfrm>
          <a:prstGeom prst="roundRect">
            <a:avLst>
              <a:gd name="adj" fmla="val 3809"/>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295400" y="3238500"/>
            <a:ext cx="4521200" cy="571500"/>
          </a:xfrm>
          <a:prstGeom prst="rect">
            <a:avLst/>
          </a:prstGeom>
          <a:noFill/>
        </p:spPr>
        <p:txBody>
          <a:bodyPr wrap="square" lIns="0" rIns="0" tIns="0" bIns="0" anchor="t">
            <a:spAutoFit/>
          </a:bodyPr>
          <a:lstStyle/>
          <a:p>
            <a:pPr algn="l">
              <a:lnSpc>
                <a:spcPct val="110000"/>
              </a:lnSpc>
            </a:pPr>
            <a:r>
              <a:rPr sz="2400" b="1" i="0">
                <a:solidFill>
                  <a:srgbClr val="F0E8E8"/>
                </a:solidFill>
                <a:latin typeface="Geist"/>
                <a:ea typeface="Geist"/>
                <a:cs typeface="Geist"/>
              </a:rPr>
              <a:t>Pose waypoint</a:t>
            </a:r>
          </a:p>
        </p:txBody>
      </p:sp>
      <p:sp>
        <p:nvSpPr>
          <p:cNvPr id="7" name="TextBox 6"/>
          <p:cNvSpPr txBox="1"/>
          <p:nvPr/>
        </p:nvSpPr>
        <p:spPr>
          <a:xfrm>
            <a:off x="1295400" y="3825240"/>
            <a:ext cx="4521200" cy="3048000"/>
          </a:xfrm>
          <a:prstGeom prst="rect">
            <a:avLst/>
          </a:prstGeom>
          <a:noFill/>
        </p:spPr>
        <p:txBody>
          <a:bodyPr wrap="square" lIns="0" rIns="0" tIns="0" bIns="0" anchor="t">
            <a:spAutoFit/>
          </a:bodyPr>
          <a:lstStyle/>
          <a:p>
            <a:pPr algn="l">
              <a:lnSpc>
                <a:spcPct val="130000"/>
              </a:lnSpc>
            </a:pPr>
            <a:r>
              <a:rPr sz="1950" b="0" i="0">
                <a:solidFill>
                  <a:srgbClr val="9A7878"/>
                </a:solidFill>
                <a:latin typeface="Geist"/>
                <a:ea typeface="Geist"/>
                <a:cs typeface="Geist"/>
              </a:rPr>
              <a:t>Pins where the robot is and which way it faces. Use for start and end.</a:t>
            </a:r>
          </a:p>
        </p:txBody>
      </p:sp>
      <p:sp>
        <p:nvSpPr>
          <p:cNvPr id="8" name="Rounded Rectangle 7"/>
          <p:cNvSpPr/>
          <p:nvPr/>
        </p:nvSpPr>
        <p:spPr>
          <a:xfrm>
            <a:off x="6502400" y="2857500"/>
            <a:ext cx="5283200" cy="4000500"/>
          </a:xfrm>
          <a:prstGeom prst="roundRect">
            <a:avLst>
              <a:gd name="adj" fmla="val 3809"/>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883400" y="3238500"/>
            <a:ext cx="4521200" cy="571500"/>
          </a:xfrm>
          <a:prstGeom prst="rect">
            <a:avLst/>
          </a:prstGeom>
          <a:noFill/>
        </p:spPr>
        <p:txBody>
          <a:bodyPr wrap="square" lIns="0" rIns="0" tIns="0" bIns="0" anchor="t">
            <a:spAutoFit/>
          </a:bodyPr>
          <a:lstStyle/>
          <a:p>
            <a:pPr algn="l">
              <a:lnSpc>
                <a:spcPct val="110000"/>
              </a:lnSpc>
            </a:pPr>
            <a:r>
              <a:rPr sz="2400" b="1" i="0">
                <a:solidFill>
                  <a:srgbClr val="F0E8E8"/>
                </a:solidFill>
                <a:latin typeface="Geist"/>
                <a:ea typeface="Geist"/>
                <a:cs typeface="Geist"/>
              </a:rPr>
              <a:t>Translation waypoint</a:t>
            </a:r>
          </a:p>
        </p:txBody>
      </p:sp>
      <p:sp>
        <p:nvSpPr>
          <p:cNvPr id="10" name="TextBox 9"/>
          <p:cNvSpPr txBox="1"/>
          <p:nvPr/>
        </p:nvSpPr>
        <p:spPr>
          <a:xfrm>
            <a:off x="6883400" y="3825240"/>
            <a:ext cx="4521200" cy="3048000"/>
          </a:xfrm>
          <a:prstGeom prst="rect">
            <a:avLst/>
          </a:prstGeom>
          <a:noFill/>
        </p:spPr>
        <p:txBody>
          <a:bodyPr wrap="square" lIns="0" rIns="0" tIns="0" bIns="0" anchor="t">
            <a:spAutoFit/>
          </a:bodyPr>
          <a:lstStyle/>
          <a:p>
            <a:pPr algn="l">
              <a:lnSpc>
                <a:spcPct val="130000"/>
              </a:lnSpc>
            </a:pPr>
            <a:r>
              <a:rPr sz="1950" b="0" i="0">
                <a:solidFill>
                  <a:srgbClr val="9A7878"/>
                </a:solidFill>
                <a:latin typeface="Geist"/>
                <a:ea typeface="Geist"/>
                <a:cs typeface="Geist"/>
              </a:rPr>
              <a:t>Pins only where it is. Choreo picks the heading.</a:t>
            </a:r>
          </a:p>
        </p:txBody>
      </p:sp>
      <p:sp>
        <p:nvSpPr>
          <p:cNvPr id="11" name="Rounded Rectangle 10"/>
          <p:cNvSpPr/>
          <p:nvPr/>
        </p:nvSpPr>
        <p:spPr>
          <a:xfrm>
            <a:off x="12090400" y="2857500"/>
            <a:ext cx="5283200" cy="4000500"/>
          </a:xfrm>
          <a:prstGeom prst="roundRect">
            <a:avLst>
              <a:gd name="adj" fmla="val 3809"/>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12471400" y="3238500"/>
            <a:ext cx="4521200" cy="571500"/>
          </a:xfrm>
          <a:prstGeom prst="rect">
            <a:avLst/>
          </a:prstGeom>
          <a:noFill/>
        </p:spPr>
        <p:txBody>
          <a:bodyPr wrap="square" lIns="0" rIns="0" tIns="0" bIns="0" anchor="t">
            <a:spAutoFit/>
          </a:bodyPr>
          <a:lstStyle/>
          <a:p>
            <a:pPr algn="l">
              <a:lnSpc>
                <a:spcPct val="110000"/>
              </a:lnSpc>
            </a:pPr>
            <a:r>
              <a:rPr sz="2400" b="1" i="0">
                <a:solidFill>
                  <a:srgbClr val="F0E8E8"/>
                </a:solidFill>
                <a:latin typeface="Geist"/>
                <a:ea typeface="Geist"/>
                <a:cs typeface="Geist"/>
              </a:rPr>
              <a:t>Constraint</a:t>
            </a:r>
          </a:p>
        </p:txBody>
      </p:sp>
      <p:sp>
        <p:nvSpPr>
          <p:cNvPr id="13" name="TextBox 12"/>
          <p:cNvSpPr txBox="1"/>
          <p:nvPr/>
        </p:nvSpPr>
        <p:spPr>
          <a:xfrm>
            <a:off x="12471400" y="3825240"/>
            <a:ext cx="4521200" cy="3048000"/>
          </a:xfrm>
          <a:prstGeom prst="rect">
            <a:avLst/>
          </a:prstGeom>
          <a:noFill/>
        </p:spPr>
        <p:txBody>
          <a:bodyPr wrap="square" lIns="0" rIns="0" tIns="0" bIns="0" anchor="t">
            <a:spAutoFit/>
          </a:bodyPr>
          <a:lstStyle/>
          <a:p>
            <a:pPr algn="l">
              <a:lnSpc>
                <a:spcPct val="130000"/>
              </a:lnSpc>
            </a:pPr>
            <a:r>
              <a:rPr sz="1950" b="0" i="0">
                <a:solidFill>
                  <a:srgbClr val="9A7878"/>
                </a:solidFill>
                <a:latin typeface="Geist"/>
                <a:ea typeface="Geist"/>
                <a:cs typeface="Geist"/>
              </a:rPr>
              <a:t>A rule the path must obey, like Max Velocity in one zone.</a:t>
            </a:r>
          </a:p>
        </p:txBody>
      </p:sp>
      <p:sp>
        <p:nvSpPr>
          <p:cNvPr id="14" name="Rounded Rectangle 13"/>
          <p:cNvSpPr/>
          <p:nvPr/>
        </p:nvSpPr>
        <p:spPr>
          <a:xfrm>
            <a:off x="914400" y="7429500"/>
            <a:ext cx="16459200" cy="1047750"/>
          </a:xfrm>
          <a:prstGeom prst="roundRect">
            <a:avLst>
              <a:gd name="adj" fmla="val 14545"/>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333500" y="7429500"/>
            <a:ext cx="15659100" cy="1047750"/>
          </a:xfrm>
          <a:prstGeom prst="rect">
            <a:avLst/>
          </a:prstGeom>
          <a:noFill/>
        </p:spPr>
        <p:txBody>
          <a:bodyPr wrap="square" lIns="0" rIns="0" tIns="0" bIns="0" anchor="ctr">
            <a:spAutoFit/>
          </a:bodyPr>
          <a:lstStyle/>
          <a:p>
            <a:pPr algn="l">
              <a:lnSpc>
                <a:spcPct val="130000"/>
              </a:lnSpc>
            </a:pPr>
            <a:r>
              <a:rPr sz="2100" b="1" i="0">
                <a:solidFill>
                  <a:srgbClr val="F0E8E8"/>
                </a:solidFill>
                <a:latin typeface="Geist"/>
                <a:ea typeface="Geist"/>
                <a:cs typeface="Geist"/>
              </a:rPr>
              <a:t>Starter rules  </a:t>
            </a:r>
            <a:r>
              <a:rPr sz="2100" b="0" i="0">
                <a:solidFill>
                  <a:srgbClr val="F0E8E8"/>
                </a:solidFill>
                <a:latin typeface="Geist"/>
                <a:ea typeface="Geist"/>
                <a:cs typeface="Geist"/>
              </a:rPr>
              <a:t>Every path begins with Stop at the start and end.</a:t>
            </a:r>
          </a:p>
        </p:txBody>
      </p:sp>
      <p:pic>
        <p:nvPicPr>
          <p:cNvPr id="16" name="Picture 15" descr="mw_logo_small.png"/>
          <p:cNvPicPr>
            <a:picLocks noChangeAspect="1"/>
          </p:cNvPicPr>
          <p:nvPr/>
        </p:nvPicPr>
        <p:blipFill>
          <a:blip r:embed="rId3"/>
          <a:stretch>
            <a:fillRect/>
          </a:stretch>
        </p:blipFill>
        <p:spPr>
          <a:xfrm>
            <a:off x="914400" y="9410700"/>
            <a:ext cx="583564" cy="495300"/>
          </a:xfrm>
          <a:prstGeom prst="rect">
            <a:avLst/>
          </a:prstGeom>
        </p:spPr>
      </p:pic>
      <p:sp>
        <p:nvSpPr>
          <p:cNvPr id="17" name="TextBox 16"/>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CHOREO</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Generate: solving for the fastest path</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3143250"/>
            <a:ext cx="3543300" cy="1905000"/>
          </a:xfrm>
          <a:prstGeom prst="roundRect">
            <a:avLst>
              <a:gd name="adj" fmla="val 80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009650" y="3619500"/>
            <a:ext cx="3352800" cy="533400"/>
          </a:xfrm>
          <a:prstGeom prst="rect">
            <a:avLst/>
          </a:prstGeom>
          <a:noFill/>
        </p:spPr>
        <p:txBody>
          <a:bodyPr wrap="square" lIns="0" rIns="0" tIns="0" bIns="0" anchor="t">
            <a:spAutoFit/>
          </a:bodyPr>
          <a:lstStyle/>
          <a:p>
            <a:pPr algn="ctr"/>
            <a:r>
              <a:rPr sz="2550" b="1" i="0">
                <a:solidFill>
                  <a:srgbClr val="F0E8E8"/>
                </a:solidFill>
                <a:latin typeface="Geist"/>
                <a:ea typeface="Geist"/>
                <a:cs typeface="Geist"/>
              </a:rPr>
              <a:t>Waypoints</a:t>
            </a:r>
          </a:p>
        </p:txBody>
      </p:sp>
      <p:sp>
        <p:nvSpPr>
          <p:cNvPr id="7" name="TextBox 6"/>
          <p:cNvSpPr txBox="1"/>
          <p:nvPr/>
        </p:nvSpPr>
        <p:spPr>
          <a:xfrm>
            <a:off x="1066800" y="4210050"/>
            <a:ext cx="3238500" cy="571500"/>
          </a:xfrm>
          <a:prstGeom prst="rect">
            <a:avLst/>
          </a:prstGeom>
          <a:noFill/>
        </p:spPr>
        <p:txBody>
          <a:bodyPr wrap="square" lIns="0" rIns="0" tIns="0" bIns="0" anchor="t">
            <a:spAutoFit/>
          </a:bodyPr>
          <a:lstStyle/>
          <a:p>
            <a:pPr algn="ctr">
              <a:lnSpc>
                <a:spcPct val="120000"/>
              </a:lnSpc>
            </a:pPr>
            <a:r>
              <a:rPr sz="1650" b="0" i="0">
                <a:solidFill>
                  <a:srgbClr val="9A7878"/>
                </a:solidFill>
                <a:latin typeface="Geist"/>
                <a:ea typeface="Geist"/>
                <a:cs typeface="Geist"/>
              </a:rPr>
              <a:t>Where to go</a:t>
            </a:r>
          </a:p>
        </p:txBody>
      </p:sp>
      <p:cxnSp>
        <p:nvCxnSpPr>
          <p:cNvPr id="8" name="Connector 7"/>
          <p:cNvCxnSpPr/>
          <p:nvPr/>
        </p:nvCxnSpPr>
        <p:spPr>
          <a:xfrm>
            <a:off x="4533900" y="4095750"/>
            <a:ext cx="609600" cy="0"/>
          </a:xfrm>
          <a:prstGeom prst="line">
            <a:avLst/>
          </a:prstGeom>
          <a:ln w="28575">
            <a:solidFill>
              <a:srgbClr val="9A7878"/>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5219700" y="3143250"/>
            <a:ext cx="3543300" cy="1905000"/>
          </a:xfrm>
          <a:prstGeom prst="roundRect">
            <a:avLst>
              <a:gd name="adj" fmla="val 80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314950" y="3619500"/>
            <a:ext cx="3352800" cy="533400"/>
          </a:xfrm>
          <a:prstGeom prst="rect">
            <a:avLst/>
          </a:prstGeom>
          <a:noFill/>
        </p:spPr>
        <p:txBody>
          <a:bodyPr wrap="square" lIns="0" rIns="0" tIns="0" bIns="0" anchor="t">
            <a:spAutoFit/>
          </a:bodyPr>
          <a:lstStyle/>
          <a:p>
            <a:pPr algn="ctr"/>
            <a:r>
              <a:rPr sz="2550" b="1" i="0">
                <a:solidFill>
                  <a:srgbClr val="F0E8E8"/>
                </a:solidFill>
                <a:latin typeface="Geist"/>
                <a:ea typeface="Geist"/>
                <a:cs typeface="Geist"/>
              </a:rPr>
              <a:t>Constraints</a:t>
            </a:r>
          </a:p>
        </p:txBody>
      </p:sp>
      <p:sp>
        <p:nvSpPr>
          <p:cNvPr id="11" name="TextBox 10"/>
          <p:cNvSpPr txBox="1"/>
          <p:nvPr/>
        </p:nvSpPr>
        <p:spPr>
          <a:xfrm>
            <a:off x="5372100" y="4210050"/>
            <a:ext cx="3238500" cy="571500"/>
          </a:xfrm>
          <a:prstGeom prst="rect">
            <a:avLst/>
          </a:prstGeom>
          <a:noFill/>
        </p:spPr>
        <p:txBody>
          <a:bodyPr wrap="square" lIns="0" rIns="0" tIns="0" bIns="0" anchor="t">
            <a:spAutoFit/>
          </a:bodyPr>
          <a:lstStyle/>
          <a:p>
            <a:pPr algn="ctr">
              <a:lnSpc>
                <a:spcPct val="120000"/>
              </a:lnSpc>
            </a:pPr>
            <a:r>
              <a:rPr sz="1650" b="0" i="0">
                <a:solidFill>
                  <a:srgbClr val="9A7878"/>
                </a:solidFill>
                <a:latin typeface="Geist"/>
                <a:ea typeface="Geist"/>
                <a:cs typeface="Geist"/>
              </a:rPr>
              <a:t>Rules to obey</a:t>
            </a:r>
          </a:p>
        </p:txBody>
      </p:sp>
      <p:cxnSp>
        <p:nvCxnSpPr>
          <p:cNvPr id="12" name="Connector 11"/>
          <p:cNvCxnSpPr/>
          <p:nvPr/>
        </p:nvCxnSpPr>
        <p:spPr>
          <a:xfrm>
            <a:off x="8839200" y="4095750"/>
            <a:ext cx="609600" cy="0"/>
          </a:xfrm>
          <a:prstGeom prst="line">
            <a:avLst/>
          </a:prstGeom>
          <a:ln w="28575">
            <a:solidFill>
              <a:srgbClr val="9A787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9525000" y="3143250"/>
            <a:ext cx="3543300" cy="1905000"/>
          </a:xfrm>
          <a:prstGeom prst="roundRect">
            <a:avLst>
              <a:gd name="adj" fmla="val 8000"/>
            </a:avLst>
          </a:prstGeom>
          <a:solidFill>
            <a:srgbClr val="111111"/>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620250" y="3619500"/>
            <a:ext cx="3352800" cy="533400"/>
          </a:xfrm>
          <a:prstGeom prst="rect">
            <a:avLst/>
          </a:prstGeom>
          <a:noFill/>
        </p:spPr>
        <p:txBody>
          <a:bodyPr wrap="square" lIns="0" rIns="0" tIns="0" bIns="0" anchor="t">
            <a:spAutoFit/>
          </a:bodyPr>
          <a:lstStyle/>
          <a:p>
            <a:pPr algn="ctr"/>
            <a:r>
              <a:rPr sz="2550" b="1" i="0">
                <a:solidFill>
                  <a:srgbClr val="F0E8E8"/>
                </a:solidFill>
                <a:latin typeface="Geist"/>
                <a:ea typeface="Geist"/>
                <a:cs typeface="Geist"/>
              </a:rPr>
              <a:t>Generate</a:t>
            </a:r>
          </a:p>
        </p:txBody>
      </p:sp>
      <p:sp>
        <p:nvSpPr>
          <p:cNvPr id="15" name="TextBox 14"/>
          <p:cNvSpPr txBox="1"/>
          <p:nvPr/>
        </p:nvSpPr>
        <p:spPr>
          <a:xfrm>
            <a:off x="9677400" y="4210050"/>
            <a:ext cx="3238500" cy="571500"/>
          </a:xfrm>
          <a:prstGeom prst="rect">
            <a:avLst/>
          </a:prstGeom>
          <a:noFill/>
        </p:spPr>
        <p:txBody>
          <a:bodyPr wrap="square" lIns="0" rIns="0" tIns="0" bIns="0" anchor="t">
            <a:spAutoFit/>
          </a:bodyPr>
          <a:lstStyle/>
          <a:p>
            <a:pPr algn="ctr">
              <a:lnSpc>
                <a:spcPct val="120000"/>
              </a:lnSpc>
            </a:pPr>
            <a:r>
              <a:rPr sz="1650" b="0" i="0">
                <a:solidFill>
                  <a:srgbClr val="9A7878"/>
                </a:solidFill>
                <a:latin typeface="Geist"/>
                <a:ea typeface="Geist"/>
                <a:cs typeface="Geist"/>
              </a:rPr>
              <a:t>Solve with real limits</a:t>
            </a:r>
          </a:p>
        </p:txBody>
      </p:sp>
      <p:cxnSp>
        <p:nvCxnSpPr>
          <p:cNvPr id="16" name="Connector 15"/>
          <p:cNvCxnSpPr/>
          <p:nvPr/>
        </p:nvCxnSpPr>
        <p:spPr>
          <a:xfrm>
            <a:off x="13144500" y="4095750"/>
            <a:ext cx="609600" cy="0"/>
          </a:xfrm>
          <a:prstGeom prst="line">
            <a:avLst/>
          </a:prstGeom>
          <a:ln w="28575">
            <a:solidFill>
              <a:srgbClr val="9A787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13830300" y="3143250"/>
            <a:ext cx="3543300" cy="1905000"/>
          </a:xfrm>
          <a:prstGeom prst="roundRect">
            <a:avLst>
              <a:gd name="adj" fmla="val 80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13925550" y="3619500"/>
            <a:ext cx="3352800" cy="533400"/>
          </a:xfrm>
          <a:prstGeom prst="rect">
            <a:avLst/>
          </a:prstGeom>
          <a:noFill/>
        </p:spPr>
        <p:txBody>
          <a:bodyPr wrap="square" lIns="0" rIns="0" tIns="0" bIns="0" anchor="t">
            <a:spAutoFit/>
          </a:bodyPr>
          <a:lstStyle/>
          <a:p>
            <a:pPr algn="ctr"/>
            <a:r>
              <a:rPr sz="2550" b="1" i="0">
                <a:solidFill>
                  <a:srgbClr val="F0E8E8"/>
                </a:solidFill>
                <a:latin typeface="Geist Mono"/>
                <a:ea typeface="Geist Mono"/>
                <a:cs typeface="Geist Mono"/>
              </a:rPr>
              <a:t>.traj file</a:t>
            </a:r>
          </a:p>
        </p:txBody>
      </p:sp>
      <p:sp>
        <p:nvSpPr>
          <p:cNvPr id="19" name="TextBox 18"/>
          <p:cNvSpPr txBox="1"/>
          <p:nvPr/>
        </p:nvSpPr>
        <p:spPr>
          <a:xfrm>
            <a:off x="13982700" y="4210050"/>
            <a:ext cx="3238500" cy="571500"/>
          </a:xfrm>
          <a:prstGeom prst="rect">
            <a:avLst/>
          </a:prstGeom>
          <a:noFill/>
        </p:spPr>
        <p:txBody>
          <a:bodyPr wrap="square" lIns="0" rIns="0" tIns="0" bIns="0" anchor="t">
            <a:spAutoFit/>
          </a:bodyPr>
          <a:lstStyle/>
          <a:p>
            <a:pPr algn="ctr">
              <a:lnSpc>
                <a:spcPct val="120000"/>
              </a:lnSpc>
            </a:pPr>
            <a:r>
              <a:rPr sz="1650" b="0" i="0">
                <a:solidFill>
                  <a:srgbClr val="9A7878"/>
                </a:solidFill>
                <a:latin typeface="Geist"/>
                <a:ea typeface="Geist"/>
                <a:cs typeface="Geist"/>
              </a:rPr>
              <a:t>The robot follows it</a:t>
            </a:r>
          </a:p>
        </p:txBody>
      </p:sp>
      <p:sp>
        <p:nvSpPr>
          <p:cNvPr id="20" name="Rounded Rectangle 19"/>
          <p:cNvSpPr/>
          <p:nvPr/>
        </p:nvSpPr>
        <p:spPr>
          <a:xfrm>
            <a:off x="914400" y="5715000"/>
            <a:ext cx="16459200" cy="1238250"/>
          </a:xfrm>
          <a:prstGeom prst="roundRect">
            <a:avLst>
              <a:gd name="adj" fmla="val 12307"/>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1" name="Picture 20" descr="exclamation-circle.png"/>
          <p:cNvPicPr>
            <a:picLocks noChangeAspect="1"/>
          </p:cNvPicPr>
          <p:nvPr/>
        </p:nvPicPr>
        <p:blipFill>
          <a:blip r:embed="rId3"/>
          <a:stretch>
            <a:fillRect/>
          </a:stretch>
        </p:blipFill>
        <p:spPr>
          <a:xfrm>
            <a:off x="1333500" y="6067425"/>
            <a:ext cx="533400" cy="533400"/>
          </a:xfrm>
          <a:prstGeom prst="rect">
            <a:avLst/>
          </a:prstGeom>
        </p:spPr>
      </p:pic>
      <p:sp>
        <p:nvSpPr>
          <p:cNvPr id="22" name="TextBox 21"/>
          <p:cNvSpPr txBox="1"/>
          <p:nvPr/>
        </p:nvSpPr>
        <p:spPr>
          <a:xfrm>
            <a:off x="2190750" y="5715000"/>
            <a:ext cx="14801850" cy="1238250"/>
          </a:xfrm>
          <a:prstGeom prst="rect">
            <a:avLst/>
          </a:prstGeom>
          <a:noFill/>
        </p:spPr>
        <p:txBody>
          <a:bodyPr wrap="square" lIns="0" rIns="0" tIns="0" bIns="0" anchor="ctr">
            <a:spAutoFit/>
          </a:bodyPr>
          <a:lstStyle/>
          <a:p>
            <a:pPr algn="l">
              <a:lnSpc>
                <a:spcPct val="130000"/>
              </a:lnSpc>
            </a:pPr>
            <a:r>
              <a:rPr sz="2100" b="1" i="0">
                <a:solidFill>
                  <a:srgbClr val="F0E8E8"/>
                </a:solidFill>
                <a:latin typeface="Geist"/>
                <a:ea typeface="Geist"/>
                <a:cs typeface="Geist"/>
              </a:rPr>
              <a:t>Won't generate?  </a:t>
            </a:r>
            <a:r>
              <a:rPr sz="2100" b="0" i="0">
                <a:solidFill>
                  <a:srgbClr val="F0E8E8"/>
                </a:solidFill>
                <a:latin typeface="Geist"/>
                <a:ea typeface="Geist"/>
                <a:cs typeface="Geist"/>
              </a:rPr>
              <a:t>A rule the robot can't meet leaves it unsolved. Change the numbers or untick the constraint.</a:t>
            </a:r>
          </a:p>
        </p:txBody>
      </p:sp>
      <p:pic>
        <p:nvPicPr>
          <p:cNvPr id="23" name="Picture 22" descr="dozer_wide_left.png"/>
          <p:cNvPicPr>
            <a:picLocks noChangeAspect="1"/>
          </p:cNvPicPr>
          <p:nvPr/>
        </p:nvPicPr>
        <p:blipFill>
          <a:blip r:embed="rId4"/>
          <a:stretch>
            <a:fillRect/>
          </a:stretch>
        </p:blipFill>
        <p:spPr>
          <a:xfrm>
            <a:off x="15240000" y="7239000"/>
            <a:ext cx="1905000" cy="1170896"/>
          </a:xfrm>
          <a:prstGeom prst="rect">
            <a:avLst/>
          </a:prstGeom>
        </p:spPr>
      </p:pic>
      <p:sp>
        <p:nvSpPr>
          <p:cNvPr id="24" name="TextBox 23"/>
          <p:cNvSpPr txBox="1"/>
          <p:nvPr/>
        </p:nvSpPr>
        <p:spPr>
          <a:xfrm>
            <a:off x="914400" y="7429500"/>
            <a:ext cx="16459200" cy="381000"/>
          </a:xfrm>
          <a:prstGeom prst="rect">
            <a:avLst/>
          </a:prstGeom>
          <a:noFill/>
        </p:spPr>
        <p:txBody>
          <a:bodyPr wrap="square" lIns="0" rIns="0" tIns="0" bIns="0" anchor="t">
            <a:spAutoFit/>
          </a:bodyPr>
          <a:lstStyle/>
          <a:p>
            <a:pPr algn="l"/>
            <a:r>
              <a:rPr sz="2100" b="0" i="0">
                <a:solidFill>
                  <a:srgbClr val="9A7878"/>
                </a:solidFill>
                <a:latin typeface="Geist"/>
                <a:ea typeface="Geist"/>
                <a:cs typeface="Geist"/>
              </a:rPr>
              <a:t>You'll make robots follow these in the Choreo Autonomous lesson.</a:t>
            </a:r>
          </a:p>
        </p:txBody>
      </p:sp>
      <p:pic>
        <p:nvPicPr>
          <p:cNvPr id="25" name="Picture 24" descr="mw_logo_small.png"/>
          <p:cNvPicPr>
            <a:picLocks noChangeAspect="1"/>
          </p:cNvPicPr>
          <p:nvPr/>
        </p:nvPicPr>
        <p:blipFill>
          <a:blip r:embed="rId5"/>
          <a:stretch>
            <a:fillRect/>
          </a:stretch>
        </p:blipFill>
        <p:spPr>
          <a:xfrm>
            <a:off x="914400" y="9410700"/>
            <a:ext cx="583564" cy="495300"/>
          </a:xfrm>
          <a:prstGeom prst="rect">
            <a:avLst/>
          </a:prstGeom>
        </p:spPr>
      </p:pic>
      <p:sp>
        <p:nvSpPr>
          <p:cNvPr id="26" name="TextBox 25"/>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43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PRACTICE IN SCRIPTUM</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Lesson checkpoints</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 name="Picture 4" descr="dozer_left.png"/>
          <p:cNvPicPr>
            <a:picLocks noChangeAspect="1"/>
          </p:cNvPicPr>
          <p:nvPr/>
        </p:nvPicPr>
        <p:blipFill>
          <a:blip r:embed="rId3"/>
          <a:stretch>
            <a:fillRect/>
          </a:stretch>
        </p:blipFill>
        <p:spPr>
          <a:xfrm>
            <a:off x="15144750" y="952500"/>
            <a:ext cx="2228850" cy="1369948"/>
          </a:xfrm>
          <a:prstGeom prst="rect">
            <a:avLst/>
          </a:prstGeom>
        </p:spPr>
      </p:pic>
      <p:sp>
        <p:nvSpPr>
          <p:cNvPr id="6" name="Rounded Rectangle 5"/>
          <p:cNvSpPr/>
          <p:nvPr/>
        </p:nvSpPr>
        <p:spPr>
          <a:xfrm>
            <a:off x="914400" y="2857500"/>
            <a:ext cx="3108960" cy="5334000"/>
          </a:xfrm>
          <a:prstGeom prst="roundRect">
            <a:avLst>
              <a:gd name="adj" fmla="val 4901"/>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81100" y="3143250"/>
            <a:ext cx="2575560" cy="857250"/>
          </a:xfrm>
          <a:prstGeom prst="rect">
            <a:avLst/>
          </a:prstGeom>
          <a:noFill/>
        </p:spPr>
        <p:txBody>
          <a:bodyPr wrap="square" lIns="0" rIns="0" tIns="0" bIns="0" anchor="t">
            <a:spAutoFit/>
          </a:bodyPr>
          <a:lstStyle/>
          <a:p>
            <a:pPr algn="l"/>
            <a:r>
              <a:rPr sz="5400" b="1" i="0">
                <a:solidFill>
                  <a:srgbClr val="CC2200"/>
                </a:solidFill>
                <a:latin typeface="Geist"/>
                <a:ea typeface="Geist"/>
                <a:cs typeface="Geist"/>
              </a:rPr>
              <a:t>5</a:t>
            </a:r>
          </a:p>
        </p:txBody>
      </p:sp>
      <p:sp>
        <p:nvSpPr>
          <p:cNvPr id="8" name="TextBox 7"/>
          <p:cNvSpPr txBox="1"/>
          <p:nvPr/>
        </p:nvSpPr>
        <p:spPr>
          <a:xfrm>
            <a:off x="1181100" y="4000500"/>
            <a:ext cx="2575560" cy="285750"/>
          </a:xfrm>
          <a:prstGeom prst="rect">
            <a:avLst/>
          </a:prstGeom>
          <a:noFill/>
        </p:spPr>
        <p:txBody>
          <a:bodyPr wrap="square" lIns="0" rIns="0" tIns="0" bIns="0" anchor="t">
            <a:spAutoFit/>
          </a:bodyPr>
          <a:lstStyle/>
          <a:p>
            <a:pPr algn="l"/>
            <a:r>
              <a:rPr sz="1350" b="1" i="0" spc="130">
                <a:solidFill>
                  <a:srgbClr val="9A7878"/>
                </a:solidFill>
                <a:latin typeface="Geist"/>
                <a:ea typeface="Geist"/>
                <a:cs typeface="Geist"/>
              </a:rPr>
              <a:t>CHECKPOINTS</a:t>
            </a:r>
          </a:p>
        </p:txBody>
      </p:sp>
      <p:sp>
        <p:nvSpPr>
          <p:cNvPr id="9" name="TextBox 8"/>
          <p:cNvSpPr txBox="1"/>
          <p:nvPr/>
        </p:nvSpPr>
        <p:spPr>
          <a:xfrm>
            <a:off x="1181100" y="4381500"/>
            <a:ext cx="2575560" cy="762000"/>
          </a:xfrm>
          <a:prstGeom prst="rect">
            <a:avLst/>
          </a:prstGeom>
          <a:noFill/>
        </p:spPr>
        <p:txBody>
          <a:bodyPr wrap="square" lIns="0" rIns="0" tIns="0" bIns="0" anchor="t">
            <a:spAutoFit/>
          </a:bodyPr>
          <a:lstStyle/>
          <a:p>
            <a:pPr algn="l">
              <a:lnSpc>
                <a:spcPct val="110000"/>
              </a:lnSpc>
            </a:pPr>
            <a:r>
              <a:rPr sz="2100" b="1" i="0">
                <a:solidFill>
                  <a:srgbClr val="F0E8E8"/>
                </a:solidFill>
                <a:latin typeface="Geist"/>
                <a:ea typeface="Geist"/>
                <a:cs typeface="Geist"/>
              </a:rPr>
              <a:t>Meet the Editor</a:t>
            </a:r>
          </a:p>
        </p:txBody>
      </p:sp>
      <p:sp>
        <p:nvSpPr>
          <p:cNvPr id="10" name="TextBox 9"/>
          <p:cNvSpPr txBox="1"/>
          <p:nvPr/>
        </p:nvSpPr>
        <p:spPr>
          <a:xfrm>
            <a:off x="1181100" y="5238750"/>
            <a:ext cx="2575560" cy="544830"/>
          </a:xfrm>
          <a:prstGeom prst="rect">
            <a:avLst/>
          </a:prstGeom>
          <a:noFill/>
        </p:spPr>
        <p:txBody>
          <a:bodyPr wrap="square" lIns="0" rIns="0" tIns="0" bIns="0" anchor="t">
            <a:spAutoFit/>
          </a:bodyPr>
          <a:lstStyle/>
          <a:p>
            <a:pPr algn="l">
              <a:lnSpc>
                <a:spcPct val="125000"/>
              </a:lnSpc>
            </a:pPr>
            <a:r>
              <a:rPr sz="1650" b="1" i="0">
                <a:solidFill>
                  <a:srgbClr val="CC2200"/>
                </a:solidFill>
                <a:latin typeface="Geist"/>
                <a:ea typeface="Geist"/>
                <a:cs typeface="Geist"/>
              </a:rPr>
              <a:t>•  </a:t>
            </a:r>
            <a:r>
              <a:rPr sz="1650" b="0" i="0">
                <a:solidFill>
                  <a:srgbClr val="F0E8E8"/>
                </a:solidFill>
                <a:latin typeface="Geist"/>
                <a:ea typeface="Geist"/>
                <a:cs typeface="Geist"/>
              </a:rPr>
              <a:t>Make a folder and a file</a:t>
            </a:r>
          </a:p>
        </p:txBody>
      </p:sp>
      <p:sp>
        <p:nvSpPr>
          <p:cNvPr id="11" name="TextBox 10"/>
          <p:cNvSpPr txBox="1"/>
          <p:nvPr/>
        </p:nvSpPr>
        <p:spPr>
          <a:xfrm>
            <a:off x="1181100" y="5935980"/>
            <a:ext cx="2575560" cy="272415"/>
          </a:xfrm>
          <a:prstGeom prst="rect">
            <a:avLst/>
          </a:prstGeom>
          <a:noFill/>
        </p:spPr>
        <p:txBody>
          <a:bodyPr wrap="square" lIns="0" rIns="0" tIns="0" bIns="0" anchor="t">
            <a:spAutoFit/>
          </a:bodyPr>
          <a:lstStyle/>
          <a:p>
            <a:pPr algn="l">
              <a:lnSpc>
                <a:spcPct val="125000"/>
              </a:lnSpc>
            </a:pPr>
            <a:r>
              <a:rPr sz="1650" b="1" i="0">
                <a:solidFill>
                  <a:srgbClr val="CC2200"/>
                </a:solidFill>
                <a:latin typeface="Geist"/>
                <a:ea typeface="Geist"/>
                <a:cs typeface="Geist"/>
              </a:rPr>
              <a:t>•  </a:t>
            </a:r>
            <a:r>
              <a:rPr sz="1650" b="0" i="0">
                <a:solidFill>
                  <a:srgbClr val="F0E8E8"/>
                </a:solidFill>
                <a:latin typeface="Geist"/>
                <a:ea typeface="Geist"/>
                <a:cs typeface="Geist"/>
              </a:rPr>
              <a:t>Rename and delete files</a:t>
            </a:r>
          </a:p>
        </p:txBody>
      </p:sp>
      <p:sp>
        <p:nvSpPr>
          <p:cNvPr id="12" name="TextBox 11"/>
          <p:cNvSpPr txBox="1"/>
          <p:nvPr/>
        </p:nvSpPr>
        <p:spPr>
          <a:xfrm>
            <a:off x="1181100" y="6360795"/>
            <a:ext cx="2575560" cy="272415"/>
          </a:xfrm>
          <a:prstGeom prst="rect">
            <a:avLst/>
          </a:prstGeom>
          <a:noFill/>
        </p:spPr>
        <p:txBody>
          <a:bodyPr wrap="square" lIns="0" rIns="0" tIns="0" bIns="0" anchor="t">
            <a:spAutoFit/>
          </a:bodyPr>
          <a:lstStyle/>
          <a:p>
            <a:pPr algn="l">
              <a:lnSpc>
                <a:spcPct val="125000"/>
              </a:lnSpc>
            </a:pPr>
            <a:r>
              <a:rPr sz="1650" b="1" i="0">
                <a:solidFill>
                  <a:srgbClr val="CC2200"/>
                </a:solidFill>
                <a:latin typeface="Geist"/>
                <a:ea typeface="Geist"/>
                <a:cs typeface="Geist"/>
              </a:rPr>
              <a:t>•  </a:t>
            </a:r>
            <a:r>
              <a:rPr sz="1650" b="0" i="0">
                <a:solidFill>
                  <a:srgbClr val="F0E8E8"/>
                </a:solidFill>
                <a:latin typeface="Geist"/>
                <a:ea typeface="Geist"/>
                <a:cs typeface="Geist"/>
              </a:rPr>
              <a:t>Run src/Main.java</a:t>
            </a:r>
          </a:p>
        </p:txBody>
      </p:sp>
      <p:sp>
        <p:nvSpPr>
          <p:cNvPr id="13" name="Rounded Rectangle 12"/>
          <p:cNvSpPr/>
          <p:nvPr/>
        </p:nvSpPr>
        <p:spPr>
          <a:xfrm>
            <a:off x="4251960" y="2857500"/>
            <a:ext cx="3108960" cy="5334000"/>
          </a:xfrm>
          <a:prstGeom prst="roundRect">
            <a:avLst>
              <a:gd name="adj" fmla="val 4901"/>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4518660" y="3143250"/>
            <a:ext cx="2575560" cy="857250"/>
          </a:xfrm>
          <a:prstGeom prst="rect">
            <a:avLst/>
          </a:prstGeom>
          <a:noFill/>
        </p:spPr>
        <p:txBody>
          <a:bodyPr wrap="square" lIns="0" rIns="0" tIns="0" bIns="0" anchor="t">
            <a:spAutoFit/>
          </a:bodyPr>
          <a:lstStyle/>
          <a:p>
            <a:pPr algn="l"/>
            <a:r>
              <a:rPr sz="5400" b="1" i="0">
                <a:solidFill>
                  <a:srgbClr val="CC2200"/>
                </a:solidFill>
                <a:latin typeface="Geist"/>
                <a:ea typeface="Geist"/>
                <a:cs typeface="Geist"/>
              </a:rPr>
              <a:t>8</a:t>
            </a:r>
          </a:p>
        </p:txBody>
      </p:sp>
      <p:sp>
        <p:nvSpPr>
          <p:cNvPr id="15" name="TextBox 14"/>
          <p:cNvSpPr txBox="1"/>
          <p:nvPr/>
        </p:nvSpPr>
        <p:spPr>
          <a:xfrm>
            <a:off x="4518660" y="4000500"/>
            <a:ext cx="2575560" cy="285750"/>
          </a:xfrm>
          <a:prstGeom prst="rect">
            <a:avLst/>
          </a:prstGeom>
          <a:noFill/>
        </p:spPr>
        <p:txBody>
          <a:bodyPr wrap="square" lIns="0" rIns="0" tIns="0" bIns="0" anchor="t">
            <a:spAutoFit/>
          </a:bodyPr>
          <a:lstStyle/>
          <a:p>
            <a:pPr algn="l"/>
            <a:r>
              <a:rPr sz="1350" b="1" i="0" spc="130">
                <a:solidFill>
                  <a:srgbClr val="9A7878"/>
                </a:solidFill>
                <a:latin typeface="Geist"/>
                <a:ea typeface="Geist"/>
                <a:cs typeface="Geist"/>
              </a:rPr>
              <a:t>CHECKPOINTS</a:t>
            </a:r>
          </a:p>
        </p:txBody>
      </p:sp>
      <p:sp>
        <p:nvSpPr>
          <p:cNvPr id="16" name="TextBox 15"/>
          <p:cNvSpPr txBox="1"/>
          <p:nvPr/>
        </p:nvSpPr>
        <p:spPr>
          <a:xfrm>
            <a:off x="4518660" y="4381500"/>
            <a:ext cx="2575560" cy="762000"/>
          </a:xfrm>
          <a:prstGeom prst="rect">
            <a:avLst/>
          </a:prstGeom>
          <a:noFill/>
        </p:spPr>
        <p:txBody>
          <a:bodyPr wrap="square" lIns="0" rIns="0" tIns="0" bIns="0" anchor="t">
            <a:spAutoFit/>
          </a:bodyPr>
          <a:lstStyle/>
          <a:p>
            <a:pPr algn="l">
              <a:lnSpc>
                <a:spcPct val="110000"/>
              </a:lnSpc>
            </a:pPr>
            <a:r>
              <a:rPr sz="2250" b="1" i="0">
                <a:solidFill>
                  <a:srgbClr val="F0E8E8"/>
                </a:solidFill>
                <a:latin typeface="Geist"/>
                <a:ea typeface="Geist"/>
                <a:cs typeface="Geist"/>
              </a:rPr>
              <a:t>Git Basics</a:t>
            </a:r>
          </a:p>
        </p:txBody>
      </p:sp>
      <p:sp>
        <p:nvSpPr>
          <p:cNvPr id="17" name="TextBox 16"/>
          <p:cNvSpPr txBox="1"/>
          <p:nvPr/>
        </p:nvSpPr>
        <p:spPr>
          <a:xfrm>
            <a:off x="4518660" y="5238750"/>
            <a:ext cx="2575560" cy="544830"/>
          </a:xfrm>
          <a:prstGeom prst="rect">
            <a:avLst/>
          </a:prstGeom>
          <a:noFill/>
        </p:spPr>
        <p:txBody>
          <a:bodyPr wrap="square" lIns="0" rIns="0" tIns="0" bIns="0" anchor="t">
            <a:spAutoFit/>
          </a:bodyPr>
          <a:lstStyle/>
          <a:p>
            <a:pPr algn="l">
              <a:lnSpc>
                <a:spcPct val="125000"/>
              </a:lnSpc>
            </a:pPr>
            <a:r>
              <a:rPr sz="1650" b="1" i="0">
                <a:solidFill>
                  <a:srgbClr val="CC2200"/>
                </a:solidFill>
                <a:latin typeface="Geist"/>
                <a:ea typeface="Geist"/>
                <a:cs typeface="Geist"/>
              </a:rPr>
              <a:t>•  </a:t>
            </a:r>
            <a:r>
              <a:rPr sz="1650" b="0" i="0">
                <a:solidFill>
                  <a:srgbClr val="F0E8E8"/>
                </a:solidFill>
                <a:latin typeface="Geist"/>
                <a:ea typeface="Geist"/>
                <a:cs typeface="Geist"/>
              </a:rPr>
              <a:t>First commit, feature branch</a:t>
            </a:r>
          </a:p>
        </p:txBody>
      </p:sp>
      <p:sp>
        <p:nvSpPr>
          <p:cNvPr id="18" name="TextBox 17"/>
          <p:cNvSpPr txBox="1"/>
          <p:nvPr/>
        </p:nvSpPr>
        <p:spPr>
          <a:xfrm>
            <a:off x="4518660" y="5935980"/>
            <a:ext cx="2575560" cy="544830"/>
          </a:xfrm>
          <a:prstGeom prst="rect">
            <a:avLst/>
          </a:prstGeom>
          <a:noFill/>
        </p:spPr>
        <p:txBody>
          <a:bodyPr wrap="square" lIns="0" rIns="0" tIns="0" bIns="0" anchor="t">
            <a:spAutoFit/>
          </a:bodyPr>
          <a:lstStyle/>
          <a:p>
            <a:pPr algn="l">
              <a:lnSpc>
                <a:spcPct val="125000"/>
              </a:lnSpc>
            </a:pPr>
            <a:r>
              <a:rPr sz="1650" b="1" i="0">
                <a:solidFill>
                  <a:srgbClr val="CC2200"/>
                </a:solidFill>
                <a:latin typeface="Geist"/>
                <a:ea typeface="Geist"/>
                <a:cs typeface="Geist"/>
              </a:rPr>
              <a:t>•  </a:t>
            </a:r>
            <a:r>
              <a:rPr sz="1650" b="0" i="0">
                <a:solidFill>
                  <a:srgbClr val="F0E8E8"/>
                </a:solidFill>
                <a:latin typeface="Geist"/>
                <a:ea typeface="Geist"/>
                <a:cs typeface="Geist"/>
              </a:rPr>
              <a:t>Merge and a merge conflict</a:t>
            </a:r>
          </a:p>
        </p:txBody>
      </p:sp>
      <p:sp>
        <p:nvSpPr>
          <p:cNvPr id="19" name="TextBox 18"/>
          <p:cNvSpPr txBox="1"/>
          <p:nvPr/>
        </p:nvSpPr>
        <p:spPr>
          <a:xfrm>
            <a:off x="4518660" y="6633210"/>
            <a:ext cx="2575560" cy="544830"/>
          </a:xfrm>
          <a:prstGeom prst="rect">
            <a:avLst/>
          </a:prstGeom>
          <a:noFill/>
        </p:spPr>
        <p:txBody>
          <a:bodyPr wrap="square" lIns="0" rIns="0" tIns="0" bIns="0" anchor="t">
            <a:spAutoFit/>
          </a:bodyPr>
          <a:lstStyle/>
          <a:p>
            <a:pPr algn="l">
              <a:lnSpc>
                <a:spcPct val="125000"/>
              </a:lnSpc>
            </a:pPr>
            <a:r>
              <a:rPr sz="1650" b="1" i="0">
                <a:solidFill>
                  <a:srgbClr val="CC2200"/>
                </a:solidFill>
                <a:latin typeface="Geist"/>
                <a:ea typeface="Geist"/>
                <a:cs typeface="Geist"/>
              </a:rPr>
              <a:t>•  </a:t>
            </a:r>
            <a:r>
              <a:rPr sz="1650" b="0" i="0">
                <a:solidFill>
                  <a:srgbClr val="F0E8E8"/>
                </a:solidFill>
                <a:latin typeface="Geist"/>
                <a:ea typeface="Geist"/>
                <a:cs typeface="Geist"/>
              </a:rPr>
              <a:t>Rebase, push, pull, stash</a:t>
            </a:r>
          </a:p>
        </p:txBody>
      </p:sp>
      <p:sp>
        <p:nvSpPr>
          <p:cNvPr id="20" name="Rounded Rectangle 19"/>
          <p:cNvSpPr/>
          <p:nvPr/>
        </p:nvSpPr>
        <p:spPr>
          <a:xfrm>
            <a:off x="7589520" y="2857500"/>
            <a:ext cx="3108960" cy="5334000"/>
          </a:xfrm>
          <a:prstGeom prst="roundRect">
            <a:avLst>
              <a:gd name="adj" fmla="val 4901"/>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7856220" y="3143250"/>
            <a:ext cx="2575560" cy="857250"/>
          </a:xfrm>
          <a:prstGeom prst="rect">
            <a:avLst/>
          </a:prstGeom>
          <a:noFill/>
        </p:spPr>
        <p:txBody>
          <a:bodyPr wrap="square" lIns="0" rIns="0" tIns="0" bIns="0" anchor="t">
            <a:spAutoFit/>
          </a:bodyPr>
          <a:lstStyle/>
          <a:p>
            <a:pPr algn="l"/>
            <a:r>
              <a:rPr sz="5400" b="1" i="0">
                <a:solidFill>
                  <a:srgbClr val="CC2200"/>
                </a:solidFill>
                <a:latin typeface="Geist"/>
                <a:ea typeface="Geist"/>
                <a:cs typeface="Geist"/>
              </a:rPr>
              <a:t>8</a:t>
            </a:r>
          </a:p>
        </p:txBody>
      </p:sp>
      <p:sp>
        <p:nvSpPr>
          <p:cNvPr id="22" name="TextBox 21"/>
          <p:cNvSpPr txBox="1"/>
          <p:nvPr/>
        </p:nvSpPr>
        <p:spPr>
          <a:xfrm>
            <a:off x="7856220" y="4000500"/>
            <a:ext cx="2575560" cy="285750"/>
          </a:xfrm>
          <a:prstGeom prst="rect">
            <a:avLst/>
          </a:prstGeom>
          <a:noFill/>
        </p:spPr>
        <p:txBody>
          <a:bodyPr wrap="square" lIns="0" rIns="0" tIns="0" bIns="0" anchor="t">
            <a:spAutoFit/>
          </a:bodyPr>
          <a:lstStyle/>
          <a:p>
            <a:pPr algn="l"/>
            <a:r>
              <a:rPr sz="1350" b="1" i="0" spc="130">
                <a:solidFill>
                  <a:srgbClr val="9A7878"/>
                </a:solidFill>
                <a:latin typeface="Geist"/>
                <a:ea typeface="Geist"/>
                <a:cs typeface="Geist"/>
              </a:rPr>
              <a:t>CHECKPOINTS</a:t>
            </a:r>
          </a:p>
        </p:txBody>
      </p:sp>
      <p:sp>
        <p:nvSpPr>
          <p:cNvPr id="23" name="TextBox 22"/>
          <p:cNvSpPr txBox="1"/>
          <p:nvPr/>
        </p:nvSpPr>
        <p:spPr>
          <a:xfrm>
            <a:off x="7856220" y="4381500"/>
            <a:ext cx="2575560" cy="762000"/>
          </a:xfrm>
          <a:prstGeom prst="rect">
            <a:avLst/>
          </a:prstGeom>
          <a:noFill/>
        </p:spPr>
        <p:txBody>
          <a:bodyPr wrap="square" lIns="0" rIns="0" tIns="0" bIns="0" anchor="t">
            <a:spAutoFit/>
          </a:bodyPr>
          <a:lstStyle/>
          <a:p>
            <a:pPr algn="l">
              <a:lnSpc>
                <a:spcPct val="110000"/>
              </a:lnSpc>
            </a:pPr>
            <a:r>
              <a:rPr sz="2100" b="1" i="0">
                <a:solidFill>
                  <a:srgbClr val="F0E8E8"/>
                </a:solidFill>
                <a:latin typeface="Geist"/>
                <a:ea typeface="Geist"/>
                <a:cs typeface="Geist"/>
              </a:rPr>
              <a:t>AdvantageScope</a:t>
            </a:r>
          </a:p>
        </p:txBody>
      </p:sp>
      <p:sp>
        <p:nvSpPr>
          <p:cNvPr id="24" name="TextBox 23"/>
          <p:cNvSpPr txBox="1"/>
          <p:nvPr/>
        </p:nvSpPr>
        <p:spPr>
          <a:xfrm>
            <a:off x="7856220" y="5238750"/>
            <a:ext cx="2575560" cy="544830"/>
          </a:xfrm>
          <a:prstGeom prst="rect">
            <a:avLst/>
          </a:prstGeom>
          <a:noFill/>
        </p:spPr>
        <p:txBody>
          <a:bodyPr wrap="square" lIns="0" rIns="0" tIns="0" bIns="0" anchor="t">
            <a:spAutoFit/>
          </a:bodyPr>
          <a:lstStyle/>
          <a:p>
            <a:pPr algn="l">
              <a:lnSpc>
                <a:spcPct val="125000"/>
              </a:lnSpc>
            </a:pPr>
            <a:r>
              <a:rPr sz="1650" b="1" i="0">
                <a:solidFill>
                  <a:srgbClr val="CC2200"/>
                </a:solidFill>
                <a:latin typeface="Geist"/>
                <a:ea typeface="Geist"/>
                <a:cs typeface="Geist"/>
              </a:rPr>
              <a:t>•  </a:t>
            </a:r>
            <a:r>
              <a:rPr sz="1650" b="0" i="0">
                <a:solidFill>
                  <a:srgbClr val="F0E8E8"/>
                </a:solidFill>
                <a:latin typeface="Geist"/>
                <a:ea typeface="Geist"/>
                <a:cs typeface="Geist"/>
              </a:rPr>
              <a:t>Line graph, locked axis, differentiate</a:t>
            </a:r>
          </a:p>
        </p:txBody>
      </p:sp>
      <p:sp>
        <p:nvSpPr>
          <p:cNvPr id="25" name="TextBox 24"/>
          <p:cNvSpPr txBox="1"/>
          <p:nvPr/>
        </p:nvSpPr>
        <p:spPr>
          <a:xfrm>
            <a:off x="7856220" y="5935980"/>
            <a:ext cx="2575560" cy="544830"/>
          </a:xfrm>
          <a:prstGeom prst="rect">
            <a:avLst/>
          </a:prstGeom>
          <a:noFill/>
        </p:spPr>
        <p:txBody>
          <a:bodyPr wrap="square" lIns="0" rIns="0" tIns="0" bIns="0" anchor="t">
            <a:spAutoFit/>
          </a:bodyPr>
          <a:lstStyle/>
          <a:p>
            <a:pPr algn="l">
              <a:lnSpc>
                <a:spcPct val="125000"/>
              </a:lnSpc>
            </a:pPr>
            <a:r>
              <a:rPr sz="1650" b="1" i="0">
                <a:solidFill>
                  <a:srgbClr val="CC2200"/>
                </a:solidFill>
                <a:latin typeface="Geist"/>
                <a:ea typeface="Geist"/>
                <a:cs typeface="Geist"/>
              </a:rPr>
              <a:t>•  </a:t>
            </a:r>
            <a:r>
              <a:rPr sz="1650" b="0" i="0">
                <a:solidFill>
                  <a:srgbClr val="F0E8E8"/>
                </a:solidFill>
                <a:latin typeface="Geist"/>
                <a:ea typeface="Geist"/>
                <a:cs typeface="Geist"/>
              </a:rPr>
              <a:t>Discrete field, 2D and 3D field</a:t>
            </a:r>
          </a:p>
        </p:txBody>
      </p:sp>
      <p:sp>
        <p:nvSpPr>
          <p:cNvPr id="26" name="TextBox 25"/>
          <p:cNvSpPr txBox="1"/>
          <p:nvPr/>
        </p:nvSpPr>
        <p:spPr>
          <a:xfrm>
            <a:off x="7856220" y="6633210"/>
            <a:ext cx="2575560" cy="272415"/>
          </a:xfrm>
          <a:prstGeom prst="rect">
            <a:avLst/>
          </a:prstGeom>
          <a:noFill/>
        </p:spPr>
        <p:txBody>
          <a:bodyPr wrap="square" lIns="0" rIns="0" tIns="0" bIns="0" anchor="t">
            <a:spAutoFit/>
          </a:bodyPr>
          <a:lstStyle/>
          <a:p>
            <a:pPr algn="l">
              <a:lnSpc>
                <a:spcPct val="125000"/>
              </a:lnSpc>
            </a:pPr>
            <a:r>
              <a:rPr sz="1650" b="1" i="0">
                <a:solidFill>
                  <a:srgbClr val="CC2200"/>
                </a:solidFill>
                <a:latin typeface="Geist"/>
                <a:ea typeface="Geist"/>
                <a:cs typeface="Geist"/>
              </a:rPr>
              <a:t>•  </a:t>
            </a:r>
            <a:r>
              <a:rPr sz="1650" b="0" i="0">
                <a:solidFill>
                  <a:srgbClr val="F0E8E8"/>
                </a:solidFill>
                <a:latin typeface="Geist"/>
                <a:ea typeface="Geist"/>
                <a:cs typeface="Geist"/>
              </a:rPr>
              <a:t>Swerve tab, tuned value</a:t>
            </a:r>
          </a:p>
        </p:txBody>
      </p:sp>
      <p:sp>
        <p:nvSpPr>
          <p:cNvPr id="27" name="Rounded Rectangle 26"/>
          <p:cNvSpPr/>
          <p:nvPr/>
        </p:nvSpPr>
        <p:spPr>
          <a:xfrm>
            <a:off x="10927080" y="2857500"/>
            <a:ext cx="3108960" cy="5334000"/>
          </a:xfrm>
          <a:prstGeom prst="roundRect">
            <a:avLst>
              <a:gd name="adj" fmla="val 4901"/>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11193780" y="3143250"/>
            <a:ext cx="2575560" cy="857250"/>
          </a:xfrm>
          <a:prstGeom prst="rect">
            <a:avLst/>
          </a:prstGeom>
          <a:noFill/>
        </p:spPr>
        <p:txBody>
          <a:bodyPr wrap="square" lIns="0" rIns="0" tIns="0" bIns="0" anchor="t">
            <a:spAutoFit/>
          </a:bodyPr>
          <a:lstStyle/>
          <a:p>
            <a:pPr algn="l"/>
            <a:r>
              <a:rPr sz="5400" b="1" i="0">
                <a:solidFill>
                  <a:srgbClr val="CC2200"/>
                </a:solidFill>
                <a:latin typeface="Geist"/>
                <a:ea typeface="Geist"/>
                <a:cs typeface="Geist"/>
              </a:rPr>
              <a:t>19</a:t>
            </a:r>
          </a:p>
        </p:txBody>
      </p:sp>
      <p:sp>
        <p:nvSpPr>
          <p:cNvPr id="29" name="TextBox 28"/>
          <p:cNvSpPr txBox="1"/>
          <p:nvPr/>
        </p:nvSpPr>
        <p:spPr>
          <a:xfrm>
            <a:off x="11193780" y="4000500"/>
            <a:ext cx="2575560" cy="285750"/>
          </a:xfrm>
          <a:prstGeom prst="rect">
            <a:avLst/>
          </a:prstGeom>
          <a:noFill/>
        </p:spPr>
        <p:txBody>
          <a:bodyPr wrap="square" lIns="0" rIns="0" tIns="0" bIns="0" anchor="t">
            <a:spAutoFit/>
          </a:bodyPr>
          <a:lstStyle/>
          <a:p>
            <a:pPr algn="l"/>
            <a:r>
              <a:rPr sz="1350" b="1" i="0" spc="130">
                <a:solidFill>
                  <a:srgbClr val="9A7878"/>
                </a:solidFill>
                <a:latin typeface="Geist"/>
                <a:ea typeface="Geist"/>
                <a:cs typeface="Geist"/>
              </a:rPr>
              <a:t>CHECKPOINTS</a:t>
            </a:r>
          </a:p>
        </p:txBody>
      </p:sp>
      <p:sp>
        <p:nvSpPr>
          <p:cNvPr id="30" name="TextBox 29"/>
          <p:cNvSpPr txBox="1"/>
          <p:nvPr/>
        </p:nvSpPr>
        <p:spPr>
          <a:xfrm>
            <a:off x="11193780" y="4381500"/>
            <a:ext cx="2575560" cy="762000"/>
          </a:xfrm>
          <a:prstGeom prst="rect">
            <a:avLst/>
          </a:prstGeom>
          <a:noFill/>
        </p:spPr>
        <p:txBody>
          <a:bodyPr wrap="square" lIns="0" rIns="0" tIns="0" bIns="0" anchor="t">
            <a:spAutoFit/>
          </a:bodyPr>
          <a:lstStyle/>
          <a:p>
            <a:pPr algn="l">
              <a:lnSpc>
                <a:spcPct val="110000"/>
              </a:lnSpc>
            </a:pPr>
            <a:r>
              <a:rPr sz="2250" b="1" i="0">
                <a:solidFill>
                  <a:srgbClr val="F0E8E8"/>
                </a:solidFill>
                <a:latin typeface="Geist"/>
                <a:ea typeface="Geist"/>
                <a:cs typeface="Geist"/>
              </a:rPr>
              <a:t>Elastic</a:t>
            </a:r>
          </a:p>
        </p:txBody>
      </p:sp>
      <p:sp>
        <p:nvSpPr>
          <p:cNvPr id="31" name="TextBox 30"/>
          <p:cNvSpPr txBox="1"/>
          <p:nvPr/>
        </p:nvSpPr>
        <p:spPr>
          <a:xfrm>
            <a:off x="11193780" y="5238750"/>
            <a:ext cx="2575560" cy="272415"/>
          </a:xfrm>
          <a:prstGeom prst="rect">
            <a:avLst/>
          </a:prstGeom>
          <a:noFill/>
        </p:spPr>
        <p:txBody>
          <a:bodyPr wrap="square" lIns="0" rIns="0" tIns="0" bIns="0" anchor="t">
            <a:spAutoFit/>
          </a:bodyPr>
          <a:lstStyle/>
          <a:p>
            <a:pPr algn="l">
              <a:lnSpc>
                <a:spcPct val="125000"/>
              </a:lnSpc>
            </a:pPr>
            <a:r>
              <a:rPr sz="1650" b="1" i="0">
                <a:solidFill>
                  <a:srgbClr val="CC2200"/>
                </a:solidFill>
                <a:latin typeface="Geist"/>
                <a:ea typeface="Geist"/>
                <a:cs typeface="Geist"/>
              </a:rPr>
              <a:t>•  </a:t>
            </a:r>
            <a:r>
              <a:rPr sz="1650" b="0" i="0">
                <a:solidFill>
                  <a:srgbClr val="F0E8E8"/>
                </a:solidFill>
                <a:latin typeface="Geist"/>
                <a:ea typeface="Geist"/>
                <a:cs typeface="Geist"/>
              </a:rPr>
              <a:t>Ten display widgets</a:t>
            </a:r>
          </a:p>
        </p:txBody>
      </p:sp>
      <p:sp>
        <p:nvSpPr>
          <p:cNvPr id="32" name="TextBox 31"/>
          <p:cNvSpPr txBox="1"/>
          <p:nvPr/>
        </p:nvSpPr>
        <p:spPr>
          <a:xfrm>
            <a:off x="11193780" y="5663565"/>
            <a:ext cx="2575560" cy="544830"/>
          </a:xfrm>
          <a:prstGeom prst="rect">
            <a:avLst/>
          </a:prstGeom>
          <a:noFill/>
        </p:spPr>
        <p:txBody>
          <a:bodyPr wrap="square" lIns="0" rIns="0" tIns="0" bIns="0" anchor="t">
            <a:spAutoFit/>
          </a:bodyPr>
          <a:lstStyle/>
          <a:p>
            <a:pPr algn="l">
              <a:lnSpc>
                <a:spcPct val="125000"/>
              </a:lnSpc>
            </a:pPr>
            <a:r>
              <a:rPr sz="1650" b="1" i="0">
                <a:solidFill>
                  <a:srgbClr val="CC2200"/>
                </a:solidFill>
                <a:latin typeface="Geist"/>
                <a:ea typeface="Geist"/>
                <a:cs typeface="Geist"/>
              </a:rPr>
              <a:t>•  </a:t>
            </a:r>
            <a:r>
              <a:rPr sz="1650" b="0" i="0">
                <a:solidFill>
                  <a:srgbClr val="F0E8E8"/>
                </a:solidFill>
                <a:latin typeface="Geist"/>
                <a:ea typeface="Geist"/>
                <a:cs typeface="Geist"/>
              </a:rPr>
              <a:t>Sliders, choosers and toggles</a:t>
            </a:r>
          </a:p>
        </p:txBody>
      </p:sp>
      <p:sp>
        <p:nvSpPr>
          <p:cNvPr id="33" name="TextBox 32"/>
          <p:cNvSpPr txBox="1"/>
          <p:nvPr/>
        </p:nvSpPr>
        <p:spPr>
          <a:xfrm>
            <a:off x="11193780" y="6360795"/>
            <a:ext cx="2575560" cy="544830"/>
          </a:xfrm>
          <a:prstGeom prst="rect">
            <a:avLst/>
          </a:prstGeom>
          <a:noFill/>
        </p:spPr>
        <p:txBody>
          <a:bodyPr wrap="square" lIns="0" rIns="0" tIns="0" bIns="0" anchor="t">
            <a:spAutoFit/>
          </a:bodyPr>
          <a:lstStyle/>
          <a:p>
            <a:pPr algn="l">
              <a:lnSpc>
                <a:spcPct val="125000"/>
              </a:lnSpc>
            </a:pPr>
            <a:r>
              <a:rPr sz="1650" b="1" i="0">
                <a:solidFill>
                  <a:srgbClr val="CC2200"/>
                </a:solidFill>
                <a:latin typeface="Geist"/>
                <a:ea typeface="Geist"/>
                <a:cs typeface="Geist"/>
              </a:rPr>
              <a:t>•  </a:t>
            </a:r>
            <a:r>
              <a:rPr sz="1650" b="0" i="0">
                <a:solidFill>
                  <a:srgbClr val="F0E8E8"/>
                </a:solidFill>
                <a:latin typeface="Geist"/>
                <a:ea typeface="Geist"/>
                <a:cs typeface="Geist"/>
              </a:rPr>
              <a:t>Live writes to the robot</a:t>
            </a:r>
          </a:p>
        </p:txBody>
      </p:sp>
      <p:sp>
        <p:nvSpPr>
          <p:cNvPr id="34" name="Rounded Rectangle 33"/>
          <p:cNvSpPr/>
          <p:nvPr/>
        </p:nvSpPr>
        <p:spPr>
          <a:xfrm>
            <a:off x="14264640" y="2857500"/>
            <a:ext cx="3108960" cy="5334000"/>
          </a:xfrm>
          <a:prstGeom prst="roundRect">
            <a:avLst>
              <a:gd name="adj" fmla="val 4901"/>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14531340" y="3143250"/>
            <a:ext cx="2575560" cy="857250"/>
          </a:xfrm>
          <a:prstGeom prst="rect">
            <a:avLst/>
          </a:prstGeom>
          <a:noFill/>
        </p:spPr>
        <p:txBody>
          <a:bodyPr wrap="square" lIns="0" rIns="0" tIns="0" bIns="0" anchor="t">
            <a:spAutoFit/>
          </a:bodyPr>
          <a:lstStyle/>
          <a:p>
            <a:pPr algn="l"/>
            <a:r>
              <a:rPr sz="5400" b="1" i="0">
                <a:solidFill>
                  <a:srgbClr val="CC2200"/>
                </a:solidFill>
                <a:latin typeface="Geist"/>
                <a:ea typeface="Geist"/>
                <a:cs typeface="Geist"/>
              </a:rPr>
              <a:t>4</a:t>
            </a:r>
          </a:p>
        </p:txBody>
      </p:sp>
      <p:sp>
        <p:nvSpPr>
          <p:cNvPr id="36" name="TextBox 35"/>
          <p:cNvSpPr txBox="1"/>
          <p:nvPr/>
        </p:nvSpPr>
        <p:spPr>
          <a:xfrm>
            <a:off x="14531340" y="4000500"/>
            <a:ext cx="2575560" cy="285750"/>
          </a:xfrm>
          <a:prstGeom prst="rect">
            <a:avLst/>
          </a:prstGeom>
          <a:noFill/>
        </p:spPr>
        <p:txBody>
          <a:bodyPr wrap="square" lIns="0" rIns="0" tIns="0" bIns="0" anchor="t">
            <a:spAutoFit/>
          </a:bodyPr>
          <a:lstStyle/>
          <a:p>
            <a:pPr algn="l"/>
            <a:r>
              <a:rPr sz="1350" b="1" i="0" spc="130">
                <a:solidFill>
                  <a:srgbClr val="9A7878"/>
                </a:solidFill>
                <a:latin typeface="Geist"/>
                <a:ea typeface="Geist"/>
                <a:cs typeface="Geist"/>
              </a:rPr>
              <a:t>CHECKPOINTS</a:t>
            </a:r>
          </a:p>
        </p:txBody>
      </p:sp>
      <p:sp>
        <p:nvSpPr>
          <p:cNvPr id="37" name="TextBox 36"/>
          <p:cNvSpPr txBox="1"/>
          <p:nvPr/>
        </p:nvSpPr>
        <p:spPr>
          <a:xfrm>
            <a:off x="14531340" y="4381500"/>
            <a:ext cx="2575560" cy="762000"/>
          </a:xfrm>
          <a:prstGeom prst="rect">
            <a:avLst/>
          </a:prstGeom>
          <a:noFill/>
        </p:spPr>
        <p:txBody>
          <a:bodyPr wrap="square" lIns="0" rIns="0" tIns="0" bIns="0" anchor="t">
            <a:spAutoFit/>
          </a:bodyPr>
          <a:lstStyle/>
          <a:p>
            <a:pPr algn="l">
              <a:lnSpc>
                <a:spcPct val="110000"/>
              </a:lnSpc>
            </a:pPr>
            <a:r>
              <a:rPr sz="2250" b="1" i="0">
                <a:solidFill>
                  <a:srgbClr val="F0E8E8"/>
                </a:solidFill>
                <a:latin typeface="Geist"/>
                <a:ea typeface="Geist"/>
                <a:cs typeface="Geist"/>
              </a:rPr>
              <a:t>Choreo</a:t>
            </a:r>
          </a:p>
        </p:txBody>
      </p:sp>
      <p:sp>
        <p:nvSpPr>
          <p:cNvPr id="38" name="TextBox 37"/>
          <p:cNvSpPr txBox="1"/>
          <p:nvPr/>
        </p:nvSpPr>
        <p:spPr>
          <a:xfrm>
            <a:off x="14531340" y="5238750"/>
            <a:ext cx="2575560" cy="272415"/>
          </a:xfrm>
          <a:prstGeom prst="rect">
            <a:avLst/>
          </a:prstGeom>
          <a:noFill/>
        </p:spPr>
        <p:txBody>
          <a:bodyPr wrap="square" lIns="0" rIns="0" tIns="0" bIns="0" anchor="t">
            <a:spAutoFit/>
          </a:bodyPr>
          <a:lstStyle/>
          <a:p>
            <a:pPr algn="l">
              <a:lnSpc>
                <a:spcPct val="125000"/>
              </a:lnSpc>
            </a:pPr>
            <a:r>
              <a:rPr sz="1650" b="1" i="0">
                <a:solidFill>
                  <a:srgbClr val="CC2200"/>
                </a:solidFill>
                <a:latin typeface="Geist"/>
                <a:ea typeface="Geist"/>
                <a:cs typeface="Geist"/>
              </a:rPr>
              <a:t>•  </a:t>
            </a:r>
            <a:r>
              <a:rPr sz="1650" b="0" i="0">
                <a:solidFill>
                  <a:srgbClr val="F0E8E8"/>
                </a:solidFill>
                <a:latin typeface="Geist"/>
                <a:ea typeface="Geist"/>
                <a:cs typeface="Geist"/>
              </a:rPr>
              <a:t>Waypoints on two paths</a:t>
            </a:r>
          </a:p>
        </p:txBody>
      </p:sp>
      <p:sp>
        <p:nvSpPr>
          <p:cNvPr id="39" name="TextBox 38"/>
          <p:cNvSpPr txBox="1"/>
          <p:nvPr/>
        </p:nvSpPr>
        <p:spPr>
          <a:xfrm>
            <a:off x="14531340" y="5663565"/>
            <a:ext cx="2575560" cy="272415"/>
          </a:xfrm>
          <a:prstGeom prst="rect">
            <a:avLst/>
          </a:prstGeom>
          <a:noFill/>
        </p:spPr>
        <p:txBody>
          <a:bodyPr wrap="square" lIns="0" rIns="0" tIns="0" bIns="0" anchor="t">
            <a:spAutoFit/>
          </a:bodyPr>
          <a:lstStyle/>
          <a:p>
            <a:pPr algn="l">
              <a:lnSpc>
                <a:spcPct val="125000"/>
              </a:lnSpc>
            </a:pPr>
            <a:r>
              <a:rPr sz="1650" b="1" i="0">
                <a:solidFill>
                  <a:srgbClr val="CC2200"/>
                </a:solidFill>
                <a:latin typeface="Geist"/>
                <a:ea typeface="Geist"/>
                <a:cs typeface="Geist"/>
              </a:rPr>
              <a:t>•  </a:t>
            </a:r>
            <a:r>
              <a:rPr sz="1650" b="0" i="0">
                <a:solidFill>
                  <a:srgbClr val="F0E8E8"/>
                </a:solidFill>
                <a:latin typeface="Geist"/>
                <a:ea typeface="Geist"/>
                <a:cs typeface="Geist"/>
              </a:rPr>
              <a:t>A real constraint</a:t>
            </a:r>
          </a:p>
        </p:txBody>
      </p:sp>
      <p:sp>
        <p:nvSpPr>
          <p:cNvPr id="40" name="TextBox 39"/>
          <p:cNvSpPr txBox="1"/>
          <p:nvPr/>
        </p:nvSpPr>
        <p:spPr>
          <a:xfrm>
            <a:off x="14531340" y="6088380"/>
            <a:ext cx="2575560" cy="272415"/>
          </a:xfrm>
          <a:prstGeom prst="rect">
            <a:avLst/>
          </a:prstGeom>
          <a:noFill/>
        </p:spPr>
        <p:txBody>
          <a:bodyPr wrap="square" lIns="0" rIns="0" tIns="0" bIns="0" anchor="t">
            <a:spAutoFit/>
          </a:bodyPr>
          <a:lstStyle/>
          <a:p>
            <a:pPr algn="l">
              <a:lnSpc>
                <a:spcPct val="125000"/>
              </a:lnSpc>
            </a:pPr>
            <a:r>
              <a:rPr sz="1650" b="1" i="0">
                <a:solidFill>
                  <a:srgbClr val="CC2200"/>
                </a:solidFill>
                <a:latin typeface="Geist"/>
                <a:ea typeface="Geist"/>
                <a:cs typeface="Geist"/>
              </a:rPr>
              <a:t>•  </a:t>
            </a:r>
            <a:r>
              <a:rPr sz="1650" b="0" i="0">
                <a:solidFill>
                  <a:srgbClr val="F0E8E8"/>
                </a:solidFill>
                <a:latin typeface="Geist"/>
                <a:ea typeface="Geist"/>
                <a:cs typeface="Geist"/>
              </a:rPr>
              <a:t>Both paths generate</a:t>
            </a:r>
          </a:p>
        </p:txBody>
      </p:sp>
      <p:sp>
        <p:nvSpPr>
          <p:cNvPr id="41" name="TextBox 40"/>
          <p:cNvSpPr txBox="1"/>
          <p:nvPr/>
        </p:nvSpPr>
        <p:spPr>
          <a:xfrm>
            <a:off x="914400" y="8572500"/>
            <a:ext cx="16459200" cy="381000"/>
          </a:xfrm>
          <a:prstGeom prst="rect">
            <a:avLst/>
          </a:prstGeom>
          <a:noFill/>
        </p:spPr>
        <p:txBody>
          <a:bodyPr wrap="square" lIns="0" rIns="0" tIns="0" bIns="0" anchor="t">
            <a:spAutoFit/>
          </a:bodyPr>
          <a:lstStyle/>
          <a:p>
            <a:pPr algn="l"/>
            <a:r>
              <a:rPr sz="1950" b="0" i="0">
                <a:solidFill>
                  <a:srgbClr val="9A7878"/>
                </a:solidFill>
                <a:latin typeface="Geist"/>
                <a:ea typeface="Geist"/>
                <a:cs typeface="Geist"/>
              </a:rPr>
              <a:t>In Scriptum: </a:t>
            </a:r>
            <a:r>
              <a:rPr sz="1950" b="1" i="0">
                <a:solidFill>
                  <a:srgbClr val="F0E8E8"/>
                </a:solidFill>
                <a:latin typeface="Geist"/>
                <a:ea typeface="Geist"/>
                <a:cs typeface="Geist"/>
              </a:rPr>
              <a:t>Tools track</a:t>
            </a:r>
            <a:r>
              <a:rPr sz="1950" b="0" i="0">
                <a:solidFill>
                  <a:srgbClr val="9A7878"/>
                </a:solidFill>
                <a:latin typeface="Geist"/>
                <a:ea typeface="Geist"/>
                <a:cs typeface="Geist"/>
              </a:rPr>
              <a:t>  ·  open the lesson chip and press Verify</a:t>
            </a:r>
          </a:p>
        </p:txBody>
      </p:sp>
      <p:pic>
        <p:nvPicPr>
          <p:cNvPr id="42" name="Picture 41" descr="mw_logo_small.png"/>
          <p:cNvPicPr>
            <a:picLocks noChangeAspect="1"/>
          </p:cNvPicPr>
          <p:nvPr/>
        </p:nvPicPr>
        <p:blipFill>
          <a:blip r:embed="rId4"/>
          <a:stretch>
            <a:fillRect/>
          </a:stretch>
        </p:blipFill>
        <p:spPr>
          <a:xfrm>
            <a:off x="914400" y="9410700"/>
            <a:ext cx="583564" cy="495300"/>
          </a:xfrm>
          <a:prstGeom prst="rect">
            <a:avLst/>
          </a:prstGeom>
        </p:spPr>
      </p:pic>
      <p:sp>
        <p:nvSpPr>
          <p:cNvPr id="43" name="TextBox 42"/>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44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RECAP</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What you can do now</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 name="Picture 4" descr="check-circle-fill.png"/>
          <p:cNvPicPr>
            <a:picLocks noChangeAspect="1"/>
          </p:cNvPicPr>
          <p:nvPr/>
        </p:nvPicPr>
        <p:blipFill>
          <a:blip r:embed="rId3"/>
          <a:stretch>
            <a:fillRect/>
          </a:stretch>
        </p:blipFill>
        <p:spPr>
          <a:xfrm>
            <a:off x="914400" y="2895600"/>
            <a:ext cx="381000" cy="381000"/>
          </a:xfrm>
          <a:prstGeom prst="rect">
            <a:avLst/>
          </a:prstGeom>
        </p:spPr>
      </p:pic>
      <p:sp>
        <p:nvSpPr>
          <p:cNvPr id="6" name="TextBox 5"/>
          <p:cNvSpPr txBox="1"/>
          <p:nvPr/>
        </p:nvSpPr>
        <p:spPr>
          <a:xfrm>
            <a:off x="1524000" y="2857500"/>
            <a:ext cx="9525000" cy="476250"/>
          </a:xfrm>
          <a:prstGeom prst="rect">
            <a:avLst/>
          </a:prstGeom>
          <a:noFill/>
        </p:spPr>
        <p:txBody>
          <a:bodyPr wrap="square" lIns="0" rIns="0" tIns="0" bIns="0" anchor="t">
            <a:spAutoFit/>
          </a:bodyPr>
          <a:lstStyle/>
          <a:p>
            <a:pPr algn="l"/>
            <a:r>
              <a:rPr sz="2400" b="0" i="0">
                <a:solidFill>
                  <a:srgbClr val="F0E8E8"/>
                </a:solidFill>
                <a:latin typeface="Geist"/>
                <a:ea typeface="Geist"/>
                <a:cs typeface="Geist"/>
              </a:rPr>
              <a:t>Find your way around the editor and run a program</a:t>
            </a:r>
          </a:p>
        </p:txBody>
      </p:sp>
      <p:pic>
        <p:nvPicPr>
          <p:cNvPr id="7" name="Picture 6" descr="check-circle-fill.png"/>
          <p:cNvPicPr>
            <a:picLocks noChangeAspect="1"/>
          </p:cNvPicPr>
          <p:nvPr/>
        </p:nvPicPr>
        <p:blipFill>
          <a:blip r:embed="rId3"/>
          <a:stretch>
            <a:fillRect/>
          </a:stretch>
        </p:blipFill>
        <p:spPr>
          <a:xfrm>
            <a:off x="914400" y="3771900"/>
            <a:ext cx="381000" cy="381000"/>
          </a:xfrm>
          <a:prstGeom prst="rect">
            <a:avLst/>
          </a:prstGeom>
        </p:spPr>
      </p:pic>
      <p:sp>
        <p:nvSpPr>
          <p:cNvPr id="8" name="TextBox 7"/>
          <p:cNvSpPr txBox="1"/>
          <p:nvPr/>
        </p:nvSpPr>
        <p:spPr>
          <a:xfrm>
            <a:off x="1524000" y="3733800"/>
            <a:ext cx="9525000" cy="476250"/>
          </a:xfrm>
          <a:prstGeom prst="rect">
            <a:avLst/>
          </a:prstGeom>
          <a:noFill/>
        </p:spPr>
        <p:txBody>
          <a:bodyPr wrap="square" lIns="0" rIns="0" tIns="0" bIns="0" anchor="t">
            <a:spAutoFit/>
          </a:bodyPr>
          <a:lstStyle/>
          <a:p>
            <a:pPr algn="l"/>
            <a:r>
              <a:rPr sz="2400" b="0" i="0">
                <a:solidFill>
                  <a:srgbClr val="F0E8E8"/>
                </a:solidFill>
                <a:latin typeface="Geist"/>
                <a:ea typeface="Geist"/>
                <a:cs typeface="Geist"/>
              </a:rPr>
              <a:t>Commit, branch, merge and resolve a conflict</a:t>
            </a:r>
          </a:p>
        </p:txBody>
      </p:sp>
      <p:pic>
        <p:nvPicPr>
          <p:cNvPr id="9" name="Picture 8" descr="check-circle-fill.png"/>
          <p:cNvPicPr>
            <a:picLocks noChangeAspect="1"/>
          </p:cNvPicPr>
          <p:nvPr/>
        </p:nvPicPr>
        <p:blipFill>
          <a:blip r:embed="rId3"/>
          <a:stretch>
            <a:fillRect/>
          </a:stretch>
        </p:blipFill>
        <p:spPr>
          <a:xfrm>
            <a:off x="914400" y="4648200"/>
            <a:ext cx="381000" cy="381000"/>
          </a:xfrm>
          <a:prstGeom prst="rect">
            <a:avLst/>
          </a:prstGeom>
        </p:spPr>
      </p:pic>
      <p:sp>
        <p:nvSpPr>
          <p:cNvPr id="10" name="TextBox 9"/>
          <p:cNvSpPr txBox="1"/>
          <p:nvPr/>
        </p:nvSpPr>
        <p:spPr>
          <a:xfrm>
            <a:off x="1524000" y="4610100"/>
            <a:ext cx="9525000" cy="476250"/>
          </a:xfrm>
          <a:prstGeom prst="rect">
            <a:avLst/>
          </a:prstGeom>
          <a:noFill/>
        </p:spPr>
        <p:txBody>
          <a:bodyPr wrap="square" lIns="0" rIns="0" tIns="0" bIns="0" anchor="t">
            <a:spAutoFit/>
          </a:bodyPr>
          <a:lstStyle/>
          <a:p>
            <a:pPr algn="l"/>
            <a:r>
              <a:rPr sz="2400" b="0" i="0">
                <a:solidFill>
                  <a:srgbClr val="F0E8E8"/>
                </a:solidFill>
                <a:latin typeface="Geist"/>
                <a:ea typeface="Geist"/>
                <a:cs typeface="Geist"/>
              </a:rPr>
              <a:t>Push and pull with the team's GitHub</a:t>
            </a:r>
          </a:p>
        </p:txBody>
      </p:sp>
      <p:pic>
        <p:nvPicPr>
          <p:cNvPr id="11" name="Picture 10" descr="check-circle-fill.png"/>
          <p:cNvPicPr>
            <a:picLocks noChangeAspect="1"/>
          </p:cNvPicPr>
          <p:nvPr/>
        </p:nvPicPr>
        <p:blipFill>
          <a:blip r:embed="rId3"/>
          <a:stretch>
            <a:fillRect/>
          </a:stretch>
        </p:blipFill>
        <p:spPr>
          <a:xfrm>
            <a:off x="914400" y="5524500"/>
            <a:ext cx="381000" cy="381000"/>
          </a:xfrm>
          <a:prstGeom prst="rect">
            <a:avLst/>
          </a:prstGeom>
        </p:spPr>
      </p:pic>
      <p:sp>
        <p:nvSpPr>
          <p:cNvPr id="12" name="TextBox 11"/>
          <p:cNvSpPr txBox="1"/>
          <p:nvPr/>
        </p:nvSpPr>
        <p:spPr>
          <a:xfrm>
            <a:off x="1524000" y="5486400"/>
            <a:ext cx="9525000" cy="476250"/>
          </a:xfrm>
          <a:prstGeom prst="rect">
            <a:avLst/>
          </a:prstGeom>
          <a:noFill/>
        </p:spPr>
        <p:txBody>
          <a:bodyPr wrap="square" lIns="0" rIns="0" tIns="0" bIns="0" anchor="t">
            <a:spAutoFit/>
          </a:bodyPr>
          <a:lstStyle/>
          <a:p>
            <a:pPr algn="l"/>
            <a:r>
              <a:rPr sz="2400" b="0" i="0">
                <a:solidFill>
                  <a:srgbClr val="F0E8E8"/>
                </a:solidFill>
                <a:latin typeface="Geist"/>
                <a:ea typeface="Geist"/>
                <a:cs typeface="Geist"/>
              </a:rPr>
              <a:t>Read robot telemetry in AdvantageScope</a:t>
            </a:r>
          </a:p>
        </p:txBody>
      </p:sp>
      <p:pic>
        <p:nvPicPr>
          <p:cNvPr id="13" name="Picture 12" descr="check-circle-fill.png"/>
          <p:cNvPicPr>
            <a:picLocks noChangeAspect="1"/>
          </p:cNvPicPr>
          <p:nvPr/>
        </p:nvPicPr>
        <p:blipFill>
          <a:blip r:embed="rId3"/>
          <a:stretch>
            <a:fillRect/>
          </a:stretch>
        </p:blipFill>
        <p:spPr>
          <a:xfrm>
            <a:off x="914400" y="6400800"/>
            <a:ext cx="381000" cy="381000"/>
          </a:xfrm>
          <a:prstGeom prst="rect">
            <a:avLst/>
          </a:prstGeom>
        </p:spPr>
      </p:pic>
      <p:sp>
        <p:nvSpPr>
          <p:cNvPr id="14" name="TextBox 13"/>
          <p:cNvSpPr txBox="1"/>
          <p:nvPr/>
        </p:nvSpPr>
        <p:spPr>
          <a:xfrm>
            <a:off x="1524000" y="6362700"/>
            <a:ext cx="9525000" cy="476250"/>
          </a:xfrm>
          <a:prstGeom prst="rect">
            <a:avLst/>
          </a:prstGeom>
          <a:noFill/>
        </p:spPr>
        <p:txBody>
          <a:bodyPr wrap="square" lIns="0" rIns="0" tIns="0" bIns="0" anchor="t">
            <a:spAutoFit/>
          </a:bodyPr>
          <a:lstStyle/>
          <a:p>
            <a:pPr algn="l"/>
            <a:r>
              <a:rPr sz="2400" b="0" i="0">
                <a:solidFill>
                  <a:srgbClr val="F0E8E8"/>
                </a:solidFill>
                <a:latin typeface="Geist"/>
                <a:ea typeface="Geist"/>
                <a:cs typeface="Geist"/>
              </a:rPr>
              <a:t>Build a driver dashboard in Elastic</a:t>
            </a:r>
          </a:p>
        </p:txBody>
      </p:sp>
      <p:pic>
        <p:nvPicPr>
          <p:cNvPr id="15" name="Picture 14" descr="check-circle-fill.png"/>
          <p:cNvPicPr>
            <a:picLocks noChangeAspect="1"/>
          </p:cNvPicPr>
          <p:nvPr/>
        </p:nvPicPr>
        <p:blipFill>
          <a:blip r:embed="rId3"/>
          <a:stretch>
            <a:fillRect/>
          </a:stretch>
        </p:blipFill>
        <p:spPr>
          <a:xfrm>
            <a:off x="914400" y="7277100"/>
            <a:ext cx="381000" cy="381000"/>
          </a:xfrm>
          <a:prstGeom prst="rect">
            <a:avLst/>
          </a:prstGeom>
        </p:spPr>
      </p:pic>
      <p:sp>
        <p:nvSpPr>
          <p:cNvPr id="16" name="TextBox 15"/>
          <p:cNvSpPr txBox="1"/>
          <p:nvPr/>
        </p:nvSpPr>
        <p:spPr>
          <a:xfrm>
            <a:off x="1524000" y="7239000"/>
            <a:ext cx="9525000" cy="476250"/>
          </a:xfrm>
          <a:prstGeom prst="rect">
            <a:avLst/>
          </a:prstGeom>
          <a:noFill/>
        </p:spPr>
        <p:txBody>
          <a:bodyPr wrap="square" lIns="0" rIns="0" tIns="0" bIns="0" anchor="t">
            <a:spAutoFit/>
          </a:bodyPr>
          <a:lstStyle/>
          <a:p>
            <a:pPr algn="l"/>
            <a:r>
              <a:rPr sz="2400" b="0" i="0">
                <a:solidFill>
                  <a:srgbClr val="F0E8E8"/>
                </a:solidFill>
                <a:latin typeface="Geist"/>
                <a:ea typeface="Geist"/>
                <a:cs typeface="Geist"/>
              </a:rPr>
              <a:t>Plan and generate a Choreo path</a:t>
            </a:r>
          </a:p>
        </p:txBody>
      </p:sp>
      <p:sp>
        <p:nvSpPr>
          <p:cNvPr id="17" name="Rounded Rectangle 16"/>
          <p:cNvSpPr/>
          <p:nvPr/>
        </p:nvSpPr>
        <p:spPr>
          <a:xfrm>
            <a:off x="12039600" y="2857500"/>
            <a:ext cx="5334000" cy="5524500"/>
          </a:xfrm>
          <a:prstGeom prst="roundRect">
            <a:avLst>
              <a:gd name="adj" fmla="val 2857"/>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12496800" y="3276600"/>
            <a:ext cx="43815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NEXT UP</a:t>
            </a:r>
          </a:p>
        </p:txBody>
      </p:sp>
      <p:pic>
        <p:nvPicPr>
          <p:cNvPr id="19" name="Picture 18" descr="code-slash.png"/>
          <p:cNvPicPr>
            <a:picLocks noChangeAspect="1"/>
          </p:cNvPicPr>
          <p:nvPr/>
        </p:nvPicPr>
        <p:blipFill>
          <a:blip r:embed="rId4"/>
          <a:stretch>
            <a:fillRect/>
          </a:stretch>
        </p:blipFill>
        <p:spPr>
          <a:xfrm>
            <a:off x="12496800" y="3810000"/>
            <a:ext cx="571500" cy="533400"/>
          </a:xfrm>
          <a:prstGeom prst="rect">
            <a:avLst/>
          </a:prstGeom>
        </p:spPr>
      </p:pic>
      <p:sp>
        <p:nvSpPr>
          <p:cNvPr id="20" name="TextBox 19"/>
          <p:cNvSpPr txBox="1"/>
          <p:nvPr/>
        </p:nvSpPr>
        <p:spPr>
          <a:xfrm>
            <a:off x="12496800" y="4572000"/>
            <a:ext cx="4476750" cy="1143000"/>
          </a:xfrm>
          <a:prstGeom prst="rect">
            <a:avLst/>
          </a:prstGeom>
          <a:noFill/>
        </p:spPr>
        <p:txBody>
          <a:bodyPr wrap="square" lIns="0" rIns="0" tIns="0" bIns="0" anchor="t">
            <a:spAutoFit/>
          </a:bodyPr>
          <a:lstStyle/>
          <a:p>
            <a:pPr algn="l">
              <a:lnSpc>
                <a:spcPct val="110000"/>
              </a:lnSpc>
            </a:pPr>
            <a:r>
              <a:rPr sz="3000" b="1" i="0">
                <a:solidFill>
                  <a:srgbClr val="F0E8E8"/>
                </a:solidFill>
                <a:latin typeface="Geist"/>
                <a:ea typeface="Geist"/>
                <a:cs typeface="Geist"/>
              </a:rPr>
              <a:t>Motors and Drivetrains</a:t>
            </a:r>
          </a:p>
        </p:txBody>
      </p:sp>
      <p:sp>
        <p:nvSpPr>
          <p:cNvPr id="21" name="TextBox 20"/>
          <p:cNvSpPr txBox="1"/>
          <p:nvPr/>
        </p:nvSpPr>
        <p:spPr>
          <a:xfrm>
            <a:off x="12496800" y="5810250"/>
            <a:ext cx="4476750" cy="1714500"/>
          </a:xfrm>
          <a:prstGeom prst="rect">
            <a:avLst/>
          </a:prstGeom>
          <a:noFill/>
        </p:spPr>
        <p:txBody>
          <a:bodyPr wrap="square" lIns="0" rIns="0" tIns="0" bIns="0" anchor="t">
            <a:spAutoFit/>
          </a:bodyPr>
          <a:lstStyle/>
          <a:p>
            <a:pPr algn="l">
              <a:lnSpc>
                <a:spcPct val="130000"/>
              </a:lnSpc>
            </a:pPr>
            <a:r>
              <a:rPr sz="1950" b="0" i="0">
                <a:solidFill>
                  <a:srgbClr val="9A7878"/>
                </a:solidFill>
                <a:latin typeface="Geist"/>
                <a:ea typeface="Geist"/>
                <a:cs typeface="Geist"/>
              </a:rPr>
              <a:t>The first FRC Robot lesson: tank drive, then arcade drive.</a:t>
            </a:r>
          </a:p>
        </p:txBody>
      </p:sp>
      <p:pic>
        <p:nvPicPr>
          <p:cNvPr id="22" name="Picture 21" descr="dozer.png"/>
          <p:cNvPicPr>
            <a:picLocks noChangeAspect="1"/>
          </p:cNvPicPr>
          <p:nvPr/>
        </p:nvPicPr>
        <p:blipFill>
          <a:blip r:embed="rId5"/>
          <a:stretch>
            <a:fillRect/>
          </a:stretch>
        </p:blipFill>
        <p:spPr>
          <a:xfrm>
            <a:off x="14859000" y="6667500"/>
            <a:ext cx="2190750" cy="1346530"/>
          </a:xfrm>
          <a:prstGeom prst="rect">
            <a:avLst/>
          </a:prstGeom>
        </p:spPr>
      </p:pic>
      <p:pic>
        <p:nvPicPr>
          <p:cNvPr id="23" name="Picture 22" descr="mw_logo_small.png"/>
          <p:cNvPicPr>
            <a:picLocks noChangeAspect="1"/>
          </p:cNvPicPr>
          <p:nvPr/>
        </p:nvPicPr>
        <p:blipFill>
          <a:blip r:embed="rId6"/>
          <a:stretch>
            <a:fillRect/>
          </a:stretch>
        </p:blipFill>
        <p:spPr>
          <a:xfrm>
            <a:off x="914400" y="9410700"/>
            <a:ext cx="583564" cy="495300"/>
          </a:xfrm>
          <a:prstGeom prst="rect">
            <a:avLst/>
          </a:prstGeom>
        </p:spPr>
      </p:pic>
      <p:sp>
        <p:nvSpPr>
          <p:cNvPr id="24" name="TextBox 23"/>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45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