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Last time the robot drove, but it had no idea how far or how fast it was going. Today it learns to feel: every drive motor has a sensor inside it, and we turn its readings into meters, speeds and distance. Then we use if statements twice: to ignore stick drift, and to drive exactly 2 meters on its own. The hands-on part is the Sensors and Feedback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First what sensors are, then the encoder in each drive motor and how to turn its radians into meters. Then speed and distance for the whole robot, logging those numbers so you can see them, a deadband with an if statement, and finally bang-bang control to drive 2 meters with nobody touching the keys. Ask: what does your phone sense? (Tilt, light, touch, location, sound.)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without sensors is driving with its eyes closed. This part is the big picture: why sensors matter, the two kinds, and the ones on our robots.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control anything. Open loop: the code sends a command and hopes. Last deck was open loop: set 0.5 and the robot goes, but the code has no idea how far. Closed loop: a sensor measures what really happened and the code reacts to it. That return path is called feedback. Activity: one student walks to a line on the floor with eyes closed after looking once; another walks with eyes open. Who stops closer? Eyes open is closed loop.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Sensors come in two kinds. Digital sensors answer yes or no: is the beam broken, is the switch pressed, is the magnet there. Analog sensors give a number from a range: how far, how fast, what angle. Some sensors are digital inside, like an encoder counting pulses, but the software turns them into a number for us. Ask: is a light switch digital or analog? A dimmer? (Digital; analog.)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sensors you'll meet on our robots. The encoder is built into every Kraken: it's today's sensor. The Pigeon 2.0 is a gyro: it knows which way the robot faces, and talks over CAN. Beam breaks and limit switches answer yes or no and plug into the roboRIO's DIO ports. Rule of thumb: sensors about a mechanism's position or speed (elevator height, wrist angle) live with the motor controller; sensors about the robot's status (do we have a game piece?) go to the roboRIO. Ask: where would you put a sensor that says the intake has a ball?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 is the sensor this whole lesson uses. Three ideas: what it counts, what it's attached to, and how to change its radians into meters.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behind an encoder: a disk with slots spins with the shaft. A sensor watches the slots go by and makes one pulse per slot. Count the pulses and you know how far it turned; count how fast they come and you know the speed. Real encoders like the one in the Kraken use a magnet instead of slots, but the idea is the same, and with thousands of counts per turn. The motor controller does the counting, and our mechanism code hands you the answer in radians. Activity: tape a mark on a wheel and have a student count turns while another rolls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encoder. A relative encoder counts from wherever it started: it reads zero at power on or after a reset, and counts up or down from there, past one turn and on. Great for distance. The encoder in our drive motors is relative, so the lesson resets it at the start of Auto. An absolute encoder always knows the shaft's angle inside one turn, even right after power on, from 0 to 2 pi radians. Great for an arm or a swerve wheel's direction. The CANcoder can do both. Ask: which kind for an arm that must know where it is the moment the robot turns on? (Absolute.)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 sits inside the motor, so it measures the motor, not the wheel. Between them is a gearbox: our drivetrain's gear ratio is 8.45, so the motor turns 8.45 radians for every 1 radian the wheel turns. What the sensor measures and what you care about are different, so you always convert. Good news: the drivetrain's methods already divide by the gear ratio, so the numbers you get are wheel radians. Ask: the encoder read 84.5 radians at the motor. How far did the wheel turn? (10 radians.)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drivetrain gives you in this lesson, straight from the README. Two methods for how far each side's wheels have turned, in radians, forward positive. Two for how fast, in radians per second. And resetEncoders, which sets both positions back to zero. On the real robot these come from the Krakens over CAN; in Scriptum, from the simulation, which even adds a little wheel slip and jitter like real sensors.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Sensors don't care about units: the motor controller just counts how far the shaft turned. Our mechanisms pick the units, and the team uses metric everywhere: meters, meters per second, radians and radians per second. All the math uses radians; saying degrees out loud to a person is fine. Inches and feet make the math full of odd conversion numbers. The lesson's Constants.java even converts the wheel radius from inches once, with Units.inchesToMeters, so everything after it is in meters. Ask: why is it risky to mix inches and meters? (Mars Climate Orbiter, 1999: lost because of a units mix-up.)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idea of the lesson. A radian is the angle where the arc along the wheel's edge is exactly one radius long. So when the wheel turns some number of radians, the robot rolls that many radiuses: meters = radians times the radius. Our wheel's radius is 0.0762 meters. One full turn is 2 pi radians, about 6.28, so it rolls about 0.479 meters, the circumference. Activity: roll a real wheel with a tape mark along the floor for one turn, then measure it with a tape measure.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numbers by hand before coding. Multiply radians by the radius, 0.0762, to get meters. Speed works the same way: radians per second times 0.0762 is meters per second. A Kraken's free speed is about 628 rad/s at the motor; divided by the 8.45 gear ratio that's about 74.3 rad/s at the wheel, which is about 5.7 meters per second: the lesson's checkpoint expects about 5.5, since the real robot never quite reaches free speed. Activity: cover the meters column and have students fill it in. Then the challenge: how many radians to drive 2 meters? 2 divided by 0.0762 is about 26.2.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in robotPeriodic. Grab the wheel radius from Constants once. Then multiply each reading by it: radians become meters and radians per second become meters per second. The right side is the same with Right in the method name. Ask: why is there no 2 times pi here? (The readings are already in radians, and radians times the radius is the distance. 2 pi only shows up when you count full turns.)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side has its own speed and distance. We want three numbers for the whole robot: how fast it's going, how fast it's turning, and how far it has gone.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robot's forward speed is the average of its two sides: add them and divide by 2. If the left does 3 m/s and the right does 5, the middle of the robot moves at 4. Both at 4: 4, straight ahead. Spinning in place, 2 and -2: the middle doesn't go anywhere, 0. Activity: two students as the wheels walk at different paces while a third walks between them; the middle one's pace is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happens when the sides go different speeds. Angular speed is the difference, right minus left, divided by the track width: how far apart the wheels are, 0.61 meters on our robot. Positive means turning left, counterclockwise seen from above, which is the math and WPILib convention. Radians: one radian is the angle where the arc is as long as the radius; a full turn is 2 pi, about 6.28. So 4.9 rad/s is a bit less than one full turn each second. Ask: left 2, right 2. Angular speed? (0: straight.)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Distance is the average of the two sides' positions, just like linear speed. Drive straight 2 meters: both sides 2, distance 2. Spin in place: one side goes forward and one back, so they cancel and the distance stays 0. Spinning isn't progress! Curve: the outside wheel goes farther, but the middle of the robot still went the average. Ask: left 2.4, right 1.6. Distance? (2.0.)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right under STEP 1. Three lines turn the four side readings into three robot numbers. Notice distance_meters_ has no double in front: it's declared at the top of the class, outside the method, so it keeps its value between loops and autonomousPeriodic can read it later. The underscore at the end is the team's style for those. Then MwLog.log sends each number to AdvantageScope under a name.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each piece of code go? robotPeriodic runs every 20 ms in every mode, even disabled, so it's the right place to measure: the numbers are always fresh. autonomousInit runs once when Auto starts: that's where the reset lives. autonomousPeriodic runs every 20 ms during Auto only: that's where the robot decides to drive or stop. teleopPeriodic is for the driver. Because distance_meters_ is a field, robotPeriodic writes it and autonomousPeriodic reads it. Ask: why not measure inside autonomousPeriodic? (You'd have no numbers in teleop or while disabled.)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just wrote MwLog.log three times. This section is about what that line does, and how to log anything you want to see.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match video shows what the robot did. It can't show what the code was thinking: what speed it measured, which state it was in, why it stopped. Logging records those numbers. Live, they show up in AdvantageScope and Elastic while the robot runs. Recorded, every logged value from every loop is saved to a log file on the robot's USB stick, so after a match you can open it and scrub through. And because our logging is built on AdvantageKit, a log can even be replayed through the code to find a bug. Ask: the robot stopped short in auto at an event. What would you want to know? (Its distance, its speed, what state it was in, the battery voltage.)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Logging a value is one line. MwLog is MW-Lib's logging class. 1: log is the method. 2: the key, a name in quotes. Slashes group keys into folders, so Robot/LinearSpeed lands in a Robot folder. 3: the value to record, here a variable. Put the line where the value is fresh, usually in robotPeriodic, and it's recorded every 20 ms. Always log with MwLog. Older code you find online may use SmartDashboard or DogLog; MwLog replaces both on our robots.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become folders in AdvantageScope. Everything you log with Robot/ at the front is in the Robot folder. You don't log everything yourself: the drivetrain logs its own outputs and true position under Drive, and later the subsystems log their state under Subsystem. And it's not only numbers: you can log a true/false, text, a state from an enum, or a Pose2d, which AdvantageScope can draw on the field. Ask: where would you look for the left motor's output? (Drive, LeftOutput.)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STEP 1 and 2 in AdvantageScope. In Scriptum it's built in; on the real robot it's the desktop app on the laptop. Graph Robot/LinearSpeed on the left axis and Robot/AngularSpeed on the right. Drive forward flat out: linear speed climbs to about 5.5 m/s and levels off. Then spin in place: linear speed drops to about zero while angular speed jumps up. Spinning left (A key) should make it positive. If it's negative, right and left are swapped in the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Logging is how you debug a robot. When it does something you don't expect, log the numbers it decides with, run it again, and look. The lesson's bonus is a good habit: log each side's speed on its own, so a slow side shows up right away. Where do the logs go? On the real robot every run is saved to a log file on the USB stick in the roboRIO, in /U/logs; copy it to a laptop and open it in AdvantageScope after the match. In Scriptum, AdvantageScope reads the simulated robot live. Ask: the robot drifts left in auto. What would you log? (Left and right speeds, and the outputs.)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first if statement. Real sticks never rest at exactly zero, so we teach the code to ignore tiny pushes. Along the way: named constants and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Gamepad sticks are springs and plastic: let go and they come back close to the middle, but rarely exactly. A stick at rest might read 0.03 instead of 0.0. Send that to the motors and the robot slowly creeps across the floor with nobody touching it, which is annoying in a match and unsafe on a bench. A deadband fixes it: if the stick is pushed only a tiny bit, pretend it's zero. Activity: if you have a gamepad, plug it into the Driver Station and read the axes with hands off.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graph is the deadband. Across the bottom: what the stick reads. Up the side: what we send to the motors. Inside the flat zone, from -0.1 to 0.1, everything becomes 0: tiny pushes and drift are ignored. Outside it, the stick passes straight through unchanged. At the edge there's a small jump from 0 to 0.1, too small for a driver to notice. Ask: the stick reads -0.07. What goes to the motors? (0.) And -0.4? (-0.4.)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deadband size is a number we might want to tune, so it gets a name. public static final double DEADBAND = 0.1. public: other files can use it. static: it belongs to the Constants class itself, so you write Constants.DEADBAND. final: it can never change while the robot runs. ALL_CAPS is the naming style for constants. A 0.1 sitting in the middle of Robot.java is a magic number: nobody knows what it means or where else it's used. Ask: if the drivers want a bigger deadband, how many lines change? (One.)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decide, the code compares. A comparison gives back a boolean: true or false. Less than, greater than, at most, at least, equal, not equal. Careful: equal is two equals signs; one equals sign means store. Math.abs gives the size of a number without its sign, so one check covers pushing the stick forward and pulling it back. Activity: call out comparisons and have the class shout true or false: 0.05 &lt; 0.1, -0.8 &lt; 0.1, Math.abs(-0.8) &lt; 0.1.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if statement runs a block of code only when its condition is true. Java checks the condition in the parentheses. True: run what's inside the curly braces. False: skip it. Either way, the code after the if runs next. Here, if the forward stick is smaller than the deadband, set forward to 0.0, as if it never moved. Ask: what if forward is 0.5? (Condition false, forward stays 0.5.)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in teleopPeriodic. Arcade drive from last lesson is already there. Add two ifs between reading the stick and driving: one for forward, one for turn. Each asks whether the size of the value is less than Constants.DEADBAND, and if so sets it to 0.0. Then the same setDutyCycles line as before. Don't forget to add DEADBAND to Constants.java first, or Robot.java won't build.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 bug: leaving out Math.abs. forward &lt; DEADBAND is true for every negative number, so pulling the stick back, even all the way to -1.0, gets set to 0. The robot drives forward but never backward. Walk the table: 0.05 and -0.05 both become 0, correct. -0.8 becomes 0 too: wrong. Second bug: a semicolon right after the parentheses ends the if right there, so the block below always runs. Ask: how would you spot the first bug in AdvantageScope? (Pulling back, the output stays 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robot closes the loop on its own: measure the distance, compare it to the target, drive or stop. The simplest feedback controller there 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feedback loop the lesson builds. The target is 2.0 meters. Every 20 ms: the encoders measure, robotPeriodic turns that into distance, autonomousPeriodic compares it to the target and sets the motors, and the robot moves, which changes what the encoders measure next time. Round and round. A thermostat does the same thing: below 20 degrees the heater is on, otherwise off. This is negative feedback, the good kind: the reaction always pushes toward the target. Positive feedback pushes away, like a microphone squealing next to its speaker.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Bang-bang control: full effort until you're there, then stop completely. Only two choices, on or off, like a light switch. In code that's an if with an else: if the distance is less than 2.0, drive at 0.4; otherwise, stop. Exactly one of the two blocks runs each loop, never both and never neither. Ask: what does the robot do if we start it already 3 meters along? (Stops: the else runs.)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lesson's bang-bang code, in two methods. autonomousInit runs once when Auto starts: it resets the encoders so the distance counts from zero. autonomousPeriodic runs every 20 ms in Auto: if the distance from robotPeriodic is under 2.0, drive both sides at 0.4; otherwise stop. Nobody touches the keys. In Scriptum: choose Auto, then Enable.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Auto and watch Robot/Distance. The motors run at 0.4 until the distance passes 2.0, then switch off. But the robot doesn't stop instantly: it keeps rolling, like a bike when you stop pedaling. In the simulation it ends up around 2.4 to 2.5 meters. Bang-bang can't slow down smoothly as it gets close. Think about it: at 0.2 instead of 0.4 it overshoots less, but takes longer. A later lesson, PID, fixes this by slowing down as it gets close. (Graph is a simple model of the run, not a recording.)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resetEncoders in autonomousInit? Relative encoders keep counting from wherever they started. After one Auto run the distance reads about 2.4. Without a reset, the next run starts at 2.4: the if is already false, so the robot thinks it has arrived and never moves. With the reset, distance jumps back to 0 at the start of every run, and the simulated robot goes back to its starting spot. Distance should never go negative. Activity: run Auto twice and watch Robot/Distance drop to 0 and climb again.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Sensors and Feedback lesson in Scriptum's FRC Robot track. Suggested pace for the 3 hour session: STEP 1 and 2 about 35 minutes, checking in AdvantageScope 25, the deadband 35, bang-bang 40 with the think-about-it discussion. Press Verify on each checkpoint. The first checks your code; the others read the robot's logged numbers while you drive.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robot can now measure itself and act on what it measures: that's feedback, and every autonomous routine from here on is built on it. Next deck moves this drivetrain math into methods you can reuse.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20.png"/><Relationship Id="rId6"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7.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6.png"/><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3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2</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Sensors and Feedback</a:t>
            </a:r>
          </a:p>
        </p:txBody>
      </p:sp>
      <p:sp>
        <p:nvSpPr>
          <p:cNvPr id="6" name="TextBox 5"/>
          <p:cNvSpPr txBox="1"/>
          <p:nvPr/>
        </p:nvSpPr>
        <p:spPr>
          <a:xfrm>
            <a:off x="914400" y="4953000"/>
            <a:ext cx="104775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Turn encoder readings into speed and distance, ignore stick drift, then drive exactly 2 meters by itself.</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 can drive. Now let me feel how far I went!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Teaching the robot to feel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257300" y="3332262"/>
            <a:ext cx="685800" cy="498277"/>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192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Sensors</a:t>
            </a:r>
          </a:p>
        </p:txBody>
      </p:sp>
      <p:sp>
        <p:nvSpPr>
          <p:cNvPr id="9" name="TextBox 8"/>
          <p:cNvSpPr txBox="1"/>
          <p:nvPr/>
        </p:nvSpPr>
        <p:spPr>
          <a:xfrm>
            <a:off x="12192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robot can feel</a:t>
            </a:r>
          </a:p>
        </p:txBody>
      </p:sp>
      <p:sp>
        <p:nvSpPr>
          <p:cNvPr id="10" name="Rounded Rectangle 9"/>
          <p:cNvSpPr/>
          <p:nvPr/>
        </p:nvSpPr>
        <p:spPr>
          <a:xfrm>
            <a:off x="36957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rrow-clockwise.png"/>
          <p:cNvPicPr>
            <a:picLocks noChangeAspect="1"/>
          </p:cNvPicPr>
          <p:nvPr/>
        </p:nvPicPr>
        <p:blipFill>
          <a:blip r:embed="rId4"/>
          <a:stretch>
            <a:fillRect/>
          </a:stretch>
        </p:blipFill>
        <p:spPr>
          <a:xfrm>
            <a:off x="4082242" y="3238500"/>
            <a:ext cx="598516" cy="685800"/>
          </a:xfrm>
          <a:prstGeom prst="rect">
            <a:avLst/>
          </a:prstGeom>
        </p:spPr>
      </p:pic>
      <p:sp>
        <p:nvSpPr>
          <p:cNvPr id="12" name="TextBox 11"/>
          <p:cNvSpPr txBox="1"/>
          <p:nvPr/>
        </p:nvSpPr>
        <p:spPr>
          <a:xfrm>
            <a:off x="40386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0005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Encoders and meters</a:t>
            </a:r>
          </a:p>
        </p:txBody>
      </p:sp>
      <p:sp>
        <p:nvSpPr>
          <p:cNvPr id="14" name="TextBox 13"/>
          <p:cNvSpPr txBox="1"/>
          <p:nvPr/>
        </p:nvSpPr>
        <p:spPr>
          <a:xfrm>
            <a:off x="40005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Counting wheel turns</a:t>
            </a:r>
          </a:p>
        </p:txBody>
      </p:sp>
      <p:sp>
        <p:nvSpPr>
          <p:cNvPr id="15" name="Rounded Rectangle 14"/>
          <p:cNvSpPr/>
          <p:nvPr/>
        </p:nvSpPr>
        <p:spPr>
          <a:xfrm>
            <a:off x="64770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peedometer2.png"/>
          <p:cNvPicPr>
            <a:picLocks noChangeAspect="1"/>
          </p:cNvPicPr>
          <p:nvPr/>
        </p:nvPicPr>
        <p:blipFill>
          <a:blip r:embed="rId5"/>
          <a:stretch>
            <a:fillRect/>
          </a:stretch>
        </p:blipFill>
        <p:spPr>
          <a:xfrm>
            <a:off x="6819900" y="3322886"/>
            <a:ext cx="685800" cy="517029"/>
          </a:xfrm>
          <a:prstGeom prst="rect">
            <a:avLst/>
          </a:prstGeom>
        </p:spPr>
      </p:pic>
      <p:sp>
        <p:nvSpPr>
          <p:cNvPr id="17" name="TextBox 16"/>
          <p:cNvSpPr txBox="1"/>
          <p:nvPr/>
        </p:nvSpPr>
        <p:spPr>
          <a:xfrm>
            <a:off x="68199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67818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Speed and distance</a:t>
            </a:r>
          </a:p>
        </p:txBody>
      </p:sp>
      <p:sp>
        <p:nvSpPr>
          <p:cNvPr id="19" name="TextBox 18"/>
          <p:cNvSpPr txBox="1"/>
          <p:nvPr/>
        </p:nvSpPr>
        <p:spPr>
          <a:xfrm>
            <a:off x="67818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From two sides to one robot</a:t>
            </a:r>
          </a:p>
        </p:txBody>
      </p:sp>
      <p:sp>
        <p:nvSpPr>
          <p:cNvPr id="20" name="Rounded Rectangle 19"/>
          <p:cNvSpPr/>
          <p:nvPr/>
        </p:nvSpPr>
        <p:spPr>
          <a:xfrm>
            <a:off x="92583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journal-text.png"/>
          <p:cNvPicPr>
            <a:picLocks noChangeAspect="1"/>
          </p:cNvPicPr>
          <p:nvPr/>
        </p:nvPicPr>
        <p:blipFill>
          <a:blip r:embed="rId6"/>
          <a:stretch>
            <a:fillRect/>
          </a:stretch>
        </p:blipFill>
        <p:spPr>
          <a:xfrm>
            <a:off x="9622631" y="3238500"/>
            <a:ext cx="642938" cy="685800"/>
          </a:xfrm>
          <a:prstGeom prst="rect">
            <a:avLst/>
          </a:prstGeom>
        </p:spPr>
      </p:pic>
      <p:sp>
        <p:nvSpPr>
          <p:cNvPr id="22" name="TextBox 21"/>
          <p:cNvSpPr txBox="1"/>
          <p:nvPr/>
        </p:nvSpPr>
        <p:spPr>
          <a:xfrm>
            <a:off x="96012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95631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Logging</a:t>
            </a:r>
          </a:p>
        </p:txBody>
      </p:sp>
      <p:sp>
        <p:nvSpPr>
          <p:cNvPr id="24" name="TextBox 23"/>
          <p:cNvSpPr txBox="1"/>
          <p:nvPr/>
        </p:nvSpPr>
        <p:spPr>
          <a:xfrm>
            <a:off x="95631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Recording what the code thinks</a:t>
            </a:r>
          </a:p>
        </p:txBody>
      </p:sp>
      <p:sp>
        <p:nvSpPr>
          <p:cNvPr id="25" name="Rounded Rectangle 24"/>
          <p:cNvSpPr/>
          <p:nvPr/>
        </p:nvSpPr>
        <p:spPr>
          <a:xfrm>
            <a:off x="120396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joystick.png"/>
          <p:cNvPicPr>
            <a:picLocks noChangeAspect="1"/>
          </p:cNvPicPr>
          <p:nvPr/>
        </p:nvPicPr>
        <p:blipFill>
          <a:blip r:embed="rId7"/>
          <a:stretch>
            <a:fillRect/>
          </a:stretch>
        </p:blipFill>
        <p:spPr>
          <a:xfrm>
            <a:off x="12382500" y="3242518"/>
            <a:ext cx="685800" cy="677763"/>
          </a:xfrm>
          <a:prstGeom prst="rect">
            <a:avLst/>
          </a:prstGeom>
        </p:spPr>
      </p:pic>
      <p:sp>
        <p:nvSpPr>
          <p:cNvPr id="27" name="TextBox 26"/>
          <p:cNvSpPr txBox="1"/>
          <p:nvPr/>
        </p:nvSpPr>
        <p:spPr>
          <a:xfrm>
            <a:off x="123825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23444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Deadband</a:t>
            </a:r>
          </a:p>
        </p:txBody>
      </p:sp>
      <p:sp>
        <p:nvSpPr>
          <p:cNvPr id="29" name="TextBox 28"/>
          <p:cNvSpPr txBox="1"/>
          <p:nvPr/>
        </p:nvSpPr>
        <p:spPr>
          <a:xfrm>
            <a:off x="123444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Constants and if statements</a:t>
            </a:r>
          </a:p>
        </p:txBody>
      </p:sp>
      <p:sp>
        <p:nvSpPr>
          <p:cNvPr id="30" name="Rounded Rectangle 29"/>
          <p:cNvSpPr/>
          <p:nvPr/>
        </p:nvSpPr>
        <p:spPr>
          <a:xfrm>
            <a:off x="148209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bullseye.png"/>
          <p:cNvPicPr>
            <a:picLocks noChangeAspect="1"/>
          </p:cNvPicPr>
          <p:nvPr/>
        </p:nvPicPr>
        <p:blipFill>
          <a:blip r:embed="rId8"/>
          <a:stretch>
            <a:fillRect/>
          </a:stretch>
        </p:blipFill>
        <p:spPr>
          <a:xfrm>
            <a:off x="15163800" y="3238500"/>
            <a:ext cx="685800" cy="685800"/>
          </a:xfrm>
          <a:prstGeom prst="rect">
            <a:avLst/>
          </a:prstGeom>
        </p:spPr>
      </p:pic>
      <p:sp>
        <p:nvSpPr>
          <p:cNvPr id="32" name="TextBox 31"/>
          <p:cNvSpPr txBox="1"/>
          <p:nvPr/>
        </p:nvSpPr>
        <p:spPr>
          <a:xfrm>
            <a:off x="151638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06</a:t>
            </a:r>
          </a:p>
        </p:txBody>
      </p:sp>
      <p:sp>
        <p:nvSpPr>
          <p:cNvPr id="33" name="TextBox 32"/>
          <p:cNvSpPr txBox="1"/>
          <p:nvPr/>
        </p:nvSpPr>
        <p:spPr>
          <a:xfrm>
            <a:off x="151257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Bang-bang</a:t>
            </a:r>
          </a:p>
        </p:txBody>
      </p:sp>
      <p:sp>
        <p:nvSpPr>
          <p:cNvPr id="34" name="TextBox 33"/>
          <p:cNvSpPr txBox="1"/>
          <p:nvPr/>
        </p:nvSpPr>
        <p:spPr>
          <a:xfrm>
            <a:off x="151257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Driving exactly 2 meters</a:t>
            </a:r>
          </a:p>
        </p:txBody>
      </p:sp>
      <p:sp>
        <p:nvSpPr>
          <p:cNvPr id="35" name="Rounded Rectangle 3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robot.png"/>
          <p:cNvPicPr>
            <a:picLocks noChangeAspect="1"/>
          </p:cNvPicPr>
          <p:nvPr/>
        </p:nvPicPr>
        <p:blipFill>
          <a:blip r:embed="rId9"/>
          <a:stretch>
            <a:fillRect/>
          </a:stretch>
        </p:blipFill>
        <p:spPr>
          <a:xfrm>
            <a:off x="1333500" y="8067675"/>
            <a:ext cx="568960" cy="533400"/>
          </a:xfrm>
          <a:prstGeom prst="rect">
            <a:avLst/>
          </a:prstGeom>
        </p:spPr>
      </p:pic>
      <p:sp>
        <p:nvSpPr>
          <p:cNvPr id="37" name="TextBox 3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robot measures its own speed and distance, and drives 2 meters by itself.</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Sensors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What the robot can feel</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Without sensors I'm driving with my eyes closed!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SENSORS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Open loop vs closed loop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295650"/>
            <a:ext cx="3619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Open loop</a:t>
            </a:r>
          </a:p>
        </p:txBody>
      </p:sp>
      <p:sp>
        <p:nvSpPr>
          <p:cNvPr id="6" name="TextBox 5"/>
          <p:cNvSpPr txBox="1"/>
          <p:nvPr/>
        </p:nvSpPr>
        <p:spPr>
          <a:xfrm>
            <a:off x="914400" y="381000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Send a command and hope</a:t>
            </a:r>
          </a:p>
        </p:txBody>
      </p:sp>
      <p:sp>
        <p:nvSpPr>
          <p:cNvPr id="7" name="Rounded Rectangle 6"/>
          <p:cNvSpPr/>
          <p:nvPr/>
        </p:nvSpPr>
        <p:spPr>
          <a:xfrm>
            <a:off x="4705350" y="3048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00600" y="3048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Code</a:t>
            </a:r>
          </a:p>
        </p:txBody>
      </p:sp>
      <p:sp>
        <p:nvSpPr>
          <p:cNvPr id="9" name="Rectangle 8"/>
          <p:cNvSpPr/>
          <p:nvPr/>
        </p:nvSpPr>
        <p:spPr>
          <a:xfrm>
            <a:off x="7434262" y="3700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7810500" y="3638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39100" y="3048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34350" y="3048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Motor</a:t>
            </a:r>
          </a:p>
        </p:txBody>
      </p:sp>
      <p:sp>
        <p:nvSpPr>
          <p:cNvPr id="13" name="Rectangle 12"/>
          <p:cNvSpPr/>
          <p:nvPr/>
        </p:nvSpPr>
        <p:spPr>
          <a:xfrm>
            <a:off x="10768012" y="3700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1144250" y="3638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372850" y="3048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468100" y="3048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Robot moves</a:t>
            </a:r>
          </a:p>
        </p:txBody>
      </p:sp>
      <p:sp>
        <p:nvSpPr>
          <p:cNvPr id="17" name="Rounded Rectangle 16"/>
          <p:cNvSpPr/>
          <p:nvPr/>
        </p:nvSpPr>
        <p:spPr>
          <a:xfrm>
            <a:off x="14706600" y="3048000"/>
            <a:ext cx="2667000" cy="1333500"/>
          </a:xfrm>
          <a:prstGeom prst="roundRect">
            <a:avLst>
              <a:gd name="adj" fmla="val 10000"/>
            </a:avLst>
          </a:prstGeom>
          <a:no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706600" y="3048000"/>
            <a:ext cx="2667000" cy="1333500"/>
          </a:xfrm>
          <a:prstGeom prst="rect">
            <a:avLst/>
          </a:prstGeom>
          <a:noFill/>
        </p:spPr>
        <p:txBody>
          <a:bodyPr wrap="square" lIns="0" rIns="0" tIns="0" bIns="0" anchor="ctr">
            <a:spAutoFit/>
          </a:bodyPr>
          <a:lstStyle/>
          <a:p>
            <a:pPr algn="ctr"/>
            <a:r>
              <a:rPr sz="4500" b="1" i="0">
                <a:solidFill>
                  <a:srgbClr val="9A7878"/>
                </a:solidFill>
                <a:latin typeface="Geist"/>
                <a:ea typeface="Geist"/>
                <a:cs typeface="Geist"/>
              </a:rPr>
              <a:t>?</a:t>
            </a:r>
          </a:p>
        </p:txBody>
      </p:sp>
      <p:sp>
        <p:nvSpPr>
          <p:cNvPr id="19" name="Rectangle 18"/>
          <p:cNvSpPr/>
          <p:nvPr/>
        </p:nvSpPr>
        <p:spPr>
          <a:xfrm>
            <a:off x="14101762" y="3700462"/>
            <a:ext cx="405765" cy="285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14478000" y="363855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81650"/>
            <a:ext cx="3619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Closed loop</a:t>
            </a:r>
          </a:p>
        </p:txBody>
      </p:sp>
      <p:sp>
        <p:nvSpPr>
          <p:cNvPr id="22" name="TextBox 21"/>
          <p:cNvSpPr txBox="1"/>
          <p:nvPr/>
        </p:nvSpPr>
        <p:spPr>
          <a:xfrm>
            <a:off x="914400" y="609600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Measure and react</a:t>
            </a:r>
          </a:p>
        </p:txBody>
      </p:sp>
      <p:sp>
        <p:nvSpPr>
          <p:cNvPr id="23" name="Rounded Rectangle 22"/>
          <p:cNvSpPr/>
          <p:nvPr/>
        </p:nvSpPr>
        <p:spPr>
          <a:xfrm>
            <a:off x="4705350" y="5334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800600" y="5334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Code</a:t>
            </a:r>
          </a:p>
        </p:txBody>
      </p:sp>
      <p:sp>
        <p:nvSpPr>
          <p:cNvPr id="25" name="Rectangle 24"/>
          <p:cNvSpPr/>
          <p:nvPr/>
        </p:nvSpPr>
        <p:spPr>
          <a:xfrm>
            <a:off x="7434262" y="5986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7810500" y="5924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39100" y="5334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134350" y="5334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Motor</a:t>
            </a:r>
          </a:p>
        </p:txBody>
      </p:sp>
      <p:sp>
        <p:nvSpPr>
          <p:cNvPr id="29" name="Rectangle 28"/>
          <p:cNvSpPr/>
          <p:nvPr/>
        </p:nvSpPr>
        <p:spPr>
          <a:xfrm>
            <a:off x="10768012" y="5986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11144250" y="5924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372850" y="5334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468100" y="5334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Robot moves</a:t>
            </a:r>
          </a:p>
        </p:txBody>
      </p:sp>
      <p:sp>
        <p:nvSpPr>
          <p:cNvPr id="33" name="Rectangle 32"/>
          <p:cNvSpPr/>
          <p:nvPr/>
        </p:nvSpPr>
        <p:spPr>
          <a:xfrm>
            <a:off x="14101762" y="5986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14478000" y="5924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4706600" y="5334000"/>
            <a:ext cx="2667000" cy="1333500"/>
          </a:xfrm>
          <a:prstGeom prst="roundRect">
            <a:avLst>
              <a:gd name="adj" fmla="val 10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4801850" y="5334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Sensor</a:t>
            </a:r>
          </a:p>
        </p:txBody>
      </p:sp>
      <p:sp>
        <p:nvSpPr>
          <p:cNvPr id="37" name="Rectangle 36"/>
          <p:cNvSpPr/>
          <p:nvPr/>
        </p:nvSpPr>
        <p:spPr>
          <a:xfrm>
            <a:off x="16016288" y="6643688"/>
            <a:ext cx="47625" cy="7143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015038" y="7310438"/>
            <a:ext cx="10048875"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015038" y="6857048"/>
            <a:ext cx="47625" cy="50101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a:off x="5962650" y="67437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229725" y="7143750"/>
            <a:ext cx="36195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229725" y="7143750"/>
            <a:ext cx="3619500" cy="381000"/>
          </a:xfrm>
          <a:prstGeom prst="rect">
            <a:avLst/>
          </a:prstGeom>
          <a:noFill/>
        </p:spPr>
        <p:txBody>
          <a:bodyPr wrap="square" lIns="0" rIns="0" tIns="0" bIns="0" anchor="ctr">
            <a:spAutoFit/>
          </a:bodyPr>
          <a:lstStyle/>
          <a:p>
            <a:pPr algn="ctr"/>
            <a:r>
              <a:rPr sz="1800" b="1" i="0">
                <a:solidFill>
                  <a:srgbClr val="D5000E"/>
                </a:solidFill>
                <a:latin typeface="Geist"/>
                <a:ea typeface="Geist"/>
                <a:cs typeface="Geist"/>
              </a:rPr>
              <a:t>feedback: what really happened</a:t>
            </a:r>
          </a:p>
        </p:txBody>
      </p:sp>
      <p:sp>
        <p:nvSpPr>
          <p:cNvPr id="43" name="Rounded Rectangle 42"/>
          <p:cNvSpPr/>
          <p:nvPr/>
        </p:nvSpPr>
        <p:spPr>
          <a:xfrm>
            <a:off x="914400" y="8001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arrow-repeat.png"/>
          <p:cNvPicPr>
            <a:picLocks noChangeAspect="1"/>
          </p:cNvPicPr>
          <p:nvPr/>
        </p:nvPicPr>
        <p:blipFill>
          <a:blip r:embed="rId3"/>
          <a:stretch>
            <a:fillRect/>
          </a:stretch>
        </p:blipFill>
        <p:spPr>
          <a:xfrm>
            <a:off x="1333500" y="8210550"/>
            <a:ext cx="688975" cy="533400"/>
          </a:xfrm>
          <a:prstGeom prst="rect">
            <a:avLst/>
          </a:prstGeom>
        </p:spPr>
      </p:pic>
      <p:sp>
        <p:nvSpPr>
          <p:cNvPr id="45" name="TextBox 44"/>
          <p:cNvSpPr txBox="1"/>
          <p:nvPr/>
        </p:nvSpPr>
        <p:spPr>
          <a:xfrm>
            <a:off x="2190750" y="8001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the encoder is the sensor, and your code closes the loop.</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SENSORS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kinds of sensor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62300"/>
            <a:ext cx="7239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Digital</a:t>
            </a:r>
          </a:p>
        </p:txBody>
      </p:sp>
      <p:sp>
        <p:nvSpPr>
          <p:cNvPr id="7" name="TextBox 6"/>
          <p:cNvSpPr txBox="1"/>
          <p:nvPr/>
        </p:nvSpPr>
        <p:spPr>
          <a:xfrm>
            <a:off x="1295400" y="37338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Yes or no. true or false.</a:t>
            </a:r>
          </a:p>
        </p:txBody>
      </p:sp>
      <p:sp>
        <p:nvSpPr>
          <p:cNvPr id="8" name="Rectangle 7"/>
          <p:cNvSpPr/>
          <p:nvPr/>
        </p:nvSpPr>
        <p:spPr>
          <a:xfrm>
            <a:off x="2138362" y="4557712"/>
            <a:ext cx="28575" cy="1933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138362" y="6462712"/>
            <a:ext cx="6124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0150" y="4438650"/>
            <a:ext cx="8001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true</a:t>
            </a:r>
          </a:p>
        </p:txBody>
      </p:sp>
      <p:sp>
        <p:nvSpPr>
          <p:cNvPr id="11" name="TextBox 10"/>
          <p:cNvSpPr txBox="1"/>
          <p:nvPr/>
        </p:nvSpPr>
        <p:spPr>
          <a:xfrm>
            <a:off x="1200150" y="6305550"/>
            <a:ext cx="8001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false</a:t>
            </a:r>
          </a:p>
        </p:txBody>
      </p:sp>
      <p:sp>
        <p:nvSpPr>
          <p:cNvPr id="12" name="Rectangle 11"/>
          <p:cNvSpPr/>
          <p:nvPr/>
        </p:nvSpPr>
        <p:spPr>
          <a:xfrm>
            <a:off x="21240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733675" y="4695825"/>
            <a:ext cx="57150" cy="17716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7336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432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9528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62475" y="4695825"/>
            <a:ext cx="57150" cy="17716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5624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720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781675" y="4695825"/>
            <a:ext cx="57150" cy="17716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7816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3912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000875" y="4695825"/>
            <a:ext cx="57150" cy="17716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0008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6104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152650" y="6572250"/>
            <a:ext cx="6096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time</a:t>
            </a:r>
          </a:p>
        </p:txBody>
      </p:sp>
      <p:sp>
        <p:nvSpPr>
          <p:cNvPr id="27" name="Rounded Rectangle 26"/>
          <p:cNvSpPr/>
          <p:nvPr/>
        </p:nvSpPr>
        <p:spPr>
          <a:xfrm>
            <a:off x="12954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954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Limit switch</a:t>
            </a:r>
          </a:p>
        </p:txBody>
      </p:sp>
      <p:sp>
        <p:nvSpPr>
          <p:cNvPr id="29" name="Rounded Rectangle 28"/>
          <p:cNvSpPr/>
          <p:nvPr/>
        </p:nvSpPr>
        <p:spPr>
          <a:xfrm>
            <a:off x="37719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7719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Beam break</a:t>
            </a:r>
          </a:p>
        </p:txBody>
      </p:sp>
      <p:sp>
        <p:nvSpPr>
          <p:cNvPr id="31" name="Rounded Rectangle 30"/>
          <p:cNvSpPr/>
          <p:nvPr/>
        </p:nvSpPr>
        <p:spPr>
          <a:xfrm>
            <a:off x="62484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484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Hall effect</a:t>
            </a:r>
          </a:p>
        </p:txBody>
      </p:sp>
      <p:sp>
        <p:nvSpPr>
          <p:cNvPr id="33" name="Rounded Rectangle 32"/>
          <p:cNvSpPr/>
          <p:nvPr/>
        </p:nvSpPr>
        <p:spPr>
          <a:xfrm>
            <a:off x="9296400" y="2857500"/>
            <a:ext cx="8077200" cy="5905500"/>
          </a:xfrm>
          <a:prstGeom prst="roundRect">
            <a:avLst>
              <a:gd name="adj" fmla="val 258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77400" y="3162300"/>
            <a:ext cx="7239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Analog</a:t>
            </a:r>
          </a:p>
        </p:txBody>
      </p:sp>
      <p:sp>
        <p:nvSpPr>
          <p:cNvPr id="35" name="TextBox 34"/>
          <p:cNvSpPr txBox="1"/>
          <p:nvPr/>
        </p:nvSpPr>
        <p:spPr>
          <a:xfrm>
            <a:off x="9677400" y="37338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 number from a range.</a:t>
            </a:r>
          </a:p>
        </p:txBody>
      </p:sp>
      <p:sp>
        <p:nvSpPr>
          <p:cNvPr id="36" name="Rectangle 35"/>
          <p:cNvSpPr/>
          <p:nvPr/>
        </p:nvSpPr>
        <p:spPr>
          <a:xfrm>
            <a:off x="10520362" y="4557712"/>
            <a:ext cx="28575" cy="1933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0520362" y="6462712"/>
            <a:ext cx="6124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582150" y="4438650"/>
            <a:ext cx="8001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max</a:t>
            </a:r>
          </a:p>
        </p:txBody>
      </p:sp>
      <p:sp>
        <p:nvSpPr>
          <p:cNvPr id="39" name="TextBox 38"/>
          <p:cNvSpPr txBox="1"/>
          <p:nvPr/>
        </p:nvSpPr>
        <p:spPr>
          <a:xfrm>
            <a:off x="9582150" y="6305550"/>
            <a:ext cx="8001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cxnSp>
        <p:nvCxnSpPr>
          <p:cNvPr id="40" name="Connector 39"/>
          <p:cNvCxnSpPr/>
          <p:nvPr/>
        </p:nvCxnSpPr>
        <p:spPr>
          <a:xfrm flipV="1">
            <a:off x="10534650" y="5460769"/>
            <a:ext cx="101600" cy="1113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636250" y="5352261"/>
            <a:ext cx="101600" cy="1085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737850" y="5249358"/>
            <a:ext cx="101600" cy="1029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839450" y="5154643"/>
            <a:ext cx="101600" cy="947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941050" y="5070443"/>
            <a:ext cx="101600" cy="8420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042650" y="4998760"/>
            <a:ext cx="101600" cy="7168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1144250" y="4941214"/>
            <a:ext cx="101600" cy="575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245850" y="4898998"/>
            <a:ext cx="101600" cy="422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347450" y="4872850"/>
            <a:ext cx="101600" cy="261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1449050" y="4863041"/>
            <a:ext cx="101600" cy="98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550650" y="4863041"/>
            <a:ext cx="101600" cy="634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652250" y="4869383"/>
            <a:ext cx="101600" cy="2186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753850" y="4891246"/>
            <a:ext cx="101600" cy="3634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855450" y="4927595"/>
            <a:ext cx="101600" cy="494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957050" y="4977040"/>
            <a:ext cx="101600" cy="608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058650" y="5037891"/>
            <a:ext cx="101600" cy="7034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2160250" y="5108232"/>
            <a:ext cx="101600" cy="777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261850" y="5185988"/>
            <a:ext cx="101600" cy="8301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363450" y="5269002"/>
            <a:ext cx="101600" cy="861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465050" y="5355107"/>
            <a:ext cx="101600" cy="870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2566650" y="5442198"/>
            <a:ext cx="101600" cy="860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2668250" y="5528293"/>
            <a:ext cx="101600" cy="832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769850" y="5611587"/>
            <a:ext cx="101600" cy="789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2871450" y="5690496"/>
            <a:ext cx="101600" cy="731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2973050" y="5763687"/>
            <a:ext cx="101600" cy="6641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3074650" y="5830100"/>
            <a:ext cx="101600" cy="588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3176250" y="5888950"/>
            <a:ext cx="101600" cy="5077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3277850" y="5939722"/>
            <a:ext cx="101600" cy="424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3379450" y="5982156"/>
            <a:ext cx="101600" cy="3406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3481050" y="6016216"/>
            <a:ext cx="101600" cy="2584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3582650" y="6042059"/>
            <a:ext cx="101600" cy="179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3684250" y="6059993"/>
            <a:ext cx="101600" cy="104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3757275" y="6041863"/>
            <a:ext cx="15875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858875" y="6045302"/>
            <a:ext cx="15875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4" name="Connector 73"/>
          <p:cNvCxnSpPr/>
          <p:nvPr/>
        </p:nvCxnSpPr>
        <p:spPr>
          <a:xfrm flipV="1">
            <a:off x="13989050" y="6061772"/>
            <a:ext cx="101600" cy="904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4090650" y="6047190"/>
            <a:ext cx="101600" cy="145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4192250" y="6027472"/>
            <a:ext cx="101600" cy="1971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4293850" y="6002940"/>
            <a:ext cx="101600" cy="2453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4395450" y="5973836"/>
            <a:ext cx="101600" cy="2910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4497050" y="5940328"/>
            <a:ext cx="101600" cy="335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4598650" y="5902523"/>
            <a:ext cx="101600" cy="378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4700250" y="5860491"/>
            <a:ext cx="101600" cy="4203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4801850" y="5814291"/>
            <a:ext cx="101600" cy="4620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4903450" y="5764005"/>
            <a:ext cx="101600" cy="5028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5005050" y="5709772"/>
            <a:ext cx="101600" cy="5423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5106650" y="5651822"/>
            <a:ext cx="101600" cy="579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5208250" y="5590510"/>
            <a:ext cx="101600" cy="613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5309850" y="5526339"/>
            <a:ext cx="101600" cy="641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5411450" y="5459986"/>
            <a:ext cx="101600" cy="6635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5513050" y="5392306"/>
            <a:ext cx="101600" cy="676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5614650" y="5324342"/>
            <a:ext cx="101600" cy="6796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5716250" y="5257308"/>
            <a:ext cx="101600" cy="670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5817850" y="5192573"/>
            <a:ext cx="101600" cy="6473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5919450" y="5131628"/>
            <a:ext cx="101600" cy="609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6021050" y="5076044"/>
            <a:ext cx="101600" cy="5558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6122650" y="5027426"/>
            <a:ext cx="101600" cy="4861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6224250" y="4987351"/>
            <a:ext cx="101600" cy="4007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6325850" y="4957311"/>
            <a:ext cx="101600" cy="3004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6427450" y="4938649"/>
            <a:ext cx="101600" cy="1866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6529050" y="4932497"/>
            <a:ext cx="101600" cy="615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10534650" y="6572250"/>
            <a:ext cx="6096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time</a:t>
            </a:r>
          </a:p>
        </p:txBody>
      </p:sp>
      <p:sp>
        <p:nvSpPr>
          <p:cNvPr id="101" name="Rounded Rectangle 100"/>
          <p:cNvSpPr/>
          <p:nvPr/>
        </p:nvSpPr>
        <p:spPr>
          <a:xfrm>
            <a:off x="96774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96774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Encoder</a:t>
            </a:r>
          </a:p>
        </p:txBody>
      </p:sp>
      <p:sp>
        <p:nvSpPr>
          <p:cNvPr id="103" name="Rounded Rectangle 102"/>
          <p:cNvSpPr/>
          <p:nvPr/>
        </p:nvSpPr>
        <p:spPr>
          <a:xfrm>
            <a:off x="121539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21539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Distance sensor</a:t>
            </a:r>
          </a:p>
        </p:txBody>
      </p:sp>
      <p:sp>
        <p:nvSpPr>
          <p:cNvPr id="105" name="Rounded Rectangle 104"/>
          <p:cNvSpPr/>
          <p:nvPr/>
        </p:nvSpPr>
        <p:spPr>
          <a:xfrm>
            <a:off x="146304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146304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Gyro</a:t>
            </a:r>
          </a:p>
        </p:txBody>
      </p:sp>
      <p:sp>
        <p:nvSpPr>
          <p:cNvPr id="107" name="TextBox 10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8" name="TextBox 10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SENSORS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Sensors on our robots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914775" cy="5905500"/>
          </a:xfrm>
          <a:prstGeom prst="roundRect">
            <a:avLst>
              <a:gd name="adj" fmla="val 389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04900" y="3048000"/>
            <a:ext cx="3533775" cy="2476500"/>
          </a:xfrm>
          <a:prstGeom prst="roundRect">
            <a:avLst>
              <a:gd name="adj" fmla="val 461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talon_fx_kraken.png"/>
          <p:cNvPicPr>
            <a:picLocks noChangeAspect="1"/>
          </p:cNvPicPr>
          <p:nvPr/>
        </p:nvPicPr>
        <p:blipFill>
          <a:blip r:embed="rId3"/>
          <a:stretch>
            <a:fillRect/>
          </a:stretch>
        </p:blipFill>
        <p:spPr>
          <a:xfrm>
            <a:off x="1295400" y="3405568"/>
            <a:ext cx="3152775" cy="1761363"/>
          </a:xfrm>
          <a:prstGeom prst="rect">
            <a:avLst/>
          </a:prstGeom>
        </p:spPr>
      </p:pic>
      <p:sp>
        <p:nvSpPr>
          <p:cNvPr id="8" name="TextBox 7"/>
          <p:cNvSpPr txBox="1"/>
          <p:nvPr/>
        </p:nvSpPr>
        <p:spPr>
          <a:xfrm>
            <a:off x="1219200" y="5810250"/>
            <a:ext cx="3305175"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Encoder</a:t>
            </a:r>
          </a:p>
        </p:txBody>
      </p:sp>
      <p:sp>
        <p:nvSpPr>
          <p:cNvPr id="9" name="TextBox 8"/>
          <p:cNvSpPr txBox="1"/>
          <p:nvPr/>
        </p:nvSpPr>
        <p:spPr>
          <a:xfrm>
            <a:off x="1219200" y="6305550"/>
            <a:ext cx="3305175" cy="1238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Built into every Kraken. Counts how far the motor turned.</a:t>
            </a:r>
          </a:p>
        </p:txBody>
      </p:sp>
      <p:sp>
        <p:nvSpPr>
          <p:cNvPr id="10" name="Rounded Rectangle 9"/>
          <p:cNvSpPr/>
          <p:nvPr/>
        </p:nvSpPr>
        <p:spPr>
          <a:xfrm>
            <a:off x="1219200" y="7905750"/>
            <a:ext cx="3305175"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19200" y="7905750"/>
            <a:ext cx="3305175" cy="514350"/>
          </a:xfrm>
          <a:prstGeom prst="rect">
            <a:avLst/>
          </a:prstGeom>
          <a:noFill/>
        </p:spPr>
        <p:txBody>
          <a:bodyPr wrap="square" lIns="0" rIns="0" tIns="0" bIns="0" anchor="ctr">
            <a:spAutoFit/>
          </a:bodyPr>
          <a:lstStyle/>
          <a:p>
            <a:pPr algn="ctr"/>
            <a:r>
              <a:rPr sz="1500" b="0" i="0">
                <a:solidFill>
                  <a:srgbClr val="9A7878"/>
                </a:solidFill>
                <a:latin typeface="Geist"/>
                <a:ea typeface="Geist"/>
                <a:cs typeface="Geist"/>
              </a:rPr>
              <a:t>plugs in:  </a:t>
            </a:r>
            <a:r>
              <a:rPr sz="1500" b="1" i="0">
                <a:solidFill>
                  <a:srgbClr val="F0E8E8"/>
                </a:solidFill>
                <a:latin typeface="Geist"/>
                <a:ea typeface="Geist"/>
                <a:cs typeface="Geist"/>
              </a:rPr>
              <a:t>in the motor</a:t>
            </a:r>
          </a:p>
        </p:txBody>
      </p:sp>
      <p:sp>
        <p:nvSpPr>
          <p:cNvPr id="12" name="Rounded Rectangle 11"/>
          <p:cNvSpPr/>
          <p:nvPr/>
        </p:nvSpPr>
        <p:spPr>
          <a:xfrm>
            <a:off x="509587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286375" y="3048000"/>
            <a:ext cx="3533775" cy="2476500"/>
          </a:xfrm>
          <a:prstGeom prst="roundRect">
            <a:avLst>
              <a:gd name="adj" fmla="val 461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2_pigeon.png"/>
          <p:cNvPicPr>
            <a:picLocks noChangeAspect="1"/>
          </p:cNvPicPr>
          <p:nvPr/>
        </p:nvPicPr>
        <p:blipFill>
          <a:blip r:embed="rId4"/>
          <a:stretch>
            <a:fillRect/>
          </a:stretch>
        </p:blipFill>
        <p:spPr>
          <a:xfrm>
            <a:off x="5861240" y="3200400"/>
            <a:ext cx="2384044" cy="2171700"/>
          </a:xfrm>
          <a:prstGeom prst="rect">
            <a:avLst/>
          </a:prstGeom>
        </p:spPr>
      </p:pic>
      <p:sp>
        <p:nvSpPr>
          <p:cNvPr id="15" name="TextBox 14"/>
          <p:cNvSpPr txBox="1"/>
          <p:nvPr/>
        </p:nvSpPr>
        <p:spPr>
          <a:xfrm>
            <a:off x="5400675" y="5810250"/>
            <a:ext cx="3305175"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Gyro</a:t>
            </a:r>
          </a:p>
        </p:txBody>
      </p:sp>
      <p:sp>
        <p:nvSpPr>
          <p:cNvPr id="16" name="TextBox 15"/>
          <p:cNvSpPr txBox="1"/>
          <p:nvPr/>
        </p:nvSpPr>
        <p:spPr>
          <a:xfrm>
            <a:off x="5400675" y="6305550"/>
            <a:ext cx="3305175" cy="1238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Pigeon 2.0. Knows which way the robot is facing.</a:t>
            </a:r>
          </a:p>
        </p:txBody>
      </p:sp>
      <p:sp>
        <p:nvSpPr>
          <p:cNvPr id="17" name="Rounded Rectangle 16"/>
          <p:cNvSpPr/>
          <p:nvPr/>
        </p:nvSpPr>
        <p:spPr>
          <a:xfrm>
            <a:off x="5400675" y="7905750"/>
            <a:ext cx="3305175"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00675" y="7905750"/>
            <a:ext cx="3305175" cy="514350"/>
          </a:xfrm>
          <a:prstGeom prst="rect">
            <a:avLst/>
          </a:prstGeom>
          <a:noFill/>
        </p:spPr>
        <p:txBody>
          <a:bodyPr wrap="square" lIns="0" rIns="0" tIns="0" bIns="0" anchor="ctr">
            <a:spAutoFit/>
          </a:bodyPr>
          <a:lstStyle/>
          <a:p>
            <a:pPr algn="ctr"/>
            <a:r>
              <a:rPr sz="1500" b="0" i="0">
                <a:solidFill>
                  <a:srgbClr val="9A7878"/>
                </a:solidFill>
                <a:latin typeface="Geist"/>
                <a:ea typeface="Geist"/>
                <a:cs typeface="Geist"/>
              </a:rPr>
              <a:t>plugs in:  </a:t>
            </a:r>
            <a:r>
              <a:rPr sz="1500" b="1" i="0">
                <a:solidFill>
                  <a:srgbClr val="F0E8E8"/>
                </a:solidFill>
                <a:latin typeface="Geist"/>
                <a:ea typeface="Geist"/>
                <a:cs typeface="Geist"/>
              </a:rPr>
              <a:t>on CAN</a:t>
            </a:r>
          </a:p>
        </p:txBody>
      </p:sp>
      <p:sp>
        <p:nvSpPr>
          <p:cNvPr id="19" name="Rounded Rectangle 18"/>
          <p:cNvSpPr/>
          <p:nvPr/>
        </p:nvSpPr>
        <p:spPr>
          <a:xfrm>
            <a:off x="927735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9467850" y="3048000"/>
            <a:ext cx="3533775" cy="2476500"/>
          </a:xfrm>
          <a:prstGeom prst="roundRect">
            <a:avLst>
              <a:gd name="adj" fmla="val 461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ye.png"/>
          <p:cNvPicPr>
            <a:picLocks noChangeAspect="1"/>
          </p:cNvPicPr>
          <p:nvPr/>
        </p:nvPicPr>
        <p:blipFill>
          <a:blip r:embed="rId5"/>
          <a:stretch>
            <a:fillRect/>
          </a:stretch>
        </p:blipFill>
        <p:spPr>
          <a:xfrm>
            <a:off x="10663238" y="3893344"/>
            <a:ext cx="1143000" cy="785812"/>
          </a:xfrm>
          <a:prstGeom prst="rect">
            <a:avLst/>
          </a:prstGeom>
        </p:spPr>
      </p:pic>
      <p:sp>
        <p:nvSpPr>
          <p:cNvPr id="22" name="TextBox 21"/>
          <p:cNvSpPr txBox="1"/>
          <p:nvPr/>
        </p:nvSpPr>
        <p:spPr>
          <a:xfrm>
            <a:off x="9582150" y="5810250"/>
            <a:ext cx="3305175"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Beam break</a:t>
            </a:r>
          </a:p>
        </p:txBody>
      </p:sp>
      <p:sp>
        <p:nvSpPr>
          <p:cNvPr id="23" name="TextBox 22"/>
          <p:cNvSpPr txBox="1"/>
          <p:nvPr/>
        </p:nvSpPr>
        <p:spPr>
          <a:xfrm>
            <a:off x="9582150" y="6305550"/>
            <a:ext cx="3305175" cy="1238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 a game piece here? A light beam is blocked or not.</a:t>
            </a:r>
          </a:p>
        </p:txBody>
      </p:sp>
      <p:sp>
        <p:nvSpPr>
          <p:cNvPr id="24" name="Rounded Rectangle 23"/>
          <p:cNvSpPr/>
          <p:nvPr/>
        </p:nvSpPr>
        <p:spPr>
          <a:xfrm>
            <a:off x="9582150" y="7905750"/>
            <a:ext cx="3305175"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82150" y="7905750"/>
            <a:ext cx="3305175" cy="514350"/>
          </a:xfrm>
          <a:prstGeom prst="rect">
            <a:avLst/>
          </a:prstGeom>
          <a:noFill/>
        </p:spPr>
        <p:txBody>
          <a:bodyPr wrap="square" lIns="0" rIns="0" tIns="0" bIns="0" anchor="ctr">
            <a:spAutoFit/>
          </a:bodyPr>
          <a:lstStyle/>
          <a:p>
            <a:pPr algn="ctr"/>
            <a:r>
              <a:rPr sz="1500" b="0" i="0">
                <a:solidFill>
                  <a:srgbClr val="9A7878"/>
                </a:solidFill>
                <a:latin typeface="Geist"/>
                <a:ea typeface="Geist"/>
                <a:cs typeface="Geist"/>
              </a:rPr>
              <a:t>plugs in:  </a:t>
            </a:r>
            <a:r>
              <a:rPr sz="1500" b="1" i="0">
                <a:solidFill>
                  <a:srgbClr val="F0E8E8"/>
                </a:solidFill>
                <a:latin typeface="Geist"/>
                <a:ea typeface="Geist"/>
                <a:cs typeface="Geist"/>
              </a:rPr>
              <a:t>roboRIO DIO</a:t>
            </a:r>
          </a:p>
        </p:txBody>
      </p:sp>
      <p:sp>
        <p:nvSpPr>
          <p:cNvPr id="26" name="Rounded Rectangle 25"/>
          <p:cNvSpPr/>
          <p:nvPr/>
        </p:nvSpPr>
        <p:spPr>
          <a:xfrm>
            <a:off x="1345882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13649325" y="3048000"/>
            <a:ext cx="3533775" cy="2476500"/>
          </a:xfrm>
          <a:prstGeom prst="roundRect">
            <a:avLst>
              <a:gd name="adj" fmla="val 461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toggle-on.png"/>
          <p:cNvPicPr>
            <a:picLocks noChangeAspect="1"/>
          </p:cNvPicPr>
          <p:nvPr/>
        </p:nvPicPr>
        <p:blipFill>
          <a:blip r:embed="rId6"/>
          <a:stretch>
            <a:fillRect/>
          </a:stretch>
        </p:blipFill>
        <p:spPr>
          <a:xfrm>
            <a:off x="14844712" y="3929062"/>
            <a:ext cx="1143000" cy="714375"/>
          </a:xfrm>
          <a:prstGeom prst="rect">
            <a:avLst/>
          </a:prstGeom>
        </p:spPr>
      </p:pic>
      <p:sp>
        <p:nvSpPr>
          <p:cNvPr id="29" name="TextBox 28"/>
          <p:cNvSpPr txBox="1"/>
          <p:nvPr/>
        </p:nvSpPr>
        <p:spPr>
          <a:xfrm>
            <a:off x="13763625" y="5810250"/>
            <a:ext cx="3305175"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Limit switch</a:t>
            </a:r>
          </a:p>
        </p:txBody>
      </p:sp>
      <p:sp>
        <p:nvSpPr>
          <p:cNvPr id="30" name="TextBox 29"/>
          <p:cNvSpPr txBox="1"/>
          <p:nvPr/>
        </p:nvSpPr>
        <p:spPr>
          <a:xfrm>
            <a:off x="13763625" y="6305550"/>
            <a:ext cx="3305175" cy="1238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Has the arm reached the end? Pressed or not.</a:t>
            </a:r>
          </a:p>
        </p:txBody>
      </p:sp>
      <p:sp>
        <p:nvSpPr>
          <p:cNvPr id="31" name="Rounded Rectangle 30"/>
          <p:cNvSpPr/>
          <p:nvPr/>
        </p:nvSpPr>
        <p:spPr>
          <a:xfrm>
            <a:off x="13763625" y="7905750"/>
            <a:ext cx="3305175"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3763625" y="7905750"/>
            <a:ext cx="3305175" cy="514350"/>
          </a:xfrm>
          <a:prstGeom prst="rect">
            <a:avLst/>
          </a:prstGeom>
          <a:noFill/>
        </p:spPr>
        <p:txBody>
          <a:bodyPr wrap="square" lIns="0" rIns="0" tIns="0" bIns="0" anchor="ctr">
            <a:spAutoFit/>
          </a:bodyPr>
          <a:lstStyle/>
          <a:p>
            <a:pPr algn="ctr"/>
            <a:r>
              <a:rPr sz="1500" b="0" i="0">
                <a:solidFill>
                  <a:srgbClr val="9A7878"/>
                </a:solidFill>
                <a:latin typeface="Geist"/>
                <a:ea typeface="Geist"/>
                <a:cs typeface="Geist"/>
              </a:rPr>
              <a:t>plugs in:  </a:t>
            </a:r>
            <a:r>
              <a:rPr sz="1500" b="1" i="0">
                <a:solidFill>
                  <a:srgbClr val="F0E8E8"/>
                </a:solidFill>
                <a:latin typeface="Geist"/>
                <a:ea typeface="Geist"/>
                <a:cs typeface="Geist"/>
              </a:rPr>
              <a:t>roboRIO DIO</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Encoders and meters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Counting wheel turns, then turning them into meters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turn of my wheels gets counted. Nothing escapes!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an encoder counts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857375" y="3524250"/>
            <a:ext cx="3905250" cy="390525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57375" y="3524250"/>
            <a:ext cx="3905250" cy="3905250"/>
          </a:xfrm>
          <a:prstGeom prst="ellipse">
            <a:avLst/>
          </a:prstGeom>
          <a:no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rot="5400000">
            <a:off x="5181600" y="5248275"/>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rot="7200000">
            <a:off x="4978699" y="6005512"/>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rot="9000000">
            <a:off x="4424362" y="6559849"/>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rot="10800000">
            <a:off x="3667125" y="6762750"/>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12600000">
            <a:off x="2909888" y="6559849"/>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rot="14400000">
            <a:off x="2355551" y="6005512"/>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rot="16200000">
            <a:off x="2152650" y="5248275"/>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rot="18000000">
            <a:off x="2355551" y="4491038"/>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rot="19800000">
            <a:off x="2909887" y="3936701"/>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rot="0">
            <a:off x="3667125" y="3733800"/>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rot="1800000">
            <a:off x="4424362" y="3936701"/>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rot="3600000">
            <a:off x="4978699" y="4491037"/>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486150" y="5153025"/>
            <a:ext cx="647700" cy="647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76650" y="5343525"/>
            <a:ext cx="266700" cy="2667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429000" y="2819400"/>
            <a:ext cx="762000" cy="5715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81500" y="2781300"/>
            <a:ext cx="1905000" cy="2857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sensor</a:t>
            </a:r>
          </a:p>
        </p:txBody>
      </p:sp>
      <p:sp>
        <p:nvSpPr>
          <p:cNvPr id="23" name="Rectangle 22"/>
          <p:cNvSpPr/>
          <p:nvPr/>
        </p:nvSpPr>
        <p:spPr>
          <a:xfrm>
            <a:off x="3790950" y="3371850"/>
            <a:ext cx="38100" cy="24384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0800000">
            <a:off x="3733800" y="35814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rrow-clockwise.png"/>
          <p:cNvPicPr>
            <a:picLocks noChangeAspect="1"/>
          </p:cNvPicPr>
          <p:nvPr/>
        </p:nvPicPr>
        <p:blipFill>
          <a:blip r:embed="rId3"/>
          <a:stretch>
            <a:fillRect/>
          </a:stretch>
        </p:blipFill>
        <p:spPr>
          <a:xfrm>
            <a:off x="5857875" y="3619500"/>
            <a:ext cx="532015" cy="609600"/>
          </a:xfrm>
          <a:prstGeom prst="rect">
            <a:avLst/>
          </a:prstGeom>
        </p:spPr>
      </p:pic>
      <p:sp>
        <p:nvSpPr>
          <p:cNvPr id="26" name="TextBox 25"/>
          <p:cNvSpPr txBox="1"/>
          <p:nvPr/>
        </p:nvSpPr>
        <p:spPr>
          <a:xfrm>
            <a:off x="1905000" y="7620000"/>
            <a:ext cx="3810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12 slots = 12 counts per turn</a:t>
            </a:r>
          </a:p>
        </p:txBody>
      </p:sp>
      <p:sp>
        <p:nvSpPr>
          <p:cNvPr id="27" name="Rectangle 26"/>
          <p:cNvSpPr/>
          <p:nvPr/>
        </p:nvSpPr>
        <p:spPr>
          <a:xfrm>
            <a:off x="7796212" y="5605462"/>
            <a:ext cx="9553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9625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1</a:t>
            </a:r>
          </a:p>
        </p:txBody>
      </p:sp>
      <p:sp>
        <p:nvSpPr>
          <p:cNvPr id="29" name="TextBox 28"/>
          <p:cNvSpPr txBox="1"/>
          <p:nvPr/>
        </p:nvSpPr>
        <p:spPr>
          <a:xfrm>
            <a:off x="922020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2</a:t>
            </a:r>
          </a:p>
        </p:txBody>
      </p:sp>
      <p:sp>
        <p:nvSpPr>
          <p:cNvPr id="30" name="TextBox 29"/>
          <p:cNvSpPr txBox="1"/>
          <p:nvPr/>
        </p:nvSpPr>
        <p:spPr>
          <a:xfrm>
            <a:off x="1034415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3</a:t>
            </a:r>
          </a:p>
        </p:txBody>
      </p:sp>
      <p:sp>
        <p:nvSpPr>
          <p:cNvPr id="31" name="TextBox 30"/>
          <p:cNvSpPr txBox="1"/>
          <p:nvPr/>
        </p:nvSpPr>
        <p:spPr>
          <a:xfrm>
            <a:off x="1146810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4</a:t>
            </a:r>
          </a:p>
        </p:txBody>
      </p:sp>
      <p:sp>
        <p:nvSpPr>
          <p:cNvPr id="32" name="TextBox 31"/>
          <p:cNvSpPr txBox="1"/>
          <p:nvPr/>
        </p:nvSpPr>
        <p:spPr>
          <a:xfrm>
            <a:off x="1259205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5</a:t>
            </a:r>
          </a:p>
        </p:txBody>
      </p:sp>
      <p:sp>
        <p:nvSpPr>
          <p:cNvPr id="33" name="TextBox 32"/>
          <p:cNvSpPr txBox="1"/>
          <p:nvPr/>
        </p:nvSpPr>
        <p:spPr>
          <a:xfrm>
            <a:off x="1371600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6</a:t>
            </a:r>
          </a:p>
        </p:txBody>
      </p:sp>
      <p:sp>
        <p:nvSpPr>
          <p:cNvPr id="34" name="TextBox 33"/>
          <p:cNvSpPr txBox="1"/>
          <p:nvPr/>
        </p:nvSpPr>
        <p:spPr>
          <a:xfrm>
            <a:off x="1483995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7</a:t>
            </a:r>
          </a:p>
        </p:txBody>
      </p:sp>
      <p:sp>
        <p:nvSpPr>
          <p:cNvPr id="35" name="TextBox 34"/>
          <p:cNvSpPr txBox="1"/>
          <p:nvPr/>
        </p:nvSpPr>
        <p:spPr>
          <a:xfrm>
            <a:off x="1596390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8</a:t>
            </a:r>
          </a:p>
        </p:txBody>
      </p:sp>
      <p:sp>
        <p:nvSpPr>
          <p:cNvPr id="36" name="Rectangle 35"/>
          <p:cNvSpPr/>
          <p:nvPr/>
        </p:nvSpPr>
        <p:spPr>
          <a:xfrm>
            <a:off x="7786688" y="5595938"/>
            <a:ext cx="428625"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8167688"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8167688" y="41100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729662"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729662" y="55959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9291638"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9291638" y="41100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9853612"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853612" y="55959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415588"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0415588" y="41100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0977562"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10977562" y="55959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1539538"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1539538" y="41100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2101512"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2101512" y="55959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2663488"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2663488" y="41100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3225462"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3225462" y="55959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3787438"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3787438" y="41100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4349412"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4349412" y="55959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4911388"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4911388" y="41100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5473362"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5473362" y="55959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6035338"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6035338" y="4110038"/>
            <a:ext cx="6096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6597312" y="4110038"/>
            <a:ext cx="47625" cy="15335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6597312" y="5595938"/>
            <a:ext cx="762000"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810500" y="5753100"/>
            <a:ext cx="9525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one pulse each time a slot passes the sensor</a:t>
            </a:r>
          </a:p>
        </p:txBody>
      </p:sp>
      <p:sp>
        <p:nvSpPr>
          <p:cNvPr id="70" name="Oval 69"/>
          <p:cNvSpPr/>
          <p:nvPr/>
        </p:nvSpPr>
        <p:spPr>
          <a:xfrm>
            <a:off x="781050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81050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72" name="TextBox 71"/>
          <p:cNvSpPr txBox="1"/>
          <p:nvPr/>
        </p:nvSpPr>
        <p:spPr>
          <a:xfrm>
            <a:off x="8420100" y="6248400"/>
            <a:ext cx="8915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Count the pulses</a:t>
            </a:r>
          </a:p>
        </p:txBody>
      </p:sp>
      <p:sp>
        <p:nvSpPr>
          <p:cNvPr id="73" name="TextBox 72"/>
          <p:cNvSpPr txBox="1"/>
          <p:nvPr/>
        </p:nvSpPr>
        <p:spPr>
          <a:xfrm>
            <a:off x="8420100" y="6667500"/>
            <a:ext cx="8915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far it turned</a:t>
            </a:r>
          </a:p>
        </p:txBody>
      </p:sp>
      <p:sp>
        <p:nvSpPr>
          <p:cNvPr id="74" name="Oval 73"/>
          <p:cNvSpPr/>
          <p:nvPr/>
        </p:nvSpPr>
        <p:spPr>
          <a:xfrm>
            <a:off x="7810500" y="7334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10500" y="7334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76" name="TextBox 75"/>
          <p:cNvSpPr txBox="1"/>
          <p:nvPr/>
        </p:nvSpPr>
        <p:spPr>
          <a:xfrm>
            <a:off x="8420100" y="7296150"/>
            <a:ext cx="8915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Time the pulses</a:t>
            </a:r>
          </a:p>
        </p:txBody>
      </p:sp>
      <p:sp>
        <p:nvSpPr>
          <p:cNvPr id="77" name="TextBox 76"/>
          <p:cNvSpPr txBox="1"/>
          <p:nvPr/>
        </p:nvSpPr>
        <p:spPr>
          <a:xfrm>
            <a:off x="8420100" y="7715250"/>
            <a:ext cx="8915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fast it turns</a:t>
            </a:r>
          </a:p>
        </p:txBody>
      </p:sp>
      <p:sp>
        <p:nvSpPr>
          <p:cNvPr id="78" name="Rounded Rectangle 77"/>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9" name="Picture 78" descr="gear.png"/>
          <p:cNvPicPr>
            <a:picLocks noChangeAspect="1"/>
          </p:cNvPicPr>
          <p:nvPr/>
        </p:nvPicPr>
        <p:blipFill>
          <a:blip r:embed="rId4"/>
          <a:stretch>
            <a:fillRect/>
          </a:stretch>
        </p:blipFill>
        <p:spPr>
          <a:xfrm>
            <a:off x="1333500" y="8353425"/>
            <a:ext cx="533400" cy="533400"/>
          </a:xfrm>
          <a:prstGeom prst="rect">
            <a:avLst/>
          </a:prstGeom>
        </p:spPr>
      </p:pic>
      <p:sp>
        <p:nvSpPr>
          <p:cNvPr id="80" name="TextBox 79"/>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a Kraken:  </a:t>
            </a:r>
            <a:r>
              <a:rPr sz="2100" b="0" i="0">
                <a:solidFill>
                  <a:srgbClr val="F0E8E8"/>
                </a:solidFill>
                <a:latin typeface="Geist"/>
                <a:ea typeface="Geist"/>
                <a:cs typeface="Geist"/>
              </a:rPr>
              <a:t>a magnet instead of slots, and thousands of counts per turn. Same idea.</a:t>
            </a:r>
          </a:p>
        </p:txBody>
      </p:sp>
      <p:sp>
        <p:nvSpPr>
          <p:cNvPr id="81" name="TextBox 8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2" name="TextBox 8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Relative vs absolute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905500"/>
          </a:xfrm>
          <a:prstGeom prst="roundRect">
            <a:avLst>
              <a:gd name="adj" fmla="val 258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Relative</a:t>
            </a:r>
          </a:p>
        </p:txBody>
      </p:sp>
      <p:sp>
        <p:nvSpPr>
          <p:cNvPr id="7" name="Oval 6"/>
          <p:cNvSpPr/>
          <p:nvPr/>
        </p:nvSpPr>
        <p:spPr>
          <a:xfrm>
            <a:off x="1581150" y="4286250"/>
            <a:ext cx="2286000" cy="22860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81150" y="4286250"/>
            <a:ext cx="2286000" cy="2286000"/>
          </a:xfrm>
          <a:prstGeom prst="ellipse">
            <a:avLst/>
          </a:prstGeom>
          <a:no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24400" y="4476750"/>
            <a:ext cx="3810000" cy="1714500"/>
          </a:xfrm>
          <a:prstGeom prst="roundRect">
            <a:avLst>
              <a:gd name="adj" fmla="val 777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24400" y="4591050"/>
            <a:ext cx="38100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radians</a:t>
            </a:r>
          </a:p>
        </p:txBody>
      </p:sp>
      <p:sp>
        <p:nvSpPr>
          <p:cNvPr id="11" name="TextBox 10"/>
          <p:cNvSpPr txBox="1"/>
          <p:nvPr/>
        </p:nvSpPr>
        <p:spPr>
          <a:xfrm>
            <a:off x="4724400" y="4953000"/>
            <a:ext cx="3810000" cy="1047750"/>
          </a:xfrm>
          <a:prstGeom prst="rect">
            <a:avLst/>
          </a:prstGeom>
          <a:noFill/>
        </p:spPr>
        <p:txBody>
          <a:bodyPr wrap="square" lIns="0" rIns="0" tIns="0" bIns="0" anchor="ctr">
            <a:spAutoFit/>
          </a:bodyPr>
          <a:lstStyle/>
          <a:p>
            <a:pPr algn="ctr"/>
            <a:r>
              <a:rPr sz="5700" b="1" i="0">
                <a:solidFill>
                  <a:srgbClr val="E8C27A"/>
                </a:solidFill>
                <a:latin typeface="Geist Mono"/>
                <a:ea typeface="Geist Mono"/>
                <a:cs typeface="Geist Mono"/>
              </a:rPr>
              <a:t>20.4</a:t>
            </a:r>
          </a:p>
        </p:txBody>
      </p:sp>
      <p:pic>
        <p:nvPicPr>
          <p:cNvPr id="12" name="Picture 11" descr="arrow-clockwise.png"/>
          <p:cNvPicPr>
            <a:picLocks noChangeAspect="1"/>
          </p:cNvPicPr>
          <p:nvPr/>
        </p:nvPicPr>
        <p:blipFill>
          <a:blip r:embed="rId3"/>
          <a:stretch>
            <a:fillRect/>
          </a:stretch>
        </p:blipFill>
        <p:spPr>
          <a:xfrm>
            <a:off x="2247900" y="4895850"/>
            <a:ext cx="831273" cy="952500"/>
          </a:xfrm>
          <a:prstGeom prst="rect">
            <a:avLst/>
          </a:prstGeom>
        </p:spPr>
      </p:pic>
      <p:sp>
        <p:nvSpPr>
          <p:cNvPr id="13" name="TextBox 12"/>
          <p:cNvSpPr txBox="1"/>
          <p:nvPr/>
        </p:nvSpPr>
        <p:spPr>
          <a:xfrm>
            <a:off x="4724400" y="6286500"/>
            <a:ext cx="3810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 → 2π → 4π → 6π → ...</a:t>
            </a:r>
          </a:p>
        </p:txBody>
      </p:sp>
      <p:sp>
        <p:nvSpPr>
          <p:cNvPr id="14" name="TextBox 13"/>
          <p:cNvSpPr txBox="1"/>
          <p:nvPr/>
        </p:nvSpPr>
        <p:spPr>
          <a:xfrm>
            <a:off x="1295400" y="7048500"/>
            <a:ext cx="7315200" cy="857250"/>
          </a:xfrm>
          <a:prstGeom prst="rect">
            <a:avLst/>
          </a:prstGeom>
          <a:noFill/>
        </p:spPr>
        <p:txBody>
          <a:bodyPr wrap="square" lIns="0" rIns="0" tIns="0" bIns="0" anchor="t">
            <a:spAutoFit/>
          </a:bodyPr>
          <a:lstStyle/>
          <a:p>
            <a:pPr algn="l">
              <a:lnSpc>
                <a:spcPct val="130000"/>
              </a:lnSpc>
            </a:pPr>
            <a:r>
              <a:rPr sz="1875" b="0" i="0">
                <a:solidFill>
                  <a:srgbClr val="F0E8E8"/>
                </a:solidFill>
                <a:latin typeface="Geist"/>
                <a:ea typeface="Geist"/>
                <a:cs typeface="Geist"/>
              </a:rPr>
              <a:t>Counts from where it started. Zero at power on or reset, then keeps counting, turn after turn.</a:t>
            </a:r>
          </a:p>
        </p:txBody>
      </p:sp>
      <p:sp>
        <p:nvSpPr>
          <p:cNvPr id="15" name="TextBox 14"/>
          <p:cNvSpPr txBox="1"/>
          <p:nvPr/>
        </p:nvSpPr>
        <p:spPr>
          <a:xfrm>
            <a:off x="1295400" y="8096250"/>
            <a:ext cx="73152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Use it for: distance driven. Our drive motors.</a:t>
            </a:r>
          </a:p>
        </p:txBody>
      </p:sp>
      <p:sp>
        <p:nvSpPr>
          <p:cNvPr id="16" name="Rounded Rectangle 15"/>
          <p:cNvSpPr/>
          <p:nvPr/>
        </p:nvSpPr>
        <p:spPr>
          <a:xfrm>
            <a:off x="9296400" y="2857500"/>
            <a:ext cx="80772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677400" y="3143250"/>
            <a:ext cx="7239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Absolute</a:t>
            </a:r>
          </a:p>
        </p:txBody>
      </p:sp>
      <p:sp>
        <p:nvSpPr>
          <p:cNvPr id="18" name="Oval 17"/>
          <p:cNvSpPr/>
          <p:nvPr/>
        </p:nvSpPr>
        <p:spPr>
          <a:xfrm>
            <a:off x="9963150" y="4286250"/>
            <a:ext cx="2286000" cy="22860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3150" y="4286250"/>
            <a:ext cx="2286000" cy="2286000"/>
          </a:xfrm>
          <a:prstGeom prst="ellipse">
            <a:avLst/>
          </a:prstGeom>
          <a:no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25150" y="3800475"/>
            <a:ext cx="762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a:t>
            </a:r>
          </a:p>
        </p:txBody>
      </p:sp>
      <p:sp>
        <p:nvSpPr>
          <p:cNvPr id="21" name="TextBox 20"/>
          <p:cNvSpPr txBox="1"/>
          <p:nvPr/>
        </p:nvSpPr>
        <p:spPr>
          <a:xfrm>
            <a:off x="12192000" y="5267325"/>
            <a:ext cx="762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π/2</a:t>
            </a:r>
          </a:p>
        </p:txBody>
      </p:sp>
      <p:sp>
        <p:nvSpPr>
          <p:cNvPr id="22" name="TextBox 21"/>
          <p:cNvSpPr txBox="1"/>
          <p:nvPr/>
        </p:nvSpPr>
        <p:spPr>
          <a:xfrm>
            <a:off x="10725150" y="6734175"/>
            <a:ext cx="762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π</a:t>
            </a:r>
          </a:p>
        </p:txBody>
      </p:sp>
      <p:sp>
        <p:nvSpPr>
          <p:cNvPr id="23" name="TextBox 22"/>
          <p:cNvSpPr txBox="1"/>
          <p:nvPr/>
        </p:nvSpPr>
        <p:spPr>
          <a:xfrm>
            <a:off x="9258300" y="5267325"/>
            <a:ext cx="762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3π/2</a:t>
            </a:r>
          </a:p>
        </p:txBody>
      </p:sp>
      <p:sp>
        <p:nvSpPr>
          <p:cNvPr id="24" name="Rectangle 23"/>
          <p:cNvSpPr/>
          <p:nvPr/>
        </p:nvSpPr>
        <p:spPr>
          <a:xfrm>
            <a:off x="11077575" y="5400675"/>
            <a:ext cx="827532"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1860530" y="534924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91850" y="5314950"/>
            <a:ext cx="228600" cy="2286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3106400" y="4476750"/>
            <a:ext cx="3810000" cy="1714500"/>
          </a:xfrm>
          <a:prstGeom prst="roundRect">
            <a:avLst>
              <a:gd name="adj" fmla="val 777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106400" y="4591050"/>
            <a:ext cx="38100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angle in one turn</a:t>
            </a:r>
          </a:p>
        </p:txBody>
      </p:sp>
      <p:sp>
        <p:nvSpPr>
          <p:cNvPr id="29" name="TextBox 28"/>
          <p:cNvSpPr txBox="1"/>
          <p:nvPr/>
        </p:nvSpPr>
        <p:spPr>
          <a:xfrm>
            <a:off x="13106400" y="4953000"/>
            <a:ext cx="3810000" cy="1047750"/>
          </a:xfrm>
          <a:prstGeom prst="rect">
            <a:avLst/>
          </a:prstGeom>
          <a:noFill/>
        </p:spPr>
        <p:txBody>
          <a:bodyPr wrap="square" lIns="0" rIns="0" tIns="0" bIns="0" anchor="ctr">
            <a:spAutoFit/>
          </a:bodyPr>
          <a:lstStyle/>
          <a:p>
            <a:pPr algn="ctr"/>
            <a:r>
              <a:rPr sz="5700" b="1" i="0">
                <a:solidFill>
                  <a:srgbClr val="E8C27A"/>
                </a:solidFill>
                <a:latin typeface="Geist Mono"/>
                <a:ea typeface="Geist Mono"/>
                <a:cs typeface="Geist Mono"/>
              </a:rPr>
              <a:t>1.57</a:t>
            </a:r>
          </a:p>
        </p:txBody>
      </p:sp>
      <p:sp>
        <p:nvSpPr>
          <p:cNvPr id="30" name="TextBox 29"/>
          <p:cNvSpPr txBox="1"/>
          <p:nvPr/>
        </p:nvSpPr>
        <p:spPr>
          <a:xfrm>
            <a:off x="13106400" y="6286500"/>
            <a:ext cx="3810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always 0 to 2π</a:t>
            </a:r>
          </a:p>
        </p:txBody>
      </p:sp>
      <p:sp>
        <p:nvSpPr>
          <p:cNvPr id="31" name="TextBox 30"/>
          <p:cNvSpPr txBox="1"/>
          <p:nvPr/>
        </p:nvSpPr>
        <p:spPr>
          <a:xfrm>
            <a:off x="9677400" y="7048500"/>
            <a:ext cx="7315200" cy="857250"/>
          </a:xfrm>
          <a:prstGeom prst="rect">
            <a:avLst/>
          </a:prstGeom>
          <a:noFill/>
        </p:spPr>
        <p:txBody>
          <a:bodyPr wrap="square" lIns="0" rIns="0" tIns="0" bIns="0" anchor="t">
            <a:spAutoFit/>
          </a:bodyPr>
          <a:lstStyle/>
          <a:p>
            <a:pPr algn="l">
              <a:lnSpc>
                <a:spcPct val="130000"/>
              </a:lnSpc>
            </a:pPr>
            <a:r>
              <a:rPr sz="1875" b="0" i="0">
                <a:solidFill>
                  <a:srgbClr val="F0E8E8"/>
                </a:solidFill>
                <a:latin typeface="Geist"/>
                <a:ea typeface="Geist"/>
                <a:cs typeface="Geist"/>
              </a:rPr>
              <a:t>Always knows the angle inside one turn, from 0 to 2π rad. Even right after power on.</a:t>
            </a:r>
          </a:p>
        </p:txBody>
      </p:sp>
      <p:sp>
        <p:nvSpPr>
          <p:cNvPr id="32" name="TextBox 31"/>
          <p:cNvSpPr txBox="1"/>
          <p:nvPr/>
        </p:nvSpPr>
        <p:spPr>
          <a:xfrm>
            <a:off x="9677400" y="8096250"/>
            <a:ext cx="73152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Use it for: arm angles, swerve wheel direction.</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It measures the motor, not the wheel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6482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429000"/>
            <a:ext cx="38862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Motor</a:t>
            </a:r>
          </a:p>
        </p:txBody>
      </p:sp>
      <p:sp>
        <p:nvSpPr>
          <p:cNvPr id="7" name="TextBox 6"/>
          <p:cNvSpPr txBox="1"/>
          <p:nvPr/>
        </p:nvSpPr>
        <p:spPr>
          <a:xfrm>
            <a:off x="1295400" y="3962400"/>
            <a:ext cx="3886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Kraken X60</a:t>
            </a:r>
          </a:p>
        </p:txBody>
      </p:sp>
      <p:sp>
        <p:nvSpPr>
          <p:cNvPr id="8" name="TextBox 7"/>
          <p:cNvSpPr txBox="1"/>
          <p:nvPr/>
        </p:nvSpPr>
        <p:spPr>
          <a:xfrm>
            <a:off x="1295400" y="4667250"/>
            <a:ext cx="3886200" cy="66675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8.45 rad</a:t>
            </a:r>
          </a:p>
        </p:txBody>
      </p:sp>
      <p:sp>
        <p:nvSpPr>
          <p:cNvPr id="9" name="Rounded Rectangle 8"/>
          <p:cNvSpPr/>
          <p:nvPr/>
        </p:nvSpPr>
        <p:spPr>
          <a:xfrm>
            <a:off x="6819900" y="3143250"/>
            <a:ext cx="46482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00900" y="3429000"/>
            <a:ext cx="38862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Gearbox</a:t>
            </a:r>
          </a:p>
        </p:txBody>
      </p:sp>
      <p:sp>
        <p:nvSpPr>
          <p:cNvPr id="11" name="TextBox 10"/>
          <p:cNvSpPr txBox="1"/>
          <p:nvPr/>
        </p:nvSpPr>
        <p:spPr>
          <a:xfrm>
            <a:off x="7200900" y="3962400"/>
            <a:ext cx="3886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Ratio 8.45 : 1</a:t>
            </a:r>
          </a:p>
        </p:txBody>
      </p:sp>
      <p:sp>
        <p:nvSpPr>
          <p:cNvPr id="12" name="Rounded Rectangle 11"/>
          <p:cNvSpPr/>
          <p:nvPr/>
        </p:nvSpPr>
        <p:spPr>
          <a:xfrm>
            <a:off x="12725400" y="3143250"/>
            <a:ext cx="4648200" cy="2476500"/>
          </a:xfrm>
          <a:prstGeom prst="roundRect">
            <a:avLst>
              <a:gd name="adj" fmla="val 615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106400" y="3429000"/>
            <a:ext cx="38862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Wheel</a:t>
            </a:r>
          </a:p>
        </p:txBody>
      </p:sp>
      <p:sp>
        <p:nvSpPr>
          <p:cNvPr id="14" name="TextBox 13"/>
          <p:cNvSpPr txBox="1"/>
          <p:nvPr/>
        </p:nvSpPr>
        <p:spPr>
          <a:xfrm>
            <a:off x="13106400" y="3962400"/>
            <a:ext cx="3886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Touches the floor</a:t>
            </a:r>
          </a:p>
        </p:txBody>
      </p:sp>
      <p:sp>
        <p:nvSpPr>
          <p:cNvPr id="15" name="TextBox 14"/>
          <p:cNvSpPr txBox="1"/>
          <p:nvPr/>
        </p:nvSpPr>
        <p:spPr>
          <a:xfrm>
            <a:off x="13106400" y="4667250"/>
            <a:ext cx="3886200" cy="66675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1 rad</a:t>
            </a:r>
          </a:p>
        </p:txBody>
      </p:sp>
      <p:sp>
        <p:nvSpPr>
          <p:cNvPr id="16" name="Rectangle 15"/>
          <p:cNvSpPr/>
          <p:nvPr/>
        </p:nvSpPr>
        <p:spPr>
          <a:xfrm>
            <a:off x="5619750" y="4362450"/>
            <a:ext cx="1005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659130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25250" y="4362450"/>
            <a:ext cx="1005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249680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771900" y="2857500"/>
            <a:ext cx="1676400" cy="4953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771900" y="2857500"/>
            <a:ext cx="1676400" cy="49530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encoder</a:t>
            </a:r>
          </a:p>
        </p:txBody>
      </p:sp>
      <p:sp>
        <p:nvSpPr>
          <p:cNvPr id="22" name="Oval 21"/>
          <p:cNvSpPr/>
          <p:nvPr/>
        </p:nvSpPr>
        <p:spPr>
          <a:xfrm>
            <a:off x="8096250" y="4714875"/>
            <a:ext cx="571500" cy="5715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96250" y="4714875"/>
            <a:ext cx="571500" cy="571500"/>
          </a:xfrm>
          <a:prstGeom prst="ellipse">
            <a:avLst/>
          </a:prstGeom>
          <a:no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667750" y="4429125"/>
            <a:ext cx="1143000" cy="1143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67750" y="4429125"/>
            <a:ext cx="1143000" cy="1143000"/>
          </a:xfrm>
          <a:prstGeom prst="ellipse">
            <a:avLst/>
          </a:prstGeom>
          <a:no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14400" y="6096000"/>
            <a:ext cx="16459200" cy="1524000"/>
          </a:xfrm>
          <a:prstGeom prst="roundRect">
            <a:avLst>
              <a:gd name="adj" fmla="val 1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33500" y="6248400"/>
            <a:ext cx="1562100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motor radians  </a:t>
            </a:r>
            <a:r>
              <a:rPr sz="2700" b="1" i="0">
                <a:solidFill>
                  <a:srgbClr val="D5000E"/>
                </a:solidFill>
                <a:latin typeface="Geist"/>
                <a:ea typeface="Geist"/>
                <a:cs typeface="Geist"/>
              </a:rPr>
              <a:t>÷</a:t>
            </a:r>
            <a:r>
              <a:rPr sz="2700" b="1" i="0">
                <a:solidFill>
                  <a:srgbClr val="F0E8E8"/>
                </a:solidFill>
                <a:latin typeface="Geist"/>
                <a:ea typeface="Geist"/>
                <a:cs typeface="Geist"/>
              </a:rPr>
              <a:t>  gear ratio  </a:t>
            </a:r>
            <a:r>
              <a:rPr sz="2700" b="1" i="0">
                <a:solidFill>
                  <a:srgbClr val="D5000E"/>
                </a:solidFill>
                <a:latin typeface="Geist"/>
                <a:ea typeface="Geist"/>
                <a:cs typeface="Geist"/>
              </a:rPr>
              <a:t>=</a:t>
            </a:r>
            <a:r>
              <a:rPr sz="2700" b="1" i="0">
                <a:solidFill>
                  <a:srgbClr val="F0E8E8"/>
                </a:solidFill>
                <a:latin typeface="Geist"/>
                <a:ea typeface="Geist"/>
                <a:cs typeface="Geist"/>
              </a:rPr>
              <a:t>  wheel radians</a:t>
            </a:r>
          </a:p>
        </p:txBody>
      </p:sp>
      <p:sp>
        <p:nvSpPr>
          <p:cNvPr id="28" name="TextBox 27"/>
          <p:cNvSpPr txBox="1"/>
          <p:nvPr/>
        </p:nvSpPr>
        <p:spPr>
          <a:xfrm>
            <a:off x="1333500" y="6915150"/>
            <a:ext cx="15621000" cy="476250"/>
          </a:xfrm>
          <a:prstGeom prst="rect">
            <a:avLst/>
          </a:prstGeom>
          <a:noFill/>
        </p:spPr>
        <p:txBody>
          <a:bodyPr wrap="square" lIns="0" rIns="0" tIns="0" bIns="0" anchor="t">
            <a:spAutoFit/>
          </a:bodyPr>
          <a:lstStyle/>
          <a:p>
            <a:pPr algn="l"/>
            <a:r>
              <a:rPr sz="2100" b="0" i="0">
                <a:solidFill>
                  <a:srgbClr val="E8C27A"/>
                </a:solidFill>
                <a:latin typeface="Geist Mono"/>
                <a:ea typeface="Geist Mono"/>
                <a:cs typeface="Geist Mono"/>
              </a:rPr>
              <a:t>84.5 ÷ 8.45 = 10.0</a:t>
            </a:r>
            <a:r>
              <a:rPr sz="2100" b="0" i="0">
                <a:solidFill>
                  <a:srgbClr val="9A7878"/>
                </a:solidFill>
                <a:latin typeface="Geist"/>
                <a:ea typeface="Geist"/>
                <a:cs typeface="Geist"/>
              </a:rPr>
              <a:t>      The sensor says 84.5. What you care about: 10.</a:t>
            </a:r>
          </a:p>
        </p:txBody>
      </p:sp>
      <p:sp>
        <p:nvSpPr>
          <p:cNvPr id="29" name="Rounded Rectangle 28"/>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heck-circle-fill.png"/>
          <p:cNvPicPr>
            <a:picLocks noChangeAspect="1"/>
          </p:cNvPicPr>
          <p:nvPr/>
        </p:nvPicPr>
        <p:blipFill>
          <a:blip r:embed="rId3"/>
          <a:stretch>
            <a:fillRect/>
          </a:stretch>
        </p:blipFill>
        <p:spPr>
          <a:xfrm>
            <a:off x="1333500" y="8115300"/>
            <a:ext cx="533400" cy="533400"/>
          </a:xfrm>
          <a:prstGeom prst="rect">
            <a:avLst/>
          </a:prstGeom>
        </p:spPr>
      </p:pic>
      <p:sp>
        <p:nvSpPr>
          <p:cNvPr id="31" name="TextBox 30"/>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Done for you:  </a:t>
            </a:r>
            <a:r>
              <a:rPr sz="2100" b="0" i="0">
                <a:solidFill>
                  <a:srgbClr val="F0E8E8"/>
                </a:solidFill>
                <a:latin typeface="Geist"/>
                <a:ea typeface="Geist"/>
                <a:cs typeface="Geist"/>
              </a:rPr>
              <a:t>the drivetrain's methods already divide by the gear ratio. You get wheel radians.</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the drivetrain tells you</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DifferentialDriveMech methods</a:t>
            </a:r>
          </a:p>
        </p:txBody>
      </p:sp>
      <p:sp>
        <p:nvSpPr>
          <p:cNvPr id="6" name="Rounded Rectangle 5"/>
          <p:cNvSpPr/>
          <p:nvPr/>
        </p:nvSpPr>
        <p:spPr>
          <a:xfrm>
            <a:off x="914400" y="3143250"/>
            <a:ext cx="10096500" cy="3931920"/>
          </a:xfrm>
          <a:prstGeom prst="roundRect">
            <a:avLst>
              <a:gd name="adj" fmla="val 387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9563100" cy="396240"/>
          </a:xfrm>
          <a:prstGeom prst="rect">
            <a:avLst/>
          </a:prstGeom>
          <a:noFill/>
        </p:spPr>
        <p:txBody>
          <a:bodyPr wrap="square" lIns="0" rIns="0" tIns="0" bIns="0" anchor="ctr">
            <a:spAutoFit/>
          </a:bodyPr>
          <a:lstStyle/>
          <a:p>
            <a:pPr algn="l"/>
            <a:r>
              <a:rPr sz="1950" b="0" i="1">
                <a:solidFill>
                  <a:srgbClr val="9A7878"/>
                </a:solidFill>
                <a:latin typeface="Geist Mono"/>
                <a:ea typeface="Geist Mono"/>
                <a:cs typeface="Geist Mono"/>
              </a:rPr>
              <a:t>// How far, in wheel radians. Forward is positive.</a:t>
            </a:r>
          </a:p>
        </p:txBody>
      </p:sp>
      <p:sp>
        <p:nvSpPr>
          <p:cNvPr id="8" name="TextBox 7"/>
          <p:cNvSpPr txBox="1"/>
          <p:nvPr/>
        </p:nvSpPr>
        <p:spPr>
          <a:xfrm>
            <a:off x="1295400" y="392049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drive_.getLeftPositionRad()</a:t>
            </a:r>
          </a:p>
        </p:txBody>
      </p:sp>
      <p:sp>
        <p:nvSpPr>
          <p:cNvPr id="9" name="TextBox 8"/>
          <p:cNvSpPr txBox="1"/>
          <p:nvPr/>
        </p:nvSpPr>
        <p:spPr>
          <a:xfrm>
            <a:off x="1295400" y="431673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drive_.getRightPositionRad()</a:t>
            </a:r>
          </a:p>
        </p:txBody>
      </p:sp>
      <p:sp>
        <p:nvSpPr>
          <p:cNvPr id="10" name="TextBox 9"/>
          <p:cNvSpPr txBox="1"/>
          <p:nvPr/>
        </p:nvSpPr>
        <p:spPr>
          <a:xfrm>
            <a:off x="1295400" y="4712970"/>
            <a:ext cx="9563100" cy="396240"/>
          </a:xfrm>
          <a:prstGeom prst="rect">
            <a:avLst/>
          </a:prstGeom>
          <a:noFill/>
        </p:spPr>
        <p:txBody>
          <a:bodyPr wrap="square" lIns="0" rIns="0" tIns="0" bIns="0" anchor="ctr">
            <a:spAutoFit/>
          </a:bodyPr>
          <a:lstStyle/>
          <a:p>
            <a:pPr algn="l"/>
            <a:r>
              <a:rPr sz="1950" b="0" i="1">
                <a:solidFill>
                  <a:srgbClr val="9A7878"/>
                </a:solidFill>
                <a:latin typeface="Geist Mono"/>
                <a:ea typeface="Geist Mono"/>
                <a:cs typeface="Geist Mono"/>
              </a:rPr>
              <a:t>// How fast, in radians per second.</a:t>
            </a:r>
          </a:p>
        </p:txBody>
      </p:sp>
      <p:sp>
        <p:nvSpPr>
          <p:cNvPr id="11" name="TextBox 10"/>
          <p:cNvSpPr txBox="1"/>
          <p:nvPr/>
        </p:nvSpPr>
        <p:spPr>
          <a:xfrm>
            <a:off x="1295400" y="510921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drive_.getLeftVelocityRadPerSec()</a:t>
            </a:r>
          </a:p>
        </p:txBody>
      </p:sp>
      <p:sp>
        <p:nvSpPr>
          <p:cNvPr id="12" name="TextBox 11"/>
          <p:cNvSpPr txBox="1"/>
          <p:nvPr/>
        </p:nvSpPr>
        <p:spPr>
          <a:xfrm>
            <a:off x="1295400" y="550545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drive_.getRightVelocityRadPerSec()</a:t>
            </a:r>
          </a:p>
        </p:txBody>
      </p:sp>
      <p:sp>
        <p:nvSpPr>
          <p:cNvPr id="13" name="TextBox 12"/>
          <p:cNvSpPr txBox="1"/>
          <p:nvPr/>
        </p:nvSpPr>
        <p:spPr>
          <a:xfrm>
            <a:off x="1295400" y="5901690"/>
            <a:ext cx="9563100" cy="396240"/>
          </a:xfrm>
          <a:prstGeom prst="rect">
            <a:avLst/>
          </a:prstGeom>
          <a:noFill/>
        </p:spPr>
        <p:txBody>
          <a:bodyPr wrap="square" lIns="0" rIns="0" tIns="0" bIns="0" anchor="ctr">
            <a:spAutoFit/>
          </a:bodyPr>
          <a:lstStyle/>
          <a:p>
            <a:pPr algn="l"/>
            <a:r>
              <a:rPr sz="1950" b="0" i="1">
                <a:solidFill>
                  <a:srgbClr val="9A7878"/>
                </a:solidFill>
                <a:latin typeface="Geist Mono"/>
                <a:ea typeface="Geist Mono"/>
                <a:cs typeface="Geist Mono"/>
              </a:rPr>
              <a:t>// Back to zero: the distance starts over.</a:t>
            </a:r>
          </a:p>
        </p:txBody>
      </p:sp>
      <p:sp>
        <p:nvSpPr>
          <p:cNvPr id="14" name="TextBox 13"/>
          <p:cNvSpPr txBox="1"/>
          <p:nvPr/>
        </p:nvSpPr>
        <p:spPr>
          <a:xfrm>
            <a:off x="1295400" y="629793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drive_.resetEncoders()</a:t>
            </a:r>
          </a:p>
        </p:txBody>
      </p:sp>
      <p:sp>
        <p:nvSpPr>
          <p:cNvPr id="15" name="Oval 14"/>
          <p:cNvSpPr/>
          <p:nvPr/>
        </p:nvSpPr>
        <p:spPr>
          <a:xfrm>
            <a:off x="10401300" y="39281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01300" y="39281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Oval 16"/>
          <p:cNvSpPr/>
          <p:nvPr/>
        </p:nvSpPr>
        <p:spPr>
          <a:xfrm>
            <a:off x="10401300" y="51168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01300" y="51168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 name="Oval 18"/>
          <p:cNvSpPr/>
          <p:nvPr/>
        </p:nvSpPr>
        <p:spPr>
          <a:xfrm>
            <a:off x="10401300" y="63055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01300" y="63055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1" name="Oval 20"/>
          <p:cNvSpPr/>
          <p:nvPr/>
        </p:nvSpPr>
        <p:spPr>
          <a:xfrm>
            <a:off x="116776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TextBox 22"/>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Position</a:t>
            </a:r>
          </a:p>
        </p:txBody>
      </p:sp>
      <p:sp>
        <p:nvSpPr>
          <p:cNvPr id="24" name="TextBox 23"/>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far each side's wheels turned, in radians</a:t>
            </a:r>
          </a:p>
        </p:txBody>
      </p:sp>
      <p:sp>
        <p:nvSpPr>
          <p:cNvPr id="25" name="Oval 24"/>
          <p:cNvSpPr/>
          <p:nvPr/>
        </p:nvSpPr>
        <p:spPr>
          <a:xfrm>
            <a:off x="11677650" y="4476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TextBox 26"/>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Velocity</a:t>
            </a:r>
          </a:p>
        </p:txBody>
      </p:sp>
      <p:sp>
        <p:nvSpPr>
          <p:cNvPr id="28" name="TextBox 27"/>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fast, in radians per second (rad/s)</a:t>
            </a:r>
          </a:p>
        </p:txBody>
      </p:sp>
      <p:sp>
        <p:nvSpPr>
          <p:cNvPr id="29" name="Oval 28"/>
          <p:cNvSpPr/>
          <p:nvPr/>
        </p:nvSpPr>
        <p:spPr>
          <a:xfrm>
            <a:off x="11677650" y="6096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1" name="TextBox 30"/>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Reset</a:t>
            </a:r>
          </a:p>
        </p:txBody>
      </p:sp>
      <p:sp>
        <p:nvSpPr>
          <p:cNvPr id="32" name="TextBox 31"/>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Set both positions back to 0</a:t>
            </a:r>
          </a:p>
        </p:txBody>
      </p:sp>
      <p:pic>
        <p:nvPicPr>
          <p:cNvPr id="33" name="Picture 32" descr="code-slash.png"/>
          <p:cNvPicPr>
            <a:picLocks noChangeAspect="1"/>
          </p:cNvPicPr>
          <p:nvPr/>
        </p:nvPicPr>
        <p:blipFill>
          <a:blip r:embed="rId3"/>
          <a:stretch>
            <a:fillRect/>
          </a:stretch>
        </p:blipFill>
        <p:spPr>
          <a:xfrm>
            <a:off x="914400" y="7562850"/>
            <a:ext cx="224518" cy="209550"/>
          </a:xfrm>
          <a:prstGeom prst="rect">
            <a:avLst/>
          </a:prstGeom>
        </p:spPr>
      </p:pic>
      <p:sp>
        <p:nvSpPr>
          <p:cNvPr id="34" name="TextBox 33"/>
          <p:cNvSpPr txBox="1"/>
          <p:nvPr/>
        </p:nvSpPr>
        <p:spPr>
          <a:xfrm>
            <a:off x="1295400" y="7524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35" name="Rounded Rectangle 34"/>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broadcast.png"/>
          <p:cNvPicPr>
            <a:picLocks noChangeAspect="1"/>
          </p:cNvPicPr>
          <p:nvPr/>
        </p:nvPicPr>
        <p:blipFill>
          <a:blip r:embed="rId4"/>
          <a:stretch>
            <a:fillRect/>
          </a:stretch>
        </p:blipFill>
        <p:spPr>
          <a:xfrm>
            <a:off x="1333500" y="8258175"/>
            <a:ext cx="734142" cy="533400"/>
          </a:xfrm>
          <a:prstGeom prst="rect">
            <a:avLst/>
          </a:prstGeom>
        </p:spPr>
      </p:pic>
      <p:sp>
        <p:nvSpPr>
          <p:cNvPr id="37" name="TextBox 36"/>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Where from?  </a:t>
            </a:r>
            <a:r>
              <a:rPr sz="2100" b="0" i="0">
                <a:solidFill>
                  <a:srgbClr val="F0E8E8"/>
                </a:solidFill>
                <a:latin typeface="Geist"/>
                <a:ea typeface="Geist"/>
                <a:cs typeface="Geist"/>
              </a:rPr>
              <a:t>on the robot, the Krakens over CAN. In Scriptum, the simulation, with a little slip.</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We work in metric</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ulers.png"/>
          <p:cNvPicPr>
            <a:picLocks noChangeAspect="1"/>
          </p:cNvPicPr>
          <p:nvPr/>
        </p:nvPicPr>
        <p:blipFill>
          <a:blip r:embed="rId3"/>
          <a:stretch>
            <a:fillRect/>
          </a:stretch>
        </p:blipFill>
        <p:spPr>
          <a:xfrm>
            <a:off x="1295400" y="3238500"/>
            <a:ext cx="609600"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Distance</a:t>
            </a:r>
          </a:p>
        </p:txBody>
      </p:sp>
      <p:sp>
        <p:nvSpPr>
          <p:cNvPr id="8" name="TextBox 7"/>
          <p:cNvSpPr txBox="1"/>
          <p:nvPr/>
        </p:nvSpPr>
        <p:spPr>
          <a:xfrm>
            <a:off x="1295400" y="4701540"/>
            <a:ext cx="3124200" cy="14097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meters  (m)</a:t>
            </a:r>
          </a:p>
        </p:txBody>
      </p:sp>
      <p:sp>
        <p:nvSpPr>
          <p:cNvPr id="9" name="Rounded Rectangle 8"/>
          <p:cNvSpPr/>
          <p:nvPr/>
        </p:nvSpPr>
        <p:spPr>
          <a:xfrm>
            <a:off x="5105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peedometer2.png"/>
          <p:cNvPicPr>
            <a:picLocks noChangeAspect="1"/>
          </p:cNvPicPr>
          <p:nvPr/>
        </p:nvPicPr>
        <p:blipFill>
          <a:blip r:embed="rId4"/>
          <a:stretch>
            <a:fillRect/>
          </a:stretch>
        </p:blipFill>
        <p:spPr>
          <a:xfrm>
            <a:off x="5486400" y="3238500"/>
            <a:ext cx="808589"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Speed</a:t>
            </a:r>
          </a:p>
        </p:txBody>
      </p:sp>
      <p:sp>
        <p:nvSpPr>
          <p:cNvPr id="12" name="TextBox 11"/>
          <p:cNvSpPr txBox="1"/>
          <p:nvPr/>
        </p:nvSpPr>
        <p:spPr>
          <a:xfrm>
            <a:off x="5486400" y="4701540"/>
            <a:ext cx="3124200" cy="14097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meters per second  (m/s)</a:t>
            </a:r>
          </a:p>
        </p:txBody>
      </p:sp>
      <p:sp>
        <p:nvSpPr>
          <p:cNvPr id="13" name="Rounded Rectangle 12"/>
          <p:cNvSpPr/>
          <p:nvPr/>
        </p:nvSpPr>
        <p:spPr>
          <a:xfrm>
            <a:off x="9296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mpass.png"/>
          <p:cNvPicPr>
            <a:picLocks noChangeAspect="1"/>
          </p:cNvPicPr>
          <p:nvPr/>
        </p:nvPicPr>
        <p:blipFill>
          <a:blip r:embed="rId5"/>
          <a:stretch>
            <a:fillRect/>
          </a:stretch>
        </p:blipFill>
        <p:spPr>
          <a:xfrm>
            <a:off x="9677400" y="3238500"/>
            <a:ext cx="576262"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Angle</a:t>
            </a:r>
          </a:p>
        </p:txBody>
      </p:sp>
      <p:sp>
        <p:nvSpPr>
          <p:cNvPr id="16" name="TextBox 15"/>
          <p:cNvSpPr txBox="1"/>
          <p:nvPr/>
        </p:nvSpPr>
        <p:spPr>
          <a:xfrm>
            <a:off x="9677400" y="4701540"/>
            <a:ext cx="3124200" cy="14097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radians  (rad)
degrees only to talk</a:t>
            </a:r>
          </a:p>
        </p:txBody>
      </p:sp>
      <p:sp>
        <p:nvSpPr>
          <p:cNvPr id="17" name="Rounded Rectangle 16"/>
          <p:cNvSpPr/>
          <p:nvPr/>
        </p:nvSpPr>
        <p:spPr>
          <a:xfrm>
            <a:off x="13487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rrow-counterclockwise.png"/>
          <p:cNvPicPr>
            <a:picLocks noChangeAspect="1"/>
          </p:cNvPicPr>
          <p:nvPr/>
        </p:nvPicPr>
        <p:blipFill>
          <a:blip r:embed="rId6"/>
          <a:stretch>
            <a:fillRect/>
          </a:stretch>
        </p:blipFill>
        <p:spPr>
          <a:xfrm>
            <a:off x="13868400" y="3238500"/>
            <a:ext cx="532015"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Turning speed</a:t>
            </a:r>
          </a:p>
        </p:txBody>
      </p:sp>
      <p:sp>
        <p:nvSpPr>
          <p:cNvPr id="20" name="TextBox 19"/>
          <p:cNvSpPr txBox="1"/>
          <p:nvPr/>
        </p:nvSpPr>
        <p:spPr>
          <a:xfrm>
            <a:off x="13868400" y="4701540"/>
            <a:ext cx="3124200" cy="14097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radians per second  (rad/s)</a:t>
            </a:r>
          </a:p>
        </p:txBody>
      </p:sp>
      <p:sp>
        <p:nvSpPr>
          <p:cNvPr id="21" name="Rounded Rectangle 20"/>
          <p:cNvSpPr/>
          <p:nvPr/>
        </p:nvSpPr>
        <p:spPr>
          <a:xfrm>
            <a:off x="914400" y="6572250"/>
            <a:ext cx="16459200" cy="1714500"/>
          </a:xfrm>
          <a:prstGeom prst="roundRect">
            <a:avLst>
              <a:gd name="adj" fmla="val 888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33500" y="6800850"/>
            <a:ext cx="15621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Inches come in once, at the top, and get converted:</a:t>
            </a:r>
          </a:p>
        </p:txBody>
      </p:sp>
      <p:sp>
        <p:nvSpPr>
          <p:cNvPr id="23" name="TextBox 22"/>
          <p:cNvSpPr txBox="1"/>
          <p:nvPr/>
        </p:nvSpPr>
        <p:spPr>
          <a:xfrm>
            <a:off x="1333500" y="7334250"/>
            <a:ext cx="15621000" cy="66675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WHEEL_RADIUS_METERS = Units.inchesToMeters(</a:t>
            </a:r>
            <a:r>
              <a:rPr sz="2250" b="0" i="0">
                <a:solidFill>
                  <a:srgbClr val="E8C27A"/>
                </a:solidFill>
                <a:latin typeface="Geist Mono"/>
                <a:ea typeface="Geist Mono"/>
                <a:cs typeface="Geist Mono"/>
              </a:rPr>
              <a:t>3.0</a:t>
            </a:r>
            <a:r>
              <a:rPr sz="2250" b="0" i="0">
                <a:solidFill>
                  <a:srgbClr val="F0E8E8"/>
                </a:solidFill>
                <a:latin typeface="Geist Mono"/>
                <a:ea typeface="Geist Mono"/>
                <a:cs typeface="Geist Mono"/>
              </a:rPr>
              <a:t>); </a:t>
            </a:r>
            <a:r>
              <a:rPr sz="2250" b="0" i="1">
                <a:solidFill>
                  <a:srgbClr val="9A7878"/>
                </a:solidFill>
                <a:latin typeface="Geist Mono"/>
                <a:ea typeface="Geist Mono"/>
                <a:cs typeface="Geist Mono"/>
              </a:rPr>
              <a:t>// 0.0762 m</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Radians × radius = meters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314450" y="7219950"/>
            <a:ext cx="14325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000500" y="7200900"/>
            <a:ext cx="952500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484549" y="4207098"/>
            <a:ext cx="3031902" cy="3031902"/>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909015" y="4631565"/>
            <a:ext cx="2182969" cy="2182969"/>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81450" y="5885913"/>
            <a:ext cx="38100" cy="9173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flipH="1">
            <a:off x="3081504" y="581400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081504" y="519246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981450" y="4642834"/>
            <a:ext cx="38100" cy="9173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 name="Connector 12"/>
          <p:cNvCxnSpPr/>
          <p:nvPr/>
        </p:nvCxnSpPr>
        <p:spPr>
          <a:xfrm flipV="1">
            <a:off x="4158042" y="519246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58042" y="581400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788267" y="5510816"/>
            <a:ext cx="424466" cy="424466"/>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67150" y="6893417"/>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47049" y="4207098"/>
            <a:ext cx="3031902" cy="3031902"/>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71515" y="4631565"/>
            <a:ext cx="2182969" cy="2182969"/>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43950" y="4642834"/>
            <a:ext cx="38100" cy="917351"/>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flipV="1">
            <a:off x="8920542" y="5192466"/>
            <a:ext cx="761454" cy="4396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920542" y="5814006"/>
            <a:ext cx="761454" cy="4396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743950" y="5885913"/>
            <a:ext cx="38100" cy="917351"/>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3" name="Connector 22"/>
          <p:cNvCxnSpPr/>
          <p:nvPr/>
        </p:nvCxnSpPr>
        <p:spPr>
          <a:xfrm flipH="1">
            <a:off x="7844004" y="5814006"/>
            <a:ext cx="761454" cy="4396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7844004" y="5192466"/>
            <a:ext cx="761454" cy="4396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550767" y="5510816"/>
            <a:ext cx="424466" cy="424466"/>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2009549" y="4207098"/>
            <a:ext cx="3031902" cy="3031902"/>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434015" y="4631565"/>
            <a:ext cx="2182969" cy="2182969"/>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506450" y="5885913"/>
            <a:ext cx="38100" cy="9173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flipH="1">
            <a:off x="12606504" y="581400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2606504" y="519246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13506450" y="4642834"/>
            <a:ext cx="38100" cy="9173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V="1">
            <a:off x="13683042" y="519246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3683042" y="581400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3313267" y="5510816"/>
            <a:ext cx="424466" cy="424466"/>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392150" y="6893417"/>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95950" y="3807048"/>
            <a:ext cx="5996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sosceles Triangle 36"/>
          <p:cNvSpPr/>
          <p:nvPr/>
        </p:nvSpPr>
        <p:spPr>
          <a:xfrm rot="5400000">
            <a:off x="11658600" y="3749898"/>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0" y="3292698"/>
            <a:ext cx="38100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roll 2π rad (one turn)</a:t>
            </a:r>
          </a:p>
        </p:txBody>
      </p:sp>
      <p:sp>
        <p:nvSpPr>
          <p:cNvPr id="39" name="Rectangle 38"/>
          <p:cNvSpPr/>
          <p:nvPr/>
        </p:nvSpPr>
        <p:spPr>
          <a:xfrm>
            <a:off x="3986212" y="5708762"/>
            <a:ext cx="28575" cy="1468326"/>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571750" y="6290525"/>
            <a:ext cx="1295400" cy="381000"/>
          </a:xfrm>
          <a:prstGeom prst="rect">
            <a:avLst/>
          </a:prstGeom>
          <a:noFill/>
        </p:spPr>
        <p:txBody>
          <a:bodyPr wrap="square" lIns="0" rIns="0" tIns="0" bIns="0" anchor="t">
            <a:spAutoFit/>
          </a:bodyPr>
          <a:lstStyle/>
          <a:p>
            <a:pPr algn="r"/>
            <a:r>
              <a:rPr sz="2250" b="1" i="1">
                <a:solidFill>
                  <a:srgbClr val="F0E8E8"/>
                </a:solidFill>
                <a:latin typeface="Geist Mono"/>
                <a:ea typeface="Geist Mono"/>
                <a:cs typeface="Geist Mono"/>
              </a:rPr>
              <a:t>r</a:t>
            </a:r>
          </a:p>
        </p:txBody>
      </p:sp>
      <p:sp>
        <p:nvSpPr>
          <p:cNvPr id="41" name="Rectangle 40"/>
          <p:cNvSpPr/>
          <p:nvPr/>
        </p:nvSpPr>
        <p:spPr>
          <a:xfrm>
            <a:off x="3990975" y="7362825"/>
            <a:ext cx="19050" cy="4572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3515975" y="7362825"/>
            <a:ext cx="19050" cy="4572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185285" y="7581900"/>
            <a:ext cx="430149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Isosceles Triangle 43"/>
          <p:cNvSpPr/>
          <p:nvPr/>
        </p:nvSpPr>
        <p:spPr>
          <a:xfrm rot="16200000">
            <a:off x="4057650" y="75152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39225" y="7581900"/>
            <a:ext cx="430149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Isosceles Triangle 45"/>
          <p:cNvSpPr/>
          <p:nvPr/>
        </p:nvSpPr>
        <p:spPr>
          <a:xfrm rot="5400000">
            <a:off x="13315950" y="75152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905750" y="7410450"/>
            <a:ext cx="17145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810500" y="7410450"/>
            <a:ext cx="1905000" cy="3810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0.479 m</a:t>
            </a:r>
          </a:p>
        </p:txBody>
      </p:sp>
      <p:sp>
        <p:nvSpPr>
          <p:cNvPr id="49" name="Rounded Rectangle 48"/>
          <p:cNvSpPr/>
          <p:nvPr/>
        </p:nvSpPr>
        <p:spPr>
          <a:xfrm>
            <a:off x="914400" y="80962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333500" y="8096250"/>
            <a:ext cx="15621000" cy="1047750"/>
          </a:xfrm>
          <a:prstGeom prst="rect">
            <a:avLst/>
          </a:prstGeom>
          <a:noFill/>
        </p:spPr>
        <p:txBody>
          <a:bodyPr wrap="square" lIns="0" rIns="0" tIns="0" bIns="0" anchor="ctr">
            <a:spAutoFit/>
          </a:bodyPr>
          <a:lstStyle/>
          <a:p>
            <a:pPr algn="l"/>
            <a:r>
              <a:rPr sz="2550" b="1" i="0">
                <a:solidFill>
                  <a:srgbClr val="F0E8E8"/>
                </a:solidFill>
                <a:latin typeface="Geist"/>
                <a:ea typeface="Geist"/>
                <a:cs typeface="Geist"/>
              </a:rPr>
              <a:t>meters  =  radians  ×  </a:t>
            </a:r>
            <a:r>
              <a:rPr sz="2550" b="1" i="0">
                <a:solidFill>
                  <a:srgbClr val="D5000E"/>
                </a:solidFill>
                <a:latin typeface="Geist"/>
                <a:ea typeface="Geist"/>
                <a:cs typeface="Geist"/>
              </a:rPr>
              <a:t>r</a:t>
            </a:r>
            <a:r>
              <a:rPr sz="1950" b="0" i="0">
                <a:solidFill>
                  <a:srgbClr val="9A7878"/>
                </a:solidFill>
                <a:latin typeface="Geist"/>
                <a:ea typeface="Geist"/>
                <a:cs typeface="Geist"/>
              </a:rPr>
              <a:t>        r = 0.0762 m, so 2π rad ≈ 0.479 m</a:t>
            </a:r>
          </a:p>
        </p:txBody>
      </p:sp>
      <p:sp>
        <p:nvSpPr>
          <p:cNvPr id="51" name="TextBox 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2" name="TextBox 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Working the numbers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1915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19200" y="2857500"/>
            <a:ext cx="25527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radians</a:t>
            </a:r>
          </a:p>
        </p:txBody>
      </p:sp>
      <p:sp>
        <p:nvSpPr>
          <p:cNvPr id="7" name="TextBox 6"/>
          <p:cNvSpPr txBox="1"/>
          <p:nvPr/>
        </p:nvSpPr>
        <p:spPr>
          <a:xfrm>
            <a:off x="4076700" y="2857500"/>
            <a:ext cx="21717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 0.0762</a:t>
            </a:r>
          </a:p>
        </p:txBody>
      </p:sp>
      <p:sp>
        <p:nvSpPr>
          <p:cNvPr id="8" name="TextBox 7"/>
          <p:cNvSpPr txBox="1"/>
          <p:nvPr/>
        </p:nvSpPr>
        <p:spPr>
          <a:xfrm>
            <a:off x="6553200" y="2857500"/>
            <a:ext cx="25527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 meters</a:t>
            </a:r>
          </a:p>
        </p:txBody>
      </p:sp>
      <p:sp>
        <p:nvSpPr>
          <p:cNvPr id="9" name="Rectangle 8"/>
          <p:cNvSpPr/>
          <p:nvPr/>
        </p:nvSpPr>
        <p:spPr>
          <a:xfrm>
            <a:off x="904875" y="4467225"/>
            <a:ext cx="8210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19200" y="36195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1</a:t>
            </a:r>
          </a:p>
        </p:txBody>
      </p:sp>
      <p:sp>
        <p:nvSpPr>
          <p:cNvPr id="11" name="TextBox 10"/>
          <p:cNvSpPr txBox="1"/>
          <p:nvPr/>
        </p:nvSpPr>
        <p:spPr>
          <a:xfrm>
            <a:off x="4076700" y="3619500"/>
            <a:ext cx="2171700" cy="819150"/>
          </a:xfrm>
          <a:prstGeom prst="rect">
            <a:avLst/>
          </a:prstGeom>
          <a:noFill/>
        </p:spPr>
        <p:txBody>
          <a:bodyPr wrap="square" lIns="0" rIns="0" tIns="0" bIns="0" anchor="ctr">
            <a:spAutoFit/>
          </a:bodyPr>
          <a:lstStyle/>
          <a:p>
            <a:pPr algn="l"/>
            <a:r>
              <a:rPr sz="2250" b="0" i="0">
                <a:solidFill>
                  <a:srgbClr val="9A7878"/>
                </a:solidFill>
                <a:latin typeface="Geist"/>
                <a:ea typeface="Geist"/>
                <a:cs typeface="Geist"/>
              </a:rPr>
              <a:t>→</a:t>
            </a:r>
          </a:p>
        </p:txBody>
      </p:sp>
      <p:sp>
        <p:nvSpPr>
          <p:cNvPr id="12" name="TextBox 11"/>
          <p:cNvSpPr txBox="1"/>
          <p:nvPr/>
        </p:nvSpPr>
        <p:spPr>
          <a:xfrm>
            <a:off x="6553200" y="36195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0.0762</a:t>
            </a:r>
          </a:p>
        </p:txBody>
      </p:sp>
      <p:sp>
        <p:nvSpPr>
          <p:cNvPr id="13" name="Rectangle 12"/>
          <p:cNvSpPr/>
          <p:nvPr/>
        </p:nvSpPr>
        <p:spPr>
          <a:xfrm>
            <a:off x="904875" y="5381625"/>
            <a:ext cx="8210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19200" y="45339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6.28</a:t>
            </a:r>
          </a:p>
        </p:txBody>
      </p:sp>
      <p:sp>
        <p:nvSpPr>
          <p:cNvPr id="15" name="TextBox 14"/>
          <p:cNvSpPr txBox="1"/>
          <p:nvPr/>
        </p:nvSpPr>
        <p:spPr>
          <a:xfrm>
            <a:off x="4076700" y="4533900"/>
            <a:ext cx="2171700" cy="819150"/>
          </a:xfrm>
          <a:prstGeom prst="rect">
            <a:avLst/>
          </a:prstGeom>
          <a:noFill/>
        </p:spPr>
        <p:txBody>
          <a:bodyPr wrap="square" lIns="0" rIns="0" tIns="0" bIns="0" anchor="ctr">
            <a:spAutoFit/>
          </a:bodyPr>
          <a:lstStyle/>
          <a:p>
            <a:pPr algn="l"/>
            <a:r>
              <a:rPr sz="2250" b="0" i="0">
                <a:solidFill>
                  <a:srgbClr val="9A7878"/>
                </a:solidFill>
                <a:latin typeface="Geist"/>
                <a:ea typeface="Geist"/>
                <a:cs typeface="Geist"/>
              </a:rPr>
              <a:t>→</a:t>
            </a:r>
          </a:p>
        </p:txBody>
      </p:sp>
      <p:sp>
        <p:nvSpPr>
          <p:cNvPr id="16" name="TextBox 15"/>
          <p:cNvSpPr txBox="1"/>
          <p:nvPr/>
        </p:nvSpPr>
        <p:spPr>
          <a:xfrm>
            <a:off x="6553200" y="45339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0.479</a:t>
            </a:r>
          </a:p>
        </p:txBody>
      </p:sp>
      <p:sp>
        <p:nvSpPr>
          <p:cNvPr id="17" name="Rectangle 16"/>
          <p:cNvSpPr/>
          <p:nvPr/>
        </p:nvSpPr>
        <p:spPr>
          <a:xfrm>
            <a:off x="904875" y="6296025"/>
            <a:ext cx="8210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19200" y="54483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10</a:t>
            </a:r>
          </a:p>
        </p:txBody>
      </p:sp>
      <p:sp>
        <p:nvSpPr>
          <p:cNvPr id="19" name="TextBox 18"/>
          <p:cNvSpPr txBox="1"/>
          <p:nvPr/>
        </p:nvSpPr>
        <p:spPr>
          <a:xfrm>
            <a:off x="4076700" y="5448300"/>
            <a:ext cx="2171700" cy="819150"/>
          </a:xfrm>
          <a:prstGeom prst="rect">
            <a:avLst/>
          </a:prstGeom>
          <a:noFill/>
        </p:spPr>
        <p:txBody>
          <a:bodyPr wrap="square" lIns="0" rIns="0" tIns="0" bIns="0" anchor="ctr">
            <a:spAutoFit/>
          </a:bodyPr>
          <a:lstStyle/>
          <a:p>
            <a:pPr algn="l"/>
            <a:r>
              <a:rPr sz="2250" b="0" i="0">
                <a:solidFill>
                  <a:srgbClr val="9A7878"/>
                </a:solidFill>
                <a:latin typeface="Geist"/>
                <a:ea typeface="Geist"/>
                <a:cs typeface="Geist"/>
              </a:rPr>
              <a:t>→</a:t>
            </a:r>
          </a:p>
        </p:txBody>
      </p:sp>
      <p:sp>
        <p:nvSpPr>
          <p:cNvPr id="20" name="TextBox 19"/>
          <p:cNvSpPr txBox="1"/>
          <p:nvPr/>
        </p:nvSpPr>
        <p:spPr>
          <a:xfrm>
            <a:off x="6553200" y="54483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0.762</a:t>
            </a:r>
          </a:p>
        </p:txBody>
      </p:sp>
      <p:sp>
        <p:nvSpPr>
          <p:cNvPr id="21" name="Rounded Rectangle 20"/>
          <p:cNvSpPr/>
          <p:nvPr/>
        </p:nvSpPr>
        <p:spPr>
          <a:xfrm>
            <a:off x="914400" y="6362700"/>
            <a:ext cx="8191500" cy="819150"/>
          </a:xfrm>
          <a:prstGeom prst="roundRect">
            <a:avLst>
              <a:gd name="adj" fmla="val 1395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04875" y="7210425"/>
            <a:ext cx="8210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19200" y="63627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26.2</a:t>
            </a:r>
          </a:p>
        </p:txBody>
      </p:sp>
      <p:sp>
        <p:nvSpPr>
          <p:cNvPr id="24" name="TextBox 23"/>
          <p:cNvSpPr txBox="1"/>
          <p:nvPr/>
        </p:nvSpPr>
        <p:spPr>
          <a:xfrm>
            <a:off x="4076700" y="6362700"/>
            <a:ext cx="2171700" cy="819150"/>
          </a:xfrm>
          <a:prstGeom prst="rect">
            <a:avLst/>
          </a:prstGeom>
          <a:noFill/>
        </p:spPr>
        <p:txBody>
          <a:bodyPr wrap="square" lIns="0" rIns="0" tIns="0" bIns="0" anchor="ctr">
            <a:spAutoFit/>
          </a:bodyPr>
          <a:lstStyle/>
          <a:p>
            <a:pPr algn="l"/>
            <a:r>
              <a:rPr sz="2250" b="0" i="0">
                <a:solidFill>
                  <a:srgbClr val="9A7878"/>
                </a:solidFill>
                <a:latin typeface="Geist"/>
                <a:ea typeface="Geist"/>
                <a:cs typeface="Geist"/>
              </a:rPr>
              <a:t>→</a:t>
            </a:r>
          </a:p>
        </p:txBody>
      </p:sp>
      <p:sp>
        <p:nvSpPr>
          <p:cNvPr id="25" name="TextBox 24"/>
          <p:cNvSpPr txBox="1"/>
          <p:nvPr/>
        </p:nvSpPr>
        <p:spPr>
          <a:xfrm>
            <a:off x="6553200" y="6362700"/>
            <a:ext cx="2552700" cy="819150"/>
          </a:xfrm>
          <a:prstGeom prst="rect">
            <a:avLst/>
          </a:prstGeom>
          <a:noFill/>
        </p:spPr>
        <p:txBody>
          <a:bodyPr wrap="square" lIns="0" rIns="0" tIns="0" bIns="0" anchor="ctr">
            <a:spAutoFit/>
          </a:bodyPr>
          <a:lstStyle/>
          <a:p>
            <a:pPr algn="l"/>
            <a:r>
              <a:rPr sz="2400" b="1" i="0">
                <a:solidFill>
                  <a:srgbClr val="D5000E"/>
                </a:solidFill>
                <a:latin typeface="Geist Mono"/>
                <a:ea typeface="Geist Mono"/>
                <a:cs typeface="Geist Mono"/>
              </a:rPr>
              <a:t>2.00</a:t>
            </a:r>
          </a:p>
        </p:txBody>
      </p:sp>
      <p:sp>
        <p:nvSpPr>
          <p:cNvPr id="26" name="TextBox 25"/>
          <p:cNvSpPr txBox="1"/>
          <p:nvPr/>
        </p:nvSpPr>
        <p:spPr>
          <a:xfrm>
            <a:off x="914400" y="7429500"/>
            <a:ext cx="819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Speed works the same way: rad/s × 0.0762 = m/s.</a:t>
            </a:r>
          </a:p>
        </p:txBody>
      </p:sp>
      <p:sp>
        <p:nvSpPr>
          <p:cNvPr id="27" name="Rounded Rectangle 26"/>
          <p:cNvSpPr/>
          <p:nvPr/>
        </p:nvSpPr>
        <p:spPr>
          <a:xfrm>
            <a:off x="9715500" y="2857500"/>
            <a:ext cx="76581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096500" y="3200400"/>
            <a:ext cx="6667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FULL SPEED</a:t>
            </a:r>
          </a:p>
        </p:txBody>
      </p:sp>
      <p:sp>
        <p:nvSpPr>
          <p:cNvPr id="29" name="TextBox 28"/>
          <p:cNvSpPr txBox="1"/>
          <p:nvPr/>
        </p:nvSpPr>
        <p:spPr>
          <a:xfrm>
            <a:off x="10096500" y="3810000"/>
            <a:ext cx="2857500" cy="857250"/>
          </a:xfrm>
          <a:prstGeom prst="rect">
            <a:avLst/>
          </a:prstGeom>
          <a:noFill/>
        </p:spPr>
        <p:txBody>
          <a:bodyPr wrap="square" lIns="0" rIns="0" tIns="0" bIns="0" anchor="ctr">
            <a:spAutoFit/>
          </a:bodyPr>
          <a:lstStyle/>
          <a:p>
            <a:pPr algn="l"/>
            <a:r>
              <a:rPr sz="4200" b="1" i="0">
                <a:solidFill>
                  <a:srgbClr val="E8C27A"/>
                </a:solidFill>
                <a:latin typeface="Geist Mono"/>
                <a:ea typeface="Geist Mono"/>
                <a:cs typeface="Geist Mono"/>
              </a:rPr>
              <a:t>74.3</a:t>
            </a:r>
          </a:p>
        </p:txBody>
      </p:sp>
      <p:sp>
        <p:nvSpPr>
          <p:cNvPr id="30" name="TextBox 29"/>
          <p:cNvSpPr txBox="1"/>
          <p:nvPr/>
        </p:nvSpPr>
        <p:spPr>
          <a:xfrm>
            <a:off x="13144500" y="3810000"/>
            <a:ext cx="4000500" cy="857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wheel radians per second</a:t>
            </a:r>
          </a:p>
        </p:txBody>
      </p:sp>
      <p:sp>
        <p:nvSpPr>
          <p:cNvPr id="31" name="TextBox 30"/>
          <p:cNvSpPr txBox="1"/>
          <p:nvPr/>
        </p:nvSpPr>
        <p:spPr>
          <a:xfrm>
            <a:off x="10096500" y="4953000"/>
            <a:ext cx="2857500" cy="857250"/>
          </a:xfrm>
          <a:prstGeom prst="rect">
            <a:avLst/>
          </a:prstGeom>
          <a:noFill/>
        </p:spPr>
        <p:txBody>
          <a:bodyPr wrap="square" lIns="0" rIns="0" tIns="0" bIns="0" anchor="ctr">
            <a:spAutoFit/>
          </a:bodyPr>
          <a:lstStyle/>
          <a:p>
            <a:pPr algn="l"/>
            <a:r>
              <a:rPr sz="3000" b="1" i="0">
                <a:solidFill>
                  <a:srgbClr val="E8C27A"/>
                </a:solidFill>
                <a:latin typeface="Geist Mono"/>
                <a:ea typeface="Geist Mono"/>
                <a:cs typeface="Geist Mono"/>
              </a:rPr>
              <a:t>× 0.0762</a:t>
            </a:r>
          </a:p>
        </p:txBody>
      </p:sp>
      <p:sp>
        <p:nvSpPr>
          <p:cNvPr id="32" name="TextBox 31"/>
          <p:cNvSpPr txBox="1"/>
          <p:nvPr/>
        </p:nvSpPr>
        <p:spPr>
          <a:xfrm>
            <a:off x="13144500" y="4953000"/>
            <a:ext cx="4000500" cy="857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
            </a:r>
          </a:p>
        </p:txBody>
      </p:sp>
      <p:sp>
        <p:nvSpPr>
          <p:cNvPr id="33" name="TextBox 32"/>
          <p:cNvSpPr txBox="1"/>
          <p:nvPr/>
        </p:nvSpPr>
        <p:spPr>
          <a:xfrm>
            <a:off x="10096500" y="6096000"/>
            <a:ext cx="2857500" cy="857250"/>
          </a:xfrm>
          <a:prstGeom prst="rect">
            <a:avLst/>
          </a:prstGeom>
          <a:noFill/>
        </p:spPr>
        <p:txBody>
          <a:bodyPr wrap="square" lIns="0" rIns="0" tIns="0" bIns="0" anchor="ctr">
            <a:spAutoFit/>
          </a:bodyPr>
          <a:lstStyle/>
          <a:p>
            <a:pPr algn="l"/>
            <a:r>
              <a:rPr sz="4200" b="1" i="0">
                <a:solidFill>
                  <a:srgbClr val="D5000E"/>
                </a:solidFill>
                <a:latin typeface="Geist Mono"/>
                <a:ea typeface="Geist Mono"/>
                <a:cs typeface="Geist Mono"/>
              </a:rPr>
              <a:t>≈ 5.7</a:t>
            </a:r>
          </a:p>
        </p:txBody>
      </p:sp>
      <p:sp>
        <p:nvSpPr>
          <p:cNvPr id="34" name="TextBox 33"/>
          <p:cNvSpPr txBox="1"/>
          <p:nvPr/>
        </p:nvSpPr>
        <p:spPr>
          <a:xfrm>
            <a:off x="13144500" y="6096000"/>
            <a:ext cx="4000500" cy="857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meters per second</a:t>
            </a:r>
          </a:p>
        </p:txBody>
      </p:sp>
      <p:sp>
        <p:nvSpPr>
          <p:cNvPr id="35" name="TextBox 34"/>
          <p:cNvSpPr txBox="1"/>
          <p:nvPr/>
        </p:nvSpPr>
        <p:spPr>
          <a:xfrm>
            <a:off x="10096500" y="7143750"/>
            <a:ext cx="6858000" cy="3810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The checkpoint expects about 5.5 m/s.</a:t>
            </a:r>
          </a:p>
        </p:txBody>
      </p:sp>
      <p:sp>
        <p:nvSpPr>
          <p:cNvPr id="36" name="Rounded Rectangle 35"/>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question-circle.png"/>
          <p:cNvPicPr>
            <a:picLocks noChangeAspect="1"/>
          </p:cNvPicPr>
          <p:nvPr/>
        </p:nvPicPr>
        <p:blipFill>
          <a:blip r:embed="rId3"/>
          <a:stretch>
            <a:fillRect/>
          </a:stretch>
        </p:blipFill>
        <p:spPr>
          <a:xfrm>
            <a:off x="1333500" y="8305800"/>
            <a:ext cx="533400" cy="533400"/>
          </a:xfrm>
          <a:prstGeom prst="rect">
            <a:avLst/>
          </a:prstGeom>
        </p:spPr>
      </p:pic>
      <p:sp>
        <p:nvSpPr>
          <p:cNvPr id="38" name="TextBox 37"/>
          <p:cNvSpPr txBox="1"/>
          <p:nvPr/>
        </p:nvSpPr>
        <p:spPr>
          <a:xfrm>
            <a:off x="2190750" y="80962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Challenge:  </a:t>
            </a:r>
            <a:r>
              <a:rPr sz="2100" b="0" i="0">
                <a:solidFill>
                  <a:srgbClr val="F0E8E8"/>
                </a:solidFill>
                <a:latin typeface="Geist"/>
                <a:ea typeface="Geist"/>
                <a:cs typeface="Geist"/>
              </a:rPr>
              <a:t>how many wheel radians to drive 2 meters?  (Answer in the table.)</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1: radians into meters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7632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763250" cy="4053840"/>
          </a:xfrm>
          <a:prstGeom prst="roundRect">
            <a:avLst>
              <a:gd name="adj" fmla="val 375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9001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9001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62153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62153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98729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98729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35305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35305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571881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571881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3524250"/>
            <a:ext cx="102298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robotPeriodic() {</a:t>
            </a:r>
          </a:p>
        </p:txBody>
      </p:sp>
      <p:sp>
        <p:nvSpPr>
          <p:cNvPr id="18" name="TextBox 17"/>
          <p:cNvSpPr txBox="1"/>
          <p:nvPr/>
        </p:nvSpPr>
        <p:spPr>
          <a:xfrm>
            <a:off x="1295400" y="389001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radius = Constants.WHEEL_RADIUS_METERS;</a:t>
            </a:r>
          </a:p>
        </p:txBody>
      </p:sp>
      <p:sp>
        <p:nvSpPr>
          <p:cNvPr id="19" name="TextBox 18"/>
          <p:cNvSpPr txBox="1"/>
          <p:nvPr/>
        </p:nvSpPr>
        <p:spPr>
          <a:xfrm>
            <a:off x="1295400" y="425577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0" name="TextBox 19"/>
          <p:cNvSpPr txBox="1"/>
          <p:nvPr/>
        </p:nvSpPr>
        <p:spPr>
          <a:xfrm>
            <a:off x="1295400" y="462153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left_meters =</a:t>
            </a:r>
          </a:p>
        </p:txBody>
      </p:sp>
      <p:sp>
        <p:nvSpPr>
          <p:cNvPr id="21" name="TextBox 20"/>
          <p:cNvSpPr txBox="1"/>
          <p:nvPr/>
        </p:nvSpPr>
        <p:spPr>
          <a:xfrm>
            <a:off x="1295400" y="498729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drive_.getLeftPositionRad() * radius;</a:t>
            </a:r>
          </a:p>
        </p:txBody>
      </p:sp>
      <p:sp>
        <p:nvSpPr>
          <p:cNvPr id="22" name="TextBox 21"/>
          <p:cNvSpPr txBox="1"/>
          <p:nvPr/>
        </p:nvSpPr>
        <p:spPr>
          <a:xfrm>
            <a:off x="1295400" y="535305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left_meters_per_second =</a:t>
            </a:r>
          </a:p>
        </p:txBody>
      </p:sp>
      <p:sp>
        <p:nvSpPr>
          <p:cNvPr id="23" name="TextBox 22"/>
          <p:cNvSpPr txBox="1"/>
          <p:nvPr/>
        </p:nvSpPr>
        <p:spPr>
          <a:xfrm>
            <a:off x="1295400" y="571881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drive_.getLeftVelocityRadPerSec() * radius;</a:t>
            </a:r>
          </a:p>
        </p:txBody>
      </p:sp>
      <p:sp>
        <p:nvSpPr>
          <p:cNvPr id="24" name="TextBox 23"/>
          <p:cNvSpPr txBox="1"/>
          <p:nvPr/>
        </p:nvSpPr>
        <p:spPr>
          <a:xfrm>
            <a:off x="1295400" y="608457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1">
                <a:solidFill>
                  <a:srgbClr val="9A7878"/>
                </a:solidFill>
                <a:latin typeface="Geist Mono"/>
                <a:ea typeface="Geist Mono"/>
                <a:cs typeface="Geist Mono"/>
              </a:rPr>
              <a:t>// ...and the same for the right side</a:t>
            </a:r>
          </a:p>
        </p:txBody>
      </p:sp>
      <p:sp>
        <p:nvSpPr>
          <p:cNvPr id="25" name="TextBox 24"/>
          <p:cNvSpPr txBox="1"/>
          <p:nvPr/>
        </p:nvSpPr>
        <p:spPr>
          <a:xfrm>
            <a:off x="1295400" y="645033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6" name="Oval 25"/>
          <p:cNvSpPr/>
          <p:nvPr/>
        </p:nvSpPr>
        <p:spPr>
          <a:xfrm>
            <a:off x="11068050" y="38823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068050" y="3882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Oval 27"/>
          <p:cNvSpPr/>
          <p:nvPr/>
        </p:nvSpPr>
        <p:spPr>
          <a:xfrm>
            <a:off x="11068050" y="46139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06805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Oval 29"/>
          <p:cNvSpPr/>
          <p:nvPr/>
        </p:nvSpPr>
        <p:spPr>
          <a:xfrm>
            <a:off x="11068050" y="53454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068050" y="53454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2" name="Oval 31"/>
          <p:cNvSpPr/>
          <p:nvPr/>
        </p:nvSpPr>
        <p:spPr>
          <a:xfrm>
            <a:off x="11068050" y="60769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68050" y="60769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Oval 33"/>
          <p:cNvSpPr/>
          <p:nvPr/>
        </p:nvSpPr>
        <p:spPr>
          <a:xfrm>
            <a:off x="12287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TextBox 35"/>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Wheel radius</a:t>
            </a:r>
          </a:p>
        </p:txBody>
      </p:sp>
      <p:sp>
        <p:nvSpPr>
          <p:cNvPr id="37" name="TextBox 36"/>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In meters, from Constants</a:t>
            </a:r>
          </a:p>
        </p:txBody>
      </p:sp>
      <p:sp>
        <p:nvSpPr>
          <p:cNvPr id="38" name="Oval 37"/>
          <p:cNvSpPr/>
          <p:nvPr/>
        </p:nvSpPr>
        <p:spPr>
          <a:xfrm>
            <a:off x="12287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0" name="TextBox 39"/>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Position</a:t>
            </a:r>
          </a:p>
        </p:txBody>
      </p:sp>
      <p:sp>
        <p:nvSpPr>
          <p:cNvPr id="41" name="TextBox 40"/>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Radians × radius = meters</a:t>
            </a:r>
          </a:p>
        </p:txBody>
      </p:sp>
      <p:sp>
        <p:nvSpPr>
          <p:cNvPr id="42" name="Oval 41"/>
          <p:cNvSpPr/>
          <p:nvPr/>
        </p:nvSpPr>
        <p:spPr>
          <a:xfrm>
            <a:off x="12287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4" name="TextBox 43"/>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Speed</a:t>
            </a:r>
          </a:p>
        </p:txBody>
      </p:sp>
      <p:sp>
        <p:nvSpPr>
          <p:cNvPr id="45" name="TextBox 44"/>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rad/s × radius = m/s</a:t>
            </a:r>
          </a:p>
        </p:txBody>
      </p:sp>
      <p:sp>
        <p:nvSpPr>
          <p:cNvPr id="46" name="Oval 45"/>
          <p:cNvSpPr/>
          <p:nvPr/>
        </p:nvSpPr>
        <p:spPr>
          <a:xfrm>
            <a:off x="12287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8" name="TextBox 47"/>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side</a:t>
            </a:r>
          </a:p>
        </p:txBody>
      </p:sp>
      <p:sp>
        <p:nvSpPr>
          <p:cNvPr id="49" name="TextBox 48"/>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Same, with Right</a:t>
            </a:r>
          </a:p>
        </p:txBody>
      </p:sp>
      <p:pic>
        <p:nvPicPr>
          <p:cNvPr id="50" name="Picture 49" descr="code-slash.png"/>
          <p:cNvPicPr>
            <a:picLocks noChangeAspect="1"/>
          </p:cNvPicPr>
          <p:nvPr/>
        </p:nvPicPr>
        <p:blipFill>
          <a:blip r:embed="rId3"/>
          <a:stretch>
            <a:fillRect/>
          </a:stretch>
        </p:blipFill>
        <p:spPr>
          <a:xfrm>
            <a:off x="914400" y="7658100"/>
            <a:ext cx="224518" cy="209550"/>
          </a:xfrm>
          <a:prstGeom prst="rect">
            <a:avLst/>
          </a:prstGeom>
        </p:spPr>
      </p:pic>
      <p:sp>
        <p:nvSpPr>
          <p:cNvPr id="51" name="TextBox 50"/>
          <p:cNvSpPr txBox="1"/>
          <p:nvPr/>
        </p:nvSpPr>
        <p:spPr>
          <a:xfrm>
            <a:off x="1295400" y="7620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Speed and distance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From two sides to one robot</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Two sides, one Dozer. Let's average me 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Linear speed: the average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2390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3581400" y="5601460"/>
            <a:ext cx="1905000" cy="1751081"/>
          </a:xfrm>
          <a:prstGeom prst="rect">
            <a:avLst/>
          </a:prstGeom>
        </p:spPr>
      </p:pic>
      <p:sp>
        <p:nvSpPr>
          <p:cNvPr id="7" name="Rectangle 6"/>
          <p:cNvSpPr/>
          <p:nvPr/>
        </p:nvSpPr>
        <p:spPr>
          <a:xfrm>
            <a:off x="2876550" y="5916549"/>
            <a:ext cx="76200" cy="1312926"/>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2807970" y="5762625"/>
            <a:ext cx="213360" cy="21336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15050" y="5440299"/>
            <a:ext cx="76200" cy="2265426"/>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6046470" y="5286375"/>
            <a:ext cx="213360" cy="21336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6275" y="3621405"/>
            <a:ext cx="95250" cy="176022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a:off x="4400550" y="3429000"/>
            <a:ext cx="266700" cy="2667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0650" y="6286500"/>
            <a:ext cx="1238250" cy="381000"/>
          </a:xfrm>
          <a:prstGeom prst="rect">
            <a:avLst/>
          </a:prstGeom>
          <a:noFill/>
        </p:spPr>
        <p:txBody>
          <a:bodyPr wrap="square" lIns="0" rIns="0" tIns="0" bIns="0" anchor="t">
            <a:spAutoFit/>
          </a:bodyPr>
          <a:lstStyle/>
          <a:p>
            <a:pPr algn="r"/>
            <a:r>
              <a:rPr sz="2250" b="1" i="0">
                <a:solidFill>
                  <a:srgbClr val="E8C27A"/>
                </a:solidFill>
                <a:latin typeface="Geist Mono"/>
                <a:ea typeface="Geist Mono"/>
                <a:cs typeface="Geist Mono"/>
              </a:rPr>
              <a:t>3.0</a:t>
            </a:r>
          </a:p>
        </p:txBody>
      </p:sp>
      <p:sp>
        <p:nvSpPr>
          <p:cNvPr id="14" name="TextBox 13"/>
          <p:cNvSpPr txBox="1"/>
          <p:nvPr/>
        </p:nvSpPr>
        <p:spPr>
          <a:xfrm>
            <a:off x="6438900" y="6286500"/>
            <a:ext cx="1238250" cy="381000"/>
          </a:xfrm>
          <a:prstGeom prst="rect">
            <a:avLst/>
          </a:prstGeom>
          <a:noFill/>
        </p:spPr>
        <p:txBody>
          <a:bodyPr wrap="square" lIns="0" rIns="0" tIns="0" bIns="0" anchor="t">
            <a:spAutoFit/>
          </a:bodyPr>
          <a:lstStyle/>
          <a:p>
            <a:pPr algn="l"/>
            <a:r>
              <a:rPr sz="2250" b="1" i="0">
                <a:solidFill>
                  <a:srgbClr val="E8C27A"/>
                </a:solidFill>
                <a:latin typeface="Geist Mono"/>
                <a:ea typeface="Geist Mono"/>
                <a:cs typeface="Geist Mono"/>
              </a:rPr>
              <a:t>5.0</a:t>
            </a:r>
          </a:p>
        </p:txBody>
      </p:sp>
      <p:sp>
        <p:nvSpPr>
          <p:cNvPr id="15" name="TextBox 14"/>
          <p:cNvSpPr txBox="1"/>
          <p:nvPr/>
        </p:nvSpPr>
        <p:spPr>
          <a:xfrm>
            <a:off x="4819650" y="3333750"/>
            <a:ext cx="1905000" cy="381000"/>
          </a:xfrm>
          <a:prstGeom prst="rect">
            <a:avLst/>
          </a:prstGeom>
          <a:noFill/>
        </p:spPr>
        <p:txBody>
          <a:bodyPr wrap="square" lIns="0" rIns="0" tIns="0" bIns="0" anchor="t">
            <a:spAutoFit/>
          </a:bodyPr>
          <a:lstStyle/>
          <a:p>
            <a:pPr algn="l"/>
            <a:r>
              <a:rPr sz="2550" b="1" i="0">
                <a:solidFill>
                  <a:srgbClr val="D5000E"/>
                </a:solidFill>
                <a:latin typeface="Geist Mono"/>
                <a:ea typeface="Geist Mono"/>
                <a:cs typeface="Geist Mono"/>
              </a:rPr>
              <a:t>4.0</a:t>
            </a:r>
          </a:p>
        </p:txBody>
      </p:sp>
      <p:sp>
        <p:nvSpPr>
          <p:cNvPr id="16" name="TextBox 15"/>
          <p:cNvSpPr txBox="1"/>
          <p:nvPr/>
        </p:nvSpPr>
        <p:spPr>
          <a:xfrm>
            <a:off x="1295400" y="8191500"/>
            <a:ext cx="6477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m/s: left side, middle, right side</a:t>
            </a:r>
          </a:p>
        </p:txBody>
      </p:sp>
      <p:sp>
        <p:nvSpPr>
          <p:cNvPr id="17" name="Rounded Rectangle 16"/>
          <p:cNvSpPr/>
          <p:nvPr/>
        </p:nvSpPr>
        <p:spPr>
          <a:xfrm>
            <a:off x="8763000" y="3143250"/>
            <a:ext cx="8610600" cy="1219200"/>
          </a:xfrm>
          <a:prstGeom prst="roundRect">
            <a:avLst>
              <a:gd name="adj" fmla="val 1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0" y="3524250"/>
            <a:ext cx="8077200" cy="4572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linear = (left + right) / </a:t>
            </a:r>
            <a:r>
              <a:rPr sz="2250" b="0" i="0">
                <a:solidFill>
                  <a:srgbClr val="E8C27A"/>
                </a:solidFill>
                <a:latin typeface="Geist Mono"/>
                <a:ea typeface="Geist Mono"/>
                <a:cs typeface="Geist Mono"/>
              </a:rPr>
              <a:t>2</a:t>
            </a:r>
          </a:p>
        </p:txBody>
      </p:sp>
      <p:sp>
        <p:nvSpPr>
          <p:cNvPr id="19" name="TextBox 18"/>
          <p:cNvSpPr txBox="1"/>
          <p:nvPr/>
        </p:nvSpPr>
        <p:spPr>
          <a:xfrm>
            <a:off x="9048750" y="47053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left</a:t>
            </a:r>
          </a:p>
        </p:txBody>
      </p:sp>
      <p:sp>
        <p:nvSpPr>
          <p:cNvPr id="20" name="TextBox 19"/>
          <p:cNvSpPr txBox="1"/>
          <p:nvPr/>
        </p:nvSpPr>
        <p:spPr>
          <a:xfrm>
            <a:off x="10972800" y="47053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right</a:t>
            </a:r>
          </a:p>
        </p:txBody>
      </p:sp>
      <p:sp>
        <p:nvSpPr>
          <p:cNvPr id="21" name="TextBox 20"/>
          <p:cNvSpPr txBox="1"/>
          <p:nvPr/>
        </p:nvSpPr>
        <p:spPr>
          <a:xfrm>
            <a:off x="12896850" y="47053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linear</a:t>
            </a:r>
          </a:p>
        </p:txBody>
      </p:sp>
      <p:sp>
        <p:nvSpPr>
          <p:cNvPr id="22" name="Rounded Rectangle 21"/>
          <p:cNvSpPr/>
          <p:nvPr/>
        </p:nvSpPr>
        <p:spPr>
          <a:xfrm>
            <a:off x="8763000" y="5143500"/>
            <a:ext cx="8610600" cy="876300"/>
          </a:xfrm>
          <a:prstGeom prst="roundRect">
            <a:avLst>
              <a:gd name="adj" fmla="val 152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048750" y="5143500"/>
            <a:ext cx="5715000" cy="8763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3.0         </a:t>
            </a:r>
            <a:r>
              <a:rPr sz="2100" b="0" i="0">
                <a:solidFill>
                  <a:srgbClr val="E8C27A"/>
                </a:solidFill>
                <a:latin typeface="Geist Mono"/>
                <a:ea typeface="Geist Mono"/>
                <a:cs typeface="Geist Mono"/>
              </a:rPr>
              <a:t>5.0         </a:t>
            </a:r>
            <a:r>
              <a:rPr sz="2100" b="1" i="0">
                <a:solidFill>
                  <a:srgbClr val="D5000E"/>
                </a:solidFill>
                <a:latin typeface="Geist Mono"/>
                <a:ea typeface="Geist Mono"/>
                <a:cs typeface="Geist Mono"/>
              </a:rPr>
              <a:t>4.0</a:t>
            </a:r>
          </a:p>
        </p:txBody>
      </p:sp>
      <p:sp>
        <p:nvSpPr>
          <p:cNvPr id="24" name="TextBox 23"/>
          <p:cNvSpPr txBox="1"/>
          <p:nvPr/>
        </p:nvSpPr>
        <p:spPr>
          <a:xfrm>
            <a:off x="14287500" y="5143500"/>
            <a:ext cx="2857500" cy="876300"/>
          </a:xfrm>
          <a:prstGeom prst="rect">
            <a:avLst/>
          </a:prstGeom>
          <a:noFill/>
        </p:spPr>
        <p:txBody>
          <a:bodyPr wrap="square" lIns="0" rIns="0" tIns="0" bIns="0" anchor="ctr">
            <a:spAutoFit/>
          </a:bodyPr>
          <a:lstStyle/>
          <a:p>
            <a:pPr algn="l"/>
            <a:r>
              <a:rPr sz="1725" b="0" i="0">
                <a:solidFill>
                  <a:srgbClr val="9A7878"/>
                </a:solidFill>
                <a:latin typeface="Geist"/>
                <a:ea typeface="Geist"/>
                <a:cs typeface="Geist"/>
              </a:rPr>
              <a:t>Curving left</a:t>
            </a:r>
          </a:p>
        </p:txBody>
      </p:sp>
      <p:sp>
        <p:nvSpPr>
          <p:cNvPr id="25" name="Rounded Rectangle 24"/>
          <p:cNvSpPr/>
          <p:nvPr/>
        </p:nvSpPr>
        <p:spPr>
          <a:xfrm>
            <a:off x="8763000" y="6191250"/>
            <a:ext cx="8610600" cy="876300"/>
          </a:xfrm>
          <a:prstGeom prst="roundRect">
            <a:avLst>
              <a:gd name="adj" fmla="val 152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048750" y="6191250"/>
            <a:ext cx="5715000" cy="8763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4.0         </a:t>
            </a:r>
            <a:r>
              <a:rPr sz="2100" b="0" i="0">
                <a:solidFill>
                  <a:srgbClr val="E8C27A"/>
                </a:solidFill>
                <a:latin typeface="Geist Mono"/>
                <a:ea typeface="Geist Mono"/>
                <a:cs typeface="Geist Mono"/>
              </a:rPr>
              <a:t>4.0         </a:t>
            </a:r>
            <a:r>
              <a:rPr sz="2100" b="1" i="0">
                <a:solidFill>
                  <a:srgbClr val="D5000E"/>
                </a:solidFill>
                <a:latin typeface="Geist Mono"/>
                <a:ea typeface="Geist Mono"/>
                <a:cs typeface="Geist Mono"/>
              </a:rPr>
              <a:t>4.0</a:t>
            </a:r>
          </a:p>
        </p:txBody>
      </p:sp>
      <p:sp>
        <p:nvSpPr>
          <p:cNvPr id="27" name="TextBox 26"/>
          <p:cNvSpPr txBox="1"/>
          <p:nvPr/>
        </p:nvSpPr>
        <p:spPr>
          <a:xfrm>
            <a:off x="14287500" y="6191250"/>
            <a:ext cx="2857500" cy="876300"/>
          </a:xfrm>
          <a:prstGeom prst="rect">
            <a:avLst/>
          </a:prstGeom>
          <a:noFill/>
        </p:spPr>
        <p:txBody>
          <a:bodyPr wrap="square" lIns="0" rIns="0" tIns="0" bIns="0" anchor="ctr">
            <a:spAutoFit/>
          </a:bodyPr>
          <a:lstStyle/>
          <a:p>
            <a:pPr algn="l"/>
            <a:r>
              <a:rPr sz="1725" b="0" i="0">
                <a:solidFill>
                  <a:srgbClr val="9A7878"/>
                </a:solidFill>
                <a:latin typeface="Geist"/>
                <a:ea typeface="Geist"/>
                <a:cs typeface="Geist"/>
              </a:rPr>
              <a:t>Straight ahead</a:t>
            </a:r>
          </a:p>
        </p:txBody>
      </p:sp>
      <p:sp>
        <p:nvSpPr>
          <p:cNvPr id="28" name="Rounded Rectangle 27"/>
          <p:cNvSpPr/>
          <p:nvPr/>
        </p:nvSpPr>
        <p:spPr>
          <a:xfrm>
            <a:off x="8763000" y="7239000"/>
            <a:ext cx="8610600" cy="876300"/>
          </a:xfrm>
          <a:prstGeom prst="roundRect">
            <a:avLst>
              <a:gd name="adj" fmla="val 152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048750" y="7239000"/>
            <a:ext cx="5715000" cy="8763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2.0         </a:t>
            </a:r>
            <a:r>
              <a:rPr sz="2100" b="0" i="0">
                <a:solidFill>
                  <a:srgbClr val="E8C27A"/>
                </a:solidFill>
                <a:latin typeface="Geist Mono"/>
                <a:ea typeface="Geist Mono"/>
                <a:cs typeface="Geist Mono"/>
              </a:rPr>
              <a:t>-2.0        </a:t>
            </a:r>
            <a:r>
              <a:rPr sz="2100" b="1" i="0">
                <a:solidFill>
                  <a:srgbClr val="D5000E"/>
                </a:solidFill>
                <a:latin typeface="Geist Mono"/>
                <a:ea typeface="Geist Mono"/>
                <a:cs typeface="Geist Mono"/>
              </a:rPr>
              <a:t>0.0</a:t>
            </a:r>
          </a:p>
        </p:txBody>
      </p:sp>
      <p:sp>
        <p:nvSpPr>
          <p:cNvPr id="30" name="TextBox 29"/>
          <p:cNvSpPr txBox="1"/>
          <p:nvPr/>
        </p:nvSpPr>
        <p:spPr>
          <a:xfrm>
            <a:off x="14287500" y="7239000"/>
            <a:ext cx="2857500" cy="876300"/>
          </a:xfrm>
          <a:prstGeom prst="rect">
            <a:avLst/>
          </a:prstGeom>
          <a:noFill/>
        </p:spPr>
        <p:txBody>
          <a:bodyPr wrap="square" lIns="0" rIns="0" tIns="0" bIns="0" anchor="ctr">
            <a:spAutoFit/>
          </a:bodyPr>
          <a:lstStyle/>
          <a:p>
            <a:pPr algn="l"/>
            <a:r>
              <a:rPr sz="1725" b="0" i="0">
                <a:solidFill>
                  <a:srgbClr val="9A7878"/>
                </a:solidFill>
                <a:latin typeface="Geist"/>
                <a:ea typeface="Geist"/>
                <a:cs typeface="Geist"/>
              </a:rPr>
              <a:t>Spinning in place</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Angular speed: the difference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3867150" y="4934710"/>
            <a:ext cx="1905000" cy="1751081"/>
          </a:xfrm>
          <a:prstGeom prst="rect">
            <a:avLst/>
          </a:prstGeom>
        </p:spPr>
      </p:pic>
      <p:sp>
        <p:nvSpPr>
          <p:cNvPr id="7" name="Rectangle 6"/>
          <p:cNvSpPr/>
          <p:nvPr/>
        </p:nvSpPr>
        <p:spPr>
          <a:xfrm>
            <a:off x="3823487" y="5200650"/>
            <a:ext cx="76200" cy="1027176"/>
          </a:xfrm>
          <a:prstGeom prst="rect">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rot="10800000">
            <a:off x="3754907" y="6168390"/>
            <a:ext cx="213360" cy="21336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39613" y="5392674"/>
            <a:ext cx="76200" cy="10271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5671033" y="523875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7587" y="5619750"/>
            <a:ext cx="1238250" cy="381000"/>
          </a:xfrm>
          <a:prstGeom prst="rect">
            <a:avLst/>
          </a:prstGeom>
          <a:noFill/>
        </p:spPr>
        <p:txBody>
          <a:bodyPr wrap="square" lIns="0" rIns="0" tIns="0" bIns="0" anchor="t">
            <a:spAutoFit/>
          </a:bodyPr>
          <a:lstStyle/>
          <a:p>
            <a:pPr algn="r"/>
            <a:r>
              <a:rPr sz="2100" b="1" i="0">
                <a:solidFill>
                  <a:srgbClr val="E8C27A"/>
                </a:solidFill>
                <a:latin typeface="Geist Mono"/>
                <a:ea typeface="Geist Mono"/>
                <a:cs typeface="Geist Mono"/>
              </a:rPr>
              <a:t>-1.5</a:t>
            </a:r>
          </a:p>
        </p:txBody>
      </p:sp>
      <p:sp>
        <p:nvSpPr>
          <p:cNvPr id="12" name="TextBox 11"/>
          <p:cNvSpPr txBox="1"/>
          <p:nvPr/>
        </p:nvSpPr>
        <p:spPr>
          <a:xfrm>
            <a:off x="6063463" y="5619750"/>
            <a:ext cx="1238250" cy="381000"/>
          </a:xfrm>
          <a:prstGeom prst="rect">
            <a:avLst/>
          </a:prstGeom>
          <a:noFill/>
        </p:spPr>
        <p:txBody>
          <a:bodyPr wrap="square" lIns="0" rIns="0" tIns="0" bIns="0" anchor="t">
            <a:spAutoFit/>
          </a:bodyPr>
          <a:lstStyle/>
          <a:p>
            <a:pPr algn="l"/>
            <a:r>
              <a:rPr sz="2100" b="1" i="0">
                <a:solidFill>
                  <a:srgbClr val="E8C27A"/>
                </a:solidFill>
                <a:latin typeface="Geist Mono"/>
                <a:ea typeface="Geist Mono"/>
                <a:cs typeface="Geist Mono"/>
              </a:rPr>
              <a:t>1.5</a:t>
            </a:r>
          </a:p>
        </p:txBody>
      </p:sp>
      <p:sp>
        <p:nvSpPr>
          <p:cNvPr id="13" name="Rectangle 12"/>
          <p:cNvSpPr/>
          <p:nvPr/>
        </p:nvSpPr>
        <p:spPr>
          <a:xfrm>
            <a:off x="3852062" y="7038975"/>
            <a:ext cx="19050" cy="590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768188" y="7038975"/>
            <a:ext cx="19050" cy="590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027322" y="7324725"/>
            <a:ext cx="420853"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16200000">
            <a:off x="3899687" y="7258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91125" y="7324725"/>
            <a:ext cx="420853"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5587213" y="7258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90900" y="767715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track width 0.61 m</a:t>
            </a:r>
          </a:p>
        </p:txBody>
      </p:sp>
      <p:pic>
        <p:nvPicPr>
          <p:cNvPr id="20" name="Picture 19" descr="arrow-counterclockwise.png"/>
          <p:cNvPicPr>
            <a:picLocks noChangeAspect="1"/>
          </p:cNvPicPr>
          <p:nvPr/>
        </p:nvPicPr>
        <p:blipFill>
          <a:blip r:embed="rId4"/>
          <a:stretch>
            <a:fillRect/>
          </a:stretch>
        </p:blipFill>
        <p:spPr>
          <a:xfrm>
            <a:off x="4438650" y="3238500"/>
            <a:ext cx="665018" cy="762000"/>
          </a:xfrm>
          <a:prstGeom prst="rect">
            <a:avLst/>
          </a:prstGeom>
        </p:spPr>
      </p:pic>
      <p:sp>
        <p:nvSpPr>
          <p:cNvPr id="21" name="TextBox 20"/>
          <p:cNvSpPr txBox="1"/>
          <p:nvPr/>
        </p:nvSpPr>
        <p:spPr>
          <a:xfrm>
            <a:off x="5391150" y="3352800"/>
            <a:ext cx="2857500" cy="47625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turning left</a:t>
            </a:r>
          </a:p>
        </p:txBody>
      </p:sp>
      <p:sp>
        <p:nvSpPr>
          <p:cNvPr id="22" name="Rounded Rectangle 21"/>
          <p:cNvSpPr/>
          <p:nvPr/>
        </p:nvSpPr>
        <p:spPr>
          <a:xfrm>
            <a:off x="9334500" y="3143250"/>
            <a:ext cx="8039100" cy="1562100"/>
          </a:xfrm>
          <a:prstGeom prst="roundRect">
            <a:avLst>
              <a:gd name="adj" fmla="val 975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15500" y="3524250"/>
            <a:ext cx="7505700" cy="4000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angular = (right - left)</a:t>
            </a:r>
          </a:p>
        </p:txBody>
      </p:sp>
      <p:sp>
        <p:nvSpPr>
          <p:cNvPr id="24" name="TextBox 23"/>
          <p:cNvSpPr txBox="1"/>
          <p:nvPr/>
        </p:nvSpPr>
        <p:spPr>
          <a:xfrm>
            <a:off x="9715500" y="3924300"/>
            <a:ext cx="7505700" cy="4000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 track width</a:t>
            </a:r>
          </a:p>
        </p:txBody>
      </p:sp>
      <p:sp>
        <p:nvSpPr>
          <p:cNvPr id="25" name="TextBox 24"/>
          <p:cNvSpPr txBox="1"/>
          <p:nvPr/>
        </p:nvSpPr>
        <p:spPr>
          <a:xfrm>
            <a:off x="9334500" y="4953000"/>
            <a:ext cx="8039100" cy="476250"/>
          </a:xfrm>
          <a:prstGeom prst="rect">
            <a:avLst/>
          </a:prstGeom>
          <a:noFill/>
        </p:spPr>
        <p:txBody>
          <a:bodyPr wrap="square" lIns="0" rIns="0" tIns="0" bIns="0" anchor="t">
            <a:spAutoFit/>
          </a:bodyPr>
          <a:lstStyle/>
          <a:p>
            <a:pPr algn="l"/>
            <a:r>
              <a:rPr sz="2250" b="0" i="0">
                <a:solidFill>
                  <a:srgbClr val="F0E8E8"/>
                </a:solidFill>
                <a:latin typeface="Geist Mono"/>
                <a:ea typeface="Geist Mono"/>
                <a:cs typeface="Geist Mono"/>
              </a:rPr>
              <a:t>(1.5 - (-1.5)) / 0.61 ≈ </a:t>
            </a:r>
            <a:r>
              <a:rPr sz="2250" b="1" i="0">
                <a:solidFill>
                  <a:srgbClr val="D5000E"/>
                </a:solidFill>
                <a:latin typeface="Geist Mono"/>
                <a:ea typeface="Geist Mono"/>
                <a:cs typeface="Geist Mono"/>
              </a:rPr>
              <a:t>4.9 rad/s</a:t>
            </a:r>
          </a:p>
        </p:txBody>
      </p:sp>
      <p:sp>
        <p:nvSpPr>
          <p:cNvPr id="26" name="TextBox 25"/>
          <p:cNvSpPr txBox="1"/>
          <p:nvPr/>
        </p:nvSpPr>
        <p:spPr>
          <a:xfrm>
            <a:off x="9334500" y="5810250"/>
            <a:ext cx="8039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Positive</a:t>
            </a:r>
            <a:r>
              <a:rPr sz="2100" b="0" i="0">
                <a:solidFill>
                  <a:srgbClr val="F0E8E8"/>
                </a:solidFill>
                <a:latin typeface="Geist"/>
                <a:ea typeface="Geist"/>
                <a:cs typeface="Geist"/>
              </a:rPr>
              <a:t> = turning left (counterclockwise)</a:t>
            </a:r>
          </a:p>
        </p:txBody>
      </p:sp>
      <p:sp>
        <p:nvSpPr>
          <p:cNvPr id="27" name="TextBox 26"/>
          <p:cNvSpPr txBox="1"/>
          <p:nvPr/>
        </p:nvSpPr>
        <p:spPr>
          <a:xfrm>
            <a:off x="9334500" y="6385560"/>
            <a:ext cx="8039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Same speeds</a:t>
            </a:r>
            <a:r>
              <a:rPr sz="2100" b="0" i="0">
                <a:solidFill>
                  <a:srgbClr val="F0E8E8"/>
                </a:solidFill>
                <a:latin typeface="Geist"/>
                <a:ea typeface="Geist"/>
                <a:cs typeface="Geist"/>
              </a:rPr>
              <a:t> = 0, no turning</a:t>
            </a:r>
          </a:p>
        </p:txBody>
      </p:sp>
      <p:sp>
        <p:nvSpPr>
          <p:cNvPr id="28" name="TextBox 27"/>
          <p:cNvSpPr txBox="1"/>
          <p:nvPr/>
        </p:nvSpPr>
        <p:spPr>
          <a:xfrm>
            <a:off x="9334500" y="6960870"/>
            <a:ext cx="8039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A full turn</a:t>
            </a:r>
            <a:r>
              <a:rPr sz="2100" b="0" i="0">
                <a:solidFill>
                  <a:srgbClr val="F0E8E8"/>
                </a:solidFill>
                <a:latin typeface="Geist"/>
                <a:ea typeface="Geist"/>
                <a:cs typeface="Geist"/>
              </a:rPr>
              <a:t> is 2π ≈ 6.28 radians</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Distance: how far the middle went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2841625" y="4105845"/>
            <a:ext cx="1428750" cy="1313311"/>
          </a:xfrm>
          <a:prstGeom prst="rect">
            <a:avLst/>
          </a:prstGeom>
        </p:spPr>
      </p:pic>
      <p:sp>
        <p:nvSpPr>
          <p:cNvPr id="7" name="Rectangle 6"/>
          <p:cNvSpPr/>
          <p:nvPr/>
        </p:nvSpPr>
        <p:spPr>
          <a:xfrm>
            <a:off x="2379662" y="3801808"/>
            <a:ext cx="66675" cy="2089404"/>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2319655" y="3667125"/>
            <a:ext cx="186690" cy="18669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65662" y="3801808"/>
            <a:ext cx="66675" cy="2089404"/>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4605655" y="3667125"/>
            <a:ext cx="186690" cy="18669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9500" y="4591050"/>
            <a:ext cx="1047750" cy="342900"/>
          </a:xfrm>
          <a:prstGeom prst="rect">
            <a:avLst/>
          </a:prstGeom>
          <a:noFill/>
        </p:spPr>
        <p:txBody>
          <a:bodyPr wrap="square" lIns="0" rIns="0" tIns="0" bIns="0" anchor="t">
            <a:spAutoFit/>
          </a:bodyPr>
          <a:lstStyle/>
          <a:p>
            <a:pPr algn="r"/>
            <a:r>
              <a:rPr sz="1800" b="1" i="0">
                <a:solidFill>
                  <a:srgbClr val="E8C27A"/>
                </a:solidFill>
                <a:latin typeface="Geist Mono"/>
                <a:ea typeface="Geist Mono"/>
                <a:cs typeface="Geist Mono"/>
              </a:rPr>
              <a:t>2.0</a:t>
            </a:r>
          </a:p>
        </p:txBody>
      </p:sp>
      <p:sp>
        <p:nvSpPr>
          <p:cNvPr id="12" name="TextBox 11"/>
          <p:cNvSpPr txBox="1"/>
          <p:nvPr/>
        </p:nvSpPr>
        <p:spPr>
          <a:xfrm>
            <a:off x="4984750" y="4591050"/>
            <a:ext cx="1047750" cy="342900"/>
          </a:xfrm>
          <a:prstGeom prst="rect">
            <a:avLst/>
          </a:prstGeom>
          <a:noFill/>
        </p:spPr>
        <p:txBody>
          <a:bodyPr wrap="square" lIns="0" rIns="0" tIns="0" bIns="0" anchor="t">
            <a:spAutoFit/>
          </a:bodyPr>
          <a:lstStyle/>
          <a:p>
            <a:pPr algn="l"/>
            <a:r>
              <a:rPr sz="1800" b="1" i="0">
                <a:solidFill>
                  <a:srgbClr val="E8C27A"/>
                </a:solidFill>
                <a:latin typeface="Geist Mono"/>
                <a:ea typeface="Geist Mono"/>
                <a:cs typeface="Geist Mono"/>
              </a:rPr>
              <a:t>2.0</a:t>
            </a:r>
          </a:p>
        </p:txBody>
      </p:sp>
      <p:sp>
        <p:nvSpPr>
          <p:cNvPr id="13" name="TextBox 12"/>
          <p:cNvSpPr txBox="1"/>
          <p:nvPr/>
        </p:nvSpPr>
        <p:spPr>
          <a:xfrm>
            <a:off x="1295400" y="6286500"/>
            <a:ext cx="45212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Straight:  </a:t>
            </a:r>
            <a:r>
              <a:rPr sz="2400" b="1" i="0">
                <a:solidFill>
                  <a:srgbClr val="D5000E"/>
                </a:solidFill>
                <a:latin typeface="Geist Mono"/>
                <a:ea typeface="Geist Mono"/>
                <a:cs typeface="Geist Mono"/>
              </a:rPr>
              <a:t>2.0 m</a:t>
            </a:r>
          </a:p>
        </p:txBody>
      </p:sp>
      <p:sp>
        <p:nvSpPr>
          <p:cNvPr id="14" name="TextBox 13"/>
          <p:cNvSpPr txBox="1"/>
          <p:nvPr/>
        </p:nvSpPr>
        <p:spPr>
          <a:xfrm>
            <a:off x="1295400" y="6858000"/>
            <a:ext cx="45212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sides 2.0 m</a:t>
            </a:r>
          </a:p>
        </p:txBody>
      </p:sp>
      <p:sp>
        <p:nvSpPr>
          <p:cNvPr id="15" name="Rounded Rectangle 14"/>
          <p:cNvSpPr/>
          <p:nvPr/>
        </p:nvSpPr>
        <p:spPr>
          <a:xfrm>
            <a:off x="6502400" y="2857500"/>
            <a:ext cx="5283200" cy="4953000"/>
          </a:xfrm>
          <a:prstGeom prst="roundRect">
            <a:avLst>
              <a:gd name="adj" fmla="val 307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ozer_top.png"/>
          <p:cNvPicPr>
            <a:picLocks noChangeAspect="1"/>
          </p:cNvPicPr>
          <p:nvPr/>
        </p:nvPicPr>
        <p:blipFill>
          <a:blip r:embed="rId3"/>
          <a:stretch>
            <a:fillRect/>
          </a:stretch>
        </p:blipFill>
        <p:spPr>
          <a:xfrm rot="16200000">
            <a:off x="8429625" y="4105845"/>
            <a:ext cx="1428750" cy="1313311"/>
          </a:xfrm>
          <a:prstGeom prst="rect">
            <a:avLst/>
          </a:prstGeom>
        </p:spPr>
      </p:pic>
      <p:sp>
        <p:nvSpPr>
          <p:cNvPr id="17" name="Rectangle 16"/>
          <p:cNvSpPr/>
          <p:nvPr/>
        </p:nvSpPr>
        <p:spPr>
          <a:xfrm>
            <a:off x="7967662" y="4455319"/>
            <a:ext cx="66675" cy="446342"/>
          </a:xfrm>
          <a:prstGeom prst="rect">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10800000">
            <a:off x="7907655" y="4849654"/>
            <a:ext cx="186690" cy="18669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253662" y="4623340"/>
            <a:ext cx="66675" cy="44634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10193655" y="4488656"/>
            <a:ext cx="186690" cy="18669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7500" y="4591050"/>
            <a:ext cx="1047750" cy="342900"/>
          </a:xfrm>
          <a:prstGeom prst="rect">
            <a:avLst/>
          </a:prstGeom>
          <a:noFill/>
        </p:spPr>
        <p:txBody>
          <a:bodyPr wrap="square" lIns="0" rIns="0" tIns="0" bIns="0" anchor="t">
            <a:spAutoFit/>
          </a:bodyPr>
          <a:lstStyle/>
          <a:p>
            <a:pPr algn="r"/>
            <a:r>
              <a:rPr sz="1800" b="1" i="0">
                <a:solidFill>
                  <a:srgbClr val="E8C27A"/>
                </a:solidFill>
                <a:latin typeface="Geist Mono"/>
                <a:ea typeface="Geist Mono"/>
                <a:cs typeface="Geist Mono"/>
              </a:rPr>
              <a:t>-0.5</a:t>
            </a:r>
          </a:p>
        </p:txBody>
      </p:sp>
      <p:sp>
        <p:nvSpPr>
          <p:cNvPr id="22" name="TextBox 21"/>
          <p:cNvSpPr txBox="1"/>
          <p:nvPr/>
        </p:nvSpPr>
        <p:spPr>
          <a:xfrm>
            <a:off x="10572750" y="4591050"/>
            <a:ext cx="1047750" cy="342900"/>
          </a:xfrm>
          <a:prstGeom prst="rect">
            <a:avLst/>
          </a:prstGeom>
          <a:noFill/>
        </p:spPr>
        <p:txBody>
          <a:bodyPr wrap="square" lIns="0" rIns="0" tIns="0" bIns="0" anchor="t">
            <a:spAutoFit/>
          </a:bodyPr>
          <a:lstStyle/>
          <a:p>
            <a:pPr algn="l"/>
            <a:r>
              <a:rPr sz="1800" b="1" i="0">
                <a:solidFill>
                  <a:srgbClr val="E8C27A"/>
                </a:solidFill>
                <a:latin typeface="Geist Mono"/>
                <a:ea typeface="Geist Mono"/>
                <a:cs typeface="Geist Mono"/>
              </a:rPr>
              <a:t>0.5</a:t>
            </a:r>
          </a:p>
        </p:txBody>
      </p:sp>
      <p:sp>
        <p:nvSpPr>
          <p:cNvPr id="23" name="TextBox 22"/>
          <p:cNvSpPr txBox="1"/>
          <p:nvPr/>
        </p:nvSpPr>
        <p:spPr>
          <a:xfrm>
            <a:off x="6883400" y="6286500"/>
            <a:ext cx="45212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Spin:  </a:t>
            </a:r>
            <a:r>
              <a:rPr sz="2400" b="1" i="0">
                <a:solidFill>
                  <a:srgbClr val="D5000E"/>
                </a:solidFill>
                <a:latin typeface="Geist Mono"/>
                <a:ea typeface="Geist Mono"/>
                <a:cs typeface="Geist Mono"/>
              </a:rPr>
              <a:t>0.0 m</a:t>
            </a:r>
          </a:p>
        </p:txBody>
      </p:sp>
      <p:sp>
        <p:nvSpPr>
          <p:cNvPr id="24" name="TextBox 23"/>
          <p:cNvSpPr txBox="1"/>
          <p:nvPr/>
        </p:nvSpPr>
        <p:spPr>
          <a:xfrm>
            <a:off x="6883400" y="6858000"/>
            <a:ext cx="45212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They cancel: spinning isn't progress</a:t>
            </a:r>
          </a:p>
        </p:txBody>
      </p:sp>
      <p:sp>
        <p:nvSpPr>
          <p:cNvPr id="25" name="Rounded Rectangle 24"/>
          <p:cNvSpPr/>
          <p:nvPr/>
        </p:nvSpPr>
        <p:spPr>
          <a:xfrm>
            <a:off x="12090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dozer_top.png"/>
          <p:cNvPicPr>
            <a:picLocks noChangeAspect="1"/>
          </p:cNvPicPr>
          <p:nvPr/>
        </p:nvPicPr>
        <p:blipFill>
          <a:blip r:embed="rId3"/>
          <a:stretch>
            <a:fillRect/>
          </a:stretch>
        </p:blipFill>
        <p:spPr>
          <a:xfrm rot="16200000">
            <a:off x="14017625" y="4105845"/>
            <a:ext cx="1428750" cy="1313311"/>
          </a:xfrm>
          <a:prstGeom prst="rect">
            <a:avLst/>
          </a:prstGeom>
        </p:spPr>
      </p:pic>
      <p:sp>
        <p:nvSpPr>
          <p:cNvPr id="27" name="Rectangle 26"/>
          <p:cNvSpPr/>
          <p:nvPr/>
        </p:nvSpPr>
        <p:spPr>
          <a:xfrm>
            <a:off x="13555662" y="3582734"/>
            <a:ext cx="66675" cy="2527554"/>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a:off x="13495655" y="3448050"/>
            <a:ext cx="186690" cy="18669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5841662" y="4020884"/>
            <a:ext cx="66675" cy="1651254"/>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a:off x="15781655" y="3886200"/>
            <a:ext cx="186690" cy="18669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255500" y="4591050"/>
            <a:ext cx="1047750" cy="342900"/>
          </a:xfrm>
          <a:prstGeom prst="rect">
            <a:avLst/>
          </a:prstGeom>
          <a:noFill/>
        </p:spPr>
        <p:txBody>
          <a:bodyPr wrap="square" lIns="0" rIns="0" tIns="0" bIns="0" anchor="t">
            <a:spAutoFit/>
          </a:bodyPr>
          <a:lstStyle/>
          <a:p>
            <a:pPr algn="r"/>
            <a:r>
              <a:rPr sz="1800" b="1" i="0">
                <a:solidFill>
                  <a:srgbClr val="E8C27A"/>
                </a:solidFill>
                <a:latin typeface="Geist Mono"/>
                <a:ea typeface="Geist Mono"/>
                <a:cs typeface="Geist Mono"/>
              </a:rPr>
              <a:t>2.4</a:t>
            </a:r>
          </a:p>
        </p:txBody>
      </p:sp>
      <p:sp>
        <p:nvSpPr>
          <p:cNvPr id="32" name="TextBox 31"/>
          <p:cNvSpPr txBox="1"/>
          <p:nvPr/>
        </p:nvSpPr>
        <p:spPr>
          <a:xfrm>
            <a:off x="16160750" y="4591050"/>
            <a:ext cx="1047750" cy="342900"/>
          </a:xfrm>
          <a:prstGeom prst="rect">
            <a:avLst/>
          </a:prstGeom>
          <a:noFill/>
        </p:spPr>
        <p:txBody>
          <a:bodyPr wrap="square" lIns="0" rIns="0" tIns="0" bIns="0" anchor="t">
            <a:spAutoFit/>
          </a:bodyPr>
          <a:lstStyle/>
          <a:p>
            <a:pPr algn="l"/>
            <a:r>
              <a:rPr sz="1800" b="1" i="0">
                <a:solidFill>
                  <a:srgbClr val="E8C27A"/>
                </a:solidFill>
                <a:latin typeface="Geist Mono"/>
                <a:ea typeface="Geist Mono"/>
                <a:cs typeface="Geist Mono"/>
              </a:rPr>
              <a:t>1.6</a:t>
            </a:r>
          </a:p>
        </p:txBody>
      </p:sp>
      <p:sp>
        <p:nvSpPr>
          <p:cNvPr id="33" name="TextBox 32"/>
          <p:cNvSpPr txBox="1"/>
          <p:nvPr/>
        </p:nvSpPr>
        <p:spPr>
          <a:xfrm>
            <a:off x="12471400" y="6286500"/>
            <a:ext cx="45212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Curve:  </a:t>
            </a:r>
            <a:r>
              <a:rPr sz="2400" b="1" i="0">
                <a:solidFill>
                  <a:srgbClr val="D5000E"/>
                </a:solidFill>
                <a:latin typeface="Geist Mono"/>
                <a:ea typeface="Geist Mono"/>
                <a:cs typeface="Geist Mono"/>
              </a:rPr>
              <a:t>2.0 m</a:t>
            </a:r>
          </a:p>
        </p:txBody>
      </p:sp>
      <p:sp>
        <p:nvSpPr>
          <p:cNvPr id="34" name="TextBox 33"/>
          <p:cNvSpPr txBox="1"/>
          <p:nvPr/>
        </p:nvSpPr>
        <p:spPr>
          <a:xfrm>
            <a:off x="12471400" y="6858000"/>
            <a:ext cx="45212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middle went the average</a:t>
            </a:r>
          </a:p>
        </p:txBody>
      </p:sp>
      <p:sp>
        <p:nvSpPr>
          <p:cNvPr id="35" name="Rounded Rectangle 34"/>
          <p:cNvSpPr/>
          <p:nvPr/>
        </p:nvSpPr>
        <p:spPr>
          <a:xfrm>
            <a:off x="914400" y="8096250"/>
            <a:ext cx="16459200" cy="1108710"/>
          </a:xfrm>
          <a:prstGeom prst="roundRect">
            <a:avLst>
              <a:gd name="adj" fmla="val 1374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95400" y="8477250"/>
            <a:ext cx="15925800" cy="34671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distance = (left meters + right meters) / </a:t>
            </a:r>
            <a:r>
              <a:rPr sz="2100" b="0" i="0">
                <a:solidFill>
                  <a:srgbClr val="E8C27A"/>
                </a:solidFill>
                <a:latin typeface="Geist Mono"/>
                <a:ea typeface="Geist Mono"/>
                <a:cs typeface="Geist Mono"/>
              </a:rPr>
              <a:t>2</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2: the whole robot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858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  ·  robotPeriodic()</a:t>
            </a:r>
          </a:p>
        </p:txBody>
      </p:sp>
      <p:sp>
        <p:nvSpPr>
          <p:cNvPr id="6" name="Rounded Rectangle 5"/>
          <p:cNvSpPr/>
          <p:nvPr/>
        </p:nvSpPr>
        <p:spPr>
          <a:xfrm>
            <a:off x="914400" y="3143250"/>
            <a:ext cx="10858500" cy="4419600"/>
          </a:xfrm>
          <a:prstGeom prst="roundRect">
            <a:avLst>
              <a:gd name="adj" fmla="val 344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353050"/>
            <a:ext cx="10820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35305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524250"/>
            <a:ext cx="103251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linear_speed =</a:t>
            </a:r>
          </a:p>
        </p:txBody>
      </p:sp>
      <p:sp>
        <p:nvSpPr>
          <p:cNvPr id="10" name="TextBox 9"/>
          <p:cNvSpPr txBox="1"/>
          <p:nvPr/>
        </p:nvSpPr>
        <p:spPr>
          <a:xfrm>
            <a:off x="1295400" y="389001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(left_meters_per_second + right_meters_per_second) /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a:t>
            </a:r>
          </a:p>
        </p:txBody>
      </p:sp>
      <p:sp>
        <p:nvSpPr>
          <p:cNvPr id="11" name="TextBox 10"/>
          <p:cNvSpPr txBox="1"/>
          <p:nvPr/>
        </p:nvSpPr>
        <p:spPr>
          <a:xfrm>
            <a:off x="1295400" y="4255770"/>
            <a:ext cx="103251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angular_speed =</a:t>
            </a:r>
          </a:p>
        </p:txBody>
      </p:sp>
      <p:sp>
        <p:nvSpPr>
          <p:cNvPr id="12" name="TextBox 11"/>
          <p:cNvSpPr txBox="1"/>
          <p:nvPr/>
        </p:nvSpPr>
        <p:spPr>
          <a:xfrm>
            <a:off x="1295400" y="462153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(right_meters_per_second - left_meters_per_second)</a:t>
            </a:r>
          </a:p>
        </p:txBody>
      </p:sp>
      <p:sp>
        <p:nvSpPr>
          <p:cNvPr id="13" name="TextBox 12"/>
          <p:cNvSpPr txBox="1"/>
          <p:nvPr/>
        </p:nvSpPr>
        <p:spPr>
          <a:xfrm>
            <a:off x="1295400" y="498729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Constants.TRACK_WIDTH_METERS;</a:t>
            </a:r>
          </a:p>
        </p:txBody>
      </p:sp>
      <p:sp>
        <p:nvSpPr>
          <p:cNvPr id="14" name="TextBox 13"/>
          <p:cNvSpPr txBox="1"/>
          <p:nvPr/>
        </p:nvSpPr>
        <p:spPr>
          <a:xfrm>
            <a:off x="1295400" y="535305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distance_meters_ = (left_meters + right_meters) /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a:t>
            </a:r>
          </a:p>
        </p:txBody>
      </p:sp>
      <p:sp>
        <p:nvSpPr>
          <p:cNvPr id="15" name="TextBox 14"/>
          <p:cNvSpPr txBox="1"/>
          <p:nvPr/>
        </p:nvSpPr>
        <p:spPr>
          <a:xfrm>
            <a:off x="1295400" y="571881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608457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"Robot/LinearSpeed"</a:t>
            </a:r>
            <a:r>
              <a:rPr sz="1800" b="0" i="0">
                <a:solidFill>
                  <a:srgbClr val="F0E8E8"/>
                </a:solidFill>
                <a:latin typeface="Geist Mono"/>
                <a:ea typeface="Geist Mono"/>
                <a:cs typeface="Geist Mono"/>
              </a:rPr>
              <a:t>, linear_speed);</a:t>
            </a:r>
          </a:p>
        </p:txBody>
      </p:sp>
      <p:sp>
        <p:nvSpPr>
          <p:cNvPr id="17" name="TextBox 16"/>
          <p:cNvSpPr txBox="1"/>
          <p:nvPr/>
        </p:nvSpPr>
        <p:spPr>
          <a:xfrm>
            <a:off x="1295400" y="645033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"Robot/AngularSpeed"</a:t>
            </a:r>
            <a:r>
              <a:rPr sz="1800" b="0" i="0">
                <a:solidFill>
                  <a:srgbClr val="F0E8E8"/>
                </a:solidFill>
                <a:latin typeface="Geist Mono"/>
                <a:ea typeface="Geist Mono"/>
                <a:cs typeface="Geist Mono"/>
              </a:rPr>
              <a:t>, angular_speed);</a:t>
            </a:r>
          </a:p>
        </p:txBody>
      </p:sp>
      <p:sp>
        <p:nvSpPr>
          <p:cNvPr id="18" name="TextBox 17"/>
          <p:cNvSpPr txBox="1"/>
          <p:nvPr/>
        </p:nvSpPr>
        <p:spPr>
          <a:xfrm>
            <a:off x="1295400" y="681609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"Robot/Distance"</a:t>
            </a:r>
            <a:r>
              <a:rPr sz="1800" b="0" i="0">
                <a:solidFill>
                  <a:srgbClr val="F0E8E8"/>
                </a:solidFill>
                <a:latin typeface="Geist Mono"/>
                <a:ea typeface="Geist Mono"/>
                <a:cs typeface="Geist Mono"/>
              </a:rPr>
              <a:t>, distance_meters_);</a:t>
            </a:r>
          </a:p>
        </p:txBody>
      </p:sp>
      <p:sp>
        <p:nvSpPr>
          <p:cNvPr id="19" name="Oval 18"/>
          <p:cNvSpPr/>
          <p:nvPr/>
        </p:nvSpPr>
        <p:spPr>
          <a:xfrm>
            <a:off x="11163300" y="38823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63300" y="3882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1" name="Oval 20"/>
          <p:cNvSpPr/>
          <p:nvPr/>
        </p:nvSpPr>
        <p:spPr>
          <a:xfrm>
            <a:off x="11163300" y="46139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6330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3" name="Oval 22"/>
          <p:cNvSpPr/>
          <p:nvPr/>
        </p:nvSpPr>
        <p:spPr>
          <a:xfrm>
            <a:off x="11163300" y="53454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63300" y="53454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1163300" y="64427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63300" y="64427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7" name="Oval 26"/>
          <p:cNvSpPr/>
          <p:nvPr/>
        </p:nvSpPr>
        <p:spPr>
          <a:xfrm>
            <a:off x="12287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Linear speed</a:t>
            </a:r>
          </a:p>
        </p:txBody>
      </p:sp>
      <p:sp>
        <p:nvSpPr>
          <p:cNvPr id="30" name="TextBox 29"/>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Average of the two sides, m/s</a:t>
            </a:r>
          </a:p>
        </p:txBody>
      </p:sp>
      <p:sp>
        <p:nvSpPr>
          <p:cNvPr id="31" name="Oval 30"/>
          <p:cNvSpPr/>
          <p:nvPr/>
        </p:nvSpPr>
        <p:spPr>
          <a:xfrm>
            <a:off x="12287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Angular speed</a:t>
            </a:r>
          </a:p>
        </p:txBody>
      </p:sp>
      <p:sp>
        <p:nvSpPr>
          <p:cNvPr id="34" name="TextBox 33"/>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Difference ÷ track width, rad/s</a:t>
            </a:r>
          </a:p>
        </p:txBody>
      </p:sp>
      <p:sp>
        <p:nvSpPr>
          <p:cNvPr id="35" name="Oval 34"/>
          <p:cNvSpPr/>
          <p:nvPr/>
        </p:nvSpPr>
        <p:spPr>
          <a:xfrm>
            <a:off x="12287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Distance</a:t>
            </a:r>
          </a:p>
        </p:txBody>
      </p:sp>
      <p:sp>
        <p:nvSpPr>
          <p:cNvPr id="38" name="TextBox 37"/>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field, kept so Auto can use it</a:t>
            </a:r>
          </a:p>
        </p:txBody>
      </p:sp>
      <p:sp>
        <p:nvSpPr>
          <p:cNvPr id="39" name="Oval 38"/>
          <p:cNvSpPr/>
          <p:nvPr/>
        </p:nvSpPr>
        <p:spPr>
          <a:xfrm>
            <a:off x="12287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1" name="TextBox 40"/>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Log it</a:t>
            </a:r>
          </a:p>
        </p:txBody>
      </p:sp>
      <p:sp>
        <p:nvSpPr>
          <p:cNvPr id="42" name="TextBox 41"/>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Shows up in AdvantageScope</a:t>
            </a:r>
          </a:p>
        </p:txBody>
      </p:sp>
      <p:sp>
        <p:nvSpPr>
          <p:cNvPr id="43" name="Rounded Rectangle 42"/>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ightbulb.png"/>
          <p:cNvPicPr>
            <a:picLocks noChangeAspect="1"/>
          </p:cNvPicPr>
          <p:nvPr/>
        </p:nvPicPr>
        <p:blipFill>
          <a:blip r:embed="rId3"/>
          <a:stretch>
            <a:fillRect/>
          </a:stretch>
        </p:blipFill>
        <p:spPr>
          <a:xfrm>
            <a:off x="1333500" y="8258175"/>
            <a:ext cx="400050" cy="533400"/>
          </a:xfrm>
          <a:prstGeom prst="rect">
            <a:avLst/>
          </a:prstGeom>
        </p:spPr>
      </p:pic>
      <p:sp>
        <p:nvSpPr>
          <p:cNvPr id="45" name="TextBox 44"/>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double  </a:t>
            </a:r>
            <a:r>
              <a:rPr sz="2100" b="0" i="0">
                <a:solidFill>
                  <a:srgbClr val="F0E8E8"/>
                </a:solidFill>
                <a:latin typeface="Geist"/>
                <a:ea typeface="Geist"/>
                <a:cs typeface="Geist"/>
              </a:rPr>
              <a:t>in front of distance_meters_: it's declared at the top of the class, so it lasts.</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Measure in robotPeriodic, act in autonomousPeriodic</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372100" y="2857500"/>
            <a:ext cx="2400300" cy="571500"/>
          </a:xfrm>
          <a:prstGeom prst="roundRect">
            <a:avLst>
              <a:gd name="adj" fmla="val 16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34000" y="2857500"/>
            <a:ext cx="2476500" cy="5715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Disabled</a:t>
            </a:r>
          </a:p>
        </p:txBody>
      </p:sp>
      <p:sp>
        <p:nvSpPr>
          <p:cNvPr id="7" name="Rounded Rectangle 6"/>
          <p:cNvSpPr/>
          <p:nvPr/>
        </p:nvSpPr>
        <p:spPr>
          <a:xfrm>
            <a:off x="7848600" y="2857500"/>
            <a:ext cx="5448300" cy="571500"/>
          </a:xfrm>
          <a:prstGeom prst="roundRect">
            <a:avLst>
              <a:gd name="adj" fmla="val 16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10500" y="2857500"/>
            <a:ext cx="5524500" cy="5715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Auto</a:t>
            </a:r>
          </a:p>
        </p:txBody>
      </p:sp>
      <p:sp>
        <p:nvSpPr>
          <p:cNvPr id="9" name="Rounded Rectangle 8"/>
          <p:cNvSpPr/>
          <p:nvPr/>
        </p:nvSpPr>
        <p:spPr>
          <a:xfrm>
            <a:off x="13373100" y="2857500"/>
            <a:ext cx="3962400" cy="571500"/>
          </a:xfrm>
          <a:prstGeom prst="roundRect">
            <a:avLst>
              <a:gd name="adj" fmla="val 16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335000" y="2857500"/>
            <a:ext cx="4038600" cy="5715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Teleop</a:t>
            </a:r>
          </a:p>
        </p:txBody>
      </p:sp>
      <p:sp>
        <p:nvSpPr>
          <p:cNvPr id="11" name="TextBox 10"/>
          <p:cNvSpPr txBox="1"/>
          <p:nvPr/>
        </p:nvSpPr>
        <p:spPr>
          <a:xfrm>
            <a:off x="914400" y="3810000"/>
            <a:ext cx="4381500" cy="419100"/>
          </a:xfrm>
          <a:prstGeom prst="rect">
            <a:avLst/>
          </a:prstGeom>
          <a:noFill/>
        </p:spPr>
        <p:txBody>
          <a:bodyPr wrap="square" lIns="0" rIns="0" tIns="0" bIns="0" anchor="t">
            <a:spAutoFit/>
          </a:bodyPr>
          <a:lstStyle/>
          <a:p>
            <a:pPr algn="l"/>
            <a:r>
              <a:rPr sz="2100" b="1" i="0">
                <a:solidFill>
                  <a:srgbClr val="D5000E"/>
                </a:solidFill>
                <a:latin typeface="Geist Mono"/>
                <a:ea typeface="Geist Mono"/>
                <a:cs typeface="Geist Mono"/>
              </a:rPr>
              <a:t>robotPeriodic()</a:t>
            </a:r>
          </a:p>
        </p:txBody>
      </p:sp>
      <p:sp>
        <p:nvSpPr>
          <p:cNvPr id="12" name="TextBox 11"/>
          <p:cNvSpPr txBox="1"/>
          <p:nvPr/>
        </p:nvSpPr>
        <p:spPr>
          <a:xfrm>
            <a:off x="914400" y="4248150"/>
            <a:ext cx="4381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measure, every mode</a:t>
            </a:r>
          </a:p>
        </p:txBody>
      </p:sp>
      <p:sp>
        <p:nvSpPr>
          <p:cNvPr id="13" name="Rectangle 12"/>
          <p:cNvSpPr/>
          <p:nvPr/>
        </p:nvSpPr>
        <p:spPr>
          <a:xfrm>
            <a:off x="5324475" y="4181475"/>
            <a:ext cx="1205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410200" y="4019550"/>
            <a:ext cx="11887200" cy="3429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4857750"/>
            <a:ext cx="4381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autonomousInit()</a:t>
            </a:r>
          </a:p>
        </p:txBody>
      </p:sp>
      <p:sp>
        <p:nvSpPr>
          <p:cNvPr id="16" name="TextBox 15"/>
          <p:cNvSpPr txBox="1"/>
          <p:nvPr/>
        </p:nvSpPr>
        <p:spPr>
          <a:xfrm>
            <a:off x="914400" y="5295900"/>
            <a:ext cx="4381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once, when Auto starts</a:t>
            </a:r>
          </a:p>
        </p:txBody>
      </p:sp>
      <p:sp>
        <p:nvSpPr>
          <p:cNvPr id="17" name="Rectangle 16"/>
          <p:cNvSpPr/>
          <p:nvPr/>
        </p:nvSpPr>
        <p:spPr>
          <a:xfrm>
            <a:off x="5324475" y="5229225"/>
            <a:ext cx="1205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620000" y="50482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905500"/>
            <a:ext cx="4381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autonomousPeriodic()</a:t>
            </a:r>
          </a:p>
        </p:txBody>
      </p:sp>
      <p:sp>
        <p:nvSpPr>
          <p:cNvPr id="20" name="TextBox 19"/>
          <p:cNvSpPr txBox="1"/>
          <p:nvPr/>
        </p:nvSpPr>
        <p:spPr>
          <a:xfrm>
            <a:off x="914400" y="6343650"/>
            <a:ext cx="4381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decide: drive or stop</a:t>
            </a:r>
          </a:p>
        </p:txBody>
      </p:sp>
      <p:sp>
        <p:nvSpPr>
          <p:cNvPr id="21" name="Rectangle 20"/>
          <p:cNvSpPr/>
          <p:nvPr/>
        </p:nvSpPr>
        <p:spPr>
          <a:xfrm>
            <a:off x="5324475" y="6276975"/>
            <a:ext cx="1205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886700" y="6115050"/>
            <a:ext cx="5372100" cy="342900"/>
          </a:xfrm>
          <a:prstGeom prst="roundRect">
            <a:avLst>
              <a:gd name="adj" fmla="val 50000"/>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6953250"/>
            <a:ext cx="4381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teleopPeriodic()</a:t>
            </a:r>
          </a:p>
        </p:txBody>
      </p:sp>
      <p:sp>
        <p:nvSpPr>
          <p:cNvPr id="24" name="TextBox 23"/>
          <p:cNvSpPr txBox="1"/>
          <p:nvPr/>
        </p:nvSpPr>
        <p:spPr>
          <a:xfrm>
            <a:off x="914400" y="7391400"/>
            <a:ext cx="4381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the driver's sticks</a:t>
            </a:r>
          </a:p>
        </p:txBody>
      </p:sp>
      <p:sp>
        <p:nvSpPr>
          <p:cNvPr id="25" name="Rectangle 24"/>
          <p:cNvSpPr/>
          <p:nvPr/>
        </p:nvSpPr>
        <p:spPr>
          <a:xfrm>
            <a:off x="5324475" y="7324725"/>
            <a:ext cx="1205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13411200" y="7162800"/>
            <a:ext cx="3886200" cy="342900"/>
          </a:xfrm>
          <a:prstGeom prst="roundRect">
            <a:avLst>
              <a:gd name="adj" fmla="val 50000"/>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800975" y="3514725"/>
            <a:ext cx="19050" cy="4495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3325475" y="3514725"/>
            <a:ext cx="19050" cy="4495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arrow-repeat.png"/>
          <p:cNvPicPr>
            <a:picLocks noChangeAspect="1"/>
          </p:cNvPicPr>
          <p:nvPr/>
        </p:nvPicPr>
        <p:blipFill>
          <a:blip r:embed="rId3"/>
          <a:stretch>
            <a:fillRect/>
          </a:stretch>
        </p:blipFill>
        <p:spPr>
          <a:xfrm>
            <a:off x="1333500" y="8353425"/>
            <a:ext cx="688975" cy="533400"/>
          </a:xfrm>
          <a:prstGeom prst="rect">
            <a:avLst/>
          </a:prstGeom>
        </p:spPr>
      </p:pic>
      <p:sp>
        <p:nvSpPr>
          <p:cNvPr id="31" name="TextBox 30"/>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distance_meters_  </a:t>
            </a:r>
            <a:r>
              <a:rPr sz="2100" b="0" i="0">
                <a:solidFill>
                  <a:srgbClr val="F0E8E8"/>
                </a:solidFill>
                <a:latin typeface="Geist"/>
                <a:ea typeface="Geist"/>
                <a:cs typeface="Geist"/>
              </a:rPr>
              <a:t>is written by robotPeriodic and read by autonomousPeriodic.</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Logging</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Recording what the robot was thinking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If it isn't logged, nobody can prove it happened. Not even 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log?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295400" y="3238500"/>
            <a:ext cx="943897"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Live</a:t>
            </a:r>
          </a:p>
        </p:txBody>
      </p:sp>
      <p:sp>
        <p:nvSpPr>
          <p:cNvPr id="8" name="TextBox 7"/>
          <p:cNvSpPr txBox="1"/>
          <p:nvPr/>
        </p:nvSpPr>
        <p:spPr>
          <a:xfrm>
            <a:off x="1295400" y="4802505"/>
            <a:ext cx="4521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See values now, in AdvantageScope or Elastic, while the robot runs.</a:t>
            </a:r>
          </a:p>
        </p:txBody>
      </p:sp>
      <p:sp>
        <p:nvSpPr>
          <p:cNvPr id="9" name="Rounded Rectangle 8"/>
          <p:cNvSpPr/>
          <p:nvPr/>
        </p:nvSpPr>
        <p:spPr>
          <a:xfrm>
            <a:off x="6502400" y="2857500"/>
            <a:ext cx="5283200" cy="4000500"/>
          </a:xfrm>
          <a:prstGeom prst="roundRect">
            <a:avLst>
              <a:gd name="adj" fmla="val 3809"/>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chive.png"/>
          <p:cNvPicPr>
            <a:picLocks noChangeAspect="1"/>
          </p:cNvPicPr>
          <p:nvPr/>
        </p:nvPicPr>
        <p:blipFill>
          <a:blip r:embed="rId4"/>
          <a:stretch>
            <a:fillRect/>
          </a:stretch>
        </p:blipFill>
        <p:spPr>
          <a:xfrm>
            <a:off x="6883400" y="3238500"/>
            <a:ext cx="783771"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Recorded</a:t>
            </a:r>
          </a:p>
        </p:txBody>
      </p:sp>
      <p:sp>
        <p:nvSpPr>
          <p:cNvPr id="12" name="TextBox 11"/>
          <p:cNvSpPr txBox="1"/>
          <p:nvPr/>
        </p:nvSpPr>
        <p:spPr>
          <a:xfrm>
            <a:off x="6883400" y="4802505"/>
            <a:ext cx="4521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Every logged value, every loop, saved to a log file on the robot.</a:t>
            </a:r>
          </a:p>
        </p:txBody>
      </p:sp>
      <p:sp>
        <p:nvSpPr>
          <p:cNvPr id="13" name="Rounded Rectangle 12"/>
          <p:cNvSpPr/>
          <p:nvPr/>
        </p:nvSpPr>
        <p:spPr>
          <a:xfrm>
            <a:off x="12090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rrow-counterclockwise.png"/>
          <p:cNvPicPr>
            <a:picLocks noChangeAspect="1"/>
          </p:cNvPicPr>
          <p:nvPr/>
        </p:nvPicPr>
        <p:blipFill>
          <a:blip r:embed="rId5"/>
          <a:stretch>
            <a:fillRect/>
          </a:stretch>
        </p:blipFill>
        <p:spPr>
          <a:xfrm>
            <a:off x="12471400" y="3238500"/>
            <a:ext cx="598516"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Replayed</a:t>
            </a:r>
          </a:p>
        </p:txBody>
      </p:sp>
      <p:sp>
        <p:nvSpPr>
          <p:cNvPr id="16" name="TextBox 15"/>
          <p:cNvSpPr txBox="1"/>
          <p:nvPr/>
        </p:nvSpPr>
        <p:spPr>
          <a:xfrm>
            <a:off x="12471400" y="4802505"/>
            <a:ext cx="4521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Open the log after a match and scrub through what happened.</a:t>
            </a:r>
          </a:p>
        </p:txBody>
      </p:sp>
      <p:sp>
        <p:nvSpPr>
          <p:cNvPr id="17" name="Rounded Rectangle 16"/>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ye.png"/>
          <p:cNvPicPr>
            <a:picLocks noChangeAspect="1"/>
          </p:cNvPicPr>
          <p:nvPr/>
        </p:nvPicPr>
        <p:blipFill>
          <a:blip r:embed="rId6"/>
          <a:stretch>
            <a:fillRect/>
          </a:stretch>
        </p:blipFill>
        <p:spPr>
          <a:xfrm>
            <a:off x="1333500" y="7686675"/>
            <a:ext cx="775855" cy="533400"/>
          </a:xfrm>
          <a:prstGeom prst="rect">
            <a:avLst/>
          </a:prstGeom>
        </p:spPr>
      </p:pic>
      <p:sp>
        <p:nvSpPr>
          <p:cNvPr id="19" name="TextBox 18"/>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 video  </a:t>
            </a:r>
            <a:r>
              <a:rPr sz="2100" b="0" i="0">
                <a:solidFill>
                  <a:srgbClr val="F0E8E8"/>
                </a:solidFill>
                <a:latin typeface="Geist"/>
                <a:ea typeface="Geist"/>
                <a:cs typeface="Geist"/>
              </a:rPr>
              <a:t>shows what the robot did. A log shows what the code was thinking.</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line: MwLog.log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238500"/>
            <a:ext cx="3810000" cy="1238250"/>
          </a:xfrm>
          <a:prstGeom prst="roundRect">
            <a:avLst>
              <a:gd name="adj" fmla="val 123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3238500"/>
            <a:ext cx="3810000" cy="1238250"/>
          </a:xfrm>
          <a:prstGeom prst="rect">
            <a:avLst/>
          </a:prstGeom>
          <a:noFill/>
        </p:spPr>
        <p:txBody>
          <a:bodyPr wrap="square" lIns="0" rIns="0" tIns="0" bIns="0" anchor="ctr">
            <a:spAutoFit/>
          </a:bodyPr>
          <a:lstStyle/>
          <a:p>
            <a:pPr algn="ctr"/>
            <a:r>
              <a:rPr sz="2700" b="0" i="0">
                <a:solidFill>
                  <a:srgbClr val="F0E8E8"/>
                </a:solidFill>
                <a:latin typeface="Geist Mono"/>
                <a:ea typeface="Geist Mono"/>
                <a:cs typeface="Geist Mono"/>
              </a:rPr>
              <a:t>MwLog.log(</a:t>
            </a:r>
          </a:p>
        </p:txBody>
      </p:sp>
      <p:sp>
        <p:nvSpPr>
          <p:cNvPr id="7" name="Oval 6"/>
          <p:cNvSpPr/>
          <p:nvPr/>
        </p:nvSpPr>
        <p:spPr>
          <a:xfrm>
            <a:off x="260985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098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Rounded Rectangle 8"/>
          <p:cNvSpPr/>
          <p:nvPr/>
        </p:nvSpPr>
        <p:spPr>
          <a:xfrm>
            <a:off x="5105400" y="3238500"/>
            <a:ext cx="5905500" cy="1238250"/>
          </a:xfrm>
          <a:prstGeom prst="roundRect">
            <a:avLst>
              <a:gd name="adj" fmla="val 12307"/>
            </a:avLst>
          </a:prstGeom>
          <a:solidFill>
            <a:srgbClr val="0B0707"/>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05400" y="3238500"/>
            <a:ext cx="5905500" cy="1238250"/>
          </a:xfrm>
          <a:prstGeom prst="rect">
            <a:avLst/>
          </a:prstGeom>
          <a:noFill/>
        </p:spPr>
        <p:txBody>
          <a:bodyPr wrap="square" lIns="0" rIns="0" tIns="0" bIns="0" anchor="ctr">
            <a:spAutoFit/>
          </a:bodyPr>
          <a:lstStyle/>
          <a:p>
            <a:pPr algn="ctr"/>
            <a:r>
              <a:rPr sz="2700" b="0" i="0">
                <a:solidFill>
                  <a:srgbClr val="9FD29A"/>
                </a:solidFill>
                <a:latin typeface="Geist Mono"/>
                <a:ea typeface="Geist Mono"/>
                <a:cs typeface="Geist Mono"/>
              </a:rPr>
              <a:t>"Robot/LinearSpeed"</a:t>
            </a:r>
            <a:r>
              <a:rPr sz="2700" b="0" i="0">
                <a:solidFill>
                  <a:srgbClr val="F0E8E8"/>
                </a:solidFill>
                <a:latin typeface="Geist Mono"/>
                <a:ea typeface="Geist Mono"/>
                <a:cs typeface="Geist Mono"/>
              </a:rPr>
              <a:t>,</a:t>
            </a:r>
          </a:p>
        </p:txBody>
      </p:sp>
      <p:sp>
        <p:nvSpPr>
          <p:cNvPr id="11" name="Oval 10"/>
          <p:cNvSpPr/>
          <p:nvPr/>
        </p:nvSpPr>
        <p:spPr>
          <a:xfrm>
            <a:off x="784860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4860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Rounded Rectangle 12"/>
          <p:cNvSpPr/>
          <p:nvPr/>
        </p:nvSpPr>
        <p:spPr>
          <a:xfrm>
            <a:off x="11391900" y="3238500"/>
            <a:ext cx="4381500" cy="1238250"/>
          </a:xfrm>
          <a:prstGeom prst="roundRect">
            <a:avLst>
              <a:gd name="adj" fmla="val 123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391900" y="3238500"/>
            <a:ext cx="4381500" cy="1238250"/>
          </a:xfrm>
          <a:prstGeom prst="rect">
            <a:avLst/>
          </a:prstGeom>
          <a:noFill/>
        </p:spPr>
        <p:txBody>
          <a:bodyPr wrap="square" lIns="0" rIns="0" tIns="0" bIns="0" anchor="ctr">
            <a:spAutoFit/>
          </a:bodyPr>
          <a:lstStyle/>
          <a:p>
            <a:pPr algn="ctr"/>
            <a:r>
              <a:rPr sz="2700" b="0" i="0">
                <a:solidFill>
                  <a:srgbClr val="F0E8E8"/>
                </a:solidFill>
                <a:latin typeface="Geist Mono"/>
                <a:ea typeface="Geist Mono"/>
                <a:cs typeface="Geist Mono"/>
              </a:rPr>
              <a:t>linear_speed);</a:t>
            </a:r>
          </a:p>
        </p:txBody>
      </p:sp>
      <p:sp>
        <p:nvSpPr>
          <p:cNvPr id="15" name="Oval 14"/>
          <p:cNvSpPr/>
          <p:nvPr/>
        </p:nvSpPr>
        <p:spPr>
          <a:xfrm>
            <a:off x="1337310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37310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Oval 16"/>
          <p:cNvSpPr/>
          <p:nvPr/>
        </p:nvSpPr>
        <p:spPr>
          <a:xfrm>
            <a:off x="91440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TextBox 18"/>
          <p:cNvSpPr txBox="1"/>
          <p:nvPr/>
        </p:nvSpPr>
        <p:spPr>
          <a:xfrm>
            <a:off x="1524000" y="5676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method</a:t>
            </a:r>
          </a:p>
        </p:txBody>
      </p:sp>
      <p:sp>
        <p:nvSpPr>
          <p:cNvPr id="20" name="TextBox 19"/>
          <p:cNvSpPr txBox="1"/>
          <p:nvPr/>
        </p:nvSpPr>
        <p:spPr>
          <a:xfrm>
            <a:off x="1524000" y="60960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MwLog.log records one value</a:t>
            </a:r>
          </a:p>
        </p:txBody>
      </p:sp>
      <p:sp>
        <p:nvSpPr>
          <p:cNvPr id="21" name="Oval 20"/>
          <p:cNvSpPr/>
          <p:nvPr/>
        </p:nvSpPr>
        <p:spPr>
          <a:xfrm>
            <a:off x="651510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51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3" name="TextBox 22"/>
          <p:cNvSpPr txBox="1"/>
          <p:nvPr/>
        </p:nvSpPr>
        <p:spPr>
          <a:xfrm>
            <a:off x="7124700" y="5676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key</a:t>
            </a:r>
          </a:p>
        </p:txBody>
      </p:sp>
      <p:sp>
        <p:nvSpPr>
          <p:cNvPr id="24" name="TextBox 23"/>
          <p:cNvSpPr txBox="1"/>
          <p:nvPr/>
        </p:nvSpPr>
        <p:spPr>
          <a:xfrm>
            <a:off x="7124700" y="60960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name in quotes. Slashes make folders</a:t>
            </a:r>
          </a:p>
        </p:txBody>
      </p:sp>
      <p:sp>
        <p:nvSpPr>
          <p:cNvPr id="25" name="Oval 24"/>
          <p:cNvSpPr/>
          <p:nvPr/>
        </p:nvSpPr>
        <p:spPr>
          <a:xfrm>
            <a:off x="1211580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1158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TextBox 26"/>
          <p:cNvSpPr txBox="1"/>
          <p:nvPr/>
        </p:nvSpPr>
        <p:spPr>
          <a:xfrm>
            <a:off x="12725400" y="5676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value</a:t>
            </a:r>
          </a:p>
        </p:txBody>
      </p:sp>
      <p:sp>
        <p:nvSpPr>
          <p:cNvPr id="28" name="TextBox 27"/>
          <p:cNvSpPr txBox="1"/>
          <p:nvPr/>
        </p:nvSpPr>
        <p:spPr>
          <a:xfrm>
            <a:off x="12725400" y="60960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to record, every loop</a:t>
            </a:r>
          </a:p>
        </p:txBody>
      </p:sp>
      <p:sp>
        <p:nvSpPr>
          <p:cNvPr id="29" name="Rounded Rectangle 2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exclamation-circle.png"/>
          <p:cNvPicPr>
            <a:picLocks noChangeAspect="1"/>
          </p:cNvPicPr>
          <p:nvPr/>
        </p:nvPicPr>
        <p:blipFill>
          <a:blip r:embed="rId3"/>
          <a:stretch>
            <a:fillRect/>
          </a:stretch>
        </p:blipFill>
        <p:spPr>
          <a:xfrm>
            <a:off x="1333500" y="7877175"/>
            <a:ext cx="533400" cy="533400"/>
          </a:xfrm>
          <a:prstGeom prst="rect">
            <a:avLst/>
          </a:prstGeom>
        </p:spPr>
      </p:pic>
      <p:sp>
        <p:nvSpPr>
          <p:cNvPr id="31" name="TextBox 30"/>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Use MwLog.  </a:t>
            </a:r>
            <a:r>
              <a:rPr sz="2100" b="0" i="0">
                <a:solidFill>
                  <a:srgbClr val="F0E8E8"/>
                </a:solidFill>
                <a:latin typeface="Geist"/>
                <a:ea typeface="Geist"/>
                <a:cs typeface="Geist"/>
              </a:rPr>
              <a:t>Not SmartDashboard or DogLog from older code: MwLog records to the log and shows it live.</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Keys make folders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62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 THE LOG TREE</a:t>
            </a:r>
          </a:p>
        </p:txBody>
      </p:sp>
      <p:pic>
        <p:nvPicPr>
          <p:cNvPr id="7" name="Picture 6" descr="folder-fill.png"/>
          <p:cNvPicPr>
            <a:picLocks noChangeAspect="1"/>
          </p:cNvPicPr>
          <p:nvPr/>
        </p:nvPicPr>
        <p:blipFill>
          <a:blip r:embed="rId3"/>
          <a:stretch>
            <a:fillRect/>
          </a:stretch>
        </p:blipFill>
        <p:spPr>
          <a:xfrm>
            <a:off x="1333500" y="3790950"/>
            <a:ext cx="389243" cy="323850"/>
          </a:xfrm>
          <a:prstGeom prst="rect">
            <a:avLst/>
          </a:prstGeom>
        </p:spPr>
      </p:pic>
      <p:sp>
        <p:nvSpPr>
          <p:cNvPr id="8" name="TextBox 7"/>
          <p:cNvSpPr txBox="1"/>
          <p:nvPr/>
        </p:nvSpPr>
        <p:spPr>
          <a:xfrm>
            <a:off x="1809750" y="3714750"/>
            <a:ext cx="3810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Robot</a:t>
            </a:r>
          </a:p>
        </p:txBody>
      </p:sp>
      <p:sp>
        <p:nvSpPr>
          <p:cNvPr id="9" name="TextBox 8"/>
          <p:cNvSpPr txBox="1"/>
          <p:nvPr/>
        </p:nvSpPr>
        <p:spPr>
          <a:xfrm>
            <a:off x="5334000" y="3714750"/>
            <a:ext cx="3810000" cy="476250"/>
          </a:xfrm>
          <a:prstGeom prst="rect">
            <a:avLst/>
          </a:prstGeom>
          <a:noFill/>
        </p:spPr>
        <p:txBody>
          <a:bodyPr wrap="square" lIns="0" rIns="0" tIns="0" bIns="0" anchor="ctr">
            <a:spAutoFit/>
          </a:bodyPr>
          <a:lstStyle/>
          <a:p>
            <a:pPr algn="l"/>
            <a:r>
              <a:rPr sz="1650" b="1" i="0">
                <a:solidFill>
                  <a:srgbClr val="D5000E"/>
                </a:solidFill>
                <a:latin typeface="Geist"/>
                <a:ea typeface="Geist"/>
                <a:cs typeface="Geist"/>
              </a:rPr>
              <a:t>you log these</a:t>
            </a:r>
          </a:p>
        </p:txBody>
      </p:sp>
      <p:sp>
        <p:nvSpPr>
          <p:cNvPr id="10" name="Rectangle 9"/>
          <p:cNvSpPr/>
          <p:nvPr/>
        </p:nvSpPr>
        <p:spPr>
          <a:xfrm>
            <a:off x="1571625" y="453390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866900" y="430530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LinearSpeed</a:t>
            </a:r>
          </a:p>
        </p:txBody>
      </p:sp>
      <p:sp>
        <p:nvSpPr>
          <p:cNvPr id="12" name="Rectangle 11"/>
          <p:cNvSpPr/>
          <p:nvPr/>
        </p:nvSpPr>
        <p:spPr>
          <a:xfrm>
            <a:off x="1571625" y="512445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866900" y="489585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AngularSpeed</a:t>
            </a:r>
          </a:p>
        </p:txBody>
      </p:sp>
      <p:sp>
        <p:nvSpPr>
          <p:cNvPr id="14" name="Rectangle 13"/>
          <p:cNvSpPr/>
          <p:nvPr/>
        </p:nvSpPr>
        <p:spPr>
          <a:xfrm>
            <a:off x="1571625" y="571500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866900" y="548640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Distance</a:t>
            </a:r>
          </a:p>
        </p:txBody>
      </p:sp>
      <p:pic>
        <p:nvPicPr>
          <p:cNvPr id="16" name="Picture 15" descr="folder-fill.png"/>
          <p:cNvPicPr>
            <a:picLocks noChangeAspect="1"/>
          </p:cNvPicPr>
          <p:nvPr/>
        </p:nvPicPr>
        <p:blipFill>
          <a:blip r:embed="rId3"/>
          <a:stretch>
            <a:fillRect/>
          </a:stretch>
        </p:blipFill>
        <p:spPr>
          <a:xfrm>
            <a:off x="1333500" y="6153150"/>
            <a:ext cx="389243" cy="323850"/>
          </a:xfrm>
          <a:prstGeom prst="rect">
            <a:avLst/>
          </a:prstGeom>
        </p:spPr>
      </p:pic>
      <p:sp>
        <p:nvSpPr>
          <p:cNvPr id="17" name="TextBox 16"/>
          <p:cNvSpPr txBox="1"/>
          <p:nvPr/>
        </p:nvSpPr>
        <p:spPr>
          <a:xfrm>
            <a:off x="1809750" y="6076950"/>
            <a:ext cx="3810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Drive</a:t>
            </a:r>
          </a:p>
        </p:txBody>
      </p:sp>
      <p:sp>
        <p:nvSpPr>
          <p:cNvPr id="18" name="TextBox 17"/>
          <p:cNvSpPr txBox="1"/>
          <p:nvPr/>
        </p:nvSpPr>
        <p:spPr>
          <a:xfrm>
            <a:off x="5334000" y="6076950"/>
            <a:ext cx="3810000" cy="476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logged for you</a:t>
            </a:r>
          </a:p>
        </p:txBody>
      </p:sp>
      <p:sp>
        <p:nvSpPr>
          <p:cNvPr id="19" name="Rectangle 18"/>
          <p:cNvSpPr/>
          <p:nvPr/>
        </p:nvSpPr>
        <p:spPr>
          <a:xfrm>
            <a:off x="1571625" y="689610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866900" y="666750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LeftOutput</a:t>
            </a:r>
          </a:p>
        </p:txBody>
      </p:sp>
      <p:sp>
        <p:nvSpPr>
          <p:cNvPr id="21" name="Rectangle 20"/>
          <p:cNvSpPr/>
          <p:nvPr/>
        </p:nvSpPr>
        <p:spPr>
          <a:xfrm>
            <a:off x="1571625" y="748665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6900" y="725805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RightOutput</a:t>
            </a:r>
          </a:p>
        </p:txBody>
      </p:sp>
      <p:sp>
        <p:nvSpPr>
          <p:cNvPr id="23" name="Rectangle 22"/>
          <p:cNvSpPr/>
          <p:nvPr/>
        </p:nvSpPr>
        <p:spPr>
          <a:xfrm>
            <a:off x="1571625" y="807720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866900" y="784860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TruePose</a:t>
            </a:r>
          </a:p>
        </p:txBody>
      </p:sp>
      <p:sp>
        <p:nvSpPr>
          <p:cNvPr id="25" name="Rounded Rectangle 24"/>
          <p:cNvSpPr/>
          <p:nvPr/>
        </p:nvSpPr>
        <p:spPr>
          <a:xfrm>
            <a:off x="9906000" y="2857500"/>
            <a:ext cx="74676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87000" y="3143250"/>
            <a:ext cx="6667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WHAT YOU CAN LOG</a:t>
            </a:r>
          </a:p>
        </p:txBody>
      </p:sp>
      <p:sp>
        <p:nvSpPr>
          <p:cNvPr id="27" name="Rounded Rectangle 26"/>
          <p:cNvSpPr/>
          <p:nvPr/>
        </p:nvSpPr>
        <p:spPr>
          <a:xfrm>
            <a:off x="10287000" y="37147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553700" y="37147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double</a:t>
            </a:r>
          </a:p>
        </p:txBody>
      </p:sp>
      <p:sp>
        <p:nvSpPr>
          <p:cNvPr id="29" name="TextBox 28"/>
          <p:cNvSpPr txBox="1"/>
          <p:nvPr/>
        </p:nvSpPr>
        <p:spPr>
          <a:xfrm>
            <a:off x="12477750" y="37147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linear_speed</a:t>
            </a:r>
          </a:p>
        </p:txBody>
      </p:sp>
      <p:sp>
        <p:nvSpPr>
          <p:cNvPr id="30" name="Rounded Rectangle 29"/>
          <p:cNvSpPr/>
          <p:nvPr/>
        </p:nvSpPr>
        <p:spPr>
          <a:xfrm>
            <a:off x="10287000" y="46672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553700" y="46672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boolean</a:t>
            </a:r>
          </a:p>
        </p:txBody>
      </p:sp>
      <p:sp>
        <p:nvSpPr>
          <p:cNvPr id="32" name="TextBox 31"/>
          <p:cNvSpPr txBox="1"/>
          <p:nvPr/>
        </p:nvSpPr>
        <p:spPr>
          <a:xfrm>
            <a:off x="12477750" y="46672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isAtSpeed()</a:t>
            </a:r>
          </a:p>
        </p:txBody>
      </p:sp>
      <p:sp>
        <p:nvSpPr>
          <p:cNvPr id="33" name="Rounded Rectangle 32"/>
          <p:cNvSpPr/>
          <p:nvPr/>
        </p:nvSpPr>
        <p:spPr>
          <a:xfrm>
            <a:off x="10287000" y="56197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553700" y="56197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String</a:t>
            </a:r>
          </a:p>
        </p:txBody>
      </p:sp>
      <p:sp>
        <p:nvSpPr>
          <p:cNvPr id="35" name="TextBox 34"/>
          <p:cNvSpPr txBox="1"/>
          <p:nvPr/>
        </p:nvSpPr>
        <p:spPr>
          <a:xfrm>
            <a:off x="12477750" y="56197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"ready"</a:t>
            </a:r>
          </a:p>
        </p:txBody>
      </p:sp>
      <p:sp>
        <p:nvSpPr>
          <p:cNvPr id="36" name="Rounded Rectangle 35"/>
          <p:cNvSpPr/>
          <p:nvPr/>
        </p:nvSpPr>
        <p:spPr>
          <a:xfrm>
            <a:off x="10287000" y="65722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553700" y="65722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enum</a:t>
            </a:r>
          </a:p>
        </p:txBody>
      </p:sp>
      <p:sp>
        <p:nvSpPr>
          <p:cNvPr id="38" name="TextBox 37"/>
          <p:cNvSpPr txBox="1"/>
          <p:nvPr/>
        </p:nvSpPr>
        <p:spPr>
          <a:xfrm>
            <a:off x="12477750" y="65722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system_state_</a:t>
            </a:r>
          </a:p>
        </p:txBody>
      </p:sp>
      <p:sp>
        <p:nvSpPr>
          <p:cNvPr id="39" name="Rounded Rectangle 38"/>
          <p:cNvSpPr/>
          <p:nvPr/>
        </p:nvSpPr>
        <p:spPr>
          <a:xfrm>
            <a:off x="10287000" y="75247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553700" y="75247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Pose2d</a:t>
            </a:r>
          </a:p>
        </p:txBody>
      </p:sp>
      <p:sp>
        <p:nvSpPr>
          <p:cNvPr id="41" name="TextBox 40"/>
          <p:cNvSpPr txBox="1"/>
          <p:nvPr/>
        </p:nvSpPr>
        <p:spPr>
          <a:xfrm>
            <a:off x="12477750" y="75247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pose_</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Checking it in AdvantageScope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47875" y="7515225"/>
            <a:ext cx="859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3723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047875" y="6118225"/>
            <a:ext cx="859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59753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0" name="Rectangle 9"/>
          <p:cNvSpPr/>
          <p:nvPr/>
        </p:nvSpPr>
        <p:spPr>
          <a:xfrm>
            <a:off x="2047875" y="4721225"/>
            <a:ext cx="859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45783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2" name="Rectangle 11"/>
          <p:cNvSpPr/>
          <p:nvPr/>
        </p:nvSpPr>
        <p:spPr>
          <a:xfrm>
            <a:off x="2047875" y="3324225"/>
            <a:ext cx="859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31813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14" name="Rectangle 13"/>
          <p:cNvSpPr/>
          <p:nvPr/>
        </p:nvSpPr>
        <p:spPr>
          <a:xfrm>
            <a:off x="20478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48590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Rectangle 15"/>
          <p:cNvSpPr/>
          <p:nvPr/>
        </p:nvSpPr>
        <p:spPr>
          <a:xfrm>
            <a:off x="34766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91465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18" name="Rectangle 17"/>
          <p:cNvSpPr/>
          <p:nvPr/>
        </p:nvSpPr>
        <p:spPr>
          <a:xfrm>
            <a:off x="49053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4340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0" name="Rectangle 19"/>
          <p:cNvSpPr/>
          <p:nvPr/>
        </p:nvSpPr>
        <p:spPr>
          <a:xfrm>
            <a:off x="63341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7215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a:t>
            </a:r>
          </a:p>
        </p:txBody>
      </p:sp>
      <p:sp>
        <p:nvSpPr>
          <p:cNvPr id="22" name="Rectangle 21"/>
          <p:cNvSpPr/>
          <p:nvPr/>
        </p:nvSpPr>
        <p:spPr>
          <a:xfrm>
            <a:off x="77628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0090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a:t>
            </a:r>
          </a:p>
        </p:txBody>
      </p:sp>
      <p:sp>
        <p:nvSpPr>
          <p:cNvPr id="24" name="Rectangle 23"/>
          <p:cNvSpPr/>
          <p:nvPr/>
        </p:nvSpPr>
        <p:spPr>
          <a:xfrm>
            <a:off x="91916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2965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a:t>
            </a:r>
          </a:p>
        </p:txBody>
      </p:sp>
      <p:sp>
        <p:nvSpPr>
          <p:cNvPr id="26" name="Rectangle 25"/>
          <p:cNvSpPr/>
          <p:nvPr/>
        </p:nvSpPr>
        <p:spPr>
          <a:xfrm>
            <a:off x="106203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05840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12</a:t>
            </a:r>
          </a:p>
        </p:txBody>
      </p:sp>
      <p:sp>
        <p:nvSpPr>
          <p:cNvPr id="28" name="Rectangle 27"/>
          <p:cNvSpPr/>
          <p:nvPr/>
        </p:nvSpPr>
        <p:spPr>
          <a:xfrm>
            <a:off x="2043112" y="3319462"/>
            <a:ext cx="28575" cy="421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043112" y="7510462"/>
            <a:ext cx="8601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057400" y="8020050"/>
            <a:ext cx="8572500" cy="3048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31" name="TextBox 30"/>
          <p:cNvSpPr txBox="1"/>
          <p:nvPr/>
        </p:nvSpPr>
        <p:spPr>
          <a:xfrm>
            <a:off x="10763250" y="3181350"/>
            <a:ext cx="857250" cy="3048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6</a:t>
            </a:r>
          </a:p>
        </p:txBody>
      </p:sp>
      <p:sp>
        <p:nvSpPr>
          <p:cNvPr id="32" name="TextBox 31"/>
          <p:cNvSpPr txBox="1"/>
          <p:nvPr/>
        </p:nvSpPr>
        <p:spPr>
          <a:xfrm>
            <a:off x="10763250" y="7372350"/>
            <a:ext cx="857250" cy="3048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0</a:t>
            </a:r>
          </a:p>
        </p:txBody>
      </p:sp>
      <p:sp>
        <p:nvSpPr>
          <p:cNvPr id="33" name="TextBox 32"/>
          <p:cNvSpPr txBox="1"/>
          <p:nvPr/>
        </p:nvSpPr>
        <p:spPr>
          <a:xfrm>
            <a:off x="1295400" y="285750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m/s</a:t>
            </a:r>
          </a:p>
        </p:txBody>
      </p:sp>
      <p:sp>
        <p:nvSpPr>
          <p:cNvPr id="34" name="TextBox 33"/>
          <p:cNvSpPr txBox="1"/>
          <p:nvPr/>
        </p:nvSpPr>
        <p:spPr>
          <a:xfrm>
            <a:off x="10096500" y="2857500"/>
            <a:ext cx="1524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rad/s</a:t>
            </a:r>
          </a:p>
        </p:txBody>
      </p:sp>
      <p:sp>
        <p:nvSpPr>
          <p:cNvPr id="35" name="Rectangle 34"/>
          <p:cNvSpPr/>
          <p:nvPr/>
        </p:nvSpPr>
        <p:spPr>
          <a:xfrm>
            <a:off x="202406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09550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166938"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23837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30981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38125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452688"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252412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259556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266700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5" name="Connector 44"/>
          <p:cNvCxnSpPr/>
          <p:nvPr/>
        </p:nvCxnSpPr>
        <p:spPr>
          <a:xfrm flipV="1">
            <a:off x="2771775" y="6759233"/>
            <a:ext cx="71437" cy="76551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843212" y="6146255"/>
            <a:ext cx="71438" cy="61297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914650" y="5655420"/>
            <a:ext cx="71438" cy="49083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986088" y="5262391"/>
            <a:ext cx="71437" cy="39302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057525" y="4947677"/>
            <a:ext cx="71437" cy="31471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128962" y="4695674"/>
            <a:ext cx="71438" cy="25200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200400" y="4493886"/>
            <a:ext cx="71438" cy="20178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271838" y="4332307"/>
            <a:ext cx="71437" cy="16157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343275" y="4202924"/>
            <a:ext cx="71437" cy="12938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414712" y="4099323"/>
            <a:ext cx="71438" cy="10360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486150" y="4016365"/>
            <a:ext cx="71438" cy="8295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557588" y="3949938"/>
            <a:ext cx="71437" cy="6642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629025" y="3896747"/>
            <a:ext cx="71437" cy="5319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00462" y="3854155"/>
            <a:ext cx="71438" cy="4259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771900" y="3820051"/>
            <a:ext cx="71438" cy="3410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843338" y="3792742"/>
            <a:ext cx="71437" cy="2730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914775" y="3770874"/>
            <a:ext cx="71437" cy="2186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986212" y="3753364"/>
            <a:ext cx="71438" cy="1751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057650" y="3739343"/>
            <a:ext cx="71438" cy="1402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29088" y="3728116"/>
            <a:ext cx="71437" cy="1122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200525" y="3719126"/>
            <a:ext cx="71437" cy="899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71962" y="3711928"/>
            <a:ext cx="71438" cy="719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43400" y="3706163"/>
            <a:ext cx="71438" cy="576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4381500" y="3672826"/>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4452938" y="3668210"/>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4524375" y="3664514"/>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595812" y="3661555"/>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667250" y="3659185"/>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4738688" y="3657288"/>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810125" y="3655768"/>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4881562" y="365455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4953000" y="3653577"/>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024438" y="3652797"/>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5095875" y="3652173"/>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167312" y="365167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5238750" y="365127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5310188" y="3650951"/>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5381625" y="3650694"/>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453062" y="3650489"/>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524500" y="3650324"/>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5" name="Connector 84"/>
          <p:cNvCxnSpPr/>
          <p:nvPr/>
        </p:nvCxnSpPr>
        <p:spPr>
          <a:xfrm>
            <a:off x="5629275" y="3683530"/>
            <a:ext cx="71437" cy="151140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700712" y="5194932"/>
            <a:ext cx="71438" cy="91671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772150" y="6111644"/>
            <a:ext cx="71438" cy="55601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843588" y="6667658"/>
            <a:ext cx="71437" cy="33723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915025" y="7004897"/>
            <a:ext cx="71437" cy="20454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986462" y="7209443"/>
            <a:ext cx="71438" cy="12406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057900" y="7333507"/>
            <a:ext cx="71438" cy="7524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129338" y="7408755"/>
            <a:ext cx="71437" cy="4564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200775" y="7454396"/>
            <a:ext cx="71437" cy="2768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272212" y="7482078"/>
            <a:ext cx="71438" cy="1679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343650" y="7498868"/>
            <a:ext cx="71438" cy="1018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415088" y="7509052"/>
            <a:ext cx="71437" cy="617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97" name="Rectangle 96"/>
          <p:cNvSpPr/>
          <p:nvPr/>
        </p:nvSpPr>
        <p:spPr>
          <a:xfrm>
            <a:off x="6453188" y="7481891"/>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6524625" y="7485637"/>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6596062" y="7487910"/>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6667500" y="7489288"/>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738938" y="7490124"/>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6810375" y="7490631"/>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881812" y="7490938"/>
            <a:ext cx="138113"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953250" y="7491125"/>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5" name="Connector 104"/>
          <p:cNvCxnSpPr/>
          <p:nvPr/>
        </p:nvCxnSpPr>
        <p:spPr>
          <a:xfrm flipV="1">
            <a:off x="7058025" y="7494039"/>
            <a:ext cx="71437" cy="3053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7096125" y="746070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7" name="Connector 106"/>
          <p:cNvCxnSpPr/>
          <p:nvPr/>
        </p:nvCxnSpPr>
        <p:spPr>
          <a:xfrm>
            <a:off x="7200900" y="7492482"/>
            <a:ext cx="71438" cy="2279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72338" y="7515280"/>
            <a:ext cx="71437" cy="947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7310438"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738187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1" name="Connector 110"/>
          <p:cNvCxnSpPr/>
          <p:nvPr/>
        </p:nvCxnSpPr>
        <p:spPr>
          <a:xfrm flipV="1">
            <a:off x="7486650" y="7518322"/>
            <a:ext cx="71438" cy="642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7558088" y="7493863"/>
            <a:ext cx="71437" cy="2445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7596188" y="7460526"/>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4" name="Connector 113"/>
          <p:cNvCxnSpPr/>
          <p:nvPr/>
        </p:nvCxnSpPr>
        <p:spPr>
          <a:xfrm>
            <a:off x="7700962" y="7492776"/>
            <a:ext cx="71438" cy="2310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772400" y="7515884"/>
            <a:ext cx="71437" cy="886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16" name="Rectangle 115"/>
          <p:cNvSpPr/>
          <p:nvPr/>
        </p:nvSpPr>
        <p:spPr>
          <a:xfrm>
            <a:off x="781050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881937" y="7491412"/>
            <a:ext cx="138113"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8" name="Connector 117"/>
          <p:cNvCxnSpPr/>
          <p:nvPr/>
        </p:nvCxnSpPr>
        <p:spPr>
          <a:xfrm flipV="1">
            <a:off x="7986713" y="7517751"/>
            <a:ext cx="71437" cy="699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8058150" y="7493596"/>
            <a:ext cx="71438" cy="2415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8096250" y="7460259"/>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1" name="Connector 120"/>
          <p:cNvCxnSpPr/>
          <p:nvPr/>
        </p:nvCxnSpPr>
        <p:spPr>
          <a:xfrm>
            <a:off x="8201025" y="7493019"/>
            <a:ext cx="71437" cy="2343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8272462" y="7516454"/>
            <a:ext cx="71438" cy="829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831056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838200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5" name="Connector 124"/>
          <p:cNvCxnSpPr/>
          <p:nvPr/>
        </p:nvCxnSpPr>
        <p:spPr>
          <a:xfrm flipV="1">
            <a:off x="8486775" y="7517176"/>
            <a:ext cx="71437" cy="757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558212" y="7493335"/>
            <a:ext cx="71438" cy="2384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8596312" y="7459998"/>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8" name="Connector 127"/>
          <p:cNvCxnSpPr/>
          <p:nvPr/>
        </p:nvCxnSpPr>
        <p:spPr>
          <a:xfrm>
            <a:off x="8701088" y="7493268"/>
            <a:ext cx="71437" cy="2375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772525" y="7517026"/>
            <a:ext cx="71437" cy="772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30" name="Rectangle 129"/>
          <p:cNvSpPr/>
          <p:nvPr/>
        </p:nvSpPr>
        <p:spPr>
          <a:xfrm>
            <a:off x="881062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888206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2" name="Connector 131"/>
          <p:cNvCxnSpPr/>
          <p:nvPr/>
        </p:nvCxnSpPr>
        <p:spPr>
          <a:xfrm flipV="1">
            <a:off x="8986837" y="7516604"/>
            <a:ext cx="71438" cy="814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9058275" y="7493083"/>
            <a:ext cx="71438" cy="2352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9129713" y="7493083"/>
            <a:ext cx="71437" cy="3166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35" name="Rectangle 134"/>
          <p:cNvSpPr/>
          <p:nvPr/>
        </p:nvSpPr>
        <p:spPr>
          <a:xfrm>
            <a:off x="916781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923925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9310688"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938212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945356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952500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9596438"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966787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973931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ectangle 143"/>
          <p:cNvSpPr/>
          <p:nvPr/>
        </p:nvSpPr>
        <p:spPr>
          <a:xfrm>
            <a:off x="981075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ectangle 144"/>
          <p:cNvSpPr/>
          <p:nvPr/>
        </p:nvSpPr>
        <p:spPr>
          <a:xfrm>
            <a:off x="9882188"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ectangle 145"/>
          <p:cNvSpPr/>
          <p:nvPr/>
        </p:nvSpPr>
        <p:spPr>
          <a:xfrm>
            <a:off x="995362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ectangle 146"/>
          <p:cNvSpPr/>
          <p:nvPr/>
        </p:nvSpPr>
        <p:spPr>
          <a:xfrm>
            <a:off x="1002506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ectangle 147"/>
          <p:cNvSpPr/>
          <p:nvPr/>
        </p:nvSpPr>
        <p:spPr>
          <a:xfrm>
            <a:off x="1009650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10167938"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1023937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10310812"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10382250"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10453688"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10525125" y="7491412"/>
            <a:ext cx="138112"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2038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2109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2181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2252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2324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23955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24669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25384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26098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26812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27527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28241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28956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29670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30384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31099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3181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3252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3324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3395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3467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35385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36099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36814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37528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38242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38957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39671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ectangle 182"/>
          <p:cNvSpPr/>
          <p:nvPr/>
        </p:nvSpPr>
        <p:spPr>
          <a:xfrm>
            <a:off x="40386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41100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ectangle 184"/>
          <p:cNvSpPr/>
          <p:nvPr/>
        </p:nvSpPr>
        <p:spPr>
          <a:xfrm>
            <a:off x="41814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ectangle 185"/>
          <p:cNvSpPr/>
          <p:nvPr/>
        </p:nvSpPr>
        <p:spPr>
          <a:xfrm>
            <a:off x="42529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ectangle 186"/>
          <p:cNvSpPr/>
          <p:nvPr/>
        </p:nvSpPr>
        <p:spPr>
          <a:xfrm>
            <a:off x="4324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Rectangle 187"/>
          <p:cNvSpPr/>
          <p:nvPr/>
        </p:nvSpPr>
        <p:spPr>
          <a:xfrm>
            <a:off x="4395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Rectangle 188"/>
          <p:cNvSpPr/>
          <p:nvPr/>
        </p:nvSpPr>
        <p:spPr>
          <a:xfrm>
            <a:off x="4467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Rectangle 189"/>
          <p:cNvSpPr/>
          <p:nvPr/>
        </p:nvSpPr>
        <p:spPr>
          <a:xfrm>
            <a:off x="4538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Rectangle 190"/>
          <p:cNvSpPr/>
          <p:nvPr/>
        </p:nvSpPr>
        <p:spPr>
          <a:xfrm>
            <a:off x="4610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Rectangle 191"/>
          <p:cNvSpPr/>
          <p:nvPr/>
        </p:nvSpPr>
        <p:spPr>
          <a:xfrm>
            <a:off x="46815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Rectangle 192"/>
          <p:cNvSpPr/>
          <p:nvPr/>
        </p:nvSpPr>
        <p:spPr>
          <a:xfrm>
            <a:off x="47529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ectangle 193"/>
          <p:cNvSpPr/>
          <p:nvPr/>
        </p:nvSpPr>
        <p:spPr>
          <a:xfrm>
            <a:off x="48244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Rectangle 194"/>
          <p:cNvSpPr/>
          <p:nvPr/>
        </p:nvSpPr>
        <p:spPr>
          <a:xfrm>
            <a:off x="48958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Rectangle 195"/>
          <p:cNvSpPr/>
          <p:nvPr/>
        </p:nvSpPr>
        <p:spPr>
          <a:xfrm>
            <a:off x="49672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Rectangle 196"/>
          <p:cNvSpPr/>
          <p:nvPr/>
        </p:nvSpPr>
        <p:spPr>
          <a:xfrm>
            <a:off x="50387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ectangle 197"/>
          <p:cNvSpPr/>
          <p:nvPr/>
        </p:nvSpPr>
        <p:spPr>
          <a:xfrm>
            <a:off x="51101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Rectangle 198"/>
          <p:cNvSpPr/>
          <p:nvPr/>
        </p:nvSpPr>
        <p:spPr>
          <a:xfrm>
            <a:off x="51816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Rectangle 199"/>
          <p:cNvSpPr/>
          <p:nvPr/>
        </p:nvSpPr>
        <p:spPr>
          <a:xfrm>
            <a:off x="52530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Rectangle 200"/>
          <p:cNvSpPr/>
          <p:nvPr/>
        </p:nvSpPr>
        <p:spPr>
          <a:xfrm>
            <a:off x="53244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ectangle 201"/>
          <p:cNvSpPr/>
          <p:nvPr/>
        </p:nvSpPr>
        <p:spPr>
          <a:xfrm>
            <a:off x="53959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5467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5538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Rectangle 204"/>
          <p:cNvSpPr/>
          <p:nvPr/>
        </p:nvSpPr>
        <p:spPr>
          <a:xfrm>
            <a:off x="5610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ectangle 205"/>
          <p:cNvSpPr/>
          <p:nvPr/>
        </p:nvSpPr>
        <p:spPr>
          <a:xfrm>
            <a:off x="5681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Rectangle 206"/>
          <p:cNvSpPr/>
          <p:nvPr/>
        </p:nvSpPr>
        <p:spPr>
          <a:xfrm>
            <a:off x="5753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Rectangle 207"/>
          <p:cNvSpPr/>
          <p:nvPr/>
        </p:nvSpPr>
        <p:spPr>
          <a:xfrm>
            <a:off x="58245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Rectangle 208"/>
          <p:cNvSpPr/>
          <p:nvPr/>
        </p:nvSpPr>
        <p:spPr>
          <a:xfrm>
            <a:off x="58959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ectangle 209"/>
          <p:cNvSpPr/>
          <p:nvPr/>
        </p:nvSpPr>
        <p:spPr>
          <a:xfrm>
            <a:off x="59674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Rectangle 210"/>
          <p:cNvSpPr/>
          <p:nvPr/>
        </p:nvSpPr>
        <p:spPr>
          <a:xfrm>
            <a:off x="60388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Rectangle 211"/>
          <p:cNvSpPr/>
          <p:nvPr/>
        </p:nvSpPr>
        <p:spPr>
          <a:xfrm>
            <a:off x="61102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Rectangle 212"/>
          <p:cNvSpPr/>
          <p:nvPr/>
        </p:nvSpPr>
        <p:spPr>
          <a:xfrm>
            <a:off x="61817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Rectangle 213"/>
          <p:cNvSpPr/>
          <p:nvPr/>
        </p:nvSpPr>
        <p:spPr>
          <a:xfrm>
            <a:off x="62531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Rectangle 214"/>
          <p:cNvSpPr/>
          <p:nvPr/>
        </p:nvSpPr>
        <p:spPr>
          <a:xfrm>
            <a:off x="63246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Rectangle 215"/>
          <p:cNvSpPr/>
          <p:nvPr/>
        </p:nvSpPr>
        <p:spPr>
          <a:xfrm>
            <a:off x="63960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Rectangle 216"/>
          <p:cNvSpPr/>
          <p:nvPr/>
        </p:nvSpPr>
        <p:spPr>
          <a:xfrm>
            <a:off x="64674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Rectangle 217"/>
          <p:cNvSpPr/>
          <p:nvPr/>
        </p:nvSpPr>
        <p:spPr>
          <a:xfrm>
            <a:off x="65389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Rectangle 218"/>
          <p:cNvSpPr/>
          <p:nvPr/>
        </p:nvSpPr>
        <p:spPr>
          <a:xfrm>
            <a:off x="6610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Rectangle 219"/>
          <p:cNvSpPr/>
          <p:nvPr/>
        </p:nvSpPr>
        <p:spPr>
          <a:xfrm>
            <a:off x="6681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Rectangle 220"/>
          <p:cNvSpPr/>
          <p:nvPr/>
        </p:nvSpPr>
        <p:spPr>
          <a:xfrm>
            <a:off x="6753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Rectangle 221"/>
          <p:cNvSpPr/>
          <p:nvPr/>
        </p:nvSpPr>
        <p:spPr>
          <a:xfrm>
            <a:off x="6824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3" name="Rectangle 222"/>
          <p:cNvSpPr/>
          <p:nvPr/>
        </p:nvSpPr>
        <p:spPr>
          <a:xfrm>
            <a:off x="6896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Rectangle 223"/>
          <p:cNvSpPr/>
          <p:nvPr/>
        </p:nvSpPr>
        <p:spPr>
          <a:xfrm>
            <a:off x="6967538" y="7505700"/>
            <a:ext cx="109537"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5" name="Connector 224"/>
          <p:cNvCxnSpPr/>
          <p:nvPr/>
        </p:nvCxnSpPr>
        <p:spPr>
          <a:xfrm flipV="1">
            <a:off x="7058025" y="6726222"/>
            <a:ext cx="71437" cy="79852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7129462" y="6126146"/>
            <a:ext cx="71438" cy="60007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7200900" y="5675202"/>
            <a:ext cx="71438" cy="45094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7272338" y="5336329"/>
            <a:ext cx="71437" cy="3388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7343775" y="5081673"/>
            <a:ext cx="71437" cy="2546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7415212" y="4890305"/>
            <a:ext cx="71438" cy="19136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7486650" y="4746496"/>
            <a:ext cx="71438" cy="1438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7558088" y="4638427"/>
            <a:ext cx="71437" cy="10806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7629525" y="4557215"/>
            <a:ext cx="71437" cy="8121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7700962" y="4496187"/>
            <a:ext cx="71438" cy="6102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7772400" y="4450325"/>
            <a:ext cx="71437" cy="458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7843837" y="4415861"/>
            <a:ext cx="71438" cy="344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7915275" y="4389962"/>
            <a:ext cx="71438" cy="2589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7986713" y="4370500"/>
            <a:ext cx="71437" cy="194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8058150" y="4355874"/>
            <a:ext cx="71438" cy="1462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8129588" y="4344884"/>
            <a:ext cx="71437" cy="1099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8201025" y="4336624"/>
            <a:ext cx="71437" cy="82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8272462" y="4330418"/>
            <a:ext cx="71438" cy="620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43" name="Rectangle 242"/>
          <p:cNvSpPr/>
          <p:nvPr/>
        </p:nvSpPr>
        <p:spPr>
          <a:xfrm>
            <a:off x="8324850" y="4311368"/>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8396288" y="4306703"/>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8467725" y="4303198"/>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8539162" y="4300564"/>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8610600" y="4298585"/>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8682038" y="4297098"/>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Rectangle 248"/>
          <p:cNvSpPr/>
          <p:nvPr/>
        </p:nvSpPr>
        <p:spPr>
          <a:xfrm>
            <a:off x="8753475" y="429598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Rectangle 249"/>
          <p:cNvSpPr/>
          <p:nvPr/>
        </p:nvSpPr>
        <p:spPr>
          <a:xfrm>
            <a:off x="8824912" y="4295140"/>
            <a:ext cx="109537"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Rectangle 250"/>
          <p:cNvSpPr/>
          <p:nvPr/>
        </p:nvSpPr>
        <p:spPr>
          <a:xfrm>
            <a:off x="8896350" y="4294509"/>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8967787" y="4294034"/>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9039225" y="4293678"/>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9110663" y="4293410"/>
            <a:ext cx="109537"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5" name="Connector 254"/>
          <p:cNvCxnSpPr/>
          <p:nvPr/>
        </p:nvCxnSpPr>
        <p:spPr>
          <a:xfrm>
            <a:off x="9201150" y="4312259"/>
            <a:ext cx="71438" cy="12640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9272588" y="5576276"/>
            <a:ext cx="71437" cy="7666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9344025" y="6342940"/>
            <a:ext cx="71437" cy="46500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9415462" y="6807946"/>
            <a:ext cx="71438" cy="28204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9486900" y="7089987"/>
            <a:ext cx="71438" cy="1710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9558338" y="7261053"/>
            <a:ext cx="71437" cy="1037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9629775" y="7364809"/>
            <a:ext cx="71437" cy="6293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9701212" y="7427741"/>
            <a:ext cx="71438" cy="381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9772650" y="7465911"/>
            <a:ext cx="71438" cy="231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9844088" y="7489062"/>
            <a:ext cx="71437" cy="1404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9915525" y="7503104"/>
            <a:ext cx="71437" cy="85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a:off x="9986962" y="7511621"/>
            <a:ext cx="71438" cy="51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67" name="Rectangle 266"/>
          <p:cNvSpPr/>
          <p:nvPr/>
        </p:nvSpPr>
        <p:spPr>
          <a:xfrm>
            <a:off x="10039350" y="7497737"/>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10110788" y="750087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10182225" y="7502771"/>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Rectangle 269"/>
          <p:cNvSpPr/>
          <p:nvPr/>
        </p:nvSpPr>
        <p:spPr>
          <a:xfrm>
            <a:off x="10253662" y="7503923"/>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Rectangle 270"/>
          <p:cNvSpPr/>
          <p:nvPr/>
        </p:nvSpPr>
        <p:spPr>
          <a:xfrm>
            <a:off x="10325100" y="7504622"/>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Rectangle 271"/>
          <p:cNvSpPr/>
          <p:nvPr/>
        </p:nvSpPr>
        <p:spPr>
          <a:xfrm>
            <a:off x="10396538" y="7505046"/>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3" name="Rectangle 272"/>
          <p:cNvSpPr/>
          <p:nvPr/>
        </p:nvSpPr>
        <p:spPr>
          <a:xfrm>
            <a:off x="10467975" y="7505304"/>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Rectangle 273"/>
          <p:cNvSpPr/>
          <p:nvPr/>
        </p:nvSpPr>
        <p:spPr>
          <a:xfrm>
            <a:off x="10539412" y="750546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5" name="Rectangle 274"/>
          <p:cNvSpPr/>
          <p:nvPr/>
        </p:nvSpPr>
        <p:spPr>
          <a:xfrm>
            <a:off x="2762250" y="3324225"/>
            <a:ext cx="19050" cy="4210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TextBox 275"/>
          <p:cNvSpPr txBox="1"/>
          <p:nvPr/>
        </p:nvSpPr>
        <p:spPr>
          <a:xfrm>
            <a:off x="2771775" y="3390900"/>
            <a:ext cx="2857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drive forward</a:t>
            </a:r>
          </a:p>
        </p:txBody>
      </p:sp>
      <p:sp>
        <p:nvSpPr>
          <p:cNvPr id="277" name="Rectangle 276"/>
          <p:cNvSpPr/>
          <p:nvPr/>
        </p:nvSpPr>
        <p:spPr>
          <a:xfrm>
            <a:off x="7048500" y="3324225"/>
            <a:ext cx="19050" cy="4210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TextBox 277"/>
          <p:cNvSpPr txBox="1"/>
          <p:nvPr/>
        </p:nvSpPr>
        <p:spPr>
          <a:xfrm>
            <a:off x="7058025" y="3390900"/>
            <a:ext cx="2143125"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spin left</a:t>
            </a:r>
          </a:p>
        </p:txBody>
      </p:sp>
      <p:sp>
        <p:nvSpPr>
          <p:cNvPr id="279" name="Oval 278"/>
          <p:cNvSpPr/>
          <p:nvPr/>
        </p:nvSpPr>
        <p:spPr>
          <a:xfrm>
            <a:off x="3990975" y="45212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3990975" y="4521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1" name="Oval 280"/>
          <p:cNvSpPr/>
          <p:nvPr/>
        </p:nvSpPr>
        <p:spPr>
          <a:xfrm>
            <a:off x="7920038" y="5080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7920038" y="5080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3" name="Rectangle 282"/>
          <p:cNvSpPr/>
          <p:nvPr/>
        </p:nvSpPr>
        <p:spPr>
          <a:xfrm>
            <a:off x="2057400" y="8562975"/>
            <a:ext cx="38100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TextBox 283"/>
          <p:cNvSpPr txBox="1"/>
          <p:nvPr/>
        </p:nvSpPr>
        <p:spPr>
          <a:xfrm>
            <a:off x="2571750" y="8420100"/>
            <a:ext cx="32385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Robot/LinearSpeed</a:t>
            </a:r>
          </a:p>
        </p:txBody>
      </p:sp>
      <p:sp>
        <p:nvSpPr>
          <p:cNvPr id="285" name="Rectangle 284"/>
          <p:cNvSpPr/>
          <p:nvPr/>
        </p:nvSpPr>
        <p:spPr>
          <a:xfrm>
            <a:off x="6057900" y="856297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TextBox 285"/>
          <p:cNvSpPr txBox="1"/>
          <p:nvPr/>
        </p:nvSpPr>
        <p:spPr>
          <a:xfrm>
            <a:off x="6572250" y="8420100"/>
            <a:ext cx="32385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Robot/AngularSpeed</a:t>
            </a:r>
          </a:p>
        </p:txBody>
      </p:sp>
      <p:sp>
        <p:nvSpPr>
          <p:cNvPr id="287" name="Oval 286"/>
          <p:cNvSpPr/>
          <p:nvPr/>
        </p:nvSpPr>
        <p:spPr>
          <a:xfrm>
            <a:off x="12287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9" name="TextBox 288"/>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forward</a:t>
            </a:r>
          </a:p>
        </p:txBody>
      </p:sp>
      <p:sp>
        <p:nvSpPr>
          <p:cNvPr id="290" name="TextBox 289"/>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Linear speed climbs to about 5.5 m/s</a:t>
            </a:r>
          </a:p>
        </p:txBody>
      </p:sp>
      <p:sp>
        <p:nvSpPr>
          <p:cNvPr id="291" name="Oval 290"/>
          <p:cNvSpPr/>
          <p:nvPr/>
        </p:nvSpPr>
        <p:spPr>
          <a:xfrm>
            <a:off x="12287250" y="4476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22872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3" name="TextBox 292"/>
          <p:cNvSpPr txBox="1"/>
          <p:nvPr/>
        </p:nvSpPr>
        <p:spPr>
          <a:xfrm>
            <a:off x="12896850" y="4438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 in place</a:t>
            </a:r>
          </a:p>
        </p:txBody>
      </p:sp>
      <p:sp>
        <p:nvSpPr>
          <p:cNvPr id="294" name="TextBox 293"/>
          <p:cNvSpPr txBox="1"/>
          <p:nvPr/>
        </p:nvSpPr>
        <p:spPr>
          <a:xfrm>
            <a:off x="12896850" y="4857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Angular jumps up, linear stays near 0</a:t>
            </a:r>
          </a:p>
        </p:txBody>
      </p:sp>
      <p:sp>
        <p:nvSpPr>
          <p:cNvPr id="295" name="Rounded Rectangle 294"/>
          <p:cNvSpPr/>
          <p:nvPr/>
        </p:nvSpPr>
        <p:spPr>
          <a:xfrm>
            <a:off x="12287250" y="6096000"/>
            <a:ext cx="5086350" cy="2571750"/>
          </a:xfrm>
          <a:prstGeom prst="roundRect">
            <a:avLst>
              <a:gd name="adj" fmla="val 592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TextBox 295"/>
          <p:cNvSpPr txBox="1"/>
          <p:nvPr/>
        </p:nvSpPr>
        <p:spPr>
          <a:xfrm>
            <a:off x="12630150" y="6286500"/>
            <a:ext cx="4476750" cy="2190750"/>
          </a:xfrm>
          <a:prstGeom prst="rect">
            <a:avLst/>
          </a:prstGeom>
          <a:noFill/>
        </p:spPr>
        <p:txBody>
          <a:bodyPr wrap="square" lIns="0" rIns="0" tIns="0" bIns="0" anchor="ctr">
            <a:spAutoFit/>
          </a:bodyPr>
          <a:lstStyle/>
          <a:p>
            <a:pPr algn="l">
              <a:lnSpc>
                <a:spcPct val="130000"/>
              </a:lnSpc>
            </a:pPr>
            <a:r>
              <a:rPr sz="1875" b="1" i="0">
                <a:solidFill>
                  <a:srgbClr val="F0E8E8"/>
                </a:solidFill>
                <a:latin typeface="Geist"/>
                <a:ea typeface="Geist"/>
                <a:cs typeface="Geist"/>
              </a:rPr>
              <a:t>Spinning left (A key)?  </a:t>
            </a:r>
            <a:r>
              <a:rPr sz="1875" b="0" i="0">
                <a:solidFill>
                  <a:srgbClr val="F0E8E8"/>
                </a:solidFill>
                <a:latin typeface="Geist"/>
                <a:ea typeface="Geist"/>
                <a:cs typeface="Geist"/>
              </a:rPr>
              <a:t>Angular speed should be positive. Negative means left and right are swapped.</a:t>
            </a:r>
          </a:p>
        </p:txBody>
      </p:sp>
      <p:sp>
        <p:nvSpPr>
          <p:cNvPr id="297" name="TextBox 29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8" name="TextBox 29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Stuck? Log it and look</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64592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  ·  robotPeriodic()  ·  the lesson's bonus</a:t>
            </a:r>
          </a:p>
        </p:txBody>
      </p:sp>
      <p:sp>
        <p:nvSpPr>
          <p:cNvPr id="6" name="Rounded Rectangle 5"/>
          <p:cNvSpPr/>
          <p:nvPr/>
        </p:nvSpPr>
        <p:spPr>
          <a:xfrm>
            <a:off x="914400" y="3238500"/>
            <a:ext cx="16459200" cy="1676400"/>
          </a:xfrm>
          <a:prstGeom prst="roundRect">
            <a:avLst>
              <a:gd name="adj" fmla="val 909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19500"/>
            <a:ext cx="15925800" cy="4572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MwLog.log(</a:t>
            </a:r>
            <a:r>
              <a:rPr sz="2250" b="0" i="0">
                <a:solidFill>
                  <a:srgbClr val="9FD29A"/>
                </a:solidFill>
                <a:latin typeface="Geist Mono"/>
                <a:ea typeface="Geist Mono"/>
                <a:cs typeface="Geist Mono"/>
              </a:rPr>
              <a:t>"Robot/LeftSpeed"</a:t>
            </a:r>
            <a:r>
              <a:rPr sz="2250" b="0" i="0">
                <a:solidFill>
                  <a:srgbClr val="F0E8E8"/>
                </a:solidFill>
                <a:latin typeface="Geist Mono"/>
                <a:ea typeface="Geist Mono"/>
                <a:cs typeface="Geist Mono"/>
              </a:rPr>
              <a:t>, left_meters_per_second);</a:t>
            </a:r>
          </a:p>
        </p:txBody>
      </p:sp>
      <p:sp>
        <p:nvSpPr>
          <p:cNvPr id="8" name="TextBox 7"/>
          <p:cNvSpPr txBox="1"/>
          <p:nvPr/>
        </p:nvSpPr>
        <p:spPr>
          <a:xfrm>
            <a:off x="1295400" y="4076700"/>
            <a:ext cx="15925800" cy="4572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MwLog.log(</a:t>
            </a:r>
            <a:r>
              <a:rPr sz="2250" b="0" i="0">
                <a:solidFill>
                  <a:srgbClr val="9FD29A"/>
                </a:solidFill>
                <a:latin typeface="Geist Mono"/>
                <a:ea typeface="Geist Mono"/>
                <a:cs typeface="Geist Mono"/>
              </a:rPr>
              <a:t>"Robot/RightSpeed"</a:t>
            </a:r>
            <a:r>
              <a:rPr sz="2250" b="0" i="0">
                <a:solidFill>
                  <a:srgbClr val="F0E8E8"/>
                </a:solidFill>
                <a:latin typeface="Geist Mono"/>
                <a:ea typeface="Geist Mono"/>
                <a:cs typeface="Geist Mono"/>
              </a:rPr>
              <a:t>, right_meters_per_second);</a:t>
            </a:r>
          </a:p>
        </p:txBody>
      </p:sp>
      <p:sp>
        <p:nvSpPr>
          <p:cNvPr id="9" name="Rounded Rectangle 8"/>
          <p:cNvSpPr/>
          <p:nvPr/>
        </p:nvSpPr>
        <p:spPr>
          <a:xfrm>
            <a:off x="914400" y="5334000"/>
            <a:ext cx="35433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9650" y="5667375"/>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Surprise</a:t>
            </a:r>
          </a:p>
        </p:txBody>
      </p:sp>
      <p:sp>
        <p:nvSpPr>
          <p:cNvPr id="11" name="TextBox 10"/>
          <p:cNvSpPr txBox="1"/>
          <p:nvPr/>
        </p:nvSpPr>
        <p:spPr>
          <a:xfrm>
            <a:off x="1066800" y="6257925"/>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robot does something odd</a:t>
            </a:r>
          </a:p>
        </p:txBody>
      </p:sp>
      <p:sp>
        <p:nvSpPr>
          <p:cNvPr id="12" name="Rectangle 11"/>
          <p:cNvSpPr/>
          <p:nvPr/>
        </p:nvSpPr>
        <p:spPr>
          <a:xfrm>
            <a:off x="4519612" y="6129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sosceles Triangle 12"/>
          <p:cNvSpPr/>
          <p:nvPr/>
        </p:nvSpPr>
        <p:spPr>
          <a:xfrm rot="5400000">
            <a:off x="4991100" y="6067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19700" y="5334000"/>
            <a:ext cx="35433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14950" y="5667375"/>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Log it</a:t>
            </a:r>
          </a:p>
        </p:txBody>
      </p:sp>
      <p:sp>
        <p:nvSpPr>
          <p:cNvPr id="16" name="TextBox 15"/>
          <p:cNvSpPr txBox="1"/>
          <p:nvPr/>
        </p:nvSpPr>
        <p:spPr>
          <a:xfrm>
            <a:off x="5372100" y="6257925"/>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numbers it decides with</a:t>
            </a:r>
          </a:p>
        </p:txBody>
      </p:sp>
      <p:sp>
        <p:nvSpPr>
          <p:cNvPr id="17" name="Rectangle 16"/>
          <p:cNvSpPr/>
          <p:nvPr/>
        </p:nvSpPr>
        <p:spPr>
          <a:xfrm>
            <a:off x="8824912" y="6129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296400" y="6067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25000" y="5334000"/>
            <a:ext cx="35433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20250" y="5667375"/>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 again</a:t>
            </a:r>
          </a:p>
        </p:txBody>
      </p:sp>
      <p:sp>
        <p:nvSpPr>
          <p:cNvPr id="21" name="TextBox 20"/>
          <p:cNvSpPr txBox="1"/>
          <p:nvPr/>
        </p:nvSpPr>
        <p:spPr>
          <a:xfrm>
            <a:off x="9677400" y="6257925"/>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Same test, same steps</a:t>
            </a:r>
          </a:p>
        </p:txBody>
      </p:sp>
      <p:sp>
        <p:nvSpPr>
          <p:cNvPr id="22" name="Rectangle 21"/>
          <p:cNvSpPr/>
          <p:nvPr/>
        </p:nvSpPr>
        <p:spPr>
          <a:xfrm>
            <a:off x="13130212" y="6129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13601700" y="6067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830300" y="5334000"/>
            <a:ext cx="35433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925550" y="5667375"/>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Look</a:t>
            </a:r>
          </a:p>
        </p:txBody>
      </p:sp>
      <p:sp>
        <p:nvSpPr>
          <p:cNvPr id="26" name="TextBox 25"/>
          <p:cNvSpPr txBox="1"/>
          <p:nvPr/>
        </p:nvSpPr>
        <p:spPr>
          <a:xfrm>
            <a:off x="13982700" y="6257925"/>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 it in AdvantageScope</a:t>
            </a:r>
          </a:p>
        </p:txBody>
      </p:sp>
      <p:sp>
        <p:nvSpPr>
          <p:cNvPr id="27" name="Rounded Rectangle 26"/>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archive.png"/>
          <p:cNvPicPr>
            <a:picLocks noChangeAspect="1"/>
          </p:cNvPicPr>
          <p:nvPr/>
        </p:nvPicPr>
        <p:blipFill>
          <a:blip r:embed="rId3"/>
          <a:stretch>
            <a:fillRect/>
          </a:stretch>
        </p:blipFill>
        <p:spPr>
          <a:xfrm>
            <a:off x="1333500" y="7781925"/>
            <a:ext cx="609600" cy="533400"/>
          </a:xfrm>
          <a:prstGeom prst="rect">
            <a:avLst/>
          </a:prstGeom>
        </p:spPr>
      </p:pic>
      <p:sp>
        <p:nvSpPr>
          <p:cNvPr id="29" name="TextBox 28"/>
          <p:cNvSpPr txBox="1"/>
          <p:nvPr/>
        </p:nvSpPr>
        <p:spPr>
          <a:xfrm>
            <a:off x="2190750" y="7524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the robot:  </a:t>
            </a:r>
            <a:r>
              <a:rPr sz="2100" b="0" i="0">
                <a:solidFill>
                  <a:srgbClr val="F0E8E8"/>
                </a:solidFill>
                <a:latin typeface="Geist"/>
                <a:ea typeface="Geist"/>
                <a:cs typeface="Geist"/>
              </a:rPr>
              <a:t>every run is saved on the USB stick in /U/logs. Open it in AdvantageScope after the match.</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Deadband</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Constants and if statements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Hands off the stick and I still creep? Not anymore!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Sticks never rest at zero</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95500" y="3333750"/>
            <a:ext cx="3429000" cy="34290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95500" y="3333750"/>
            <a:ext cx="3429000" cy="3429000"/>
          </a:xfrm>
          <a:prstGeom prst="ellipse">
            <a:avLst/>
          </a:prstGeom>
          <a:no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85975" y="5038725"/>
            <a:ext cx="34480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800475" y="3324225"/>
            <a:ext cx="19050" cy="3448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629025" y="4429125"/>
            <a:ext cx="857250" cy="8572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05000" y="6953250"/>
            <a:ext cx="3810000" cy="381000"/>
          </a:xfrm>
          <a:prstGeom prst="rect">
            <a:avLst/>
          </a:prstGeom>
          <a:noFill/>
        </p:spPr>
        <p:txBody>
          <a:bodyPr wrap="square" lIns="0" rIns="0" tIns="0" bIns="0" anchor="t">
            <a:spAutoFit/>
          </a:bodyPr>
          <a:lstStyle/>
          <a:p>
            <a:pPr algn="ctr"/>
            <a:r>
              <a:rPr sz="1950" b="0" i="0">
                <a:solidFill>
                  <a:srgbClr val="F0E8E8"/>
                </a:solidFill>
                <a:latin typeface="Geist Mono"/>
                <a:ea typeface="Geist Mono"/>
                <a:cs typeface="Geist Mono"/>
              </a:rPr>
              <a:t>hands off: reads 0.03</a:t>
            </a:r>
          </a:p>
        </p:txBody>
      </p:sp>
      <p:sp>
        <p:nvSpPr>
          <p:cNvPr id="11" name="Rectangle 10"/>
          <p:cNvSpPr/>
          <p:nvPr/>
        </p:nvSpPr>
        <p:spPr>
          <a:xfrm>
            <a:off x="6457950" y="5124450"/>
            <a:ext cx="1043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5400000">
            <a:off x="7467600" y="5067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01000" y="2857500"/>
            <a:ext cx="9372600" cy="4572000"/>
          </a:xfrm>
          <a:prstGeom prst="roundRect">
            <a:avLst>
              <a:gd name="adj" fmla="val 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ozer_top.png"/>
          <p:cNvPicPr>
            <a:picLocks noChangeAspect="1"/>
          </p:cNvPicPr>
          <p:nvPr/>
        </p:nvPicPr>
        <p:blipFill>
          <a:blip r:embed="rId3"/>
          <a:stretch>
            <a:fillRect/>
          </a:stretch>
        </p:blipFill>
        <p:spPr>
          <a:xfrm>
            <a:off x="11096625" y="4677345"/>
            <a:ext cx="1428750" cy="1313311"/>
          </a:xfrm>
          <a:prstGeom prst="rect">
            <a:avLst/>
          </a:prstGeom>
        </p:spPr>
      </p:pic>
      <p:sp>
        <p:nvSpPr>
          <p:cNvPr id="15" name="Oval 14"/>
          <p:cNvSpPr/>
          <p:nvPr/>
        </p:nvSpPr>
        <p:spPr>
          <a:xfrm>
            <a:off x="9182100" y="5276850"/>
            <a:ext cx="114300" cy="1143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944100" y="5276850"/>
            <a:ext cx="114300" cy="1143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06100" y="5276850"/>
            <a:ext cx="114300" cy="1143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739688" y="5310188"/>
            <a:ext cx="1053465"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754100" y="52578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097000" y="4953000"/>
            <a:ext cx="3048000" cy="762000"/>
          </a:xfrm>
          <a:prstGeom prst="rect">
            <a:avLst/>
          </a:prstGeom>
          <a:noFill/>
        </p:spPr>
        <p:txBody>
          <a:bodyPr wrap="square" lIns="0" rIns="0" tIns="0" bIns="0" anchor="ctr">
            <a:spAutoFit/>
          </a:bodyPr>
          <a:lstStyle/>
          <a:p>
            <a:pPr algn="l"/>
            <a:r>
              <a:rPr sz="2250" b="1" i="0">
                <a:solidFill>
                  <a:srgbClr val="D5000E"/>
                </a:solidFill>
                <a:latin typeface="Geist"/>
                <a:ea typeface="Geist"/>
                <a:cs typeface="Geist"/>
              </a:rPr>
              <a:t>creeping...</a:t>
            </a:r>
          </a:p>
        </p:txBody>
      </p:sp>
      <p:sp>
        <p:nvSpPr>
          <p:cNvPr id="21" name="TextBox 20"/>
          <p:cNvSpPr txBox="1"/>
          <p:nvPr/>
        </p:nvSpPr>
        <p:spPr>
          <a:xfrm>
            <a:off x="8382000" y="6667500"/>
            <a:ext cx="8572500" cy="5715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Nobody's touching it, but the robot slowly drives off.</a:t>
            </a:r>
          </a:p>
        </p:txBody>
      </p:sp>
      <p:sp>
        <p:nvSpPr>
          <p:cNvPr id="22" name="Rounded Rectangle 21"/>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joystick.png"/>
          <p:cNvPicPr>
            <a:picLocks noChangeAspect="1"/>
          </p:cNvPicPr>
          <p:nvPr/>
        </p:nvPicPr>
        <p:blipFill>
          <a:blip r:embed="rId4"/>
          <a:stretch>
            <a:fillRect/>
          </a:stretch>
        </p:blipFill>
        <p:spPr>
          <a:xfrm>
            <a:off x="1333500" y="8115300"/>
            <a:ext cx="539725" cy="533400"/>
          </a:xfrm>
          <a:prstGeom prst="rect">
            <a:avLst/>
          </a:prstGeom>
        </p:spPr>
      </p:pic>
      <p:sp>
        <p:nvSpPr>
          <p:cNvPr id="24" name="TextBox 23"/>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Deadband:  </a:t>
            </a:r>
            <a:r>
              <a:rPr sz="2100" b="0" i="0">
                <a:solidFill>
                  <a:srgbClr val="F0E8E8"/>
                </a:solidFill>
                <a:latin typeface="Geist"/>
                <a:ea typeface="Geist"/>
                <a:cs typeface="Geist"/>
              </a:rPr>
              <a:t>if the stick is pushed only a tiny bit, pretend it's zero.</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flat zone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33450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7943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7" name="TextBox 6"/>
          <p:cNvSpPr txBox="1"/>
          <p:nvPr/>
        </p:nvSpPr>
        <p:spPr>
          <a:xfrm>
            <a:off x="1428750" y="6800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8" name="TextBox 7"/>
          <p:cNvSpPr txBox="1"/>
          <p:nvPr/>
        </p:nvSpPr>
        <p:spPr>
          <a:xfrm>
            <a:off x="1428750" y="5657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9" name="TextBox 8"/>
          <p:cNvSpPr txBox="1"/>
          <p:nvPr/>
        </p:nvSpPr>
        <p:spPr>
          <a:xfrm>
            <a:off x="1428750" y="4514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0" name="TextBox 9"/>
          <p:cNvSpPr txBox="1"/>
          <p:nvPr/>
        </p:nvSpPr>
        <p:spPr>
          <a:xfrm>
            <a:off x="1428750" y="3371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1" name="Rectangle 10"/>
          <p:cNvSpPr/>
          <p:nvPr/>
        </p:nvSpPr>
        <p:spPr>
          <a:xfrm>
            <a:off x="2466975"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905000"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3" name="Rectangle 12"/>
          <p:cNvSpPr/>
          <p:nvPr/>
        </p:nvSpPr>
        <p:spPr>
          <a:xfrm>
            <a:off x="4133850"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71875"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15" name="Rectangle 14"/>
          <p:cNvSpPr/>
          <p:nvPr/>
        </p:nvSpPr>
        <p:spPr>
          <a:xfrm>
            <a:off x="5800725"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8750"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7" name="Rectangle 16"/>
          <p:cNvSpPr/>
          <p:nvPr/>
        </p:nvSpPr>
        <p:spPr>
          <a:xfrm>
            <a:off x="7467600"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5625"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19" name="Rectangle 18"/>
          <p:cNvSpPr/>
          <p:nvPr/>
        </p:nvSpPr>
        <p:spPr>
          <a:xfrm>
            <a:off x="9134475"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72500"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Rectangle 20"/>
          <p:cNvSpPr/>
          <p:nvPr/>
        </p:nvSpPr>
        <p:spPr>
          <a:xfrm>
            <a:off x="2462212" y="3509962"/>
            <a:ext cx="28575" cy="460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462212" y="5795962"/>
            <a:ext cx="6696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476500" y="8591550"/>
            <a:ext cx="6667500" cy="3048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stick reads</a:t>
            </a:r>
          </a:p>
        </p:txBody>
      </p:sp>
      <p:sp>
        <p:nvSpPr>
          <p:cNvPr id="24" name="TextBox 23"/>
          <p:cNvSpPr txBox="1"/>
          <p:nvPr/>
        </p:nvSpPr>
        <p:spPr>
          <a:xfrm>
            <a:off x="1143000" y="28575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sent to motors</a:t>
            </a:r>
          </a:p>
        </p:txBody>
      </p:sp>
      <p:sp>
        <p:nvSpPr>
          <p:cNvPr id="25" name="Rectangle 24"/>
          <p:cNvSpPr/>
          <p:nvPr/>
        </p:nvSpPr>
        <p:spPr>
          <a:xfrm>
            <a:off x="5476875" y="3524250"/>
            <a:ext cx="666750" cy="45720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62212" y="5795962"/>
            <a:ext cx="6696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795962" y="3509962"/>
            <a:ext cx="28575" cy="460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8" name="Connector 27"/>
          <p:cNvCxnSpPr/>
          <p:nvPr/>
        </p:nvCxnSpPr>
        <p:spPr>
          <a:xfrm flipV="1">
            <a:off x="2476500" y="3524250"/>
            <a:ext cx="6667500" cy="45720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476500" y="6038850"/>
            <a:ext cx="3000375" cy="205740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143625" y="3524250"/>
            <a:ext cx="3000375" cy="205740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443538" y="5776912"/>
            <a:ext cx="73342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5600700" y="4953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00700" y="4953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4" name="Oval 33"/>
          <p:cNvSpPr/>
          <p:nvPr/>
        </p:nvSpPr>
        <p:spPr>
          <a:xfrm>
            <a:off x="7048500" y="42291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8500" y="42291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Oval 35"/>
          <p:cNvSpPr/>
          <p:nvPr/>
        </p:nvSpPr>
        <p:spPr>
          <a:xfrm>
            <a:off x="6238875" y="60769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8875" y="60769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8" name="Oval 37"/>
          <p:cNvSpPr/>
          <p:nvPr/>
        </p:nvSpPr>
        <p:spPr>
          <a:xfrm>
            <a:off x="1085850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585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0" name="TextBox 39"/>
          <p:cNvSpPr txBox="1"/>
          <p:nvPr/>
        </p:nvSpPr>
        <p:spPr>
          <a:xfrm>
            <a:off x="11468100" y="30099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Flat zone</a:t>
            </a:r>
          </a:p>
        </p:txBody>
      </p:sp>
      <p:sp>
        <p:nvSpPr>
          <p:cNvPr id="41" name="TextBox 40"/>
          <p:cNvSpPr txBox="1"/>
          <p:nvPr/>
        </p:nvSpPr>
        <p:spPr>
          <a:xfrm>
            <a:off x="11468100" y="34290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From -0.1 to 0.1, everything becomes 0</a:t>
            </a:r>
          </a:p>
        </p:txBody>
      </p:sp>
      <p:sp>
        <p:nvSpPr>
          <p:cNvPr id="42" name="Oval 41"/>
          <p:cNvSpPr/>
          <p:nvPr/>
        </p:nvSpPr>
        <p:spPr>
          <a:xfrm>
            <a:off x="10858500" y="4667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5850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4" name="TextBox 43"/>
          <p:cNvSpPr txBox="1"/>
          <p:nvPr/>
        </p:nvSpPr>
        <p:spPr>
          <a:xfrm>
            <a:off x="11468100" y="46291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Outside</a:t>
            </a:r>
          </a:p>
        </p:txBody>
      </p:sp>
      <p:sp>
        <p:nvSpPr>
          <p:cNvPr id="45" name="TextBox 44"/>
          <p:cNvSpPr txBox="1"/>
          <p:nvPr/>
        </p:nvSpPr>
        <p:spPr>
          <a:xfrm>
            <a:off x="11468100" y="50482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stick passes straight through</a:t>
            </a:r>
          </a:p>
        </p:txBody>
      </p:sp>
      <p:sp>
        <p:nvSpPr>
          <p:cNvPr id="46" name="Oval 45"/>
          <p:cNvSpPr/>
          <p:nvPr/>
        </p:nvSpPr>
        <p:spPr>
          <a:xfrm>
            <a:off x="1085850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5850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TextBox 47"/>
          <p:cNvSpPr txBox="1"/>
          <p:nvPr/>
        </p:nvSpPr>
        <p:spPr>
          <a:xfrm>
            <a:off x="11468100" y="62484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edge</a:t>
            </a:r>
          </a:p>
        </p:txBody>
      </p:sp>
      <p:sp>
        <p:nvSpPr>
          <p:cNvPr id="49" name="TextBox 48"/>
          <p:cNvSpPr txBox="1"/>
          <p:nvPr/>
        </p:nvSpPr>
        <p:spPr>
          <a:xfrm>
            <a:off x="11468100" y="66675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tiny jump. Drivers don't notice it</a:t>
            </a:r>
          </a:p>
        </p:txBody>
      </p:sp>
      <p:sp>
        <p:nvSpPr>
          <p:cNvPr id="50" name="Rounded Rectangle 49"/>
          <p:cNvSpPr/>
          <p:nvPr/>
        </p:nvSpPr>
        <p:spPr>
          <a:xfrm>
            <a:off x="10858500" y="7810500"/>
            <a:ext cx="65151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1239500" y="7810500"/>
            <a:ext cx="5905500" cy="10477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Width of the zone: </a:t>
            </a:r>
            <a:r>
              <a:rPr sz="1950" b="1" i="0">
                <a:solidFill>
                  <a:srgbClr val="E8C27A"/>
                </a:solidFill>
                <a:latin typeface="Geist Mono"/>
                <a:ea typeface="Geist Mono"/>
                <a:cs typeface="Geist Mono"/>
              </a:rPr>
              <a:t>DEADBAND = 0.1</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constant: a number with a name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280160"/>
          </a:xfrm>
          <a:prstGeom prst="roundRect">
            <a:avLst>
              <a:gd name="adj" fmla="val 119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925800" cy="518160"/>
          </a:xfrm>
          <a:prstGeom prst="rect">
            <a:avLst/>
          </a:prstGeom>
          <a:noFill/>
        </p:spPr>
        <p:txBody>
          <a:bodyPr wrap="square" lIns="0" rIns="0" tIns="0" bIns="0" anchor="ctr">
            <a:spAutoFit/>
          </a:bodyPr>
          <a:lstStyle/>
          <a:p>
            <a:pPr algn="l"/>
            <a:r>
              <a:rPr sz="2550" b="0" i="0">
                <a:solidFill>
                  <a:srgbClr val="E0785F"/>
                </a:solidFill>
                <a:latin typeface="Geist Mono"/>
                <a:ea typeface="Geist Mono"/>
                <a:cs typeface="Geist Mono"/>
              </a:rPr>
              <a:t>public</a:t>
            </a:r>
            <a:r>
              <a:rPr sz="2550" b="0" i="0">
                <a:solidFill>
                  <a:srgbClr val="F0E8E8"/>
                </a:solidFill>
                <a:latin typeface="Geist Mono"/>
                <a:ea typeface="Geist Mono"/>
                <a:cs typeface="Geist Mono"/>
              </a:rPr>
              <a:t> </a:t>
            </a:r>
            <a:r>
              <a:rPr sz="2550" b="0" i="0">
                <a:solidFill>
                  <a:srgbClr val="E0785F"/>
                </a:solidFill>
                <a:latin typeface="Geist Mono"/>
                <a:ea typeface="Geist Mono"/>
                <a:cs typeface="Geist Mono"/>
              </a:rPr>
              <a:t>static</a:t>
            </a:r>
            <a:r>
              <a:rPr sz="2550" b="0" i="0">
                <a:solidFill>
                  <a:srgbClr val="F0E8E8"/>
                </a:solidFill>
                <a:latin typeface="Geist Mono"/>
                <a:ea typeface="Geist Mono"/>
                <a:cs typeface="Geist Mono"/>
              </a:rPr>
              <a:t> </a:t>
            </a:r>
            <a:r>
              <a:rPr sz="2550" b="0" i="0">
                <a:solidFill>
                  <a:srgbClr val="E0785F"/>
                </a:solidFill>
                <a:latin typeface="Geist Mono"/>
                <a:ea typeface="Geist Mono"/>
                <a:cs typeface="Geist Mono"/>
              </a:rPr>
              <a:t>final</a:t>
            </a:r>
            <a:r>
              <a:rPr sz="2550" b="0" i="0">
                <a:solidFill>
                  <a:srgbClr val="F0E8E8"/>
                </a:solidFill>
                <a:latin typeface="Geist Mono"/>
                <a:ea typeface="Geist Mono"/>
                <a:cs typeface="Geist Mono"/>
              </a:rPr>
              <a:t> </a:t>
            </a:r>
            <a:r>
              <a:rPr sz="2550" b="0" i="0">
                <a:solidFill>
                  <a:srgbClr val="E0785F"/>
                </a:solidFill>
                <a:latin typeface="Geist Mono"/>
                <a:ea typeface="Geist Mono"/>
                <a:cs typeface="Geist Mono"/>
              </a:rPr>
              <a:t>double</a:t>
            </a:r>
            <a:r>
              <a:rPr sz="2550" b="0" i="0">
                <a:solidFill>
                  <a:srgbClr val="F0E8E8"/>
                </a:solidFill>
                <a:latin typeface="Geist Mono"/>
                <a:ea typeface="Geist Mono"/>
                <a:cs typeface="Geist Mono"/>
              </a:rPr>
              <a:t> DEADBAND = </a:t>
            </a:r>
            <a:r>
              <a:rPr sz="2550" b="0" i="0">
                <a:solidFill>
                  <a:srgbClr val="E8C27A"/>
                </a:solidFill>
                <a:latin typeface="Geist Mono"/>
                <a:ea typeface="Geist Mono"/>
                <a:cs typeface="Geist Mono"/>
              </a:rPr>
              <a:t>0.1</a:t>
            </a:r>
            <a:r>
              <a:rPr sz="2550" b="0" i="0">
                <a:solidFill>
                  <a:srgbClr val="F0E8E8"/>
                </a:solidFill>
                <a:latin typeface="Geist Mono"/>
                <a:ea typeface="Geist Mono"/>
                <a:cs typeface="Geist Mono"/>
              </a:rPr>
              <a:t>;</a:t>
            </a:r>
          </a:p>
        </p:txBody>
      </p:sp>
      <p:sp>
        <p:nvSpPr>
          <p:cNvPr id="7" name="Rectangle 6"/>
          <p:cNvSpPr/>
          <p:nvPr/>
        </p:nvSpPr>
        <p:spPr>
          <a:xfrm>
            <a:off x="1281112" y="3910012"/>
            <a:ext cx="11944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4038600"/>
            <a:ext cx="192786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public</a:t>
            </a:r>
          </a:p>
        </p:txBody>
      </p:sp>
      <p:sp>
        <p:nvSpPr>
          <p:cNvPr id="9" name="Rectangle 8"/>
          <p:cNvSpPr/>
          <p:nvPr/>
        </p:nvSpPr>
        <p:spPr>
          <a:xfrm>
            <a:off x="2641282" y="3910012"/>
            <a:ext cx="11944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74570" y="4038600"/>
            <a:ext cx="192786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static</a:t>
            </a:r>
          </a:p>
        </p:txBody>
      </p:sp>
      <p:sp>
        <p:nvSpPr>
          <p:cNvPr id="11" name="Rectangle 10"/>
          <p:cNvSpPr/>
          <p:nvPr/>
        </p:nvSpPr>
        <p:spPr>
          <a:xfrm>
            <a:off x="4001452" y="3910012"/>
            <a:ext cx="10001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34740" y="4038600"/>
            <a:ext cx="173355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final</a:t>
            </a:r>
          </a:p>
        </p:txBody>
      </p:sp>
      <p:sp>
        <p:nvSpPr>
          <p:cNvPr id="13" name="Rectangle 12"/>
          <p:cNvSpPr/>
          <p:nvPr/>
        </p:nvSpPr>
        <p:spPr>
          <a:xfrm>
            <a:off x="5167312" y="3910012"/>
            <a:ext cx="11944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800600" y="4038600"/>
            <a:ext cx="192786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type</a:t>
            </a:r>
          </a:p>
        </p:txBody>
      </p:sp>
      <p:sp>
        <p:nvSpPr>
          <p:cNvPr id="15" name="Rectangle 14"/>
          <p:cNvSpPr/>
          <p:nvPr/>
        </p:nvSpPr>
        <p:spPr>
          <a:xfrm>
            <a:off x="6527482" y="3910012"/>
            <a:ext cx="158305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60770" y="4038600"/>
            <a:ext cx="231648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name</a:t>
            </a:r>
          </a:p>
        </p:txBody>
      </p:sp>
      <p:sp>
        <p:nvSpPr>
          <p:cNvPr id="17" name="Rectangle 16"/>
          <p:cNvSpPr/>
          <p:nvPr/>
        </p:nvSpPr>
        <p:spPr>
          <a:xfrm>
            <a:off x="8664892" y="3910012"/>
            <a:ext cx="61150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98180" y="4038600"/>
            <a:ext cx="134493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value</a:t>
            </a:r>
          </a:p>
        </p:txBody>
      </p:sp>
      <p:sp>
        <p:nvSpPr>
          <p:cNvPr id="19" name="Rounded Rectangle 18"/>
          <p:cNvSpPr/>
          <p:nvPr/>
        </p:nvSpPr>
        <p:spPr>
          <a:xfrm>
            <a:off x="914400" y="4762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95400" y="5143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public</a:t>
            </a:r>
          </a:p>
        </p:txBody>
      </p:sp>
      <p:sp>
        <p:nvSpPr>
          <p:cNvPr id="21" name="TextBox 20"/>
          <p:cNvSpPr txBox="1"/>
          <p:nvPr/>
        </p:nvSpPr>
        <p:spPr>
          <a:xfrm>
            <a:off x="1295400" y="5705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Other files can use it.</a:t>
            </a:r>
          </a:p>
        </p:txBody>
      </p:sp>
      <p:sp>
        <p:nvSpPr>
          <p:cNvPr id="22" name="Rounded Rectangle 21"/>
          <p:cNvSpPr/>
          <p:nvPr/>
        </p:nvSpPr>
        <p:spPr>
          <a:xfrm>
            <a:off x="6502400" y="4762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83400" y="5143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static</a:t>
            </a:r>
          </a:p>
        </p:txBody>
      </p:sp>
      <p:sp>
        <p:nvSpPr>
          <p:cNvPr id="24" name="TextBox 23"/>
          <p:cNvSpPr txBox="1"/>
          <p:nvPr/>
        </p:nvSpPr>
        <p:spPr>
          <a:xfrm>
            <a:off x="6883400" y="5705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It belongs to the class: Constants.DEADBAND</a:t>
            </a:r>
          </a:p>
        </p:txBody>
      </p:sp>
      <p:sp>
        <p:nvSpPr>
          <p:cNvPr id="25" name="Rounded Rectangle 24"/>
          <p:cNvSpPr/>
          <p:nvPr/>
        </p:nvSpPr>
        <p:spPr>
          <a:xfrm>
            <a:off x="12090400" y="4762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471400" y="5143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final</a:t>
            </a:r>
          </a:p>
        </p:txBody>
      </p:sp>
      <p:sp>
        <p:nvSpPr>
          <p:cNvPr id="27" name="TextBox 26"/>
          <p:cNvSpPr txBox="1"/>
          <p:nvPr/>
        </p:nvSpPr>
        <p:spPr>
          <a:xfrm>
            <a:off x="12471400" y="5705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It never changes while the robot runs.</a:t>
            </a:r>
          </a:p>
        </p:txBody>
      </p:sp>
      <p:sp>
        <p:nvSpPr>
          <p:cNvPr id="28" name="Rounded Rectangle 27"/>
          <p:cNvSpPr/>
          <p:nvPr/>
        </p:nvSpPr>
        <p:spPr>
          <a:xfrm>
            <a:off x="914400" y="7143750"/>
            <a:ext cx="16459200" cy="1619250"/>
          </a:xfrm>
          <a:prstGeom prst="roundRect">
            <a:avLst>
              <a:gd name="adj" fmla="val 941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3500" y="7334250"/>
            <a:ext cx="8572500" cy="3810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30" name="TextBox 29"/>
          <p:cNvSpPr txBox="1"/>
          <p:nvPr/>
        </p:nvSpPr>
        <p:spPr>
          <a:xfrm>
            <a:off x="1333500" y="7734300"/>
            <a:ext cx="8572500" cy="381000"/>
          </a:xfrm>
          <a:prstGeom prst="rect">
            <a:avLst/>
          </a:prstGeom>
          <a:noFill/>
        </p:spPr>
        <p:txBody>
          <a:bodyPr wrap="square" lIns="0" rIns="0" tIns="0" bIns="0" anchor="t">
            <a:spAutoFit/>
          </a:bodyPr>
          <a:lstStyle/>
          <a:p>
            <a:pPr algn="l"/>
            <a:r>
              <a:rPr sz="2100" b="0" i="0">
                <a:solidFill>
                  <a:srgbClr val="F0E8E8"/>
                </a:solidFill>
                <a:latin typeface="Geist Mono"/>
                <a:ea typeface="Geist Mono"/>
                <a:cs typeface="Geist Mono"/>
              </a:rPr>
              <a:t>DEADBAND = </a:t>
            </a:r>
            <a:r>
              <a:rPr sz="2100" b="0" i="0">
                <a:solidFill>
                  <a:srgbClr val="E8C27A"/>
                </a:solidFill>
                <a:latin typeface="Geist Mono"/>
                <a:ea typeface="Geist Mono"/>
                <a:cs typeface="Geist Mono"/>
              </a:rPr>
              <a:t>0.1</a:t>
            </a:r>
            <a:r>
              <a:rPr sz="2100" b="0" i="0">
                <a:solidFill>
                  <a:srgbClr val="F0E8E8"/>
                </a:solidFill>
                <a:latin typeface="Geist Mono"/>
                <a:ea typeface="Geist Mono"/>
                <a:cs typeface="Geist Mono"/>
              </a:rPr>
              <a:t>;</a:t>
            </a:r>
          </a:p>
        </p:txBody>
      </p:sp>
      <p:sp>
        <p:nvSpPr>
          <p:cNvPr id="31" name="Rectangle 30"/>
          <p:cNvSpPr/>
          <p:nvPr/>
        </p:nvSpPr>
        <p:spPr>
          <a:xfrm>
            <a:off x="8553450" y="7934325"/>
            <a:ext cx="8534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5400000">
            <a:off x="9372600" y="7877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6000" y="7334250"/>
            <a:ext cx="7239000" cy="3810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34" name="TextBox 33"/>
          <p:cNvSpPr txBox="1"/>
          <p:nvPr/>
        </p:nvSpPr>
        <p:spPr>
          <a:xfrm>
            <a:off x="9906000" y="7734300"/>
            <a:ext cx="7239000" cy="381000"/>
          </a:xfrm>
          <a:prstGeom prst="rect">
            <a:avLst/>
          </a:prstGeom>
          <a:noFill/>
        </p:spPr>
        <p:txBody>
          <a:bodyPr wrap="square" lIns="0" rIns="0" tIns="0" bIns="0" anchor="t">
            <a:spAutoFit/>
          </a:bodyPr>
          <a:lstStyle/>
          <a:p>
            <a:pPr algn="l"/>
            <a:r>
              <a:rPr sz="2100" b="0" i="0">
                <a:solidFill>
                  <a:srgbClr val="F0E8E8"/>
                </a:solidFill>
                <a:latin typeface="Geist Mono"/>
                <a:ea typeface="Geist Mono"/>
                <a:cs typeface="Geist Mono"/>
              </a:rPr>
              <a:t>Constants.DEADBAND</a:t>
            </a:r>
          </a:p>
        </p:txBody>
      </p:sp>
      <p:sp>
        <p:nvSpPr>
          <p:cNvPr id="35" name="TextBox 34"/>
          <p:cNvSpPr txBox="1"/>
          <p:nvPr/>
        </p:nvSpPr>
        <p:spPr>
          <a:xfrm>
            <a:off x="1333500" y="8248650"/>
            <a:ext cx="15621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Change it in one place and the whole project follows. No magic numbers.</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Comparing: true or false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238250" cy="819150"/>
          </a:xfrm>
          <a:prstGeom prst="rect">
            <a:avLst/>
          </a:prstGeom>
          <a:noFill/>
        </p:spPr>
        <p:txBody>
          <a:bodyPr wrap="square" lIns="0" rIns="0" tIns="0" bIns="0" anchor="ctr">
            <a:spAutoFit/>
          </a:bodyPr>
          <a:lstStyle/>
          <a:p>
            <a:pPr algn="ctr"/>
            <a:r>
              <a:rPr sz="3000" b="1" i="0">
                <a:solidFill>
                  <a:srgbClr val="D5000E"/>
                </a:solidFill>
                <a:latin typeface="Geist Mono"/>
                <a:ea typeface="Geist Mono"/>
                <a:cs typeface="Geist Mono"/>
              </a:rPr>
              <a:t>&lt;</a:t>
            </a:r>
          </a:p>
        </p:txBody>
      </p:sp>
      <p:sp>
        <p:nvSpPr>
          <p:cNvPr id="7" name="TextBox 6"/>
          <p:cNvSpPr txBox="1"/>
          <p:nvPr/>
        </p:nvSpPr>
        <p:spPr>
          <a:xfrm>
            <a:off x="2286000" y="28575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less than</a:t>
            </a:r>
          </a:p>
        </p:txBody>
      </p:sp>
      <p:sp>
        <p:nvSpPr>
          <p:cNvPr id="8" name="TextBox 7"/>
          <p:cNvSpPr txBox="1"/>
          <p:nvPr/>
        </p:nvSpPr>
        <p:spPr>
          <a:xfrm>
            <a:off x="5334000" y="28575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0.05</a:t>
            </a:r>
            <a:r>
              <a:rPr sz="1950" b="0" i="0">
                <a:solidFill>
                  <a:srgbClr val="F0E8E8"/>
                </a:solidFill>
                <a:latin typeface="Geist Mono"/>
                <a:ea typeface="Geist Mono"/>
                <a:cs typeface="Geist Mono"/>
              </a:rPr>
              <a:t> &lt; </a:t>
            </a:r>
            <a:r>
              <a:rPr sz="1950" b="0" i="0">
                <a:solidFill>
                  <a:srgbClr val="E8C27A"/>
                </a:solidFill>
                <a:latin typeface="Geist Mono"/>
                <a:ea typeface="Geist Mono"/>
                <a:cs typeface="Geist Mono"/>
              </a:rPr>
              <a:t>0.1</a:t>
            </a:r>
          </a:p>
        </p:txBody>
      </p:sp>
      <p:sp>
        <p:nvSpPr>
          <p:cNvPr id="9" name="TextBox 8"/>
          <p:cNvSpPr txBox="1"/>
          <p:nvPr/>
        </p:nvSpPr>
        <p:spPr>
          <a:xfrm>
            <a:off x="8953500" y="2857500"/>
            <a:ext cx="1809750" cy="819150"/>
          </a:xfrm>
          <a:prstGeom prst="rect">
            <a:avLst/>
          </a:prstGeom>
          <a:noFill/>
        </p:spPr>
        <p:txBody>
          <a:bodyPr wrap="square" lIns="0" rIns="0" tIns="0" bIns="0" anchor="ctr">
            <a:spAutoFit/>
          </a:bodyPr>
          <a:lstStyle/>
          <a:p>
            <a:pPr algn="r"/>
            <a:r>
              <a:rPr sz="1950" b="1" i="0">
                <a:solidFill>
                  <a:srgbClr val="198754"/>
                </a:solidFill>
                <a:latin typeface="Geist Mono"/>
                <a:ea typeface="Geist Mono"/>
                <a:cs typeface="Geist Mono"/>
              </a:rPr>
              <a:t>true</a:t>
            </a:r>
          </a:p>
        </p:txBody>
      </p:sp>
      <p:sp>
        <p:nvSpPr>
          <p:cNvPr id="10" name="Rounded Rectangle 9"/>
          <p:cNvSpPr/>
          <p:nvPr/>
        </p:nvSpPr>
        <p:spPr>
          <a:xfrm>
            <a:off x="914400" y="38100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3810000"/>
            <a:ext cx="1238250" cy="819150"/>
          </a:xfrm>
          <a:prstGeom prst="rect">
            <a:avLst/>
          </a:prstGeom>
          <a:noFill/>
        </p:spPr>
        <p:txBody>
          <a:bodyPr wrap="square" lIns="0" rIns="0" tIns="0" bIns="0" anchor="ctr">
            <a:spAutoFit/>
          </a:bodyPr>
          <a:lstStyle/>
          <a:p>
            <a:pPr algn="ctr"/>
            <a:r>
              <a:rPr sz="3000" b="1" i="0">
                <a:solidFill>
                  <a:srgbClr val="D5000E"/>
                </a:solidFill>
                <a:latin typeface="Geist Mono"/>
                <a:ea typeface="Geist Mono"/>
                <a:cs typeface="Geist Mono"/>
              </a:rPr>
              <a:t>&gt;</a:t>
            </a:r>
          </a:p>
        </p:txBody>
      </p:sp>
      <p:sp>
        <p:nvSpPr>
          <p:cNvPr id="12" name="TextBox 11"/>
          <p:cNvSpPr txBox="1"/>
          <p:nvPr/>
        </p:nvSpPr>
        <p:spPr>
          <a:xfrm>
            <a:off x="2286000" y="38100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greater than</a:t>
            </a:r>
          </a:p>
        </p:txBody>
      </p:sp>
      <p:sp>
        <p:nvSpPr>
          <p:cNvPr id="13" name="TextBox 12"/>
          <p:cNvSpPr txBox="1"/>
          <p:nvPr/>
        </p:nvSpPr>
        <p:spPr>
          <a:xfrm>
            <a:off x="5334000" y="38100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2.4</a:t>
            </a:r>
            <a:r>
              <a:rPr sz="1950" b="0" i="0">
                <a:solidFill>
                  <a:srgbClr val="F0E8E8"/>
                </a:solidFill>
                <a:latin typeface="Geist Mono"/>
                <a:ea typeface="Geist Mono"/>
                <a:cs typeface="Geist Mono"/>
              </a:rPr>
              <a:t> &gt; </a:t>
            </a:r>
            <a:r>
              <a:rPr sz="1950" b="0" i="0">
                <a:solidFill>
                  <a:srgbClr val="E8C27A"/>
                </a:solidFill>
                <a:latin typeface="Geist Mono"/>
                <a:ea typeface="Geist Mono"/>
                <a:cs typeface="Geist Mono"/>
              </a:rPr>
              <a:t>2.0</a:t>
            </a:r>
          </a:p>
        </p:txBody>
      </p:sp>
      <p:sp>
        <p:nvSpPr>
          <p:cNvPr id="14" name="TextBox 13"/>
          <p:cNvSpPr txBox="1"/>
          <p:nvPr/>
        </p:nvSpPr>
        <p:spPr>
          <a:xfrm>
            <a:off x="8953500" y="3810000"/>
            <a:ext cx="1809750" cy="819150"/>
          </a:xfrm>
          <a:prstGeom prst="rect">
            <a:avLst/>
          </a:prstGeom>
          <a:noFill/>
        </p:spPr>
        <p:txBody>
          <a:bodyPr wrap="square" lIns="0" rIns="0" tIns="0" bIns="0" anchor="ctr">
            <a:spAutoFit/>
          </a:bodyPr>
          <a:lstStyle/>
          <a:p>
            <a:pPr algn="r"/>
            <a:r>
              <a:rPr sz="1950" b="1" i="0">
                <a:solidFill>
                  <a:srgbClr val="198754"/>
                </a:solidFill>
                <a:latin typeface="Geist Mono"/>
                <a:ea typeface="Geist Mono"/>
                <a:cs typeface="Geist Mono"/>
              </a:rPr>
              <a:t>true</a:t>
            </a:r>
          </a:p>
        </p:txBody>
      </p:sp>
      <p:sp>
        <p:nvSpPr>
          <p:cNvPr id="15" name="Rounded Rectangle 14"/>
          <p:cNvSpPr/>
          <p:nvPr/>
        </p:nvSpPr>
        <p:spPr>
          <a:xfrm>
            <a:off x="914400" y="47625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4762500"/>
            <a:ext cx="1238250" cy="819150"/>
          </a:xfrm>
          <a:prstGeom prst="rect">
            <a:avLst/>
          </a:prstGeom>
          <a:noFill/>
        </p:spPr>
        <p:txBody>
          <a:bodyPr wrap="square" lIns="0" rIns="0" tIns="0" bIns="0" anchor="ctr">
            <a:spAutoFit/>
          </a:bodyPr>
          <a:lstStyle/>
          <a:p>
            <a:pPr algn="ctr"/>
            <a:r>
              <a:rPr sz="3000" b="1" i="0">
                <a:solidFill>
                  <a:srgbClr val="D5000E"/>
                </a:solidFill>
                <a:latin typeface="Geist Mono"/>
                <a:ea typeface="Geist Mono"/>
                <a:cs typeface="Geist Mono"/>
              </a:rPr>
              <a:t>&lt;=</a:t>
            </a:r>
          </a:p>
        </p:txBody>
      </p:sp>
      <p:sp>
        <p:nvSpPr>
          <p:cNvPr id="17" name="TextBox 16"/>
          <p:cNvSpPr txBox="1"/>
          <p:nvPr/>
        </p:nvSpPr>
        <p:spPr>
          <a:xfrm>
            <a:off x="2286000" y="47625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at most</a:t>
            </a:r>
          </a:p>
        </p:txBody>
      </p:sp>
      <p:sp>
        <p:nvSpPr>
          <p:cNvPr id="18" name="TextBox 17"/>
          <p:cNvSpPr txBox="1"/>
          <p:nvPr/>
        </p:nvSpPr>
        <p:spPr>
          <a:xfrm>
            <a:off x="5334000" y="47625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3</a:t>
            </a:r>
            <a:r>
              <a:rPr sz="1950" b="0" i="0">
                <a:solidFill>
                  <a:srgbClr val="F0E8E8"/>
                </a:solidFill>
                <a:latin typeface="Geist Mono"/>
                <a:ea typeface="Geist Mono"/>
                <a:cs typeface="Geist Mono"/>
              </a:rPr>
              <a:t> &lt;= </a:t>
            </a:r>
            <a:r>
              <a:rPr sz="1950" b="0" i="0">
                <a:solidFill>
                  <a:srgbClr val="E8C27A"/>
                </a:solidFill>
                <a:latin typeface="Geist Mono"/>
                <a:ea typeface="Geist Mono"/>
                <a:cs typeface="Geist Mono"/>
              </a:rPr>
              <a:t>2</a:t>
            </a:r>
          </a:p>
        </p:txBody>
      </p:sp>
      <p:sp>
        <p:nvSpPr>
          <p:cNvPr id="19" name="TextBox 18"/>
          <p:cNvSpPr txBox="1"/>
          <p:nvPr/>
        </p:nvSpPr>
        <p:spPr>
          <a:xfrm>
            <a:off x="8953500" y="4762500"/>
            <a:ext cx="1809750" cy="819150"/>
          </a:xfrm>
          <a:prstGeom prst="rect">
            <a:avLst/>
          </a:prstGeom>
          <a:noFill/>
        </p:spPr>
        <p:txBody>
          <a:bodyPr wrap="square" lIns="0" rIns="0" tIns="0" bIns="0" anchor="ctr">
            <a:spAutoFit/>
          </a:bodyPr>
          <a:lstStyle/>
          <a:p>
            <a:pPr algn="r"/>
            <a:r>
              <a:rPr sz="1950" b="1" i="0">
                <a:solidFill>
                  <a:srgbClr val="E0404B"/>
                </a:solidFill>
                <a:latin typeface="Geist Mono"/>
                <a:ea typeface="Geist Mono"/>
                <a:cs typeface="Geist Mono"/>
              </a:rPr>
              <a:t>false</a:t>
            </a:r>
          </a:p>
        </p:txBody>
      </p:sp>
      <p:sp>
        <p:nvSpPr>
          <p:cNvPr id="20" name="Rounded Rectangle 19"/>
          <p:cNvSpPr/>
          <p:nvPr/>
        </p:nvSpPr>
        <p:spPr>
          <a:xfrm>
            <a:off x="914400" y="57150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4400" y="5715000"/>
            <a:ext cx="1238250" cy="819150"/>
          </a:xfrm>
          <a:prstGeom prst="rect">
            <a:avLst/>
          </a:prstGeom>
          <a:noFill/>
        </p:spPr>
        <p:txBody>
          <a:bodyPr wrap="square" lIns="0" rIns="0" tIns="0" bIns="0" anchor="ctr">
            <a:spAutoFit/>
          </a:bodyPr>
          <a:lstStyle/>
          <a:p>
            <a:pPr algn="ctr"/>
            <a:r>
              <a:rPr sz="3000" b="1" i="0">
                <a:solidFill>
                  <a:srgbClr val="D5000E"/>
                </a:solidFill>
                <a:latin typeface="Geist Mono"/>
                <a:ea typeface="Geist Mono"/>
                <a:cs typeface="Geist Mono"/>
              </a:rPr>
              <a:t>&gt;=</a:t>
            </a:r>
          </a:p>
        </p:txBody>
      </p:sp>
      <p:sp>
        <p:nvSpPr>
          <p:cNvPr id="22" name="TextBox 21"/>
          <p:cNvSpPr txBox="1"/>
          <p:nvPr/>
        </p:nvSpPr>
        <p:spPr>
          <a:xfrm>
            <a:off x="2286000" y="57150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at least</a:t>
            </a:r>
          </a:p>
        </p:txBody>
      </p:sp>
      <p:sp>
        <p:nvSpPr>
          <p:cNvPr id="23" name="TextBox 22"/>
          <p:cNvSpPr txBox="1"/>
          <p:nvPr/>
        </p:nvSpPr>
        <p:spPr>
          <a:xfrm>
            <a:off x="5334000" y="57150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2.0</a:t>
            </a:r>
            <a:r>
              <a:rPr sz="1950" b="0" i="0">
                <a:solidFill>
                  <a:srgbClr val="F0E8E8"/>
                </a:solidFill>
                <a:latin typeface="Geist Mono"/>
                <a:ea typeface="Geist Mono"/>
                <a:cs typeface="Geist Mono"/>
              </a:rPr>
              <a:t> &gt;= </a:t>
            </a:r>
            <a:r>
              <a:rPr sz="1950" b="0" i="0">
                <a:solidFill>
                  <a:srgbClr val="E8C27A"/>
                </a:solidFill>
                <a:latin typeface="Geist Mono"/>
                <a:ea typeface="Geist Mono"/>
                <a:cs typeface="Geist Mono"/>
              </a:rPr>
              <a:t>2.0</a:t>
            </a:r>
          </a:p>
        </p:txBody>
      </p:sp>
      <p:sp>
        <p:nvSpPr>
          <p:cNvPr id="24" name="TextBox 23"/>
          <p:cNvSpPr txBox="1"/>
          <p:nvPr/>
        </p:nvSpPr>
        <p:spPr>
          <a:xfrm>
            <a:off x="8953500" y="5715000"/>
            <a:ext cx="1809750" cy="819150"/>
          </a:xfrm>
          <a:prstGeom prst="rect">
            <a:avLst/>
          </a:prstGeom>
          <a:noFill/>
        </p:spPr>
        <p:txBody>
          <a:bodyPr wrap="square" lIns="0" rIns="0" tIns="0" bIns="0" anchor="ctr">
            <a:spAutoFit/>
          </a:bodyPr>
          <a:lstStyle/>
          <a:p>
            <a:pPr algn="r"/>
            <a:r>
              <a:rPr sz="1950" b="1" i="0">
                <a:solidFill>
                  <a:srgbClr val="198754"/>
                </a:solidFill>
                <a:latin typeface="Geist Mono"/>
                <a:ea typeface="Geist Mono"/>
                <a:cs typeface="Geist Mono"/>
              </a:rPr>
              <a:t>true</a:t>
            </a:r>
          </a:p>
        </p:txBody>
      </p:sp>
      <p:sp>
        <p:nvSpPr>
          <p:cNvPr id="25" name="Rounded Rectangle 24"/>
          <p:cNvSpPr/>
          <p:nvPr/>
        </p:nvSpPr>
        <p:spPr>
          <a:xfrm>
            <a:off x="914400" y="66675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6667500"/>
            <a:ext cx="1238250" cy="819150"/>
          </a:xfrm>
          <a:prstGeom prst="rect">
            <a:avLst/>
          </a:prstGeom>
          <a:noFill/>
        </p:spPr>
        <p:txBody>
          <a:bodyPr wrap="square" lIns="0" rIns="0" tIns="0" bIns="0" anchor="ctr">
            <a:spAutoFit/>
          </a:bodyPr>
          <a:lstStyle/>
          <a:p>
            <a:pPr algn="ctr"/>
            <a:r>
              <a:rPr sz="3000" b="1" i="0">
                <a:solidFill>
                  <a:srgbClr val="D5000E"/>
                </a:solidFill>
                <a:latin typeface="Geist Mono"/>
                <a:ea typeface="Geist Mono"/>
                <a:cs typeface="Geist Mono"/>
              </a:rPr>
              <a:t>==</a:t>
            </a:r>
          </a:p>
        </p:txBody>
      </p:sp>
      <p:sp>
        <p:nvSpPr>
          <p:cNvPr id="27" name="TextBox 26"/>
          <p:cNvSpPr txBox="1"/>
          <p:nvPr/>
        </p:nvSpPr>
        <p:spPr>
          <a:xfrm>
            <a:off x="2286000" y="66675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equal (two!)</a:t>
            </a:r>
          </a:p>
        </p:txBody>
      </p:sp>
      <p:sp>
        <p:nvSpPr>
          <p:cNvPr id="28" name="TextBox 27"/>
          <p:cNvSpPr txBox="1"/>
          <p:nvPr/>
        </p:nvSpPr>
        <p:spPr>
          <a:xfrm>
            <a:off x="5334000" y="66675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4</a:t>
            </a:r>
            <a:r>
              <a:rPr sz="1950" b="0" i="0">
                <a:solidFill>
                  <a:srgbClr val="F0E8E8"/>
                </a:solidFill>
                <a:latin typeface="Geist Mono"/>
                <a:ea typeface="Geist Mono"/>
                <a:cs typeface="Geist Mono"/>
              </a:rPr>
              <a:t> == </a:t>
            </a:r>
            <a:r>
              <a:rPr sz="1950" b="0" i="0">
                <a:solidFill>
                  <a:srgbClr val="E8C27A"/>
                </a:solidFill>
                <a:latin typeface="Geist Mono"/>
                <a:ea typeface="Geist Mono"/>
                <a:cs typeface="Geist Mono"/>
              </a:rPr>
              <a:t>4</a:t>
            </a:r>
          </a:p>
        </p:txBody>
      </p:sp>
      <p:sp>
        <p:nvSpPr>
          <p:cNvPr id="29" name="TextBox 28"/>
          <p:cNvSpPr txBox="1"/>
          <p:nvPr/>
        </p:nvSpPr>
        <p:spPr>
          <a:xfrm>
            <a:off x="8953500" y="6667500"/>
            <a:ext cx="1809750" cy="819150"/>
          </a:xfrm>
          <a:prstGeom prst="rect">
            <a:avLst/>
          </a:prstGeom>
          <a:noFill/>
        </p:spPr>
        <p:txBody>
          <a:bodyPr wrap="square" lIns="0" rIns="0" tIns="0" bIns="0" anchor="ctr">
            <a:spAutoFit/>
          </a:bodyPr>
          <a:lstStyle/>
          <a:p>
            <a:pPr algn="r"/>
            <a:r>
              <a:rPr sz="1950" b="1" i="0">
                <a:solidFill>
                  <a:srgbClr val="198754"/>
                </a:solidFill>
                <a:latin typeface="Geist Mono"/>
                <a:ea typeface="Geist Mono"/>
                <a:cs typeface="Geist Mono"/>
              </a:rPr>
              <a:t>true</a:t>
            </a:r>
          </a:p>
        </p:txBody>
      </p:sp>
      <p:sp>
        <p:nvSpPr>
          <p:cNvPr id="30" name="Rounded Rectangle 29"/>
          <p:cNvSpPr/>
          <p:nvPr/>
        </p:nvSpPr>
        <p:spPr>
          <a:xfrm>
            <a:off x="914400" y="76200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4400" y="7620000"/>
            <a:ext cx="1238250" cy="819150"/>
          </a:xfrm>
          <a:prstGeom prst="rect">
            <a:avLst/>
          </a:prstGeom>
          <a:noFill/>
        </p:spPr>
        <p:txBody>
          <a:bodyPr wrap="square" lIns="0" rIns="0" tIns="0" bIns="0" anchor="ctr">
            <a:spAutoFit/>
          </a:bodyPr>
          <a:lstStyle/>
          <a:p>
            <a:pPr algn="ctr"/>
            <a:r>
              <a:rPr sz="3000" b="1" i="0">
                <a:solidFill>
                  <a:srgbClr val="D5000E"/>
                </a:solidFill>
                <a:latin typeface="Geist Mono"/>
                <a:ea typeface="Geist Mono"/>
                <a:cs typeface="Geist Mono"/>
              </a:rPr>
              <a:t>!=</a:t>
            </a:r>
          </a:p>
        </p:txBody>
      </p:sp>
      <p:sp>
        <p:nvSpPr>
          <p:cNvPr id="32" name="TextBox 31"/>
          <p:cNvSpPr txBox="1"/>
          <p:nvPr/>
        </p:nvSpPr>
        <p:spPr>
          <a:xfrm>
            <a:off x="2286000" y="76200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not equal</a:t>
            </a:r>
          </a:p>
        </p:txBody>
      </p:sp>
      <p:sp>
        <p:nvSpPr>
          <p:cNvPr id="33" name="TextBox 32"/>
          <p:cNvSpPr txBox="1"/>
          <p:nvPr/>
        </p:nvSpPr>
        <p:spPr>
          <a:xfrm>
            <a:off x="5334000" y="76200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1</a:t>
            </a:r>
            <a:r>
              <a:rPr sz="1950" b="0" i="0">
                <a:solidFill>
                  <a:srgbClr val="F0E8E8"/>
                </a:solidFill>
                <a:latin typeface="Geist Mono"/>
                <a:ea typeface="Geist Mono"/>
                <a:cs typeface="Geist Mono"/>
              </a:rPr>
              <a:t> != </a:t>
            </a:r>
            <a:r>
              <a:rPr sz="1950" b="0" i="0">
                <a:solidFill>
                  <a:srgbClr val="E8C27A"/>
                </a:solidFill>
                <a:latin typeface="Geist Mono"/>
                <a:ea typeface="Geist Mono"/>
                <a:cs typeface="Geist Mono"/>
              </a:rPr>
              <a:t>1</a:t>
            </a:r>
          </a:p>
        </p:txBody>
      </p:sp>
      <p:sp>
        <p:nvSpPr>
          <p:cNvPr id="34" name="TextBox 33"/>
          <p:cNvSpPr txBox="1"/>
          <p:nvPr/>
        </p:nvSpPr>
        <p:spPr>
          <a:xfrm>
            <a:off x="8953500" y="7620000"/>
            <a:ext cx="1809750" cy="819150"/>
          </a:xfrm>
          <a:prstGeom prst="rect">
            <a:avLst/>
          </a:prstGeom>
          <a:noFill/>
        </p:spPr>
        <p:txBody>
          <a:bodyPr wrap="square" lIns="0" rIns="0" tIns="0" bIns="0" anchor="ctr">
            <a:spAutoFit/>
          </a:bodyPr>
          <a:lstStyle/>
          <a:p>
            <a:pPr algn="r"/>
            <a:r>
              <a:rPr sz="1950" b="1" i="0">
                <a:solidFill>
                  <a:srgbClr val="E0404B"/>
                </a:solidFill>
                <a:latin typeface="Geist Mono"/>
                <a:ea typeface="Geist Mono"/>
                <a:cs typeface="Geist Mono"/>
              </a:rPr>
              <a:t>false</a:t>
            </a:r>
          </a:p>
        </p:txBody>
      </p:sp>
      <p:sp>
        <p:nvSpPr>
          <p:cNvPr id="35" name="Rounded Rectangle 34"/>
          <p:cNvSpPr/>
          <p:nvPr/>
        </p:nvSpPr>
        <p:spPr>
          <a:xfrm>
            <a:off x="11430000" y="2857500"/>
            <a:ext cx="5943600" cy="5581650"/>
          </a:xfrm>
          <a:prstGeom prst="roundRect">
            <a:avLst>
              <a:gd name="adj" fmla="val 273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811000" y="3200400"/>
            <a:ext cx="5334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MATH.ABS: SIZE WITHOUT THE SIGN</a:t>
            </a:r>
          </a:p>
        </p:txBody>
      </p:sp>
      <p:sp>
        <p:nvSpPr>
          <p:cNvPr id="37" name="TextBox 36"/>
          <p:cNvSpPr txBox="1"/>
          <p:nvPr/>
        </p:nvSpPr>
        <p:spPr>
          <a:xfrm>
            <a:off x="11811000" y="3810000"/>
            <a:ext cx="5524500" cy="66675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Math.abs(</a:t>
            </a:r>
            <a:r>
              <a:rPr sz="2250" b="0" i="0">
                <a:solidFill>
                  <a:srgbClr val="E8C27A"/>
                </a:solidFill>
                <a:latin typeface="Geist Mono"/>
                <a:ea typeface="Geist Mono"/>
                <a:cs typeface="Geist Mono"/>
              </a:rPr>
              <a:t>-0.05</a:t>
            </a:r>
            <a:r>
              <a:rPr sz="2250" b="0" i="0">
                <a:solidFill>
                  <a:srgbClr val="F0E8E8"/>
                </a:solidFill>
                <a:latin typeface="Geist Mono"/>
                <a:ea typeface="Geist Mono"/>
                <a:cs typeface="Geist Mono"/>
              </a:rPr>
              <a:t>)</a:t>
            </a:r>
            <a:r>
              <a:rPr sz="2250" b="0" i="0">
                <a:solidFill>
                  <a:srgbClr val="9A7878"/>
                </a:solidFill>
                <a:latin typeface="Geist Mono"/>
                <a:ea typeface="Geist Mono"/>
                <a:cs typeface="Geist Mono"/>
              </a:rPr>
              <a:t>  →  </a:t>
            </a:r>
            <a:r>
              <a:rPr sz="2250" b="1" i="0">
                <a:solidFill>
                  <a:srgbClr val="E8C27A"/>
                </a:solidFill>
                <a:latin typeface="Geist Mono"/>
                <a:ea typeface="Geist Mono"/>
                <a:cs typeface="Geist Mono"/>
              </a:rPr>
              <a:t>0.05</a:t>
            </a:r>
          </a:p>
        </p:txBody>
      </p:sp>
      <p:sp>
        <p:nvSpPr>
          <p:cNvPr id="38" name="TextBox 37"/>
          <p:cNvSpPr txBox="1"/>
          <p:nvPr/>
        </p:nvSpPr>
        <p:spPr>
          <a:xfrm>
            <a:off x="11811000" y="4762500"/>
            <a:ext cx="5524500" cy="66675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Math.abs(</a:t>
            </a:r>
            <a:r>
              <a:rPr sz="2250" b="0" i="0">
                <a:solidFill>
                  <a:srgbClr val="E8C27A"/>
                </a:solidFill>
                <a:latin typeface="Geist Mono"/>
                <a:ea typeface="Geist Mono"/>
                <a:cs typeface="Geist Mono"/>
              </a:rPr>
              <a:t>0.05</a:t>
            </a:r>
            <a:r>
              <a:rPr sz="2250" b="0" i="0">
                <a:solidFill>
                  <a:srgbClr val="F0E8E8"/>
                </a:solidFill>
                <a:latin typeface="Geist Mono"/>
                <a:ea typeface="Geist Mono"/>
                <a:cs typeface="Geist Mono"/>
              </a:rPr>
              <a:t>)</a:t>
            </a:r>
            <a:r>
              <a:rPr sz="2250" b="0" i="0">
                <a:solidFill>
                  <a:srgbClr val="9A7878"/>
                </a:solidFill>
                <a:latin typeface="Geist Mono"/>
                <a:ea typeface="Geist Mono"/>
                <a:cs typeface="Geist Mono"/>
              </a:rPr>
              <a:t>  →  </a:t>
            </a:r>
            <a:r>
              <a:rPr sz="2250" b="1" i="0">
                <a:solidFill>
                  <a:srgbClr val="E8C27A"/>
                </a:solidFill>
                <a:latin typeface="Geist Mono"/>
                <a:ea typeface="Geist Mono"/>
                <a:cs typeface="Geist Mono"/>
              </a:rPr>
              <a:t>0.05</a:t>
            </a:r>
          </a:p>
        </p:txBody>
      </p:sp>
      <p:sp>
        <p:nvSpPr>
          <p:cNvPr id="39" name="TextBox 38"/>
          <p:cNvSpPr txBox="1"/>
          <p:nvPr/>
        </p:nvSpPr>
        <p:spPr>
          <a:xfrm>
            <a:off x="11811000" y="5715000"/>
            <a:ext cx="5524500" cy="66675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Math.abs(</a:t>
            </a:r>
            <a:r>
              <a:rPr sz="2250" b="0" i="0">
                <a:solidFill>
                  <a:srgbClr val="E8C27A"/>
                </a:solidFill>
                <a:latin typeface="Geist Mono"/>
                <a:ea typeface="Geist Mono"/>
                <a:cs typeface="Geist Mono"/>
              </a:rPr>
              <a:t>-0.8</a:t>
            </a:r>
            <a:r>
              <a:rPr sz="2250" b="0" i="0">
                <a:solidFill>
                  <a:srgbClr val="F0E8E8"/>
                </a:solidFill>
                <a:latin typeface="Geist Mono"/>
                <a:ea typeface="Geist Mono"/>
                <a:cs typeface="Geist Mono"/>
              </a:rPr>
              <a:t>)</a:t>
            </a:r>
            <a:r>
              <a:rPr sz="2250" b="0" i="0">
                <a:solidFill>
                  <a:srgbClr val="9A7878"/>
                </a:solidFill>
                <a:latin typeface="Geist Mono"/>
                <a:ea typeface="Geist Mono"/>
                <a:cs typeface="Geist Mono"/>
              </a:rPr>
              <a:t>  →  </a:t>
            </a:r>
            <a:r>
              <a:rPr sz="2250" b="1" i="0">
                <a:solidFill>
                  <a:srgbClr val="E8C27A"/>
                </a:solidFill>
                <a:latin typeface="Geist Mono"/>
                <a:ea typeface="Geist Mono"/>
                <a:cs typeface="Geist Mono"/>
              </a:rPr>
              <a:t>0.8</a:t>
            </a:r>
          </a:p>
        </p:txBody>
      </p:sp>
      <p:sp>
        <p:nvSpPr>
          <p:cNvPr id="40" name="TextBox 39"/>
          <p:cNvSpPr txBox="1"/>
          <p:nvPr/>
        </p:nvSpPr>
        <p:spPr>
          <a:xfrm>
            <a:off x="11811000" y="6858000"/>
            <a:ext cx="5334000" cy="1333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One check covers pushing forward and pulling back.</a:t>
            </a:r>
          </a:p>
        </p:txBody>
      </p:sp>
      <p:pic>
        <p:nvPicPr>
          <p:cNvPr id="41" name="Picture 40" descr="code-slash.png"/>
          <p:cNvPicPr>
            <a:picLocks noChangeAspect="1"/>
          </p:cNvPicPr>
          <p:nvPr/>
        </p:nvPicPr>
        <p:blipFill>
          <a:blip r:embed="rId3"/>
          <a:stretch>
            <a:fillRect/>
          </a:stretch>
        </p:blipFill>
        <p:spPr>
          <a:xfrm>
            <a:off x="914400" y="8801100"/>
            <a:ext cx="224518" cy="209550"/>
          </a:xfrm>
          <a:prstGeom prst="rect">
            <a:avLst/>
          </a:prstGeom>
        </p:spPr>
      </p:pic>
      <p:sp>
        <p:nvSpPr>
          <p:cNvPr id="42" name="TextBox 41"/>
          <p:cNvSpPr txBox="1"/>
          <p:nvPr/>
        </p:nvSpPr>
        <p:spPr>
          <a:xfrm>
            <a:off x="1295400" y="8763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if statement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3048000" y="2762250"/>
            <a:ext cx="3810000" cy="57150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048000" y="2762250"/>
            <a:ext cx="3810000" cy="5715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read the stick</a:t>
            </a:r>
          </a:p>
        </p:txBody>
      </p:sp>
      <p:sp>
        <p:nvSpPr>
          <p:cNvPr id="7" name="Rectangle 6"/>
          <p:cNvSpPr/>
          <p:nvPr/>
        </p:nvSpPr>
        <p:spPr>
          <a:xfrm>
            <a:off x="4938712" y="3338512"/>
            <a:ext cx="28575" cy="12763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4876800" y="33147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2000250" y="3333750"/>
            <a:ext cx="5905500" cy="1714500"/>
          </a:xfrm>
          <a:prstGeom prst="diamond">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67000" y="3333750"/>
            <a:ext cx="4572000" cy="17145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|forward| &lt; DEADBAND ?</a:t>
            </a:r>
          </a:p>
        </p:txBody>
      </p:sp>
      <p:sp>
        <p:nvSpPr>
          <p:cNvPr id="11" name="Rectangle 10"/>
          <p:cNvSpPr/>
          <p:nvPr/>
        </p:nvSpPr>
        <p:spPr>
          <a:xfrm>
            <a:off x="4933950" y="5048250"/>
            <a:ext cx="38100" cy="73914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10800000">
            <a:off x="4876800" y="57531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5400" y="5238750"/>
            <a:ext cx="1143000" cy="32385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true</a:t>
            </a:r>
          </a:p>
        </p:txBody>
      </p:sp>
      <p:sp>
        <p:nvSpPr>
          <p:cNvPr id="14" name="Rounded Rectangle 13"/>
          <p:cNvSpPr/>
          <p:nvPr/>
        </p:nvSpPr>
        <p:spPr>
          <a:xfrm>
            <a:off x="3048000" y="5981700"/>
            <a:ext cx="3810000" cy="762000"/>
          </a:xfrm>
          <a:prstGeom prst="roundRect">
            <a:avLst>
              <a:gd name="adj" fmla="val 15000"/>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8000" y="5981700"/>
            <a:ext cx="3810000" cy="762000"/>
          </a:xfrm>
          <a:prstGeom prst="rect">
            <a:avLst/>
          </a:prstGeom>
          <a:noFill/>
        </p:spPr>
        <p:txBody>
          <a:bodyPr wrap="square" lIns="0" rIns="0" tIns="0" bIns="0" anchor="ctr">
            <a:spAutoFit/>
          </a:bodyPr>
          <a:lstStyle/>
          <a:p>
            <a:pPr algn="ctr"/>
            <a:r>
              <a:rPr sz="1950" b="0" i="0">
                <a:solidFill>
                  <a:srgbClr val="F0E8E8"/>
                </a:solidFill>
                <a:latin typeface="Geist Mono"/>
                <a:ea typeface="Geist Mono"/>
                <a:cs typeface="Geist Mono"/>
              </a:rPr>
              <a:t>forward = </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a:t>
            </a:r>
          </a:p>
        </p:txBody>
      </p:sp>
      <p:sp>
        <p:nvSpPr>
          <p:cNvPr id="16" name="Rectangle 15"/>
          <p:cNvSpPr/>
          <p:nvPr/>
        </p:nvSpPr>
        <p:spPr>
          <a:xfrm>
            <a:off x="4938712" y="6748462"/>
            <a:ext cx="28575" cy="6534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10800000">
            <a:off x="4876800" y="73723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48000" y="7600950"/>
            <a:ext cx="3810000" cy="57150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048000" y="7600950"/>
            <a:ext cx="3810000" cy="5715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drive the motors</a:t>
            </a:r>
          </a:p>
        </p:txBody>
      </p:sp>
      <p:sp>
        <p:nvSpPr>
          <p:cNvPr id="20" name="Rectangle 19"/>
          <p:cNvSpPr/>
          <p:nvPr/>
        </p:nvSpPr>
        <p:spPr>
          <a:xfrm>
            <a:off x="7891462" y="4176712"/>
            <a:ext cx="5048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67712" y="4176712"/>
            <a:ext cx="28575" cy="37242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057072" y="7872412"/>
            <a:ext cx="13392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6200000">
            <a:off x="6934200" y="78105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6250" y="3714750"/>
            <a:ext cx="1333500" cy="323850"/>
          </a:xfrm>
          <a:prstGeom prst="rect">
            <a:avLst/>
          </a:prstGeom>
          <a:noFill/>
        </p:spPr>
        <p:txBody>
          <a:bodyPr wrap="square" lIns="0" rIns="0" tIns="0" bIns="0" anchor="t">
            <a:spAutoFit/>
          </a:bodyPr>
          <a:lstStyle/>
          <a:p>
            <a:pPr algn="l"/>
            <a:r>
              <a:rPr sz="1800" b="1" i="0">
                <a:solidFill>
                  <a:srgbClr val="9A7878"/>
                </a:solidFill>
                <a:latin typeface="Geist"/>
                <a:ea typeface="Geist"/>
                <a:cs typeface="Geist"/>
              </a:rPr>
              <a:t>false</a:t>
            </a:r>
          </a:p>
        </p:txBody>
      </p:sp>
      <p:sp>
        <p:nvSpPr>
          <p:cNvPr id="25" name="TextBox 24"/>
          <p:cNvSpPr txBox="1"/>
          <p:nvPr/>
        </p:nvSpPr>
        <p:spPr>
          <a:xfrm>
            <a:off x="8572500" y="590550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skip it</a:t>
            </a:r>
          </a:p>
        </p:txBody>
      </p:sp>
      <p:sp>
        <p:nvSpPr>
          <p:cNvPr id="26" name="Rounded Rectangle 25"/>
          <p:cNvSpPr/>
          <p:nvPr/>
        </p:nvSpPr>
        <p:spPr>
          <a:xfrm>
            <a:off x="10477500" y="3143250"/>
            <a:ext cx="6896100" cy="2346960"/>
          </a:xfrm>
          <a:prstGeom prst="roundRect">
            <a:avLst>
              <a:gd name="adj" fmla="val 6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58500" y="3524250"/>
            <a:ext cx="63627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if</a:t>
            </a:r>
            <a:r>
              <a:rPr sz="1950" b="0" i="0">
                <a:solidFill>
                  <a:srgbClr val="F0E8E8"/>
                </a:solidFill>
                <a:latin typeface="Geist Mono"/>
                <a:ea typeface="Geist Mono"/>
                <a:cs typeface="Geist Mono"/>
              </a:rPr>
              <a:t> (condition) {</a:t>
            </a:r>
          </a:p>
        </p:txBody>
      </p:sp>
      <p:sp>
        <p:nvSpPr>
          <p:cNvPr id="28" name="TextBox 27"/>
          <p:cNvSpPr txBox="1"/>
          <p:nvPr/>
        </p:nvSpPr>
        <p:spPr>
          <a:xfrm>
            <a:off x="10858500" y="3920490"/>
            <a:ext cx="63627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1">
                <a:solidFill>
                  <a:srgbClr val="9A7878"/>
                </a:solidFill>
                <a:latin typeface="Geist Mono"/>
                <a:ea typeface="Geist Mono"/>
                <a:cs typeface="Geist Mono"/>
              </a:rPr>
              <a:t>// runs only when it's true</a:t>
            </a:r>
          </a:p>
        </p:txBody>
      </p:sp>
      <p:sp>
        <p:nvSpPr>
          <p:cNvPr id="29" name="TextBox 28"/>
          <p:cNvSpPr txBox="1"/>
          <p:nvPr/>
        </p:nvSpPr>
        <p:spPr>
          <a:xfrm>
            <a:off x="10858500" y="4316730"/>
            <a:ext cx="63627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30" name="TextBox 29"/>
          <p:cNvSpPr txBox="1"/>
          <p:nvPr/>
        </p:nvSpPr>
        <p:spPr>
          <a:xfrm>
            <a:off x="10858500" y="4712970"/>
            <a:ext cx="6362700" cy="396240"/>
          </a:xfrm>
          <a:prstGeom prst="rect">
            <a:avLst/>
          </a:prstGeom>
          <a:noFill/>
        </p:spPr>
        <p:txBody>
          <a:bodyPr wrap="square" lIns="0" rIns="0" tIns="0" bIns="0" anchor="ctr">
            <a:spAutoFit/>
          </a:bodyPr>
          <a:lstStyle/>
          <a:p>
            <a:pPr algn="l"/>
            <a:r>
              <a:rPr sz="1950" b="0" i="1">
                <a:solidFill>
                  <a:srgbClr val="9A7878"/>
                </a:solidFill>
                <a:latin typeface="Geist Mono"/>
                <a:ea typeface="Geist Mono"/>
                <a:cs typeface="Geist Mono"/>
              </a:rPr>
              <a:t>// always runs next</a:t>
            </a:r>
          </a:p>
        </p:txBody>
      </p:sp>
      <p:sp>
        <p:nvSpPr>
          <p:cNvPr id="31" name="TextBox 30"/>
          <p:cNvSpPr txBox="1"/>
          <p:nvPr/>
        </p:nvSpPr>
        <p:spPr>
          <a:xfrm>
            <a:off x="10477500" y="5715000"/>
            <a:ext cx="68961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 )</a:t>
            </a:r>
            <a:r>
              <a:rPr sz="1950" b="0" i="0">
                <a:solidFill>
                  <a:srgbClr val="F0E8E8"/>
                </a:solidFill>
                <a:latin typeface="Geist"/>
                <a:ea typeface="Geist"/>
                <a:cs typeface="Geist"/>
              </a:rPr>
              <a:t> holds the condition: true or false</a:t>
            </a:r>
          </a:p>
        </p:txBody>
      </p:sp>
      <p:sp>
        <p:nvSpPr>
          <p:cNvPr id="32" name="TextBox 31"/>
          <p:cNvSpPr txBox="1"/>
          <p:nvPr/>
        </p:nvSpPr>
        <p:spPr>
          <a:xfrm>
            <a:off x="10477500" y="6246495"/>
            <a:ext cx="68961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 }</a:t>
            </a:r>
            <a:r>
              <a:rPr sz="1950" b="0" i="0">
                <a:solidFill>
                  <a:srgbClr val="F0E8E8"/>
                </a:solidFill>
                <a:latin typeface="Geist"/>
                <a:ea typeface="Geist"/>
                <a:cs typeface="Geist"/>
              </a:rPr>
              <a:t> holds the code that may run</a:t>
            </a:r>
          </a:p>
        </p:txBody>
      </p:sp>
      <p:sp>
        <p:nvSpPr>
          <p:cNvPr id="33" name="TextBox 32"/>
          <p:cNvSpPr txBox="1"/>
          <p:nvPr/>
        </p:nvSpPr>
        <p:spPr>
          <a:xfrm>
            <a:off x="10477500" y="6777990"/>
            <a:ext cx="68961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No semicolon after the </a:t>
            </a:r>
            <a:r>
              <a:rPr sz="1950" b="0" i="0">
                <a:solidFill>
                  <a:srgbClr val="F0E8E8"/>
                </a:solidFill>
                <a:latin typeface="Geist Mono"/>
                <a:ea typeface="Geist Mono"/>
                <a:cs typeface="Geist Mono"/>
              </a:rPr>
              <a:t>)</a:t>
            </a:r>
          </a:p>
        </p:txBody>
      </p:sp>
      <p:pic>
        <p:nvPicPr>
          <p:cNvPr id="34" name="Picture 33" descr="code-slash.png"/>
          <p:cNvPicPr>
            <a:picLocks noChangeAspect="1"/>
          </p:cNvPicPr>
          <p:nvPr/>
        </p:nvPicPr>
        <p:blipFill>
          <a:blip r:embed="rId3"/>
          <a:stretch>
            <a:fillRect/>
          </a:stretch>
        </p:blipFill>
        <p:spPr>
          <a:xfrm>
            <a:off x="10477500" y="8610600"/>
            <a:ext cx="224518" cy="209550"/>
          </a:xfrm>
          <a:prstGeom prst="rect">
            <a:avLst/>
          </a:prstGeom>
        </p:spPr>
      </p:pic>
      <p:sp>
        <p:nvSpPr>
          <p:cNvPr id="35" name="TextBox 34"/>
          <p:cNvSpPr txBox="1"/>
          <p:nvPr/>
        </p:nvSpPr>
        <p:spPr>
          <a:xfrm>
            <a:off x="108585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4: deadband both sticks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953750" cy="4785360"/>
          </a:xfrm>
          <a:prstGeom prst="roundRect">
            <a:avLst>
              <a:gd name="adj" fmla="val 318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62153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62153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98729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98729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35305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535305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71881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71881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608457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608457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645033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645033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3524250"/>
            <a:ext cx="104203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teleopPeriodic() {</a:t>
            </a:r>
          </a:p>
        </p:txBody>
      </p:sp>
      <p:sp>
        <p:nvSpPr>
          <p:cNvPr id="20" name="TextBox 19"/>
          <p:cNvSpPr txBox="1"/>
          <p:nvPr/>
        </p:nvSpPr>
        <p:spPr>
          <a:xfrm>
            <a:off x="1295400" y="389001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forward = -controller_.getLeftY();</a:t>
            </a:r>
          </a:p>
        </p:txBody>
      </p:sp>
      <p:sp>
        <p:nvSpPr>
          <p:cNvPr id="21" name="TextBox 20"/>
          <p:cNvSpPr txBox="1"/>
          <p:nvPr/>
        </p:nvSpPr>
        <p:spPr>
          <a:xfrm>
            <a:off x="1295400" y="425577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turn = controller_.getLeftX();</a:t>
            </a:r>
          </a:p>
        </p:txBody>
      </p:sp>
      <p:sp>
        <p:nvSpPr>
          <p:cNvPr id="22" name="TextBox 21"/>
          <p:cNvSpPr txBox="1"/>
          <p:nvPr/>
        </p:nvSpPr>
        <p:spPr>
          <a:xfrm>
            <a:off x="1295400" y="462153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(Math.abs(forward) &lt; Constants.DEADBAND) {</a:t>
            </a:r>
          </a:p>
        </p:txBody>
      </p:sp>
      <p:sp>
        <p:nvSpPr>
          <p:cNvPr id="23" name="TextBox 22"/>
          <p:cNvSpPr txBox="1"/>
          <p:nvPr/>
        </p:nvSpPr>
        <p:spPr>
          <a:xfrm>
            <a:off x="1295400" y="498729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forward =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4" name="TextBox 23"/>
          <p:cNvSpPr txBox="1"/>
          <p:nvPr/>
        </p:nvSpPr>
        <p:spPr>
          <a:xfrm>
            <a:off x="1295400" y="535305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5" name="TextBox 24"/>
          <p:cNvSpPr txBox="1"/>
          <p:nvPr/>
        </p:nvSpPr>
        <p:spPr>
          <a:xfrm>
            <a:off x="1295400" y="571881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(Math.abs(turn) &lt; Constants.DEADBAND) {</a:t>
            </a:r>
          </a:p>
        </p:txBody>
      </p:sp>
      <p:sp>
        <p:nvSpPr>
          <p:cNvPr id="26" name="TextBox 25"/>
          <p:cNvSpPr txBox="1"/>
          <p:nvPr/>
        </p:nvSpPr>
        <p:spPr>
          <a:xfrm>
            <a:off x="1295400" y="608457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turn =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7" name="TextBox 26"/>
          <p:cNvSpPr txBox="1"/>
          <p:nvPr/>
        </p:nvSpPr>
        <p:spPr>
          <a:xfrm>
            <a:off x="1295400" y="645033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8" name="TextBox 27"/>
          <p:cNvSpPr txBox="1"/>
          <p:nvPr/>
        </p:nvSpPr>
        <p:spPr>
          <a:xfrm>
            <a:off x="1295400" y="681609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drive_.setDutyCycles(forward + turn, forward - turn);</a:t>
            </a:r>
          </a:p>
        </p:txBody>
      </p:sp>
      <p:sp>
        <p:nvSpPr>
          <p:cNvPr id="29" name="TextBox 28"/>
          <p:cNvSpPr txBox="1"/>
          <p:nvPr/>
        </p:nvSpPr>
        <p:spPr>
          <a:xfrm>
            <a:off x="1295400" y="718185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30" name="Oval 29"/>
          <p:cNvSpPr/>
          <p:nvPr/>
        </p:nvSpPr>
        <p:spPr>
          <a:xfrm>
            <a:off x="11258550" y="38823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58550" y="3882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Oval 31"/>
          <p:cNvSpPr/>
          <p:nvPr/>
        </p:nvSpPr>
        <p:spPr>
          <a:xfrm>
            <a:off x="11258550" y="46139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5855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Oval 33"/>
          <p:cNvSpPr/>
          <p:nvPr/>
        </p:nvSpPr>
        <p:spPr>
          <a:xfrm>
            <a:off x="11258550" y="57111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58550" y="57111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Oval 35"/>
          <p:cNvSpPr/>
          <p:nvPr/>
        </p:nvSpPr>
        <p:spPr>
          <a:xfrm>
            <a:off x="11258550" y="680847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58550" y="680847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8" name="Oval 37"/>
          <p:cNvSpPr/>
          <p:nvPr/>
        </p:nvSpPr>
        <p:spPr>
          <a:xfrm>
            <a:off x="1238250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3825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0" name="TextBox 39"/>
          <p:cNvSpPr txBox="1"/>
          <p:nvPr/>
        </p:nvSpPr>
        <p:spPr>
          <a:xfrm>
            <a:off x="12992100" y="28194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a:t>
            </a:r>
          </a:p>
        </p:txBody>
      </p:sp>
      <p:sp>
        <p:nvSpPr>
          <p:cNvPr id="41" name="TextBox 40"/>
          <p:cNvSpPr txBox="1"/>
          <p:nvPr/>
        </p:nvSpPr>
        <p:spPr>
          <a:xfrm>
            <a:off x="12992100" y="32385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Arcade drive, from last lesson</a:t>
            </a:r>
          </a:p>
        </p:txBody>
      </p:sp>
      <p:sp>
        <p:nvSpPr>
          <p:cNvPr id="42" name="Oval 41"/>
          <p:cNvSpPr/>
          <p:nvPr/>
        </p:nvSpPr>
        <p:spPr>
          <a:xfrm>
            <a:off x="1238250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3825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4" name="TextBox 43"/>
          <p:cNvSpPr txBox="1"/>
          <p:nvPr/>
        </p:nvSpPr>
        <p:spPr>
          <a:xfrm>
            <a:off x="12992100" y="424815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Forward</a:t>
            </a:r>
          </a:p>
        </p:txBody>
      </p:sp>
      <p:sp>
        <p:nvSpPr>
          <p:cNvPr id="45" name="TextBox 44"/>
          <p:cNvSpPr txBox="1"/>
          <p:nvPr/>
        </p:nvSpPr>
        <p:spPr>
          <a:xfrm>
            <a:off x="12992100" y="466725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Tiny? Make it 0.0</a:t>
            </a:r>
          </a:p>
        </p:txBody>
      </p:sp>
      <p:sp>
        <p:nvSpPr>
          <p:cNvPr id="46" name="Oval 45"/>
          <p:cNvSpPr/>
          <p:nvPr/>
        </p:nvSpPr>
        <p:spPr>
          <a:xfrm>
            <a:off x="1238250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3825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TextBox 47"/>
          <p:cNvSpPr txBox="1"/>
          <p:nvPr/>
        </p:nvSpPr>
        <p:spPr>
          <a:xfrm>
            <a:off x="12992100" y="5676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Turn</a:t>
            </a:r>
          </a:p>
        </p:txBody>
      </p:sp>
      <p:sp>
        <p:nvSpPr>
          <p:cNvPr id="49" name="TextBox 48"/>
          <p:cNvSpPr txBox="1"/>
          <p:nvPr/>
        </p:nvSpPr>
        <p:spPr>
          <a:xfrm>
            <a:off x="12992100" y="6096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Same check, second if</a:t>
            </a:r>
          </a:p>
        </p:txBody>
      </p:sp>
      <p:sp>
        <p:nvSpPr>
          <p:cNvPr id="50" name="Oval 49"/>
          <p:cNvSpPr/>
          <p:nvPr/>
        </p:nvSpPr>
        <p:spPr>
          <a:xfrm>
            <a:off x="1238250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3825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2" name="TextBox 51"/>
          <p:cNvSpPr txBox="1"/>
          <p:nvPr/>
        </p:nvSpPr>
        <p:spPr>
          <a:xfrm>
            <a:off x="12992100" y="710565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a:t>
            </a:r>
          </a:p>
        </p:txBody>
      </p:sp>
      <p:sp>
        <p:nvSpPr>
          <p:cNvPr id="53" name="TextBox 52"/>
          <p:cNvSpPr txBox="1"/>
          <p:nvPr/>
        </p:nvSpPr>
        <p:spPr>
          <a:xfrm>
            <a:off x="12992100" y="752475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Then mix and send, as before</a:t>
            </a:r>
          </a:p>
        </p:txBody>
      </p:sp>
      <p:pic>
        <p:nvPicPr>
          <p:cNvPr id="54" name="Picture 53" descr="code-slash.png"/>
          <p:cNvPicPr>
            <a:picLocks noChangeAspect="1"/>
          </p:cNvPicPr>
          <p:nvPr/>
        </p:nvPicPr>
        <p:blipFill>
          <a:blip r:embed="rId3"/>
          <a:stretch>
            <a:fillRect/>
          </a:stretch>
        </p:blipFill>
        <p:spPr>
          <a:xfrm>
            <a:off x="914400" y="8324850"/>
            <a:ext cx="224518" cy="209550"/>
          </a:xfrm>
          <a:prstGeom prst="rect">
            <a:avLst/>
          </a:prstGeom>
        </p:spPr>
      </p:pic>
      <p:sp>
        <p:nvSpPr>
          <p:cNvPr id="55" name="TextBox 54"/>
          <p:cNvSpPr txBox="1"/>
          <p:nvPr/>
        </p:nvSpPr>
        <p:spPr>
          <a:xfrm>
            <a:off x="1295400" y="8286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56" name="TextBox 5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7" name="TextBox 5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Gotcha: forgetting Math.abs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2382500" cy="1188720"/>
          </a:xfrm>
          <a:prstGeom prst="roundRect">
            <a:avLst>
              <a:gd name="adj" fmla="val 1282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18491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if</a:t>
            </a:r>
            <a:r>
              <a:rPr sz="2100" b="0" i="0">
                <a:solidFill>
                  <a:srgbClr val="F0E8E8"/>
                </a:solidFill>
                <a:latin typeface="Geist Mono"/>
                <a:ea typeface="Geist Mono"/>
                <a:cs typeface="Geist Mono"/>
              </a:rPr>
              <a:t> (forward &lt; Constants.DEADBAND) {  </a:t>
            </a:r>
            <a:r>
              <a:rPr sz="2100" b="0" i="1">
                <a:solidFill>
                  <a:srgbClr val="9A7878"/>
                </a:solidFill>
                <a:latin typeface="Geist Mono"/>
                <a:ea typeface="Geist Mono"/>
                <a:cs typeface="Geist Mono"/>
              </a:rPr>
              <a:t>// no Math.abs!</a:t>
            </a:r>
          </a:p>
        </p:txBody>
      </p:sp>
      <p:sp>
        <p:nvSpPr>
          <p:cNvPr id="7" name="Rounded Rectangle 6"/>
          <p:cNvSpPr/>
          <p:nvPr/>
        </p:nvSpPr>
        <p:spPr>
          <a:xfrm>
            <a:off x="914400" y="4286250"/>
            <a:ext cx="123825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1100" y="4286250"/>
            <a:ext cx="2209800" cy="609600"/>
          </a:xfrm>
          <a:prstGeom prst="rect">
            <a:avLst/>
          </a:prstGeom>
          <a:noFill/>
        </p:spPr>
        <p:txBody>
          <a:bodyPr wrap="square" lIns="0" rIns="0" tIns="0" bIns="0" anchor="ctr">
            <a:spAutoFit/>
          </a:bodyPr>
          <a:lstStyle/>
          <a:p>
            <a:pPr algn="l"/>
            <a:r>
              <a:rPr sz="1800" b="1" i="0">
                <a:solidFill>
                  <a:srgbClr val="F0E8E8"/>
                </a:solidFill>
                <a:latin typeface="Geist Mono"/>
                <a:ea typeface="Geist Mono"/>
                <a:cs typeface="Geist Mono"/>
              </a:rPr>
              <a:t>forward</a:t>
            </a:r>
          </a:p>
        </p:txBody>
      </p:sp>
      <p:sp>
        <p:nvSpPr>
          <p:cNvPr id="9" name="TextBox 8"/>
          <p:cNvSpPr txBox="1"/>
          <p:nvPr/>
        </p:nvSpPr>
        <p:spPr>
          <a:xfrm>
            <a:off x="3657600" y="4286250"/>
            <a:ext cx="2019300" cy="609600"/>
          </a:xfrm>
          <a:prstGeom prst="rect">
            <a:avLst/>
          </a:prstGeom>
          <a:noFill/>
        </p:spPr>
        <p:txBody>
          <a:bodyPr wrap="square" lIns="0" rIns="0" tIns="0" bIns="0" anchor="ctr">
            <a:spAutoFit/>
          </a:bodyPr>
          <a:lstStyle/>
          <a:p>
            <a:pPr algn="l"/>
            <a:r>
              <a:rPr sz="1800" b="1" i="0">
                <a:solidFill>
                  <a:srgbClr val="F0E8E8"/>
                </a:solidFill>
                <a:latin typeface="Geist Mono"/>
                <a:ea typeface="Geist Mono"/>
                <a:cs typeface="Geist Mono"/>
              </a:rPr>
              <a:t>&lt; 0.1 ?</a:t>
            </a:r>
          </a:p>
        </p:txBody>
      </p:sp>
      <p:sp>
        <p:nvSpPr>
          <p:cNvPr id="10" name="TextBox 9"/>
          <p:cNvSpPr txBox="1"/>
          <p:nvPr/>
        </p:nvSpPr>
        <p:spPr>
          <a:xfrm>
            <a:off x="5943600" y="4286250"/>
            <a:ext cx="2209800" cy="609600"/>
          </a:xfrm>
          <a:prstGeom prst="rect">
            <a:avLst/>
          </a:prstGeom>
          <a:noFill/>
        </p:spPr>
        <p:txBody>
          <a:bodyPr wrap="square" lIns="0" rIns="0" tIns="0" bIns="0" anchor="ctr">
            <a:spAutoFit/>
          </a:bodyPr>
          <a:lstStyle/>
          <a:p>
            <a:pPr algn="l"/>
            <a:r>
              <a:rPr sz="1800" b="1" i="0">
                <a:solidFill>
                  <a:srgbClr val="F0E8E8"/>
                </a:solidFill>
                <a:latin typeface="Geist Mono"/>
                <a:ea typeface="Geist Mono"/>
                <a:cs typeface="Geist Mono"/>
              </a:rPr>
              <a:t>becomes</a:t>
            </a:r>
          </a:p>
        </p:txBody>
      </p:sp>
      <p:sp>
        <p:nvSpPr>
          <p:cNvPr id="11" name="TextBox 10"/>
          <p:cNvSpPr txBox="1"/>
          <p:nvPr/>
        </p:nvSpPr>
        <p:spPr>
          <a:xfrm>
            <a:off x="8420100" y="4286250"/>
            <a:ext cx="4876800" cy="609600"/>
          </a:xfrm>
          <a:prstGeom prst="rect">
            <a:avLst/>
          </a:prstGeom>
          <a:noFill/>
        </p:spPr>
        <p:txBody>
          <a:bodyPr wrap="square" lIns="0" rIns="0" tIns="0" bIns="0" anchor="ctr">
            <a:spAutoFit/>
          </a:bodyPr>
          <a:lstStyle/>
          <a:p>
            <a:pPr algn="l"/>
            <a:r>
              <a:rPr sz="1800" b="1" i="0">
                <a:solidFill>
                  <a:srgbClr val="F0E8E8"/>
                </a:solidFill>
                <a:latin typeface="Geist Mono"/>
                <a:ea typeface="Geist Mono"/>
                <a:cs typeface="Geist Mono"/>
              </a:rPr>
              <a:t/>
            </a:r>
          </a:p>
        </p:txBody>
      </p:sp>
      <p:sp>
        <p:nvSpPr>
          <p:cNvPr id="12" name="Rectangle 11"/>
          <p:cNvSpPr/>
          <p:nvPr/>
        </p:nvSpPr>
        <p:spPr>
          <a:xfrm>
            <a:off x="904875" y="5800725"/>
            <a:ext cx="1240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81100" y="4991100"/>
            <a:ext cx="2209800" cy="7810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0.05</a:t>
            </a:r>
          </a:p>
        </p:txBody>
      </p:sp>
      <p:sp>
        <p:nvSpPr>
          <p:cNvPr id="14" name="TextBox 13"/>
          <p:cNvSpPr txBox="1"/>
          <p:nvPr/>
        </p:nvSpPr>
        <p:spPr>
          <a:xfrm>
            <a:off x="3657600" y="4991100"/>
            <a:ext cx="2019300" cy="781050"/>
          </a:xfrm>
          <a:prstGeom prst="rect">
            <a:avLst/>
          </a:prstGeom>
          <a:noFill/>
        </p:spPr>
        <p:txBody>
          <a:bodyPr wrap="square" lIns="0" rIns="0" tIns="0" bIns="0" anchor="ctr">
            <a:spAutoFit/>
          </a:bodyPr>
          <a:lstStyle/>
          <a:p>
            <a:pPr algn="l"/>
            <a:r>
              <a:rPr sz="2100" b="0" i="0">
                <a:solidFill>
                  <a:srgbClr val="198754"/>
                </a:solidFill>
                <a:latin typeface="Geist Mono"/>
                <a:ea typeface="Geist Mono"/>
                <a:cs typeface="Geist Mono"/>
              </a:rPr>
              <a:t>true</a:t>
            </a:r>
          </a:p>
        </p:txBody>
      </p:sp>
      <p:sp>
        <p:nvSpPr>
          <p:cNvPr id="15" name="TextBox 14"/>
          <p:cNvSpPr txBox="1"/>
          <p:nvPr/>
        </p:nvSpPr>
        <p:spPr>
          <a:xfrm>
            <a:off x="5943600" y="4991100"/>
            <a:ext cx="2209800" cy="78105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0.0</a:t>
            </a:r>
          </a:p>
        </p:txBody>
      </p:sp>
      <p:sp>
        <p:nvSpPr>
          <p:cNvPr id="16" name="TextBox 15"/>
          <p:cNvSpPr txBox="1"/>
          <p:nvPr/>
        </p:nvSpPr>
        <p:spPr>
          <a:xfrm>
            <a:off x="8420100" y="4991100"/>
            <a:ext cx="4876800" cy="7810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Drift ignored</a:t>
            </a:r>
          </a:p>
        </p:txBody>
      </p:sp>
      <p:sp>
        <p:nvSpPr>
          <p:cNvPr id="17" name="Rectangle 16"/>
          <p:cNvSpPr/>
          <p:nvPr/>
        </p:nvSpPr>
        <p:spPr>
          <a:xfrm>
            <a:off x="904875" y="6677025"/>
            <a:ext cx="1240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5867400"/>
            <a:ext cx="2209800" cy="7810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-0.05</a:t>
            </a:r>
          </a:p>
        </p:txBody>
      </p:sp>
      <p:sp>
        <p:nvSpPr>
          <p:cNvPr id="19" name="TextBox 18"/>
          <p:cNvSpPr txBox="1"/>
          <p:nvPr/>
        </p:nvSpPr>
        <p:spPr>
          <a:xfrm>
            <a:off x="3657600" y="5867400"/>
            <a:ext cx="2019300" cy="781050"/>
          </a:xfrm>
          <a:prstGeom prst="rect">
            <a:avLst/>
          </a:prstGeom>
          <a:noFill/>
        </p:spPr>
        <p:txBody>
          <a:bodyPr wrap="square" lIns="0" rIns="0" tIns="0" bIns="0" anchor="ctr">
            <a:spAutoFit/>
          </a:bodyPr>
          <a:lstStyle/>
          <a:p>
            <a:pPr algn="l"/>
            <a:r>
              <a:rPr sz="2100" b="0" i="0">
                <a:solidFill>
                  <a:srgbClr val="198754"/>
                </a:solidFill>
                <a:latin typeface="Geist Mono"/>
                <a:ea typeface="Geist Mono"/>
                <a:cs typeface="Geist Mono"/>
              </a:rPr>
              <a:t>true</a:t>
            </a:r>
          </a:p>
        </p:txBody>
      </p:sp>
      <p:sp>
        <p:nvSpPr>
          <p:cNvPr id="20" name="TextBox 19"/>
          <p:cNvSpPr txBox="1"/>
          <p:nvPr/>
        </p:nvSpPr>
        <p:spPr>
          <a:xfrm>
            <a:off x="5943600" y="5867400"/>
            <a:ext cx="2209800" cy="78105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0.0</a:t>
            </a:r>
          </a:p>
        </p:txBody>
      </p:sp>
      <p:sp>
        <p:nvSpPr>
          <p:cNvPr id="21" name="TextBox 20"/>
          <p:cNvSpPr txBox="1"/>
          <p:nvPr/>
        </p:nvSpPr>
        <p:spPr>
          <a:xfrm>
            <a:off x="8420100" y="5867400"/>
            <a:ext cx="4876800" cy="7810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Drift ignored</a:t>
            </a:r>
          </a:p>
        </p:txBody>
      </p:sp>
      <p:sp>
        <p:nvSpPr>
          <p:cNvPr id="22" name="Rounded Rectangle 21"/>
          <p:cNvSpPr/>
          <p:nvPr/>
        </p:nvSpPr>
        <p:spPr>
          <a:xfrm>
            <a:off x="914400" y="6743700"/>
            <a:ext cx="12382500" cy="781050"/>
          </a:xfrm>
          <a:prstGeom prst="roundRect">
            <a:avLst>
              <a:gd name="adj" fmla="val 1463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04875" y="7553325"/>
            <a:ext cx="1240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81100" y="6743700"/>
            <a:ext cx="2209800" cy="7810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-0.8</a:t>
            </a:r>
          </a:p>
        </p:txBody>
      </p:sp>
      <p:sp>
        <p:nvSpPr>
          <p:cNvPr id="25" name="TextBox 24"/>
          <p:cNvSpPr txBox="1"/>
          <p:nvPr/>
        </p:nvSpPr>
        <p:spPr>
          <a:xfrm>
            <a:off x="3657600" y="6743700"/>
            <a:ext cx="2019300" cy="781050"/>
          </a:xfrm>
          <a:prstGeom prst="rect">
            <a:avLst/>
          </a:prstGeom>
          <a:noFill/>
        </p:spPr>
        <p:txBody>
          <a:bodyPr wrap="square" lIns="0" rIns="0" tIns="0" bIns="0" anchor="ctr">
            <a:spAutoFit/>
          </a:bodyPr>
          <a:lstStyle/>
          <a:p>
            <a:pPr algn="l"/>
            <a:r>
              <a:rPr sz="2100" b="0" i="0">
                <a:solidFill>
                  <a:srgbClr val="198754"/>
                </a:solidFill>
                <a:latin typeface="Geist Mono"/>
                <a:ea typeface="Geist Mono"/>
                <a:cs typeface="Geist Mono"/>
              </a:rPr>
              <a:t>true</a:t>
            </a:r>
          </a:p>
        </p:txBody>
      </p:sp>
      <p:sp>
        <p:nvSpPr>
          <p:cNvPr id="26" name="TextBox 25"/>
          <p:cNvSpPr txBox="1"/>
          <p:nvPr/>
        </p:nvSpPr>
        <p:spPr>
          <a:xfrm>
            <a:off x="5943600" y="6743700"/>
            <a:ext cx="2209800" cy="78105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0.0</a:t>
            </a:r>
          </a:p>
        </p:txBody>
      </p:sp>
      <p:sp>
        <p:nvSpPr>
          <p:cNvPr id="27" name="TextBox 26"/>
          <p:cNvSpPr txBox="1"/>
          <p:nvPr/>
        </p:nvSpPr>
        <p:spPr>
          <a:xfrm>
            <a:off x="8420100" y="6743700"/>
            <a:ext cx="4876800" cy="781050"/>
          </a:xfrm>
          <a:prstGeom prst="rect">
            <a:avLst/>
          </a:prstGeom>
          <a:noFill/>
        </p:spPr>
        <p:txBody>
          <a:bodyPr wrap="square" lIns="0" rIns="0" tIns="0" bIns="0" anchor="ctr">
            <a:spAutoFit/>
          </a:bodyPr>
          <a:lstStyle/>
          <a:p>
            <a:pPr algn="l"/>
            <a:r>
              <a:rPr sz="1950" b="1" i="0">
                <a:solidFill>
                  <a:srgbClr val="D5000E"/>
                </a:solidFill>
                <a:latin typeface="Geist"/>
                <a:ea typeface="Geist"/>
                <a:cs typeface="Geist"/>
              </a:rPr>
              <a:t>Can't drive backward!</a:t>
            </a:r>
          </a:p>
        </p:txBody>
      </p:sp>
      <p:sp>
        <p:nvSpPr>
          <p:cNvPr id="28" name="Rounded Rectangle 27"/>
          <p:cNvSpPr/>
          <p:nvPr/>
        </p:nvSpPr>
        <p:spPr>
          <a:xfrm>
            <a:off x="914400" y="7905750"/>
            <a:ext cx="123825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95400" y="7905750"/>
            <a:ext cx="11811000" cy="9525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Also:  </a:t>
            </a:r>
            <a:r>
              <a:rPr sz="1950" b="0" i="0">
                <a:solidFill>
                  <a:srgbClr val="F0E8E8"/>
                </a:solidFill>
                <a:latin typeface="Geist Mono"/>
                <a:ea typeface="Geist Mono"/>
                <a:cs typeface="Geist Mono"/>
              </a:rPr>
              <a:t>if (...);</a:t>
            </a:r>
            <a:r>
              <a:rPr sz="1950" b="0" i="0">
                <a:solidFill>
                  <a:srgbClr val="F0E8E8"/>
                </a:solidFill>
                <a:latin typeface="Geist"/>
                <a:ea typeface="Geist"/>
                <a:cs typeface="Geist"/>
              </a:rPr>
              <a:t>  A semicolon there ends the if. The block always runs.</a:t>
            </a:r>
          </a:p>
        </p:txBody>
      </p:sp>
      <p:pic>
        <p:nvPicPr>
          <p:cNvPr id="30" name="Picture 29" descr="dozer_wide_left.png"/>
          <p:cNvPicPr>
            <a:picLocks noChangeAspect="1"/>
          </p:cNvPicPr>
          <p:nvPr/>
        </p:nvPicPr>
        <p:blipFill>
          <a:blip r:embed="rId3"/>
          <a:stretch>
            <a:fillRect/>
          </a:stretch>
        </p:blipFill>
        <p:spPr>
          <a:xfrm>
            <a:off x="14287500" y="4953000"/>
            <a:ext cx="2857500" cy="1756344"/>
          </a:xfrm>
          <a:prstGeom prst="rect">
            <a:avLst/>
          </a:prstGeom>
        </p:spPr>
      </p:pic>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06</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Bang-bang</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Driving exactly 2 meters by itself</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Look, no hands! I'll stop at 2 meters. Mostly.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feedback loop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476750" y="3048000"/>
            <a:ext cx="3619500" cy="1428750"/>
          </a:xfrm>
          <a:prstGeom prst="roundRect">
            <a:avLst>
              <a:gd name="adj" fmla="val 933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0" y="3324225"/>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Compare</a:t>
            </a:r>
          </a:p>
        </p:txBody>
      </p:sp>
      <p:sp>
        <p:nvSpPr>
          <p:cNvPr id="7" name="TextBox 6"/>
          <p:cNvSpPr txBox="1"/>
          <p:nvPr/>
        </p:nvSpPr>
        <p:spPr>
          <a:xfrm>
            <a:off x="4610100" y="3838575"/>
            <a:ext cx="3352800" cy="419100"/>
          </a:xfrm>
          <a:prstGeom prst="rect">
            <a:avLst/>
          </a:prstGeom>
          <a:noFill/>
        </p:spPr>
        <p:txBody>
          <a:bodyPr wrap="square" lIns="0" rIns="0" tIns="0" bIns="0" anchor="t">
            <a:spAutoFit/>
          </a:bodyPr>
          <a:lstStyle/>
          <a:p>
            <a:pPr algn="ctr">
              <a:lnSpc>
                <a:spcPct val="120000"/>
              </a:lnSpc>
            </a:pPr>
            <a:r>
              <a:rPr sz="1575" b="0" i="0">
                <a:solidFill>
                  <a:srgbClr val="9A7878"/>
                </a:solidFill>
                <a:latin typeface="Geist"/>
                <a:ea typeface="Geist"/>
                <a:cs typeface="Geist"/>
              </a:rPr>
              <a:t>distance &lt; 2.0 ?</a:t>
            </a:r>
          </a:p>
        </p:txBody>
      </p:sp>
      <p:sp>
        <p:nvSpPr>
          <p:cNvPr id="8" name="Rounded Rectangle 7"/>
          <p:cNvSpPr/>
          <p:nvPr/>
        </p:nvSpPr>
        <p:spPr>
          <a:xfrm>
            <a:off x="9525000" y="3048000"/>
            <a:ext cx="36195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20250" y="3324225"/>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Motors</a:t>
            </a:r>
          </a:p>
        </p:txBody>
      </p:sp>
      <p:sp>
        <p:nvSpPr>
          <p:cNvPr id="10" name="TextBox 9"/>
          <p:cNvSpPr txBox="1"/>
          <p:nvPr/>
        </p:nvSpPr>
        <p:spPr>
          <a:xfrm>
            <a:off x="9658350" y="3838575"/>
            <a:ext cx="3352800" cy="419100"/>
          </a:xfrm>
          <a:prstGeom prst="rect">
            <a:avLst/>
          </a:prstGeom>
          <a:noFill/>
        </p:spPr>
        <p:txBody>
          <a:bodyPr wrap="square" lIns="0" rIns="0" tIns="0" bIns="0" anchor="t">
            <a:spAutoFit/>
          </a:bodyPr>
          <a:lstStyle/>
          <a:p>
            <a:pPr algn="ctr">
              <a:lnSpc>
                <a:spcPct val="120000"/>
              </a:lnSpc>
            </a:pPr>
            <a:r>
              <a:rPr sz="1575" b="0" i="0">
                <a:solidFill>
                  <a:srgbClr val="9A7878"/>
                </a:solidFill>
                <a:latin typeface="Geist"/>
                <a:ea typeface="Geist"/>
                <a:cs typeface="Geist"/>
              </a:rPr>
              <a:t>0.4 or 0.0</a:t>
            </a:r>
          </a:p>
        </p:txBody>
      </p:sp>
      <p:sp>
        <p:nvSpPr>
          <p:cNvPr id="11" name="Rounded Rectangle 10"/>
          <p:cNvSpPr/>
          <p:nvPr/>
        </p:nvSpPr>
        <p:spPr>
          <a:xfrm>
            <a:off x="9525000" y="6096000"/>
            <a:ext cx="36195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620250" y="6372225"/>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Robot moves</a:t>
            </a:r>
          </a:p>
        </p:txBody>
      </p:sp>
      <p:sp>
        <p:nvSpPr>
          <p:cNvPr id="13" name="TextBox 12"/>
          <p:cNvSpPr txBox="1"/>
          <p:nvPr/>
        </p:nvSpPr>
        <p:spPr>
          <a:xfrm>
            <a:off x="9658350" y="6886575"/>
            <a:ext cx="3352800" cy="419100"/>
          </a:xfrm>
          <a:prstGeom prst="rect">
            <a:avLst/>
          </a:prstGeom>
          <a:noFill/>
        </p:spPr>
        <p:txBody>
          <a:bodyPr wrap="square" lIns="0" rIns="0" tIns="0" bIns="0" anchor="t">
            <a:spAutoFit/>
          </a:bodyPr>
          <a:lstStyle/>
          <a:p>
            <a:pPr algn="ctr">
              <a:lnSpc>
                <a:spcPct val="120000"/>
              </a:lnSpc>
            </a:pPr>
            <a:r>
              <a:rPr sz="1575" b="0" i="0">
                <a:solidFill>
                  <a:srgbClr val="9A7878"/>
                </a:solidFill>
                <a:latin typeface="Geist"/>
                <a:ea typeface="Geist"/>
                <a:cs typeface="Geist"/>
              </a:rPr>
              <a:t>wheels roll</a:t>
            </a:r>
          </a:p>
        </p:txBody>
      </p:sp>
      <p:sp>
        <p:nvSpPr>
          <p:cNvPr id="14" name="Rounded Rectangle 13"/>
          <p:cNvSpPr/>
          <p:nvPr/>
        </p:nvSpPr>
        <p:spPr>
          <a:xfrm>
            <a:off x="4476750" y="6096000"/>
            <a:ext cx="36195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2000" y="6372225"/>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Encoders measure</a:t>
            </a:r>
          </a:p>
        </p:txBody>
      </p:sp>
      <p:sp>
        <p:nvSpPr>
          <p:cNvPr id="16" name="TextBox 15"/>
          <p:cNvSpPr txBox="1"/>
          <p:nvPr/>
        </p:nvSpPr>
        <p:spPr>
          <a:xfrm>
            <a:off x="4610100" y="6886575"/>
            <a:ext cx="3352800" cy="419100"/>
          </a:xfrm>
          <a:prstGeom prst="rect">
            <a:avLst/>
          </a:prstGeom>
          <a:noFill/>
        </p:spPr>
        <p:txBody>
          <a:bodyPr wrap="square" lIns="0" rIns="0" tIns="0" bIns="0" anchor="t">
            <a:spAutoFit/>
          </a:bodyPr>
          <a:lstStyle/>
          <a:p>
            <a:pPr algn="ctr">
              <a:lnSpc>
                <a:spcPct val="120000"/>
              </a:lnSpc>
            </a:pPr>
            <a:r>
              <a:rPr sz="1575" b="0" i="0">
                <a:solidFill>
                  <a:srgbClr val="9A7878"/>
                </a:solidFill>
                <a:latin typeface="Geist"/>
                <a:ea typeface="Geist"/>
                <a:cs typeface="Geist"/>
              </a:rPr>
              <a:t>→ distance</a:t>
            </a:r>
          </a:p>
        </p:txBody>
      </p:sp>
      <p:sp>
        <p:nvSpPr>
          <p:cNvPr id="17" name="Rectangle 16"/>
          <p:cNvSpPr/>
          <p:nvPr/>
        </p:nvSpPr>
        <p:spPr>
          <a:xfrm>
            <a:off x="8153400" y="3743325"/>
            <a:ext cx="11772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296400" y="3686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15700" y="4533900"/>
            <a:ext cx="38100" cy="13677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10800000">
            <a:off x="11258550" y="58674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90560" y="6791325"/>
            <a:ext cx="11772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16200000">
            <a:off x="8172450" y="6734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7450" y="4671060"/>
            <a:ext cx="38100" cy="136779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6210300" y="45529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3190875"/>
            <a:ext cx="2667000" cy="1143000"/>
          </a:xfrm>
          <a:prstGeom prst="roundRect">
            <a:avLst>
              <a:gd name="adj" fmla="val 11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3286125"/>
            <a:ext cx="2667000" cy="47625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Target</a:t>
            </a:r>
          </a:p>
        </p:txBody>
      </p:sp>
      <p:sp>
        <p:nvSpPr>
          <p:cNvPr id="27" name="TextBox 26"/>
          <p:cNvSpPr txBox="1"/>
          <p:nvPr/>
        </p:nvSpPr>
        <p:spPr>
          <a:xfrm>
            <a:off x="914400" y="3714750"/>
            <a:ext cx="2667000" cy="571500"/>
          </a:xfrm>
          <a:prstGeom prst="rect">
            <a:avLst/>
          </a:prstGeom>
          <a:noFill/>
        </p:spPr>
        <p:txBody>
          <a:bodyPr wrap="square" lIns="0" rIns="0" tIns="0" bIns="0" anchor="t">
            <a:spAutoFit/>
          </a:bodyPr>
          <a:lstStyle/>
          <a:p>
            <a:pPr algn="ctr"/>
            <a:r>
              <a:rPr sz="3000" b="1" i="0">
                <a:solidFill>
                  <a:srgbClr val="D5000E"/>
                </a:solidFill>
                <a:latin typeface="Geist Mono"/>
                <a:ea typeface="Geist Mono"/>
                <a:cs typeface="Geist Mono"/>
              </a:rPr>
              <a:t>2.0 m</a:t>
            </a:r>
          </a:p>
        </p:txBody>
      </p:sp>
      <p:sp>
        <p:nvSpPr>
          <p:cNvPr id="28" name="Rectangle 27"/>
          <p:cNvSpPr/>
          <p:nvPr/>
        </p:nvSpPr>
        <p:spPr>
          <a:xfrm>
            <a:off x="3638550" y="3743325"/>
            <a:ext cx="64389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sosceles Triangle 28"/>
          <p:cNvSpPr/>
          <p:nvPr/>
        </p:nvSpPr>
        <p:spPr>
          <a:xfrm rot="5400000">
            <a:off x="4248150" y="368617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repeat.png"/>
          <p:cNvPicPr>
            <a:picLocks noChangeAspect="1"/>
          </p:cNvPicPr>
          <p:nvPr/>
        </p:nvPicPr>
        <p:blipFill>
          <a:blip r:embed="rId3"/>
          <a:stretch>
            <a:fillRect/>
          </a:stretch>
        </p:blipFill>
        <p:spPr>
          <a:xfrm>
            <a:off x="7477125" y="4953000"/>
            <a:ext cx="677333" cy="571500"/>
          </a:xfrm>
          <a:prstGeom prst="rect">
            <a:avLst/>
          </a:prstGeom>
        </p:spPr>
      </p:pic>
      <p:sp>
        <p:nvSpPr>
          <p:cNvPr id="31" name="TextBox 30"/>
          <p:cNvSpPr txBox="1"/>
          <p:nvPr/>
        </p:nvSpPr>
        <p:spPr>
          <a:xfrm>
            <a:off x="8191500" y="4953000"/>
            <a:ext cx="2095500" cy="5715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every 20 ms</a:t>
            </a:r>
          </a:p>
        </p:txBody>
      </p:sp>
      <p:sp>
        <p:nvSpPr>
          <p:cNvPr id="32" name="Rounded Rectangle 31"/>
          <p:cNvSpPr/>
          <p:nvPr/>
        </p:nvSpPr>
        <p:spPr>
          <a:xfrm>
            <a:off x="13811250" y="2857500"/>
            <a:ext cx="3562350" cy="4667250"/>
          </a:xfrm>
          <a:prstGeom prst="roundRect">
            <a:avLst>
              <a:gd name="adj" fmla="val 42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thermometer-half.png"/>
          <p:cNvPicPr>
            <a:picLocks noChangeAspect="1"/>
          </p:cNvPicPr>
          <p:nvPr/>
        </p:nvPicPr>
        <p:blipFill>
          <a:blip r:embed="rId4"/>
          <a:stretch>
            <a:fillRect/>
          </a:stretch>
        </p:blipFill>
        <p:spPr>
          <a:xfrm>
            <a:off x="14311312" y="3200400"/>
            <a:ext cx="333375" cy="762000"/>
          </a:xfrm>
          <a:prstGeom prst="rect">
            <a:avLst/>
          </a:prstGeom>
        </p:spPr>
      </p:pic>
      <p:sp>
        <p:nvSpPr>
          <p:cNvPr id="34" name="TextBox 33"/>
          <p:cNvSpPr txBox="1"/>
          <p:nvPr/>
        </p:nvSpPr>
        <p:spPr>
          <a:xfrm>
            <a:off x="14192250" y="4191000"/>
            <a:ext cx="2857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Like a thermostat</a:t>
            </a:r>
          </a:p>
        </p:txBody>
      </p:sp>
      <p:sp>
        <p:nvSpPr>
          <p:cNvPr id="35" name="TextBox 34"/>
          <p:cNvSpPr txBox="1"/>
          <p:nvPr/>
        </p:nvSpPr>
        <p:spPr>
          <a:xfrm>
            <a:off x="14192250" y="4705350"/>
            <a:ext cx="2857500" cy="2667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Too cold? Heater on.
Warm enough? Heater off.
Measure, compare, act. Again and again.</a:t>
            </a:r>
          </a:p>
        </p:txBody>
      </p:sp>
      <p:sp>
        <p:nvSpPr>
          <p:cNvPr id="36" name="Rounded Rectangle 35"/>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arrow-repeat.png"/>
          <p:cNvPicPr>
            <a:picLocks noChangeAspect="1"/>
          </p:cNvPicPr>
          <p:nvPr/>
        </p:nvPicPr>
        <p:blipFill>
          <a:blip r:embed="rId5"/>
          <a:stretch>
            <a:fillRect/>
          </a:stretch>
        </p:blipFill>
        <p:spPr>
          <a:xfrm>
            <a:off x="1333500" y="8115300"/>
            <a:ext cx="688975" cy="533400"/>
          </a:xfrm>
          <a:prstGeom prst="rect">
            <a:avLst/>
          </a:prstGeom>
        </p:spPr>
      </p:pic>
      <p:sp>
        <p:nvSpPr>
          <p:cNvPr id="38" name="TextBox 37"/>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Negative feedback:  </a:t>
            </a:r>
            <a:r>
              <a:rPr sz="2100" b="0" i="0">
                <a:solidFill>
                  <a:srgbClr val="F0E8E8"/>
                </a:solidFill>
                <a:latin typeface="Geist"/>
                <a:ea typeface="Geist"/>
                <a:cs typeface="Geist"/>
              </a:rPr>
              <a:t>every reaction pushes toward the target. That's the good kind.</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if / else: one or the other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843712" y="2843212"/>
            <a:ext cx="28575" cy="7296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sosceles Triangle 5"/>
          <p:cNvSpPr/>
          <p:nvPr/>
        </p:nvSpPr>
        <p:spPr>
          <a:xfrm rot="10800000">
            <a:off x="6781800" y="3543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857500"/>
            <a:ext cx="3810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every 20 ms</a:t>
            </a:r>
          </a:p>
        </p:txBody>
      </p:sp>
      <p:sp>
        <p:nvSpPr>
          <p:cNvPr id="8" name="Diamond 7"/>
          <p:cNvSpPr/>
          <p:nvPr/>
        </p:nvSpPr>
        <p:spPr>
          <a:xfrm>
            <a:off x="3524250" y="3667125"/>
            <a:ext cx="6667500" cy="1619250"/>
          </a:xfrm>
          <a:prstGeom prst="diamond">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91000" y="3667125"/>
            <a:ext cx="5334000" cy="16192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distance &lt; 2.0 ?</a:t>
            </a:r>
          </a:p>
        </p:txBody>
      </p:sp>
      <p:sp>
        <p:nvSpPr>
          <p:cNvPr id="10" name="Rectangle 9"/>
          <p:cNvSpPr/>
          <p:nvPr/>
        </p:nvSpPr>
        <p:spPr>
          <a:xfrm>
            <a:off x="2838450" y="4457700"/>
            <a:ext cx="70485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838450" y="4457700"/>
            <a:ext cx="38100" cy="152019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10800000">
            <a:off x="2781300" y="59436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172700" y="4457700"/>
            <a:ext cx="70485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0839450" y="4457700"/>
            <a:ext cx="38100" cy="15201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sosceles Triangle 14"/>
          <p:cNvSpPr/>
          <p:nvPr/>
        </p:nvSpPr>
        <p:spPr>
          <a:xfrm rot="10800000">
            <a:off x="10782300" y="59436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0" y="4000500"/>
            <a:ext cx="1905000" cy="323850"/>
          </a:xfrm>
          <a:prstGeom prst="rect">
            <a:avLst/>
          </a:prstGeom>
          <a:noFill/>
        </p:spPr>
        <p:txBody>
          <a:bodyPr wrap="square" lIns="0" rIns="0" tIns="0" bIns="0" anchor="t">
            <a:spAutoFit/>
          </a:bodyPr>
          <a:lstStyle/>
          <a:p>
            <a:pPr algn="ctr"/>
            <a:r>
              <a:rPr sz="1950" b="1" i="0">
                <a:solidFill>
                  <a:srgbClr val="D5000E"/>
                </a:solidFill>
                <a:latin typeface="Geist"/>
                <a:ea typeface="Geist"/>
                <a:cs typeface="Geist"/>
              </a:rPr>
              <a:t>true</a:t>
            </a:r>
          </a:p>
        </p:txBody>
      </p:sp>
      <p:sp>
        <p:nvSpPr>
          <p:cNvPr id="17" name="TextBox 16"/>
          <p:cNvSpPr txBox="1"/>
          <p:nvPr/>
        </p:nvSpPr>
        <p:spPr>
          <a:xfrm>
            <a:off x="10477500" y="4000500"/>
            <a:ext cx="1905000" cy="323850"/>
          </a:xfrm>
          <a:prstGeom prst="rect">
            <a:avLst/>
          </a:prstGeom>
          <a:noFill/>
        </p:spPr>
        <p:txBody>
          <a:bodyPr wrap="square" lIns="0" rIns="0" tIns="0" bIns="0" anchor="t">
            <a:spAutoFit/>
          </a:bodyPr>
          <a:lstStyle/>
          <a:p>
            <a:pPr algn="ctr"/>
            <a:r>
              <a:rPr sz="1950" b="1" i="0">
                <a:solidFill>
                  <a:srgbClr val="9A7878"/>
                </a:solidFill>
                <a:latin typeface="Geist"/>
                <a:ea typeface="Geist"/>
                <a:cs typeface="Geist"/>
              </a:rPr>
              <a:t>false: else</a:t>
            </a:r>
          </a:p>
        </p:txBody>
      </p:sp>
      <p:sp>
        <p:nvSpPr>
          <p:cNvPr id="18" name="Rounded Rectangle 17"/>
          <p:cNvSpPr/>
          <p:nvPr/>
        </p:nvSpPr>
        <p:spPr>
          <a:xfrm>
            <a:off x="1143000" y="6191250"/>
            <a:ext cx="3429000" cy="1524000"/>
          </a:xfrm>
          <a:prstGeom prst="roundRect">
            <a:avLst>
              <a:gd name="adj" fmla="val 8750"/>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43000" y="6343650"/>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Drive</a:t>
            </a:r>
          </a:p>
        </p:txBody>
      </p:sp>
      <p:sp>
        <p:nvSpPr>
          <p:cNvPr id="20" name="TextBox 19"/>
          <p:cNvSpPr txBox="1"/>
          <p:nvPr/>
        </p:nvSpPr>
        <p:spPr>
          <a:xfrm>
            <a:off x="1143000" y="6915150"/>
            <a:ext cx="3429000" cy="476250"/>
          </a:xfrm>
          <a:prstGeom prst="rect">
            <a:avLst/>
          </a:prstGeom>
          <a:noFill/>
        </p:spPr>
        <p:txBody>
          <a:bodyPr wrap="square" lIns="0" rIns="0" tIns="0" bIns="0" anchor="t">
            <a:spAutoFit/>
          </a:bodyPr>
          <a:lstStyle/>
          <a:p>
            <a:pPr algn="ctr"/>
            <a:r>
              <a:rPr sz="2100" b="0" i="0">
                <a:solidFill>
                  <a:srgbClr val="E8C27A"/>
                </a:solidFill>
                <a:latin typeface="Geist Mono"/>
                <a:ea typeface="Geist Mono"/>
                <a:cs typeface="Geist Mono"/>
              </a:rPr>
              <a:t>0.4</a:t>
            </a:r>
            <a:r>
              <a:rPr sz="2100" b="0" i="0">
                <a:solidFill>
                  <a:srgbClr val="F0E8E8"/>
                </a:solidFill>
                <a:latin typeface="Geist Mono"/>
                <a:ea typeface="Geist Mono"/>
                <a:cs typeface="Geist Mono"/>
              </a:rPr>
              <a:t>, </a:t>
            </a:r>
            <a:r>
              <a:rPr sz="2100" b="0" i="0">
                <a:solidFill>
                  <a:srgbClr val="E8C27A"/>
                </a:solidFill>
                <a:latin typeface="Geist Mono"/>
                <a:ea typeface="Geist Mono"/>
                <a:cs typeface="Geist Mono"/>
              </a:rPr>
              <a:t>0.4</a:t>
            </a:r>
          </a:p>
        </p:txBody>
      </p:sp>
      <p:sp>
        <p:nvSpPr>
          <p:cNvPr id="21" name="Rounded Rectangle 20"/>
          <p:cNvSpPr/>
          <p:nvPr/>
        </p:nvSpPr>
        <p:spPr>
          <a:xfrm>
            <a:off x="9144000" y="6191250"/>
            <a:ext cx="3429000" cy="1524000"/>
          </a:xfrm>
          <a:prstGeom prst="roundRect">
            <a:avLst>
              <a:gd name="adj" fmla="val 875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0" y="6343650"/>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Stop</a:t>
            </a:r>
          </a:p>
        </p:txBody>
      </p:sp>
      <p:sp>
        <p:nvSpPr>
          <p:cNvPr id="23" name="TextBox 22"/>
          <p:cNvSpPr txBox="1"/>
          <p:nvPr/>
        </p:nvSpPr>
        <p:spPr>
          <a:xfrm>
            <a:off x="9144000" y="6915150"/>
            <a:ext cx="3429000" cy="476250"/>
          </a:xfrm>
          <a:prstGeom prst="rect">
            <a:avLst/>
          </a:prstGeom>
          <a:noFill/>
        </p:spPr>
        <p:txBody>
          <a:bodyPr wrap="square" lIns="0" rIns="0" tIns="0" bIns="0" anchor="t">
            <a:spAutoFit/>
          </a:bodyPr>
          <a:lstStyle/>
          <a:p>
            <a:pPr algn="ctr"/>
            <a:r>
              <a:rPr sz="2100" b="0" i="0">
                <a:solidFill>
                  <a:srgbClr val="E8C27A"/>
                </a:solidFill>
                <a:latin typeface="Geist Mono"/>
                <a:ea typeface="Geist Mono"/>
                <a:cs typeface="Geist Mono"/>
              </a:rPr>
              <a:t>0.0</a:t>
            </a:r>
            <a:r>
              <a:rPr sz="2100" b="0" i="0">
                <a:solidFill>
                  <a:srgbClr val="F0E8E8"/>
                </a:solidFill>
                <a:latin typeface="Geist Mono"/>
                <a:ea typeface="Geist Mono"/>
                <a:cs typeface="Geist Mono"/>
              </a:rPr>
              <a:t>, </a:t>
            </a:r>
            <a:r>
              <a:rPr sz="2100" b="0" i="0">
                <a:solidFill>
                  <a:srgbClr val="E8C27A"/>
                </a:solidFill>
                <a:latin typeface="Geist Mono"/>
                <a:ea typeface="Geist Mono"/>
                <a:cs typeface="Geist Mono"/>
              </a:rPr>
              <a:t>0.0</a:t>
            </a:r>
          </a:p>
        </p:txBody>
      </p:sp>
      <p:sp>
        <p:nvSpPr>
          <p:cNvPr id="24" name="Rounded Rectangle 23"/>
          <p:cNvSpPr/>
          <p:nvPr/>
        </p:nvSpPr>
        <p:spPr>
          <a:xfrm>
            <a:off x="12763500" y="3143250"/>
            <a:ext cx="4610100" cy="2590800"/>
          </a:xfrm>
          <a:prstGeom prst="roundRect">
            <a:avLst>
              <a:gd name="adj" fmla="val 5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144500" y="3524250"/>
            <a:ext cx="40767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(condition) {</a:t>
            </a:r>
          </a:p>
        </p:txBody>
      </p:sp>
      <p:sp>
        <p:nvSpPr>
          <p:cNvPr id="26" name="TextBox 25"/>
          <p:cNvSpPr txBox="1"/>
          <p:nvPr/>
        </p:nvSpPr>
        <p:spPr>
          <a:xfrm>
            <a:off x="13144500" y="3890010"/>
            <a:ext cx="40767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1">
                <a:solidFill>
                  <a:srgbClr val="9A7878"/>
                </a:solidFill>
                <a:latin typeface="Geist Mono"/>
                <a:ea typeface="Geist Mono"/>
                <a:cs typeface="Geist Mono"/>
              </a:rPr>
              <a:t>// when it's true</a:t>
            </a:r>
          </a:p>
        </p:txBody>
      </p:sp>
      <p:sp>
        <p:nvSpPr>
          <p:cNvPr id="27" name="TextBox 26"/>
          <p:cNvSpPr txBox="1"/>
          <p:nvPr/>
        </p:nvSpPr>
        <p:spPr>
          <a:xfrm>
            <a:off x="13144500" y="4255770"/>
            <a:ext cx="40767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else</a:t>
            </a:r>
            <a:r>
              <a:rPr sz="1800" b="0" i="0">
                <a:solidFill>
                  <a:srgbClr val="F0E8E8"/>
                </a:solidFill>
                <a:latin typeface="Geist Mono"/>
                <a:ea typeface="Geist Mono"/>
                <a:cs typeface="Geist Mono"/>
              </a:rPr>
              <a:t> {</a:t>
            </a:r>
          </a:p>
        </p:txBody>
      </p:sp>
      <p:sp>
        <p:nvSpPr>
          <p:cNvPr id="28" name="TextBox 27"/>
          <p:cNvSpPr txBox="1"/>
          <p:nvPr/>
        </p:nvSpPr>
        <p:spPr>
          <a:xfrm>
            <a:off x="13144500" y="4621530"/>
            <a:ext cx="40767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1">
                <a:solidFill>
                  <a:srgbClr val="9A7878"/>
                </a:solidFill>
                <a:latin typeface="Geist Mono"/>
                <a:ea typeface="Geist Mono"/>
                <a:cs typeface="Geist Mono"/>
              </a:rPr>
              <a:t>// when it's false</a:t>
            </a:r>
          </a:p>
        </p:txBody>
      </p:sp>
      <p:sp>
        <p:nvSpPr>
          <p:cNvPr id="29" name="TextBox 28"/>
          <p:cNvSpPr txBox="1"/>
          <p:nvPr/>
        </p:nvSpPr>
        <p:spPr>
          <a:xfrm>
            <a:off x="13144500" y="4987290"/>
            <a:ext cx="40767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30" name="TextBox 29"/>
          <p:cNvSpPr txBox="1"/>
          <p:nvPr/>
        </p:nvSpPr>
        <p:spPr>
          <a:xfrm>
            <a:off x="12763500" y="6096000"/>
            <a:ext cx="46101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Bang-bang:</a:t>
            </a:r>
            <a:r>
              <a:rPr sz="1950" b="0" i="0">
                <a:solidFill>
                  <a:srgbClr val="F0E8E8"/>
                </a:solidFill>
                <a:latin typeface="Geist"/>
                <a:ea typeface="Geist"/>
                <a:cs typeface="Geist"/>
              </a:rPr>
              <a:t> only on or off</a:t>
            </a:r>
          </a:p>
        </p:txBody>
      </p:sp>
      <p:sp>
        <p:nvSpPr>
          <p:cNvPr id="31" name="TextBox 30"/>
          <p:cNvSpPr txBox="1"/>
          <p:nvPr/>
        </p:nvSpPr>
        <p:spPr>
          <a:xfrm>
            <a:off x="12763500" y="6627495"/>
            <a:ext cx="46101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Like a light switch</a:t>
            </a:r>
          </a:p>
        </p:txBody>
      </p:sp>
      <p:pic>
        <p:nvPicPr>
          <p:cNvPr id="32" name="Picture 31" descr="code-slash.png"/>
          <p:cNvPicPr>
            <a:picLocks noChangeAspect="1"/>
          </p:cNvPicPr>
          <p:nvPr/>
        </p:nvPicPr>
        <p:blipFill>
          <a:blip r:embed="rId3"/>
          <a:stretch>
            <a:fillRect/>
          </a:stretch>
        </p:blipFill>
        <p:spPr>
          <a:xfrm>
            <a:off x="12763500" y="7467600"/>
            <a:ext cx="224518" cy="209550"/>
          </a:xfrm>
          <a:prstGeom prst="rect">
            <a:avLst/>
          </a:prstGeom>
        </p:spPr>
      </p:pic>
      <p:sp>
        <p:nvSpPr>
          <p:cNvPr id="33" name="TextBox 32"/>
          <p:cNvSpPr txBox="1"/>
          <p:nvPr/>
        </p:nvSpPr>
        <p:spPr>
          <a:xfrm>
            <a:off x="13144500" y="7429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34" name="Rounded Rectangle 33"/>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signpost-split.png"/>
          <p:cNvPicPr>
            <a:picLocks noChangeAspect="1"/>
          </p:cNvPicPr>
          <p:nvPr/>
        </p:nvPicPr>
        <p:blipFill>
          <a:blip r:embed="rId4"/>
          <a:stretch>
            <a:fillRect/>
          </a:stretch>
        </p:blipFill>
        <p:spPr>
          <a:xfrm>
            <a:off x="1333500" y="8258175"/>
            <a:ext cx="541934" cy="533400"/>
          </a:xfrm>
          <a:prstGeom prst="rect">
            <a:avLst/>
          </a:prstGeom>
        </p:spPr>
      </p:pic>
      <p:sp>
        <p:nvSpPr>
          <p:cNvPr id="36" name="TextBox 35"/>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Each loop:  </a:t>
            </a:r>
            <a:r>
              <a:rPr sz="2100" b="0" i="0">
                <a:solidFill>
                  <a:srgbClr val="F0E8E8"/>
                </a:solidFill>
                <a:latin typeface="Geist"/>
                <a:ea typeface="Geist"/>
                <a:cs typeface="Geist"/>
              </a:rPr>
              <a:t>exactly one of the two blocks runs. Never both, never neither.</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Bang-bang in code: drive 2 meters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477500" cy="5529262"/>
          </a:xfrm>
          <a:prstGeom prst="roundRect">
            <a:avLst>
              <a:gd name="adj" fmla="val 275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691188"/>
            <a:ext cx="10439400" cy="43338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691188"/>
            <a:ext cx="57150" cy="43338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124575"/>
            <a:ext cx="10439400" cy="43338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124575"/>
            <a:ext cx="57150" cy="43338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557962"/>
            <a:ext cx="10439400" cy="43338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557962"/>
            <a:ext cx="57150" cy="43338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991350"/>
            <a:ext cx="10439400" cy="43338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6991350"/>
            <a:ext cx="57150" cy="43338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524250"/>
            <a:ext cx="9944100" cy="433388"/>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autonomousInit() {</a:t>
            </a:r>
          </a:p>
        </p:txBody>
      </p:sp>
      <p:sp>
        <p:nvSpPr>
          <p:cNvPr id="16" name="TextBox 15"/>
          <p:cNvSpPr txBox="1"/>
          <p:nvPr/>
        </p:nvSpPr>
        <p:spPr>
          <a:xfrm>
            <a:off x="1295400" y="3957638"/>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drive_.resetEncoders();</a:t>
            </a:r>
          </a:p>
        </p:txBody>
      </p:sp>
      <p:sp>
        <p:nvSpPr>
          <p:cNvPr id="17" name="TextBox 16"/>
          <p:cNvSpPr txBox="1"/>
          <p:nvPr/>
        </p:nvSpPr>
        <p:spPr>
          <a:xfrm>
            <a:off x="1295400" y="4391025"/>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TextBox 17"/>
          <p:cNvSpPr txBox="1"/>
          <p:nvPr/>
        </p:nvSpPr>
        <p:spPr>
          <a:xfrm>
            <a:off x="1295400" y="4824412"/>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19" name="TextBox 18"/>
          <p:cNvSpPr txBox="1"/>
          <p:nvPr/>
        </p:nvSpPr>
        <p:spPr>
          <a:xfrm>
            <a:off x="1295400" y="5257800"/>
            <a:ext cx="9944100" cy="433388"/>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autonomousPeriodic() {</a:t>
            </a:r>
          </a:p>
        </p:txBody>
      </p:sp>
      <p:sp>
        <p:nvSpPr>
          <p:cNvPr id="20" name="TextBox 19"/>
          <p:cNvSpPr txBox="1"/>
          <p:nvPr/>
        </p:nvSpPr>
        <p:spPr>
          <a:xfrm>
            <a:off x="1295400" y="5691188"/>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if</a:t>
            </a:r>
            <a:r>
              <a:rPr sz="1950" b="0" i="0">
                <a:solidFill>
                  <a:srgbClr val="F0E8E8"/>
                </a:solidFill>
                <a:latin typeface="Geist Mono"/>
                <a:ea typeface="Geist Mono"/>
                <a:cs typeface="Geist Mono"/>
              </a:rPr>
              <a:t> (distance_meters_ &lt; </a:t>
            </a:r>
            <a:r>
              <a:rPr sz="1950" b="0" i="0">
                <a:solidFill>
                  <a:srgbClr val="E8C27A"/>
                </a:solidFill>
                <a:latin typeface="Geist Mono"/>
                <a:ea typeface="Geist Mono"/>
                <a:cs typeface="Geist Mono"/>
              </a:rPr>
              <a:t>2.0</a:t>
            </a:r>
            <a:r>
              <a:rPr sz="1950" b="0" i="0">
                <a:solidFill>
                  <a:srgbClr val="F0E8E8"/>
                </a:solidFill>
                <a:latin typeface="Geist Mono"/>
                <a:ea typeface="Geist Mono"/>
                <a:cs typeface="Geist Mono"/>
              </a:rPr>
              <a:t>) {</a:t>
            </a:r>
          </a:p>
        </p:txBody>
      </p:sp>
      <p:sp>
        <p:nvSpPr>
          <p:cNvPr id="21" name="TextBox 20"/>
          <p:cNvSpPr txBox="1"/>
          <p:nvPr/>
        </p:nvSpPr>
        <p:spPr>
          <a:xfrm>
            <a:off x="1295400" y="6124575"/>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drive_.setDutyCycles(</a:t>
            </a:r>
            <a:r>
              <a:rPr sz="1950" b="0" i="0">
                <a:solidFill>
                  <a:srgbClr val="E8C27A"/>
                </a:solidFill>
                <a:latin typeface="Geist Mono"/>
                <a:ea typeface="Geist Mono"/>
                <a:cs typeface="Geist Mono"/>
              </a:rPr>
              <a:t>0.4</a:t>
            </a:r>
            <a:r>
              <a:rPr sz="1950" b="0" i="0">
                <a:solidFill>
                  <a:srgbClr val="F0E8E8"/>
                </a:solidFill>
                <a:latin typeface="Geist Mono"/>
                <a:ea typeface="Geist Mono"/>
                <a:cs typeface="Geist Mono"/>
              </a:rPr>
              <a:t>, </a:t>
            </a:r>
            <a:r>
              <a:rPr sz="1950" b="0" i="0">
                <a:solidFill>
                  <a:srgbClr val="E8C27A"/>
                </a:solidFill>
                <a:latin typeface="Geist Mono"/>
                <a:ea typeface="Geist Mono"/>
                <a:cs typeface="Geist Mono"/>
              </a:rPr>
              <a:t>0.4</a:t>
            </a:r>
            <a:r>
              <a:rPr sz="1950" b="0" i="0">
                <a:solidFill>
                  <a:srgbClr val="F0E8E8"/>
                </a:solidFill>
                <a:latin typeface="Geist Mono"/>
                <a:ea typeface="Geist Mono"/>
                <a:cs typeface="Geist Mono"/>
              </a:rPr>
              <a:t>);</a:t>
            </a:r>
          </a:p>
        </p:txBody>
      </p:sp>
      <p:sp>
        <p:nvSpPr>
          <p:cNvPr id="22" name="TextBox 21"/>
          <p:cNvSpPr txBox="1"/>
          <p:nvPr/>
        </p:nvSpPr>
        <p:spPr>
          <a:xfrm>
            <a:off x="1295400" y="6557962"/>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a:t>
            </a:r>
            <a:r>
              <a:rPr sz="1950" b="0" i="0">
                <a:solidFill>
                  <a:srgbClr val="E0785F"/>
                </a:solidFill>
                <a:latin typeface="Geist Mono"/>
                <a:ea typeface="Geist Mono"/>
                <a:cs typeface="Geist Mono"/>
              </a:rPr>
              <a:t>else</a:t>
            </a:r>
            <a:r>
              <a:rPr sz="1950" b="0" i="0">
                <a:solidFill>
                  <a:srgbClr val="F0E8E8"/>
                </a:solidFill>
                <a:latin typeface="Geist Mono"/>
                <a:ea typeface="Geist Mono"/>
                <a:cs typeface="Geist Mono"/>
              </a:rPr>
              <a:t> {</a:t>
            </a:r>
          </a:p>
        </p:txBody>
      </p:sp>
      <p:sp>
        <p:nvSpPr>
          <p:cNvPr id="23" name="TextBox 22"/>
          <p:cNvSpPr txBox="1"/>
          <p:nvPr/>
        </p:nvSpPr>
        <p:spPr>
          <a:xfrm>
            <a:off x="1295400" y="6991350"/>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drive_.setDutyCycles(</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 </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a:t>
            </a:r>
          </a:p>
        </p:txBody>
      </p:sp>
      <p:sp>
        <p:nvSpPr>
          <p:cNvPr id="24" name="TextBox 23"/>
          <p:cNvSpPr txBox="1"/>
          <p:nvPr/>
        </p:nvSpPr>
        <p:spPr>
          <a:xfrm>
            <a:off x="1295400" y="7424738"/>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5" name="TextBox 24"/>
          <p:cNvSpPr txBox="1"/>
          <p:nvPr/>
        </p:nvSpPr>
        <p:spPr>
          <a:xfrm>
            <a:off x="1295400" y="7858125"/>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6" name="Oval 25"/>
          <p:cNvSpPr/>
          <p:nvPr/>
        </p:nvSpPr>
        <p:spPr>
          <a:xfrm>
            <a:off x="10782300" y="398383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2300" y="398383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Oval 27"/>
          <p:cNvSpPr/>
          <p:nvPr/>
        </p:nvSpPr>
        <p:spPr>
          <a:xfrm>
            <a:off x="10782300" y="571738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2300" y="57173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Oval 29"/>
          <p:cNvSpPr/>
          <p:nvPr/>
        </p:nvSpPr>
        <p:spPr>
          <a:xfrm>
            <a:off x="10782300" y="615076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2300" y="615076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2" name="Oval 31"/>
          <p:cNvSpPr/>
          <p:nvPr/>
        </p:nvSpPr>
        <p:spPr>
          <a:xfrm>
            <a:off x="10782300" y="701754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2300" y="701754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Oval 33"/>
          <p:cNvSpPr/>
          <p:nvPr/>
        </p:nvSpPr>
        <p:spPr>
          <a:xfrm>
            <a:off x="120967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TextBox 35"/>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Reset</a:t>
            </a:r>
          </a:p>
        </p:txBody>
      </p:sp>
      <p:sp>
        <p:nvSpPr>
          <p:cNvPr id="37" name="TextBox 36"/>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Once, when Auto starts: count from 0</a:t>
            </a:r>
          </a:p>
        </p:txBody>
      </p:sp>
      <p:sp>
        <p:nvSpPr>
          <p:cNvPr id="38" name="Oval 37"/>
          <p:cNvSpPr/>
          <p:nvPr/>
        </p:nvSpPr>
        <p:spPr>
          <a:xfrm>
            <a:off x="120967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0" name="TextBox 39"/>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Compare</a:t>
            </a:r>
          </a:p>
        </p:txBody>
      </p:sp>
      <p:sp>
        <p:nvSpPr>
          <p:cNvPr id="41" name="TextBox 40"/>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Measured distance vs the 2.0 m target</a:t>
            </a:r>
          </a:p>
        </p:txBody>
      </p:sp>
      <p:sp>
        <p:nvSpPr>
          <p:cNvPr id="42" name="Oval 41"/>
          <p:cNvSpPr/>
          <p:nvPr/>
        </p:nvSpPr>
        <p:spPr>
          <a:xfrm>
            <a:off x="120967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4" name="TextBox 43"/>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 there yet</a:t>
            </a:r>
          </a:p>
        </p:txBody>
      </p:sp>
      <p:sp>
        <p:nvSpPr>
          <p:cNvPr id="45" name="TextBox 44"/>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Drive at 0.4</a:t>
            </a:r>
          </a:p>
        </p:txBody>
      </p:sp>
      <p:sp>
        <p:nvSpPr>
          <p:cNvPr id="46" name="Oval 45"/>
          <p:cNvSpPr/>
          <p:nvPr/>
        </p:nvSpPr>
        <p:spPr>
          <a:xfrm>
            <a:off x="120967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8" name="TextBox 47"/>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Arrived</a:t>
            </a:r>
          </a:p>
        </p:txBody>
      </p:sp>
      <p:sp>
        <p:nvSpPr>
          <p:cNvPr id="49" name="TextBox 48"/>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Stop</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It stops past 2.0 meters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6848475"/>
            <a:ext cx="897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00150" y="6705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238375" y="5705475"/>
            <a:ext cx="897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0150" y="5562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0" name="Rectangle 9"/>
          <p:cNvSpPr/>
          <p:nvPr/>
        </p:nvSpPr>
        <p:spPr>
          <a:xfrm>
            <a:off x="2238375" y="4562475"/>
            <a:ext cx="897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4419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2" name="Rectangle 11"/>
          <p:cNvSpPr/>
          <p:nvPr/>
        </p:nvSpPr>
        <p:spPr>
          <a:xfrm>
            <a:off x="2238375" y="3419475"/>
            <a:ext cx="897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00150" y="3276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4" name="Rectangle 13"/>
          <p:cNvSpPr/>
          <p:nvPr/>
        </p:nvSpPr>
        <p:spPr>
          <a:xfrm>
            <a:off x="2238375"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0.0</a:t>
            </a:r>
          </a:p>
        </p:txBody>
      </p:sp>
      <p:sp>
        <p:nvSpPr>
          <p:cNvPr id="16" name="Rectangle 15"/>
          <p:cNvSpPr/>
          <p:nvPr/>
        </p:nvSpPr>
        <p:spPr>
          <a:xfrm>
            <a:off x="4476750"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914775"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18" name="Rectangle 17"/>
          <p:cNvSpPr/>
          <p:nvPr/>
        </p:nvSpPr>
        <p:spPr>
          <a:xfrm>
            <a:off x="6715125"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53150"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a:t>
            </a:r>
          </a:p>
        </p:txBody>
      </p:sp>
      <p:sp>
        <p:nvSpPr>
          <p:cNvPr id="20" name="Rectangle 19"/>
          <p:cNvSpPr/>
          <p:nvPr/>
        </p:nvSpPr>
        <p:spPr>
          <a:xfrm>
            <a:off x="8953500"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91525"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22" name="Rectangle 21"/>
          <p:cNvSpPr/>
          <p:nvPr/>
        </p:nvSpPr>
        <p:spPr>
          <a:xfrm>
            <a:off x="11191875"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29900"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2.0</a:t>
            </a:r>
          </a:p>
        </p:txBody>
      </p:sp>
      <p:sp>
        <p:nvSpPr>
          <p:cNvPr id="24" name="Rectangle 23"/>
          <p:cNvSpPr/>
          <p:nvPr/>
        </p:nvSpPr>
        <p:spPr>
          <a:xfrm>
            <a:off x="2233612" y="3414712"/>
            <a:ext cx="28575" cy="3457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233612" y="6843712"/>
            <a:ext cx="8982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2952750"/>
            <a:ext cx="3810000" cy="28575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Robot/Distance (m)</a:t>
            </a:r>
          </a:p>
        </p:txBody>
      </p:sp>
      <p:sp>
        <p:nvSpPr>
          <p:cNvPr id="27" name="Rectangle 26"/>
          <p:cNvSpPr/>
          <p:nvPr/>
        </p:nvSpPr>
        <p:spPr>
          <a:xfrm>
            <a:off x="2233612" y="4557712"/>
            <a:ext cx="8982075" cy="28575"/>
          </a:xfrm>
          <a:prstGeom prst="rect">
            <a:avLst/>
          </a:prstGeom>
          <a:solidFill>
            <a:srgbClr val="D5000E"/>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324100" y="4229100"/>
            <a:ext cx="1905000" cy="285750"/>
          </a:xfrm>
          <a:prstGeom prst="rect">
            <a:avLst/>
          </a:prstGeom>
          <a:noFill/>
        </p:spPr>
        <p:txBody>
          <a:bodyPr wrap="square" lIns="0" rIns="0" tIns="0" bIns="0" anchor="t">
            <a:spAutoFit/>
          </a:bodyPr>
          <a:lstStyle/>
          <a:p>
            <a:pPr algn="l"/>
            <a:r>
              <a:rPr sz="1500" b="1" i="0">
                <a:solidFill>
                  <a:srgbClr val="D5000E"/>
                </a:solidFill>
                <a:latin typeface="Geist"/>
                <a:ea typeface="Geist"/>
                <a:cs typeface="Geist"/>
              </a:rPr>
              <a:t>target 2.0</a:t>
            </a:r>
          </a:p>
        </p:txBody>
      </p:sp>
      <p:cxnSp>
        <p:nvCxnSpPr>
          <p:cNvPr id="29" name="Connector 28"/>
          <p:cNvCxnSpPr/>
          <p:nvPr/>
        </p:nvCxnSpPr>
        <p:spPr>
          <a:xfrm flipV="1">
            <a:off x="2247900" y="6848055"/>
            <a:ext cx="179070" cy="994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426970" y="6824014"/>
            <a:ext cx="179070" cy="2404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606040" y="6788000"/>
            <a:ext cx="179070" cy="3601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785110" y="6741818"/>
            <a:ext cx="179070" cy="4618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64180" y="6687000"/>
            <a:ext cx="179070" cy="54818"/>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143250" y="6624846"/>
            <a:ext cx="179070" cy="6215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322320" y="6556461"/>
            <a:ext cx="179070" cy="6838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01390" y="6482785"/>
            <a:ext cx="179070" cy="7367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80460" y="6404614"/>
            <a:ext cx="179070" cy="7817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859530" y="6322625"/>
            <a:ext cx="179070" cy="8198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038600" y="6237395"/>
            <a:ext cx="179070" cy="8523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217670" y="6149410"/>
            <a:ext cx="179070" cy="8798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396740" y="6059087"/>
            <a:ext cx="179070" cy="9032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575810" y="5966777"/>
            <a:ext cx="179070" cy="9231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754880" y="5872779"/>
            <a:ext cx="179070" cy="93998"/>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933950" y="5777349"/>
            <a:ext cx="179070" cy="9543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113020" y="5680701"/>
            <a:ext cx="179070" cy="96648"/>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292090" y="5583019"/>
            <a:ext cx="179070" cy="9768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471160" y="5484460"/>
            <a:ext cx="179070" cy="9855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650230" y="5385154"/>
            <a:ext cx="179070" cy="9930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829300" y="5285215"/>
            <a:ext cx="179070" cy="9993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008370" y="5184738"/>
            <a:ext cx="179070" cy="10047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187440" y="5083805"/>
            <a:ext cx="179070" cy="10093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366510" y="4982483"/>
            <a:ext cx="179070" cy="10132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545580" y="4880831"/>
            <a:ext cx="179070" cy="10165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724650" y="4778899"/>
            <a:ext cx="179070" cy="10193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903720" y="4676730"/>
            <a:ext cx="179070" cy="10216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7082790" y="4574359"/>
            <a:ext cx="179070" cy="10237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261860" y="4479309"/>
            <a:ext cx="179070" cy="9505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440930" y="4401890"/>
            <a:ext cx="179070" cy="7741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620000" y="4338832"/>
            <a:ext cx="179070" cy="63058"/>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799070" y="4287471"/>
            <a:ext cx="179070" cy="5136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978140" y="4245637"/>
            <a:ext cx="179070" cy="418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157210" y="4211563"/>
            <a:ext cx="179070" cy="3407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336280" y="4183810"/>
            <a:ext cx="179070" cy="2775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515350" y="4161205"/>
            <a:ext cx="179070" cy="2260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694420" y="4142792"/>
            <a:ext cx="179070" cy="1841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873490" y="4127795"/>
            <a:ext cx="179070" cy="149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052560" y="4115580"/>
            <a:ext cx="179070" cy="1221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231630" y="4105631"/>
            <a:ext cx="179070" cy="994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410700" y="4097527"/>
            <a:ext cx="179070" cy="810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589770" y="4090927"/>
            <a:ext cx="179070" cy="660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768840" y="4085551"/>
            <a:ext cx="179070" cy="537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9919335" y="4056976"/>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0098405" y="4052597"/>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0277475" y="4049030"/>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0456545" y="4046125"/>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0635615" y="4043759"/>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0814685" y="4041832"/>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0993755" y="4040262"/>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1172825" y="4038983"/>
            <a:ext cx="571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7297103" y="3419475"/>
            <a:ext cx="19050" cy="3448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7192328" y="445770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233612" y="8272462"/>
            <a:ext cx="8982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009650" y="7705725"/>
            <a:ext cx="1143000" cy="30480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motors</a:t>
            </a:r>
          </a:p>
        </p:txBody>
      </p:sp>
      <p:sp>
        <p:nvSpPr>
          <p:cNvPr id="84" name="Rectangle 83"/>
          <p:cNvSpPr/>
          <p:nvPr/>
        </p:nvSpPr>
        <p:spPr>
          <a:xfrm>
            <a:off x="2219325" y="7496175"/>
            <a:ext cx="5115878"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278053" y="7496175"/>
            <a:ext cx="57150" cy="819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278053" y="8258175"/>
            <a:ext cx="3951922"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2343150" y="7620000"/>
            <a:ext cx="1905000" cy="285750"/>
          </a:xfrm>
          <a:prstGeom prst="rect">
            <a:avLst/>
          </a:prstGeom>
          <a:noFill/>
        </p:spPr>
        <p:txBody>
          <a:bodyPr wrap="square" lIns="0" rIns="0" tIns="0" bIns="0" anchor="t">
            <a:spAutoFit/>
          </a:bodyPr>
          <a:lstStyle/>
          <a:p>
            <a:pPr algn="l"/>
            <a:r>
              <a:rPr sz="1500" b="1" i="0">
                <a:solidFill>
                  <a:srgbClr val="E8C27A"/>
                </a:solidFill>
                <a:latin typeface="Geist Mono"/>
                <a:ea typeface="Geist Mono"/>
                <a:cs typeface="Geist Mono"/>
              </a:rPr>
              <a:t>0.4</a:t>
            </a:r>
          </a:p>
        </p:txBody>
      </p:sp>
      <p:sp>
        <p:nvSpPr>
          <p:cNvPr id="88" name="TextBox 87"/>
          <p:cNvSpPr txBox="1"/>
          <p:nvPr/>
        </p:nvSpPr>
        <p:spPr>
          <a:xfrm>
            <a:off x="7401878" y="7943850"/>
            <a:ext cx="1905000" cy="285750"/>
          </a:xfrm>
          <a:prstGeom prst="rect">
            <a:avLst/>
          </a:prstGeom>
          <a:noFill/>
        </p:spPr>
        <p:txBody>
          <a:bodyPr wrap="square" lIns="0" rIns="0" tIns="0" bIns="0" anchor="t">
            <a:spAutoFit/>
          </a:bodyPr>
          <a:lstStyle/>
          <a:p>
            <a:pPr algn="l"/>
            <a:r>
              <a:rPr sz="1500" b="1" i="0">
                <a:solidFill>
                  <a:srgbClr val="E8C27A"/>
                </a:solidFill>
                <a:latin typeface="Geist Mono"/>
                <a:ea typeface="Geist Mono"/>
                <a:cs typeface="Geist Mono"/>
              </a:rPr>
              <a:t>0.0</a:t>
            </a:r>
          </a:p>
        </p:txBody>
      </p:sp>
      <p:sp>
        <p:nvSpPr>
          <p:cNvPr id="89" name="TextBox 88"/>
          <p:cNvSpPr txBox="1"/>
          <p:nvPr/>
        </p:nvSpPr>
        <p:spPr>
          <a:xfrm>
            <a:off x="2247900" y="8420100"/>
            <a:ext cx="895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time (s)</a:t>
            </a:r>
          </a:p>
        </p:txBody>
      </p:sp>
      <p:sp>
        <p:nvSpPr>
          <p:cNvPr id="90" name="Oval 89"/>
          <p:cNvSpPr/>
          <p:nvPr/>
        </p:nvSpPr>
        <p:spPr>
          <a:xfrm>
            <a:off x="3605212" y="5619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605212" y="5619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2" name="Oval 91"/>
          <p:cNvSpPr/>
          <p:nvPr/>
        </p:nvSpPr>
        <p:spPr>
          <a:xfrm>
            <a:off x="6354128" y="38481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354128" y="38481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94" name="Oval 93"/>
          <p:cNvSpPr/>
          <p:nvPr/>
        </p:nvSpPr>
        <p:spPr>
          <a:xfrm>
            <a:off x="9872662" y="3457958"/>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72662" y="3457958"/>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96" name="Oval 95"/>
          <p:cNvSpPr/>
          <p:nvPr/>
        </p:nvSpPr>
        <p:spPr>
          <a:xfrm>
            <a:off x="12287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8" name="TextBox 97"/>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Motors on</a:t>
            </a:r>
          </a:p>
        </p:txBody>
      </p:sp>
      <p:sp>
        <p:nvSpPr>
          <p:cNvPr id="99" name="TextBox 98"/>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0.4 while the distance is under 2.0</a:t>
            </a:r>
          </a:p>
        </p:txBody>
      </p:sp>
      <p:sp>
        <p:nvSpPr>
          <p:cNvPr id="100" name="Oval 99"/>
          <p:cNvSpPr/>
          <p:nvPr/>
        </p:nvSpPr>
        <p:spPr>
          <a:xfrm>
            <a:off x="12287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02" name="TextBox 101"/>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Crosses 2.0</a:t>
            </a:r>
          </a:p>
        </p:txBody>
      </p:sp>
      <p:sp>
        <p:nvSpPr>
          <p:cNvPr id="103" name="TextBox 102"/>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else runs: motors off</a:t>
            </a:r>
          </a:p>
        </p:txBody>
      </p:sp>
      <p:sp>
        <p:nvSpPr>
          <p:cNvPr id="104" name="Oval 103"/>
          <p:cNvSpPr/>
          <p:nvPr/>
        </p:nvSpPr>
        <p:spPr>
          <a:xfrm>
            <a:off x="12287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06" name="TextBox 105"/>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Coasts</a:t>
            </a:r>
          </a:p>
        </p:txBody>
      </p:sp>
      <p:sp>
        <p:nvSpPr>
          <p:cNvPr id="107" name="TextBox 106"/>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Keeps rolling to about 2.4</a:t>
            </a:r>
          </a:p>
        </p:txBody>
      </p:sp>
      <p:sp>
        <p:nvSpPr>
          <p:cNvPr id="108" name="Rounded Rectangle 107"/>
          <p:cNvSpPr/>
          <p:nvPr/>
        </p:nvSpPr>
        <p:spPr>
          <a:xfrm>
            <a:off x="12287250" y="7239000"/>
            <a:ext cx="5086350" cy="1809750"/>
          </a:xfrm>
          <a:prstGeom prst="roundRect">
            <a:avLst>
              <a:gd name="adj" fmla="val 842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12573000" y="7391400"/>
            <a:ext cx="4572000" cy="1524000"/>
          </a:xfrm>
          <a:prstGeom prst="rect">
            <a:avLst/>
          </a:prstGeom>
          <a:noFill/>
        </p:spPr>
        <p:txBody>
          <a:bodyPr wrap="square" lIns="0" rIns="0" tIns="0" bIns="0" anchor="ctr">
            <a:spAutoFit/>
          </a:bodyPr>
          <a:lstStyle/>
          <a:p>
            <a:pPr algn="l">
              <a:lnSpc>
                <a:spcPct val="130000"/>
              </a:lnSpc>
            </a:pPr>
            <a:r>
              <a:rPr sz="1725" b="1" i="0">
                <a:solidFill>
                  <a:srgbClr val="F0E8E8"/>
                </a:solidFill>
                <a:latin typeface="Geist"/>
                <a:ea typeface="Geist"/>
                <a:cs typeface="Geist"/>
              </a:rPr>
              <a:t>Think about it: </a:t>
            </a:r>
            <a:r>
              <a:rPr sz="1725" b="0" i="0">
                <a:solidFill>
                  <a:srgbClr val="F0E8E8"/>
                </a:solidFill>
                <a:latin typeface="Geist"/>
                <a:ea typeface="Geist"/>
                <a:cs typeface="Geist"/>
              </a:rPr>
              <a:t>at 0.2 it overshoots less but takes longer. PID, later, slows down near the target.</a:t>
            </a:r>
          </a:p>
        </p:txBody>
      </p:sp>
      <p:sp>
        <p:nvSpPr>
          <p:cNvPr id="110" name="TextBox 10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1" name="TextBox 11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reset at the start of Auto</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05150"/>
            <a:ext cx="72390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Without a reset</a:t>
            </a:r>
          </a:p>
        </p:txBody>
      </p:sp>
      <p:sp>
        <p:nvSpPr>
          <p:cNvPr id="7" name="Rectangle 6"/>
          <p:cNvSpPr/>
          <p:nvPr/>
        </p:nvSpPr>
        <p:spPr>
          <a:xfrm>
            <a:off x="2333625" y="68484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6705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9" name="Rectangle 8"/>
          <p:cNvSpPr/>
          <p:nvPr/>
        </p:nvSpPr>
        <p:spPr>
          <a:xfrm>
            <a:off x="2333625" y="58959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57531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1" name="Rectangle 10"/>
          <p:cNvSpPr/>
          <p:nvPr/>
        </p:nvSpPr>
        <p:spPr>
          <a:xfrm>
            <a:off x="2333625" y="49434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800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3" name="Rectangle 12"/>
          <p:cNvSpPr/>
          <p:nvPr/>
        </p:nvSpPr>
        <p:spPr>
          <a:xfrm>
            <a:off x="2333625" y="39909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38481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5" name="Rectangle 14"/>
          <p:cNvSpPr/>
          <p:nvPr/>
        </p:nvSpPr>
        <p:spPr>
          <a:xfrm>
            <a:off x="2328862" y="3986212"/>
            <a:ext cx="28575" cy="2886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328862" y="6843712"/>
            <a:ext cx="6124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333625" y="4943475"/>
            <a:ext cx="6115050" cy="19050"/>
          </a:xfrm>
          <a:prstGeom prst="rect">
            <a:avLst/>
          </a:prstGeom>
          <a:solidFill>
            <a:srgbClr val="D5000E"/>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2343150" y="6991350"/>
            <a:ext cx="2438400" cy="381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343150" y="6991350"/>
            <a:ext cx="2438400" cy="381000"/>
          </a:xfrm>
          <a:prstGeom prst="rect">
            <a:avLst/>
          </a:prstGeom>
          <a:noFill/>
        </p:spPr>
        <p:txBody>
          <a:bodyPr wrap="square" lIns="0" rIns="0" tIns="0" bIns="0" anchor="ctr">
            <a:spAutoFit/>
          </a:bodyPr>
          <a:lstStyle/>
          <a:p>
            <a:pPr algn="ctr"/>
            <a:r>
              <a:rPr sz="1500" b="0" i="0">
                <a:solidFill>
                  <a:srgbClr val="F0E8E8"/>
                </a:solidFill>
                <a:latin typeface="Geist"/>
                <a:ea typeface="Geist"/>
                <a:cs typeface="Geist"/>
              </a:rPr>
              <a:t>Auto run 1</a:t>
            </a:r>
          </a:p>
        </p:txBody>
      </p:sp>
      <p:sp>
        <p:nvSpPr>
          <p:cNvPr id="20" name="Rounded Rectangle 19"/>
          <p:cNvSpPr/>
          <p:nvPr/>
        </p:nvSpPr>
        <p:spPr>
          <a:xfrm>
            <a:off x="6000750" y="6991350"/>
            <a:ext cx="2438400" cy="381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00750" y="6991350"/>
            <a:ext cx="2438400" cy="381000"/>
          </a:xfrm>
          <a:prstGeom prst="rect">
            <a:avLst/>
          </a:prstGeom>
          <a:noFill/>
        </p:spPr>
        <p:txBody>
          <a:bodyPr wrap="square" lIns="0" rIns="0" tIns="0" bIns="0" anchor="ctr">
            <a:spAutoFit/>
          </a:bodyPr>
          <a:lstStyle/>
          <a:p>
            <a:pPr algn="ctr"/>
            <a:r>
              <a:rPr sz="1500" b="0" i="0">
                <a:solidFill>
                  <a:srgbClr val="F0E8E8"/>
                </a:solidFill>
                <a:latin typeface="Geist"/>
                <a:ea typeface="Geist"/>
                <a:cs typeface="Geist"/>
              </a:rPr>
              <a:t>Auto run 2</a:t>
            </a:r>
          </a:p>
        </p:txBody>
      </p:sp>
      <p:sp>
        <p:nvSpPr>
          <p:cNvPr id="22" name="TextBox 21"/>
          <p:cNvSpPr txBox="1"/>
          <p:nvPr/>
        </p:nvSpPr>
        <p:spPr>
          <a:xfrm>
            <a:off x="4781550" y="6991350"/>
            <a:ext cx="1219200" cy="381000"/>
          </a:xfrm>
          <a:prstGeom prst="rect">
            <a:avLst/>
          </a:prstGeom>
          <a:noFill/>
        </p:spPr>
        <p:txBody>
          <a:bodyPr wrap="square" lIns="0" rIns="0" tIns="0" bIns="0" anchor="ctr">
            <a:spAutoFit/>
          </a:bodyPr>
          <a:lstStyle/>
          <a:p>
            <a:pPr algn="ctr"/>
            <a:r>
              <a:rPr sz="1350" b="0" i="0">
                <a:solidFill>
                  <a:srgbClr val="9A7878"/>
                </a:solidFill>
                <a:latin typeface="Geist"/>
                <a:ea typeface="Geist"/>
                <a:cs typeface="Geist"/>
              </a:rPr>
              <a:t>disabled</a:t>
            </a:r>
          </a:p>
        </p:txBody>
      </p:sp>
      <p:cxnSp>
        <p:nvCxnSpPr>
          <p:cNvPr id="23" name="Connector 22"/>
          <p:cNvCxnSpPr/>
          <p:nvPr/>
        </p:nvCxnSpPr>
        <p:spPr>
          <a:xfrm flipV="1">
            <a:off x="2343150" y="6845731"/>
            <a:ext cx="60960" cy="1226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404110" y="6815820"/>
            <a:ext cx="60960" cy="299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465070" y="6771524"/>
            <a:ext cx="60960" cy="44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526030" y="6715500"/>
            <a:ext cx="60960" cy="5602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586990" y="6649912"/>
            <a:ext cx="60960" cy="655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647950" y="6576526"/>
            <a:ext cx="60960" cy="7338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708910" y="6496783"/>
            <a:ext cx="60960" cy="797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769870" y="6411855"/>
            <a:ext cx="60960" cy="849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830830" y="6322700"/>
            <a:ext cx="60960" cy="891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891790" y="6230098"/>
            <a:ext cx="60960" cy="926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52750" y="6134686"/>
            <a:ext cx="60960" cy="954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013710" y="6036983"/>
            <a:ext cx="60960" cy="977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074670" y="5937411"/>
            <a:ext cx="60960" cy="995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135630" y="5836316"/>
            <a:ext cx="60960" cy="1010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196590" y="5733979"/>
            <a:ext cx="60960" cy="102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257550" y="5630629"/>
            <a:ext cx="60960" cy="1033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318510" y="5526453"/>
            <a:ext cx="60960" cy="1041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379470" y="5421603"/>
            <a:ext cx="60960" cy="1048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440430" y="5316205"/>
            <a:ext cx="60960" cy="1053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501390" y="5210359"/>
            <a:ext cx="60960" cy="105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562350" y="5104148"/>
            <a:ext cx="60960" cy="1062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623310" y="4997640"/>
            <a:ext cx="60960" cy="10650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684270" y="4894063"/>
            <a:ext cx="60960" cy="1035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745230" y="4811242"/>
            <a:ext cx="60960" cy="828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806190" y="4747157"/>
            <a:ext cx="60960" cy="640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867150" y="4697569"/>
            <a:ext cx="60960" cy="495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928110" y="4659198"/>
            <a:ext cx="60960" cy="383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989070" y="4629508"/>
            <a:ext cx="60960" cy="2969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050030" y="4606535"/>
            <a:ext cx="60960" cy="229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110990" y="4588758"/>
            <a:ext cx="60960" cy="17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171950" y="4575003"/>
            <a:ext cx="60960" cy="137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232910" y="4564359"/>
            <a:ext cx="60960" cy="106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293870" y="4556124"/>
            <a:ext cx="60960" cy="82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354830" y="4549751"/>
            <a:ext cx="60960" cy="63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15790" y="4544820"/>
            <a:ext cx="60960" cy="49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4452938" y="4521007"/>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513898" y="4517192"/>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4574858" y="4514239"/>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4635818" y="4511955"/>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696778" y="4510187"/>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4752975" y="4504057"/>
            <a:ext cx="371475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295400" y="7524750"/>
            <a:ext cx="7315200" cy="476250"/>
          </a:xfrm>
          <a:prstGeom prst="rect">
            <a:avLst/>
          </a:prstGeom>
          <a:noFill/>
        </p:spPr>
        <p:txBody>
          <a:bodyPr wrap="square" lIns="0" rIns="0" tIns="0" bIns="0" anchor="t">
            <a:spAutoFit/>
          </a:bodyPr>
          <a:lstStyle/>
          <a:p>
            <a:pPr algn="l"/>
            <a:r>
              <a:rPr sz="1875" b="1" i="0">
                <a:solidFill>
                  <a:srgbClr val="D5000E"/>
                </a:solidFill>
                <a:latin typeface="Geist"/>
                <a:ea typeface="Geist"/>
                <a:cs typeface="Geist"/>
              </a:rPr>
              <a:t>Starts at 2.4: already “there”. Never moves.</a:t>
            </a:r>
          </a:p>
        </p:txBody>
      </p:sp>
      <p:sp>
        <p:nvSpPr>
          <p:cNvPr id="65" name="Rounded Rectangle 64"/>
          <p:cNvSpPr/>
          <p:nvPr/>
        </p:nvSpPr>
        <p:spPr>
          <a:xfrm>
            <a:off x="9296400" y="2857500"/>
            <a:ext cx="8077200" cy="5334000"/>
          </a:xfrm>
          <a:prstGeom prst="roundRect">
            <a:avLst>
              <a:gd name="adj" fmla="val 2857"/>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677400" y="31051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With resetEncoders()</a:t>
            </a:r>
          </a:p>
        </p:txBody>
      </p:sp>
      <p:sp>
        <p:nvSpPr>
          <p:cNvPr id="67" name="Rectangle 66"/>
          <p:cNvSpPr/>
          <p:nvPr/>
        </p:nvSpPr>
        <p:spPr>
          <a:xfrm>
            <a:off x="10715625" y="68484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677400" y="6705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69" name="Rectangle 68"/>
          <p:cNvSpPr/>
          <p:nvPr/>
        </p:nvSpPr>
        <p:spPr>
          <a:xfrm>
            <a:off x="10715625" y="58959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9677400" y="57531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71" name="Rectangle 70"/>
          <p:cNvSpPr/>
          <p:nvPr/>
        </p:nvSpPr>
        <p:spPr>
          <a:xfrm>
            <a:off x="10715625" y="49434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9677400" y="4800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73" name="Rectangle 72"/>
          <p:cNvSpPr/>
          <p:nvPr/>
        </p:nvSpPr>
        <p:spPr>
          <a:xfrm>
            <a:off x="10715625" y="39909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9677400" y="38481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75" name="Rectangle 74"/>
          <p:cNvSpPr/>
          <p:nvPr/>
        </p:nvSpPr>
        <p:spPr>
          <a:xfrm>
            <a:off x="10710862" y="3986212"/>
            <a:ext cx="28575" cy="2886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0710862" y="6843712"/>
            <a:ext cx="6124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0715625" y="4943475"/>
            <a:ext cx="6115050" cy="19050"/>
          </a:xfrm>
          <a:prstGeom prst="rect">
            <a:avLst/>
          </a:prstGeom>
          <a:solidFill>
            <a:srgbClr val="D5000E"/>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ounded Rectangle 77"/>
          <p:cNvSpPr/>
          <p:nvPr/>
        </p:nvSpPr>
        <p:spPr>
          <a:xfrm>
            <a:off x="10725150" y="6991350"/>
            <a:ext cx="2438400" cy="381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0725150" y="6991350"/>
            <a:ext cx="2438400" cy="381000"/>
          </a:xfrm>
          <a:prstGeom prst="rect">
            <a:avLst/>
          </a:prstGeom>
          <a:noFill/>
        </p:spPr>
        <p:txBody>
          <a:bodyPr wrap="square" lIns="0" rIns="0" tIns="0" bIns="0" anchor="ctr">
            <a:spAutoFit/>
          </a:bodyPr>
          <a:lstStyle/>
          <a:p>
            <a:pPr algn="ctr"/>
            <a:r>
              <a:rPr sz="1500" b="0" i="0">
                <a:solidFill>
                  <a:srgbClr val="F0E8E8"/>
                </a:solidFill>
                <a:latin typeface="Geist"/>
                <a:ea typeface="Geist"/>
                <a:cs typeface="Geist"/>
              </a:rPr>
              <a:t>Auto run 1</a:t>
            </a:r>
          </a:p>
        </p:txBody>
      </p:sp>
      <p:sp>
        <p:nvSpPr>
          <p:cNvPr id="80" name="Rounded Rectangle 79"/>
          <p:cNvSpPr/>
          <p:nvPr/>
        </p:nvSpPr>
        <p:spPr>
          <a:xfrm>
            <a:off x="14382750" y="6991350"/>
            <a:ext cx="2438400" cy="381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4382750" y="6991350"/>
            <a:ext cx="2438400" cy="381000"/>
          </a:xfrm>
          <a:prstGeom prst="rect">
            <a:avLst/>
          </a:prstGeom>
          <a:noFill/>
        </p:spPr>
        <p:txBody>
          <a:bodyPr wrap="square" lIns="0" rIns="0" tIns="0" bIns="0" anchor="ctr">
            <a:spAutoFit/>
          </a:bodyPr>
          <a:lstStyle/>
          <a:p>
            <a:pPr algn="ctr"/>
            <a:r>
              <a:rPr sz="1500" b="0" i="0">
                <a:solidFill>
                  <a:srgbClr val="F0E8E8"/>
                </a:solidFill>
                <a:latin typeface="Geist"/>
                <a:ea typeface="Geist"/>
                <a:cs typeface="Geist"/>
              </a:rPr>
              <a:t>Auto run 2</a:t>
            </a:r>
          </a:p>
        </p:txBody>
      </p:sp>
      <p:sp>
        <p:nvSpPr>
          <p:cNvPr id="82" name="TextBox 81"/>
          <p:cNvSpPr txBox="1"/>
          <p:nvPr/>
        </p:nvSpPr>
        <p:spPr>
          <a:xfrm>
            <a:off x="13163550" y="6991350"/>
            <a:ext cx="1219200" cy="381000"/>
          </a:xfrm>
          <a:prstGeom prst="rect">
            <a:avLst/>
          </a:prstGeom>
          <a:noFill/>
        </p:spPr>
        <p:txBody>
          <a:bodyPr wrap="square" lIns="0" rIns="0" tIns="0" bIns="0" anchor="ctr">
            <a:spAutoFit/>
          </a:bodyPr>
          <a:lstStyle/>
          <a:p>
            <a:pPr algn="ctr"/>
            <a:r>
              <a:rPr sz="1350" b="0" i="0">
                <a:solidFill>
                  <a:srgbClr val="9A7878"/>
                </a:solidFill>
                <a:latin typeface="Geist"/>
                <a:ea typeface="Geist"/>
                <a:cs typeface="Geist"/>
              </a:rPr>
              <a:t>disabled</a:t>
            </a:r>
          </a:p>
        </p:txBody>
      </p:sp>
      <p:cxnSp>
        <p:nvCxnSpPr>
          <p:cNvPr id="83" name="Connector 82"/>
          <p:cNvCxnSpPr/>
          <p:nvPr/>
        </p:nvCxnSpPr>
        <p:spPr>
          <a:xfrm flipV="1">
            <a:off x="10725150" y="6845731"/>
            <a:ext cx="60960" cy="1226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786110" y="6815820"/>
            <a:ext cx="60960" cy="299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847070" y="6771524"/>
            <a:ext cx="60960" cy="44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908030" y="6715500"/>
            <a:ext cx="60960" cy="5602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0968990" y="6649912"/>
            <a:ext cx="60960" cy="655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1029950" y="6576526"/>
            <a:ext cx="60960" cy="7338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1090910" y="6496783"/>
            <a:ext cx="60960" cy="797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1151870" y="6411855"/>
            <a:ext cx="60960" cy="849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1212830" y="6322700"/>
            <a:ext cx="60960" cy="891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1273790" y="6230098"/>
            <a:ext cx="60960" cy="926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1334750" y="6134686"/>
            <a:ext cx="60960" cy="954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1395710" y="6036983"/>
            <a:ext cx="60960" cy="977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1456670" y="5937411"/>
            <a:ext cx="60960" cy="995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1517630" y="5836316"/>
            <a:ext cx="60960" cy="1010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1578590" y="5733979"/>
            <a:ext cx="60960" cy="102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1639550" y="5630629"/>
            <a:ext cx="60960" cy="1033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1700510" y="5526453"/>
            <a:ext cx="60960" cy="1041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1761470" y="5421603"/>
            <a:ext cx="60960" cy="1048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1822430" y="5316205"/>
            <a:ext cx="60960" cy="1053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1883390" y="5210359"/>
            <a:ext cx="60960" cy="105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1944350" y="5104148"/>
            <a:ext cx="60960" cy="1062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2005310" y="4997640"/>
            <a:ext cx="60960" cy="10650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2066270" y="4894063"/>
            <a:ext cx="60960" cy="1035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2127230" y="4811242"/>
            <a:ext cx="60960" cy="828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2188190" y="4747157"/>
            <a:ext cx="60960" cy="640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2249150" y="4697569"/>
            <a:ext cx="60960" cy="495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2310110" y="4659198"/>
            <a:ext cx="60960" cy="383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12371070" y="4629508"/>
            <a:ext cx="60960" cy="2969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2432030" y="4606535"/>
            <a:ext cx="60960" cy="229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2492990" y="4588758"/>
            <a:ext cx="60960" cy="17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12553950" y="4575003"/>
            <a:ext cx="60960" cy="137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12614910" y="4564359"/>
            <a:ext cx="60960" cy="106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12675870" y="4556124"/>
            <a:ext cx="60960" cy="82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2736830" y="4549751"/>
            <a:ext cx="60960" cy="63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2797790" y="4544820"/>
            <a:ext cx="60960" cy="49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2834938" y="4521007"/>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2895898" y="4517192"/>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2956858" y="4514239"/>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13017818" y="4511955"/>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3078778" y="4510187"/>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13139738" y="4508819"/>
            <a:ext cx="12668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14358938" y="4508819"/>
            <a:ext cx="47625" cy="2372993"/>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5" name="Connector 124"/>
          <p:cNvCxnSpPr/>
          <p:nvPr/>
        </p:nvCxnSpPr>
        <p:spPr>
          <a:xfrm flipV="1">
            <a:off x="14382750" y="6845731"/>
            <a:ext cx="60960" cy="1226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4443710" y="6815820"/>
            <a:ext cx="60960" cy="299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4504670" y="6771524"/>
            <a:ext cx="60960" cy="442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4565630" y="6715500"/>
            <a:ext cx="60960" cy="560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4626590" y="6649912"/>
            <a:ext cx="60960" cy="6558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4687550" y="6576526"/>
            <a:ext cx="60960" cy="7338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4748510" y="6496783"/>
            <a:ext cx="60960" cy="7974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4809470" y="6411855"/>
            <a:ext cx="60960" cy="8492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4870430" y="6322700"/>
            <a:ext cx="60960" cy="891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4931390" y="6230098"/>
            <a:ext cx="60960" cy="9260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4992350" y="6134686"/>
            <a:ext cx="60960" cy="954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5053310" y="6036983"/>
            <a:ext cx="60960" cy="977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5114270" y="5937411"/>
            <a:ext cx="60960" cy="9957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5175230" y="5836316"/>
            <a:ext cx="60960" cy="1010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5236190" y="5733979"/>
            <a:ext cx="60960" cy="10233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5297150" y="5630629"/>
            <a:ext cx="60960" cy="1033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5358110" y="5526453"/>
            <a:ext cx="60960" cy="10417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5419070" y="5421603"/>
            <a:ext cx="60960" cy="1048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5480030" y="5316205"/>
            <a:ext cx="60960" cy="10539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15540990" y="5210359"/>
            <a:ext cx="60960" cy="1058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5601950" y="5104148"/>
            <a:ext cx="60960" cy="1062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15662910" y="4997640"/>
            <a:ext cx="60960" cy="1065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15723870" y="4894063"/>
            <a:ext cx="60960" cy="1035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15784830" y="4811242"/>
            <a:ext cx="60960" cy="828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15845790" y="4747157"/>
            <a:ext cx="60960" cy="640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15906750" y="4697569"/>
            <a:ext cx="60960" cy="4958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15967710" y="4659198"/>
            <a:ext cx="60960" cy="383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16028670" y="4629508"/>
            <a:ext cx="60960" cy="2969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16089630" y="4606535"/>
            <a:ext cx="60960" cy="2297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16150590" y="4588758"/>
            <a:ext cx="60960" cy="177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16211550" y="4575003"/>
            <a:ext cx="60960" cy="137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16272510" y="4564359"/>
            <a:ext cx="60960" cy="106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16333470" y="4556124"/>
            <a:ext cx="60960" cy="823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16394430" y="4549751"/>
            <a:ext cx="60960" cy="637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16455390" y="4544820"/>
            <a:ext cx="60960" cy="493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60" name="Rectangle 159"/>
          <p:cNvSpPr/>
          <p:nvPr/>
        </p:nvSpPr>
        <p:spPr>
          <a:xfrm>
            <a:off x="16487775" y="4516245"/>
            <a:ext cx="11811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16548735" y="4512429"/>
            <a:ext cx="11811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16609695" y="4509477"/>
            <a:ext cx="11811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16670655" y="4507192"/>
            <a:ext cx="11811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16731615" y="4505425"/>
            <a:ext cx="11811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Box 164"/>
          <p:cNvSpPr txBox="1"/>
          <p:nvPr/>
        </p:nvSpPr>
        <p:spPr>
          <a:xfrm>
            <a:off x="9677400" y="7524750"/>
            <a:ext cx="7315200" cy="476250"/>
          </a:xfrm>
          <a:prstGeom prst="rect">
            <a:avLst/>
          </a:prstGeom>
          <a:noFill/>
        </p:spPr>
        <p:txBody>
          <a:bodyPr wrap="square" lIns="0" rIns="0" tIns="0" bIns="0" anchor="t">
            <a:spAutoFit/>
          </a:bodyPr>
          <a:lstStyle/>
          <a:p>
            <a:pPr algn="l"/>
            <a:r>
              <a:rPr sz="1875" b="1" i="0">
                <a:solidFill>
                  <a:srgbClr val="F0E8E8"/>
                </a:solidFill>
                <a:latin typeface="Geist"/>
                <a:ea typeface="Geist"/>
                <a:cs typeface="Geist"/>
              </a:rPr>
              <a:t>Back to 0 every run. Drives 2 m again.</a:t>
            </a:r>
          </a:p>
        </p:txBody>
      </p:sp>
      <p:sp>
        <p:nvSpPr>
          <p:cNvPr id="166" name="Rounded Rectangle 16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1333500" y="83820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Reset  </a:t>
            </a:r>
            <a:r>
              <a:rPr sz="2100" b="0" i="0">
                <a:solidFill>
                  <a:srgbClr val="F0E8E8"/>
                </a:solidFill>
                <a:latin typeface="Geist"/>
                <a:ea typeface="Geist"/>
                <a:cs typeface="Geist"/>
              </a:rPr>
              <a:t>means: forget everything driven so far and start counting from zero again.</a:t>
            </a:r>
          </a:p>
        </p:txBody>
      </p:sp>
      <p:sp>
        <p:nvSpPr>
          <p:cNvPr id="168" name="TextBox 16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9" name="TextBox 16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Sensors and Feedback</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Turn radians into meters, log speed and distance, add a deadband, then drive 2 meters in Auto.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4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Deadband and ifs</a:t>
            </a:r>
          </a:p>
        </p:txBody>
      </p:sp>
      <p:sp>
        <p:nvSpPr>
          <p:cNvPr id="9" name="TextBox 8"/>
          <p:cNvSpPr txBox="1"/>
          <p:nvPr/>
        </p:nvSpPr>
        <p:spPr>
          <a:xfrm>
            <a:off x="5334000" y="4572000"/>
            <a:ext cx="8191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DEADBAND constant, an if on each stick, if / else in Auto</a:t>
            </a:r>
          </a:p>
        </p:txBody>
      </p:sp>
      <p:pic>
        <p:nvPicPr>
          <p:cNvPr id="10" name="Picture 9" descr="check-circle-fill.png"/>
          <p:cNvPicPr>
            <a:picLocks noChangeAspect="1"/>
          </p:cNvPicPr>
          <p:nvPr/>
        </p:nvPicPr>
        <p:blipFill>
          <a:blip r:embed="rId3"/>
          <a:stretch>
            <a:fillRect/>
          </a:stretch>
        </p:blipFill>
        <p:spPr>
          <a:xfrm>
            <a:off x="1524000" y="5429250"/>
            <a:ext cx="323850" cy="323850"/>
          </a:xfrm>
          <a:prstGeom prst="rect">
            <a:avLst/>
          </a:prstGeom>
        </p:spPr>
      </p:pic>
      <p:sp>
        <p:nvSpPr>
          <p:cNvPr id="11" name="TextBox 10"/>
          <p:cNvSpPr txBox="1"/>
          <p:nvPr/>
        </p:nvSpPr>
        <p:spPr>
          <a:xfrm>
            <a:off x="2038350" y="53721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Linear speed</a:t>
            </a:r>
          </a:p>
        </p:txBody>
      </p:sp>
      <p:sp>
        <p:nvSpPr>
          <p:cNvPr id="12" name="TextBox 11"/>
          <p:cNvSpPr txBox="1"/>
          <p:nvPr/>
        </p:nvSpPr>
        <p:spPr>
          <a:xfrm>
            <a:off x="5334000" y="5410200"/>
            <a:ext cx="8191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Full speed forward: about 5.5 m/s</a:t>
            </a:r>
          </a:p>
        </p:txBody>
      </p:sp>
      <p:pic>
        <p:nvPicPr>
          <p:cNvPr id="13" name="Picture 12" descr="check-circle-fill.png"/>
          <p:cNvPicPr>
            <a:picLocks noChangeAspect="1"/>
          </p:cNvPicPr>
          <p:nvPr/>
        </p:nvPicPr>
        <p:blipFill>
          <a:blip r:embed="rId3"/>
          <a:stretch>
            <a:fillRect/>
          </a:stretch>
        </p:blipFill>
        <p:spPr>
          <a:xfrm>
            <a:off x="1524000" y="6267450"/>
            <a:ext cx="323850" cy="323850"/>
          </a:xfrm>
          <a:prstGeom prst="rect">
            <a:avLst/>
          </a:prstGeom>
        </p:spPr>
      </p:pic>
      <p:sp>
        <p:nvSpPr>
          <p:cNvPr id="14" name="TextBox 13"/>
          <p:cNvSpPr txBox="1"/>
          <p:nvPr/>
        </p:nvSpPr>
        <p:spPr>
          <a:xfrm>
            <a:off x="2038350" y="62103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Angular speed</a:t>
            </a:r>
          </a:p>
        </p:txBody>
      </p:sp>
      <p:sp>
        <p:nvSpPr>
          <p:cNvPr id="15" name="TextBox 14"/>
          <p:cNvSpPr txBox="1"/>
          <p:nvPr/>
        </p:nvSpPr>
        <p:spPr>
          <a:xfrm>
            <a:off x="5334000" y="6248400"/>
            <a:ext cx="8191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Spin left in place: positive</a:t>
            </a:r>
          </a:p>
        </p:txBody>
      </p:sp>
      <p:pic>
        <p:nvPicPr>
          <p:cNvPr id="16" name="Picture 15" descr="check-circle-fill.png"/>
          <p:cNvPicPr>
            <a:picLocks noChangeAspect="1"/>
          </p:cNvPicPr>
          <p:nvPr/>
        </p:nvPicPr>
        <p:blipFill>
          <a:blip r:embed="rId3"/>
          <a:stretch>
            <a:fillRect/>
          </a:stretch>
        </p:blipFill>
        <p:spPr>
          <a:xfrm>
            <a:off x="1524000" y="7105650"/>
            <a:ext cx="323850" cy="323850"/>
          </a:xfrm>
          <a:prstGeom prst="rect">
            <a:avLst/>
          </a:prstGeom>
        </p:spPr>
      </p:pic>
      <p:sp>
        <p:nvSpPr>
          <p:cNvPr id="17" name="TextBox 16"/>
          <p:cNvSpPr txBox="1"/>
          <p:nvPr/>
        </p:nvSpPr>
        <p:spPr>
          <a:xfrm>
            <a:off x="2038350" y="70485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2 meters</a:t>
            </a:r>
          </a:p>
        </p:txBody>
      </p:sp>
      <p:sp>
        <p:nvSpPr>
          <p:cNvPr id="18" name="TextBox 17"/>
          <p:cNvSpPr txBox="1"/>
          <p:nvPr/>
        </p:nvSpPr>
        <p:spPr>
          <a:xfrm>
            <a:off x="5334000" y="7086600"/>
            <a:ext cx="8191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 Auto: Robot/Distance about 2 (it coasts a bit past)</a:t>
            </a:r>
          </a:p>
        </p:txBody>
      </p:sp>
      <p:sp>
        <p:nvSpPr>
          <p:cNvPr id="19" name="TextBox 18"/>
          <p:cNvSpPr txBox="1"/>
          <p:nvPr/>
        </p:nvSpPr>
        <p:spPr>
          <a:xfrm>
            <a:off x="1524000" y="8001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drive backward 2 m, try 0.2 instead of 0.4, log each side's speed</a:t>
            </a:r>
          </a:p>
        </p:txBody>
      </p:sp>
      <p:sp>
        <p:nvSpPr>
          <p:cNvPr id="20" name="TextBox 19"/>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Sensors and Feedback</a:t>
            </a:r>
          </a:p>
        </p:txBody>
      </p:sp>
      <p:pic>
        <p:nvPicPr>
          <p:cNvPr id="21" name="Picture 20" descr="dozer.png"/>
          <p:cNvPicPr>
            <a:picLocks noChangeAspect="1"/>
          </p:cNvPicPr>
          <p:nvPr/>
        </p:nvPicPr>
        <p:blipFill>
          <a:blip r:embed="rId4"/>
          <a:stretch>
            <a:fillRect/>
          </a:stretch>
        </p:blipFill>
        <p:spPr>
          <a:xfrm>
            <a:off x="14287500" y="6096000"/>
            <a:ext cx="2667000" cy="1639254"/>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Explain open and closed loop</a:t>
            </a:r>
          </a:p>
        </p:txBody>
      </p:sp>
      <p:pic>
        <p:nvPicPr>
          <p:cNvPr id="7" name="Picture 6" descr="check-circle-fill.png"/>
          <p:cNvPicPr>
            <a:picLocks noChangeAspect="1"/>
          </p:cNvPicPr>
          <p:nvPr/>
        </p:nvPicPr>
        <p:blipFill>
          <a:blip r:embed="rId3"/>
          <a:stretch>
            <a:fillRect/>
          </a:stretch>
        </p:blipFill>
        <p:spPr>
          <a:xfrm>
            <a:off x="914400" y="3695700"/>
            <a:ext cx="381000" cy="381000"/>
          </a:xfrm>
          <a:prstGeom prst="rect">
            <a:avLst/>
          </a:prstGeom>
        </p:spPr>
      </p:pic>
      <p:sp>
        <p:nvSpPr>
          <p:cNvPr id="8" name="TextBox 7"/>
          <p:cNvSpPr txBox="1"/>
          <p:nvPr/>
        </p:nvSpPr>
        <p:spPr>
          <a:xfrm>
            <a:off x="1524000" y="36576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Say what an encoder counts</a:t>
            </a:r>
          </a:p>
        </p:txBody>
      </p:sp>
      <p:pic>
        <p:nvPicPr>
          <p:cNvPr id="9" name="Picture 8" descr="check-circle-fill.png"/>
          <p:cNvPicPr>
            <a:picLocks noChangeAspect="1"/>
          </p:cNvPicPr>
          <p:nvPr/>
        </p:nvPicPr>
        <p:blipFill>
          <a:blip r:embed="rId3"/>
          <a:stretch>
            <a:fillRect/>
          </a:stretch>
        </p:blipFill>
        <p:spPr>
          <a:xfrm>
            <a:off x="914400" y="4495800"/>
            <a:ext cx="381000" cy="381000"/>
          </a:xfrm>
          <a:prstGeom prst="rect">
            <a:avLst/>
          </a:prstGeom>
        </p:spPr>
      </p:pic>
      <p:sp>
        <p:nvSpPr>
          <p:cNvPr id="10" name="TextBox 9"/>
          <p:cNvSpPr txBox="1"/>
          <p:nvPr/>
        </p:nvSpPr>
        <p:spPr>
          <a:xfrm>
            <a:off x="1524000" y="44577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Turn radians into meters</a:t>
            </a:r>
          </a:p>
        </p:txBody>
      </p:sp>
      <p:pic>
        <p:nvPicPr>
          <p:cNvPr id="11" name="Picture 10" descr="check-circle-fill.png"/>
          <p:cNvPicPr>
            <a:picLocks noChangeAspect="1"/>
          </p:cNvPicPr>
          <p:nvPr/>
        </p:nvPicPr>
        <p:blipFill>
          <a:blip r:embed="rId3"/>
          <a:stretch>
            <a:fillRect/>
          </a:stretch>
        </p:blipFill>
        <p:spPr>
          <a:xfrm>
            <a:off x="914400" y="5295900"/>
            <a:ext cx="381000" cy="381000"/>
          </a:xfrm>
          <a:prstGeom prst="rect">
            <a:avLst/>
          </a:prstGeom>
        </p:spPr>
      </p:pic>
      <p:sp>
        <p:nvSpPr>
          <p:cNvPr id="12" name="TextBox 11"/>
          <p:cNvSpPr txBox="1"/>
          <p:nvPr/>
        </p:nvSpPr>
        <p:spPr>
          <a:xfrm>
            <a:off x="1524000" y="52578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speed, turn rate and distance</a:t>
            </a:r>
          </a:p>
        </p:txBody>
      </p:sp>
      <p:pic>
        <p:nvPicPr>
          <p:cNvPr id="13" name="Picture 12" descr="check-circle-fill.png"/>
          <p:cNvPicPr>
            <a:picLocks noChangeAspect="1"/>
          </p:cNvPicPr>
          <p:nvPr/>
        </p:nvPicPr>
        <p:blipFill>
          <a:blip r:embed="rId3"/>
          <a:stretch>
            <a:fillRect/>
          </a:stretch>
        </p:blipFill>
        <p:spPr>
          <a:xfrm>
            <a:off x="914400" y="6096000"/>
            <a:ext cx="381000" cy="381000"/>
          </a:xfrm>
          <a:prstGeom prst="rect">
            <a:avLst/>
          </a:prstGeom>
        </p:spPr>
      </p:pic>
      <p:sp>
        <p:nvSpPr>
          <p:cNvPr id="14" name="TextBox 13"/>
          <p:cNvSpPr txBox="1"/>
          <p:nvPr/>
        </p:nvSpPr>
        <p:spPr>
          <a:xfrm>
            <a:off x="1524000" y="60579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Log a value with MwLog.log</a:t>
            </a:r>
          </a:p>
        </p:txBody>
      </p:sp>
      <p:pic>
        <p:nvPicPr>
          <p:cNvPr id="15" name="Picture 14" descr="check-circle-fill.png"/>
          <p:cNvPicPr>
            <a:picLocks noChangeAspect="1"/>
          </p:cNvPicPr>
          <p:nvPr/>
        </p:nvPicPr>
        <p:blipFill>
          <a:blip r:embed="rId3"/>
          <a:stretch>
            <a:fillRect/>
          </a:stretch>
        </p:blipFill>
        <p:spPr>
          <a:xfrm>
            <a:off x="914400" y="6896100"/>
            <a:ext cx="381000" cy="381000"/>
          </a:xfrm>
          <a:prstGeom prst="rect">
            <a:avLst/>
          </a:prstGeom>
        </p:spPr>
      </p:pic>
      <p:sp>
        <p:nvSpPr>
          <p:cNvPr id="16" name="TextBox 15"/>
          <p:cNvSpPr txBox="1"/>
          <p:nvPr/>
        </p:nvSpPr>
        <p:spPr>
          <a:xfrm>
            <a:off x="1524000" y="68580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Ignore drift with a deadband</a:t>
            </a:r>
          </a:p>
        </p:txBody>
      </p:sp>
      <p:pic>
        <p:nvPicPr>
          <p:cNvPr id="17" name="Picture 16" descr="check-circle-fill.png"/>
          <p:cNvPicPr>
            <a:picLocks noChangeAspect="1"/>
          </p:cNvPicPr>
          <p:nvPr/>
        </p:nvPicPr>
        <p:blipFill>
          <a:blip r:embed="rId3"/>
          <a:stretch>
            <a:fillRect/>
          </a:stretch>
        </p:blipFill>
        <p:spPr>
          <a:xfrm>
            <a:off x="914400" y="7696200"/>
            <a:ext cx="381000" cy="381000"/>
          </a:xfrm>
          <a:prstGeom prst="rect">
            <a:avLst/>
          </a:prstGeom>
        </p:spPr>
      </p:pic>
      <p:sp>
        <p:nvSpPr>
          <p:cNvPr id="18" name="TextBox 17"/>
          <p:cNvSpPr txBox="1"/>
          <p:nvPr/>
        </p:nvSpPr>
        <p:spPr>
          <a:xfrm>
            <a:off x="1524000" y="76581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Drive 2 meters with bang-bang</a:t>
            </a:r>
          </a:p>
        </p:txBody>
      </p:sp>
      <p:sp>
        <p:nvSpPr>
          <p:cNvPr id="19" name="Rounded Rectangle 18"/>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21" name="Picture 20" descr="code-slash.png"/>
          <p:cNvPicPr>
            <a:picLocks noChangeAspect="1"/>
          </p:cNvPicPr>
          <p:nvPr/>
        </p:nvPicPr>
        <p:blipFill>
          <a:blip r:embed="rId4"/>
          <a:stretch>
            <a:fillRect/>
          </a:stretch>
        </p:blipFill>
        <p:spPr>
          <a:xfrm>
            <a:off x="9334500" y="3962400"/>
            <a:ext cx="326571" cy="304800"/>
          </a:xfrm>
          <a:prstGeom prst="rect">
            <a:avLst/>
          </a:prstGeom>
        </p:spPr>
      </p:pic>
      <p:sp>
        <p:nvSpPr>
          <p:cNvPr id="22" name="TextBox 21"/>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3" name="Picture 22" descr="code-slash.png"/>
          <p:cNvPicPr>
            <a:picLocks noChangeAspect="1"/>
          </p:cNvPicPr>
          <p:nvPr/>
        </p:nvPicPr>
        <p:blipFill>
          <a:blip r:embed="rId4"/>
          <a:stretch>
            <a:fillRect/>
          </a:stretch>
        </p:blipFill>
        <p:spPr>
          <a:xfrm>
            <a:off x="9334500" y="4724400"/>
            <a:ext cx="326571" cy="304800"/>
          </a:xfrm>
          <a:prstGeom prst="rect">
            <a:avLst/>
          </a:prstGeom>
        </p:spPr>
      </p:pic>
      <p:sp>
        <p:nvSpPr>
          <p:cNvPr id="24" name="TextBox 23"/>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Methods</a:t>
            </a:r>
          </a:p>
        </p:txBody>
      </p:sp>
      <p:sp>
        <p:nvSpPr>
          <p:cNvPr id="25" name="TextBox 24"/>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6" name="Rounded Rectangle 25"/>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sp>
        <p:nvSpPr>
          <p:cNvPr id="28" name="TextBox 27"/>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Drive Math and Methods</a:t>
            </a:r>
          </a:p>
        </p:txBody>
      </p:sp>
      <p:sp>
        <p:nvSpPr>
          <p:cNvPr id="29" name="TextBox 28"/>
          <p:cNvSpPr txBox="1"/>
          <p:nvPr/>
        </p:nvSpPr>
        <p:spPr>
          <a:xfrm>
            <a:off x="13716000" y="5048250"/>
            <a:ext cx="3333750" cy="1619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Move the drive math into reusable methods, and average with an array and a for loop.</a:t>
            </a:r>
          </a:p>
        </p:txBody>
      </p:sp>
      <p:pic>
        <p:nvPicPr>
          <p:cNvPr id="30" name="Picture 29" descr="dozer.png"/>
          <p:cNvPicPr>
            <a:picLocks noChangeAspect="1"/>
          </p:cNvPicPr>
          <p:nvPr/>
        </p:nvPicPr>
        <p:blipFill>
          <a:blip r:embed="rId5"/>
          <a:stretch>
            <a:fillRect/>
          </a:stretch>
        </p:blipFill>
        <p:spPr>
          <a:xfrm>
            <a:off x="14287500" y="6858000"/>
            <a:ext cx="2476500" cy="1522165"/>
          </a:xfrm>
          <a:prstGeom prst="rect">
            <a:avLst/>
          </a:prstGeom>
        </p:spPr>
      </p:pic>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