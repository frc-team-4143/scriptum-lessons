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last FRC Robot deck. Everything so far gets used here: the drivetrain, the pose estimate from the Computer Vision lesson, your aim command and the robot states from Deck 7. Two new tools today: Choreo to draw the paths and Arbor to build the routine. Today the robot drives itself: it follows two paths you draw, aims at the goal and shoots, with nobody touching a controller. The routine is a behavior tree, built in Arbor. The hands-on part is the Autonomous lesson in Scriptum.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parts. First what autonomous is. Then Choreo, the app that draws the paths, and the plan for this lesson's field. Then how robot code follows a trajectory. Then behavior trees, the new idea today, and Arbor, the app we build them in, with how our robot runs one. Last, running it and reading the graphs. Ask: what's the difference between a path and a trajectory? (A trajectory adds timing. Answer comes in parts 2 and 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autonomous is, why it has to be repeatable, and the plan for this lesson's field.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match starts with autonomous: about 15 seconds where the drivers stand behind the line and can't touch the controllers. The robot runs a routine that was planned ahead of time. Whatever it does, it has to do the same way every match, because nobody can fix a mistake. Points in auto are often worth more than the same action in teleop, so a good auto can decide a match. Ask: what could go wrong if the robot just drove at full speed for 2 seconds and hoped? (Battery level, wheel slip and carpet change how far it goes.)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old Autonomous training: what's the difference between accuracy and precision? Accurate means on average you hit the spot, even if each try lands somewhere different. Precise means every try lands in the same place, even if that place is wrong. Ask: which do we want for auto? (Both: hit the spot, the same way every match.) A robot that drives on wheel counts alone drifts a bit differently each time. The fix is to know where the robot really is and correct every loop, which is exactly what the path follower does with the pose estimate.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team builds every autonomous routine in two jobs. First draw the paths in Choreo: where the robot drives and how fast. Choreo saves each one as a .traj file. Then build the routine in Arbor, as a behavior tree: which path to drive, when to wait, when to aim, when to shoot, and what to do if a step fails. The paths say where; the tree says in what order. In today's lesson you do both. On the real robot it's the same: Choreo and Arbor on a laptop, and the .traj and .xml files deploy with the code.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of today's two new tools. Choreo plans where the robot drives in auto, and how fast. It's new in this deck on purpose: now that you know drivetrains, odometry and poses, a path on the field makes sense.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Choreo is the app we use to plan autonomous paths. You place waypoints on a map of the field and Choreo works out the fastest path the robot can really drive, using its real limits. On the team laptops it's a desktop app; in training it's the Choreo pane in Scriptum. Each plan is saved as a .traj file in src/main/deploy/choreo, which deploys with the code. How the robot follows one is part 3. Screenshot from the Choreo project.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Waypoints are points the path goes through. Pose waypoints pin position and heading; use them at the start and end. Translation waypoints pin only position and let Choreo pick the heading. Constraints are rules, like a max velocity in one zone. Every path starts with Stop at the start and end. Screenshot from the Choreo docs.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Generate works out the fastest trajectory through every waypoint that obeys every constraint, using the robot's real limits (motor speed, mass, wheel grip). If no such path exists, it fails. Fix it by changing the numbers or switching a constraint off, then generate again.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Generate, Choreo draws the trajectory on the field. Color along the path shows speed, so you can see where the robot slows for a turn. Press play or drag the timeline to watch it drive. Choreo saves it as a .traj file in src/main/deploy/choreo, which deploys with the code. One setting matters for this lesson: its robot is a Differential drive (tank), so Document Settings, Robot Config must say Differential, not the default Swerve. Screenshot from the Choreo docs.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lesson's field, drawn from the real solution paths. The project already has four named poses. The robot starts on Start. ToPickup drives to Pickup, where the game piece is. ToScore carries on to ScoreSpot, finishing pointed up the field. Goal is what the robot aims at; it isn't on a path. Each path has a pose waypoint at each end and a translation waypoint in the middle. Activity: have students read the coordinates off the grid and match them to the table.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rules the checks look for. Names: the tree names each path, so ToPickup and ToScore must be spelled exactly, capitals too; rename it in Choreo, not by renaming the file. Join: when ToScore begins the robot is standing on Pickup, so ToScore's first waypoint must be exactly where ToPickup ended. Three waypoints each: pose, translation, pose. Differential: set the Drive Type first, or Choreo makes swerve paths this robot can't follow. Ask: what happens if ToScore starts half a meter away from Pickup? (The robot lurches to catch up, or the check fails.)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code you don't write but should understand: how the robot plays a path back. It's provided and tuned in DifferentialPathFollower.java, and it's worth reading.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press Generate, Choreo doesn't just save a line. It saves a list of samples, each a moment in time: where the robot should be, which way it faces, and how fast each wheel should turn. These dots are the real samples of the lesson's ToPickup path, about 0.05 seconds apart. Where the dots bunch up the robot is slow (starting and stopping); where they spread out it's fast. Ask: where on this path is the robot fastest? (The straight middle part.) This is the difference between a path (the route) and a trajectory (the route plus timing).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FollowPath step plays the trajectory back. Every 20 ms it does four things. Where should I be? It looks up the sample for this moment on the path's clock, blending the two samples around it. Where am I? It reads the pose estimate. Close the gap: a path-following controller (LTV unicycle, built for tank drives) nudges the speeds so the robot drifts back onto the line. Speed to power: wheel speeds in meters per second become duty cycles. All of this is DifferentialPathFollower.java, provided and tuned. Activity: one student is the path's clock calling out times, another walks the line.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robot is never exactly where the path says. DesiredPose is where the path says the robot should be right now; Pose is where the robot thinks it is. The controller compares them and changes the left and right speeds a little: a bit more on one side steers the robot back toward the line, a bit more on both catches it up. It does this every loop, so small errors never get big. You can watch both in AdvantageScope: Subsystem/Drivetrain/Choreo/DesiredPose and the Localization pose. Ask: why can't a tank drive just slide sideways back onto the line? (Its wheels only roll forward and back, so it has to steer.)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step turns wheel speed into motor power. This is feedforward: power you know you'll need before any error shows up. kS is a small push just to break the wheels loose, 0.25 volts out of 12. kV is power per meter per second: twice the speed, twice the power, so full power (1.0) is the robot's top speed of about 5.7 m/s (a Kraken at about 628 rad/s through an 8.45 to 1 gearbox is 74.3 rad/s at the wheel, times a 0.0762 m wheel radius). At the lesson's suggested 1.8 m/s cap that's about a third of full power. Turning adds a little extra because the wheels scrub sideways. Ask: why cap the speed at 1.8 if the robot can do 5.7? (A gentler robot is easier to keep on the line.)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details that make following reliable. Waiting: the path's clock keeps running, so if the robot falls more than half a meter behind the sample, the clock pauses until it catches up, instead of running away without it. Settling: when the clock runs out, the robot may be a little short. A tank drive can't slide sideways, so it turns to face the end point and drives at it, slowly. FollowPath finishes when the robot is within 15 cm of the end and slower than 0.15 m/s; that's isAtChoreoSetpoint. And if it gets stuck, FollowPath gives up after 10 seconds so the routine carries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follower steers by the pose estimate from your Localization subsystem: the wheels give the movement and the AprilTag cameras correct the drift. It's close but never exact. In the simulator we also know the true pose, Drive/TruePose. While driving they're about 1 to 9 centimeters apart, and about 1 centimeter once the robot stops. The gap in the drawing is exaggerated so you can see it. The lesson's checks use the true pose, so a small error in the estimate can't fool them. Ask: on the real robot, which pose do we have? (Only the estimate.)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autos are behavior trees, built in Arbor. Before building one, learn exactly how the robot runs one. The Arbor lesson's Dozer guides step through the same examples tick by tick.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how the robot runs a tree, what one is. A behavior tree is a plan drawn as a tree. On the left is an auto in plain words: four steps, in order. On the right is the same plan as a tree. The four steps are the boxes at the bottom, the leaves, left to right in the order they happen. The box on top, the Sequence, holds them and says how to run them: in order, one after another. Every tree you'll see today is built this way: steps at the bottom, boxes above them that decide how to run them. Ask: where would a fifth step, Shoot again, go? (A fifth leaf, at the right end.)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 we write autos as trees, and not as one long piece of Java? Four reasons. Easy to read: the whole auto is one picture, so the drive team can check it too. Easy to change: you edit it in Arbor and save; the robot reads the file, so there's no Java to rebuild. Plan B is built in: Timeouts and Fallbacks say what to do when a step takes too long or doesn't work, which happens a lot in a real match. Watch it run: Arbor shows the tree live, and replays it after a match, so you can see exactly where an auto went wrong. And the tree doesn't drive motors itself: it asks the robot for the same states the driver's buttons do.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parts, and their colours as Arbor shows them. The root is the top node; the robot always starts there. Grey nodes are control nodes: they hold other nodes, their children, and decide how to run them. Sequence runs its children in order. Timeout gives its child a time limit. Retry tries its child again until it works. Teal nodes are actions: they do the work, like driving a path or asking the robot for a state. Purple nodes are conditions: they check something, like is the robot in AIM, and never move the robot. Read a tree top to bottom, children left to right. Ask: which node here is the only one that moves the robot? (Trick question: FollowPath drives; SetWantedState only asks.)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the parts work together? A parent asks a child to run, and the child answers: SUCCESS, it worked, or FAILURE, it didn't. Actions answer when their job is done: FollowPath succeeds when it arrives. Conditions answer at once: IsSystemState AIM is SUCCESS if the robot is in AIM right now, FAILURE if not. Control nodes answer for their children: a Sequence succeeds only if every child does, a Fallback as soon as one does. The answer keeps going up until it reaches the root, and the root's answer is the whole auto's answer. While a step is still working it says RUNNING, and that's where ticks come in, next.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behavior tree is a tree of small steps. About fifty times a second, every robot loop, the robot ticks the tree: it starts at the root and goes down. Every node answers with one of three things. RUNNING: not done yet, ask me again next tick. SUCCESS: done, it worked. FAILURE: done, it didn't. The answers travel back up, and each control node (Sequence, Fallback, Timeout) uses its children's answers to decide what to do next. Activity: one student is the tree, the class calls out 'tick' and the student answers running, success or failure.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Sequence does its children one after another. Tick 1: Drive path starts, it takes a while, so it answers RUNNING and so does the Sequence. Next tick the Sequence goes straight back to the child that was running, not to the start. Tick 3: Drive path succeeds, and in the same tick the Sequence moves on and starts Aim. Tick 5: every child succeeded, so the Sequence succeeds. Yellow lines show where each tick went. Ask: on tick 4, which node does the Sequence tick first? (Aim, the one that was running.)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tree, but this time Aim fails: no target in view. Tick 1: Drive path is running. Tick 2: Drive path succeeds, Aim answers FAILURE, and the Sequence stops right there and answers FAILURE too. Shoot was never ticked. That's the point: a Sequence gives up at the first failure, so Shoot can rely on Aim having worked. A Sequence is an AND: every step must work. Ask: is it good that Shoot never ran? (Yes: shooting without aiming wastes the game piece.)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Fallback is the mirror image of a Sequence. It tries its children in order and stops at the first one that succeeds. It only fails if every child failed. Here: aim with vision; that fails, so try aiming by hand; that works, so the Fallback succeeds and Skip the shot is never tried. A Sequence is an AND, all must work. A Fallback is an OR, any one is enough. Put them together and you can say 'do A, then B, and if B doesn't work out, do C'. Ask: when does this Fallback fail? (Only if all three fail.)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Timeout wraps one step and gives it a time limit in milliseconds. If the step is still RUNNING when time is up, the Timeout halts it and answers FAILURE. That turns 'might never finish' into 'fails after 3 seconds', and a Fallback turns that into plan B. Read the clock: at 0 s Aim starts. At 1.5 s it's still running. At 3 s time is up: Aim is halted, the Timeout fails, and the Fallback starts Backup path. At 5 s the backup path succeeds, so the Fallback succeeds. Timeout plus Fallback is the most useful pattern in an auto.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ParallelDeadline ticks all its children together. The first child is the deadline: when it finishes, the others are halted and the node answers with the deadline's result. 'Drive this path, and drop the intake when the robot passes the Intake Out marker' is exactly this: the path is the deadline, the intake step waits for the marker. If the marker never comes, the intake step is simply halted when the path ends. The competition robot uses this in nearly every auto. There's also a ReactiveSequence, which re-checks earlier steps every tick, for 'keep driving only while we hold a game piece'.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new tool. Now that you know how a behavior tree runs, meet Arbor, the app we build them in, and see how our robot uses a tree to run an auto: the PickupAndScore tree you build in the lesson.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Arbor is the editor for our autonomous routines. Choreo gives us the paths; Arbor puts the whole routine together: drive this path, aim, shoot, and what to do if something goes wrong. The routine is the behavior tree you just learned to read. Arbor saves it as an XML file in the robot project, and the robot runs that file. No Java to write for a new auto. On the team laptops Arbor is a desktop app; in Scriptum it's the Arbor pane. Ask: why might it help that a new auto is just a file? (You can change the order of steps or a wait time without rebuilding the code.)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Arbor window. 1: Trees, every tree file in the project; + New tree makes your own. 2: Nodes, every step you can use, with a search box. The robot's own steps (SetWantedState, FollowPath) are listed with the built-in ones. Drag one onto the canvas, or right-click a node and choose Add child. 3: the canvas, the tree itself; click a node to select it. 4: the selected node's settings, called ports. 5: Problems, the XML Arbor will save, and the live log. Screenshot from the Arbor project.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node's settings are called ports, and you fill them in on the right. SetWantedState needs the robot state to ask for. FollowPath needs the name of a Choreo path, spelled exactly. Sleep needs how many milliseconds to wait. Any number can be tunable: declare an input port on the tree with a default, then write its name in braces, like {wait_msec}. On the robot it shows up on the dashboard, so the drive team can change it at the field without rebuilding. Ask: why would you want the wait time tunable? (To wait for a partner robot to get out of the way.)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the super state machine from Deck 7: buttons ask RobotContainer for a robot state. The tree does exactly the same. SetWantedState AIM calls setWantedState(AIM) on RobotContainer and answers SUCCESS in the same tick, just like a button press: it asks, it doesn't wait. To wait until the robot is really there, the tree checks with IsSystemState AIM, a condition: SUCCESS if the robot is in AIM right now, FAILURE if not. Wrap it in RetryUntilSuccessful and it checks again every tick until it succeeds. Put a Timeout around that, and a robot that never gets there can't stall the auto. FollowPath asks for the path and drives it. AUTO is the hands-off state between steps.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PickupAndScore tree you build in Arbor. The lesson's starting tree already drives ToPickup; you add the rest, in order. Sleep half a second, standing in for picking up the game piece. FollowPath ToScore. SetWantedState AIM asks for AIM; then a Timeout of 3 seconds around a retried IsSystemState AIM waits until the robot is aimed, so a bad aim can't stall the auto. Then SetWantedState SHOOT, a Sleep of 2 seconds while it shoots, and SetWantedState AUTO to hand the robot back to the tree. Ask: what happens if aiming takes 4 seconds? (The Timeout fails, so the Sequence fails, and the robot never shoots. A Fallback could add a plan B.)</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Save in Arbor (Ctrl+S) and this is the file it writes, in deploy/autos/trees. It's plain text, so git tracks it like any code. Open it in the editor and read it once: one tag per node, ports as attributes, and the nesting is the tree. The file name, main_tree_to_execute and the BehaviorTree ID are all the auto's name, and that's the name in the Auto Chooser. The nesting is the tree: the Timeout holds the retry, the retry holds IsSystemState. No Java to compile: the robot reads the XML when you pick the auto. Ask: how would you make the pickup wait tunable? (Declare an input port, then write {pickup_wait_msec} in the Sleep.)</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bit of Java in this lesson. Run the tree first and watch: it shoots without turning. Why? The robot reaches AIM the moment it's asked, so IsSystemState AIM succeeds at once. The fix is a step state. In RobotContainer's handleStateTransition, the AIM case puts the robot in AIMING while it turns, and in AIM only once the drivetrain isAimed(). Now IsSystemState AIM fails while the robot is AIMING, so the retry keeps the auto waiting until the robot is really aimed. The left bumper asks for the same AIM, so teleop gets the fix too. This is a sketch of the idea; the lesson's comments give the exact names.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tree on a clock. The Sequence starts each step when the one before succeeds, and each one has its own way of finishing: arriving, a time, a condition. These times are roughly what the lesson's solution does in the simulator: each path takes about 2.5 to 3 seconds including the settle, aiming takes a second or so. The whole thing is about 9 seconds, well inside the 15 second autonomous period. Ask: where could you save time? (Spin the shooter up while driving ToScore, with a ParallelDeadline.)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five steps on the field, using the real solution paths. 1: ToPickup from Start to Pickup. 2: wait on Pickup. 3: ToScore up to ScoreSpot, arriving pointed up the field (π/2 rad, about 1.57). 4: aim: the goal is behind and to the left, so the robot turns about 1.95 rad (about 112 degrees) in place. 5: shoot at the goal. Ask: why does the robot need to turn so far? (ScoreSpot's heading is π/2 rad, but the goal is down and to the left of it.)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does the robot pick and run a tree? Every file in deploy/autos/trees is an option in Elastic's Auto Chooser, named after the file. At boot the robot checks every auto in the background: the XML, every path file and every event name. A broken auto is left out of the chooser and raises a dashboard alert. When the drive team picks one, the robot prepares it while disabled, loading and flipping its Choreo paths, so nothing loads when Auto starts. When Auto is enabled, the robot goes to AUTO and the tree starts. Every loop, AutoManager ticks the tree once, just before RobotContainer and the subsystems run, so a state the tree asks for is acted on in the same loop. Ask: you changed a Sleep in the XML. What do you need to do? (Deploy the file and pick the auto again. No rebuild of the Java.)</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2026 competition robot the trees are bigger but read the same way. This is part of a real auto. 1: ParallelDeadline drives the first path, and the IntakeOnEvent sub-tree drops the intake when the path passes the Intake Out marker drawn in Choreo. 2: Delay waits a tunable time, middle_wait_msec, which the drive team can change on the dashboard to stay out of a partner's way. 3: ShootFor is a shared sub-tree from common.xml: SHOOT for a time, then back to AUTO. The swerve node there is FollowTrajectory. It gives up if the robot is stuck for 3 seconds (max_paused_sec), so a stuck robot can't stall the auto. Paths are drawn once and flipped for the red alliance automatically. Details on docs.marswars.org, Software, Autonomous.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four checkpoints read a running simulation, so you have to run the routine in Auto before Verify.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Running the routine in training: press Start and wait for Running. In Elastic, pick PickupAndScore in the Auto Chooser. In the Driver Station panel pick Auto and press Enable, then hands off. On the real robot it's the same steps with real tools: deploy from VS Code, pick the routine in Elastic on the drive laptop, and the FRC Driver Station (or the field, in a match) enables Auto. Remember to yell ENABLING before you enable a real robot.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the auto runs, open the Arbor pane and connect: the tree lights up node by node, orange while running, green for success, red for failure. If the auto stops somewhere unexpected, look for the red node, or the one that stayed orange. Here the robot is still turning: IsSystemState AIM goes red each tick, and the retry above it stays orange, waiting. Every run is also recorded as a .btlog file, in logs/bt in simulation and /U/logs/bt on the robot's USB stick, so you can replay it in Arbor after a match. AdvantageScope has the tree too: BehaviorTree/Active is the running auto and BehaviorTree/PickupAndScore/Transitions lists every status change. Ask: the robot never shot. Where do you look first? (Arbor: which node went red.)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Plot Drive/DistanceToPickup and Drive/DistanceToScoreSpot in AdvantageScope. These are true distances in meters. This graph was worked out from the lesson's real solution paths, so yours will look very close. The pickup line falls to nearly zero first: that's Reaches the pickup (under 0.4 m). Then it rises as the robot leaves, and the scoring spot line falls to nearly zero: Reaches the scoring spot. After that both are flat while the robot aims and shoots. Also plot Drive/TrueAimErrorRad: it should swing to about zero before the shot. Activity: before showing the graph, have students sketch what they expect.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run check fails, read it as a clue about which step broke. The run checks remember the best the robot did since you pressed Start, so after a fix press Start again for a clean run. Arbor's live view usually points straight at the broken step. Activity: read out a symptom (the robot shoots facing the wrong way) and have students name the cause (the AIM step isn't finished in RobotContainer, or AIM comes after SHOOT in the tree).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hands-on part: the Autonomous lesson in Scriptum's FRC Robot track. Do the Choreo and Arbor lessons in the Tools track first: they practice the two apps from this deck. Draw the two paths in the Choreo pane, build the tree in the Arbor pane, finish the AIM step in RobotContainer, then run it. Some checkpoints read a running simulation, so run PickupAndScore in Auto before you press Verify. Press the Dozer button for his guides, including 'Teach me, step by step'. Nothing is graded and you can verify as many times as you like.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and the end of the FRC Robot track. Today: a trajectory is a schedule, the follower checks it every 20 ms and closes the gap, a behavior tree is ticked every loop and answers running, success or failure, and our trees ask RobotContainer for the same states the buttons do. What's next is build season: join a subsystem team and write real robot code with the same tools and the same patterns. The Java lessons on the right are optional practice for today's ideas.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6.png"/><Relationship Id="rId5"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10.png"/><Relationship Id="rId6" Type="http://schemas.openxmlformats.org/officeDocument/2006/relationships/image" Target="../media/image21.png"/><Relationship Id="rId7"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11.png"/><Relationship Id="rId6" Type="http://schemas.openxmlformats.org/officeDocument/2006/relationships/image" Target="../media/image27.png"/><Relationship Id="rId7" Type="http://schemas.openxmlformats.org/officeDocument/2006/relationships/image" Target="../media/image3.png"/><Relationship Id="rId8"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7.png"/><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17.png"/><Relationship Id="rId4" Type="http://schemas.openxmlformats.org/officeDocument/2006/relationships/image" Target="../media/image1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3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3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36.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1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3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22.png"/><Relationship Id="rId4" Type="http://schemas.openxmlformats.org/officeDocument/2006/relationships/image" Target="../media/image33.png"/><Relationship Id="rId5" Type="http://schemas.openxmlformats.org/officeDocument/2006/relationships/image" Target="../media/image38.png"/><Relationship Id="rId6"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14300" cy="102870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FRC ROBOT  ·  DECK 9</a:t>
            </a:r>
          </a:p>
        </p:txBody>
      </p:sp>
      <p:pic>
        <p:nvPicPr>
          <p:cNvPr id="4" name="Picture 3" descr="mw_logo_small.png"/>
          <p:cNvPicPr>
            <a:picLocks noChangeAspect="1"/>
          </p:cNvPicPr>
          <p:nvPr/>
        </p:nvPicPr>
        <p:blipFill>
          <a:blip r:embed="rId3"/>
          <a:stretch>
            <a:fillRect/>
          </a:stretch>
        </p:blipFill>
        <p:spPr>
          <a:xfrm>
            <a:off x="15801975" y="685800"/>
            <a:ext cx="1571134" cy="1333500"/>
          </a:xfrm>
          <a:prstGeom prst="rect">
            <a:avLst/>
          </a:prstGeom>
        </p:spPr>
      </p:pic>
      <p:sp>
        <p:nvSpPr>
          <p:cNvPr id="5" name="TextBox 4"/>
          <p:cNvSpPr txBox="1"/>
          <p:nvPr/>
        </p:nvSpPr>
        <p:spPr>
          <a:xfrm>
            <a:off x="914400" y="3619500"/>
            <a:ext cx="14287500" cy="1333500"/>
          </a:xfrm>
          <a:prstGeom prst="rect">
            <a:avLst/>
          </a:prstGeom>
          <a:noFill/>
        </p:spPr>
        <p:txBody>
          <a:bodyPr wrap="square" lIns="0" rIns="0" tIns="0" bIns="0" anchor="t">
            <a:spAutoFit/>
          </a:bodyPr>
          <a:lstStyle/>
          <a:p>
            <a:pPr algn="l"/>
            <a:r>
              <a:rPr sz="7200" b="1" i="1">
                <a:solidFill>
                  <a:srgbClr val="D5000E"/>
                </a:solidFill>
                <a:latin typeface="Geist"/>
                <a:ea typeface="Geist"/>
                <a:cs typeface="Geist"/>
              </a:rPr>
              <a:t>Autonomous</a:t>
            </a:r>
          </a:p>
        </p:txBody>
      </p:sp>
      <p:sp>
        <p:nvSpPr>
          <p:cNvPr id="6" name="TextBox 5"/>
          <p:cNvSpPr txBox="1"/>
          <p:nvPr/>
        </p:nvSpPr>
        <p:spPr>
          <a:xfrm>
            <a:off x="914400" y="4953000"/>
            <a:ext cx="9525000" cy="1143000"/>
          </a:xfrm>
          <a:prstGeom prst="rect">
            <a:avLst/>
          </a:prstGeom>
          <a:noFill/>
        </p:spPr>
        <p:txBody>
          <a:bodyPr wrap="square" lIns="0" rIns="0" tIns="0" bIns="0" anchor="t">
            <a:spAutoFit/>
          </a:bodyPr>
          <a:lstStyle/>
          <a:p>
            <a:pPr algn="l">
              <a:lnSpc>
                <a:spcPct val="130000"/>
              </a:lnSpc>
            </a:pPr>
            <a:r>
              <a:rPr sz="2400" b="0" i="0">
                <a:solidFill>
                  <a:srgbClr val="9A7878"/>
                </a:solidFill>
                <a:latin typeface="Geist"/>
                <a:ea typeface="Geist"/>
                <a:cs typeface="Geist"/>
              </a:rPr>
              <a:t>Draw the paths in Choreo, then build the routine as a behavior tree in Arbor: drive, aim and shoot.</a:t>
            </a:r>
          </a:p>
        </p:txBody>
      </p:sp>
      <p:pic>
        <p:nvPicPr>
          <p:cNvPr id="7" name="Picture 6" descr="dozer_look_up.png"/>
          <p:cNvPicPr>
            <a:picLocks noChangeAspect="1"/>
          </p:cNvPicPr>
          <p:nvPr/>
        </p:nvPicPr>
        <p:blipFill>
          <a:blip r:embed="rId4"/>
          <a:stretch>
            <a:fillRect/>
          </a:stretch>
        </p:blipFill>
        <p:spPr>
          <a:xfrm>
            <a:off x="13716000" y="6858000"/>
            <a:ext cx="3429000" cy="2107613"/>
          </a:xfrm>
          <a:prstGeom prst="rect">
            <a:avLst/>
          </a:prstGeom>
        </p:spPr>
      </p:pic>
      <p:sp>
        <p:nvSpPr>
          <p:cNvPr id="8" name="Isosceles Triangle 7"/>
          <p:cNvSpPr/>
          <p:nvPr/>
        </p:nvSpPr>
        <p:spPr>
          <a:xfrm rot="10800000">
            <a:off x="16356330" y="63817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811000" y="5276850"/>
            <a:ext cx="4953000" cy="1143000"/>
          </a:xfrm>
          <a:prstGeom prst="roundRect">
            <a:avLst>
              <a:gd name="adj" fmla="val 16666"/>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077700" y="5276850"/>
            <a:ext cx="4419600" cy="114300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Hands off the controller. I've got this one!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TODAY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From a drawn path to a scored shot</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2552700" cy="447675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robot.png"/>
          <p:cNvPicPr>
            <a:picLocks noChangeAspect="1"/>
          </p:cNvPicPr>
          <p:nvPr/>
        </p:nvPicPr>
        <p:blipFill>
          <a:blip r:embed="rId3"/>
          <a:stretch>
            <a:fillRect/>
          </a:stretch>
        </p:blipFill>
        <p:spPr>
          <a:xfrm>
            <a:off x="1234440" y="3238500"/>
            <a:ext cx="731520" cy="685800"/>
          </a:xfrm>
          <a:prstGeom prst="rect">
            <a:avLst/>
          </a:prstGeom>
        </p:spPr>
      </p:pic>
      <p:sp>
        <p:nvSpPr>
          <p:cNvPr id="7" name="TextBox 6"/>
          <p:cNvSpPr txBox="1"/>
          <p:nvPr/>
        </p:nvSpPr>
        <p:spPr>
          <a:xfrm>
            <a:off x="121920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01</a:t>
            </a:r>
          </a:p>
        </p:txBody>
      </p:sp>
      <p:sp>
        <p:nvSpPr>
          <p:cNvPr id="8" name="TextBox 7"/>
          <p:cNvSpPr txBox="1"/>
          <p:nvPr/>
        </p:nvSpPr>
        <p:spPr>
          <a:xfrm>
            <a:off x="1219200" y="4667250"/>
            <a:ext cx="201930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Autonomous</a:t>
            </a:r>
          </a:p>
        </p:txBody>
      </p:sp>
      <p:sp>
        <p:nvSpPr>
          <p:cNvPr id="9" name="TextBox 8"/>
          <p:cNvSpPr txBox="1"/>
          <p:nvPr/>
        </p:nvSpPr>
        <p:spPr>
          <a:xfrm>
            <a:off x="1219200" y="5715000"/>
            <a:ext cx="2019300" cy="1524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15 seconds, no driver, two jobs</a:t>
            </a:r>
          </a:p>
        </p:txBody>
      </p:sp>
      <p:sp>
        <p:nvSpPr>
          <p:cNvPr id="10" name="Rounded Rectangle 9"/>
          <p:cNvSpPr/>
          <p:nvPr/>
        </p:nvSpPr>
        <p:spPr>
          <a:xfrm>
            <a:off x="3695700" y="2857500"/>
            <a:ext cx="2552700" cy="447675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horeo-logo.png"/>
          <p:cNvPicPr>
            <a:picLocks noChangeAspect="1"/>
          </p:cNvPicPr>
          <p:nvPr/>
        </p:nvPicPr>
        <p:blipFill>
          <a:blip r:embed="rId4"/>
          <a:stretch>
            <a:fillRect/>
          </a:stretch>
        </p:blipFill>
        <p:spPr>
          <a:xfrm>
            <a:off x="4038600" y="3238500"/>
            <a:ext cx="685800" cy="685800"/>
          </a:xfrm>
          <a:prstGeom prst="rect">
            <a:avLst/>
          </a:prstGeom>
        </p:spPr>
      </p:pic>
      <p:sp>
        <p:nvSpPr>
          <p:cNvPr id="12" name="TextBox 11"/>
          <p:cNvSpPr txBox="1"/>
          <p:nvPr/>
        </p:nvSpPr>
        <p:spPr>
          <a:xfrm>
            <a:off x="400050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02</a:t>
            </a:r>
          </a:p>
        </p:txBody>
      </p:sp>
      <p:sp>
        <p:nvSpPr>
          <p:cNvPr id="13" name="TextBox 12"/>
          <p:cNvSpPr txBox="1"/>
          <p:nvPr/>
        </p:nvSpPr>
        <p:spPr>
          <a:xfrm>
            <a:off x="4000500" y="4667250"/>
            <a:ext cx="201930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Choreo</a:t>
            </a:r>
          </a:p>
        </p:txBody>
      </p:sp>
      <p:sp>
        <p:nvSpPr>
          <p:cNvPr id="14" name="TextBox 13"/>
          <p:cNvSpPr txBox="1"/>
          <p:nvPr/>
        </p:nvSpPr>
        <p:spPr>
          <a:xfrm>
            <a:off x="4000500" y="5715000"/>
            <a:ext cx="2019300" cy="1524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Draw the paths for this field</a:t>
            </a:r>
          </a:p>
        </p:txBody>
      </p:sp>
      <p:sp>
        <p:nvSpPr>
          <p:cNvPr id="15" name="Rounded Rectangle 14"/>
          <p:cNvSpPr/>
          <p:nvPr/>
        </p:nvSpPr>
        <p:spPr>
          <a:xfrm>
            <a:off x="6477000" y="2857500"/>
            <a:ext cx="2552700" cy="447675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ezier2.png"/>
          <p:cNvPicPr>
            <a:picLocks noChangeAspect="1"/>
          </p:cNvPicPr>
          <p:nvPr/>
        </p:nvPicPr>
        <p:blipFill>
          <a:blip r:embed="rId5"/>
          <a:stretch>
            <a:fillRect/>
          </a:stretch>
        </p:blipFill>
        <p:spPr>
          <a:xfrm>
            <a:off x="6819900" y="3238500"/>
            <a:ext cx="685800" cy="685800"/>
          </a:xfrm>
          <a:prstGeom prst="rect">
            <a:avLst/>
          </a:prstGeom>
        </p:spPr>
      </p:pic>
      <p:sp>
        <p:nvSpPr>
          <p:cNvPr id="17" name="TextBox 16"/>
          <p:cNvSpPr txBox="1"/>
          <p:nvPr/>
        </p:nvSpPr>
        <p:spPr>
          <a:xfrm>
            <a:off x="678180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03</a:t>
            </a:r>
          </a:p>
        </p:txBody>
      </p:sp>
      <p:sp>
        <p:nvSpPr>
          <p:cNvPr id="18" name="TextBox 17"/>
          <p:cNvSpPr txBox="1"/>
          <p:nvPr/>
        </p:nvSpPr>
        <p:spPr>
          <a:xfrm>
            <a:off x="6781800" y="4667250"/>
            <a:ext cx="201930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Following a path</a:t>
            </a:r>
          </a:p>
        </p:txBody>
      </p:sp>
      <p:sp>
        <p:nvSpPr>
          <p:cNvPr id="19" name="TextBox 18"/>
          <p:cNvSpPr txBox="1"/>
          <p:nvPr/>
        </p:nvSpPr>
        <p:spPr>
          <a:xfrm>
            <a:off x="6781800" y="5715000"/>
            <a:ext cx="2019300" cy="1524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How a trajectory becomes wheel speeds</a:t>
            </a:r>
          </a:p>
        </p:txBody>
      </p:sp>
      <p:sp>
        <p:nvSpPr>
          <p:cNvPr id="20" name="Rounded Rectangle 19"/>
          <p:cNvSpPr/>
          <p:nvPr/>
        </p:nvSpPr>
        <p:spPr>
          <a:xfrm>
            <a:off x="9258300" y="2857500"/>
            <a:ext cx="2552700" cy="447675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diagram-3.png"/>
          <p:cNvPicPr>
            <a:picLocks noChangeAspect="1"/>
          </p:cNvPicPr>
          <p:nvPr/>
        </p:nvPicPr>
        <p:blipFill>
          <a:blip r:embed="rId6"/>
          <a:stretch>
            <a:fillRect/>
          </a:stretch>
        </p:blipFill>
        <p:spPr>
          <a:xfrm>
            <a:off x="9563100" y="3295650"/>
            <a:ext cx="762000" cy="571500"/>
          </a:xfrm>
          <a:prstGeom prst="rect">
            <a:avLst/>
          </a:prstGeom>
        </p:spPr>
      </p:pic>
      <p:sp>
        <p:nvSpPr>
          <p:cNvPr id="22" name="TextBox 21"/>
          <p:cNvSpPr txBox="1"/>
          <p:nvPr/>
        </p:nvSpPr>
        <p:spPr>
          <a:xfrm>
            <a:off x="956310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04</a:t>
            </a:r>
          </a:p>
        </p:txBody>
      </p:sp>
      <p:sp>
        <p:nvSpPr>
          <p:cNvPr id="23" name="TextBox 22"/>
          <p:cNvSpPr txBox="1"/>
          <p:nvPr/>
        </p:nvSpPr>
        <p:spPr>
          <a:xfrm>
            <a:off x="9563100" y="4667250"/>
            <a:ext cx="201930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Behavior trees</a:t>
            </a:r>
          </a:p>
        </p:txBody>
      </p:sp>
      <p:sp>
        <p:nvSpPr>
          <p:cNvPr id="24" name="TextBox 23"/>
          <p:cNvSpPr txBox="1"/>
          <p:nvPr/>
        </p:nvSpPr>
        <p:spPr>
          <a:xfrm>
            <a:off x="9563100" y="5715000"/>
            <a:ext cx="2019300" cy="1524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Ticks, Sequence, Fallback, Timeout</a:t>
            </a:r>
          </a:p>
        </p:txBody>
      </p:sp>
      <p:sp>
        <p:nvSpPr>
          <p:cNvPr id="25" name="Rounded Rectangle 24"/>
          <p:cNvSpPr/>
          <p:nvPr/>
        </p:nvSpPr>
        <p:spPr>
          <a:xfrm>
            <a:off x="12039600" y="2857500"/>
            <a:ext cx="2552700" cy="447675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arbor-logo.png"/>
          <p:cNvPicPr>
            <a:picLocks noChangeAspect="1"/>
          </p:cNvPicPr>
          <p:nvPr/>
        </p:nvPicPr>
        <p:blipFill>
          <a:blip r:embed="rId7"/>
          <a:stretch>
            <a:fillRect/>
          </a:stretch>
        </p:blipFill>
        <p:spPr>
          <a:xfrm>
            <a:off x="12378833" y="3238500"/>
            <a:ext cx="693135" cy="685800"/>
          </a:xfrm>
          <a:prstGeom prst="rect">
            <a:avLst/>
          </a:prstGeom>
        </p:spPr>
      </p:pic>
      <p:sp>
        <p:nvSpPr>
          <p:cNvPr id="27" name="TextBox 26"/>
          <p:cNvSpPr txBox="1"/>
          <p:nvPr/>
        </p:nvSpPr>
        <p:spPr>
          <a:xfrm>
            <a:off x="1234440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05</a:t>
            </a:r>
          </a:p>
        </p:txBody>
      </p:sp>
      <p:sp>
        <p:nvSpPr>
          <p:cNvPr id="28" name="TextBox 27"/>
          <p:cNvSpPr txBox="1"/>
          <p:nvPr/>
        </p:nvSpPr>
        <p:spPr>
          <a:xfrm>
            <a:off x="12344400" y="4667250"/>
            <a:ext cx="201930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Arbor</a:t>
            </a:r>
          </a:p>
        </p:txBody>
      </p:sp>
      <p:sp>
        <p:nvSpPr>
          <p:cNvPr id="29" name="TextBox 28"/>
          <p:cNvSpPr txBox="1"/>
          <p:nvPr/>
        </p:nvSpPr>
        <p:spPr>
          <a:xfrm>
            <a:off x="12344400" y="5715000"/>
            <a:ext cx="2019300" cy="1524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Build the tree from robot states</a:t>
            </a:r>
          </a:p>
        </p:txBody>
      </p:sp>
      <p:sp>
        <p:nvSpPr>
          <p:cNvPr id="30" name="Rounded Rectangle 29"/>
          <p:cNvSpPr/>
          <p:nvPr/>
        </p:nvSpPr>
        <p:spPr>
          <a:xfrm>
            <a:off x="14820900" y="2857500"/>
            <a:ext cx="2552700" cy="447675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graph-up.png"/>
          <p:cNvPicPr>
            <a:picLocks noChangeAspect="1"/>
          </p:cNvPicPr>
          <p:nvPr/>
        </p:nvPicPr>
        <p:blipFill>
          <a:blip r:embed="rId8"/>
          <a:stretch>
            <a:fillRect/>
          </a:stretch>
        </p:blipFill>
        <p:spPr>
          <a:xfrm>
            <a:off x="15163800" y="3238500"/>
            <a:ext cx="685800" cy="685800"/>
          </a:xfrm>
          <a:prstGeom prst="rect">
            <a:avLst/>
          </a:prstGeom>
        </p:spPr>
      </p:pic>
      <p:sp>
        <p:nvSpPr>
          <p:cNvPr id="32" name="TextBox 31"/>
          <p:cNvSpPr txBox="1"/>
          <p:nvPr/>
        </p:nvSpPr>
        <p:spPr>
          <a:xfrm>
            <a:off x="1512570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06</a:t>
            </a:r>
          </a:p>
        </p:txBody>
      </p:sp>
      <p:sp>
        <p:nvSpPr>
          <p:cNvPr id="33" name="TextBox 32"/>
          <p:cNvSpPr txBox="1"/>
          <p:nvPr/>
        </p:nvSpPr>
        <p:spPr>
          <a:xfrm>
            <a:off x="15125700" y="4667250"/>
            <a:ext cx="201930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Run and check</a:t>
            </a:r>
          </a:p>
        </p:txBody>
      </p:sp>
      <p:sp>
        <p:nvSpPr>
          <p:cNvPr id="34" name="TextBox 33"/>
          <p:cNvSpPr txBox="1"/>
          <p:nvPr/>
        </p:nvSpPr>
        <p:spPr>
          <a:xfrm>
            <a:off x="15125700" y="5715000"/>
            <a:ext cx="2019300" cy="1524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Watch it run, read a failure</a:t>
            </a:r>
          </a:p>
        </p:txBody>
      </p:sp>
      <p:sp>
        <p:nvSpPr>
          <p:cNvPr id="35" name="Rounded Rectangle 34"/>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robot.png"/>
          <p:cNvPicPr>
            <a:picLocks noChangeAspect="1"/>
          </p:cNvPicPr>
          <p:nvPr/>
        </p:nvPicPr>
        <p:blipFill>
          <a:blip r:embed="rId3"/>
          <a:stretch>
            <a:fillRect/>
          </a:stretch>
        </p:blipFill>
        <p:spPr>
          <a:xfrm>
            <a:off x="1333500" y="8067675"/>
            <a:ext cx="568960" cy="533400"/>
          </a:xfrm>
          <a:prstGeom prst="rect">
            <a:avLst/>
          </a:prstGeom>
        </p:spPr>
      </p:pic>
      <p:sp>
        <p:nvSpPr>
          <p:cNvPr id="37" name="TextBox 36"/>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By the end:  </a:t>
            </a:r>
            <a:r>
              <a:rPr sz="2100" b="0" i="0">
                <a:solidFill>
                  <a:srgbClr val="F0E8E8"/>
                </a:solidFill>
                <a:latin typeface="Geist"/>
                <a:ea typeface="Geist"/>
                <a:cs typeface="Geist"/>
              </a:rPr>
              <a:t>the robot drives to a game piece, drives to a scoring spot, aims and shoots, all on its own.</a:t>
            </a:r>
          </a:p>
        </p:txBody>
      </p:sp>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01</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Autonomous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Fifteen seconds with nobody driving</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Nobody can grab the controller to fix my mistakes. So plan well!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AUTONOMOUS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autonomous?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7810500" cy="396240"/>
          </a:xfrm>
          <a:prstGeom prst="rect">
            <a:avLst/>
          </a:prstGeom>
          <a:noFill/>
        </p:spPr>
        <p:txBody>
          <a:bodyPr wrap="square" lIns="0" rIns="0" tIns="0" bIns="0" anchor="t">
            <a:spAutoFit/>
          </a:bodyPr>
          <a:lstStyle/>
          <a:p>
            <a:pPr algn="l">
              <a:lnSpc>
                <a:spcPct val="125000"/>
              </a:lnSpc>
            </a:pPr>
            <a:r>
              <a:rPr sz="2400" b="1" i="0">
                <a:solidFill>
                  <a:srgbClr val="D5000E"/>
                </a:solidFill>
                <a:latin typeface="Geist"/>
                <a:ea typeface="Geist"/>
                <a:cs typeface="Geist"/>
              </a:rPr>
              <a:t>•  </a:t>
            </a:r>
            <a:r>
              <a:rPr sz="2400" b="0" i="0">
                <a:solidFill>
                  <a:srgbClr val="F0E8E8"/>
                </a:solidFill>
                <a:latin typeface="Geist"/>
                <a:ea typeface="Geist"/>
                <a:cs typeface="Geist"/>
              </a:rPr>
              <a:t>The first 15 seconds of every match</a:t>
            </a:r>
          </a:p>
        </p:txBody>
      </p:sp>
      <p:sp>
        <p:nvSpPr>
          <p:cNvPr id="6" name="TextBox 5"/>
          <p:cNvSpPr txBox="1"/>
          <p:nvPr/>
        </p:nvSpPr>
        <p:spPr>
          <a:xfrm>
            <a:off x="914400" y="3539490"/>
            <a:ext cx="7810500" cy="396240"/>
          </a:xfrm>
          <a:prstGeom prst="rect">
            <a:avLst/>
          </a:prstGeom>
          <a:noFill/>
        </p:spPr>
        <p:txBody>
          <a:bodyPr wrap="square" lIns="0" rIns="0" tIns="0" bIns="0" anchor="t">
            <a:spAutoFit/>
          </a:bodyPr>
          <a:lstStyle/>
          <a:p>
            <a:pPr algn="l">
              <a:lnSpc>
                <a:spcPct val="125000"/>
              </a:lnSpc>
            </a:pPr>
            <a:r>
              <a:rPr sz="2400" b="1" i="0">
                <a:solidFill>
                  <a:srgbClr val="D5000E"/>
                </a:solidFill>
                <a:latin typeface="Geist"/>
                <a:ea typeface="Geist"/>
                <a:cs typeface="Geist"/>
              </a:rPr>
              <a:t>•  </a:t>
            </a:r>
            <a:r>
              <a:rPr sz="2400" b="0" i="0">
                <a:solidFill>
                  <a:srgbClr val="F0E8E8"/>
                </a:solidFill>
                <a:latin typeface="Geist"/>
                <a:ea typeface="Geist"/>
                <a:cs typeface="Geist"/>
              </a:rPr>
              <a:t>Drivers stand behind the line, hands off</a:t>
            </a:r>
          </a:p>
        </p:txBody>
      </p:sp>
      <p:sp>
        <p:nvSpPr>
          <p:cNvPr id="7" name="TextBox 6"/>
          <p:cNvSpPr txBox="1"/>
          <p:nvPr/>
        </p:nvSpPr>
        <p:spPr>
          <a:xfrm>
            <a:off x="914400" y="4221480"/>
            <a:ext cx="7810500" cy="396240"/>
          </a:xfrm>
          <a:prstGeom prst="rect">
            <a:avLst/>
          </a:prstGeom>
          <a:noFill/>
        </p:spPr>
        <p:txBody>
          <a:bodyPr wrap="square" lIns="0" rIns="0" tIns="0" bIns="0" anchor="t">
            <a:spAutoFit/>
          </a:bodyPr>
          <a:lstStyle/>
          <a:p>
            <a:pPr algn="l">
              <a:lnSpc>
                <a:spcPct val="125000"/>
              </a:lnSpc>
            </a:pPr>
            <a:r>
              <a:rPr sz="2400" b="1" i="0">
                <a:solidFill>
                  <a:srgbClr val="D5000E"/>
                </a:solidFill>
                <a:latin typeface="Geist"/>
                <a:ea typeface="Geist"/>
                <a:cs typeface="Geist"/>
              </a:rPr>
              <a:t>•  </a:t>
            </a:r>
            <a:r>
              <a:rPr sz="2400" b="0" i="0">
                <a:solidFill>
                  <a:srgbClr val="F0E8E8"/>
                </a:solidFill>
                <a:latin typeface="Geist"/>
                <a:ea typeface="Geist"/>
                <a:cs typeface="Geist"/>
              </a:rPr>
              <a:t>The robot runs a routine planned ahead</a:t>
            </a:r>
          </a:p>
        </p:txBody>
      </p:sp>
      <p:sp>
        <p:nvSpPr>
          <p:cNvPr id="8" name="TextBox 7"/>
          <p:cNvSpPr txBox="1"/>
          <p:nvPr/>
        </p:nvSpPr>
        <p:spPr>
          <a:xfrm>
            <a:off x="914400" y="4903470"/>
            <a:ext cx="7810500" cy="396240"/>
          </a:xfrm>
          <a:prstGeom prst="rect">
            <a:avLst/>
          </a:prstGeom>
          <a:noFill/>
        </p:spPr>
        <p:txBody>
          <a:bodyPr wrap="square" lIns="0" rIns="0" tIns="0" bIns="0" anchor="t">
            <a:spAutoFit/>
          </a:bodyPr>
          <a:lstStyle/>
          <a:p>
            <a:pPr algn="l">
              <a:lnSpc>
                <a:spcPct val="125000"/>
              </a:lnSpc>
            </a:pPr>
            <a:r>
              <a:rPr sz="2400" b="1" i="0">
                <a:solidFill>
                  <a:srgbClr val="D5000E"/>
                </a:solidFill>
                <a:latin typeface="Geist"/>
                <a:ea typeface="Geist"/>
                <a:cs typeface="Geist"/>
              </a:rPr>
              <a:t>•  </a:t>
            </a:r>
            <a:r>
              <a:rPr sz="2400" b="0" i="0">
                <a:solidFill>
                  <a:srgbClr val="F0E8E8"/>
                </a:solidFill>
                <a:latin typeface="Geist"/>
                <a:ea typeface="Geist"/>
                <a:cs typeface="Geist"/>
              </a:rPr>
              <a:t>It must do the same thing every match</a:t>
            </a:r>
          </a:p>
        </p:txBody>
      </p:sp>
      <p:sp>
        <p:nvSpPr>
          <p:cNvPr id="9" name="TextBox 8"/>
          <p:cNvSpPr txBox="1"/>
          <p:nvPr/>
        </p:nvSpPr>
        <p:spPr>
          <a:xfrm>
            <a:off x="914400" y="5585460"/>
            <a:ext cx="7810500" cy="396240"/>
          </a:xfrm>
          <a:prstGeom prst="rect">
            <a:avLst/>
          </a:prstGeom>
          <a:noFill/>
        </p:spPr>
        <p:txBody>
          <a:bodyPr wrap="square" lIns="0" rIns="0" tIns="0" bIns="0" anchor="t">
            <a:spAutoFit/>
          </a:bodyPr>
          <a:lstStyle/>
          <a:p>
            <a:pPr algn="l">
              <a:lnSpc>
                <a:spcPct val="125000"/>
              </a:lnSpc>
            </a:pPr>
            <a:r>
              <a:rPr sz="2400" b="1" i="0">
                <a:solidFill>
                  <a:srgbClr val="D5000E"/>
                </a:solidFill>
                <a:latin typeface="Geist"/>
                <a:ea typeface="Geist"/>
                <a:cs typeface="Geist"/>
              </a:rPr>
              <a:t>•  </a:t>
            </a:r>
            <a:r>
              <a:rPr sz="2400" b="0" i="0">
                <a:solidFill>
                  <a:srgbClr val="F0E8E8"/>
                </a:solidFill>
                <a:latin typeface="Geist"/>
                <a:ea typeface="Geist"/>
                <a:cs typeface="Geist"/>
              </a:rPr>
              <a:t>Auto points often decide matches</a:t>
            </a:r>
          </a:p>
        </p:txBody>
      </p:sp>
      <p:sp>
        <p:nvSpPr>
          <p:cNvPr id="10" name="Rounded Rectangle 9"/>
          <p:cNvSpPr/>
          <p:nvPr/>
        </p:nvSpPr>
        <p:spPr>
          <a:xfrm>
            <a:off x="9525000" y="2857500"/>
            <a:ext cx="78486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906000" y="3143250"/>
            <a:ext cx="3810000" cy="1809750"/>
          </a:xfrm>
          <a:prstGeom prst="rect">
            <a:avLst/>
          </a:prstGeom>
          <a:noFill/>
        </p:spPr>
        <p:txBody>
          <a:bodyPr wrap="square" lIns="0" rIns="0" tIns="0" bIns="0" anchor="t">
            <a:spAutoFit/>
          </a:bodyPr>
          <a:lstStyle/>
          <a:p>
            <a:pPr algn="l"/>
            <a:r>
              <a:rPr sz="12750" b="1" i="0">
                <a:solidFill>
                  <a:srgbClr val="D5000E"/>
                </a:solidFill>
                <a:latin typeface="Geist"/>
                <a:ea typeface="Geist"/>
                <a:cs typeface="Geist"/>
              </a:rPr>
              <a:t>15</a:t>
            </a:r>
          </a:p>
        </p:txBody>
      </p:sp>
      <p:sp>
        <p:nvSpPr>
          <p:cNvPr id="12" name="TextBox 11"/>
          <p:cNvSpPr txBox="1"/>
          <p:nvPr/>
        </p:nvSpPr>
        <p:spPr>
          <a:xfrm>
            <a:off x="12382500" y="3810000"/>
            <a:ext cx="4572000" cy="47625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seconds</a:t>
            </a:r>
          </a:p>
        </p:txBody>
      </p:sp>
      <p:sp>
        <p:nvSpPr>
          <p:cNvPr id="13" name="TextBox 12"/>
          <p:cNvSpPr txBox="1"/>
          <p:nvPr/>
        </p:nvSpPr>
        <p:spPr>
          <a:xfrm>
            <a:off x="12382500" y="4343400"/>
            <a:ext cx="4572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with nobody driving</a:t>
            </a:r>
          </a:p>
        </p:txBody>
      </p:sp>
      <p:sp>
        <p:nvSpPr>
          <p:cNvPr id="14" name="Rounded Rectangle 13"/>
          <p:cNvSpPr/>
          <p:nvPr/>
        </p:nvSpPr>
        <p:spPr>
          <a:xfrm>
            <a:off x="9906000" y="6096000"/>
            <a:ext cx="7086600" cy="533400"/>
          </a:xfrm>
          <a:prstGeom prst="roundRect">
            <a:avLst>
              <a:gd name="adj" fmla="val 17857"/>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9906000" y="6096000"/>
            <a:ext cx="708660" cy="533400"/>
          </a:xfrm>
          <a:prstGeom prst="roundRect">
            <a:avLst>
              <a:gd name="adj" fmla="val 17857"/>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906000" y="5676900"/>
            <a:ext cx="1905000" cy="323850"/>
          </a:xfrm>
          <a:prstGeom prst="rect">
            <a:avLst/>
          </a:prstGeom>
          <a:noFill/>
        </p:spPr>
        <p:txBody>
          <a:bodyPr wrap="square" lIns="0" rIns="0" tIns="0" bIns="0" anchor="t">
            <a:spAutoFit/>
          </a:bodyPr>
          <a:lstStyle/>
          <a:p>
            <a:pPr algn="l"/>
            <a:r>
              <a:rPr sz="1800" b="1" i="0">
                <a:solidFill>
                  <a:srgbClr val="D5000E"/>
                </a:solidFill>
                <a:latin typeface="Geist"/>
                <a:ea typeface="Geist"/>
                <a:cs typeface="Geist"/>
              </a:rPr>
              <a:t>Auto</a:t>
            </a:r>
          </a:p>
        </p:txBody>
      </p:sp>
      <p:sp>
        <p:nvSpPr>
          <p:cNvPr id="17" name="TextBox 16"/>
          <p:cNvSpPr txBox="1"/>
          <p:nvPr/>
        </p:nvSpPr>
        <p:spPr>
          <a:xfrm>
            <a:off x="10805160" y="6096000"/>
            <a:ext cx="4762500" cy="533400"/>
          </a:xfrm>
          <a:prstGeom prst="rect">
            <a:avLst/>
          </a:prstGeom>
          <a:noFill/>
        </p:spPr>
        <p:txBody>
          <a:bodyPr wrap="square" lIns="0" rIns="0" tIns="0" bIns="0" anchor="ctr">
            <a:spAutoFit/>
          </a:bodyPr>
          <a:lstStyle/>
          <a:p>
            <a:pPr algn="l"/>
            <a:r>
              <a:rPr sz="1800" b="0" i="0">
                <a:solidFill>
                  <a:srgbClr val="F0E8E8"/>
                </a:solidFill>
                <a:latin typeface="Geist"/>
                <a:ea typeface="Geist"/>
                <a:cs typeface="Geist"/>
              </a:rPr>
              <a:t>Teleop: drivers in control</a:t>
            </a:r>
          </a:p>
        </p:txBody>
      </p:sp>
      <p:sp>
        <p:nvSpPr>
          <p:cNvPr id="18" name="TextBox 17"/>
          <p:cNvSpPr txBox="1"/>
          <p:nvPr/>
        </p:nvSpPr>
        <p:spPr>
          <a:xfrm>
            <a:off x="10043160" y="67246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0:15</a:t>
            </a:r>
          </a:p>
        </p:txBody>
      </p:sp>
      <p:sp>
        <p:nvSpPr>
          <p:cNvPr id="19" name="TextBox 18"/>
          <p:cNvSpPr txBox="1"/>
          <p:nvPr/>
        </p:nvSpPr>
        <p:spPr>
          <a:xfrm>
            <a:off x="15849600" y="6724650"/>
            <a:ext cx="11430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2:30</a:t>
            </a:r>
          </a:p>
        </p:txBody>
      </p:sp>
      <p:sp>
        <p:nvSpPr>
          <p:cNvPr id="20" name="TextBox 19"/>
          <p:cNvSpPr txBox="1"/>
          <p:nvPr/>
        </p:nvSpPr>
        <p:spPr>
          <a:xfrm>
            <a:off x="9906000" y="7334250"/>
            <a:ext cx="7086600" cy="6667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A match: 15 s of auto, then 2 min 15 s of teleop.</a:t>
            </a:r>
          </a:p>
        </p:txBody>
      </p:sp>
      <p:sp>
        <p:nvSpPr>
          <p:cNvPr id="21" name="TextBox 2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2" name="TextBox 2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AUTONOMOUS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Accuracy vs precision</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181600" cy="5048250"/>
          </a:xfrm>
          <a:prstGeom prst="roundRect">
            <a:avLst>
              <a:gd name="adj" fmla="val 301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981200" y="3143250"/>
            <a:ext cx="3048000" cy="30480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381250" y="3543300"/>
            <a:ext cx="2247900" cy="224790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781300" y="3943350"/>
            <a:ext cx="1447800" cy="14478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162300" y="4324350"/>
            <a:ext cx="685800" cy="68580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409950" y="4572000"/>
            <a:ext cx="190500" cy="1905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295482" y="4888249"/>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925423" y="5581120"/>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606227" y="419213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765292" y="3560011"/>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26965" y="4334433"/>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863391" y="4757940"/>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95400" y="6438900"/>
            <a:ext cx="44196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Accurate, not precise</a:t>
            </a:r>
          </a:p>
        </p:txBody>
      </p:sp>
      <p:sp>
        <p:nvSpPr>
          <p:cNvPr id="18" name="TextBox 17"/>
          <p:cNvSpPr txBox="1"/>
          <p:nvPr/>
        </p:nvSpPr>
        <p:spPr>
          <a:xfrm>
            <a:off x="1295400" y="6915150"/>
            <a:ext cx="4419600" cy="762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Lands around the spot, but all over the place.</a:t>
            </a:r>
          </a:p>
        </p:txBody>
      </p:sp>
      <p:sp>
        <p:nvSpPr>
          <p:cNvPr id="19" name="Rounded Rectangle 18"/>
          <p:cNvSpPr/>
          <p:nvPr/>
        </p:nvSpPr>
        <p:spPr>
          <a:xfrm>
            <a:off x="6553200" y="2857500"/>
            <a:ext cx="5181600" cy="5048250"/>
          </a:xfrm>
          <a:prstGeom prst="roundRect">
            <a:avLst>
              <a:gd name="adj" fmla="val 301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620000" y="3143250"/>
            <a:ext cx="3048000" cy="30480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020050" y="3543300"/>
            <a:ext cx="2247900" cy="224790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420100" y="3943350"/>
            <a:ext cx="1447800" cy="14478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801100" y="4324350"/>
            <a:ext cx="685800" cy="68580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048750" y="4572000"/>
            <a:ext cx="190500" cy="1905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915525" y="374332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067925" y="383857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01225" y="387667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991725" y="359092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782175" y="366712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86975" y="370522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34200" y="6438900"/>
            <a:ext cx="44196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Precise, not accurate</a:t>
            </a:r>
          </a:p>
        </p:txBody>
      </p:sp>
      <p:sp>
        <p:nvSpPr>
          <p:cNvPr id="32" name="TextBox 31"/>
          <p:cNvSpPr txBox="1"/>
          <p:nvPr/>
        </p:nvSpPr>
        <p:spPr>
          <a:xfrm>
            <a:off x="6934200" y="6915150"/>
            <a:ext cx="4419600" cy="762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Lands in the same place every time. The wrong place.</a:t>
            </a:r>
          </a:p>
        </p:txBody>
      </p:sp>
      <p:sp>
        <p:nvSpPr>
          <p:cNvPr id="33" name="Rounded Rectangle 32"/>
          <p:cNvSpPr/>
          <p:nvPr/>
        </p:nvSpPr>
        <p:spPr>
          <a:xfrm>
            <a:off x="12192000" y="2857500"/>
            <a:ext cx="5181600" cy="5048250"/>
          </a:xfrm>
          <a:prstGeom prst="roundRect">
            <a:avLst>
              <a:gd name="adj" fmla="val 3018"/>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3258800" y="3143250"/>
            <a:ext cx="3048000" cy="30480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3658850" y="3543300"/>
            <a:ext cx="2247900" cy="224790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4058900" y="3943350"/>
            <a:ext cx="1447800" cy="14478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4439900" y="4324350"/>
            <a:ext cx="685800" cy="68580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4687550" y="4572000"/>
            <a:ext cx="190500" cy="1905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4678025" y="456247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4811375" y="463867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4563725" y="465772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4735175" y="442912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4582775" y="448627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4792325" y="450532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573000" y="6438900"/>
            <a:ext cx="44196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Both: what auto needs</a:t>
            </a:r>
          </a:p>
        </p:txBody>
      </p:sp>
      <p:sp>
        <p:nvSpPr>
          <p:cNvPr id="46" name="TextBox 45"/>
          <p:cNvSpPr txBox="1"/>
          <p:nvPr/>
        </p:nvSpPr>
        <p:spPr>
          <a:xfrm>
            <a:off x="12573000" y="6915150"/>
            <a:ext cx="4419600" cy="762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 the spot, the same way every match.</a:t>
            </a:r>
          </a:p>
        </p:txBody>
      </p:sp>
      <p:sp>
        <p:nvSpPr>
          <p:cNvPr id="47" name="Rounded Rectangle 46"/>
          <p:cNvSpPr/>
          <p:nvPr/>
        </p:nvSpPr>
        <p:spPr>
          <a:xfrm>
            <a:off x="914400" y="821055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8" name="Picture 47" descr="crosshair.png"/>
          <p:cNvPicPr>
            <a:picLocks noChangeAspect="1"/>
          </p:cNvPicPr>
          <p:nvPr/>
        </p:nvPicPr>
        <p:blipFill>
          <a:blip r:embed="rId3"/>
          <a:stretch>
            <a:fillRect/>
          </a:stretch>
        </p:blipFill>
        <p:spPr>
          <a:xfrm>
            <a:off x="1333500" y="8372475"/>
            <a:ext cx="533400" cy="533400"/>
          </a:xfrm>
          <a:prstGeom prst="rect">
            <a:avLst/>
          </a:prstGeom>
        </p:spPr>
      </p:pic>
      <p:sp>
        <p:nvSpPr>
          <p:cNvPr id="49" name="TextBox 48"/>
          <p:cNvSpPr txBox="1"/>
          <p:nvPr/>
        </p:nvSpPr>
        <p:spPr>
          <a:xfrm>
            <a:off x="2190750" y="821055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The fix:  </a:t>
            </a:r>
            <a:r>
              <a:rPr sz="2100" b="0" i="0">
                <a:solidFill>
                  <a:srgbClr val="F0E8E8"/>
                </a:solidFill>
                <a:latin typeface="Geist"/>
                <a:ea typeface="Geist"/>
                <a:cs typeface="Geist"/>
              </a:rPr>
              <a:t>know where the robot really is, and correct every loop. That's what a path follower does.</a:t>
            </a:r>
          </a:p>
        </p:txBody>
      </p:sp>
      <p:sp>
        <p:nvSpPr>
          <p:cNvPr id="50" name="TextBox 4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1" name="TextBox 5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AUTONOMOUS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Two jobs: paths, then a tree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742950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pin-map.png"/>
          <p:cNvPicPr>
            <a:picLocks noChangeAspect="1"/>
          </p:cNvPicPr>
          <p:nvPr/>
        </p:nvPicPr>
        <p:blipFill>
          <a:blip r:embed="rId3"/>
          <a:stretch>
            <a:fillRect/>
          </a:stretch>
        </p:blipFill>
        <p:spPr>
          <a:xfrm>
            <a:off x="1333500" y="3276600"/>
            <a:ext cx="685800" cy="685800"/>
          </a:xfrm>
          <a:prstGeom prst="rect">
            <a:avLst/>
          </a:prstGeom>
        </p:spPr>
      </p:pic>
      <p:sp>
        <p:nvSpPr>
          <p:cNvPr id="7" name="TextBox 6"/>
          <p:cNvSpPr txBox="1"/>
          <p:nvPr/>
        </p:nvSpPr>
        <p:spPr>
          <a:xfrm>
            <a:off x="1333500" y="4248150"/>
            <a:ext cx="6667500" cy="5334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1   Draw the paths</a:t>
            </a:r>
          </a:p>
        </p:txBody>
      </p:sp>
      <p:sp>
        <p:nvSpPr>
          <p:cNvPr id="8" name="TextBox 7"/>
          <p:cNvSpPr txBox="1"/>
          <p:nvPr/>
        </p:nvSpPr>
        <p:spPr>
          <a:xfrm>
            <a:off x="1333500" y="4914900"/>
            <a:ext cx="6667500" cy="857250"/>
          </a:xfrm>
          <a:prstGeom prst="rect">
            <a:avLst/>
          </a:prstGeom>
          <a:noFill/>
        </p:spPr>
        <p:txBody>
          <a:bodyPr wrap="square" lIns="0" rIns="0" tIns="0" bIns="0" anchor="t">
            <a:spAutoFit/>
          </a:bodyPr>
          <a:lstStyle/>
          <a:p>
            <a:pPr algn="l">
              <a:lnSpc>
                <a:spcPct val="130000"/>
              </a:lnSpc>
            </a:pPr>
            <a:r>
              <a:rPr sz="2100" b="0" i="0">
                <a:solidFill>
                  <a:srgbClr val="9A7878"/>
                </a:solidFill>
                <a:latin typeface="Geist"/>
                <a:ea typeface="Geist"/>
                <a:cs typeface="Geist"/>
              </a:rPr>
              <a:t>In Choreo. Where the robot drives, and how fast.</a:t>
            </a:r>
          </a:p>
        </p:txBody>
      </p:sp>
      <p:sp>
        <p:nvSpPr>
          <p:cNvPr id="9" name="Rounded Rectangle 8"/>
          <p:cNvSpPr/>
          <p:nvPr/>
        </p:nvSpPr>
        <p:spPr>
          <a:xfrm>
            <a:off x="1333500" y="5962650"/>
            <a:ext cx="6591300" cy="571500"/>
          </a:xfrm>
          <a:prstGeom prst="roundRect">
            <a:avLst>
              <a:gd name="adj" fmla="val 16666"/>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81150" y="5962650"/>
            <a:ext cx="6286500" cy="571500"/>
          </a:xfrm>
          <a:prstGeom prst="rect">
            <a:avLst/>
          </a:prstGeom>
          <a:noFill/>
        </p:spPr>
        <p:txBody>
          <a:bodyPr wrap="square" lIns="0" rIns="0" tIns="0" bIns="0" anchor="ctr">
            <a:spAutoFit/>
          </a:bodyPr>
          <a:lstStyle/>
          <a:p>
            <a:pPr algn="l"/>
            <a:r>
              <a:rPr sz="1800" b="0" i="0">
                <a:solidFill>
                  <a:srgbClr val="E8C27A"/>
                </a:solidFill>
                <a:latin typeface="Geist Mono"/>
                <a:ea typeface="Geist Mono"/>
                <a:cs typeface="Geist Mono"/>
              </a:rPr>
              <a:t>ToPickup.traj   ToScore.traj</a:t>
            </a:r>
          </a:p>
        </p:txBody>
      </p:sp>
      <p:sp>
        <p:nvSpPr>
          <p:cNvPr id="11" name="Rounded Rectangle 10"/>
          <p:cNvSpPr/>
          <p:nvPr/>
        </p:nvSpPr>
        <p:spPr>
          <a:xfrm>
            <a:off x="9944100" y="2857500"/>
            <a:ext cx="742950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diagram-3.png"/>
          <p:cNvPicPr>
            <a:picLocks noChangeAspect="1"/>
          </p:cNvPicPr>
          <p:nvPr/>
        </p:nvPicPr>
        <p:blipFill>
          <a:blip r:embed="rId4"/>
          <a:stretch>
            <a:fillRect/>
          </a:stretch>
        </p:blipFill>
        <p:spPr>
          <a:xfrm>
            <a:off x="10363200" y="3276600"/>
            <a:ext cx="914400" cy="685800"/>
          </a:xfrm>
          <a:prstGeom prst="rect">
            <a:avLst/>
          </a:prstGeom>
        </p:spPr>
      </p:pic>
      <p:sp>
        <p:nvSpPr>
          <p:cNvPr id="13" name="TextBox 12"/>
          <p:cNvSpPr txBox="1"/>
          <p:nvPr/>
        </p:nvSpPr>
        <p:spPr>
          <a:xfrm>
            <a:off x="10363200" y="4248150"/>
            <a:ext cx="6667500" cy="5334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2   Build the tree</a:t>
            </a:r>
          </a:p>
        </p:txBody>
      </p:sp>
      <p:sp>
        <p:nvSpPr>
          <p:cNvPr id="14" name="TextBox 13"/>
          <p:cNvSpPr txBox="1"/>
          <p:nvPr/>
        </p:nvSpPr>
        <p:spPr>
          <a:xfrm>
            <a:off x="10363200" y="4914900"/>
            <a:ext cx="6667500" cy="857250"/>
          </a:xfrm>
          <a:prstGeom prst="rect">
            <a:avLst/>
          </a:prstGeom>
          <a:noFill/>
        </p:spPr>
        <p:txBody>
          <a:bodyPr wrap="square" lIns="0" rIns="0" tIns="0" bIns="0" anchor="t">
            <a:spAutoFit/>
          </a:bodyPr>
          <a:lstStyle/>
          <a:p>
            <a:pPr algn="l">
              <a:lnSpc>
                <a:spcPct val="130000"/>
              </a:lnSpc>
            </a:pPr>
            <a:r>
              <a:rPr sz="2100" b="0" i="0">
                <a:solidFill>
                  <a:srgbClr val="9A7878"/>
                </a:solidFill>
                <a:latin typeface="Geist"/>
                <a:ea typeface="Geist"/>
                <a:cs typeface="Geist"/>
              </a:rPr>
              <a:t>In Arbor. In what order: drive, wait, drive, aim, shoot.</a:t>
            </a:r>
          </a:p>
        </p:txBody>
      </p:sp>
      <p:sp>
        <p:nvSpPr>
          <p:cNvPr id="15" name="Rounded Rectangle 14"/>
          <p:cNvSpPr/>
          <p:nvPr/>
        </p:nvSpPr>
        <p:spPr>
          <a:xfrm>
            <a:off x="10363200" y="5962650"/>
            <a:ext cx="6591300" cy="571500"/>
          </a:xfrm>
          <a:prstGeom prst="roundRect">
            <a:avLst>
              <a:gd name="adj" fmla="val 16666"/>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610850" y="5962650"/>
            <a:ext cx="6286500" cy="571500"/>
          </a:xfrm>
          <a:prstGeom prst="rect">
            <a:avLst/>
          </a:prstGeom>
          <a:noFill/>
        </p:spPr>
        <p:txBody>
          <a:bodyPr wrap="square" lIns="0" rIns="0" tIns="0" bIns="0" anchor="ctr">
            <a:spAutoFit/>
          </a:bodyPr>
          <a:lstStyle/>
          <a:p>
            <a:pPr algn="l"/>
            <a:r>
              <a:rPr sz="1800" b="0" i="0">
                <a:solidFill>
                  <a:srgbClr val="E8C27A"/>
                </a:solidFill>
                <a:latin typeface="Geist Mono"/>
                <a:ea typeface="Geist Mono"/>
                <a:cs typeface="Geist Mono"/>
              </a:rPr>
              <a:t>trees/PickupAndScore.xml</a:t>
            </a:r>
          </a:p>
        </p:txBody>
      </p:sp>
      <p:sp>
        <p:nvSpPr>
          <p:cNvPr id="17" name="Rectangle 16"/>
          <p:cNvSpPr/>
          <p:nvPr/>
        </p:nvSpPr>
        <p:spPr>
          <a:xfrm>
            <a:off x="8505825" y="4829175"/>
            <a:ext cx="1132332"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rot="5400000">
            <a:off x="9593580" y="4777740"/>
            <a:ext cx="160020" cy="16002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4400" y="7429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signpost-split.png"/>
          <p:cNvPicPr>
            <a:picLocks noChangeAspect="1"/>
          </p:cNvPicPr>
          <p:nvPr/>
        </p:nvPicPr>
        <p:blipFill>
          <a:blip r:embed="rId5"/>
          <a:stretch>
            <a:fillRect/>
          </a:stretch>
        </p:blipFill>
        <p:spPr>
          <a:xfrm>
            <a:off x="1333500" y="7686675"/>
            <a:ext cx="541934" cy="533400"/>
          </a:xfrm>
          <a:prstGeom prst="rect">
            <a:avLst/>
          </a:prstGeom>
        </p:spPr>
      </p:pic>
      <p:sp>
        <p:nvSpPr>
          <p:cNvPr id="21" name="TextBox 20"/>
          <p:cNvSpPr txBox="1"/>
          <p:nvPr/>
        </p:nvSpPr>
        <p:spPr>
          <a:xfrm>
            <a:off x="2190750" y="7429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The paths say where.  </a:t>
            </a:r>
            <a:r>
              <a:rPr sz="2100" b="0" i="0">
                <a:solidFill>
                  <a:srgbClr val="F0E8E8"/>
                </a:solidFill>
                <a:latin typeface="Geist"/>
                <a:ea typeface="Geist"/>
                <a:cs typeface="Geist"/>
              </a:rPr>
              <a:t>The tree says in what order, and what to do if a step fails.</a:t>
            </a:r>
          </a:p>
        </p:txBody>
      </p:sp>
      <p:sp>
        <p:nvSpPr>
          <p:cNvPr id="22" name="TextBox 2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3" name="TextBox 2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02</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Choreo</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Drawing the paths the robot follows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7</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Nobody drives me in auto. I just follow the plan!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Choreo?</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7239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The app that plans our auto paths</a:t>
            </a:r>
          </a:p>
        </p:txBody>
      </p:sp>
      <p:sp>
        <p:nvSpPr>
          <p:cNvPr id="6" name="TextBox 5"/>
          <p:cNvSpPr txBox="1"/>
          <p:nvPr/>
        </p:nvSpPr>
        <p:spPr>
          <a:xfrm>
            <a:off x="914400" y="3514725"/>
            <a:ext cx="7239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Place waypoints on a map of the field</a:t>
            </a:r>
          </a:p>
        </p:txBody>
      </p:sp>
      <p:sp>
        <p:nvSpPr>
          <p:cNvPr id="7" name="TextBox 6"/>
          <p:cNvSpPr txBox="1"/>
          <p:nvPr/>
        </p:nvSpPr>
        <p:spPr>
          <a:xfrm>
            <a:off x="914400" y="4171950"/>
            <a:ext cx="7239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It solves the fastest path the robot can drive</a:t>
            </a:r>
          </a:p>
        </p:txBody>
      </p:sp>
      <p:sp>
        <p:nvSpPr>
          <p:cNvPr id="8" name="TextBox 7"/>
          <p:cNvSpPr txBox="1"/>
          <p:nvPr/>
        </p:nvSpPr>
        <p:spPr>
          <a:xfrm>
            <a:off x="914400" y="4829175"/>
            <a:ext cx="7239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Saved as a .traj file the robot follows</a:t>
            </a:r>
          </a:p>
        </p:txBody>
      </p:sp>
      <p:sp>
        <p:nvSpPr>
          <p:cNvPr id="9" name="Rectangle 8"/>
          <p:cNvSpPr/>
          <p:nvPr/>
        </p:nvSpPr>
        <p:spPr>
          <a:xfrm>
            <a:off x="9144000" y="2857500"/>
            <a:ext cx="8103949" cy="57150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horeo.png"/>
          <p:cNvPicPr>
            <a:picLocks noChangeAspect="1"/>
          </p:cNvPicPr>
          <p:nvPr/>
        </p:nvPicPr>
        <p:blipFill>
          <a:blip r:embed="rId3"/>
          <a:stretch>
            <a:fillRect/>
          </a:stretch>
        </p:blipFill>
        <p:spPr>
          <a:xfrm>
            <a:off x="9144000" y="2857500"/>
            <a:ext cx="8103949" cy="5715000"/>
          </a:xfrm>
          <a:prstGeom prst="rect">
            <a:avLst/>
          </a:prstGeom>
        </p:spPr>
      </p:pic>
      <p:sp>
        <p:nvSpPr>
          <p:cNvPr id="11" name="Rectangle 10"/>
          <p:cNvSpPr/>
          <p:nvPr/>
        </p:nvSpPr>
        <p:spPr>
          <a:xfrm>
            <a:off x="9144000" y="2857500"/>
            <a:ext cx="8103949" cy="57150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3" name="TextBox 1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Waypoints and constraints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57500"/>
            <a:ext cx="8374081" cy="59055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hot_ch_keep-out-constraints.jpg"/>
          <p:cNvPicPr>
            <a:picLocks noChangeAspect="1"/>
          </p:cNvPicPr>
          <p:nvPr/>
        </p:nvPicPr>
        <p:blipFill>
          <a:blip r:embed="rId3"/>
          <a:stretch>
            <a:fillRect/>
          </a:stretch>
        </p:blipFill>
        <p:spPr>
          <a:xfrm>
            <a:off x="914400" y="2857500"/>
            <a:ext cx="8374081" cy="5905500"/>
          </a:xfrm>
          <a:prstGeom prst="rect">
            <a:avLst/>
          </a:prstGeom>
        </p:spPr>
      </p:pic>
      <p:sp>
        <p:nvSpPr>
          <p:cNvPr id="7" name="Rectangle 6"/>
          <p:cNvSpPr/>
          <p:nvPr/>
        </p:nvSpPr>
        <p:spPr>
          <a:xfrm>
            <a:off x="914400" y="2857500"/>
            <a:ext cx="8374081" cy="59055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9867900" y="2857500"/>
            <a:ext cx="750570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210800" y="3048000"/>
            <a:ext cx="6858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Pose waypoint</a:t>
            </a:r>
          </a:p>
        </p:txBody>
      </p:sp>
      <p:sp>
        <p:nvSpPr>
          <p:cNvPr id="10" name="TextBox 9"/>
          <p:cNvSpPr txBox="1"/>
          <p:nvPr/>
        </p:nvSpPr>
        <p:spPr>
          <a:xfrm>
            <a:off x="10210800" y="3524250"/>
            <a:ext cx="6858000" cy="5715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Pins position and heading. Use for start and end.</a:t>
            </a:r>
          </a:p>
        </p:txBody>
      </p:sp>
      <p:sp>
        <p:nvSpPr>
          <p:cNvPr id="11" name="Rounded Rectangle 10"/>
          <p:cNvSpPr/>
          <p:nvPr/>
        </p:nvSpPr>
        <p:spPr>
          <a:xfrm>
            <a:off x="9867900" y="4381500"/>
            <a:ext cx="750570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210800" y="4572000"/>
            <a:ext cx="6858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Translation waypoint</a:t>
            </a:r>
          </a:p>
        </p:txBody>
      </p:sp>
      <p:sp>
        <p:nvSpPr>
          <p:cNvPr id="13" name="TextBox 12"/>
          <p:cNvSpPr txBox="1"/>
          <p:nvPr/>
        </p:nvSpPr>
        <p:spPr>
          <a:xfrm>
            <a:off x="10210800" y="5048250"/>
            <a:ext cx="6858000" cy="5715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Pins only position. Choreo picks the heading.</a:t>
            </a:r>
          </a:p>
        </p:txBody>
      </p:sp>
      <p:sp>
        <p:nvSpPr>
          <p:cNvPr id="14" name="Rounded Rectangle 13"/>
          <p:cNvSpPr/>
          <p:nvPr/>
        </p:nvSpPr>
        <p:spPr>
          <a:xfrm>
            <a:off x="9867900" y="5905500"/>
            <a:ext cx="750570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10800" y="6096000"/>
            <a:ext cx="6858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Constraint</a:t>
            </a:r>
          </a:p>
        </p:txBody>
      </p:sp>
      <p:sp>
        <p:nvSpPr>
          <p:cNvPr id="16" name="TextBox 15"/>
          <p:cNvSpPr txBox="1"/>
          <p:nvPr/>
        </p:nvSpPr>
        <p:spPr>
          <a:xfrm>
            <a:off x="10210800" y="6572250"/>
            <a:ext cx="6858000" cy="5715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A rule the path obeys, like Max Velocity in one zone.</a:t>
            </a:r>
          </a:p>
        </p:txBody>
      </p:sp>
      <p:sp>
        <p:nvSpPr>
          <p:cNvPr id="17" name="Rounded Rectangle 16"/>
          <p:cNvSpPr/>
          <p:nvPr/>
        </p:nvSpPr>
        <p:spPr>
          <a:xfrm>
            <a:off x="9867900" y="7429500"/>
            <a:ext cx="7505700" cy="1333500"/>
          </a:xfrm>
          <a:prstGeom prst="roundRect">
            <a:avLst>
              <a:gd name="adj" fmla="val 1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10800" y="7620000"/>
            <a:ext cx="6858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Starter rule</a:t>
            </a:r>
          </a:p>
        </p:txBody>
      </p:sp>
      <p:sp>
        <p:nvSpPr>
          <p:cNvPr id="19" name="TextBox 18"/>
          <p:cNvSpPr txBox="1"/>
          <p:nvPr/>
        </p:nvSpPr>
        <p:spPr>
          <a:xfrm>
            <a:off x="10210800" y="8096250"/>
            <a:ext cx="6858000" cy="5715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Every path begins with Stop at the start and end.</a:t>
            </a:r>
          </a:p>
        </p:txBody>
      </p:sp>
      <p:sp>
        <p:nvSpPr>
          <p:cNvPr id="20" name="TextBox 1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1" name="TextBox 2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Generate: solving for the fastest path</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Waypoints</a:t>
            </a:r>
          </a:p>
        </p:txBody>
      </p:sp>
      <p:sp>
        <p:nvSpPr>
          <p:cNvPr id="7" name="TextBox 6"/>
          <p:cNvSpPr txBox="1"/>
          <p:nvPr/>
        </p:nvSpPr>
        <p:spPr>
          <a:xfrm>
            <a:off x="10668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Where to go</a:t>
            </a:r>
          </a:p>
        </p:txBody>
      </p:sp>
      <p:sp>
        <p:nvSpPr>
          <p:cNvPr id="8" name="Rectangle 7"/>
          <p:cNvSpPr/>
          <p:nvPr/>
        </p:nvSpPr>
        <p:spPr>
          <a:xfrm>
            <a:off x="4519612" y="4081462"/>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4991100" y="40195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2197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3149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Constraints</a:t>
            </a:r>
          </a:p>
        </p:txBody>
      </p:sp>
      <p:sp>
        <p:nvSpPr>
          <p:cNvPr id="12" name="TextBox 11"/>
          <p:cNvSpPr txBox="1"/>
          <p:nvPr/>
        </p:nvSpPr>
        <p:spPr>
          <a:xfrm>
            <a:off x="53721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Rules to obey</a:t>
            </a:r>
          </a:p>
        </p:txBody>
      </p:sp>
      <p:sp>
        <p:nvSpPr>
          <p:cNvPr id="13" name="Rectangle 12"/>
          <p:cNvSpPr/>
          <p:nvPr/>
        </p:nvSpPr>
        <p:spPr>
          <a:xfrm>
            <a:off x="8824912" y="4081462"/>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9296400" y="40195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525000" y="3143250"/>
            <a:ext cx="3543300" cy="1905000"/>
          </a:xfrm>
          <a:prstGeom prst="roundRect">
            <a:avLst>
              <a:gd name="adj" fmla="val 8000"/>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6202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Generate</a:t>
            </a:r>
          </a:p>
        </p:txBody>
      </p:sp>
      <p:sp>
        <p:nvSpPr>
          <p:cNvPr id="17" name="TextBox 16"/>
          <p:cNvSpPr txBox="1"/>
          <p:nvPr/>
        </p:nvSpPr>
        <p:spPr>
          <a:xfrm>
            <a:off x="96774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Solve with real limits</a:t>
            </a:r>
          </a:p>
        </p:txBody>
      </p:sp>
      <p:sp>
        <p:nvSpPr>
          <p:cNvPr id="18" name="Rectangle 17"/>
          <p:cNvSpPr/>
          <p:nvPr/>
        </p:nvSpPr>
        <p:spPr>
          <a:xfrm>
            <a:off x="13130212" y="4081462"/>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5400000">
            <a:off x="13601700" y="40195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38303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3925550" y="3619500"/>
            <a:ext cx="3352800"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.traj file</a:t>
            </a:r>
          </a:p>
        </p:txBody>
      </p:sp>
      <p:sp>
        <p:nvSpPr>
          <p:cNvPr id="22" name="TextBox 21"/>
          <p:cNvSpPr txBox="1"/>
          <p:nvPr/>
        </p:nvSpPr>
        <p:spPr>
          <a:xfrm>
            <a:off x="139827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robot follows it</a:t>
            </a:r>
          </a:p>
        </p:txBody>
      </p:sp>
      <p:sp>
        <p:nvSpPr>
          <p:cNvPr id="23" name="Rounded Rectangle 22"/>
          <p:cNvSpPr/>
          <p:nvPr/>
        </p:nvSpPr>
        <p:spPr>
          <a:xfrm>
            <a:off x="914400" y="5715000"/>
            <a:ext cx="16459200" cy="1238250"/>
          </a:xfrm>
          <a:prstGeom prst="roundRect">
            <a:avLst>
              <a:gd name="adj" fmla="val 1230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exclamation-circle.png"/>
          <p:cNvPicPr>
            <a:picLocks noChangeAspect="1"/>
          </p:cNvPicPr>
          <p:nvPr/>
        </p:nvPicPr>
        <p:blipFill>
          <a:blip r:embed="rId3"/>
          <a:stretch>
            <a:fillRect/>
          </a:stretch>
        </p:blipFill>
        <p:spPr>
          <a:xfrm>
            <a:off x="1333500" y="6067425"/>
            <a:ext cx="533400" cy="533400"/>
          </a:xfrm>
          <a:prstGeom prst="rect">
            <a:avLst/>
          </a:prstGeom>
        </p:spPr>
      </p:pic>
      <p:sp>
        <p:nvSpPr>
          <p:cNvPr id="25" name="TextBox 24"/>
          <p:cNvSpPr txBox="1"/>
          <p:nvPr/>
        </p:nvSpPr>
        <p:spPr>
          <a:xfrm>
            <a:off x="2190750" y="5715000"/>
            <a:ext cx="14801850" cy="1238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Won't generate?  </a:t>
            </a:r>
            <a:r>
              <a:rPr sz="2100" b="0" i="0">
                <a:solidFill>
                  <a:srgbClr val="F0E8E8"/>
                </a:solidFill>
                <a:latin typeface="Geist"/>
                <a:ea typeface="Geist"/>
                <a:cs typeface="Geist"/>
              </a:rPr>
              <a:t>A rule the robot can't meet leaves it unsolved. Change the numbers or untick the constraint.</a:t>
            </a:r>
          </a:p>
        </p:txBody>
      </p:sp>
      <p:pic>
        <p:nvPicPr>
          <p:cNvPr id="26" name="Picture 25" descr="dozer_wide_left.png"/>
          <p:cNvPicPr>
            <a:picLocks noChangeAspect="1"/>
          </p:cNvPicPr>
          <p:nvPr/>
        </p:nvPicPr>
        <p:blipFill>
          <a:blip r:embed="rId4"/>
          <a:stretch>
            <a:fillRect/>
          </a:stretch>
        </p:blipFill>
        <p:spPr>
          <a:xfrm>
            <a:off x="15240000" y="7239000"/>
            <a:ext cx="1905000" cy="1170896"/>
          </a:xfrm>
          <a:prstGeom prst="rect">
            <a:avLst/>
          </a:prstGeom>
        </p:spPr>
      </p:pic>
      <p:sp>
        <p:nvSpPr>
          <p:cNvPr id="27" name="TextBox 26"/>
          <p:cNvSpPr txBox="1"/>
          <p:nvPr/>
        </p:nvSpPr>
        <p:spPr>
          <a:xfrm>
            <a:off x="914400" y="7429500"/>
            <a:ext cx="13335000" cy="38100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How the robot follows the .traj file is part 3 of this deck.</a:t>
            </a:r>
          </a:p>
        </p:txBody>
      </p:sp>
      <p:sp>
        <p:nvSpPr>
          <p:cNvPr id="28" name="TextBox 2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9" name="TextBox 2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Reading a generated path</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57500"/>
            <a:ext cx="10096500" cy="5844092"/>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hot_ch_path_gradient_velocity.jpg"/>
          <p:cNvPicPr>
            <a:picLocks noChangeAspect="1"/>
          </p:cNvPicPr>
          <p:nvPr/>
        </p:nvPicPr>
        <p:blipFill>
          <a:blip r:embed="rId3"/>
          <a:stretch>
            <a:fillRect/>
          </a:stretch>
        </p:blipFill>
        <p:spPr>
          <a:xfrm>
            <a:off x="914400" y="2857500"/>
            <a:ext cx="10096500" cy="5844092"/>
          </a:xfrm>
          <a:prstGeom prst="rect">
            <a:avLst/>
          </a:prstGeom>
        </p:spPr>
      </p:pic>
      <p:sp>
        <p:nvSpPr>
          <p:cNvPr id="7" name="Rectangle 6"/>
          <p:cNvSpPr/>
          <p:nvPr/>
        </p:nvSpPr>
        <p:spPr>
          <a:xfrm>
            <a:off x="914400" y="2857500"/>
            <a:ext cx="10096500" cy="5844092"/>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776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6776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0" name="TextBox 9"/>
          <p:cNvSpPr txBox="1"/>
          <p:nvPr/>
        </p:nvSpPr>
        <p:spPr>
          <a:xfrm>
            <a:off x="12287250" y="28194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Color = speed</a:t>
            </a:r>
          </a:p>
        </p:txBody>
      </p:sp>
      <p:sp>
        <p:nvSpPr>
          <p:cNvPr id="11" name="TextBox 10"/>
          <p:cNvSpPr txBox="1"/>
          <p:nvPr/>
        </p:nvSpPr>
        <p:spPr>
          <a:xfrm>
            <a:off x="12287250" y="32385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See where the robot slows for a turn</a:t>
            </a:r>
          </a:p>
        </p:txBody>
      </p:sp>
      <p:sp>
        <p:nvSpPr>
          <p:cNvPr id="12" name="Oval 11"/>
          <p:cNvSpPr/>
          <p:nvPr/>
        </p:nvSpPr>
        <p:spPr>
          <a:xfrm>
            <a:off x="11677650" y="4286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6776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 name="TextBox 13"/>
          <p:cNvSpPr txBox="1"/>
          <p:nvPr/>
        </p:nvSpPr>
        <p:spPr>
          <a:xfrm>
            <a:off x="12287250" y="424815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Timeline</a:t>
            </a:r>
          </a:p>
        </p:txBody>
      </p:sp>
      <p:sp>
        <p:nvSpPr>
          <p:cNvPr id="15" name="TextBox 14"/>
          <p:cNvSpPr txBox="1"/>
          <p:nvPr/>
        </p:nvSpPr>
        <p:spPr>
          <a:xfrm>
            <a:off x="12287250" y="466725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Press play or drag to watch it drive</a:t>
            </a:r>
          </a:p>
        </p:txBody>
      </p:sp>
      <p:sp>
        <p:nvSpPr>
          <p:cNvPr id="16" name="Oval 15"/>
          <p:cNvSpPr/>
          <p:nvPr/>
        </p:nvSpPr>
        <p:spPr>
          <a:xfrm>
            <a:off x="11677650" y="5715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6776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8" name="TextBox 17"/>
          <p:cNvSpPr txBox="1"/>
          <p:nvPr/>
        </p:nvSpPr>
        <p:spPr>
          <a:xfrm>
            <a:off x="12287250" y="56769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.traj file</a:t>
            </a:r>
          </a:p>
        </p:txBody>
      </p:sp>
      <p:sp>
        <p:nvSpPr>
          <p:cNvPr id="19" name="TextBox 18"/>
          <p:cNvSpPr txBox="1"/>
          <p:nvPr/>
        </p:nvSpPr>
        <p:spPr>
          <a:xfrm>
            <a:off x="12287250" y="60960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What the robot code loads in auto</a:t>
            </a:r>
          </a:p>
        </p:txBody>
      </p:sp>
      <p:sp>
        <p:nvSpPr>
          <p:cNvPr id="20" name="Oval 19"/>
          <p:cNvSpPr/>
          <p:nvPr/>
        </p:nvSpPr>
        <p:spPr>
          <a:xfrm>
            <a:off x="11677650" y="7143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6776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2" name="TextBox 21"/>
          <p:cNvSpPr txBox="1"/>
          <p:nvPr/>
        </p:nvSpPr>
        <p:spPr>
          <a:xfrm>
            <a:off x="12287250" y="710565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Drive Type</a:t>
            </a:r>
          </a:p>
        </p:txBody>
      </p:sp>
      <p:sp>
        <p:nvSpPr>
          <p:cNvPr id="23" name="TextBox 22"/>
          <p:cNvSpPr txBox="1"/>
          <p:nvPr/>
        </p:nvSpPr>
        <p:spPr>
          <a:xfrm>
            <a:off x="12287250" y="752475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Differential for this robot, not the default Swerve</a:t>
            </a:r>
          </a:p>
        </p:txBody>
      </p:sp>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plan for this lesson's field</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7239000" cy="6477000"/>
          </a:xfrm>
          <a:prstGeom prst="roundRect">
            <a:avLst>
              <a:gd name="adj" fmla="val 235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676400" y="2952750"/>
            <a:ext cx="5829110" cy="5688140"/>
          </a:xfrm>
          <a:prstGeom prst="roundRect">
            <a:avLst>
              <a:gd name="adj" fmla="val 1004"/>
            </a:avLst>
          </a:prstGeom>
          <a:solidFill>
            <a:srgbClr val="0E1412"/>
          </a:solidFill>
          <a:ln w="28575">
            <a:solidFill>
              <a:srgbClr val="3A4A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37172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695450" y="792651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07657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695450" y="722166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78142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695450" y="651681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627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695450" y="581196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9112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695450" y="510711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89597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695450" y="440226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60082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695450" y="369741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0567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676400" y="2952750"/>
            <a:ext cx="95250" cy="568814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3906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0</a:t>
            </a:r>
          </a:p>
        </p:txBody>
      </p:sp>
      <p:sp>
        <p:nvSpPr>
          <p:cNvPr id="24" name="TextBox 23"/>
          <p:cNvSpPr txBox="1"/>
          <p:nvPr/>
        </p:nvSpPr>
        <p:spPr>
          <a:xfrm>
            <a:off x="28003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2</a:t>
            </a:r>
          </a:p>
        </p:txBody>
      </p:sp>
      <p:sp>
        <p:nvSpPr>
          <p:cNvPr id="25" name="TextBox 24"/>
          <p:cNvSpPr txBox="1"/>
          <p:nvPr/>
        </p:nvSpPr>
        <p:spPr>
          <a:xfrm>
            <a:off x="1238250" y="710736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2</a:t>
            </a:r>
          </a:p>
        </p:txBody>
      </p:sp>
      <p:sp>
        <p:nvSpPr>
          <p:cNvPr id="26" name="TextBox 25"/>
          <p:cNvSpPr txBox="1"/>
          <p:nvPr/>
        </p:nvSpPr>
        <p:spPr>
          <a:xfrm>
            <a:off x="42100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4</a:t>
            </a:r>
          </a:p>
        </p:txBody>
      </p:sp>
      <p:sp>
        <p:nvSpPr>
          <p:cNvPr id="27" name="TextBox 26"/>
          <p:cNvSpPr txBox="1"/>
          <p:nvPr/>
        </p:nvSpPr>
        <p:spPr>
          <a:xfrm>
            <a:off x="1238250" y="569766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4</a:t>
            </a:r>
          </a:p>
        </p:txBody>
      </p:sp>
      <p:sp>
        <p:nvSpPr>
          <p:cNvPr id="28" name="TextBox 27"/>
          <p:cNvSpPr txBox="1"/>
          <p:nvPr/>
        </p:nvSpPr>
        <p:spPr>
          <a:xfrm>
            <a:off x="56197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6</a:t>
            </a:r>
          </a:p>
        </p:txBody>
      </p:sp>
      <p:sp>
        <p:nvSpPr>
          <p:cNvPr id="29" name="TextBox 28"/>
          <p:cNvSpPr txBox="1"/>
          <p:nvPr/>
        </p:nvSpPr>
        <p:spPr>
          <a:xfrm>
            <a:off x="1238250" y="428796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6</a:t>
            </a:r>
          </a:p>
        </p:txBody>
      </p:sp>
      <p:sp>
        <p:nvSpPr>
          <p:cNvPr id="30" name="TextBox 29"/>
          <p:cNvSpPr txBox="1"/>
          <p:nvPr/>
        </p:nvSpPr>
        <p:spPr>
          <a:xfrm>
            <a:off x="70294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8</a:t>
            </a:r>
          </a:p>
        </p:txBody>
      </p:sp>
      <p:sp>
        <p:nvSpPr>
          <p:cNvPr id="31" name="TextBox 30"/>
          <p:cNvSpPr txBox="1"/>
          <p:nvPr/>
        </p:nvSpPr>
        <p:spPr>
          <a:xfrm>
            <a:off x="1238250" y="287826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8</a:t>
            </a:r>
          </a:p>
        </p:txBody>
      </p:sp>
      <p:sp>
        <p:nvSpPr>
          <p:cNvPr id="32" name="Rectangle 31"/>
          <p:cNvSpPr/>
          <p:nvPr/>
        </p:nvSpPr>
        <p:spPr>
          <a:xfrm>
            <a:off x="2705100" y="7555040"/>
            <a:ext cx="61379"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2709329" y="7555040"/>
            <a:ext cx="69132"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2721312" y="7555040"/>
            <a:ext cx="76886"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2741047" y="7555040"/>
            <a:ext cx="85344"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2769241" y="7555040"/>
            <a:ext cx="9309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2805189" y="7555040"/>
            <a:ext cx="100851"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2848889" y="7555040"/>
            <a:ext cx="108604"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2900343" y="7555040"/>
            <a:ext cx="11635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2959551" y="7555040"/>
            <a:ext cx="12058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3022987" y="7554335"/>
            <a:ext cx="121291"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2" name="Connector 41"/>
          <p:cNvCxnSpPr/>
          <p:nvPr/>
        </p:nvCxnSpPr>
        <p:spPr>
          <a:xfrm flipV="1">
            <a:off x="3115704" y="7576566"/>
            <a:ext cx="64141" cy="493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179845" y="7567403"/>
            <a:ext cx="63437" cy="9163"/>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243282" y="7553306"/>
            <a:ext cx="62731" cy="14097"/>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306013" y="7534980"/>
            <a:ext cx="61322" cy="1832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367335" y="7513834"/>
            <a:ext cx="60617" cy="2114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3427952" y="7489869"/>
            <a:ext cx="59208" cy="2396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3487160" y="7465905"/>
            <a:ext cx="59207" cy="2396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546367" y="7441235"/>
            <a:ext cx="59912" cy="2467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3606279" y="7417270"/>
            <a:ext cx="59208" cy="2396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3665487" y="7394010"/>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725399" y="7370750"/>
            <a:ext cx="59207"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784606" y="7347490"/>
            <a:ext cx="59913"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844519" y="7324230"/>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3904431" y="7300970"/>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3964343" y="7277710"/>
            <a:ext cx="59207"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023550" y="7254450"/>
            <a:ext cx="59913"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083463" y="7231190"/>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4143375" y="7207929"/>
            <a:ext cx="59912" cy="23261"/>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4203287" y="7184669"/>
            <a:ext cx="59208"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262495" y="7161409"/>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4322407" y="7138149"/>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4382319" y="7114889"/>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442231" y="7091629"/>
            <a:ext cx="59913"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502144" y="7068369"/>
            <a:ext cx="59207"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561351" y="7045109"/>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621263" y="7021144"/>
            <a:ext cx="59913" cy="2396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4681176" y="6996474"/>
            <a:ext cx="59207" cy="2467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740383" y="6972510"/>
            <a:ext cx="59207" cy="2396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799590" y="6948545"/>
            <a:ext cx="59208" cy="2396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4858798" y="6927399"/>
            <a:ext cx="60617" cy="2114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4919415" y="6909073"/>
            <a:ext cx="61322" cy="1832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4980737" y="6894976"/>
            <a:ext cx="62731" cy="14097"/>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5043468" y="6885813"/>
            <a:ext cx="63437" cy="9163"/>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5106905" y="6880879"/>
            <a:ext cx="64141" cy="493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76" name="Rectangle 75"/>
          <p:cNvSpPr/>
          <p:nvPr/>
        </p:nvSpPr>
        <p:spPr>
          <a:xfrm>
            <a:off x="5142471" y="6852304"/>
            <a:ext cx="121291"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5206613" y="6850894"/>
            <a:ext cx="12058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5270049" y="6850190"/>
            <a:ext cx="11635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5329257" y="6850190"/>
            <a:ext cx="108604"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5380711" y="6850190"/>
            <a:ext cx="100851"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5424411" y="6850190"/>
            <a:ext cx="9309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5460359" y="6850190"/>
            <a:ext cx="85344"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5488553" y="6850190"/>
            <a:ext cx="76886"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5508288" y="6850190"/>
            <a:ext cx="69132"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5520271" y="6850190"/>
            <a:ext cx="61379"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5524500" y="6850190"/>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5524500" y="6850190"/>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5524500" y="6850190"/>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5524500" y="6850190"/>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5524500" y="6850190"/>
            <a:ext cx="57855"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5525205" y="6850190"/>
            <a:ext cx="59969"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5528024" y="6849485"/>
            <a:ext cx="65608"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3" name="Connector 92"/>
          <p:cNvCxnSpPr/>
          <p:nvPr/>
        </p:nvCxnSpPr>
        <p:spPr>
          <a:xfrm flipV="1">
            <a:off x="5565057" y="6868192"/>
            <a:ext cx="13393" cy="634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5578450" y="6858324"/>
            <a:ext cx="17621" cy="9868"/>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5596071" y="6842817"/>
            <a:ext cx="21850" cy="15507"/>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5617921" y="6820967"/>
            <a:ext cx="25375" cy="21850"/>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5643296" y="6793478"/>
            <a:ext cx="27489" cy="2748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5670785" y="6758940"/>
            <a:ext cx="28194" cy="34538"/>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5698979" y="6716649"/>
            <a:ext cx="28899" cy="4229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5727878" y="6668719"/>
            <a:ext cx="26784" cy="47930"/>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5754662" y="6617970"/>
            <a:ext cx="22555" cy="5074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5777217" y="6564401"/>
            <a:ext cx="17622" cy="5356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5794839" y="6510128"/>
            <a:ext cx="12687" cy="5427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5807526" y="6455150"/>
            <a:ext cx="9868" cy="54978"/>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5817394" y="6400171"/>
            <a:ext cx="7048" cy="5497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5824442" y="6344488"/>
            <a:ext cx="5639" cy="5568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5830081" y="6288805"/>
            <a:ext cx="5639" cy="5568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5835720" y="6233122"/>
            <a:ext cx="4934" cy="5568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5840654" y="6177439"/>
            <a:ext cx="7048" cy="5568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5847702" y="6122460"/>
            <a:ext cx="9163" cy="5497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5856865" y="6068187"/>
            <a:ext cx="11983" cy="5427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5868848" y="6014618"/>
            <a:ext cx="16211" cy="5356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5885059" y="5962460"/>
            <a:ext cx="20441" cy="52158"/>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5905500" y="5920169"/>
            <a:ext cx="20441" cy="4229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5925941" y="5878582"/>
            <a:ext cx="22555" cy="41587"/>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5948496" y="5838406"/>
            <a:ext cx="23965" cy="4017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5972461" y="5798934"/>
            <a:ext cx="25374" cy="3947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5997835" y="5760168"/>
            <a:ext cx="26080" cy="3876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6023915" y="5720696"/>
            <a:ext cx="26079" cy="3947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6049994" y="5681224"/>
            <a:ext cx="26080" cy="3947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6076074" y="5641753"/>
            <a:ext cx="24669" cy="3947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6100743" y="5600871"/>
            <a:ext cx="23965" cy="4088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6124708" y="5559285"/>
            <a:ext cx="21146" cy="4158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6145854" y="5516289"/>
            <a:ext cx="19736" cy="4299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6165590" y="5472589"/>
            <a:ext cx="16916" cy="43700"/>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6182506" y="5428183"/>
            <a:ext cx="14097" cy="4440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6196603" y="5383073"/>
            <a:ext cx="13392" cy="45110"/>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6209995" y="5339372"/>
            <a:ext cx="11278" cy="4370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6221273" y="5298491"/>
            <a:ext cx="9163" cy="4088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6230436" y="5261839"/>
            <a:ext cx="7753" cy="3665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6238189" y="5229416"/>
            <a:ext cx="6344" cy="3242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sp>
        <p:nvSpPr>
          <p:cNvPr id="132" name="Rectangle 131"/>
          <p:cNvSpPr/>
          <p:nvPr/>
        </p:nvSpPr>
        <p:spPr>
          <a:xfrm>
            <a:off x="6215958" y="5171942"/>
            <a:ext cx="57150" cy="86049"/>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Rectangle 132"/>
          <p:cNvSpPr/>
          <p:nvPr/>
        </p:nvSpPr>
        <p:spPr>
          <a:xfrm>
            <a:off x="6220187" y="5147977"/>
            <a:ext cx="57150" cy="8111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Rectangle 133"/>
          <p:cNvSpPr/>
          <p:nvPr/>
        </p:nvSpPr>
        <p:spPr>
          <a:xfrm>
            <a:off x="6223711" y="5127536"/>
            <a:ext cx="57150" cy="77591"/>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Rectangle 134"/>
          <p:cNvSpPr/>
          <p:nvPr/>
        </p:nvSpPr>
        <p:spPr>
          <a:xfrm>
            <a:off x="6226531" y="5111325"/>
            <a:ext cx="57150" cy="73362"/>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Rectangle 135"/>
          <p:cNvSpPr/>
          <p:nvPr/>
        </p:nvSpPr>
        <p:spPr>
          <a:xfrm>
            <a:off x="6227940" y="5100047"/>
            <a:ext cx="57150" cy="68428"/>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Rectangle 136"/>
          <p:cNvSpPr/>
          <p:nvPr/>
        </p:nvSpPr>
        <p:spPr>
          <a:xfrm>
            <a:off x="6228645" y="5092294"/>
            <a:ext cx="57150" cy="64903"/>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Rectangle 137"/>
          <p:cNvSpPr/>
          <p:nvPr/>
        </p:nvSpPr>
        <p:spPr>
          <a:xfrm>
            <a:off x="6229350" y="5092294"/>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Rectangle 138"/>
          <p:cNvSpPr/>
          <p:nvPr/>
        </p:nvSpPr>
        <p:spPr>
          <a:xfrm>
            <a:off x="6229350" y="5088769"/>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Rectangle 139"/>
          <p:cNvSpPr/>
          <p:nvPr/>
        </p:nvSpPr>
        <p:spPr>
          <a:xfrm>
            <a:off x="6229350" y="5088065"/>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Oval 140"/>
          <p:cNvSpPr/>
          <p:nvPr/>
        </p:nvSpPr>
        <p:spPr>
          <a:xfrm>
            <a:off x="2628900" y="7478840"/>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4038600" y="712641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4086225" y="7174040"/>
            <a:ext cx="114300" cy="114300"/>
          </a:xfrm>
          <a:prstGeom prst="ellipse">
            <a:avLst/>
          </a:prstGeom>
          <a:solidFill>
            <a:srgbClr val="0E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5448300" y="6773990"/>
            <a:ext cx="209550" cy="2095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5800725" y="5857684"/>
            <a:ext cx="209550" cy="2095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5848350" y="5905310"/>
            <a:ext cx="114300" cy="114300"/>
          </a:xfrm>
          <a:prstGeom prst="ellipse">
            <a:avLst/>
          </a:prstGeom>
          <a:solidFill>
            <a:srgbClr val="0E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6153150" y="5011865"/>
            <a:ext cx="209550" cy="2095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ounded Rectangle 147"/>
          <p:cNvSpPr/>
          <p:nvPr/>
        </p:nvSpPr>
        <p:spPr>
          <a:xfrm>
            <a:off x="5324475" y="6650165"/>
            <a:ext cx="457200" cy="457200"/>
          </a:xfrm>
          <a:prstGeom prst="roundRect">
            <a:avLst>
              <a:gd name="adj" fmla="val 50000"/>
            </a:avLst>
          </a:prstGeom>
          <a:noFill/>
          <a:ln w="3810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9" name="Picture 148" descr="bullseye.png"/>
          <p:cNvPicPr>
            <a:picLocks noChangeAspect="1"/>
          </p:cNvPicPr>
          <p:nvPr/>
        </p:nvPicPr>
        <p:blipFill>
          <a:blip r:embed="rId3"/>
          <a:stretch>
            <a:fillRect/>
          </a:stretch>
        </p:blipFill>
        <p:spPr>
          <a:xfrm>
            <a:off x="4276725" y="5602415"/>
            <a:ext cx="438150" cy="438150"/>
          </a:xfrm>
          <a:prstGeom prst="rect">
            <a:avLst/>
          </a:prstGeom>
        </p:spPr>
      </p:pic>
      <p:sp>
        <p:nvSpPr>
          <p:cNvPr id="150" name="TextBox 149"/>
          <p:cNvSpPr txBox="1"/>
          <p:nvPr/>
        </p:nvSpPr>
        <p:spPr>
          <a:xfrm>
            <a:off x="3733800" y="5230940"/>
            <a:ext cx="1524000" cy="285750"/>
          </a:xfrm>
          <a:prstGeom prst="rect">
            <a:avLst/>
          </a:prstGeom>
          <a:noFill/>
        </p:spPr>
        <p:txBody>
          <a:bodyPr wrap="square" lIns="0" rIns="0" tIns="0" bIns="0" anchor="t">
            <a:spAutoFit/>
          </a:bodyPr>
          <a:lstStyle/>
          <a:p>
            <a:pPr algn="ctr"/>
            <a:r>
              <a:rPr sz="1650" b="1" i="0">
                <a:solidFill>
                  <a:srgbClr val="F0E8E8"/>
                </a:solidFill>
                <a:latin typeface="Geist"/>
                <a:ea typeface="Geist"/>
                <a:cs typeface="Geist"/>
              </a:rPr>
              <a:t>Goal</a:t>
            </a:r>
          </a:p>
        </p:txBody>
      </p:sp>
      <p:pic>
        <p:nvPicPr>
          <p:cNvPr id="151" name="Picture 150" descr="dozer_top.png"/>
          <p:cNvPicPr>
            <a:picLocks noChangeAspect="1"/>
          </p:cNvPicPr>
          <p:nvPr/>
        </p:nvPicPr>
        <p:blipFill>
          <a:blip r:embed="rId4"/>
          <a:stretch>
            <a:fillRect/>
          </a:stretch>
        </p:blipFill>
        <p:spPr>
          <a:xfrm>
            <a:off x="2333625" y="7215888"/>
            <a:ext cx="800100" cy="735454"/>
          </a:xfrm>
          <a:prstGeom prst="rect">
            <a:avLst/>
          </a:prstGeom>
        </p:spPr>
      </p:pic>
      <p:sp>
        <p:nvSpPr>
          <p:cNvPr id="152" name="TextBox 151"/>
          <p:cNvSpPr txBox="1"/>
          <p:nvPr/>
        </p:nvSpPr>
        <p:spPr>
          <a:xfrm>
            <a:off x="1971675" y="8002715"/>
            <a:ext cx="1524000" cy="285750"/>
          </a:xfrm>
          <a:prstGeom prst="rect">
            <a:avLst/>
          </a:prstGeom>
          <a:noFill/>
        </p:spPr>
        <p:txBody>
          <a:bodyPr wrap="square" lIns="0" rIns="0" tIns="0" bIns="0" anchor="t">
            <a:spAutoFit/>
          </a:bodyPr>
          <a:lstStyle/>
          <a:p>
            <a:pPr algn="ctr"/>
            <a:r>
              <a:rPr sz="1650" b="1" i="0">
                <a:solidFill>
                  <a:srgbClr val="F0E8E8"/>
                </a:solidFill>
                <a:latin typeface="Geist"/>
                <a:ea typeface="Geist"/>
                <a:cs typeface="Geist"/>
              </a:rPr>
              <a:t>Start</a:t>
            </a:r>
          </a:p>
        </p:txBody>
      </p:sp>
      <p:sp>
        <p:nvSpPr>
          <p:cNvPr id="153" name="TextBox 152"/>
          <p:cNvSpPr txBox="1"/>
          <p:nvPr/>
        </p:nvSpPr>
        <p:spPr>
          <a:xfrm>
            <a:off x="4981575" y="7164515"/>
            <a:ext cx="1905000" cy="285750"/>
          </a:xfrm>
          <a:prstGeom prst="rect">
            <a:avLst/>
          </a:prstGeom>
          <a:noFill/>
        </p:spPr>
        <p:txBody>
          <a:bodyPr wrap="square" lIns="0" rIns="0" tIns="0" bIns="0" anchor="t">
            <a:spAutoFit/>
          </a:bodyPr>
          <a:lstStyle/>
          <a:p>
            <a:pPr algn="l"/>
            <a:r>
              <a:rPr sz="1650" b="1" i="0">
                <a:solidFill>
                  <a:srgbClr val="F0E8E8"/>
                </a:solidFill>
                <a:latin typeface="Geist"/>
                <a:ea typeface="Geist"/>
                <a:cs typeface="Geist"/>
              </a:rPr>
              <a:t>Pickup</a:t>
            </a:r>
          </a:p>
        </p:txBody>
      </p:sp>
      <p:sp>
        <p:nvSpPr>
          <p:cNvPr id="154" name="TextBox 153"/>
          <p:cNvSpPr txBox="1"/>
          <p:nvPr/>
        </p:nvSpPr>
        <p:spPr>
          <a:xfrm>
            <a:off x="4733925" y="4449890"/>
            <a:ext cx="3048000" cy="285750"/>
          </a:xfrm>
          <a:prstGeom prst="rect">
            <a:avLst/>
          </a:prstGeom>
          <a:noFill/>
        </p:spPr>
        <p:txBody>
          <a:bodyPr wrap="square" lIns="0" rIns="0" tIns="0" bIns="0" anchor="t">
            <a:spAutoFit/>
          </a:bodyPr>
          <a:lstStyle/>
          <a:p>
            <a:pPr algn="ctr"/>
            <a:r>
              <a:rPr sz="1650" b="1" i="0">
                <a:solidFill>
                  <a:srgbClr val="F0E8E8"/>
                </a:solidFill>
                <a:latin typeface="Geist"/>
                <a:ea typeface="Geist"/>
                <a:cs typeface="Geist"/>
              </a:rPr>
              <a:t>ScoreSpot</a:t>
            </a:r>
          </a:p>
        </p:txBody>
      </p:sp>
      <p:sp>
        <p:nvSpPr>
          <p:cNvPr id="155" name="TextBox 154"/>
          <p:cNvSpPr txBox="1"/>
          <p:nvPr/>
        </p:nvSpPr>
        <p:spPr>
          <a:xfrm>
            <a:off x="3509010" y="7936040"/>
            <a:ext cx="1905000" cy="28575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ToPickup</a:t>
            </a:r>
          </a:p>
        </p:txBody>
      </p:sp>
      <p:sp>
        <p:nvSpPr>
          <p:cNvPr id="156" name="TextBox 155"/>
          <p:cNvSpPr txBox="1"/>
          <p:nvPr/>
        </p:nvSpPr>
        <p:spPr>
          <a:xfrm>
            <a:off x="6187440" y="6314884"/>
            <a:ext cx="1905000" cy="28575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ToScore</a:t>
            </a:r>
          </a:p>
        </p:txBody>
      </p:sp>
      <p:sp>
        <p:nvSpPr>
          <p:cNvPr id="157" name="Rounded Rectangle 156"/>
          <p:cNvSpPr/>
          <p:nvPr/>
        </p:nvSpPr>
        <p:spPr>
          <a:xfrm>
            <a:off x="8572500" y="2857500"/>
            <a:ext cx="8801100" cy="609600"/>
          </a:xfrm>
          <a:prstGeom prst="roundRect">
            <a:avLst>
              <a:gd name="adj" fmla="val 1875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TextBox 157"/>
          <p:cNvSpPr txBox="1"/>
          <p:nvPr/>
        </p:nvSpPr>
        <p:spPr>
          <a:xfrm>
            <a:off x="8839200" y="2857500"/>
            <a:ext cx="2762250" cy="6096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Named pose</a:t>
            </a:r>
          </a:p>
        </p:txBody>
      </p:sp>
      <p:sp>
        <p:nvSpPr>
          <p:cNvPr id="159" name="TextBox 158"/>
          <p:cNvSpPr txBox="1"/>
          <p:nvPr/>
        </p:nvSpPr>
        <p:spPr>
          <a:xfrm>
            <a:off x="11982450" y="2857500"/>
            <a:ext cx="1047750" cy="6096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x</a:t>
            </a:r>
          </a:p>
        </p:txBody>
      </p:sp>
      <p:sp>
        <p:nvSpPr>
          <p:cNvPr id="160" name="TextBox 159"/>
          <p:cNvSpPr txBox="1"/>
          <p:nvPr/>
        </p:nvSpPr>
        <p:spPr>
          <a:xfrm>
            <a:off x="13411200" y="2857500"/>
            <a:ext cx="1047750" cy="6096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y</a:t>
            </a:r>
          </a:p>
        </p:txBody>
      </p:sp>
      <p:sp>
        <p:nvSpPr>
          <p:cNvPr id="161" name="TextBox 160"/>
          <p:cNvSpPr txBox="1"/>
          <p:nvPr/>
        </p:nvSpPr>
        <p:spPr>
          <a:xfrm>
            <a:off x="14839950" y="2857500"/>
            <a:ext cx="2419350" cy="6096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heading</a:t>
            </a:r>
          </a:p>
        </p:txBody>
      </p:sp>
      <p:sp>
        <p:nvSpPr>
          <p:cNvPr id="162" name="Rectangle 161"/>
          <p:cNvSpPr/>
          <p:nvPr/>
        </p:nvSpPr>
        <p:spPr>
          <a:xfrm>
            <a:off x="8562975" y="4267200"/>
            <a:ext cx="88201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TextBox 162"/>
          <p:cNvSpPr txBox="1"/>
          <p:nvPr/>
        </p:nvSpPr>
        <p:spPr>
          <a:xfrm>
            <a:off x="8839200" y="3562350"/>
            <a:ext cx="2724150" cy="666750"/>
          </a:xfrm>
          <a:prstGeom prst="rect">
            <a:avLst/>
          </a:prstGeom>
          <a:noFill/>
        </p:spPr>
        <p:txBody>
          <a:bodyPr wrap="square" lIns="0" rIns="0" tIns="0" bIns="0" anchor="ctr">
            <a:spAutoFit/>
          </a:bodyPr>
          <a:lstStyle/>
          <a:p>
            <a:pPr algn="l">
              <a:lnSpc>
                <a:spcPct val="120000"/>
              </a:lnSpc>
            </a:pPr>
            <a:r>
              <a:rPr sz="1800" b="1" i="0">
                <a:solidFill>
                  <a:srgbClr val="F0E8E8"/>
                </a:solidFill>
                <a:latin typeface="Geist"/>
                <a:ea typeface="Geist"/>
                <a:cs typeface="Geist"/>
              </a:rPr>
              <a:t>Start</a:t>
            </a:r>
          </a:p>
        </p:txBody>
      </p:sp>
      <p:sp>
        <p:nvSpPr>
          <p:cNvPr id="164" name="TextBox 163"/>
          <p:cNvSpPr txBox="1"/>
          <p:nvPr/>
        </p:nvSpPr>
        <p:spPr>
          <a:xfrm>
            <a:off x="11982450" y="3562350"/>
            <a:ext cx="10096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1.5</a:t>
            </a:r>
          </a:p>
        </p:txBody>
      </p:sp>
      <p:sp>
        <p:nvSpPr>
          <p:cNvPr id="165" name="TextBox 164"/>
          <p:cNvSpPr txBox="1"/>
          <p:nvPr/>
        </p:nvSpPr>
        <p:spPr>
          <a:xfrm>
            <a:off x="13411200" y="3562350"/>
            <a:ext cx="10096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1.5</a:t>
            </a:r>
          </a:p>
        </p:txBody>
      </p:sp>
      <p:sp>
        <p:nvSpPr>
          <p:cNvPr id="166" name="TextBox 165"/>
          <p:cNvSpPr txBox="1"/>
          <p:nvPr/>
        </p:nvSpPr>
        <p:spPr>
          <a:xfrm>
            <a:off x="14839950" y="3562350"/>
            <a:ext cx="23812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0 rad</a:t>
            </a:r>
          </a:p>
        </p:txBody>
      </p:sp>
      <p:sp>
        <p:nvSpPr>
          <p:cNvPr id="167" name="Rectangle 166"/>
          <p:cNvSpPr/>
          <p:nvPr/>
        </p:nvSpPr>
        <p:spPr>
          <a:xfrm>
            <a:off x="8562975" y="5029200"/>
            <a:ext cx="88201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TextBox 167"/>
          <p:cNvSpPr txBox="1"/>
          <p:nvPr/>
        </p:nvSpPr>
        <p:spPr>
          <a:xfrm>
            <a:off x="8839200" y="4324350"/>
            <a:ext cx="2724150" cy="666750"/>
          </a:xfrm>
          <a:prstGeom prst="rect">
            <a:avLst/>
          </a:prstGeom>
          <a:noFill/>
        </p:spPr>
        <p:txBody>
          <a:bodyPr wrap="square" lIns="0" rIns="0" tIns="0" bIns="0" anchor="ctr">
            <a:spAutoFit/>
          </a:bodyPr>
          <a:lstStyle/>
          <a:p>
            <a:pPr algn="l">
              <a:lnSpc>
                <a:spcPct val="120000"/>
              </a:lnSpc>
            </a:pPr>
            <a:r>
              <a:rPr sz="1800" b="1" i="0">
                <a:solidFill>
                  <a:srgbClr val="F0E8E8"/>
                </a:solidFill>
                <a:latin typeface="Geist"/>
                <a:ea typeface="Geist"/>
                <a:cs typeface="Geist"/>
              </a:rPr>
              <a:t>Pickup</a:t>
            </a:r>
          </a:p>
        </p:txBody>
      </p:sp>
      <p:sp>
        <p:nvSpPr>
          <p:cNvPr id="169" name="TextBox 168"/>
          <p:cNvSpPr txBox="1"/>
          <p:nvPr/>
        </p:nvSpPr>
        <p:spPr>
          <a:xfrm>
            <a:off x="11982450" y="4324350"/>
            <a:ext cx="10096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5.5</a:t>
            </a:r>
          </a:p>
        </p:txBody>
      </p:sp>
      <p:sp>
        <p:nvSpPr>
          <p:cNvPr id="170" name="TextBox 169"/>
          <p:cNvSpPr txBox="1"/>
          <p:nvPr/>
        </p:nvSpPr>
        <p:spPr>
          <a:xfrm>
            <a:off x="13411200" y="4324350"/>
            <a:ext cx="10096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2.5</a:t>
            </a:r>
          </a:p>
        </p:txBody>
      </p:sp>
      <p:sp>
        <p:nvSpPr>
          <p:cNvPr id="171" name="TextBox 170"/>
          <p:cNvSpPr txBox="1"/>
          <p:nvPr/>
        </p:nvSpPr>
        <p:spPr>
          <a:xfrm>
            <a:off x="14839950" y="4324350"/>
            <a:ext cx="23812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0 rad</a:t>
            </a:r>
          </a:p>
        </p:txBody>
      </p:sp>
      <p:sp>
        <p:nvSpPr>
          <p:cNvPr id="172" name="Rectangle 171"/>
          <p:cNvSpPr/>
          <p:nvPr/>
        </p:nvSpPr>
        <p:spPr>
          <a:xfrm>
            <a:off x="8562975" y="5791200"/>
            <a:ext cx="88201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TextBox 172"/>
          <p:cNvSpPr txBox="1"/>
          <p:nvPr/>
        </p:nvSpPr>
        <p:spPr>
          <a:xfrm>
            <a:off x="8839200" y="5086350"/>
            <a:ext cx="2724150" cy="666750"/>
          </a:xfrm>
          <a:prstGeom prst="rect">
            <a:avLst/>
          </a:prstGeom>
          <a:noFill/>
        </p:spPr>
        <p:txBody>
          <a:bodyPr wrap="square" lIns="0" rIns="0" tIns="0" bIns="0" anchor="ctr">
            <a:spAutoFit/>
          </a:bodyPr>
          <a:lstStyle/>
          <a:p>
            <a:pPr algn="l">
              <a:lnSpc>
                <a:spcPct val="120000"/>
              </a:lnSpc>
            </a:pPr>
            <a:r>
              <a:rPr sz="1800" b="1" i="0">
                <a:solidFill>
                  <a:srgbClr val="F0E8E8"/>
                </a:solidFill>
                <a:latin typeface="Geist"/>
                <a:ea typeface="Geist"/>
                <a:cs typeface="Geist"/>
              </a:rPr>
              <a:t>ScoreSpot</a:t>
            </a:r>
          </a:p>
        </p:txBody>
      </p:sp>
      <p:sp>
        <p:nvSpPr>
          <p:cNvPr id="174" name="TextBox 173"/>
          <p:cNvSpPr txBox="1"/>
          <p:nvPr/>
        </p:nvSpPr>
        <p:spPr>
          <a:xfrm>
            <a:off x="11982450" y="5086350"/>
            <a:ext cx="10096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6.5</a:t>
            </a:r>
          </a:p>
        </p:txBody>
      </p:sp>
      <p:sp>
        <p:nvSpPr>
          <p:cNvPr id="175" name="TextBox 174"/>
          <p:cNvSpPr txBox="1"/>
          <p:nvPr/>
        </p:nvSpPr>
        <p:spPr>
          <a:xfrm>
            <a:off x="13411200" y="5086350"/>
            <a:ext cx="10096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5.0</a:t>
            </a:r>
          </a:p>
        </p:txBody>
      </p:sp>
      <p:sp>
        <p:nvSpPr>
          <p:cNvPr id="176" name="TextBox 175"/>
          <p:cNvSpPr txBox="1"/>
          <p:nvPr/>
        </p:nvSpPr>
        <p:spPr>
          <a:xfrm>
            <a:off x="14839950" y="5086350"/>
            <a:ext cx="23812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π/2 rad</a:t>
            </a:r>
          </a:p>
        </p:txBody>
      </p:sp>
      <p:sp>
        <p:nvSpPr>
          <p:cNvPr id="177" name="Rectangle 176"/>
          <p:cNvSpPr/>
          <p:nvPr/>
        </p:nvSpPr>
        <p:spPr>
          <a:xfrm>
            <a:off x="8562975" y="6553200"/>
            <a:ext cx="88201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TextBox 177"/>
          <p:cNvSpPr txBox="1"/>
          <p:nvPr/>
        </p:nvSpPr>
        <p:spPr>
          <a:xfrm>
            <a:off x="8839200" y="5848350"/>
            <a:ext cx="2724150" cy="666750"/>
          </a:xfrm>
          <a:prstGeom prst="rect">
            <a:avLst/>
          </a:prstGeom>
          <a:noFill/>
        </p:spPr>
        <p:txBody>
          <a:bodyPr wrap="square" lIns="0" rIns="0" tIns="0" bIns="0" anchor="ctr">
            <a:spAutoFit/>
          </a:bodyPr>
          <a:lstStyle/>
          <a:p>
            <a:pPr algn="l">
              <a:lnSpc>
                <a:spcPct val="120000"/>
              </a:lnSpc>
            </a:pPr>
            <a:r>
              <a:rPr sz="1800" b="1" i="0">
                <a:solidFill>
                  <a:srgbClr val="F0E8E8"/>
                </a:solidFill>
                <a:latin typeface="Geist"/>
                <a:ea typeface="Geist"/>
                <a:cs typeface="Geist"/>
              </a:rPr>
              <a:t>Goal</a:t>
            </a:r>
          </a:p>
        </p:txBody>
      </p:sp>
      <p:sp>
        <p:nvSpPr>
          <p:cNvPr id="179" name="TextBox 178"/>
          <p:cNvSpPr txBox="1"/>
          <p:nvPr/>
        </p:nvSpPr>
        <p:spPr>
          <a:xfrm>
            <a:off x="11982450" y="5848350"/>
            <a:ext cx="10096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4.0</a:t>
            </a:r>
          </a:p>
        </p:txBody>
      </p:sp>
      <p:sp>
        <p:nvSpPr>
          <p:cNvPr id="180" name="TextBox 179"/>
          <p:cNvSpPr txBox="1"/>
          <p:nvPr/>
        </p:nvSpPr>
        <p:spPr>
          <a:xfrm>
            <a:off x="13411200" y="5848350"/>
            <a:ext cx="10096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4.0</a:t>
            </a:r>
          </a:p>
        </p:txBody>
      </p:sp>
      <p:sp>
        <p:nvSpPr>
          <p:cNvPr id="181" name="TextBox 180"/>
          <p:cNvSpPr txBox="1"/>
          <p:nvPr/>
        </p:nvSpPr>
        <p:spPr>
          <a:xfrm>
            <a:off x="14839950" y="5848350"/>
            <a:ext cx="23812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aim here</a:t>
            </a:r>
          </a:p>
        </p:txBody>
      </p:sp>
      <p:sp>
        <p:nvSpPr>
          <p:cNvPr id="182" name="Oval 181"/>
          <p:cNvSpPr/>
          <p:nvPr/>
        </p:nvSpPr>
        <p:spPr>
          <a:xfrm>
            <a:off x="8753475" y="701992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9201150" y="6953250"/>
            <a:ext cx="3810000" cy="342900"/>
          </a:xfrm>
          <a:prstGeom prst="rect">
            <a:avLst/>
          </a:prstGeom>
          <a:noFill/>
        </p:spPr>
        <p:txBody>
          <a:bodyPr wrap="square" lIns="0" rIns="0" tIns="0" bIns="0" anchor="t">
            <a:spAutoFit/>
          </a:bodyPr>
          <a:lstStyle/>
          <a:p>
            <a:pPr algn="l"/>
            <a:r>
              <a:rPr sz="1800" b="0" i="0">
                <a:solidFill>
                  <a:srgbClr val="F0E8E8"/>
                </a:solidFill>
                <a:latin typeface="Geist"/>
                <a:ea typeface="Geist"/>
                <a:cs typeface="Geist"/>
              </a:rPr>
              <a:t>Pose waypoint</a:t>
            </a:r>
          </a:p>
        </p:txBody>
      </p:sp>
      <p:sp>
        <p:nvSpPr>
          <p:cNvPr id="184" name="Oval 183"/>
          <p:cNvSpPr/>
          <p:nvPr/>
        </p:nvSpPr>
        <p:spPr>
          <a:xfrm>
            <a:off x="8753475" y="755332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8801100" y="7600950"/>
            <a:ext cx="114300" cy="114300"/>
          </a:xfrm>
          <a:prstGeom prst="ellipse">
            <a:avLst/>
          </a:prstGeom>
          <a:solidFill>
            <a:srgbClr val="0E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9201150" y="7486650"/>
            <a:ext cx="3810000" cy="342900"/>
          </a:xfrm>
          <a:prstGeom prst="rect">
            <a:avLst/>
          </a:prstGeom>
          <a:noFill/>
        </p:spPr>
        <p:txBody>
          <a:bodyPr wrap="square" lIns="0" rIns="0" tIns="0" bIns="0" anchor="t">
            <a:spAutoFit/>
          </a:bodyPr>
          <a:lstStyle/>
          <a:p>
            <a:pPr algn="l"/>
            <a:r>
              <a:rPr sz="1800" b="0" i="0">
                <a:solidFill>
                  <a:srgbClr val="F0E8E8"/>
                </a:solidFill>
                <a:latin typeface="Geist"/>
                <a:ea typeface="Geist"/>
                <a:cs typeface="Geist"/>
              </a:rPr>
              <a:t>Translation waypoint</a:t>
            </a:r>
          </a:p>
        </p:txBody>
      </p:sp>
      <p:sp>
        <p:nvSpPr>
          <p:cNvPr id="187" name="Rounded Rectangle 186"/>
          <p:cNvSpPr/>
          <p:nvPr/>
        </p:nvSpPr>
        <p:spPr>
          <a:xfrm>
            <a:off x="12382500" y="6953250"/>
            <a:ext cx="457200" cy="457200"/>
          </a:xfrm>
          <a:prstGeom prst="roundRect">
            <a:avLst>
              <a:gd name="adj" fmla="val 50000"/>
            </a:avLst>
          </a:prstGeom>
          <a:noFill/>
          <a:ln w="3810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8" name="TextBox 187"/>
          <p:cNvSpPr txBox="1"/>
          <p:nvPr/>
        </p:nvSpPr>
        <p:spPr>
          <a:xfrm>
            <a:off x="13011150" y="7010400"/>
            <a:ext cx="4286250" cy="342900"/>
          </a:xfrm>
          <a:prstGeom prst="rect">
            <a:avLst/>
          </a:prstGeom>
          <a:noFill/>
        </p:spPr>
        <p:txBody>
          <a:bodyPr wrap="square" lIns="0" rIns="0" tIns="0" bIns="0" anchor="t">
            <a:spAutoFit/>
          </a:bodyPr>
          <a:lstStyle/>
          <a:p>
            <a:pPr algn="l"/>
            <a:r>
              <a:rPr sz="1800" b="0" i="0">
                <a:solidFill>
                  <a:srgbClr val="F0E8E8"/>
                </a:solidFill>
                <a:latin typeface="Geist"/>
                <a:ea typeface="Geist"/>
                <a:cs typeface="Geist"/>
              </a:rPr>
              <a:t>The join: both paths meet here</a:t>
            </a:r>
          </a:p>
        </p:txBody>
      </p:sp>
      <p:sp>
        <p:nvSpPr>
          <p:cNvPr id="189" name="TextBox 188"/>
          <p:cNvSpPr txBox="1"/>
          <p:nvPr/>
        </p:nvSpPr>
        <p:spPr>
          <a:xfrm>
            <a:off x="8572500" y="8286750"/>
            <a:ext cx="8801100" cy="76200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Meters from the blue wall (x) and the side of the field (y). Heading 0 rad points down the field; π/2 rad points up it.</a:t>
            </a:r>
          </a:p>
        </p:txBody>
      </p:sp>
      <p:sp>
        <p:nvSpPr>
          <p:cNvPr id="190" name="TextBox 18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91" name="TextBox 19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Four rules for the two paths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886200" cy="400050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keyboard.png"/>
          <p:cNvPicPr>
            <a:picLocks noChangeAspect="1"/>
          </p:cNvPicPr>
          <p:nvPr/>
        </p:nvPicPr>
        <p:blipFill>
          <a:blip r:embed="rId3"/>
          <a:stretch>
            <a:fillRect/>
          </a:stretch>
        </p:blipFill>
        <p:spPr>
          <a:xfrm>
            <a:off x="1295400" y="3238500"/>
            <a:ext cx="1083733" cy="609600"/>
          </a:xfrm>
          <a:prstGeom prst="rect">
            <a:avLst/>
          </a:prstGeom>
        </p:spPr>
      </p:pic>
      <p:sp>
        <p:nvSpPr>
          <p:cNvPr id="7" name="TextBox 6"/>
          <p:cNvSpPr txBox="1"/>
          <p:nvPr/>
        </p:nvSpPr>
        <p:spPr>
          <a:xfrm>
            <a:off x="1295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Exact names</a:t>
            </a:r>
          </a:p>
        </p:txBody>
      </p:sp>
      <p:sp>
        <p:nvSpPr>
          <p:cNvPr id="8" name="TextBox 7"/>
          <p:cNvSpPr txBox="1"/>
          <p:nvPr/>
        </p:nvSpPr>
        <p:spPr>
          <a:xfrm>
            <a:off x="1295400" y="4676775"/>
            <a:ext cx="3124200" cy="21717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ToPickup and ToScore. The tree names them, and capitals count.</a:t>
            </a:r>
          </a:p>
        </p:txBody>
      </p:sp>
      <p:sp>
        <p:nvSpPr>
          <p:cNvPr id="9" name="Rounded Rectangle 8"/>
          <p:cNvSpPr/>
          <p:nvPr/>
        </p:nvSpPr>
        <p:spPr>
          <a:xfrm>
            <a:off x="5105400" y="2857500"/>
            <a:ext cx="3886200" cy="4000500"/>
          </a:xfrm>
          <a:prstGeom prst="roundRect">
            <a:avLst>
              <a:gd name="adj" fmla="val 3921"/>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geo-alt-fill.png"/>
          <p:cNvPicPr>
            <a:picLocks noChangeAspect="1"/>
          </p:cNvPicPr>
          <p:nvPr/>
        </p:nvPicPr>
        <p:blipFill>
          <a:blip r:embed="rId4"/>
          <a:stretch>
            <a:fillRect/>
          </a:stretch>
        </p:blipFill>
        <p:spPr>
          <a:xfrm>
            <a:off x="5486400" y="3238500"/>
            <a:ext cx="457200" cy="609600"/>
          </a:xfrm>
          <a:prstGeom prst="rect">
            <a:avLst/>
          </a:prstGeom>
        </p:spPr>
      </p:pic>
      <p:sp>
        <p:nvSpPr>
          <p:cNvPr id="11" name="TextBox 10"/>
          <p:cNvSpPr txBox="1"/>
          <p:nvPr/>
        </p:nvSpPr>
        <p:spPr>
          <a:xfrm>
            <a:off x="5486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They join up</a:t>
            </a:r>
          </a:p>
        </p:txBody>
      </p:sp>
      <p:sp>
        <p:nvSpPr>
          <p:cNvPr id="12" name="TextBox 11"/>
          <p:cNvSpPr txBox="1"/>
          <p:nvPr/>
        </p:nvSpPr>
        <p:spPr>
          <a:xfrm>
            <a:off x="5486400" y="4676775"/>
            <a:ext cx="3124200" cy="21717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ToScore starts where ToPickup ended: on Pickup, within 15 cm.</a:t>
            </a:r>
          </a:p>
        </p:txBody>
      </p:sp>
      <p:sp>
        <p:nvSpPr>
          <p:cNvPr id="13" name="Rounded Rectangle 12"/>
          <p:cNvSpPr/>
          <p:nvPr/>
        </p:nvSpPr>
        <p:spPr>
          <a:xfrm>
            <a:off x="9296400" y="2857500"/>
            <a:ext cx="3886200" cy="400050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pin-map.png"/>
          <p:cNvPicPr>
            <a:picLocks noChangeAspect="1"/>
          </p:cNvPicPr>
          <p:nvPr/>
        </p:nvPicPr>
        <p:blipFill>
          <a:blip r:embed="rId5"/>
          <a:stretch>
            <a:fillRect/>
          </a:stretch>
        </p:blipFill>
        <p:spPr>
          <a:xfrm>
            <a:off x="9677400" y="3238500"/>
            <a:ext cx="609600" cy="609600"/>
          </a:xfrm>
          <a:prstGeom prst="rect">
            <a:avLst/>
          </a:prstGeom>
        </p:spPr>
      </p:pic>
      <p:sp>
        <p:nvSpPr>
          <p:cNvPr id="15" name="TextBox 14"/>
          <p:cNvSpPr txBox="1"/>
          <p:nvPr/>
        </p:nvSpPr>
        <p:spPr>
          <a:xfrm>
            <a:off x="9677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Three waypoints</a:t>
            </a:r>
          </a:p>
        </p:txBody>
      </p:sp>
      <p:sp>
        <p:nvSpPr>
          <p:cNvPr id="16" name="TextBox 15"/>
          <p:cNvSpPr txBox="1"/>
          <p:nvPr/>
        </p:nvSpPr>
        <p:spPr>
          <a:xfrm>
            <a:off x="9677400" y="4676775"/>
            <a:ext cx="3124200" cy="21717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Pose at the start, translation in the middle, pose at the end.</a:t>
            </a:r>
          </a:p>
        </p:txBody>
      </p:sp>
      <p:sp>
        <p:nvSpPr>
          <p:cNvPr id="17" name="Rounded Rectangle 16"/>
          <p:cNvSpPr/>
          <p:nvPr/>
        </p:nvSpPr>
        <p:spPr>
          <a:xfrm>
            <a:off x="13487400" y="2857500"/>
            <a:ext cx="3886200" cy="400050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gear.png"/>
          <p:cNvPicPr>
            <a:picLocks noChangeAspect="1"/>
          </p:cNvPicPr>
          <p:nvPr/>
        </p:nvPicPr>
        <p:blipFill>
          <a:blip r:embed="rId6"/>
          <a:stretch>
            <a:fillRect/>
          </a:stretch>
        </p:blipFill>
        <p:spPr>
          <a:xfrm>
            <a:off x="13868400" y="3238500"/>
            <a:ext cx="609600" cy="609600"/>
          </a:xfrm>
          <a:prstGeom prst="rect">
            <a:avLst/>
          </a:prstGeom>
        </p:spPr>
      </p:pic>
      <p:sp>
        <p:nvSpPr>
          <p:cNvPr id="19" name="TextBox 18"/>
          <p:cNvSpPr txBox="1"/>
          <p:nvPr/>
        </p:nvSpPr>
        <p:spPr>
          <a:xfrm>
            <a:off x="13868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Differential first</a:t>
            </a:r>
          </a:p>
        </p:txBody>
      </p:sp>
      <p:sp>
        <p:nvSpPr>
          <p:cNvPr id="20" name="TextBox 19"/>
          <p:cNvSpPr txBox="1"/>
          <p:nvPr/>
        </p:nvSpPr>
        <p:spPr>
          <a:xfrm>
            <a:off x="13868400" y="4676775"/>
            <a:ext cx="3124200" cy="21717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Set Drive Type and the robot's numbers before you draw.</a:t>
            </a:r>
          </a:p>
        </p:txBody>
      </p:sp>
      <p:sp>
        <p:nvSpPr>
          <p:cNvPr id="21" name="Rounded Rectangle 20"/>
          <p:cNvSpPr/>
          <p:nvPr/>
        </p:nvSpPr>
        <p:spPr>
          <a:xfrm>
            <a:off x="914400" y="74295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eck-circle-fill.png"/>
          <p:cNvPicPr>
            <a:picLocks noChangeAspect="1"/>
          </p:cNvPicPr>
          <p:nvPr/>
        </p:nvPicPr>
        <p:blipFill>
          <a:blip r:embed="rId7"/>
          <a:stretch>
            <a:fillRect/>
          </a:stretch>
        </p:blipFill>
        <p:spPr>
          <a:xfrm>
            <a:off x="1333500" y="7639050"/>
            <a:ext cx="533400" cy="533400"/>
          </a:xfrm>
          <a:prstGeom prst="rect">
            <a:avLst/>
          </a:prstGeom>
        </p:spPr>
      </p:pic>
      <p:sp>
        <p:nvSpPr>
          <p:cNvPr id="23" name="TextBox 22"/>
          <p:cNvSpPr txBox="1"/>
          <p:nvPr/>
        </p:nvSpPr>
        <p:spPr>
          <a:xfrm>
            <a:off x="2190750" y="74295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Verify checks:  </a:t>
            </a:r>
            <a:r>
              <a:rPr sz="2100" b="0" i="0">
                <a:solidFill>
                  <a:srgbClr val="F0E8E8"/>
                </a:solidFill>
                <a:latin typeface="Geist"/>
                <a:ea typeface="Geist"/>
                <a:cs typeface="Geist"/>
              </a:rPr>
              <a:t>the names, each end within about 30 cm, and the join within 15 cm.</a:t>
            </a:r>
          </a:p>
        </p:txBody>
      </p:sp>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03</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Following a path</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How a trajectory turns into wheel speeds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14</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The path is my schedule. I check it 50 times a second.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FOLLOWING A PATH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trajectory is a schedule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4095750"/>
          </a:xfrm>
          <a:prstGeom prst="roundRect">
            <a:avLst>
              <a:gd name="adj" fmla="val 372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914525" y="5953125"/>
            <a:ext cx="50216"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926641" y="5953125"/>
            <a:ext cx="72428"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960969" y="5953125"/>
            <a:ext cx="94640"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017509" y="5953125"/>
            <a:ext cx="118872"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2098281" y="5953125"/>
            <a:ext cx="141084"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201266" y="5953125"/>
            <a:ext cx="163297"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326462" y="5953125"/>
            <a:ext cx="185509"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473871" y="5953125"/>
            <a:ext cx="207721"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643492" y="5953125"/>
            <a:ext cx="219837"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825229" y="5951106"/>
            <a:ext cx="221856"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6" name="Connector 15"/>
          <p:cNvCxnSpPr/>
          <p:nvPr/>
        </p:nvCxnSpPr>
        <p:spPr>
          <a:xfrm flipV="1">
            <a:off x="3028036" y="5951982"/>
            <a:ext cx="183756" cy="14135"/>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211792" y="5925731"/>
            <a:ext cx="181737" cy="26251"/>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393529" y="5885345"/>
            <a:ext cx="179718" cy="4038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573247" y="5832843"/>
            <a:ext cx="175679" cy="52502"/>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748926" y="5772264"/>
            <a:ext cx="173660" cy="60579"/>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922586" y="5703608"/>
            <a:ext cx="169621" cy="6865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4092207" y="5634952"/>
            <a:ext cx="169621" cy="6865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4261828" y="5564276"/>
            <a:ext cx="171640" cy="7067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4433468" y="5495620"/>
            <a:ext cx="169622" cy="6865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4603090" y="5428983"/>
            <a:ext cx="171640"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4774730" y="5362346"/>
            <a:ext cx="169621"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4944351" y="5295710"/>
            <a:ext cx="171641" cy="6663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115992" y="5229073"/>
            <a:ext cx="171640"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5287632" y="5162436"/>
            <a:ext cx="171641"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459273" y="5095799"/>
            <a:ext cx="169621"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5628894" y="5029162"/>
            <a:ext cx="171640"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5800534" y="4962525"/>
            <a:ext cx="171641"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5972175" y="4895888"/>
            <a:ext cx="171641"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6143816" y="4829251"/>
            <a:ext cx="169621"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6313437" y="4762614"/>
            <a:ext cx="171640"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6485077" y="4695977"/>
            <a:ext cx="171641"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6656718" y="4629340"/>
            <a:ext cx="171640"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6828358" y="4562704"/>
            <a:ext cx="171641" cy="6663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6999999" y="4496067"/>
            <a:ext cx="169621"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7169620" y="4429430"/>
            <a:ext cx="171640"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7341260" y="4360774"/>
            <a:ext cx="171641" cy="6865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7512901" y="4290098"/>
            <a:ext cx="169621" cy="7067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7682522" y="4221442"/>
            <a:ext cx="169621" cy="6865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7852143" y="4152786"/>
            <a:ext cx="169621" cy="6865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8021764" y="4092207"/>
            <a:ext cx="173660" cy="60579"/>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8195424" y="4039705"/>
            <a:ext cx="175679" cy="52502"/>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8371103" y="3999319"/>
            <a:ext cx="179718" cy="4038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8550821" y="3973068"/>
            <a:ext cx="181737" cy="26251"/>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8732558" y="3958933"/>
            <a:ext cx="183756" cy="14135"/>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8897264" y="3939883"/>
            <a:ext cx="221856"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9081021" y="3935844"/>
            <a:ext cx="219837"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9262758" y="3933825"/>
            <a:ext cx="207721"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9432379" y="3933825"/>
            <a:ext cx="185509"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9579788" y="3933825"/>
            <a:ext cx="163297"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9704984" y="3933825"/>
            <a:ext cx="141084"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9807969" y="3933825"/>
            <a:ext cx="118872"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9888741" y="3933825"/>
            <a:ext cx="94640"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9945281" y="3933825"/>
            <a:ext cx="72428"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9979609" y="3933825"/>
            <a:ext cx="50216"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Oval 59"/>
          <p:cNvSpPr/>
          <p:nvPr/>
        </p:nvSpPr>
        <p:spPr>
          <a:xfrm>
            <a:off x="1876425" y="59150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888541" y="59150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922869" y="59150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979409" y="59150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2060181" y="59150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2163166" y="59150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2288362" y="59150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2435771" y="59150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2605392" y="59150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2787129" y="5913006"/>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2904211" y="5842292"/>
            <a:ext cx="247650" cy="24765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170786" y="5394617"/>
            <a:ext cx="1714500" cy="285750"/>
          </a:xfrm>
          <a:prstGeom prst="rect">
            <a:avLst/>
          </a:prstGeom>
          <a:noFill/>
        </p:spPr>
        <p:txBody>
          <a:bodyPr wrap="square" lIns="0" rIns="0" tIns="0" bIns="0" anchor="t">
            <a:spAutoFit/>
          </a:bodyPr>
          <a:lstStyle/>
          <a:p>
            <a:pPr algn="ctr"/>
            <a:r>
              <a:rPr sz="1500" b="1" i="0">
                <a:solidFill>
                  <a:srgbClr val="D5000E"/>
                </a:solidFill>
                <a:latin typeface="Geist Mono"/>
                <a:ea typeface="Geist Mono"/>
                <a:cs typeface="Geist Mono"/>
              </a:rPr>
              <a:t>t = 0.51 s</a:t>
            </a:r>
          </a:p>
        </p:txBody>
      </p:sp>
      <p:sp>
        <p:nvSpPr>
          <p:cNvPr id="72" name="Oval 71"/>
          <p:cNvSpPr/>
          <p:nvPr/>
        </p:nvSpPr>
        <p:spPr>
          <a:xfrm>
            <a:off x="3154642" y="5894832"/>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3336379" y="5868581"/>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3516097" y="582819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3691776" y="5775693"/>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3865436" y="5715114"/>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4035057" y="5646458"/>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4204678" y="5577802"/>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4376318" y="5507126"/>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4545940" y="5438470"/>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4717580" y="5371833"/>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4887201" y="5305196"/>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5058842" y="5238560"/>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5230482" y="5171923"/>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5402123" y="5105286"/>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5571744" y="5038649"/>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5743384" y="4972012"/>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5915025" y="490537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6086666" y="4838738"/>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6256287" y="4772101"/>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6361252" y="4638789"/>
            <a:ext cx="247650" cy="24765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627827" y="4191114"/>
            <a:ext cx="1714500" cy="285750"/>
          </a:xfrm>
          <a:prstGeom prst="rect">
            <a:avLst/>
          </a:prstGeom>
          <a:noFill/>
        </p:spPr>
        <p:txBody>
          <a:bodyPr wrap="square" lIns="0" rIns="0" tIns="0" bIns="0" anchor="t">
            <a:spAutoFit/>
          </a:bodyPr>
          <a:lstStyle/>
          <a:p>
            <a:pPr algn="ctr"/>
            <a:r>
              <a:rPr sz="1500" b="1" i="0">
                <a:solidFill>
                  <a:srgbClr val="D5000E"/>
                </a:solidFill>
                <a:latin typeface="Geist Mono"/>
                <a:ea typeface="Geist Mono"/>
                <a:cs typeface="Geist Mono"/>
              </a:rPr>
              <a:t>t = 1.52 s</a:t>
            </a:r>
          </a:p>
        </p:txBody>
      </p:sp>
      <p:sp>
        <p:nvSpPr>
          <p:cNvPr id="93" name="Oval 92"/>
          <p:cNvSpPr/>
          <p:nvPr/>
        </p:nvSpPr>
        <p:spPr>
          <a:xfrm>
            <a:off x="6599568" y="4638827"/>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6771208" y="4572190"/>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6942849" y="4505554"/>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7112470" y="4438917"/>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7284110" y="4372280"/>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7455751" y="4303624"/>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7625372" y="4232948"/>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7794993" y="4164292"/>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7964614" y="4095636"/>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8138274" y="4035057"/>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8313953" y="398255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8493671" y="3942169"/>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8675408" y="3915918"/>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8859164" y="3901783"/>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9042921" y="3897744"/>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9224658" y="38957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9394279" y="38957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9541688" y="38957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9600209" y="3829050"/>
            <a:ext cx="247650" cy="24765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8866784" y="3381375"/>
            <a:ext cx="1714500" cy="285750"/>
          </a:xfrm>
          <a:prstGeom prst="rect">
            <a:avLst/>
          </a:prstGeom>
          <a:noFill/>
        </p:spPr>
        <p:txBody>
          <a:bodyPr wrap="square" lIns="0" rIns="0" tIns="0" bIns="0" anchor="t">
            <a:spAutoFit/>
          </a:bodyPr>
          <a:lstStyle/>
          <a:p>
            <a:pPr algn="ctr"/>
            <a:r>
              <a:rPr sz="1500" b="1" i="0">
                <a:solidFill>
                  <a:srgbClr val="D5000E"/>
                </a:solidFill>
                <a:latin typeface="Geist Mono"/>
                <a:ea typeface="Geist Mono"/>
                <a:cs typeface="Geist Mono"/>
              </a:rPr>
              <a:t>t = 2.48 s</a:t>
            </a:r>
          </a:p>
        </p:txBody>
      </p:sp>
      <p:sp>
        <p:nvSpPr>
          <p:cNvPr id="113" name="Oval 112"/>
          <p:cNvSpPr/>
          <p:nvPr/>
        </p:nvSpPr>
        <p:spPr>
          <a:xfrm>
            <a:off x="9769869" y="38957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9850641" y="38957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9907181" y="38957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9941509" y="38957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9953625" y="38957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1743075" y="6124575"/>
            <a:ext cx="1524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Start</a:t>
            </a:r>
          </a:p>
        </p:txBody>
      </p:sp>
      <p:sp>
        <p:nvSpPr>
          <p:cNvPr id="119" name="TextBox 118"/>
          <p:cNvSpPr txBox="1"/>
          <p:nvPr/>
        </p:nvSpPr>
        <p:spPr>
          <a:xfrm>
            <a:off x="8677275" y="4105275"/>
            <a:ext cx="1524000" cy="285750"/>
          </a:xfrm>
          <a:prstGeom prst="rect">
            <a:avLst/>
          </a:prstGeom>
          <a:noFill/>
        </p:spPr>
        <p:txBody>
          <a:bodyPr wrap="square" lIns="0" rIns="0" tIns="0" bIns="0" anchor="t">
            <a:spAutoFit/>
          </a:bodyPr>
          <a:lstStyle/>
          <a:p>
            <a:pPr algn="r"/>
            <a:r>
              <a:rPr sz="1650" b="0" i="0">
                <a:solidFill>
                  <a:srgbClr val="9A7878"/>
                </a:solidFill>
                <a:latin typeface="Geist"/>
                <a:ea typeface="Geist"/>
                <a:cs typeface="Geist"/>
              </a:rPr>
              <a:t>Pickup</a:t>
            </a:r>
          </a:p>
        </p:txBody>
      </p:sp>
      <p:sp>
        <p:nvSpPr>
          <p:cNvPr id="120" name="Rounded Rectangle 119"/>
          <p:cNvSpPr/>
          <p:nvPr/>
        </p:nvSpPr>
        <p:spPr>
          <a:xfrm>
            <a:off x="11811000" y="2762250"/>
            <a:ext cx="5562600" cy="4095750"/>
          </a:xfrm>
          <a:prstGeom prst="roundRect">
            <a:avLst>
              <a:gd name="adj" fmla="val 3720"/>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Box 120"/>
          <p:cNvSpPr txBox="1"/>
          <p:nvPr/>
        </p:nvSpPr>
        <p:spPr>
          <a:xfrm>
            <a:off x="12192000" y="3067050"/>
            <a:ext cx="4762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ONE SAMPLE</a:t>
            </a:r>
          </a:p>
        </p:txBody>
      </p:sp>
      <p:sp>
        <p:nvSpPr>
          <p:cNvPr id="122" name="TextBox 121"/>
          <p:cNvSpPr txBox="1"/>
          <p:nvPr/>
        </p:nvSpPr>
        <p:spPr>
          <a:xfrm>
            <a:off x="12192000" y="3543300"/>
            <a:ext cx="2476500" cy="41910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t</a:t>
            </a:r>
          </a:p>
        </p:txBody>
      </p:sp>
      <p:sp>
        <p:nvSpPr>
          <p:cNvPr id="123" name="TextBox 122"/>
          <p:cNvSpPr txBox="1"/>
          <p:nvPr/>
        </p:nvSpPr>
        <p:spPr>
          <a:xfrm>
            <a:off x="14668500" y="3543300"/>
            <a:ext cx="2476500" cy="419100"/>
          </a:xfrm>
          <a:prstGeom prst="rect">
            <a:avLst/>
          </a:prstGeom>
          <a:noFill/>
        </p:spPr>
        <p:txBody>
          <a:bodyPr wrap="square" lIns="0" rIns="0" tIns="0" bIns="0" anchor="ctr">
            <a:spAutoFit/>
          </a:bodyPr>
          <a:lstStyle/>
          <a:p>
            <a:pPr algn="l"/>
            <a:r>
              <a:rPr sz="1950" b="1" i="0">
                <a:solidFill>
                  <a:srgbClr val="E8C27A"/>
                </a:solidFill>
                <a:latin typeface="Geist Mono"/>
                <a:ea typeface="Geist Mono"/>
                <a:cs typeface="Geist Mono"/>
              </a:rPr>
              <a:t>1.52 s</a:t>
            </a:r>
          </a:p>
        </p:txBody>
      </p:sp>
      <p:sp>
        <p:nvSpPr>
          <p:cNvPr id="124" name="TextBox 123"/>
          <p:cNvSpPr txBox="1"/>
          <p:nvPr/>
        </p:nvSpPr>
        <p:spPr>
          <a:xfrm>
            <a:off x="12192000" y="4057650"/>
            <a:ext cx="2476500" cy="41910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x</a:t>
            </a:r>
          </a:p>
        </p:txBody>
      </p:sp>
      <p:sp>
        <p:nvSpPr>
          <p:cNvPr id="125" name="TextBox 124"/>
          <p:cNvSpPr txBox="1"/>
          <p:nvPr/>
        </p:nvSpPr>
        <p:spPr>
          <a:xfrm>
            <a:off x="14668500" y="4057650"/>
            <a:ext cx="2476500" cy="419100"/>
          </a:xfrm>
          <a:prstGeom prst="rect">
            <a:avLst/>
          </a:prstGeom>
          <a:noFill/>
        </p:spPr>
        <p:txBody>
          <a:bodyPr wrap="square" lIns="0" rIns="0" tIns="0" bIns="0" anchor="ctr">
            <a:spAutoFit/>
          </a:bodyPr>
          <a:lstStyle/>
          <a:p>
            <a:pPr algn="l"/>
            <a:r>
              <a:rPr sz="1950" b="1" i="0">
                <a:solidFill>
                  <a:srgbClr val="E8C27A"/>
                </a:solidFill>
                <a:latin typeface="Geist Mono"/>
                <a:ea typeface="Geist Mono"/>
                <a:cs typeface="Geist Mono"/>
              </a:rPr>
              <a:t>3.75 m</a:t>
            </a:r>
          </a:p>
        </p:txBody>
      </p:sp>
      <p:sp>
        <p:nvSpPr>
          <p:cNvPr id="126" name="TextBox 125"/>
          <p:cNvSpPr txBox="1"/>
          <p:nvPr/>
        </p:nvSpPr>
        <p:spPr>
          <a:xfrm>
            <a:off x="12192000" y="4572000"/>
            <a:ext cx="2476500" cy="41910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y</a:t>
            </a:r>
          </a:p>
        </p:txBody>
      </p:sp>
      <p:sp>
        <p:nvSpPr>
          <p:cNvPr id="127" name="TextBox 126"/>
          <p:cNvSpPr txBox="1"/>
          <p:nvPr/>
        </p:nvSpPr>
        <p:spPr>
          <a:xfrm>
            <a:off x="14668500" y="4572000"/>
            <a:ext cx="2476500" cy="419100"/>
          </a:xfrm>
          <a:prstGeom prst="rect">
            <a:avLst/>
          </a:prstGeom>
          <a:noFill/>
        </p:spPr>
        <p:txBody>
          <a:bodyPr wrap="square" lIns="0" rIns="0" tIns="0" bIns="0" anchor="ctr">
            <a:spAutoFit/>
          </a:bodyPr>
          <a:lstStyle/>
          <a:p>
            <a:pPr algn="l"/>
            <a:r>
              <a:rPr sz="1950" b="1" i="0">
                <a:solidFill>
                  <a:srgbClr val="E8C27A"/>
                </a:solidFill>
                <a:latin typeface="Geist Mono"/>
                <a:ea typeface="Geist Mono"/>
                <a:cs typeface="Geist Mono"/>
              </a:rPr>
              <a:t>2.10 m</a:t>
            </a:r>
          </a:p>
        </p:txBody>
      </p:sp>
      <p:sp>
        <p:nvSpPr>
          <p:cNvPr id="128" name="TextBox 127"/>
          <p:cNvSpPr txBox="1"/>
          <p:nvPr/>
        </p:nvSpPr>
        <p:spPr>
          <a:xfrm>
            <a:off x="12192000" y="5086350"/>
            <a:ext cx="2476500" cy="41910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heading</a:t>
            </a:r>
          </a:p>
        </p:txBody>
      </p:sp>
      <p:sp>
        <p:nvSpPr>
          <p:cNvPr id="129" name="TextBox 128"/>
          <p:cNvSpPr txBox="1"/>
          <p:nvPr/>
        </p:nvSpPr>
        <p:spPr>
          <a:xfrm>
            <a:off x="14668500" y="5086350"/>
            <a:ext cx="2476500" cy="419100"/>
          </a:xfrm>
          <a:prstGeom prst="rect">
            <a:avLst/>
          </a:prstGeom>
          <a:noFill/>
        </p:spPr>
        <p:txBody>
          <a:bodyPr wrap="square" lIns="0" rIns="0" tIns="0" bIns="0" anchor="ctr">
            <a:spAutoFit/>
          </a:bodyPr>
          <a:lstStyle/>
          <a:p>
            <a:pPr algn="l"/>
            <a:r>
              <a:rPr sz="1950" b="1" i="0">
                <a:solidFill>
                  <a:srgbClr val="E8C27A"/>
                </a:solidFill>
                <a:latin typeface="Geist Mono"/>
                <a:ea typeface="Geist Mono"/>
                <a:cs typeface="Geist Mono"/>
              </a:rPr>
              <a:t>0.37 rad</a:t>
            </a:r>
          </a:p>
        </p:txBody>
      </p:sp>
      <p:sp>
        <p:nvSpPr>
          <p:cNvPr id="130" name="TextBox 129"/>
          <p:cNvSpPr txBox="1"/>
          <p:nvPr/>
        </p:nvSpPr>
        <p:spPr>
          <a:xfrm>
            <a:off x="12192000" y="5600700"/>
            <a:ext cx="2476500" cy="41910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left wheel</a:t>
            </a:r>
          </a:p>
        </p:txBody>
      </p:sp>
      <p:sp>
        <p:nvSpPr>
          <p:cNvPr id="131" name="TextBox 130"/>
          <p:cNvSpPr txBox="1"/>
          <p:nvPr/>
        </p:nvSpPr>
        <p:spPr>
          <a:xfrm>
            <a:off x="14668500" y="5600700"/>
            <a:ext cx="2476500" cy="419100"/>
          </a:xfrm>
          <a:prstGeom prst="rect">
            <a:avLst/>
          </a:prstGeom>
          <a:noFill/>
        </p:spPr>
        <p:txBody>
          <a:bodyPr wrap="square" lIns="0" rIns="0" tIns="0" bIns="0" anchor="ctr">
            <a:spAutoFit/>
          </a:bodyPr>
          <a:lstStyle/>
          <a:p>
            <a:pPr algn="l"/>
            <a:r>
              <a:rPr sz="1950" b="1" i="0">
                <a:solidFill>
                  <a:srgbClr val="E8C27A"/>
                </a:solidFill>
                <a:latin typeface="Geist Mono"/>
                <a:ea typeface="Geist Mono"/>
                <a:cs typeface="Geist Mono"/>
              </a:rPr>
              <a:t>1.81 m/s</a:t>
            </a:r>
          </a:p>
        </p:txBody>
      </p:sp>
      <p:sp>
        <p:nvSpPr>
          <p:cNvPr id="132" name="TextBox 131"/>
          <p:cNvSpPr txBox="1"/>
          <p:nvPr/>
        </p:nvSpPr>
        <p:spPr>
          <a:xfrm>
            <a:off x="12192000" y="6115050"/>
            <a:ext cx="2476500" cy="41910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right wheel</a:t>
            </a:r>
          </a:p>
        </p:txBody>
      </p:sp>
      <p:sp>
        <p:nvSpPr>
          <p:cNvPr id="133" name="TextBox 132"/>
          <p:cNvSpPr txBox="1"/>
          <p:nvPr/>
        </p:nvSpPr>
        <p:spPr>
          <a:xfrm>
            <a:off x="14668500" y="6115050"/>
            <a:ext cx="2476500" cy="419100"/>
          </a:xfrm>
          <a:prstGeom prst="rect">
            <a:avLst/>
          </a:prstGeom>
          <a:noFill/>
        </p:spPr>
        <p:txBody>
          <a:bodyPr wrap="square" lIns="0" rIns="0" tIns="0" bIns="0" anchor="ctr">
            <a:spAutoFit/>
          </a:bodyPr>
          <a:lstStyle/>
          <a:p>
            <a:pPr algn="l"/>
            <a:r>
              <a:rPr sz="1950" b="1" i="0">
                <a:solidFill>
                  <a:srgbClr val="E8C27A"/>
                </a:solidFill>
                <a:latin typeface="Geist Mono"/>
                <a:ea typeface="Geist Mono"/>
                <a:cs typeface="Geist Mono"/>
              </a:rPr>
              <a:t>1.79 m/s</a:t>
            </a:r>
          </a:p>
        </p:txBody>
      </p:sp>
      <p:sp>
        <p:nvSpPr>
          <p:cNvPr id="134" name="Rounded Rectangle 133"/>
          <p:cNvSpPr/>
          <p:nvPr/>
        </p:nvSpPr>
        <p:spPr>
          <a:xfrm>
            <a:off x="914400" y="733425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5" name="Picture 134" descr="stopwatch.png"/>
          <p:cNvPicPr>
            <a:picLocks noChangeAspect="1"/>
          </p:cNvPicPr>
          <p:nvPr/>
        </p:nvPicPr>
        <p:blipFill>
          <a:blip r:embed="rId3"/>
          <a:stretch>
            <a:fillRect/>
          </a:stretch>
        </p:blipFill>
        <p:spPr>
          <a:xfrm>
            <a:off x="1333500" y="7591425"/>
            <a:ext cx="481781" cy="533400"/>
          </a:xfrm>
          <a:prstGeom prst="rect">
            <a:avLst/>
          </a:prstGeom>
        </p:spPr>
      </p:pic>
      <p:sp>
        <p:nvSpPr>
          <p:cNvPr id="136" name="TextBox 135"/>
          <p:cNvSpPr txBox="1"/>
          <p:nvPr/>
        </p:nvSpPr>
        <p:spPr>
          <a:xfrm>
            <a:off x="2190750" y="733425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Read the dots:  </a:t>
            </a:r>
            <a:r>
              <a:rPr sz="2100" b="0" i="0">
                <a:solidFill>
                  <a:srgbClr val="F0E8E8"/>
                </a:solidFill>
                <a:latin typeface="Geist"/>
                <a:ea typeface="Geist"/>
                <a:cs typeface="Geist"/>
              </a:rPr>
              <a:t>bunched up where the robot is slow, spread out where it's fast. Samples are about 0.05 s apart.</a:t>
            </a:r>
          </a:p>
        </p:txBody>
      </p:sp>
      <p:sp>
        <p:nvSpPr>
          <p:cNvPr id="137" name="TextBox 13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38" name="TextBox 1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FOLLOWING A PATH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follower, every 20 ms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048000"/>
            <a:ext cx="3614738"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43000" y="32385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32385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8" name="TextBox 7"/>
          <p:cNvSpPr txBox="1"/>
          <p:nvPr/>
        </p:nvSpPr>
        <p:spPr>
          <a:xfrm>
            <a:off x="1066800" y="3810000"/>
            <a:ext cx="3309938" cy="5334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Where should I be?</a:t>
            </a:r>
          </a:p>
        </p:txBody>
      </p:sp>
      <p:sp>
        <p:nvSpPr>
          <p:cNvPr id="9" name="TextBox 8"/>
          <p:cNvSpPr txBox="1"/>
          <p:nvPr/>
        </p:nvSpPr>
        <p:spPr>
          <a:xfrm>
            <a:off x="1104900" y="4419600"/>
            <a:ext cx="32337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path's sample for right now</a:t>
            </a:r>
          </a:p>
        </p:txBody>
      </p:sp>
      <p:sp>
        <p:nvSpPr>
          <p:cNvPr id="10" name="Rectangle 9"/>
          <p:cNvSpPr/>
          <p:nvPr/>
        </p:nvSpPr>
        <p:spPr>
          <a:xfrm>
            <a:off x="4591050" y="408146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sosceles Triangle 10"/>
          <p:cNvSpPr/>
          <p:nvPr/>
        </p:nvSpPr>
        <p:spPr>
          <a:xfrm rot="5400000">
            <a:off x="4967288" y="40195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95888" y="3048000"/>
            <a:ext cx="3614738"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5424488" y="32385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24488" y="32385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5" name="TextBox 14"/>
          <p:cNvSpPr txBox="1"/>
          <p:nvPr/>
        </p:nvSpPr>
        <p:spPr>
          <a:xfrm>
            <a:off x="5348288" y="3810000"/>
            <a:ext cx="3309938" cy="5334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Where am I?</a:t>
            </a:r>
          </a:p>
        </p:txBody>
      </p:sp>
      <p:sp>
        <p:nvSpPr>
          <p:cNvPr id="16" name="TextBox 15"/>
          <p:cNvSpPr txBox="1"/>
          <p:nvPr/>
        </p:nvSpPr>
        <p:spPr>
          <a:xfrm>
            <a:off x="5386388" y="4419600"/>
            <a:ext cx="32337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pose estimate</a:t>
            </a:r>
          </a:p>
        </p:txBody>
      </p:sp>
      <p:sp>
        <p:nvSpPr>
          <p:cNvPr id="17" name="Rectangle 16"/>
          <p:cNvSpPr/>
          <p:nvPr/>
        </p:nvSpPr>
        <p:spPr>
          <a:xfrm>
            <a:off x="8872538" y="408146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rot="5400000">
            <a:off x="9248775" y="40195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477375" y="3048000"/>
            <a:ext cx="3614738" cy="2095500"/>
          </a:xfrm>
          <a:prstGeom prst="roundRect">
            <a:avLst>
              <a:gd name="adj" fmla="val 7272"/>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9705975" y="32385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05975" y="32385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2" name="TextBox 21"/>
          <p:cNvSpPr txBox="1"/>
          <p:nvPr/>
        </p:nvSpPr>
        <p:spPr>
          <a:xfrm>
            <a:off x="9629775" y="3810000"/>
            <a:ext cx="3309938" cy="5334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Close the gap</a:t>
            </a:r>
          </a:p>
        </p:txBody>
      </p:sp>
      <p:sp>
        <p:nvSpPr>
          <p:cNvPr id="23" name="TextBox 22"/>
          <p:cNvSpPr txBox="1"/>
          <p:nvPr/>
        </p:nvSpPr>
        <p:spPr>
          <a:xfrm>
            <a:off x="9667875" y="4419600"/>
            <a:ext cx="32337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Feedback nudges the speeds</a:t>
            </a:r>
          </a:p>
        </p:txBody>
      </p:sp>
      <p:sp>
        <p:nvSpPr>
          <p:cNvPr id="24" name="Rectangle 23"/>
          <p:cNvSpPr/>
          <p:nvPr/>
        </p:nvSpPr>
        <p:spPr>
          <a:xfrm>
            <a:off x="13154025" y="408146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Isosceles Triangle 24"/>
          <p:cNvSpPr/>
          <p:nvPr/>
        </p:nvSpPr>
        <p:spPr>
          <a:xfrm rot="5400000">
            <a:off x="13530262" y="40195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3758862" y="3048000"/>
            <a:ext cx="3614738"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13987462" y="32385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987462" y="32385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9" name="TextBox 28"/>
          <p:cNvSpPr txBox="1"/>
          <p:nvPr/>
        </p:nvSpPr>
        <p:spPr>
          <a:xfrm>
            <a:off x="13911262" y="3810000"/>
            <a:ext cx="3309938" cy="5334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Speed to power</a:t>
            </a:r>
          </a:p>
        </p:txBody>
      </p:sp>
      <p:sp>
        <p:nvSpPr>
          <p:cNvPr id="30" name="TextBox 29"/>
          <p:cNvSpPr txBox="1"/>
          <p:nvPr/>
        </p:nvSpPr>
        <p:spPr>
          <a:xfrm>
            <a:off x="13949362" y="4419600"/>
            <a:ext cx="32337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Feedforward: kS + kV × speed</a:t>
            </a:r>
          </a:p>
        </p:txBody>
      </p:sp>
      <p:sp>
        <p:nvSpPr>
          <p:cNvPr id="31" name="Rectangle 30"/>
          <p:cNvSpPr/>
          <p:nvPr/>
        </p:nvSpPr>
        <p:spPr>
          <a:xfrm>
            <a:off x="15551944" y="5205412"/>
            <a:ext cx="28575" cy="7143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2707481" y="5891212"/>
            <a:ext cx="12873038"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2707481" y="5361622"/>
            <a:ext cx="28575" cy="5581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Isosceles Triangle 33"/>
          <p:cNvSpPr/>
          <p:nvPr/>
        </p:nvSpPr>
        <p:spPr>
          <a:xfrm>
            <a:off x="2645569" y="52387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91500" y="5676900"/>
            <a:ext cx="1905000" cy="4572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191500" y="5676900"/>
            <a:ext cx="1905000" cy="457200"/>
          </a:xfrm>
          <a:prstGeom prst="rect">
            <a:avLst/>
          </a:prstGeom>
          <a:noFill/>
        </p:spPr>
        <p:txBody>
          <a:bodyPr wrap="square" lIns="0" rIns="0" tIns="0" bIns="0" anchor="ctr">
            <a:spAutoFit/>
          </a:bodyPr>
          <a:lstStyle/>
          <a:p>
            <a:pPr algn="ctr"/>
            <a:r>
              <a:rPr sz="1950" b="1" i="0">
                <a:solidFill>
                  <a:srgbClr val="D5000E"/>
                </a:solidFill>
                <a:latin typeface="Geist"/>
                <a:ea typeface="Geist"/>
                <a:cs typeface="Geist"/>
              </a:rPr>
              <a:t>every 20 ms</a:t>
            </a:r>
          </a:p>
        </p:txBody>
      </p:sp>
      <p:sp>
        <p:nvSpPr>
          <p:cNvPr id="37" name="Rounded Rectangle 36"/>
          <p:cNvSpPr/>
          <p:nvPr/>
        </p:nvSpPr>
        <p:spPr>
          <a:xfrm>
            <a:off x="914400" y="7239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journal-code.png"/>
          <p:cNvPicPr>
            <a:picLocks noChangeAspect="1"/>
          </p:cNvPicPr>
          <p:nvPr/>
        </p:nvPicPr>
        <p:blipFill>
          <a:blip r:embed="rId3"/>
          <a:stretch>
            <a:fillRect/>
          </a:stretch>
        </p:blipFill>
        <p:spPr>
          <a:xfrm>
            <a:off x="1333500" y="7496175"/>
            <a:ext cx="500062" cy="533400"/>
          </a:xfrm>
          <a:prstGeom prst="rect">
            <a:avLst/>
          </a:prstGeom>
        </p:spPr>
      </p:pic>
      <p:sp>
        <p:nvSpPr>
          <p:cNvPr id="39" name="TextBox 38"/>
          <p:cNvSpPr txBox="1"/>
          <p:nvPr/>
        </p:nvSpPr>
        <p:spPr>
          <a:xfrm>
            <a:off x="2190750" y="72390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Provided:  </a:t>
            </a:r>
            <a:r>
              <a:rPr sz="2100" b="0" i="0">
                <a:solidFill>
                  <a:srgbClr val="F0E8E8"/>
                </a:solidFill>
                <a:latin typeface="Geist"/>
                <a:ea typeface="Geist"/>
                <a:cs typeface="Geist"/>
              </a:rPr>
              <a:t>DifferentialPathFollower.java does this, already tuned. Read it, don't change it.</a:t>
            </a:r>
          </a:p>
        </p:txBody>
      </p:sp>
      <p:sp>
        <p:nvSpPr>
          <p:cNvPr id="40" name="TextBox 3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1" name="TextBox 4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FOLLOWING A PATH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Should be here, is there: close the gap</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flipV="1">
            <a:off x="1428750" y="7993798"/>
            <a:ext cx="260994" cy="72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689744" y="7972675"/>
            <a:ext cx="254618" cy="2112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944362" y="7938354"/>
            <a:ext cx="248653" cy="3432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2193015" y="7891558"/>
            <a:ext cx="243099" cy="4679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2436114" y="7833010"/>
            <a:ext cx="237955" cy="5854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674069" y="7763435"/>
            <a:ext cx="233223" cy="6957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907292" y="7683554"/>
            <a:ext cx="228901" cy="7988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3136193" y="7594092"/>
            <a:ext cx="224989" cy="8946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3361182" y="7495772"/>
            <a:ext cx="221489" cy="9832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3582671" y="7389316"/>
            <a:ext cx="218399" cy="10645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801070" y="7275449"/>
            <a:ext cx="215721" cy="11386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4016791" y="7154894"/>
            <a:ext cx="213452" cy="12055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4230243" y="7028374"/>
            <a:ext cx="211595" cy="12652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4441838" y="6896612"/>
            <a:ext cx="210148" cy="13176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4651986" y="6760332"/>
            <a:ext cx="209113" cy="13628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4861099" y="6620256"/>
            <a:ext cx="208487" cy="14007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5069586" y="6477109"/>
            <a:ext cx="208273" cy="14314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277859" y="6331613"/>
            <a:ext cx="208470" cy="14549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5486329" y="6184492"/>
            <a:ext cx="209076" cy="14712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5695405" y="6036469"/>
            <a:ext cx="210095" cy="14802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5905500" y="5888267"/>
            <a:ext cx="211523" cy="1482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117023" y="5740610"/>
            <a:ext cx="213363" cy="14765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330386" y="5594222"/>
            <a:ext cx="215614" cy="14638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546000" y="5449824"/>
            <a:ext cx="218274" cy="1443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6764274" y="5308141"/>
            <a:ext cx="221346" cy="1416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985620" y="5169896"/>
            <a:ext cx="224829" cy="13824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7210449" y="5035812"/>
            <a:ext cx="228722" cy="13408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7439171" y="4906613"/>
            <a:ext cx="233026" cy="12919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7672197" y="4783022"/>
            <a:ext cx="237741" cy="1235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7909938" y="4665762"/>
            <a:ext cx="242867" cy="11726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8152805" y="4555556"/>
            <a:ext cx="248403" cy="11020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8401208" y="4453128"/>
            <a:ext cx="254350" cy="10242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8655558" y="4359201"/>
            <a:ext cx="260708" cy="9392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8916266" y="4274499"/>
            <a:ext cx="267477" cy="847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9183743" y="4199744"/>
            <a:ext cx="274656" cy="7475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9458399" y="4135660"/>
            <a:ext cx="282247" cy="6408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9740646" y="4082970"/>
            <a:ext cx="290248" cy="5269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030894" y="4042398"/>
            <a:ext cx="298659" cy="4057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0329553" y="4014667"/>
            <a:ext cx="307482" cy="277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0637035" y="4000500"/>
            <a:ext cx="316715" cy="1416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rot="19616770">
            <a:off x="6240399" y="4925949"/>
            <a:ext cx="1047750" cy="1047750"/>
          </a:xfrm>
          <a:prstGeom prst="roundRect">
            <a:avLst>
              <a:gd name="adj" fmla="val 9090"/>
            </a:avLst>
          </a:prstGeom>
          <a:noFill/>
          <a:ln w="28575">
            <a:solidFill>
              <a:srgbClr val="E0404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dozer_top.png"/>
          <p:cNvPicPr>
            <a:picLocks noChangeAspect="1"/>
          </p:cNvPicPr>
          <p:nvPr/>
        </p:nvPicPr>
        <p:blipFill>
          <a:blip r:embed="rId3"/>
          <a:stretch>
            <a:fillRect/>
          </a:stretch>
        </p:blipFill>
        <p:spPr>
          <a:xfrm rot="20096770">
            <a:off x="6393468" y="6310118"/>
            <a:ext cx="1238250" cy="1138203"/>
          </a:xfrm>
          <a:prstGeom prst="rect">
            <a:avLst/>
          </a:prstGeom>
        </p:spPr>
      </p:pic>
      <p:cxnSp>
        <p:nvCxnSpPr>
          <p:cNvPr id="48" name="Connector 47"/>
          <p:cNvCxnSpPr/>
          <p:nvPr/>
        </p:nvCxnSpPr>
        <p:spPr>
          <a:xfrm flipH="1" flipV="1">
            <a:off x="6764274" y="5449824"/>
            <a:ext cx="248319" cy="1429396"/>
          </a:xfrm>
          <a:prstGeom prst="line">
            <a:avLst/>
          </a:prstGeom>
          <a:ln w="28575">
            <a:solidFill>
              <a:srgbClr val="9A7878"/>
            </a:solidFill>
            <a:prstDash val="dash"/>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7491601" y="4331318"/>
            <a:ext cx="1292879" cy="2236190"/>
          </a:xfrm>
          <a:prstGeom prst="line">
            <a:avLst/>
          </a:prstGeom>
          <a:ln w="57150">
            <a:solidFill>
              <a:srgbClr val="D5000E"/>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2954274" y="4497324"/>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954274" y="4497324"/>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52" name="Oval 51"/>
          <p:cNvSpPr/>
          <p:nvPr/>
        </p:nvSpPr>
        <p:spPr>
          <a:xfrm>
            <a:off x="5488593" y="666967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88593" y="666967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54" name="Oval 53"/>
          <p:cNvSpPr/>
          <p:nvPr/>
        </p:nvSpPr>
        <p:spPr>
          <a:xfrm>
            <a:off x="8250180" y="571446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250180" y="571446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56" name="TextBox 55"/>
          <p:cNvSpPr txBox="1"/>
          <p:nvPr/>
        </p:nvSpPr>
        <p:spPr>
          <a:xfrm>
            <a:off x="3525774" y="4516374"/>
            <a:ext cx="2286000" cy="323850"/>
          </a:xfrm>
          <a:prstGeom prst="rect">
            <a:avLst/>
          </a:prstGeom>
          <a:noFill/>
        </p:spPr>
        <p:txBody>
          <a:bodyPr wrap="square" lIns="0" rIns="0" tIns="0" bIns="0" anchor="t">
            <a:spAutoFit/>
          </a:bodyPr>
          <a:lstStyle/>
          <a:p>
            <a:pPr algn="r"/>
            <a:r>
              <a:rPr sz="1800" b="1" i="0">
                <a:solidFill>
                  <a:srgbClr val="E0404B"/>
                </a:solidFill>
                <a:latin typeface="Geist Mono"/>
                <a:ea typeface="Geist Mono"/>
                <a:cs typeface="Geist Mono"/>
              </a:rPr>
              <a:t>DesiredPose</a:t>
            </a:r>
          </a:p>
        </p:txBody>
      </p:sp>
      <p:sp>
        <p:nvSpPr>
          <p:cNvPr id="57" name="TextBox 56"/>
          <p:cNvSpPr txBox="1"/>
          <p:nvPr/>
        </p:nvSpPr>
        <p:spPr>
          <a:xfrm>
            <a:off x="7869843" y="6717295"/>
            <a:ext cx="1905000" cy="323850"/>
          </a:xfrm>
          <a:prstGeom prst="rect">
            <a:avLst/>
          </a:prstGeom>
          <a:noFill/>
        </p:spPr>
        <p:txBody>
          <a:bodyPr wrap="square" lIns="0" rIns="0" tIns="0" bIns="0" anchor="t">
            <a:spAutoFit/>
          </a:bodyPr>
          <a:lstStyle/>
          <a:p>
            <a:pPr algn="l"/>
            <a:r>
              <a:rPr sz="1800" b="1" i="0">
                <a:solidFill>
                  <a:srgbClr val="F0E8E8"/>
                </a:solidFill>
                <a:latin typeface="Geist Mono"/>
                <a:ea typeface="Geist Mono"/>
                <a:cs typeface="Geist Mono"/>
              </a:rPr>
              <a:t>Pose</a:t>
            </a:r>
          </a:p>
        </p:txBody>
      </p:sp>
      <p:sp>
        <p:nvSpPr>
          <p:cNvPr id="58" name="Oval 57"/>
          <p:cNvSpPr/>
          <p:nvPr/>
        </p:nvSpPr>
        <p:spPr>
          <a:xfrm>
            <a:off x="11906250" y="3048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90625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60" name="TextBox 59"/>
          <p:cNvSpPr txBox="1"/>
          <p:nvPr/>
        </p:nvSpPr>
        <p:spPr>
          <a:xfrm>
            <a:off x="12515850" y="3009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Path says</a:t>
            </a:r>
          </a:p>
        </p:txBody>
      </p:sp>
      <p:sp>
        <p:nvSpPr>
          <p:cNvPr id="61" name="TextBox 60"/>
          <p:cNvSpPr txBox="1"/>
          <p:nvPr/>
        </p:nvSpPr>
        <p:spPr>
          <a:xfrm>
            <a:off x="12515850" y="3429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Be here now, at these wheel speeds</a:t>
            </a:r>
          </a:p>
        </p:txBody>
      </p:sp>
      <p:sp>
        <p:nvSpPr>
          <p:cNvPr id="62" name="Oval 61"/>
          <p:cNvSpPr/>
          <p:nvPr/>
        </p:nvSpPr>
        <p:spPr>
          <a:xfrm>
            <a:off x="11906250" y="4762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906250" y="4762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64" name="TextBox 63"/>
          <p:cNvSpPr txBox="1"/>
          <p:nvPr/>
        </p:nvSpPr>
        <p:spPr>
          <a:xfrm>
            <a:off x="12515850" y="4724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Robot is</a:t>
            </a:r>
          </a:p>
        </p:txBody>
      </p:sp>
      <p:sp>
        <p:nvSpPr>
          <p:cNvPr id="65" name="TextBox 64"/>
          <p:cNvSpPr txBox="1"/>
          <p:nvPr/>
        </p:nvSpPr>
        <p:spPr>
          <a:xfrm>
            <a:off x="12515850" y="5143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little behind, and off to the side</a:t>
            </a:r>
          </a:p>
        </p:txBody>
      </p:sp>
      <p:sp>
        <p:nvSpPr>
          <p:cNvPr id="66" name="Oval 65"/>
          <p:cNvSpPr/>
          <p:nvPr/>
        </p:nvSpPr>
        <p:spPr>
          <a:xfrm>
            <a:off x="11906250" y="6477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1906250" y="6477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68" name="TextBox 67"/>
          <p:cNvSpPr txBox="1"/>
          <p:nvPr/>
        </p:nvSpPr>
        <p:spPr>
          <a:xfrm>
            <a:off x="12515850" y="6438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Nudge</a:t>
            </a:r>
          </a:p>
        </p:txBody>
      </p:sp>
      <p:sp>
        <p:nvSpPr>
          <p:cNvPr id="69" name="TextBox 68"/>
          <p:cNvSpPr txBox="1"/>
          <p:nvPr/>
        </p:nvSpPr>
        <p:spPr>
          <a:xfrm>
            <a:off x="12515850" y="6858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Change the left and right speeds to steer back on the line</a:t>
            </a:r>
          </a:p>
        </p:txBody>
      </p:sp>
      <p:sp>
        <p:nvSpPr>
          <p:cNvPr id="70" name="TextBox 6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71" name="TextBox 7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FOLLOWING A PATH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Speed to power: feedforward</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28700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238375" y="7991475"/>
            <a:ext cx="82486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485900" y="7858125"/>
            <a:ext cx="6286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238375" y="6800850"/>
            <a:ext cx="8248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485900" y="6667500"/>
            <a:ext cx="6286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0.25</a:t>
            </a:r>
          </a:p>
        </p:txBody>
      </p:sp>
      <p:sp>
        <p:nvSpPr>
          <p:cNvPr id="10" name="Rectangle 9"/>
          <p:cNvSpPr/>
          <p:nvPr/>
        </p:nvSpPr>
        <p:spPr>
          <a:xfrm>
            <a:off x="2238375" y="5610225"/>
            <a:ext cx="8248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85900" y="5476875"/>
            <a:ext cx="6286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0.5</a:t>
            </a:r>
          </a:p>
        </p:txBody>
      </p:sp>
      <p:sp>
        <p:nvSpPr>
          <p:cNvPr id="12" name="Rectangle 11"/>
          <p:cNvSpPr/>
          <p:nvPr/>
        </p:nvSpPr>
        <p:spPr>
          <a:xfrm>
            <a:off x="2238375" y="4419600"/>
            <a:ext cx="8248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485900" y="4286250"/>
            <a:ext cx="6286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0.75</a:t>
            </a:r>
          </a:p>
        </p:txBody>
      </p:sp>
      <p:sp>
        <p:nvSpPr>
          <p:cNvPr id="14" name="Rectangle 13"/>
          <p:cNvSpPr/>
          <p:nvPr/>
        </p:nvSpPr>
        <p:spPr>
          <a:xfrm>
            <a:off x="2238375" y="3228975"/>
            <a:ext cx="8248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485900" y="3095625"/>
            <a:ext cx="6286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a:t>
            </a:r>
          </a:p>
        </p:txBody>
      </p:sp>
      <p:sp>
        <p:nvSpPr>
          <p:cNvPr id="16" name="Rectangle 15"/>
          <p:cNvSpPr/>
          <p:nvPr/>
        </p:nvSpPr>
        <p:spPr>
          <a:xfrm>
            <a:off x="2238375" y="7991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962150" y="81534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18" name="Rectangle 17"/>
          <p:cNvSpPr/>
          <p:nvPr/>
        </p:nvSpPr>
        <p:spPr>
          <a:xfrm>
            <a:off x="3609975" y="7991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333750" y="81534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20" name="Rectangle 19"/>
          <p:cNvSpPr/>
          <p:nvPr/>
        </p:nvSpPr>
        <p:spPr>
          <a:xfrm>
            <a:off x="4981575" y="7991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705350" y="81534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a:t>
            </a:r>
          </a:p>
        </p:txBody>
      </p:sp>
      <p:sp>
        <p:nvSpPr>
          <p:cNvPr id="22" name="Rectangle 21"/>
          <p:cNvSpPr/>
          <p:nvPr/>
        </p:nvSpPr>
        <p:spPr>
          <a:xfrm>
            <a:off x="6353175" y="7991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076950" y="81534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a:t>
            </a:r>
          </a:p>
        </p:txBody>
      </p:sp>
      <p:sp>
        <p:nvSpPr>
          <p:cNvPr id="24" name="Rectangle 23"/>
          <p:cNvSpPr/>
          <p:nvPr/>
        </p:nvSpPr>
        <p:spPr>
          <a:xfrm>
            <a:off x="7724775" y="7991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448550" y="81534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a:t>
            </a:r>
          </a:p>
        </p:txBody>
      </p:sp>
      <p:sp>
        <p:nvSpPr>
          <p:cNvPr id="26" name="Rectangle 25"/>
          <p:cNvSpPr/>
          <p:nvPr/>
        </p:nvSpPr>
        <p:spPr>
          <a:xfrm>
            <a:off x="9096375" y="7991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820150" y="81534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5</a:t>
            </a:r>
          </a:p>
        </p:txBody>
      </p:sp>
      <p:sp>
        <p:nvSpPr>
          <p:cNvPr id="28" name="Rectangle 27"/>
          <p:cNvSpPr/>
          <p:nvPr/>
        </p:nvSpPr>
        <p:spPr>
          <a:xfrm>
            <a:off x="10467975" y="7991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91750" y="81534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6</a:t>
            </a:r>
          </a:p>
        </p:txBody>
      </p:sp>
      <p:sp>
        <p:nvSpPr>
          <p:cNvPr id="30" name="Rectangle 29"/>
          <p:cNvSpPr/>
          <p:nvPr/>
        </p:nvSpPr>
        <p:spPr>
          <a:xfrm>
            <a:off x="2238375" y="3228975"/>
            <a:ext cx="19050" cy="47815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247900" y="8477250"/>
            <a:ext cx="82296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wheel speed (m/s)</a:t>
            </a:r>
          </a:p>
        </p:txBody>
      </p:sp>
      <p:sp>
        <p:nvSpPr>
          <p:cNvPr id="32" name="TextBox 31"/>
          <p:cNvSpPr txBox="1"/>
          <p:nvPr/>
        </p:nvSpPr>
        <p:spPr>
          <a:xfrm>
            <a:off x="2381250" y="2857500"/>
            <a:ext cx="2857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duty cycle</a:t>
            </a:r>
          </a:p>
        </p:txBody>
      </p:sp>
      <p:sp>
        <p:nvSpPr>
          <p:cNvPr id="33" name="Rectangle 32"/>
          <p:cNvSpPr/>
          <p:nvPr/>
        </p:nvSpPr>
        <p:spPr>
          <a:xfrm>
            <a:off x="2219325" y="7873206"/>
            <a:ext cx="57150" cy="156369"/>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4" name="Connector 33"/>
          <p:cNvCxnSpPr/>
          <p:nvPr/>
        </p:nvCxnSpPr>
        <p:spPr>
          <a:xfrm flipV="1">
            <a:off x="2249272" y="7893372"/>
            <a:ext cx="12344" cy="840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261616" y="3238500"/>
            <a:ext cx="7592033" cy="465487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9825074" y="3209925"/>
            <a:ext cx="681001"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07255" y="6378522"/>
            <a:ext cx="19050" cy="1632003"/>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2238375" y="6378522"/>
            <a:ext cx="248793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4612005" y="6283272"/>
            <a:ext cx="209550" cy="20955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907280" y="6445197"/>
            <a:ext cx="2476500" cy="28575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1.8 m/s → 0.34</a:t>
            </a:r>
          </a:p>
        </p:txBody>
      </p:sp>
      <p:sp>
        <p:nvSpPr>
          <p:cNvPr id="41" name="Rectangle 40"/>
          <p:cNvSpPr/>
          <p:nvPr/>
        </p:nvSpPr>
        <p:spPr>
          <a:xfrm>
            <a:off x="10005949" y="3228975"/>
            <a:ext cx="19050" cy="478155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2400300" y="73342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400300" y="73342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44" name="Oval 43"/>
          <p:cNvSpPr/>
          <p:nvPr/>
        </p:nvSpPr>
        <p:spPr>
          <a:xfrm>
            <a:off x="6720840" y="4280506"/>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720840" y="428050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6" name="Oval 45"/>
          <p:cNvSpPr/>
          <p:nvPr/>
        </p:nvSpPr>
        <p:spPr>
          <a:xfrm>
            <a:off x="4526280" y="5721297"/>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26280" y="5721297"/>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8" name="Oval 47"/>
          <p:cNvSpPr/>
          <p:nvPr/>
        </p:nvSpPr>
        <p:spPr>
          <a:xfrm>
            <a:off x="9501124" y="33337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501124" y="33337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50" name="Oval 49"/>
          <p:cNvSpPr/>
          <p:nvPr/>
        </p:nvSpPr>
        <p:spPr>
          <a:xfrm>
            <a:off x="117157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17157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52" name="TextBox 51"/>
          <p:cNvSpPr txBox="1"/>
          <p:nvPr/>
        </p:nvSpPr>
        <p:spPr>
          <a:xfrm>
            <a:off x="12325350" y="2819400"/>
            <a:ext cx="5048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kS: break loose</a:t>
            </a:r>
          </a:p>
        </p:txBody>
      </p:sp>
      <p:sp>
        <p:nvSpPr>
          <p:cNvPr id="53" name="TextBox 52"/>
          <p:cNvSpPr txBox="1"/>
          <p:nvPr/>
        </p:nvSpPr>
        <p:spPr>
          <a:xfrm>
            <a:off x="12325350" y="3238500"/>
            <a:ext cx="5048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little power just to start the wheels: 0.25 V of 12</a:t>
            </a:r>
          </a:p>
        </p:txBody>
      </p:sp>
      <p:sp>
        <p:nvSpPr>
          <p:cNvPr id="54" name="Oval 53"/>
          <p:cNvSpPr/>
          <p:nvPr/>
        </p:nvSpPr>
        <p:spPr>
          <a:xfrm>
            <a:off x="11715750" y="4286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7157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56" name="TextBox 55"/>
          <p:cNvSpPr txBox="1"/>
          <p:nvPr/>
        </p:nvSpPr>
        <p:spPr>
          <a:xfrm>
            <a:off x="12325350" y="4248150"/>
            <a:ext cx="5048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kV: power per speed</a:t>
            </a:r>
          </a:p>
        </p:txBody>
      </p:sp>
      <p:sp>
        <p:nvSpPr>
          <p:cNvPr id="57" name="TextBox 56"/>
          <p:cNvSpPr txBox="1"/>
          <p:nvPr/>
        </p:nvSpPr>
        <p:spPr>
          <a:xfrm>
            <a:off x="12325350" y="4667250"/>
            <a:ext cx="5048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Twice the speed, twice the power</a:t>
            </a:r>
          </a:p>
        </p:txBody>
      </p:sp>
      <p:sp>
        <p:nvSpPr>
          <p:cNvPr id="58" name="Oval 57"/>
          <p:cNvSpPr/>
          <p:nvPr/>
        </p:nvSpPr>
        <p:spPr>
          <a:xfrm>
            <a:off x="11715750" y="5715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7157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60" name="TextBox 59"/>
          <p:cNvSpPr txBox="1"/>
          <p:nvPr/>
        </p:nvSpPr>
        <p:spPr>
          <a:xfrm>
            <a:off x="12325350" y="5676900"/>
            <a:ext cx="5048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At 1.8 m/s</a:t>
            </a:r>
          </a:p>
        </p:txBody>
      </p:sp>
      <p:sp>
        <p:nvSpPr>
          <p:cNvPr id="61" name="TextBox 60"/>
          <p:cNvSpPr txBox="1"/>
          <p:nvPr/>
        </p:nvSpPr>
        <p:spPr>
          <a:xfrm>
            <a:off x="12325350" y="6096000"/>
            <a:ext cx="5048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About 0.34: a third of full power</a:t>
            </a:r>
          </a:p>
        </p:txBody>
      </p:sp>
      <p:sp>
        <p:nvSpPr>
          <p:cNvPr id="62" name="Oval 61"/>
          <p:cNvSpPr/>
          <p:nvPr/>
        </p:nvSpPr>
        <p:spPr>
          <a:xfrm>
            <a:off x="11715750" y="7143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7157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64" name="TextBox 63"/>
          <p:cNvSpPr txBox="1"/>
          <p:nvPr/>
        </p:nvSpPr>
        <p:spPr>
          <a:xfrm>
            <a:off x="12325350" y="7105650"/>
            <a:ext cx="5048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Top speed</a:t>
            </a:r>
          </a:p>
        </p:txBody>
      </p:sp>
      <p:sp>
        <p:nvSpPr>
          <p:cNvPr id="65" name="TextBox 64"/>
          <p:cNvSpPr txBox="1"/>
          <p:nvPr/>
        </p:nvSpPr>
        <p:spPr>
          <a:xfrm>
            <a:off x="12325350" y="7524750"/>
            <a:ext cx="5048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About 5.7 m/s at full power (1.0)</a:t>
            </a:r>
          </a:p>
        </p:txBody>
      </p:sp>
      <p:sp>
        <p:nvSpPr>
          <p:cNvPr id="66" name="TextBox 6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7" name="TextBox 6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FOLLOWING A PATH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Wait, settle, arrive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048000"/>
            <a:ext cx="3614738"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66800" y="3429000"/>
            <a:ext cx="3309938"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Follow</a:t>
            </a:r>
          </a:p>
        </p:txBody>
      </p:sp>
      <p:sp>
        <p:nvSpPr>
          <p:cNvPr id="7" name="TextBox 6"/>
          <p:cNvSpPr txBox="1"/>
          <p:nvPr/>
        </p:nvSpPr>
        <p:spPr>
          <a:xfrm>
            <a:off x="1181100" y="4095750"/>
            <a:ext cx="3081338" cy="857250"/>
          </a:xfrm>
          <a:prstGeom prst="rect">
            <a:avLst/>
          </a:prstGeom>
          <a:noFill/>
        </p:spPr>
        <p:txBody>
          <a:bodyPr wrap="square" lIns="0" rIns="0" tIns="0" bIns="0" anchor="t">
            <a:spAutoFit/>
          </a:bodyPr>
          <a:lstStyle/>
          <a:p>
            <a:pPr algn="ctr">
              <a:lnSpc>
                <a:spcPct val="125000"/>
              </a:lnSpc>
            </a:pPr>
            <a:r>
              <a:rPr sz="1725" b="0" i="0">
                <a:solidFill>
                  <a:srgbClr val="9A7878"/>
                </a:solidFill>
                <a:latin typeface="Geist"/>
                <a:ea typeface="Geist"/>
                <a:cs typeface="Geist"/>
              </a:rPr>
              <a:t>The clock runs. Drive the sample for now.</a:t>
            </a:r>
          </a:p>
        </p:txBody>
      </p:sp>
      <p:sp>
        <p:nvSpPr>
          <p:cNvPr id="8" name="Rectangle 7"/>
          <p:cNvSpPr/>
          <p:nvPr/>
        </p:nvSpPr>
        <p:spPr>
          <a:xfrm>
            <a:off x="4591050" y="408146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4967288" y="40195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95888" y="3048000"/>
            <a:ext cx="3614738"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348288" y="3429000"/>
            <a:ext cx="3309938"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Wait</a:t>
            </a:r>
          </a:p>
        </p:txBody>
      </p:sp>
      <p:sp>
        <p:nvSpPr>
          <p:cNvPr id="12" name="TextBox 11"/>
          <p:cNvSpPr txBox="1"/>
          <p:nvPr/>
        </p:nvSpPr>
        <p:spPr>
          <a:xfrm>
            <a:off x="5462588" y="4095750"/>
            <a:ext cx="3081338" cy="857250"/>
          </a:xfrm>
          <a:prstGeom prst="rect">
            <a:avLst/>
          </a:prstGeom>
          <a:noFill/>
        </p:spPr>
        <p:txBody>
          <a:bodyPr wrap="square" lIns="0" rIns="0" tIns="0" bIns="0" anchor="t">
            <a:spAutoFit/>
          </a:bodyPr>
          <a:lstStyle/>
          <a:p>
            <a:pPr algn="ctr">
              <a:lnSpc>
                <a:spcPct val="125000"/>
              </a:lnSpc>
            </a:pPr>
            <a:r>
              <a:rPr sz="1725" b="0" i="0">
                <a:solidFill>
                  <a:srgbClr val="9A7878"/>
                </a:solidFill>
                <a:latin typeface="Geist"/>
                <a:ea typeface="Geist"/>
                <a:cs typeface="Geist"/>
              </a:rPr>
              <a:t>More than 0.5 m behind? The clock pauses.</a:t>
            </a:r>
          </a:p>
        </p:txBody>
      </p:sp>
      <p:sp>
        <p:nvSpPr>
          <p:cNvPr id="13" name="Rectangle 12"/>
          <p:cNvSpPr/>
          <p:nvPr/>
        </p:nvSpPr>
        <p:spPr>
          <a:xfrm>
            <a:off x="8872538" y="408146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9248775" y="40195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477375" y="3048000"/>
            <a:ext cx="3614738"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629775" y="3429000"/>
            <a:ext cx="3309938"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Settle</a:t>
            </a:r>
          </a:p>
        </p:txBody>
      </p:sp>
      <p:sp>
        <p:nvSpPr>
          <p:cNvPr id="17" name="TextBox 16"/>
          <p:cNvSpPr txBox="1"/>
          <p:nvPr/>
        </p:nvSpPr>
        <p:spPr>
          <a:xfrm>
            <a:off x="9744075" y="4095750"/>
            <a:ext cx="3081338" cy="857250"/>
          </a:xfrm>
          <a:prstGeom prst="rect">
            <a:avLst/>
          </a:prstGeom>
          <a:noFill/>
        </p:spPr>
        <p:txBody>
          <a:bodyPr wrap="square" lIns="0" rIns="0" tIns="0" bIns="0" anchor="t">
            <a:spAutoFit/>
          </a:bodyPr>
          <a:lstStyle/>
          <a:p>
            <a:pPr algn="ctr">
              <a:lnSpc>
                <a:spcPct val="125000"/>
              </a:lnSpc>
            </a:pPr>
            <a:r>
              <a:rPr sz="1725" b="0" i="0">
                <a:solidFill>
                  <a:srgbClr val="9A7878"/>
                </a:solidFill>
                <a:latin typeface="Geist"/>
                <a:ea typeface="Geist"/>
                <a:cs typeface="Geist"/>
              </a:rPr>
              <a:t>Clock done. Face the end point, drive at it.</a:t>
            </a:r>
          </a:p>
        </p:txBody>
      </p:sp>
      <p:sp>
        <p:nvSpPr>
          <p:cNvPr id="18" name="Rectangle 17"/>
          <p:cNvSpPr/>
          <p:nvPr/>
        </p:nvSpPr>
        <p:spPr>
          <a:xfrm>
            <a:off x="13154025" y="408146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5400000">
            <a:off x="13530262" y="40195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3758862" y="3048000"/>
            <a:ext cx="3614738" cy="2095500"/>
          </a:xfrm>
          <a:prstGeom prst="roundRect">
            <a:avLst>
              <a:gd name="adj" fmla="val 7272"/>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3911262" y="3429000"/>
            <a:ext cx="3309938"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Arrived</a:t>
            </a:r>
          </a:p>
        </p:txBody>
      </p:sp>
      <p:sp>
        <p:nvSpPr>
          <p:cNvPr id="22" name="TextBox 21"/>
          <p:cNvSpPr txBox="1"/>
          <p:nvPr/>
        </p:nvSpPr>
        <p:spPr>
          <a:xfrm>
            <a:off x="14025562" y="4095750"/>
            <a:ext cx="3081338" cy="857250"/>
          </a:xfrm>
          <a:prstGeom prst="rect">
            <a:avLst/>
          </a:prstGeom>
          <a:noFill/>
        </p:spPr>
        <p:txBody>
          <a:bodyPr wrap="square" lIns="0" rIns="0" tIns="0" bIns="0" anchor="t">
            <a:spAutoFit/>
          </a:bodyPr>
          <a:lstStyle/>
          <a:p>
            <a:pPr algn="ctr">
              <a:lnSpc>
                <a:spcPct val="125000"/>
              </a:lnSpc>
            </a:pPr>
            <a:r>
              <a:rPr sz="1725" b="0" i="0">
                <a:solidFill>
                  <a:srgbClr val="9A7878"/>
                </a:solidFill>
                <a:latin typeface="Geist"/>
                <a:ea typeface="Geist"/>
                <a:cs typeface="Geist"/>
              </a:rPr>
              <a:t>Within 0.15 m and slower than 0.15 m/s.</a:t>
            </a:r>
          </a:p>
        </p:txBody>
      </p:sp>
      <p:sp>
        <p:nvSpPr>
          <p:cNvPr id="23" name="Rounded Rectangle 22"/>
          <p:cNvSpPr/>
          <p:nvPr/>
        </p:nvSpPr>
        <p:spPr>
          <a:xfrm>
            <a:off x="914400" y="5905500"/>
            <a:ext cx="4953000" cy="1047750"/>
          </a:xfrm>
          <a:prstGeom prst="roundRect">
            <a:avLst>
              <a:gd name="adj" fmla="val 10909"/>
            </a:avLst>
          </a:prstGeom>
          <a:solidFill>
            <a:srgbClr val="111111"/>
          </a:solidFill>
          <a:ln w="381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952500" y="6000750"/>
            <a:ext cx="66675" cy="8572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143000" y="6019800"/>
            <a:ext cx="4610100" cy="360045"/>
          </a:xfrm>
          <a:prstGeom prst="rect">
            <a:avLst/>
          </a:prstGeom>
          <a:noFill/>
        </p:spPr>
        <p:txBody>
          <a:bodyPr wrap="square" lIns="0" rIns="0" tIns="0" bIns="0" anchor="t">
            <a:spAutoFit/>
          </a:bodyPr>
          <a:lstStyle/>
          <a:p>
            <a:pPr algn="l"/>
            <a:r>
              <a:rPr sz="2100" b="1" i="0">
                <a:solidFill>
                  <a:srgbClr val="2DD4BF"/>
                </a:solidFill>
                <a:latin typeface="Geist"/>
                <a:ea typeface="Geist"/>
                <a:cs typeface="Geist"/>
              </a:rPr>
              <a:t>▶  </a:t>
            </a:r>
            <a:r>
              <a:rPr sz="2100" b="1" i="0">
                <a:solidFill>
                  <a:srgbClr val="F0E8E8"/>
                </a:solidFill>
                <a:latin typeface="Geist"/>
                <a:ea typeface="Geist"/>
                <a:cs typeface="Geist"/>
              </a:rPr>
              <a:t>FollowPath</a:t>
            </a:r>
          </a:p>
        </p:txBody>
      </p:sp>
      <p:sp>
        <p:nvSpPr>
          <p:cNvPr id="26" name="TextBox 25"/>
          <p:cNvSpPr txBox="1"/>
          <p:nvPr/>
        </p:nvSpPr>
        <p:spPr>
          <a:xfrm>
            <a:off x="1143000" y="6398895"/>
            <a:ext cx="4610100" cy="320040"/>
          </a:xfrm>
          <a:prstGeom prst="rect">
            <a:avLst/>
          </a:prstGeom>
          <a:noFill/>
        </p:spPr>
        <p:txBody>
          <a:bodyPr wrap="square" lIns="0" rIns="0" tIns="0" bIns="0" anchor="t">
            <a:spAutoFit/>
          </a:bodyPr>
          <a:lstStyle/>
          <a:p>
            <a:pPr algn="l"/>
            <a:r>
              <a:rPr sz="1638" b="0" i="0">
                <a:solidFill>
                  <a:srgbClr val="E8C27A"/>
                </a:solidFill>
                <a:latin typeface="Geist Mono"/>
                <a:ea typeface="Geist Mono"/>
                <a:cs typeface="Geist Mono"/>
              </a:rPr>
              <a:t>trajectory = ToPickup</a:t>
            </a:r>
          </a:p>
        </p:txBody>
      </p:sp>
      <p:sp>
        <p:nvSpPr>
          <p:cNvPr id="27" name="Rounded Rectangle 26"/>
          <p:cNvSpPr/>
          <p:nvPr/>
        </p:nvSpPr>
        <p:spPr>
          <a:xfrm>
            <a:off x="4791075" y="5753100"/>
            <a:ext cx="981075" cy="28575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791075" y="575310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SUCCESS</a:t>
            </a:r>
          </a:p>
        </p:txBody>
      </p:sp>
      <p:sp>
        <p:nvSpPr>
          <p:cNvPr id="29" name="TextBox 28"/>
          <p:cNvSpPr txBox="1"/>
          <p:nvPr/>
        </p:nvSpPr>
        <p:spPr>
          <a:xfrm>
            <a:off x="6477000" y="5905500"/>
            <a:ext cx="10896600" cy="1905000"/>
          </a:xfrm>
          <a:prstGeom prst="rect">
            <a:avLst/>
          </a:prstGeom>
          <a:noFill/>
        </p:spPr>
        <p:txBody>
          <a:bodyPr wrap="square" lIns="0" rIns="0" tIns="0" bIns="0" anchor="t">
            <a:spAutoFit/>
          </a:bodyPr>
          <a:lstStyle/>
          <a:p>
            <a:pPr algn="l">
              <a:lnSpc>
                <a:spcPct val="135000"/>
              </a:lnSpc>
            </a:pPr>
            <a:r>
              <a:rPr sz="2100" b="0" i="0">
                <a:solidFill>
                  <a:srgbClr val="9A7878"/>
                </a:solidFill>
                <a:latin typeface="Geist"/>
                <a:ea typeface="Geist"/>
                <a:cs typeface="Geist"/>
              </a:rPr>
              <a:t>FollowPath answers </a:t>
            </a:r>
            <a:r>
              <a:rPr sz="2100" b="1" i="0">
                <a:solidFill>
                  <a:srgbClr val="9A7878"/>
                </a:solidFill>
                <a:latin typeface="Geist"/>
                <a:ea typeface="Geist"/>
                <a:cs typeface="Geist"/>
              </a:rPr>
              <a:t>SUCCESS</a:t>
            </a:r>
            <a:r>
              <a:rPr sz="2100" b="0" i="0">
                <a:solidFill>
                  <a:srgbClr val="9A7878"/>
                </a:solidFill>
                <a:latin typeface="Geist"/>
                <a:ea typeface="Geist"/>
                <a:cs typeface="Geist"/>
              </a:rPr>
              <a:t> once the robot has arrived (isAtChoreoSetpoint). A robot stuck for </a:t>
            </a:r>
            <a:r>
              <a:rPr sz="2100" b="1" i="0">
                <a:solidFill>
                  <a:srgbClr val="9A7878"/>
                </a:solidFill>
                <a:latin typeface="Geist"/>
                <a:ea typeface="Geist"/>
                <a:cs typeface="Geist"/>
              </a:rPr>
              <a:t>10 s</a:t>
            </a:r>
            <a:r>
              <a:rPr sz="2100" b="0" i="0">
                <a:solidFill>
                  <a:srgbClr val="9A7878"/>
                </a:solidFill>
                <a:latin typeface="Geist"/>
                <a:ea typeface="Geist"/>
                <a:cs typeface="Geist"/>
              </a:rPr>
              <a:t> gives up, so it can't hold up the auto.</a:t>
            </a:r>
          </a:p>
        </p:txBody>
      </p:sp>
      <p:sp>
        <p:nvSpPr>
          <p:cNvPr id="30" name="TextBox 2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FOLLOWING A PATH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robot only estimates where it is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8191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flipV="1">
            <a:off x="1333500" y="7612535"/>
            <a:ext cx="262375" cy="7465"/>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595875" y="7590762"/>
            <a:ext cx="254205" cy="21773"/>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850080" y="7555611"/>
            <a:ext cx="246754" cy="35151"/>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2096834" y="7508014"/>
            <a:ext cx="240022" cy="4759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2336856" y="7448903"/>
            <a:ext cx="234012" cy="59111"/>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570868" y="7379208"/>
            <a:ext cx="228720" cy="69695"/>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799588" y="7299861"/>
            <a:ext cx="224148" cy="7934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3023736" y="7211794"/>
            <a:ext cx="220296" cy="8806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3244032" y="7115937"/>
            <a:ext cx="217162" cy="9585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3461194" y="7013222"/>
            <a:ext cx="214750" cy="102715"/>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675944" y="6904581"/>
            <a:ext cx="213057" cy="108641"/>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889001" y="6790944"/>
            <a:ext cx="212083" cy="11363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4101084" y="6673243"/>
            <a:ext cx="211829" cy="117701"/>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4312913" y="6552410"/>
            <a:ext cx="212295" cy="120833"/>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4525208" y="6429375"/>
            <a:ext cx="213480" cy="123035"/>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4738688" y="6305070"/>
            <a:ext cx="215384" cy="124305"/>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4954072" y="6180427"/>
            <a:ext cx="218010" cy="124643"/>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172082" y="6056376"/>
            <a:ext cx="221354" cy="124051"/>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5393436" y="5933849"/>
            <a:ext cx="225418" cy="12252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5618854" y="5813778"/>
            <a:ext cx="230202" cy="120071"/>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5849056" y="5697093"/>
            <a:ext cx="235704" cy="116685"/>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084760" y="5584726"/>
            <a:ext cx="241928" cy="11236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326688" y="5477609"/>
            <a:ext cx="248871" cy="10711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575559" y="5376672"/>
            <a:ext cx="256533" cy="10093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6832092" y="5282847"/>
            <a:ext cx="264915" cy="93825"/>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7097007" y="5197066"/>
            <a:ext cx="274017" cy="85781"/>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7371024" y="5120259"/>
            <a:ext cx="283838" cy="7680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7654862" y="5053358"/>
            <a:ext cx="294378" cy="66901"/>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7949240" y="4997295"/>
            <a:ext cx="305640" cy="56063"/>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8254880" y="4953000"/>
            <a:ext cx="317620" cy="44295"/>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pic>
        <p:nvPicPr>
          <p:cNvPr id="36" name="Picture 35" descr="dozer_top.png"/>
          <p:cNvPicPr>
            <a:picLocks noChangeAspect="1"/>
          </p:cNvPicPr>
          <p:nvPr/>
        </p:nvPicPr>
        <p:blipFill>
          <a:blip r:embed="rId3"/>
          <a:stretch>
            <a:fillRect/>
          </a:stretch>
        </p:blipFill>
        <p:spPr>
          <a:xfrm rot="19920000">
            <a:off x="4048125" y="5359487"/>
            <a:ext cx="1809750" cy="1663527"/>
          </a:xfrm>
          <a:prstGeom prst="rect">
            <a:avLst/>
          </a:prstGeom>
        </p:spPr>
      </p:pic>
      <p:sp>
        <p:nvSpPr>
          <p:cNvPr id="37" name="Rounded Rectangle 36"/>
          <p:cNvSpPr/>
          <p:nvPr/>
        </p:nvSpPr>
        <p:spPr>
          <a:xfrm rot="19920000">
            <a:off x="4371975" y="5038725"/>
            <a:ext cx="1809750" cy="1809750"/>
          </a:xfrm>
          <a:prstGeom prst="roundRect">
            <a:avLst>
              <a:gd name="adj" fmla="val 5263"/>
            </a:avLst>
          </a:prstGeom>
          <a:noFill/>
          <a:ln w="28575">
            <a:solidFill>
              <a:srgbClr val="D5000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7810500" y="3143250"/>
            <a:ext cx="876300" cy="876300"/>
          </a:xfrm>
          <a:prstGeom prst="roundRect">
            <a:avLst>
              <a:gd name="adj" fmla="val 6521"/>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8001000" y="3333750"/>
            <a:ext cx="495300" cy="4953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8115300" y="3448050"/>
            <a:ext cx="171450" cy="17145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239000" y="4095750"/>
            <a:ext cx="1905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AprilTag</a:t>
            </a:r>
          </a:p>
        </p:txBody>
      </p:sp>
      <p:cxnSp>
        <p:nvCxnSpPr>
          <p:cNvPr id="42" name="Connector 41"/>
          <p:cNvCxnSpPr/>
          <p:nvPr/>
        </p:nvCxnSpPr>
        <p:spPr>
          <a:xfrm flipV="1">
            <a:off x="5619750" y="4000500"/>
            <a:ext cx="2286000" cy="152400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333500" y="3143250"/>
            <a:ext cx="3619500" cy="323850"/>
          </a:xfrm>
          <a:prstGeom prst="rect">
            <a:avLst/>
          </a:prstGeom>
          <a:noFill/>
        </p:spPr>
        <p:txBody>
          <a:bodyPr wrap="square" lIns="0" rIns="0" tIns="0" bIns="0" anchor="t">
            <a:spAutoFit/>
          </a:bodyPr>
          <a:lstStyle/>
          <a:p>
            <a:pPr algn="l"/>
            <a:r>
              <a:rPr sz="1650" b="1" i="0">
                <a:solidFill>
                  <a:srgbClr val="D5000E"/>
                </a:solidFill>
                <a:latin typeface="Geist"/>
                <a:ea typeface="Geist"/>
                <a:cs typeface="Geist"/>
              </a:rPr>
              <a:t>estimate (dashed)</a:t>
            </a:r>
          </a:p>
        </p:txBody>
      </p:sp>
      <p:sp>
        <p:nvSpPr>
          <p:cNvPr id="44" name="TextBox 43"/>
          <p:cNvSpPr txBox="1"/>
          <p:nvPr/>
        </p:nvSpPr>
        <p:spPr>
          <a:xfrm>
            <a:off x="1333500" y="3505200"/>
            <a:ext cx="3619500" cy="323850"/>
          </a:xfrm>
          <a:prstGeom prst="rect">
            <a:avLst/>
          </a:prstGeom>
          <a:noFill/>
        </p:spPr>
        <p:txBody>
          <a:bodyPr wrap="square" lIns="0" rIns="0" tIns="0" bIns="0" anchor="t">
            <a:spAutoFit/>
          </a:bodyPr>
          <a:lstStyle/>
          <a:p>
            <a:pPr algn="l"/>
            <a:r>
              <a:rPr sz="1650" b="1" i="0">
                <a:solidFill>
                  <a:srgbClr val="F0E8E8"/>
                </a:solidFill>
                <a:latin typeface="Geist"/>
                <a:ea typeface="Geist"/>
                <a:cs typeface="Geist"/>
              </a:rPr>
              <a:t>true pose (Dozer)</a:t>
            </a:r>
          </a:p>
        </p:txBody>
      </p:sp>
      <p:sp>
        <p:nvSpPr>
          <p:cNvPr id="45" name="TextBox 44"/>
          <p:cNvSpPr txBox="1"/>
          <p:nvPr/>
        </p:nvSpPr>
        <p:spPr>
          <a:xfrm>
            <a:off x="1333500" y="8382000"/>
            <a:ext cx="7239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Gap exaggerated: really a few centimeters.</a:t>
            </a:r>
          </a:p>
        </p:txBody>
      </p:sp>
      <p:sp>
        <p:nvSpPr>
          <p:cNvPr id="46" name="Rounded Rectangle 45"/>
          <p:cNvSpPr/>
          <p:nvPr/>
        </p:nvSpPr>
        <p:spPr>
          <a:xfrm>
            <a:off x="9525000" y="2857500"/>
            <a:ext cx="7848600" cy="2286000"/>
          </a:xfrm>
          <a:prstGeom prst="roundRect">
            <a:avLst>
              <a:gd name="adj" fmla="val 6666"/>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9906000" y="3105150"/>
            <a:ext cx="70485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Pose estimate</a:t>
            </a:r>
          </a:p>
        </p:txBody>
      </p:sp>
      <p:sp>
        <p:nvSpPr>
          <p:cNvPr id="48" name="TextBox 47"/>
          <p:cNvSpPr txBox="1"/>
          <p:nvPr/>
        </p:nvSpPr>
        <p:spPr>
          <a:xfrm>
            <a:off x="9906000" y="3619500"/>
            <a:ext cx="7048500" cy="323850"/>
          </a:xfrm>
          <a:prstGeom prst="rect">
            <a:avLst/>
          </a:prstGeom>
          <a:noFill/>
        </p:spPr>
        <p:txBody>
          <a:bodyPr wrap="square" lIns="0" rIns="0" tIns="0" bIns="0" anchor="t">
            <a:spAutoFit/>
          </a:bodyPr>
          <a:lstStyle/>
          <a:p>
            <a:pPr algn="l"/>
            <a:r>
              <a:rPr sz="1650" b="0" i="0">
                <a:solidFill>
                  <a:srgbClr val="E8C27A"/>
                </a:solidFill>
                <a:latin typeface="Geist Mono"/>
                <a:ea typeface="Geist Mono"/>
                <a:cs typeface="Geist Mono"/>
              </a:rPr>
              <a:t>Subsystem/Localization/Pose</a:t>
            </a:r>
          </a:p>
        </p:txBody>
      </p:sp>
      <p:sp>
        <p:nvSpPr>
          <p:cNvPr id="49" name="TextBox 48"/>
          <p:cNvSpPr txBox="1"/>
          <p:nvPr/>
        </p:nvSpPr>
        <p:spPr>
          <a:xfrm>
            <a:off x="9906000" y="4095750"/>
            <a:ext cx="7048500" cy="8572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Wheels plus AprilTag cameras. The follower, the aim and isAimed() use it.</a:t>
            </a:r>
          </a:p>
        </p:txBody>
      </p:sp>
      <p:sp>
        <p:nvSpPr>
          <p:cNvPr id="50" name="Rounded Rectangle 49"/>
          <p:cNvSpPr/>
          <p:nvPr/>
        </p:nvSpPr>
        <p:spPr>
          <a:xfrm>
            <a:off x="9525000" y="5429250"/>
            <a:ext cx="78486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906000" y="5676900"/>
            <a:ext cx="70485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True pose</a:t>
            </a:r>
          </a:p>
        </p:txBody>
      </p:sp>
      <p:sp>
        <p:nvSpPr>
          <p:cNvPr id="52" name="TextBox 51"/>
          <p:cNvSpPr txBox="1"/>
          <p:nvPr/>
        </p:nvSpPr>
        <p:spPr>
          <a:xfrm>
            <a:off x="9906000" y="6191250"/>
            <a:ext cx="7048500" cy="323850"/>
          </a:xfrm>
          <a:prstGeom prst="rect">
            <a:avLst/>
          </a:prstGeom>
          <a:noFill/>
        </p:spPr>
        <p:txBody>
          <a:bodyPr wrap="square" lIns="0" rIns="0" tIns="0" bIns="0" anchor="t">
            <a:spAutoFit/>
          </a:bodyPr>
          <a:lstStyle/>
          <a:p>
            <a:pPr algn="l"/>
            <a:r>
              <a:rPr sz="1650" b="0" i="0">
                <a:solidFill>
                  <a:srgbClr val="E8C27A"/>
                </a:solidFill>
                <a:latin typeface="Geist Mono"/>
                <a:ea typeface="Geist Mono"/>
                <a:cs typeface="Geist Mono"/>
              </a:rPr>
              <a:t>Drive/TruePose</a:t>
            </a:r>
          </a:p>
        </p:txBody>
      </p:sp>
      <p:sp>
        <p:nvSpPr>
          <p:cNvPr id="53" name="TextBox 52"/>
          <p:cNvSpPr txBox="1"/>
          <p:nvPr/>
        </p:nvSpPr>
        <p:spPr>
          <a:xfrm>
            <a:off x="9906000" y="6667500"/>
            <a:ext cx="7048500" cy="8572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Only the simulator knows it. The Verify checks use it.</a:t>
            </a:r>
          </a:p>
        </p:txBody>
      </p:sp>
      <p:sp>
        <p:nvSpPr>
          <p:cNvPr id="54" name="TextBox 53"/>
          <p:cNvSpPr txBox="1"/>
          <p:nvPr/>
        </p:nvSpPr>
        <p:spPr>
          <a:xfrm>
            <a:off x="9525000" y="8191500"/>
            <a:ext cx="7848600" cy="666750"/>
          </a:xfrm>
          <a:prstGeom prst="rect">
            <a:avLst/>
          </a:prstGeom>
          <a:noFill/>
        </p:spPr>
        <p:txBody>
          <a:bodyPr wrap="square" lIns="0" rIns="0" tIns="0" bIns="0" anchor="t">
            <a:spAutoFit/>
          </a:bodyPr>
          <a:lstStyle/>
          <a:p>
            <a:pPr algn="l">
              <a:lnSpc>
                <a:spcPct val="130000"/>
              </a:lnSpc>
            </a:pPr>
            <a:r>
              <a:rPr sz="1800" b="0" i="0">
                <a:solidFill>
                  <a:srgbClr val="F0E8E8"/>
                </a:solidFill>
                <a:latin typeface="Geist"/>
                <a:ea typeface="Geist"/>
                <a:cs typeface="Geist"/>
              </a:rPr>
              <a:t>About 1 to 9 cm apart while driving, about 1 cm once stopped.</a:t>
            </a:r>
          </a:p>
        </p:txBody>
      </p:sp>
      <p:sp>
        <p:nvSpPr>
          <p:cNvPr id="55" name="TextBox 5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6" name="TextBox 5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04</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Behavior trees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How the robot works through a routine, one tick at a time</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21</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Every tick I ask each step: still going, done, or failed?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BEHAVIOR TREES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a behavior tree?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905500" cy="4762500"/>
          </a:xfrm>
          <a:prstGeom prst="roundRect">
            <a:avLst>
              <a:gd name="adj" fmla="val 32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5715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THE PLAN, IN WORDS</a:t>
            </a:r>
          </a:p>
        </p:txBody>
      </p:sp>
      <p:sp>
        <p:nvSpPr>
          <p:cNvPr id="7" name="Oval 6"/>
          <p:cNvSpPr/>
          <p:nvPr/>
        </p:nvSpPr>
        <p:spPr>
          <a:xfrm>
            <a:off x="1295400" y="3810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5400" y="3810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9" name="TextBox 8"/>
          <p:cNvSpPr txBox="1"/>
          <p:nvPr/>
        </p:nvSpPr>
        <p:spPr>
          <a:xfrm>
            <a:off x="1905000" y="3771900"/>
            <a:ext cx="4762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Drive to the game piece</a:t>
            </a:r>
          </a:p>
        </p:txBody>
      </p:sp>
      <p:sp>
        <p:nvSpPr>
          <p:cNvPr id="10" name="Oval 9"/>
          <p:cNvSpPr/>
          <p:nvPr/>
        </p:nvSpPr>
        <p:spPr>
          <a:xfrm>
            <a:off x="1295400" y="47244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95400" y="47244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2" name="TextBox 11"/>
          <p:cNvSpPr txBox="1"/>
          <p:nvPr/>
        </p:nvSpPr>
        <p:spPr>
          <a:xfrm>
            <a:off x="1905000" y="4686300"/>
            <a:ext cx="4762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Drive to the scoring spot</a:t>
            </a:r>
          </a:p>
        </p:txBody>
      </p:sp>
      <p:sp>
        <p:nvSpPr>
          <p:cNvPr id="13" name="Oval 12"/>
          <p:cNvSpPr/>
          <p:nvPr/>
        </p:nvSpPr>
        <p:spPr>
          <a:xfrm>
            <a:off x="1295400" y="56388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95400" y="56388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5" name="TextBox 14"/>
          <p:cNvSpPr txBox="1"/>
          <p:nvPr/>
        </p:nvSpPr>
        <p:spPr>
          <a:xfrm>
            <a:off x="1905000" y="5600700"/>
            <a:ext cx="4762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Aim at the goal</a:t>
            </a:r>
          </a:p>
        </p:txBody>
      </p:sp>
      <p:sp>
        <p:nvSpPr>
          <p:cNvPr id="16" name="Oval 15"/>
          <p:cNvSpPr/>
          <p:nvPr/>
        </p:nvSpPr>
        <p:spPr>
          <a:xfrm>
            <a:off x="1295400" y="65532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95400" y="65532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8" name="TextBox 17"/>
          <p:cNvSpPr txBox="1"/>
          <p:nvPr/>
        </p:nvSpPr>
        <p:spPr>
          <a:xfrm>
            <a:off x="1905000" y="6515100"/>
            <a:ext cx="4762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Shoot</a:t>
            </a:r>
          </a:p>
        </p:txBody>
      </p:sp>
      <p:sp>
        <p:nvSpPr>
          <p:cNvPr id="19" name="Rectangle 18"/>
          <p:cNvSpPr/>
          <p:nvPr/>
        </p:nvSpPr>
        <p:spPr>
          <a:xfrm>
            <a:off x="6910388" y="5214938"/>
            <a:ext cx="367665" cy="476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rot="5400000">
            <a:off x="7239000" y="5162550"/>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524750" y="2857500"/>
            <a:ext cx="9848850" cy="4762500"/>
          </a:xfrm>
          <a:prstGeom prst="roundRect">
            <a:avLst>
              <a:gd name="adj" fmla="val 32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905750" y="3143250"/>
            <a:ext cx="762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THE SAME PLAN, AS A TREE</a:t>
            </a:r>
          </a:p>
        </p:txBody>
      </p:sp>
      <p:sp>
        <p:nvSpPr>
          <p:cNvPr id="23" name="Rectangle 22"/>
          <p:cNvSpPr/>
          <p:nvPr/>
        </p:nvSpPr>
        <p:spPr>
          <a:xfrm>
            <a:off x="12430125" y="4705350"/>
            <a:ext cx="38100" cy="4857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8808244" y="5153025"/>
            <a:ext cx="7281862"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808244" y="5153025"/>
            <a:ext cx="38100" cy="4857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11222831" y="5153025"/>
            <a:ext cx="38100" cy="4857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13637419" y="5153025"/>
            <a:ext cx="38100" cy="4857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16052006" y="5153025"/>
            <a:ext cx="38100" cy="4857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7734300" y="5619750"/>
            <a:ext cx="2185988"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7772400" y="5715000"/>
            <a:ext cx="66675" cy="7239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962900" y="5734050"/>
            <a:ext cx="1843088" cy="244316"/>
          </a:xfrm>
          <a:prstGeom prst="rect">
            <a:avLst/>
          </a:prstGeom>
          <a:noFill/>
        </p:spPr>
        <p:txBody>
          <a:bodyPr wrap="square" lIns="0" rIns="0" tIns="0" bIns="0" anchor="t">
            <a:spAutoFit/>
          </a:bodyPr>
          <a:lstStyle/>
          <a:p>
            <a:pPr algn="l"/>
            <a:r>
              <a:rPr sz="1425" b="1" i="0">
                <a:solidFill>
                  <a:srgbClr val="2DD4BF"/>
                </a:solidFill>
                <a:latin typeface="Geist"/>
                <a:ea typeface="Geist"/>
                <a:cs typeface="Geist"/>
              </a:rPr>
              <a:t>▶  </a:t>
            </a:r>
            <a:r>
              <a:rPr sz="1425" b="1" i="0">
                <a:solidFill>
                  <a:srgbClr val="F0E8E8"/>
                </a:solidFill>
                <a:latin typeface="Geist"/>
                <a:ea typeface="Geist"/>
                <a:cs typeface="Geist"/>
              </a:rPr>
              <a:t>FollowPath</a:t>
            </a:r>
          </a:p>
        </p:txBody>
      </p:sp>
      <p:sp>
        <p:nvSpPr>
          <p:cNvPr id="32" name="TextBox 31"/>
          <p:cNvSpPr txBox="1"/>
          <p:nvPr/>
        </p:nvSpPr>
        <p:spPr>
          <a:xfrm>
            <a:off x="7962900" y="5997416"/>
            <a:ext cx="1843088" cy="217170"/>
          </a:xfrm>
          <a:prstGeom prst="rect">
            <a:avLst/>
          </a:prstGeom>
          <a:noFill/>
        </p:spPr>
        <p:txBody>
          <a:bodyPr wrap="square" lIns="0" rIns="0" tIns="0" bIns="0" anchor="t">
            <a:spAutoFit/>
          </a:bodyPr>
          <a:lstStyle/>
          <a:p>
            <a:pPr algn="l"/>
            <a:r>
              <a:rPr sz="1111" b="0" i="0">
                <a:solidFill>
                  <a:srgbClr val="E8C27A"/>
                </a:solidFill>
                <a:latin typeface="Geist Mono"/>
                <a:ea typeface="Geist Mono"/>
                <a:cs typeface="Geist Mono"/>
              </a:rPr>
              <a:t>ToPickup</a:t>
            </a:r>
          </a:p>
        </p:txBody>
      </p:sp>
      <p:sp>
        <p:nvSpPr>
          <p:cNvPr id="33" name="Rounded Rectangle 32"/>
          <p:cNvSpPr/>
          <p:nvPr/>
        </p:nvSpPr>
        <p:spPr>
          <a:xfrm>
            <a:off x="10148888" y="5619750"/>
            <a:ext cx="2185988"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10186988" y="5715000"/>
            <a:ext cx="66675" cy="7239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377488" y="5734050"/>
            <a:ext cx="1843088" cy="244316"/>
          </a:xfrm>
          <a:prstGeom prst="rect">
            <a:avLst/>
          </a:prstGeom>
          <a:noFill/>
        </p:spPr>
        <p:txBody>
          <a:bodyPr wrap="square" lIns="0" rIns="0" tIns="0" bIns="0" anchor="t">
            <a:spAutoFit/>
          </a:bodyPr>
          <a:lstStyle/>
          <a:p>
            <a:pPr algn="l"/>
            <a:r>
              <a:rPr sz="1425" b="1" i="0">
                <a:solidFill>
                  <a:srgbClr val="2DD4BF"/>
                </a:solidFill>
                <a:latin typeface="Geist"/>
                <a:ea typeface="Geist"/>
                <a:cs typeface="Geist"/>
              </a:rPr>
              <a:t>▶  </a:t>
            </a:r>
            <a:r>
              <a:rPr sz="1425" b="1" i="0">
                <a:solidFill>
                  <a:srgbClr val="F0E8E8"/>
                </a:solidFill>
                <a:latin typeface="Geist"/>
                <a:ea typeface="Geist"/>
                <a:cs typeface="Geist"/>
              </a:rPr>
              <a:t>FollowPath</a:t>
            </a:r>
          </a:p>
        </p:txBody>
      </p:sp>
      <p:sp>
        <p:nvSpPr>
          <p:cNvPr id="36" name="TextBox 35"/>
          <p:cNvSpPr txBox="1"/>
          <p:nvPr/>
        </p:nvSpPr>
        <p:spPr>
          <a:xfrm>
            <a:off x="10377488" y="5997416"/>
            <a:ext cx="1843088" cy="217170"/>
          </a:xfrm>
          <a:prstGeom prst="rect">
            <a:avLst/>
          </a:prstGeom>
          <a:noFill/>
        </p:spPr>
        <p:txBody>
          <a:bodyPr wrap="square" lIns="0" rIns="0" tIns="0" bIns="0" anchor="t">
            <a:spAutoFit/>
          </a:bodyPr>
          <a:lstStyle/>
          <a:p>
            <a:pPr algn="l"/>
            <a:r>
              <a:rPr sz="1111" b="0" i="0">
                <a:solidFill>
                  <a:srgbClr val="E8C27A"/>
                </a:solidFill>
                <a:latin typeface="Geist Mono"/>
                <a:ea typeface="Geist Mono"/>
                <a:cs typeface="Geist Mono"/>
              </a:rPr>
              <a:t>ToScore</a:t>
            </a:r>
          </a:p>
        </p:txBody>
      </p:sp>
      <p:sp>
        <p:nvSpPr>
          <p:cNvPr id="37" name="Rounded Rectangle 36"/>
          <p:cNvSpPr/>
          <p:nvPr/>
        </p:nvSpPr>
        <p:spPr>
          <a:xfrm>
            <a:off x="12563475" y="5619750"/>
            <a:ext cx="2185988"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12601575" y="5715000"/>
            <a:ext cx="66675" cy="7239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2792075" y="5734050"/>
            <a:ext cx="1843088" cy="244316"/>
          </a:xfrm>
          <a:prstGeom prst="rect">
            <a:avLst/>
          </a:prstGeom>
          <a:noFill/>
        </p:spPr>
        <p:txBody>
          <a:bodyPr wrap="square" lIns="0" rIns="0" tIns="0" bIns="0" anchor="t">
            <a:spAutoFit/>
          </a:bodyPr>
          <a:lstStyle/>
          <a:p>
            <a:pPr algn="l"/>
            <a:r>
              <a:rPr sz="1425" b="1" i="0">
                <a:solidFill>
                  <a:srgbClr val="2DD4BF"/>
                </a:solidFill>
                <a:latin typeface="Geist"/>
                <a:ea typeface="Geist"/>
                <a:cs typeface="Geist"/>
              </a:rPr>
              <a:t>▶  </a:t>
            </a:r>
            <a:r>
              <a:rPr sz="1425" b="1" i="0">
                <a:solidFill>
                  <a:srgbClr val="F0E8E8"/>
                </a:solidFill>
                <a:latin typeface="Geist"/>
                <a:ea typeface="Geist"/>
                <a:cs typeface="Geist"/>
              </a:rPr>
              <a:t>SetWantedState</a:t>
            </a:r>
          </a:p>
        </p:txBody>
      </p:sp>
      <p:sp>
        <p:nvSpPr>
          <p:cNvPr id="40" name="TextBox 39"/>
          <p:cNvSpPr txBox="1"/>
          <p:nvPr/>
        </p:nvSpPr>
        <p:spPr>
          <a:xfrm>
            <a:off x="12792075" y="5997416"/>
            <a:ext cx="1843088" cy="217170"/>
          </a:xfrm>
          <a:prstGeom prst="rect">
            <a:avLst/>
          </a:prstGeom>
          <a:noFill/>
        </p:spPr>
        <p:txBody>
          <a:bodyPr wrap="square" lIns="0" rIns="0" tIns="0" bIns="0" anchor="t">
            <a:spAutoFit/>
          </a:bodyPr>
          <a:lstStyle/>
          <a:p>
            <a:pPr algn="l"/>
            <a:r>
              <a:rPr sz="1111" b="0" i="0">
                <a:solidFill>
                  <a:srgbClr val="E8C27A"/>
                </a:solidFill>
                <a:latin typeface="Geist Mono"/>
                <a:ea typeface="Geist Mono"/>
                <a:cs typeface="Geist Mono"/>
              </a:rPr>
              <a:t>AIM</a:t>
            </a:r>
          </a:p>
        </p:txBody>
      </p:sp>
      <p:sp>
        <p:nvSpPr>
          <p:cNvPr id="41" name="Rounded Rectangle 40"/>
          <p:cNvSpPr/>
          <p:nvPr/>
        </p:nvSpPr>
        <p:spPr>
          <a:xfrm>
            <a:off x="14978062" y="5619750"/>
            <a:ext cx="2185988"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ounded Rectangle 41"/>
          <p:cNvSpPr/>
          <p:nvPr/>
        </p:nvSpPr>
        <p:spPr>
          <a:xfrm>
            <a:off x="15016162" y="5715000"/>
            <a:ext cx="66675" cy="7239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5206662" y="5734050"/>
            <a:ext cx="1843088" cy="244316"/>
          </a:xfrm>
          <a:prstGeom prst="rect">
            <a:avLst/>
          </a:prstGeom>
          <a:noFill/>
        </p:spPr>
        <p:txBody>
          <a:bodyPr wrap="square" lIns="0" rIns="0" tIns="0" bIns="0" anchor="t">
            <a:spAutoFit/>
          </a:bodyPr>
          <a:lstStyle/>
          <a:p>
            <a:pPr algn="l"/>
            <a:r>
              <a:rPr sz="1425" b="1" i="0">
                <a:solidFill>
                  <a:srgbClr val="2DD4BF"/>
                </a:solidFill>
                <a:latin typeface="Geist"/>
                <a:ea typeface="Geist"/>
                <a:cs typeface="Geist"/>
              </a:rPr>
              <a:t>▶  </a:t>
            </a:r>
            <a:r>
              <a:rPr sz="1425" b="1" i="0">
                <a:solidFill>
                  <a:srgbClr val="F0E8E8"/>
                </a:solidFill>
                <a:latin typeface="Geist"/>
                <a:ea typeface="Geist"/>
                <a:cs typeface="Geist"/>
              </a:rPr>
              <a:t>SetWantedState</a:t>
            </a:r>
          </a:p>
        </p:txBody>
      </p:sp>
      <p:sp>
        <p:nvSpPr>
          <p:cNvPr id="44" name="TextBox 43"/>
          <p:cNvSpPr txBox="1"/>
          <p:nvPr/>
        </p:nvSpPr>
        <p:spPr>
          <a:xfrm>
            <a:off x="15206662" y="5997416"/>
            <a:ext cx="1843088" cy="217170"/>
          </a:xfrm>
          <a:prstGeom prst="rect">
            <a:avLst/>
          </a:prstGeom>
          <a:noFill/>
        </p:spPr>
        <p:txBody>
          <a:bodyPr wrap="square" lIns="0" rIns="0" tIns="0" bIns="0" anchor="t">
            <a:spAutoFit/>
          </a:bodyPr>
          <a:lstStyle/>
          <a:p>
            <a:pPr algn="l"/>
            <a:r>
              <a:rPr sz="1111" b="0" i="0">
                <a:solidFill>
                  <a:srgbClr val="E8C27A"/>
                </a:solidFill>
                <a:latin typeface="Geist Mono"/>
                <a:ea typeface="Geist Mono"/>
                <a:cs typeface="Geist Mono"/>
              </a:rPr>
              <a:t>SHOOT</a:t>
            </a:r>
          </a:p>
        </p:txBody>
      </p:sp>
      <p:sp>
        <p:nvSpPr>
          <p:cNvPr id="45" name="Rounded Rectangle 44"/>
          <p:cNvSpPr/>
          <p:nvPr/>
        </p:nvSpPr>
        <p:spPr>
          <a:xfrm>
            <a:off x="11210925" y="3810000"/>
            <a:ext cx="2476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ounded Rectangle 45"/>
          <p:cNvSpPr/>
          <p:nvPr/>
        </p:nvSpPr>
        <p:spPr>
          <a:xfrm>
            <a:off x="11249025" y="3905250"/>
            <a:ext cx="66675" cy="72390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1439525" y="3924300"/>
            <a:ext cx="2133600" cy="244316"/>
          </a:xfrm>
          <a:prstGeom prst="rect">
            <a:avLst/>
          </a:prstGeom>
          <a:noFill/>
        </p:spPr>
        <p:txBody>
          <a:bodyPr wrap="square" lIns="0" rIns="0" tIns="0" bIns="0" anchor="t">
            <a:spAutoFit/>
          </a:bodyPr>
          <a:lstStyle/>
          <a:p>
            <a:pPr algn="l"/>
            <a:r>
              <a:rPr sz="1425" b="1" i="0">
                <a:solidFill>
                  <a:srgbClr val="7C93C3"/>
                </a:solidFill>
                <a:latin typeface="Geist"/>
                <a:ea typeface="Geist"/>
                <a:cs typeface="Geist"/>
              </a:rPr>
              <a:t>→  </a:t>
            </a:r>
            <a:r>
              <a:rPr sz="1425" b="1" i="0">
                <a:solidFill>
                  <a:srgbClr val="F0E8E8"/>
                </a:solidFill>
                <a:latin typeface="Geist"/>
                <a:ea typeface="Geist"/>
                <a:cs typeface="Geist"/>
              </a:rPr>
              <a:t>Sequence</a:t>
            </a:r>
          </a:p>
        </p:txBody>
      </p:sp>
      <p:sp>
        <p:nvSpPr>
          <p:cNvPr id="48" name="TextBox 47"/>
          <p:cNvSpPr txBox="1"/>
          <p:nvPr/>
        </p:nvSpPr>
        <p:spPr>
          <a:xfrm>
            <a:off x="11439525" y="4187666"/>
            <a:ext cx="2133600" cy="217170"/>
          </a:xfrm>
          <a:prstGeom prst="rect">
            <a:avLst/>
          </a:prstGeom>
          <a:noFill/>
        </p:spPr>
        <p:txBody>
          <a:bodyPr wrap="square" lIns="0" rIns="0" tIns="0" bIns="0" anchor="t">
            <a:spAutoFit/>
          </a:bodyPr>
          <a:lstStyle/>
          <a:p>
            <a:pPr algn="l"/>
            <a:r>
              <a:rPr sz="1111" b="0" i="0">
                <a:solidFill>
                  <a:srgbClr val="E8C27A"/>
                </a:solidFill>
                <a:latin typeface="Geist Mono"/>
                <a:ea typeface="Geist Mono"/>
                <a:cs typeface="Geist Mono"/>
              </a:rPr>
              <a:t>in order</a:t>
            </a:r>
          </a:p>
        </p:txBody>
      </p:sp>
      <p:sp>
        <p:nvSpPr>
          <p:cNvPr id="49" name="Oval 48"/>
          <p:cNvSpPr/>
          <p:nvPr/>
        </p:nvSpPr>
        <p:spPr>
          <a:xfrm>
            <a:off x="8655844" y="6686550"/>
            <a:ext cx="342900" cy="3429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55844" y="6686550"/>
            <a:ext cx="342900" cy="3429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51" name="Oval 50"/>
          <p:cNvSpPr/>
          <p:nvPr/>
        </p:nvSpPr>
        <p:spPr>
          <a:xfrm>
            <a:off x="11070431" y="6686550"/>
            <a:ext cx="342900" cy="3429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1070431" y="6686550"/>
            <a:ext cx="342900" cy="3429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53" name="Oval 52"/>
          <p:cNvSpPr/>
          <p:nvPr/>
        </p:nvSpPr>
        <p:spPr>
          <a:xfrm>
            <a:off x="13485019" y="6686550"/>
            <a:ext cx="342900" cy="3429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3485019" y="6686550"/>
            <a:ext cx="342900" cy="3429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55" name="Oval 54"/>
          <p:cNvSpPr/>
          <p:nvPr/>
        </p:nvSpPr>
        <p:spPr>
          <a:xfrm>
            <a:off x="15899606" y="6686550"/>
            <a:ext cx="342900" cy="3429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5899606" y="6686550"/>
            <a:ext cx="342900" cy="3429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57" name="Rounded Rectangle 56"/>
          <p:cNvSpPr/>
          <p:nvPr/>
        </p:nvSpPr>
        <p:spPr>
          <a:xfrm>
            <a:off x="914400" y="80010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8" name="Picture 57" descr="diagram-3.png"/>
          <p:cNvPicPr>
            <a:picLocks noChangeAspect="1"/>
          </p:cNvPicPr>
          <p:nvPr/>
        </p:nvPicPr>
        <p:blipFill>
          <a:blip r:embed="rId3"/>
          <a:stretch>
            <a:fillRect/>
          </a:stretch>
        </p:blipFill>
        <p:spPr>
          <a:xfrm>
            <a:off x="1333500" y="8162925"/>
            <a:ext cx="711200" cy="533400"/>
          </a:xfrm>
          <a:prstGeom prst="rect">
            <a:avLst/>
          </a:prstGeom>
        </p:spPr>
      </p:pic>
      <p:sp>
        <p:nvSpPr>
          <p:cNvPr id="59" name="TextBox 58"/>
          <p:cNvSpPr txBox="1"/>
          <p:nvPr/>
        </p:nvSpPr>
        <p:spPr>
          <a:xfrm>
            <a:off x="2190750" y="800100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A plan drawn as a tree:  </a:t>
            </a:r>
            <a:r>
              <a:rPr sz="2100" b="0" i="0">
                <a:solidFill>
                  <a:srgbClr val="F0E8E8"/>
                </a:solidFill>
                <a:latin typeface="Geist"/>
                <a:ea typeface="Geist"/>
                <a:cs typeface="Geist"/>
              </a:rPr>
              <a:t>the steps are at the bottom; the boxes above them say how to run them.</a:t>
            </a:r>
          </a:p>
        </p:txBody>
      </p:sp>
      <p:sp>
        <p:nvSpPr>
          <p:cNvPr id="60" name="TextBox 5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1" name="TextBox 6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BEHAVIOR TREES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Why we use trees for autos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886200" cy="3238500"/>
          </a:xfrm>
          <a:prstGeom prst="roundRect">
            <a:avLst>
              <a:gd name="adj" fmla="val 470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eye.png"/>
          <p:cNvPicPr>
            <a:picLocks noChangeAspect="1"/>
          </p:cNvPicPr>
          <p:nvPr/>
        </p:nvPicPr>
        <p:blipFill>
          <a:blip r:embed="rId3"/>
          <a:stretch>
            <a:fillRect/>
          </a:stretch>
        </p:blipFill>
        <p:spPr>
          <a:xfrm>
            <a:off x="1295400" y="3238500"/>
            <a:ext cx="831273" cy="571500"/>
          </a:xfrm>
          <a:prstGeom prst="rect">
            <a:avLst/>
          </a:prstGeom>
        </p:spPr>
      </p:pic>
      <p:sp>
        <p:nvSpPr>
          <p:cNvPr id="7" name="TextBox 6"/>
          <p:cNvSpPr txBox="1"/>
          <p:nvPr/>
        </p:nvSpPr>
        <p:spPr>
          <a:xfrm>
            <a:off x="1295400" y="40767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Easy to read</a:t>
            </a:r>
          </a:p>
        </p:txBody>
      </p:sp>
      <p:sp>
        <p:nvSpPr>
          <p:cNvPr id="8" name="TextBox 7"/>
          <p:cNvSpPr txBox="1"/>
          <p:nvPr/>
        </p:nvSpPr>
        <p:spPr>
          <a:xfrm>
            <a:off x="1295400" y="4638675"/>
            <a:ext cx="3124200" cy="14478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The whole auto is one picture.</a:t>
            </a:r>
          </a:p>
        </p:txBody>
      </p:sp>
      <p:sp>
        <p:nvSpPr>
          <p:cNvPr id="9" name="Rounded Rectangle 8"/>
          <p:cNvSpPr/>
          <p:nvPr/>
        </p:nvSpPr>
        <p:spPr>
          <a:xfrm>
            <a:off x="5105400" y="2857500"/>
            <a:ext cx="3886200" cy="3238500"/>
          </a:xfrm>
          <a:prstGeom prst="roundRect">
            <a:avLst>
              <a:gd name="adj" fmla="val 470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pencil.png"/>
          <p:cNvPicPr>
            <a:picLocks noChangeAspect="1"/>
          </p:cNvPicPr>
          <p:nvPr/>
        </p:nvPicPr>
        <p:blipFill>
          <a:blip r:embed="rId4"/>
          <a:stretch>
            <a:fillRect/>
          </a:stretch>
        </p:blipFill>
        <p:spPr>
          <a:xfrm>
            <a:off x="5486400" y="3238500"/>
            <a:ext cx="571500" cy="571500"/>
          </a:xfrm>
          <a:prstGeom prst="rect">
            <a:avLst/>
          </a:prstGeom>
        </p:spPr>
      </p:pic>
      <p:sp>
        <p:nvSpPr>
          <p:cNvPr id="11" name="TextBox 10"/>
          <p:cNvSpPr txBox="1"/>
          <p:nvPr/>
        </p:nvSpPr>
        <p:spPr>
          <a:xfrm>
            <a:off x="5486400" y="40767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Easy to change</a:t>
            </a:r>
          </a:p>
        </p:txBody>
      </p:sp>
      <p:sp>
        <p:nvSpPr>
          <p:cNvPr id="12" name="TextBox 11"/>
          <p:cNvSpPr txBox="1"/>
          <p:nvPr/>
        </p:nvSpPr>
        <p:spPr>
          <a:xfrm>
            <a:off x="5486400" y="4638675"/>
            <a:ext cx="3124200" cy="14478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Edit in Arbor and save. No Java to rebuild.</a:t>
            </a:r>
          </a:p>
        </p:txBody>
      </p:sp>
      <p:sp>
        <p:nvSpPr>
          <p:cNvPr id="13" name="Rounded Rectangle 12"/>
          <p:cNvSpPr/>
          <p:nvPr/>
        </p:nvSpPr>
        <p:spPr>
          <a:xfrm>
            <a:off x="9296400" y="2857500"/>
            <a:ext cx="3886200" cy="3238500"/>
          </a:xfrm>
          <a:prstGeom prst="roundRect">
            <a:avLst>
              <a:gd name="adj" fmla="val 470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signpost-split.png"/>
          <p:cNvPicPr>
            <a:picLocks noChangeAspect="1"/>
          </p:cNvPicPr>
          <p:nvPr/>
        </p:nvPicPr>
        <p:blipFill>
          <a:blip r:embed="rId5"/>
          <a:stretch>
            <a:fillRect/>
          </a:stretch>
        </p:blipFill>
        <p:spPr>
          <a:xfrm>
            <a:off x="9677400" y="3238500"/>
            <a:ext cx="580644" cy="571500"/>
          </a:xfrm>
          <a:prstGeom prst="rect">
            <a:avLst/>
          </a:prstGeom>
        </p:spPr>
      </p:pic>
      <p:sp>
        <p:nvSpPr>
          <p:cNvPr id="15" name="TextBox 14"/>
          <p:cNvSpPr txBox="1"/>
          <p:nvPr/>
        </p:nvSpPr>
        <p:spPr>
          <a:xfrm>
            <a:off x="9677400" y="40767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Plan B built in</a:t>
            </a:r>
          </a:p>
        </p:txBody>
      </p:sp>
      <p:sp>
        <p:nvSpPr>
          <p:cNvPr id="16" name="TextBox 15"/>
          <p:cNvSpPr txBox="1"/>
          <p:nvPr/>
        </p:nvSpPr>
        <p:spPr>
          <a:xfrm>
            <a:off x="9677400" y="4638675"/>
            <a:ext cx="3124200" cy="14478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Time limits and backups for when a step goes wrong.</a:t>
            </a:r>
          </a:p>
        </p:txBody>
      </p:sp>
      <p:sp>
        <p:nvSpPr>
          <p:cNvPr id="17" name="Rounded Rectangle 16"/>
          <p:cNvSpPr/>
          <p:nvPr/>
        </p:nvSpPr>
        <p:spPr>
          <a:xfrm>
            <a:off x="13487400" y="2857500"/>
            <a:ext cx="3886200" cy="3238500"/>
          </a:xfrm>
          <a:prstGeom prst="roundRect">
            <a:avLst>
              <a:gd name="adj" fmla="val 470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activity.png"/>
          <p:cNvPicPr>
            <a:picLocks noChangeAspect="1"/>
          </p:cNvPicPr>
          <p:nvPr/>
        </p:nvPicPr>
        <p:blipFill>
          <a:blip r:embed="rId6"/>
          <a:stretch>
            <a:fillRect/>
          </a:stretch>
        </p:blipFill>
        <p:spPr>
          <a:xfrm>
            <a:off x="13868400" y="3238500"/>
            <a:ext cx="762000" cy="571500"/>
          </a:xfrm>
          <a:prstGeom prst="rect">
            <a:avLst/>
          </a:prstGeom>
        </p:spPr>
      </p:pic>
      <p:sp>
        <p:nvSpPr>
          <p:cNvPr id="19" name="TextBox 18"/>
          <p:cNvSpPr txBox="1"/>
          <p:nvPr/>
        </p:nvSpPr>
        <p:spPr>
          <a:xfrm>
            <a:off x="13868400" y="40767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Watch it run</a:t>
            </a:r>
          </a:p>
        </p:txBody>
      </p:sp>
      <p:sp>
        <p:nvSpPr>
          <p:cNvPr id="20" name="TextBox 19"/>
          <p:cNvSpPr txBox="1"/>
          <p:nvPr/>
        </p:nvSpPr>
        <p:spPr>
          <a:xfrm>
            <a:off x="13868400" y="4638675"/>
            <a:ext cx="3124200" cy="14478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Live in Arbor, and replayed after the match.</a:t>
            </a:r>
          </a:p>
        </p:txBody>
      </p:sp>
      <p:sp>
        <p:nvSpPr>
          <p:cNvPr id="21" name="Rounded Rectangle 20"/>
          <p:cNvSpPr/>
          <p:nvPr/>
        </p:nvSpPr>
        <p:spPr>
          <a:xfrm>
            <a:off x="914400" y="64770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robot.png"/>
          <p:cNvPicPr>
            <a:picLocks noChangeAspect="1"/>
          </p:cNvPicPr>
          <p:nvPr/>
        </p:nvPicPr>
        <p:blipFill>
          <a:blip r:embed="rId7"/>
          <a:stretch>
            <a:fillRect/>
          </a:stretch>
        </p:blipFill>
        <p:spPr>
          <a:xfrm>
            <a:off x="1333500" y="6686550"/>
            <a:ext cx="568960" cy="533400"/>
          </a:xfrm>
          <a:prstGeom prst="rect">
            <a:avLst/>
          </a:prstGeom>
        </p:spPr>
      </p:pic>
      <p:sp>
        <p:nvSpPr>
          <p:cNvPr id="23" name="TextBox 22"/>
          <p:cNvSpPr txBox="1"/>
          <p:nvPr/>
        </p:nvSpPr>
        <p:spPr>
          <a:xfrm>
            <a:off x="2190750" y="64770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Same states as teleop:  </a:t>
            </a:r>
            <a:r>
              <a:rPr sz="2100" b="0" i="0">
                <a:solidFill>
                  <a:srgbClr val="F0E8E8"/>
                </a:solidFill>
                <a:latin typeface="Geist"/>
                <a:ea typeface="Geist"/>
                <a:cs typeface="Geist"/>
              </a:rPr>
              <a:t>the tree asks the robot for states, just like the driver's buttons.</a:t>
            </a:r>
          </a:p>
        </p:txBody>
      </p:sp>
      <p:pic>
        <p:nvPicPr>
          <p:cNvPr id="24" name="Picture 23" descr="dozer_look_up_left.png"/>
          <p:cNvPicPr>
            <a:picLocks noChangeAspect="1"/>
          </p:cNvPicPr>
          <p:nvPr/>
        </p:nvPicPr>
        <p:blipFill>
          <a:blip r:embed="rId8"/>
          <a:stretch>
            <a:fillRect/>
          </a:stretch>
        </p:blipFill>
        <p:spPr>
          <a:xfrm>
            <a:off x="15049500" y="7620000"/>
            <a:ext cx="2190750" cy="1346530"/>
          </a:xfrm>
          <a:prstGeom prst="rect">
            <a:avLst/>
          </a:prstGeom>
        </p:spPr>
      </p:pic>
      <p:sp>
        <p:nvSpPr>
          <p:cNvPr id="25" name="TextBox 2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6" name="TextBox 2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BEHAVIOR TREES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parts of a tree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7562850" y="7086600"/>
            <a:ext cx="38100" cy="3429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7562850" y="7391400"/>
            <a:ext cx="3810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562850" y="7391400"/>
            <a:ext cx="38100" cy="3429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562850" y="5562600"/>
            <a:ext cx="38100" cy="3429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562850" y="5867400"/>
            <a:ext cx="3810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7562850" y="5867400"/>
            <a:ext cx="38100" cy="3429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229350" y="4038600"/>
            <a:ext cx="38100" cy="3429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228850" y="4343400"/>
            <a:ext cx="803910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228850" y="4343400"/>
            <a:ext cx="38100" cy="3429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895850" y="4343400"/>
            <a:ext cx="38100" cy="3429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7562850" y="4343400"/>
            <a:ext cx="38100" cy="3429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0229850" y="4343400"/>
            <a:ext cx="38100" cy="3429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1057275" y="4667250"/>
            <a:ext cx="238125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1095375" y="4762500"/>
            <a:ext cx="66675" cy="7239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85875" y="4781550"/>
            <a:ext cx="2038350" cy="270034"/>
          </a:xfrm>
          <a:prstGeom prst="rect">
            <a:avLst/>
          </a:prstGeom>
          <a:noFill/>
        </p:spPr>
        <p:txBody>
          <a:bodyPr wrap="square" lIns="0" rIns="0" tIns="0" bIns="0" anchor="t">
            <a:spAutoFit/>
          </a:bodyPr>
          <a:lstStyle/>
          <a:p>
            <a:pPr algn="l"/>
            <a:r>
              <a:rPr sz="1575" b="1" i="0">
                <a:solidFill>
                  <a:srgbClr val="2DD4BF"/>
                </a:solidFill>
                <a:latin typeface="Geist"/>
                <a:ea typeface="Geist"/>
                <a:cs typeface="Geist"/>
              </a:rPr>
              <a:t>▶  </a:t>
            </a:r>
            <a:r>
              <a:rPr sz="1575" b="1" i="0">
                <a:solidFill>
                  <a:srgbClr val="F0E8E8"/>
                </a:solidFill>
                <a:latin typeface="Geist"/>
                <a:ea typeface="Geist"/>
                <a:cs typeface="Geist"/>
              </a:rPr>
              <a:t>FollowPath</a:t>
            </a:r>
          </a:p>
        </p:txBody>
      </p:sp>
      <p:sp>
        <p:nvSpPr>
          <p:cNvPr id="20" name="TextBox 19"/>
          <p:cNvSpPr txBox="1"/>
          <p:nvPr/>
        </p:nvSpPr>
        <p:spPr>
          <a:xfrm>
            <a:off x="1285875" y="5070634"/>
            <a:ext cx="2038350" cy="240030"/>
          </a:xfrm>
          <a:prstGeom prst="rect">
            <a:avLst/>
          </a:prstGeom>
          <a:noFill/>
        </p:spPr>
        <p:txBody>
          <a:bodyPr wrap="square" lIns="0" rIns="0" tIns="0" bIns="0" anchor="t">
            <a:spAutoFit/>
          </a:bodyPr>
          <a:lstStyle/>
          <a:p>
            <a:pPr algn="l"/>
            <a:r>
              <a:rPr sz="1228" b="0" i="0">
                <a:solidFill>
                  <a:srgbClr val="E8C27A"/>
                </a:solidFill>
                <a:latin typeface="Geist Mono"/>
                <a:ea typeface="Geist Mono"/>
                <a:cs typeface="Geist Mono"/>
              </a:rPr>
              <a:t>ToScore</a:t>
            </a:r>
          </a:p>
        </p:txBody>
      </p:sp>
      <p:sp>
        <p:nvSpPr>
          <p:cNvPr id="21" name="Rounded Rectangle 20"/>
          <p:cNvSpPr/>
          <p:nvPr/>
        </p:nvSpPr>
        <p:spPr>
          <a:xfrm>
            <a:off x="3724275" y="4667250"/>
            <a:ext cx="238125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3762375" y="4762500"/>
            <a:ext cx="66675" cy="7239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952875" y="4781550"/>
            <a:ext cx="2038350" cy="270034"/>
          </a:xfrm>
          <a:prstGeom prst="rect">
            <a:avLst/>
          </a:prstGeom>
          <a:noFill/>
        </p:spPr>
        <p:txBody>
          <a:bodyPr wrap="square" lIns="0" rIns="0" tIns="0" bIns="0" anchor="t">
            <a:spAutoFit/>
          </a:bodyPr>
          <a:lstStyle/>
          <a:p>
            <a:pPr algn="l"/>
            <a:r>
              <a:rPr sz="1575" b="1" i="0">
                <a:solidFill>
                  <a:srgbClr val="2DD4BF"/>
                </a:solidFill>
                <a:latin typeface="Geist"/>
                <a:ea typeface="Geist"/>
                <a:cs typeface="Geist"/>
              </a:rPr>
              <a:t>▶  </a:t>
            </a:r>
            <a:r>
              <a:rPr sz="1575" b="1" i="0">
                <a:solidFill>
                  <a:srgbClr val="F0E8E8"/>
                </a:solidFill>
                <a:latin typeface="Geist"/>
                <a:ea typeface="Geist"/>
                <a:cs typeface="Geist"/>
              </a:rPr>
              <a:t>SetWantedState</a:t>
            </a:r>
          </a:p>
        </p:txBody>
      </p:sp>
      <p:sp>
        <p:nvSpPr>
          <p:cNvPr id="24" name="TextBox 23"/>
          <p:cNvSpPr txBox="1"/>
          <p:nvPr/>
        </p:nvSpPr>
        <p:spPr>
          <a:xfrm>
            <a:off x="3952875" y="5070634"/>
            <a:ext cx="2038350" cy="240030"/>
          </a:xfrm>
          <a:prstGeom prst="rect">
            <a:avLst/>
          </a:prstGeom>
          <a:noFill/>
        </p:spPr>
        <p:txBody>
          <a:bodyPr wrap="square" lIns="0" rIns="0" tIns="0" bIns="0" anchor="t">
            <a:spAutoFit/>
          </a:bodyPr>
          <a:lstStyle/>
          <a:p>
            <a:pPr algn="l"/>
            <a:r>
              <a:rPr sz="1228" b="0" i="0">
                <a:solidFill>
                  <a:srgbClr val="E8C27A"/>
                </a:solidFill>
                <a:latin typeface="Geist Mono"/>
                <a:ea typeface="Geist Mono"/>
                <a:cs typeface="Geist Mono"/>
              </a:rPr>
              <a:t>AIM</a:t>
            </a:r>
          </a:p>
        </p:txBody>
      </p:sp>
      <p:sp>
        <p:nvSpPr>
          <p:cNvPr id="25" name="Rounded Rectangle 24"/>
          <p:cNvSpPr/>
          <p:nvPr/>
        </p:nvSpPr>
        <p:spPr>
          <a:xfrm>
            <a:off x="6391275" y="7715250"/>
            <a:ext cx="238125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6429375" y="7810500"/>
            <a:ext cx="66675" cy="723900"/>
          </a:xfrm>
          <a:prstGeom prst="roundRect">
            <a:avLst>
              <a:gd name="adj" fmla="val 42857"/>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19875" y="7829550"/>
            <a:ext cx="2038350" cy="270034"/>
          </a:xfrm>
          <a:prstGeom prst="rect">
            <a:avLst/>
          </a:prstGeom>
          <a:noFill/>
        </p:spPr>
        <p:txBody>
          <a:bodyPr wrap="square" lIns="0" rIns="0" tIns="0" bIns="0" anchor="t">
            <a:spAutoFit/>
          </a:bodyPr>
          <a:lstStyle/>
          <a:p>
            <a:pPr algn="l"/>
            <a:r>
              <a:rPr sz="1575" b="1" i="0">
                <a:solidFill>
                  <a:srgbClr val="C084FC"/>
                </a:solidFill>
                <a:latin typeface="Geist"/>
                <a:ea typeface="Geist"/>
                <a:cs typeface="Geist"/>
              </a:rPr>
              <a:t>●  </a:t>
            </a:r>
            <a:r>
              <a:rPr sz="1575" b="1" i="0">
                <a:solidFill>
                  <a:srgbClr val="F0E8E8"/>
                </a:solidFill>
                <a:latin typeface="Geist"/>
                <a:ea typeface="Geist"/>
                <a:cs typeface="Geist"/>
              </a:rPr>
              <a:t>IsSystemState</a:t>
            </a:r>
          </a:p>
        </p:txBody>
      </p:sp>
      <p:sp>
        <p:nvSpPr>
          <p:cNvPr id="28" name="TextBox 27"/>
          <p:cNvSpPr txBox="1"/>
          <p:nvPr/>
        </p:nvSpPr>
        <p:spPr>
          <a:xfrm>
            <a:off x="6619875" y="8118634"/>
            <a:ext cx="2038350" cy="240030"/>
          </a:xfrm>
          <a:prstGeom prst="rect">
            <a:avLst/>
          </a:prstGeom>
          <a:noFill/>
        </p:spPr>
        <p:txBody>
          <a:bodyPr wrap="square" lIns="0" rIns="0" tIns="0" bIns="0" anchor="t">
            <a:spAutoFit/>
          </a:bodyPr>
          <a:lstStyle/>
          <a:p>
            <a:pPr algn="l"/>
            <a:r>
              <a:rPr sz="1228" b="0" i="0">
                <a:solidFill>
                  <a:srgbClr val="E8C27A"/>
                </a:solidFill>
                <a:latin typeface="Geist Mono"/>
                <a:ea typeface="Geist Mono"/>
                <a:cs typeface="Geist Mono"/>
              </a:rPr>
              <a:t>AIM</a:t>
            </a:r>
          </a:p>
        </p:txBody>
      </p:sp>
      <p:sp>
        <p:nvSpPr>
          <p:cNvPr id="29" name="Rounded Rectangle 28"/>
          <p:cNvSpPr/>
          <p:nvPr/>
        </p:nvSpPr>
        <p:spPr>
          <a:xfrm>
            <a:off x="6391275" y="6191250"/>
            <a:ext cx="238125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6429375" y="6286500"/>
            <a:ext cx="66675" cy="72390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619875" y="6305550"/>
            <a:ext cx="2038350" cy="270034"/>
          </a:xfrm>
          <a:prstGeom prst="rect">
            <a:avLst/>
          </a:prstGeom>
          <a:noFill/>
        </p:spPr>
        <p:txBody>
          <a:bodyPr wrap="square" lIns="0" rIns="0" tIns="0" bIns="0" anchor="t">
            <a:spAutoFit/>
          </a:bodyPr>
          <a:lstStyle/>
          <a:p>
            <a:pPr algn="l"/>
            <a:r>
              <a:rPr sz="1575" b="1" i="0">
                <a:solidFill>
                  <a:srgbClr val="7C93C3"/>
                </a:solidFill>
                <a:latin typeface="Geist"/>
                <a:ea typeface="Geist"/>
                <a:cs typeface="Geist"/>
              </a:rPr>
              <a:t>↻  </a:t>
            </a:r>
            <a:r>
              <a:rPr sz="1575" b="1" i="0">
                <a:solidFill>
                  <a:srgbClr val="F0E8E8"/>
                </a:solidFill>
                <a:latin typeface="Geist"/>
                <a:ea typeface="Geist"/>
                <a:cs typeface="Geist"/>
              </a:rPr>
              <a:t>Retry</a:t>
            </a:r>
          </a:p>
        </p:txBody>
      </p:sp>
      <p:sp>
        <p:nvSpPr>
          <p:cNvPr id="32" name="TextBox 31"/>
          <p:cNvSpPr txBox="1"/>
          <p:nvPr/>
        </p:nvSpPr>
        <p:spPr>
          <a:xfrm>
            <a:off x="6619875" y="6594634"/>
            <a:ext cx="2038350" cy="240030"/>
          </a:xfrm>
          <a:prstGeom prst="rect">
            <a:avLst/>
          </a:prstGeom>
          <a:noFill/>
        </p:spPr>
        <p:txBody>
          <a:bodyPr wrap="square" lIns="0" rIns="0" tIns="0" bIns="0" anchor="t">
            <a:spAutoFit/>
          </a:bodyPr>
          <a:lstStyle/>
          <a:p>
            <a:pPr algn="l"/>
            <a:r>
              <a:rPr sz="1228" b="0" i="0">
                <a:solidFill>
                  <a:srgbClr val="E8C27A"/>
                </a:solidFill>
                <a:latin typeface="Geist Mono"/>
                <a:ea typeface="Geist Mono"/>
                <a:cs typeface="Geist Mono"/>
              </a:rPr>
              <a:t>until success</a:t>
            </a:r>
          </a:p>
        </p:txBody>
      </p:sp>
      <p:sp>
        <p:nvSpPr>
          <p:cNvPr id="33" name="Rounded Rectangle 32"/>
          <p:cNvSpPr/>
          <p:nvPr/>
        </p:nvSpPr>
        <p:spPr>
          <a:xfrm>
            <a:off x="6391275" y="4667250"/>
            <a:ext cx="238125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6429375" y="4762500"/>
            <a:ext cx="66675" cy="72390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619875" y="4781550"/>
            <a:ext cx="2038350" cy="270034"/>
          </a:xfrm>
          <a:prstGeom prst="rect">
            <a:avLst/>
          </a:prstGeom>
          <a:noFill/>
        </p:spPr>
        <p:txBody>
          <a:bodyPr wrap="square" lIns="0" rIns="0" tIns="0" bIns="0" anchor="t">
            <a:spAutoFit/>
          </a:bodyPr>
          <a:lstStyle/>
          <a:p>
            <a:pPr algn="l"/>
            <a:r>
              <a:rPr sz="1575" b="1" i="0">
                <a:solidFill>
                  <a:srgbClr val="7C93C3"/>
                </a:solidFill>
                <a:latin typeface="Geist"/>
                <a:ea typeface="Geist"/>
                <a:cs typeface="Geist"/>
              </a:rPr>
              <a:t>⏱  </a:t>
            </a:r>
            <a:r>
              <a:rPr sz="1575" b="1" i="0">
                <a:solidFill>
                  <a:srgbClr val="F0E8E8"/>
                </a:solidFill>
                <a:latin typeface="Geist"/>
                <a:ea typeface="Geist"/>
                <a:cs typeface="Geist"/>
              </a:rPr>
              <a:t>Timeout</a:t>
            </a:r>
          </a:p>
        </p:txBody>
      </p:sp>
      <p:sp>
        <p:nvSpPr>
          <p:cNvPr id="36" name="TextBox 35"/>
          <p:cNvSpPr txBox="1"/>
          <p:nvPr/>
        </p:nvSpPr>
        <p:spPr>
          <a:xfrm>
            <a:off x="6619875" y="5070634"/>
            <a:ext cx="2038350" cy="240030"/>
          </a:xfrm>
          <a:prstGeom prst="rect">
            <a:avLst/>
          </a:prstGeom>
          <a:noFill/>
        </p:spPr>
        <p:txBody>
          <a:bodyPr wrap="square" lIns="0" rIns="0" tIns="0" bIns="0" anchor="t">
            <a:spAutoFit/>
          </a:bodyPr>
          <a:lstStyle/>
          <a:p>
            <a:pPr algn="l"/>
            <a:r>
              <a:rPr sz="1228" b="0" i="0">
                <a:solidFill>
                  <a:srgbClr val="E8C27A"/>
                </a:solidFill>
                <a:latin typeface="Geist Mono"/>
                <a:ea typeface="Geist Mono"/>
                <a:cs typeface="Geist Mono"/>
              </a:rPr>
              <a:t>3000 ms</a:t>
            </a:r>
          </a:p>
        </p:txBody>
      </p:sp>
      <p:sp>
        <p:nvSpPr>
          <p:cNvPr id="37" name="Rounded Rectangle 36"/>
          <p:cNvSpPr/>
          <p:nvPr/>
        </p:nvSpPr>
        <p:spPr>
          <a:xfrm>
            <a:off x="9058275" y="4667250"/>
            <a:ext cx="238125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9096375" y="4762500"/>
            <a:ext cx="66675" cy="7239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286875" y="4781550"/>
            <a:ext cx="2038350" cy="270034"/>
          </a:xfrm>
          <a:prstGeom prst="rect">
            <a:avLst/>
          </a:prstGeom>
          <a:noFill/>
        </p:spPr>
        <p:txBody>
          <a:bodyPr wrap="square" lIns="0" rIns="0" tIns="0" bIns="0" anchor="t">
            <a:spAutoFit/>
          </a:bodyPr>
          <a:lstStyle/>
          <a:p>
            <a:pPr algn="l"/>
            <a:r>
              <a:rPr sz="1575" b="1" i="0">
                <a:solidFill>
                  <a:srgbClr val="2DD4BF"/>
                </a:solidFill>
                <a:latin typeface="Geist"/>
                <a:ea typeface="Geist"/>
                <a:cs typeface="Geist"/>
              </a:rPr>
              <a:t>▶  </a:t>
            </a:r>
            <a:r>
              <a:rPr sz="1575" b="1" i="0">
                <a:solidFill>
                  <a:srgbClr val="F0E8E8"/>
                </a:solidFill>
                <a:latin typeface="Geist"/>
                <a:ea typeface="Geist"/>
                <a:cs typeface="Geist"/>
              </a:rPr>
              <a:t>SetWantedState</a:t>
            </a:r>
          </a:p>
        </p:txBody>
      </p:sp>
      <p:sp>
        <p:nvSpPr>
          <p:cNvPr id="40" name="TextBox 39"/>
          <p:cNvSpPr txBox="1"/>
          <p:nvPr/>
        </p:nvSpPr>
        <p:spPr>
          <a:xfrm>
            <a:off x="9286875" y="5070634"/>
            <a:ext cx="2038350" cy="240030"/>
          </a:xfrm>
          <a:prstGeom prst="rect">
            <a:avLst/>
          </a:prstGeom>
          <a:noFill/>
        </p:spPr>
        <p:txBody>
          <a:bodyPr wrap="square" lIns="0" rIns="0" tIns="0" bIns="0" anchor="t">
            <a:spAutoFit/>
          </a:bodyPr>
          <a:lstStyle/>
          <a:p>
            <a:pPr algn="l"/>
            <a:r>
              <a:rPr sz="1228" b="0" i="0">
                <a:solidFill>
                  <a:srgbClr val="E8C27A"/>
                </a:solidFill>
                <a:latin typeface="Geist Mono"/>
                <a:ea typeface="Geist Mono"/>
                <a:cs typeface="Geist Mono"/>
              </a:rPr>
              <a:t>SHOOT</a:t>
            </a:r>
          </a:p>
        </p:txBody>
      </p:sp>
      <p:sp>
        <p:nvSpPr>
          <p:cNvPr id="41" name="Rounded Rectangle 40"/>
          <p:cNvSpPr/>
          <p:nvPr/>
        </p:nvSpPr>
        <p:spPr>
          <a:xfrm>
            <a:off x="5057775" y="3143250"/>
            <a:ext cx="238125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ounded Rectangle 41"/>
          <p:cNvSpPr/>
          <p:nvPr/>
        </p:nvSpPr>
        <p:spPr>
          <a:xfrm>
            <a:off x="5095875" y="3238500"/>
            <a:ext cx="66675" cy="72390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5286375" y="3460432"/>
            <a:ext cx="2038350" cy="270034"/>
          </a:xfrm>
          <a:prstGeom prst="rect">
            <a:avLst/>
          </a:prstGeom>
          <a:noFill/>
        </p:spPr>
        <p:txBody>
          <a:bodyPr wrap="square" lIns="0" rIns="0" tIns="0" bIns="0" anchor="t">
            <a:spAutoFit/>
          </a:bodyPr>
          <a:lstStyle/>
          <a:p>
            <a:pPr algn="l"/>
            <a:r>
              <a:rPr sz="1575" b="1" i="0">
                <a:solidFill>
                  <a:srgbClr val="7C93C3"/>
                </a:solidFill>
                <a:latin typeface="Geist"/>
                <a:ea typeface="Geist"/>
                <a:cs typeface="Geist"/>
              </a:rPr>
              <a:t>→  </a:t>
            </a:r>
            <a:r>
              <a:rPr sz="1575" b="1" i="0">
                <a:solidFill>
                  <a:srgbClr val="F0E8E8"/>
                </a:solidFill>
                <a:latin typeface="Geist"/>
                <a:ea typeface="Geist"/>
                <a:cs typeface="Geist"/>
              </a:rPr>
              <a:t>Sequence</a:t>
            </a:r>
          </a:p>
        </p:txBody>
      </p:sp>
      <p:sp>
        <p:nvSpPr>
          <p:cNvPr id="44" name="Rounded Rectangle 43"/>
          <p:cNvSpPr/>
          <p:nvPr/>
        </p:nvSpPr>
        <p:spPr>
          <a:xfrm>
            <a:off x="4152900" y="3426142"/>
            <a:ext cx="647700" cy="348615"/>
          </a:xfrm>
          <a:prstGeom prst="roundRect">
            <a:avLst>
              <a:gd name="adj" fmla="val 21857"/>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4152900" y="3426142"/>
            <a:ext cx="647700" cy="348615"/>
          </a:xfrm>
          <a:prstGeom prst="rect">
            <a:avLst/>
          </a:prstGeom>
          <a:noFill/>
        </p:spPr>
        <p:txBody>
          <a:bodyPr wrap="square" lIns="0" rIns="0" tIns="0" bIns="0" anchor="ctr">
            <a:spAutoFit/>
          </a:bodyPr>
          <a:lstStyle/>
          <a:p>
            <a:pPr algn="ctr"/>
            <a:r>
              <a:rPr sz="1650" b="0" i="0">
                <a:solidFill>
                  <a:srgbClr val="D5000E"/>
                </a:solidFill>
                <a:latin typeface="Geist"/>
                <a:ea typeface="Geist"/>
                <a:cs typeface="Geist"/>
              </a:rPr>
              <a:t>root</a:t>
            </a:r>
          </a:p>
        </p:txBody>
      </p:sp>
      <p:sp>
        <p:nvSpPr>
          <p:cNvPr id="46" name="Rounded Rectangle 45"/>
          <p:cNvSpPr/>
          <p:nvPr/>
        </p:nvSpPr>
        <p:spPr>
          <a:xfrm>
            <a:off x="12287250" y="3009900"/>
            <a:ext cx="95250" cy="762000"/>
          </a:xfrm>
          <a:prstGeom prst="roundRect">
            <a:avLst>
              <a:gd name="adj" fmla="val 4000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2611100" y="2952750"/>
            <a:ext cx="47625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Root</a:t>
            </a:r>
          </a:p>
        </p:txBody>
      </p:sp>
      <p:sp>
        <p:nvSpPr>
          <p:cNvPr id="48" name="TextBox 47"/>
          <p:cNvSpPr txBox="1"/>
          <p:nvPr/>
        </p:nvSpPr>
        <p:spPr>
          <a:xfrm>
            <a:off x="12611100" y="3371850"/>
            <a:ext cx="4762500" cy="5715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The top. Every tick starts here</a:t>
            </a:r>
          </a:p>
        </p:txBody>
      </p:sp>
      <p:sp>
        <p:nvSpPr>
          <p:cNvPr id="49" name="Rounded Rectangle 48"/>
          <p:cNvSpPr/>
          <p:nvPr/>
        </p:nvSpPr>
        <p:spPr>
          <a:xfrm>
            <a:off x="12287250" y="4191000"/>
            <a:ext cx="95250" cy="762000"/>
          </a:xfrm>
          <a:prstGeom prst="roundRect">
            <a:avLst>
              <a:gd name="adj" fmla="val 40000"/>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2611100" y="4133850"/>
            <a:ext cx="47625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Control nodes</a:t>
            </a:r>
          </a:p>
        </p:txBody>
      </p:sp>
      <p:sp>
        <p:nvSpPr>
          <p:cNvPr id="51" name="TextBox 50"/>
          <p:cNvSpPr txBox="1"/>
          <p:nvPr/>
        </p:nvSpPr>
        <p:spPr>
          <a:xfrm>
            <a:off x="12611100" y="4552950"/>
            <a:ext cx="4762500" cy="5715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Hold children, decide how to run them</a:t>
            </a:r>
          </a:p>
        </p:txBody>
      </p:sp>
      <p:sp>
        <p:nvSpPr>
          <p:cNvPr id="52" name="Rounded Rectangle 51"/>
          <p:cNvSpPr/>
          <p:nvPr/>
        </p:nvSpPr>
        <p:spPr>
          <a:xfrm>
            <a:off x="12287250" y="5372100"/>
            <a:ext cx="95250" cy="762000"/>
          </a:xfrm>
          <a:prstGeom prst="roundRect">
            <a:avLst>
              <a:gd name="adj" fmla="val 4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12611100" y="5314950"/>
            <a:ext cx="47625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Actions</a:t>
            </a:r>
          </a:p>
        </p:txBody>
      </p:sp>
      <p:sp>
        <p:nvSpPr>
          <p:cNvPr id="54" name="TextBox 53"/>
          <p:cNvSpPr txBox="1"/>
          <p:nvPr/>
        </p:nvSpPr>
        <p:spPr>
          <a:xfrm>
            <a:off x="12611100" y="5734050"/>
            <a:ext cx="4762500" cy="5715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Do the work: drive, ask for a state</a:t>
            </a:r>
          </a:p>
        </p:txBody>
      </p:sp>
      <p:sp>
        <p:nvSpPr>
          <p:cNvPr id="55" name="Rounded Rectangle 54"/>
          <p:cNvSpPr/>
          <p:nvPr/>
        </p:nvSpPr>
        <p:spPr>
          <a:xfrm>
            <a:off x="12287250" y="6553200"/>
            <a:ext cx="95250" cy="762000"/>
          </a:xfrm>
          <a:prstGeom prst="roundRect">
            <a:avLst>
              <a:gd name="adj" fmla="val 40000"/>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12611100" y="6496050"/>
            <a:ext cx="47625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Conditions</a:t>
            </a:r>
          </a:p>
        </p:txBody>
      </p:sp>
      <p:sp>
        <p:nvSpPr>
          <p:cNvPr id="57" name="TextBox 56"/>
          <p:cNvSpPr txBox="1"/>
          <p:nvPr/>
        </p:nvSpPr>
        <p:spPr>
          <a:xfrm>
            <a:off x="12611100" y="6915150"/>
            <a:ext cx="4762500" cy="5715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Check something. Never move the robot</a:t>
            </a:r>
          </a:p>
        </p:txBody>
      </p:sp>
      <p:sp>
        <p:nvSpPr>
          <p:cNvPr id="58" name="Rounded Rectangle 57"/>
          <p:cNvSpPr/>
          <p:nvPr/>
        </p:nvSpPr>
        <p:spPr>
          <a:xfrm>
            <a:off x="12287250" y="7734300"/>
            <a:ext cx="95250" cy="762000"/>
          </a:xfrm>
          <a:prstGeom prst="roundRect">
            <a:avLst>
              <a:gd name="adj" fmla="val 40000"/>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12611100" y="7677150"/>
            <a:ext cx="47625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Read it</a:t>
            </a:r>
          </a:p>
        </p:txBody>
      </p:sp>
      <p:sp>
        <p:nvSpPr>
          <p:cNvPr id="60" name="TextBox 59"/>
          <p:cNvSpPr txBox="1"/>
          <p:nvPr/>
        </p:nvSpPr>
        <p:spPr>
          <a:xfrm>
            <a:off x="12611100" y="8096250"/>
            <a:ext cx="4762500" cy="5715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Top to bottom, children left to right</a:t>
            </a:r>
          </a:p>
        </p:txBody>
      </p:sp>
      <p:sp>
        <p:nvSpPr>
          <p:cNvPr id="61" name="TextBox 6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2" name="TextBox 6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BEHAVIOR TREES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Every node answers its parent</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66675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676400" y="3333750"/>
            <a:ext cx="4191000" cy="1009650"/>
          </a:xfrm>
          <a:prstGeom prst="roundRect">
            <a:avLst>
              <a:gd name="adj" fmla="val 1132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714500" y="3429000"/>
            <a:ext cx="66675" cy="81915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905000" y="3448050"/>
            <a:ext cx="3848100" cy="334328"/>
          </a:xfrm>
          <a:prstGeom prst="rect">
            <a:avLst/>
          </a:prstGeom>
          <a:noFill/>
        </p:spPr>
        <p:txBody>
          <a:bodyPr wrap="square" lIns="0" rIns="0" tIns="0" bIns="0" anchor="t">
            <a:spAutoFit/>
          </a:bodyPr>
          <a:lstStyle/>
          <a:p>
            <a:pPr algn="l"/>
            <a:r>
              <a:rPr sz="1950" b="1" i="0">
                <a:solidFill>
                  <a:srgbClr val="7C93C3"/>
                </a:solidFill>
                <a:latin typeface="Geist"/>
                <a:ea typeface="Geist"/>
                <a:cs typeface="Geist"/>
              </a:rPr>
              <a:t>→  </a:t>
            </a:r>
            <a:r>
              <a:rPr sz="1950" b="1" i="0">
                <a:solidFill>
                  <a:srgbClr val="F0E8E8"/>
                </a:solidFill>
                <a:latin typeface="Geist"/>
                <a:ea typeface="Geist"/>
                <a:cs typeface="Geist"/>
              </a:rPr>
              <a:t>Sequence</a:t>
            </a:r>
          </a:p>
        </p:txBody>
      </p:sp>
      <p:sp>
        <p:nvSpPr>
          <p:cNvPr id="9" name="TextBox 8"/>
          <p:cNvSpPr txBox="1"/>
          <p:nvPr/>
        </p:nvSpPr>
        <p:spPr>
          <a:xfrm>
            <a:off x="1905000" y="3801428"/>
            <a:ext cx="3848100" cy="297180"/>
          </a:xfrm>
          <a:prstGeom prst="rect">
            <a:avLst/>
          </a:prstGeom>
          <a:noFill/>
        </p:spPr>
        <p:txBody>
          <a:bodyPr wrap="square" lIns="0" rIns="0" tIns="0" bIns="0" anchor="t">
            <a:spAutoFit/>
          </a:bodyPr>
          <a:lstStyle/>
          <a:p>
            <a:pPr algn="l"/>
            <a:r>
              <a:rPr sz="1521" b="0" i="0">
                <a:solidFill>
                  <a:srgbClr val="E8C27A"/>
                </a:solidFill>
                <a:latin typeface="Geist Mono"/>
                <a:ea typeface="Geist Mono"/>
                <a:cs typeface="Geist Mono"/>
              </a:rPr>
              <a:t>the parent</a:t>
            </a:r>
          </a:p>
        </p:txBody>
      </p:sp>
      <p:sp>
        <p:nvSpPr>
          <p:cNvPr id="10" name="Rounded Rectangle 9"/>
          <p:cNvSpPr/>
          <p:nvPr/>
        </p:nvSpPr>
        <p:spPr>
          <a:xfrm>
            <a:off x="1676400" y="6096000"/>
            <a:ext cx="4191000" cy="1009650"/>
          </a:xfrm>
          <a:prstGeom prst="roundRect">
            <a:avLst>
              <a:gd name="adj" fmla="val 1132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1714500" y="6191250"/>
            <a:ext cx="66675" cy="8191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905000" y="6210300"/>
            <a:ext cx="3848100" cy="334328"/>
          </a:xfrm>
          <a:prstGeom prst="rect">
            <a:avLst/>
          </a:prstGeom>
          <a:noFill/>
        </p:spPr>
        <p:txBody>
          <a:bodyPr wrap="square" lIns="0" rIns="0" tIns="0" bIns="0" anchor="t">
            <a:spAutoFit/>
          </a:bodyPr>
          <a:lstStyle/>
          <a:p>
            <a:pPr algn="l"/>
            <a:r>
              <a:rPr sz="1950" b="1" i="0">
                <a:solidFill>
                  <a:srgbClr val="2DD4BF"/>
                </a:solidFill>
                <a:latin typeface="Geist"/>
                <a:ea typeface="Geist"/>
                <a:cs typeface="Geist"/>
              </a:rPr>
              <a:t>▶  </a:t>
            </a:r>
            <a:r>
              <a:rPr sz="1950" b="1" i="0">
                <a:solidFill>
                  <a:srgbClr val="F0E8E8"/>
                </a:solidFill>
                <a:latin typeface="Geist"/>
                <a:ea typeface="Geist"/>
                <a:cs typeface="Geist"/>
              </a:rPr>
              <a:t>FollowPath</a:t>
            </a:r>
          </a:p>
        </p:txBody>
      </p:sp>
      <p:sp>
        <p:nvSpPr>
          <p:cNvPr id="13" name="TextBox 12"/>
          <p:cNvSpPr txBox="1"/>
          <p:nvPr/>
        </p:nvSpPr>
        <p:spPr>
          <a:xfrm>
            <a:off x="1905000" y="6563678"/>
            <a:ext cx="3848100" cy="297180"/>
          </a:xfrm>
          <a:prstGeom prst="rect">
            <a:avLst/>
          </a:prstGeom>
          <a:noFill/>
        </p:spPr>
        <p:txBody>
          <a:bodyPr wrap="square" lIns="0" rIns="0" tIns="0" bIns="0" anchor="t">
            <a:spAutoFit/>
          </a:bodyPr>
          <a:lstStyle/>
          <a:p>
            <a:pPr algn="l"/>
            <a:r>
              <a:rPr sz="1521" b="0" i="0">
                <a:solidFill>
                  <a:srgbClr val="E8C27A"/>
                </a:solidFill>
                <a:latin typeface="Geist Mono"/>
                <a:ea typeface="Geist Mono"/>
                <a:cs typeface="Geist Mono"/>
              </a:rPr>
              <a:t>trajectory = ToScore</a:t>
            </a:r>
          </a:p>
        </p:txBody>
      </p:sp>
      <p:sp>
        <p:nvSpPr>
          <p:cNvPr id="14" name="Rectangle 13"/>
          <p:cNvSpPr/>
          <p:nvPr/>
        </p:nvSpPr>
        <p:spPr>
          <a:xfrm>
            <a:off x="2833688" y="4414838"/>
            <a:ext cx="47625" cy="145351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Isosceles Triangle 14"/>
          <p:cNvSpPr/>
          <p:nvPr/>
        </p:nvSpPr>
        <p:spPr>
          <a:xfrm rot="10800000">
            <a:off x="2781300" y="58293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48188" y="4551998"/>
            <a:ext cx="47625" cy="145351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4495800" y="4438650"/>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586038" y="5045392"/>
            <a:ext cx="542925" cy="348615"/>
          </a:xfrm>
          <a:prstGeom prst="roundRect">
            <a:avLst>
              <a:gd name="adj" fmla="val 21857"/>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586038" y="5045392"/>
            <a:ext cx="542925" cy="348615"/>
          </a:xfrm>
          <a:prstGeom prst="rect">
            <a:avLst/>
          </a:prstGeom>
          <a:noFill/>
        </p:spPr>
        <p:txBody>
          <a:bodyPr wrap="square" lIns="0" rIns="0" tIns="0" bIns="0" anchor="ctr">
            <a:spAutoFit/>
          </a:bodyPr>
          <a:lstStyle/>
          <a:p>
            <a:pPr algn="ctr"/>
            <a:r>
              <a:rPr sz="1650" b="0" i="0">
                <a:solidFill>
                  <a:srgbClr val="9A7878"/>
                </a:solidFill>
                <a:latin typeface="Geist"/>
                <a:ea typeface="Geist"/>
                <a:cs typeface="Geist"/>
              </a:rPr>
              <a:t>run</a:t>
            </a:r>
          </a:p>
        </p:txBody>
      </p:sp>
      <p:sp>
        <p:nvSpPr>
          <p:cNvPr id="20" name="Rounded Rectangle 19"/>
          <p:cNvSpPr/>
          <p:nvPr/>
        </p:nvSpPr>
        <p:spPr>
          <a:xfrm>
            <a:off x="4953000" y="4762500"/>
            <a:ext cx="1428750" cy="40005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953000" y="4762500"/>
            <a:ext cx="1428750" cy="400050"/>
          </a:xfrm>
          <a:prstGeom prst="rect">
            <a:avLst/>
          </a:prstGeom>
          <a:noFill/>
        </p:spPr>
        <p:txBody>
          <a:bodyPr wrap="square" lIns="0" rIns="0" tIns="0" bIns="0" anchor="ctr">
            <a:spAutoFit/>
          </a:bodyPr>
          <a:lstStyle/>
          <a:p>
            <a:pPr algn="ctr"/>
            <a:r>
              <a:rPr sz="1200" b="1" i="0">
                <a:solidFill>
                  <a:srgbClr val="FFFFFF"/>
                </a:solidFill>
                <a:latin typeface="Geist"/>
                <a:ea typeface="Geist"/>
                <a:cs typeface="Geist"/>
              </a:rPr>
              <a:t>SUCCESS</a:t>
            </a:r>
          </a:p>
        </p:txBody>
      </p:sp>
      <p:sp>
        <p:nvSpPr>
          <p:cNvPr id="22" name="Rounded Rectangle 21"/>
          <p:cNvSpPr/>
          <p:nvPr/>
        </p:nvSpPr>
        <p:spPr>
          <a:xfrm>
            <a:off x="4953000" y="5295900"/>
            <a:ext cx="1428750" cy="400050"/>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953000" y="5295900"/>
            <a:ext cx="1428750" cy="400050"/>
          </a:xfrm>
          <a:prstGeom prst="rect">
            <a:avLst/>
          </a:prstGeom>
          <a:noFill/>
        </p:spPr>
        <p:txBody>
          <a:bodyPr wrap="square" lIns="0" rIns="0" tIns="0" bIns="0" anchor="ctr">
            <a:spAutoFit/>
          </a:bodyPr>
          <a:lstStyle/>
          <a:p>
            <a:pPr algn="ctr"/>
            <a:r>
              <a:rPr sz="1200" b="1" i="0">
                <a:solidFill>
                  <a:srgbClr val="FFFFFF"/>
                </a:solidFill>
                <a:latin typeface="Geist"/>
                <a:ea typeface="Geist"/>
                <a:cs typeface="Geist"/>
              </a:rPr>
              <a:t>FAILURE</a:t>
            </a:r>
          </a:p>
        </p:txBody>
      </p:sp>
      <p:sp>
        <p:nvSpPr>
          <p:cNvPr id="24" name="Rounded Rectangle 23"/>
          <p:cNvSpPr/>
          <p:nvPr/>
        </p:nvSpPr>
        <p:spPr>
          <a:xfrm>
            <a:off x="8096250" y="3009900"/>
            <a:ext cx="95250" cy="1047750"/>
          </a:xfrm>
          <a:prstGeom prst="roundRect">
            <a:avLst>
              <a:gd name="adj" fmla="val 4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420100" y="2952750"/>
            <a:ext cx="8953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Actions</a:t>
            </a:r>
          </a:p>
        </p:txBody>
      </p:sp>
      <p:sp>
        <p:nvSpPr>
          <p:cNvPr id="26" name="TextBox 25"/>
          <p:cNvSpPr txBox="1"/>
          <p:nvPr/>
        </p:nvSpPr>
        <p:spPr>
          <a:xfrm>
            <a:off x="8420100" y="3409950"/>
            <a:ext cx="8572500" cy="8572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SUCCESS when the job is done, FAILURE if it couldn't be</a:t>
            </a:r>
          </a:p>
        </p:txBody>
      </p:sp>
      <p:sp>
        <p:nvSpPr>
          <p:cNvPr id="27" name="Rounded Rectangle 26"/>
          <p:cNvSpPr/>
          <p:nvPr/>
        </p:nvSpPr>
        <p:spPr>
          <a:xfrm>
            <a:off x="8096250" y="4629150"/>
            <a:ext cx="95250" cy="1047750"/>
          </a:xfrm>
          <a:prstGeom prst="roundRect">
            <a:avLst>
              <a:gd name="adj" fmla="val 40000"/>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420100" y="4572000"/>
            <a:ext cx="8953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Conditions</a:t>
            </a:r>
          </a:p>
        </p:txBody>
      </p:sp>
      <p:sp>
        <p:nvSpPr>
          <p:cNvPr id="29" name="TextBox 28"/>
          <p:cNvSpPr txBox="1"/>
          <p:nvPr/>
        </p:nvSpPr>
        <p:spPr>
          <a:xfrm>
            <a:off x="8420100" y="5029200"/>
            <a:ext cx="8572500" cy="8572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Answer at once: SUCCESS if true, FAILURE if not</a:t>
            </a:r>
          </a:p>
        </p:txBody>
      </p:sp>
      <p:sp>
        <p:nvSpPr>
          <p:cNvPr id="30" name="Rounded Rectangle 29"/>
          <p:cNvSpPr/>
          <p:nvPr/>
        </p:nvSpPr>
        <p:spPr>
          <a:xfrm>
            <a:off x="8096250" y="6248400"/>
            <a:ext cx="95250" cy="1047750"/>
          </a:xfrm>
          <a:prstGeom prst="roundRect">
            <a:avLst>
              <a:gd name="adj" fmla="val 40000"/>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420100" y="6191250"/>
            <a:ext cx="8953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Control nodes</a:t>
            </a:r>
          </a:p>
        </p:txBody>
      </p:sp>
      <p:sp>
        <p:nvSpPr>
          <p:cNvPr id="32" name="TextBox 31"/>
          <p:cNvSpPr txBox="1"/>
          <p:nvPr/>
        </p:nvSpPr>
        <p:spPr>
          <a:xfrm>
            <a:off x="8420100" y="6648450"/>
            <a:ext cx="8572500" cy="8572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Answer for their children. Sequence: all must succeed. Fallback: one is enough</a:t>
            </a:r>
          </a:p>
        </p:txBody>
      </p:sp>
      <p:sp>
        <p:nvSpPr>
          <p:cNvPr id="33" name="Rounded Rectangle 32"/>
          <p:cNvSpPr/>
          <p:nvPr/>
        </p:nvSpPr>
        <p:spPr>
          <a:xfrm>
            <a:off x="914400" y="81915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arrow-repeat.png"/>
          <p:cNvPicPr>
            <a:picLocks noChangeAspect="1"/>
          </p:cNvPicPr>
          <p:nvPr/>
        </p:nvPicPr>
        <p:blipFill>
          <a:blip r:embed="rId3"/>
          <a:stretch>
            <a:fillRect/>
          </a:stretch>
        </p:blipFill>
        <p:spPr>
          <a:xfrm>
            <a:off x="1333500" y="8353425"/>
            <a:ext cx="688975" cy="533400"/>
          </a:xfrm>
          <a:prstGeom prst="rect">
            <a:avLst/>
          </a:prstGeom>
        </p:spPr>
      </p:pic>
      <p:sp>
        <p:nvSpPr>
          <p:cNvPr id="35" name="TextBox 34"/>
          <p:cNvSpPr txBox="1"/>
          <p:nvPr/>
        </p:nvSpPr>
        <p:spPr>
          <a:xfrm>
            <a:off x="2190750" y="819150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Still working?  </a:t>
            </a:r>
            <a:r>
              <a:rPr sz="2100" b="0" i="0">
                <a:solidFill>
                  <a:srgbClr val="F0E8E8"/>
                </a:solidFill>
                <a:latin typeface="Geist"/>
                <a:ea typeface="Geist"/>
                <a:cs typeface="Geist"/>
              </a:rPr>
              <a:t>a node can also say RUNNING. How that works: ticks, next.</a:t>
            </a:r>
          </a:p>
        </p:txBody>
      </p:sp>
      <p:sp>
        <p:nvSpPr>
          <p:cNvPr id="36" name="TextBox 3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7" name="TextBox 3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BEHAVIOR TREES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Ticks, and three answers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686175"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238500"/>
            <a:ext cx="3495675"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Tick</a:t>
            </a:r>
          </a:p>
        </p:txBody>
      </p:sp>
      <p:sp>
        <p:nvSpPr>
          <p:cNvPr id="7" name="TextBox 6"/>
          <p:cNvSpPr txBox="1"/>
          <p:nvPr/>
        </p:nvSpPr>
        <p:spPr>
          <a:xfrm>
            <a:off x="1066800" y="3829050"/>
            <a:ext cx="3381375"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Every loop, about 50 times a second</a:t>
            </a:r>
          </a:p>
        </p:txBody>
      </p:sp>
      <p:sp>
        <p:nvSpPr>
          <p:cNvPr id="8" name="Rectangle 7"/>
          <p:cNvSpPr/>
          <p:nvPr/>
        </p:nvSpPr>
        <p:spPr>
          <a:xfrm>
            <a:off x="4662488" y="3700462"/>
            <a:ext cx="3105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4943475" y="36385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72075" y="2857500"/>
            <a:ext cx="3686175"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67325" y="3238500"/>
            <a:ext cx="3495675"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Go down</a:t>
            </a:r>
          </a:p>
        </p:txBody>
      </p:sp>
      <p:sp>
        <p:nvSpPr>
          <p:cNvPr id="12" name="TextBox 11"/>
          <p:cNvSpPr txBox="1"/>
          <p:nvPr/>
        </p:nvSpPr>
        <p:spPr>
          <a:xfrm>
            <a:off x="5324475" y="3829050"/>
            <a:ext cx="3381375"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From the root, to the step that's active</a:t>
            </a:r>
          </a:p>
        </p:txBody>
      </p:sp>
      <p:sp>
        <p:nvSpPr>
          <p:cNvPr id="13" name="Rectangle 12"/>
          <p:cNvSpPr/>
          <p:nvPr/>
        </p:nvSpPr>
        <p:spPr>
          <a:xfrm>
            <a:off x="8920162" y="3700462"/>
            <a:ext cx="3105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9201150" y="36385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429750" y="2857500"/>
            <a:ext cx="3686175"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525000" y="3238500"/>
            <a:ext cx="3495675"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Answer</a:t>
            </a:r>
          </a:p>
        </p:txBody>
      </p:sp>
      <p:sp>
        <p:nvSpPr>
          <p:cNvPr id="17" name="TextBox 16"/>
          <p:cNvSpPr txBox="1"/>
          <p:nvPr/>
        </p:nvSpPr>
        <p:spPr>
          <a:xfrm>
            <a:off x="9582150" y="3829050"/>
            <a:ext cx="3381375"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Each node says how it's doing</a:t>
            </a:r>
          </a:p>
        </p:txBody>
      </p:sp>
      <p:sp>
        <p:nvSpPr>
          <p:cNvPr id="18" name="Rectangle 17"/>
          <p:cNvSpPr/>
          <p:nvPr/>
        </p:nvSpPr>
        <p:spPr>
          <a:xfrm>
            <a:off x="13177838" y="3700462"/>
            <a:ext cx="3105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5400000">
            <a:off x="13458825" y="36385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3687425" y="2857500"/>
            <a:ext cx="3686175"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3782675" y="3238500"/>
            <a:ext cx="3495675"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Go back up</a:t>
            </a:r>
          </a:p>
        </p:txBody>
      </p:sp>
      <p:sp>
        <p:nvSpPr>
          <p:cNvPr id="22" name="TextBox 21"/>
          <p:cNvSpPr txBox="1"/>
          <p:nvPr/>
        </p:nvSpPr>
        <p:spPr>
          <a:xfrm>
            <a:off x="13839825" y="3829050"/>
            <a:ext cx="3381375"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Parents decide what's next</a:t>
            </a:r>
          </a:p>
        </p:txBody>
      </p:sp>
      <p:sp>
        <p:nvSpPr>
          <p:cNvPr id="23" name="Rounded Rectangle 22"/>
          <p:cNvSpPr/>
          <p:nvPr/>
        </p:nvSpPr>
        <p:spPr>
          <a:xfrm>
            <a:off x="914400" y="5143500"/>
            <a:ext cx="5181600" cy="2857500"/>
          </a:xfrm>
          <a:prstGeom prst="roundRect">
            <a:avLst>
              <a:gd name="adj" fmla="val 5333"/>
            </a:avLst>
          </a:prstGeom>
          <a:solidFill>
            <a:srgbClr val="111111"/>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1295400" y="5524500"/>
            <a:ext cx="1905000" cy="45720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295400" y="5524500"/>
            <a:ext cx="1905000" cy="457200"/>
          </a:xfrm>
          <a:prstGeom prst="rect">
            <a:avLst/>
          </a:prstGeom>
          <a:noFill/>
        </p:spPr>
        <p:txBody>
          <a:bodyPr wrap="square" lIns="0" rIns="0" tIns="0" bIns="0" anchor="ctr">
            <a:spAutoFit/>
          </a:bodyPr>
          <a:lstStyle/>
          <a:p>
            <a:pPr algn="ctr"/>
            <a:r>
              <a:rPr sz="1650" b="1" i="0" spc="80">
                <a:solidFill>
                  <a:srgbClr val="111111"/>
                </a:solidFill>
                <a:latin typeface="Geist"/>
                <a:ea typeface="Geist"/>
                <a:cs typeface="Geist"/>
              </a:rPr>
              <a:t>RUNNING</a:t>
            </a:r>
          </a:p>
        </p:txBody>
      </p:sp>
      <p:sp>
        <p:nvSpPr>
          <p:cNvPr id="26" name="TextBox 25"/>
          <p:cNvSpPr txBox="1"/>
          <p:nvPr/>
        </p:nvSpPr>
        <p:spPr>
          <a:xfrm>
            <a:off x="1295400" y="6286500"/>
            <a:ext cx="4419600" cy="1333500"/>
          </a:xfrm>
          <a:prstGeom prst="rect">
            <a:avLst/>
          </a:prstGeom>
          <a:noFill/>
        </p:spPr>
        <p:txBody>
          <a:bodyPr wrap="square" lIns="0" rIns="0" tIns="0" bIns="0" anchor="t">
            <a:spAutoFit/>
          </a:bodyPr>
          <a:lstStyle/>
          <a:p>
            <a:pPr algn="l">
              <a:lnSpc>
                <a:spcPct val="130000"/>
              </a:lnSpc>
            </a:pPr>
            <a:r>
              <a:rPr sz="2250" b="0" i="0">
                <a:solidFill>
                  <a:srgbClr val="F0E8E8"/>
                </a:solidFill>
                <a:latin typeface="Geist"/>
                <a:ea typeface="Geist"/>
                <a:cs typeface="Geist"/>
              </a:rPr>
              <a:t>Not done yet. Ask me again next tick.</a:t>
            </a:r>
          </a:p>
        </p:txBody>
      </p:sp>
      <p:sp>
        <p:nvSpPr>
          <p:cNvPr id="27" name="Rounded Rectangle 26"/>
          <p:cNvSpPr/>
          <p:nvPr/>
        </p:nvSpPr>
        <p:spPr>
          <a:xfrm>
            <a:off x="6553200" y="5143500"/>
            <a:ext cx="5181600" cy="2857500"/>
          </a:xfrm>
          <a:prstGeom prst="roundRect">
            <a:avLst>
              <a:gd name="adj" fmla="val 5333"/>
            </a:avLst>
          </a:prstGeom>
          <a:solidFill>
            <a:srgbClr val="111111"/>
          </a:solidFill>
          <a:ln w="381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6934200" y="5524500"/>
            <a:ext cx="1905000" cy="45720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934200" y="5524500"/>
            <a:ext cx="1905000" cy="457200"/>
          </a:xfrm>
          <a:prstGeom prst="rect">
            <a:avLst/>
          </a:prstGeom>
          <a:noFill/>
        </p:spPr>
        <p:txBody>
          <a:bodyPr wrap="square" lIns="0" rIns="0" tIns="0" bIns="0" anchor="ctr">
            <a:spAutoFit/>
          </a:bodyPr>
          <a:lstStyle/>
          <a:p>
            <a:pPr algn="ctr"/>
            <a:r>
              <a:rPr sz="1650" b="1" i="0" spc="80">
                <a:solidFill>
                  <a:srgbClr val="FFFFFF"/>
                </a:solidFill>
                <a:latin typeface="Geist"/>
                <a:ea typeface="Geist"/>
                <a:cs typeface="Geist"/>
              </a:rPr>
              <a:t>SUCCESS</a:t>
            </a:r>
          </a:p>
        </p:txBody>
      </p:sp>
      <p:sp>
        <p:nvSpPr>
          <p:cNvPr id="30" name="TextBox 29"/>
          <p:cNvSpPr txBox="1"/>
          <p:nvPr/>
        </p:nvSpPr>
        <p:spPr>
          <a:xfrm>
            <a:off x="6934200" y="6286500"/>
            <a:ext cx="4419600" cy="1333500"/>
          </a:xfrm>
          <a:prstGeom prst="rect">
            <a:avLst/>
          </a:prstGeom>
          <a:noFill/>
        </p:spPr>
        <p:txBody>
          <a:bodyPr wrap="square" lIns="0" rIns="0" tIns="0" bIns="0" anchor="t">
            <a:spAutoFit/>
          </a:bodyPr>
          <a:lstStyle/>
          <a:p>
            <a:pPr algn="l">
              <a:lnSpc>
                <a:spcPct val="130000"/>
              </a:lnSpc>
            </a:pPr>
            <a:r>
              <a:rPr sz="2250" b="0" i="0">
                <a:solidFill>
                  <a:srgbClr val="F0E8E8"/>
                </a:solidFill>
                <a:latin typeface="Geist"/>
                <a:ea typeface="Geist"/>
                <a:cs typeface="Geist"/>
              </a:rPr>
              <a:t>Done, and it worked.</a:t>
            </a:r>
          </a:p>
        </p:txBody>
      </p:sp>
      <p:sp>
        <p:nvSpPr>
          <p:cNvPr id="31" name="Rounded Rectangle 30"/>
          <p:cNvSpPr/>
          <p:nvPr/>
        </p:nvSpPr>
        <p:spPr>
          <a:xfrm>
            <a:off x="12192000" y="5143500"/>
            <a:ext cx="5181600" cy="2857500"/>
          </a:xfrm>
          <a:prstGeom prst="roundRect">
            <a:avLst>
              <a:gd name="adj" fmla="val 5333"/>
            </a:avLst>
          </a:prstGeom>
          <a:solidFill>
            <a:srgbClr val="111111"/>
          </a:solidFill>
          <a:ln w="381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12573000" y="5524500"/>
            <a:ext cx="1905000" cy="457200"/>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2573000" y="5524500"/>
            <a:ext cx="1905000" cy="457200"/>
          </a:xfrm>
          <a:prstGeom prst="rect">
            <a:avLst/>
          </a:prstGeom>
          <a:noFill/>
        </p:spPr>
        <p:txBody>
          <a:bodyPr wrap="square" lIns="0" rIns="0" tIns="0" bIns="0" anchor="ctr">
            <a:spAutoFit/>
          </a:bodyPr>
          <a:lstStyle/>
          <a:p>
            <a:pPr algn="ctr"/>
            <a:r>
              <a:rPr sz="1650" b="1" i="0" spc="80">
                <a:solidFill>
                  <a:srgbClr val="FFFFFF"/>
                </a:solidFill>
                <a:latin typeface="Geist"/>
                <a:ea typeface="Geist"/>
                <a:cs typeface="Geist"/>
              </a:rPr>
              <a:t>FAILURE</a:t>
            </a:r>
          </a:p>
        </p:txBody>
      </p:sp>
      <p:sp>
        <p:nvSpPr>
          <p:cNvPr id="34" name="TextBox 33"/>
          <p:cNvSpPr txBox="1"/>
          <p:nvPr/>
        </p:nvSpPr>
        <p:spPr>
          <a:xfrm>
            <a:off x="12573000" y="6286500"/>
            <a:ext cx="4419600" cy="1333500"/>
          </a:xfrm>
          <a:prstGeom prst="rect">
            <a:avLst/>
          </a:prstGeom>
          <a:noFill/>
        </p:spPr>
        <p:txBody>
          <a:bodyPr wrap="square" lIns="0" rIns="0" tIns="0" bIns="0" anchor="t">
            <a:spAutoFit/>
          </a:bodyPr>
          <a:lstStyle/>
          <a:p>
            <a:pPr algn="l">
              <a:lnSpc>
                <a:spcPct val="130000"/>
              </a:lnSpc>
            </a:pPr>
            <a:r>
              <a:rPr sz="2250" b="0" i="0">
                <a:solidFill>
                  <a:srgbClr val="F0E8E8"/>
                </a:solidFill>
                <a:latin typeface="Geist"/>
                <a:ea typeface="Geist"/>
                <a:cs typeface="Geist"/>
              </a:rPr>
              <a:t>Done, and it didn't work.</a:t>
            </a:r>
          </a:p>
        </p:txBody>
      </p:sp>
      <p:sp>
        <p:nvSpPr>
          <p:cNvPr id="35" name="TextBox 34"/>
          <p:cNvSpPr txBox="1"/>
          <p:nvPr/>
        </p:nvSpPr>
        <p:spPr>
          <a:xfrm>
            <a:off x="914400" y="8382000"/>
            <a:ext cx="16459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Colours as Arbor shows them: orange running, green success, red failure.</a:t>
            </a:r>
          </a:p>
        </p:txBody>
      </p:sp>
      <p:sp>
        <p:nvSpPr>
          <p:cNvPr id="36" name="TextBox 3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7" name="TextBox 3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BEHAVIOR TREES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Sequence: do these in order</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53340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00150" y="2952750"/>
            <a:ext cx="28575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Tick 1</a:t>
            </a:r>
          </a:p>
        </p:txBody>
      </p:sp>
      <p:sp>
        <p:nvSpPr>
          <p:cNvPr id="7" name="Rectangle 6"/>
          <p:cNvSpPr/>
          <p:nvPr/>
        </p:nvSpPr>
        <p:spPr>
          <a:xfrm>
            <a:off x="3562350" y="4743450"/>
            <a:ext cx="38100" cy="800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822450" y="5505450"/>
            <a:ext cx="351790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812925" y="5495925"/>
            <a:ext cx="57150" cy="819150"/>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562350" y="5505450"/>
            <a:ext cx="38100" cy="800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302250" y="5505450"/>
            <a:ext cx="38100" cy="800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1085850" y="6286500"/>
            <a:ext cx="1511300" cy="857250"/>
          </a:xfrm>
          <a:prstGeom prst="roundRect">
            <a:avLst>
              <a:gd name="adj" fmla="val 13333"/>
            </a:avLst>
          </a:prstGeom>
          <a:solidFill>
            <a:srgbClr val="111111"/>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1123950" y="6381750"/>
            <a:ext cx="66675" cy="6667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314450" y="6575108"/>
            <a:ext cx="1168400" cy="270034"/>
          </a:xfrm>
          <a:prstGeom prst="rect">
            <a:avLst/>
          </a:prstGeom>
          <a:noFill/>
        </p:spPr>
        <p:txBody>
          <a:bodyPr wrap="square" lIns="0" rIns="0" tIns="0" bIns="0" anchor="t">
            <a:spAutoFit/>
          </a:bodyPr>
          <a:lstStyle/>
          <a:p>
            <a:pPr algn="l"/>
            <a:r>
              <a:rPr sz="1575" b="1" i="0">
                <a:solidFill>
                  <a:srgbClr val="2DD4BF"/>
                </a:solidFill>
                <a:latin typeface="Geist"/>
                <a:ea typeface="Geist"/>
                <a:cs typeface="Geist"/>
              </a:rPr>
              <a:t>▶  </a:t>
            </a:r>
            <a:r>
              <a:rPr sz="1575" b="1" i="0">
                <a:solidFill>
                  <a:srgbClr val="F0E8E8"/>
                </a:solidFill>
                <a:latin typeface="Geist"/>
                <a:ea typeface="Geist"/>
                <a:cs typeface="Geist"/>
              </a:rPr>
              <a:t>Drive</a:t>
            </a:r>
          </a:p>
        </p:txBody>
      </p:sp>
      <p:sp>
        <p:nvSpPr>
          <p:cNvPr id="15" name="Rounded Rectangle 14"/>
          <p:cNvSpPr/>
          <p:nvPr/>
        </p:nvSpPr>
        <p:spPr>
          <a:xfrm>
            <a:off x="1520825" y="6134100"/>
            <a:ext cx="981075" cy="28575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520825" y="6134100"/>
            <a:ext cx="981075" cy="285750"/>
          </a:xfrm>
          <a:prstGeom prst="rect">
            <a:avLst/>
          </a:prstGeom>
          <a:noFill/>
        </p:spPr>
        <p:txBody>
          <a:bodyPr wrap="square" lIns="0" rIns="0" tIns="0" bIns="0" anchor="ctr">
            <a:spAutoFit/>
          </a:bodyPr>
          <a:lstStyle/>
          <a:p>
            <a:pPr algn="ctr"/>
            <a:r>
              <a:rPr sz="1125" b="1" i="0" spc="60">
                <a:solidFill>
                  <a:srgbClr val="111111"/>
                </a:solidFill>
                <a:latin typeface="Geist"/>
                <a:ea typeface="Geist"/>
                <a:cs typeface="Geist"/>
              </a:rPr>
              <a:t>RUNNING</a:t>
            </a:r>
          </a:p>
        </p:txBody>
      </p:sp>
      <p:sp>
        <p:nvSpPr>
          <p:cNvPr id="17" name="Rounded Rectangle 16"/>
          <p:cNvSpPr/>
          <p:nvPr/>
        </p:nvSpPr>
        <p:spPr>
          <a:xfrm>
            <a:off x="2825750" y="6286500"/>
            <a:ext cx="1511300" cy="857250"/>
          </a:xfrm>
          <a:prstGeom prst="roundRect">
            <a:avLst>
              <a:gd name="adj" fmla="val 13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2863850" y="6381750"/>
            <a:ext cx="66675" cy="6667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054350" y="6575108"/>
            <a:ext cx="1168400" cy="270034"/>
          </a:xfrm>
          <a:prstGeom prst="rect">
            <a:avLst/>
          </a:prstGeom>
          <a:noFill/>
        </p:spPr>
        <p:txBody>
          <a:bodyPr wrap="square" lIns="0" rIns="0" tIns="0" bIns="0" anchor="t">
            <a:spAutoFit/>
          </a:bodyPr>
          <a:lstStyle/>
          <a:p>
            <a:pPr algn="l"/>
            <a:r>
              <a:rPr sz="1575" b="1" i="0">
                <a:solidFill>
                  <a:srgbClr val="2DD4BF"/>
                </a:solidFill>
                <a:latin typeface="Geist"/>
                <a:ea typeface="Geist"/>
                <a:cs typeface="Geist"/>
              </a:rPr>
              <a:t>▶  </a:t>
            </a:r>
            <a:r>
              <a:rPr sz="1575" b="1" i="0">
                <a:solidFill>
                  <a:srgbClr val="F0E8E8"/>
                </a:solidFill>
                <a:latin typeface="Geist"/>
                <a:ea typeface="Geist"/>
                <a:cs typeface="Geist"/>
              </a:rPr>
              <a:t>Aim</a:t>
            </a:r>
          </a:p>
        </p:txBody>
      </p:sp>
      <p:sp>
        <p:nvSpPr>
          <p:cNvPr id="20" name="Rounded Rectangle 19"/>
          <p:cNvSpPr/>
          <p:nvPr/>
        </p:nvSpPr>
        <p:spPr>
          <a:xfrm>
            <a:off x="4565650" y="6286500"/>
            <a:ext cx="1511300" cy="857250"/>
          </a:xfrm>
          <a:prstGeom prst="roundRect">
            <a:avLst>
              <a:gd name="adj" fmla="val 13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4603750" y="6381750"/>
            <a:ext cx="66675" cy="6667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94250" y="6575108"/>
            <a:ext cx="1168400" cy="270034"/>
          </a:xfrm>
          <a:prstGeom prst="rect">
            <a:avLst/>
          </a:prstGeom>
          <a:noFill/>
        </p:spPr>
        <p:txBody>
          <a:bodyPr wrap="square" lIns="0" rIns="0" tIns="0" bIns="0" anchor="t">
            <a:spAutoFit/>
          </a:bodyPr>
          <a:lstStyle/>
          <a:p>
            <a:pPr algn="l"/>
            <a:r>
              <a:rPr sz="1575" b="1" i="0">
                <a:solidFill>
                  <a:srgbClr val="2DD4BF"/>
                </a:solidFill>
                <a:latin typeface="Geist"/>
                <a:ea typeface="Geist"/>
                <a:cs typeface="Geist"/>
              </a:rPr>
              <a:t>▶  </a:t>
            </a:r>
            <a:r>
              <a:rPr sz="1575" b="1" i="0">
                <a:solidFill>
                  <a:srgbClr val="F0E8E8"/>
                </a:solidFill>
                <a:latin typeface="Geist"/>
                <a:ea typeface="Geist"/>
                <a:cs typeface="Geist"/>
              </a:rPr>
              <a:t>Shoot</a:t>
            </a:r>
          </a:p>
        </p:txBody>
      </p:sp>
      <p:sp>
        <p:nvSpPr>
          <p:cNvPr id="23" name="Rounded Rectangle 22"/>
          <p:cNvSpPr/>
          <p:nvPr/>
        </p:nvSpPr>
        <p:spPr>
          <a:xfrm>
            <a:off x="2438400" y="3905250"/>
            <a:ext cx="2286000" cy="857250"/>
          </a:xfrm>
          <a:prstGeom prst="roundRect">
            <a:avLst>
              <a:gd name="adj" fmla="val 13333"/>
            </a:avLst>
          </a:prstGeom>
          <a:solidFill>
            <a:srgbClr val="111111"/>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2476500" y="4000500"/>
            <a:ext cx="66675" cy="66675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2667000" y="4193858"/>
            <a:ext cx="1943100" cy="270034"/>
          </a:xfrm>
          <a:prstGeom prst="rect">
            <a:avLst/>
          </a:prstGeom>
          <a:noFill/>
        </p:spPr>
        <p:txBody>
          <a:bodyPr wrap="square" lIns="0" rIns="0" tIns="0" bIns="0" anchor="t">
            <a:spAutoFit/>
          </a:bodyPr>
          <a:lstStyle/>
          <a:p>
            <a:pPr algn="l"/>
            <a:r>
              <a:rPr sz="1575" b="1" i="0">
                <a:solidFill>
                  <a:srgbClr val="7C93C3"/>
                </a:solidFill>
                <a:latin typeface="Geist"/>
                <a:ea typeface="Geist"/>
                <a:cs typeface="Geist"/>
              </a:rPr>
              <a:t>→  </a:t>
            </a:r>
            <a:r>
              <a:rPr sz="1575" b="1" i="0">
                <a:solidFill>
                  <a:srgbClr val="F0E8E8"/>
                </a:solidFill>
                <a:latin typeface="Geist"/>
                <a:ea typeface="Geist"/>
                <a:cs typeface="Geist"/>
              </a:rPr>
              <a:t>Sequence</a:t>
            </a:r>
          </a:p>
        </p:txBody>
      </p:sp>
      <p:sp>
        <p:nvSpPr>
          <p:cNvPr id="26" name="Rounded Rectangle 25"/>
          <p:cNvSpPr/>
          <p:nvPr/>
        </p:nvSpPr>
        <p:spPr>
          <a:xfrm>
            <a:off x="3648075" y="3752850"/>
            <a:ext cx="981075" cy="28575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648075" y="3752850"/>
            <a:ext cx="981075" cy="285750"/>
          </a:xfrm>
          <a:prstGeom prst="rect">
            <a:avLst/>
          </a:prstGeom>
          <a:noFill/>
        </p:spPr>
        <p:txBody>
          <a:bodyPr wrap="square" lIns="0" rIns="0" tIns="0" bIns="0" anchor="ctr">
            <a:spAutoFit/>
          </a:bodyPr>
          <a:lstStyle/>
          <a:p>
            <a:pPr algn="ctr"/>
            <a:r>
              <a:rPr sz="1125" b="1" i="0" spc="60">
                <a:solidFill>
                  <a:srgbClr val="111111"/>
                </a:solidFill>
                <a:latin typeface="Geist"/>
                <a:ea typeface="Geist"/>
                <a:cs typeface="Geist"/>
              </a:rPr>
              <a:t>RUNNING</a:t>
            </a:r>
          </a:p>
        </p:txBody>
      </p:sp>
      <p:sp>
        <p:nvSpPr>
          <p:cNvPr id="28" name="Rounded Rectangle 27"/>
          <p:cNvSpPr/>
          <p:nvPr/>
        </p:nvSpPr>
        <p:spPr>
          <a:xfrm>
            <a:off x="6553200" y="2762250"/>
            <a:ext cx="53340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838950" y="2952750"/>
            <a:ext cx="28575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Tick 3</a:t>
            </a:r>
          </a:p>
        </p:txBody>
      </p:sp>
      <p:sp>
        <p:nvSpPr>
          <p:cNvPr id="30" name="Rectangle 29"/>
          <p:cNvSpPr/>
          <p:nvPr/>
        </p:nvSpPr>
        <p:spPr>
          <a:xfrm>
            <a:off x="9201150" y="4743450"/>
            <a:ext cx="38100" cy="800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7461250" y="5505450"/>
            <a:ext cx="351790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451725" y="5495925"/>
            <a:ext cx="57150" cy="819150"/>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191625" y="5495925"/>
            <a:ext cx="57150" cy="819150"/>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10941050" y="5505450"/>
            <a:ext cx="38100" cy="800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6724650" y="6286500"/>
            <a:ext cx="1511300" cy="857250"/>
          </a:xfrm>
          <a:prstGeom prst="roundRect">
            <a:avLst>
              <a:gd name="adj" fmla="val 13333"/>
            </a:avLst>
          </a:prstGeom>
          <a:solidFill>
            <a:srgbClr val="111111"/>
          </a:solidFill>
          <a:ln w="381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6762750" y="6381750"/>
            <a:ext cx="66675" cy="6667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953250" y="6575108"/>
            <a:ext cx="1168400" cy="270034"/>
          </a:xfrm>
          <a:prstGeom prst="rect">
            <a:avLst/>
          </a:prstGeom>
          <a:noFill/>
        </p:spPr>
        <p:txBody>
          <a:bodyPr wrap="square" lIns="0" rIns="0" tIns="0" bIns="0" anchor="t">
            <a:spAutoFit/>
          </a:bodyPr>
          <a:lstStyle/>
          <a:p>
            <a:pPr algn="l"/>
            <a:r>
              <a:rPr sz="1575" b="1" i="0">
                <a:solidFill>
                  <a:srgbClr val="2DD4BF"/>
                </a:solidFill>
                <a:latin typeface="Geist"/>
                <a:ea typeface="Geist"/>
                <a:cs typeface="Geist"/>
              </a:rPr>
              <a:t>▶  </a:t>
            </a:r>
            <a:r>
              <a:rPr sz="1575" b="1" i="0">
                <a:solidFill>
                  <a:srgbClr val="F0E8E8"/>
                </a:solidFill>
                <a:latin typeface="Geist"/>
                <a:ea typeface="Geist"/>
                <a:cs typeface="Geist"/>
              </a:rPr>
              <a:t>Drive</a:t>
            </a:r>
          </a:p>
        </p:txBody>
      </p:sp>
      <p:sp>
        <p:nvSpPr>
          <p:cNvPr id="38" name="Rounded Rectangle 37"/>
          <p:cNvSpPr/>
          <p:nvPr/>
        </p:nvSpPr>
        <p:spPr>
          <a:xfrm>
            <a:off x="7159625" y="6134100"/>
            <a:ext cx="981075" cy="28575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159625" y="613410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SUCCESS</a:t>
            </a:r>
          </a:p>
        </p:txBody>
      </p:sp>
      <p:sp>
        <p:nvSpPr>
          <p:cNvPr id="40" name="Rounded Rectangle 39"/>
          <p:cNvSpPr/>
          <p:nvPr/>
        </p:nvSpPr>
        <p:spPr>
          <a:xfrm>
            <a:off x="8464550" y="6286500"/>
            <a:ext cx="1511300" cy="857250"/>
          </a:xfrm>
          <a:prstGeom prst="roundRect">
            <a:avLst>
              <a:gd name="adj" fmla="val 13333"/>
            </a:avLst>
          </a:prstGeom>
          <a:solidFill>
            <a:srgbClr val="111111"/>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8502650" y="6381750"/>
            <a:ext cx="66675" cy="6667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693150" y="6575108"/>
            <a:ext cx="1168400" cy="270034"/>
          </a:xfrm>
          <a:prstGeom prst="rect">
            <a:avLst/>
          </a:prstGeom>
          <a:noFill/>
        </p:spPr>
        <p:txBody>
          <a:bodyPr wrap="square" lIns="0" rIns="0" tIns="0" bIns="0" anchor="t">
            <a:spAutoFit/>
          </a:bodyPr>
          <a:lstStyle/>
          <a:p>
            <a:pPr algn="l"/>
            <a:r>
              <a:rPr sz="1575" b="1" i="0">
                <a:solidFill>
                  <a:srgbClr val="2DD4BF"/>
                </a:solidFill>
                <a:latin typeface="Geist"/>
                <a:ea typeface="Geist"/>
                <a:cs typeface="Geist"/>
              </a:rPr>
              <a:t>▶  </a:t>
            </a:r>
            <a:r>
              <a:rPr sz="1575" b="1" i="0">
                <a:solidFill>
                  <a:srgbClr val="F0E8E8"/>
                </a:solidFill>
                <a:latin typeface="Geist"/>
                <a:ea typeface="Geist"/>
                <a:cs typeface="Geist"/>
              </a:rPr>
              <a:t>Aim</a:t>
            </a:r>
          </a:p>
        </p:txBody>
      </p:sp>
      <p:sp>
        <p:nvSpPr>
          <p:cNvPr id="43" name="Rounded Rectangle 42"/>
          <p:cNvSpPr/>
          <p:nvPr/>
        </p:nvSpPr>
        <p:spPr>
          <a:xfrm>
            <a:off x="8899525" y="6134100"/>
            <a:ext cx="981075" cy="28575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8899525" y="6134100"/>
            <a:ext cx="981075" cy="285750"/>
          </a:xfrm>
          <a:prstGeom prst="rect">
            <a:avLst/>
          </a:prstGeom>
          <a:noFill/>
        </p:spPr>
        <p:txBody>
          <a:bodyPr wrap="square" lIns="0" rIns="0" tIns="0" bIns="0" anchor="ctr">
            <a:spAutoFit/>
          </a:bodyPr>
          <a:lstStyle/>
          <a:p>
            <a:pPr algn="ctr"/>
            <a:r>
              <a:rPr sz="1125" b="1" i="0" spc="60">
                <a:solidFill>
                  <a:srgbClr val="111111"/>
                </a:solidFill>
                <a:latin typeface="Geist"/>
                <a:ea typeface="Geist"/>
                <a:cs typeface="Geist"/>
              </a:rPr>
              <a:t>RUNNING</a:t>
            </a:r>
          </a:p>
        </p:txBody>
      </p:sp>
      <p:sp>
        <p:nvSpPr>
          <p:cNvPr id="45" name="Rounded Rectangle 44"/>
          <p:cNvSpPr/>
          <p:nvPr/>
        </p:nvSpPr>
        <p:spPr>
          <a:xfrm>
            <a:off x="10204450" y="6286500"/>
            <a:ext cx="1511300" cy="857250"/>
          </a:xfrm>
          <a:prstGeom prst="roundRect">
            <a:avLst>
              <a:gd name="adj" fmla="val 13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ounded Rectangle 45"/>
          <p:cNvSpPr/>
          <p:nvPr/>
        </p:nvSpPr>
        <p:spPr>
          <a:xfrm>
            <a:off x="10242550" y="6381750"/>
            <a:ext cx="66675" cy="6667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0433050" y="6575108"/>
            <a:ext cx="1168400" cy="270034"/>
          </a:xfrm>
          <a:prstGeom prst="rect">
            <a:avLst/>
          </a:prstGeom>
          <a:noFill/>
        </p:spPr>
        <p:txBody>
          <a:bodyPr wrap="square" lIns="0" rIns="0" tIns="0" bIns="0" anchor="t">
            <a:spAutoFit/>
          </a:bodyPr>
          <a:lstStyle/>
          <a:p>
            <a:pPr algn="l"/>
            <a:r>
              <a:rPr sz="1575" b="1" i="0">
                <a:solidFill>
                  <a:srgbClr val="2DD4BF"/>
                </a:solidFill>
                <a:latin typeface="Geist"/>
                <a:ea typeface="Geist"/>
                <a:cs typeface="Geist"/>
              </a:rPr>
              <a:t>▶  </a:t>
            </a:r>
            <a:r>
              <a:rPr sz="1575" b="1" i="0">
                <a:solidFill>
                  <a:srgbClr val="F0E8E8"/>
                </a:solidFill>
                <a:latin typeface="Geist"/>
                <a:ea typeface="Geist"/>
                <a:cs typeface="Geist"/>
              </a:rPr>
              <a:t>Shoot</a:t>
            </a:r>
          </a:p>
        </p:txBody>
      </p:sp>
      <p:sp>
        <p:nvSpPr>
          <p:cNvPr id="48" name="Rounded Rectangle 47"/>
          <p:cNvSpPr/>
          <p:nvPr/>
        </p:nvSpPr>
        <p:spPr>
          <a:xfrm>
            <a:off x="8077200" y="3905250"/>
            <a:ext cx="2286000" cy="857250"/>
          </a:xfrm>
          <a:prstGeom prst="roundRect">
            <a:avLst>
              <a:gd name="adj" fmla="val 13333"/>
            </a:avLst>
          </a:prstGeom>
          <a:solidFill>
            <a:srgbClr val="111111"/>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ounded Rectangle 48"/>
          <p:cNvSpPr/>
          <p:nvPr/>
        </p:nvSpPr>
        <p:spPr>
          <a:xfrm>
            <a:off x="8115300" y="4000500"/>
            <a:ext cx="66675" cy="66675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8305800" y="4193858"/>
            <a:ext cx="1943100" cy="270034"/>
          </a:xfrm>
          <a:prstGeom prst="rect">
            <a:avLst/>
          </a:prstGeom>
          <a:noFill/>
        </p:spPr>
        <p:txBody>
          <a:bodyPr wrap="square" lIns="0" rIns="0" tIns="0" bIns="0" anchor="t">
            <a:spAutoFit/>
          </a:bodyPr>
          <a:lstStyle/>
          <a:p>
            <a:pPr algn="l"/>
            <a:r>
              <a:rPr sz="1575" b="1" i="0">
                <a:solidFill>
                  <a:srgbClr val="7C93C3"/>
                </a:solidFill>
                <a:latin typeface="Geist"/>
                <a:ea typeface="Geist"/>
                <a:cs typeface="Geist"/>
              </a:rPr>
              <a:t>→  </a:t>
            </a:r>
            <a:r>
              <a:rPr sz="1575" b="1" i="0">
                <a:solidFill>
                  <a:srgbClr val="F0E8E8"/>
                </a:solidFill>
                <a:latin typeface="Geist"/>
                <a:ea typeface="Geist"/>
                <a:cs typeface="Geist"/>
              </a:rPr>
              <a:t>Sequence</a:t>
            </a:r>
          </a:p>
        </p:txBody>
      </p:sp>
      <p:sp>
        <p:nvSpPr>
          <p:cNvPr id="51" name="Rounded Rectangle 50"/>
          <p:cNvSpPr/>
          <p:nvPr/>
        </p:nvSpPr>
        <p:spPr>
          <a:xfrm>
            <a:off x="9286875" y="3752850"/>
            <a:ext cx="981075" cy="28575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9286875" y="3752850"/>
            <a:ext cx="981075" cy="285750"/>
          </a:xfrm>
          <a:prstGeom prst="rect">
            <a:avLst/>
          </a:prstGeom>
          <a:noFill/>
        </p:spPr>
        <p:txBody>
          <a:bodyPr wrap="square" lIns="0" rIns="0" tIns="0" bIns="0" anchor="ctr">
            <a:spAutoFit/>
          </a:bodyPr>
          <a:lstStyle/>
          <a:p>
            <a:pPr algn="ctr"/>
            <a:r>
              <a:rPr sz="1125" b="1" i="0" spc="60">
                <a:solidFill>
                  <a:srgbClr val="111111"/>
                </a:solidFill>
                <a:latin typeface="Geist"/>
                <a:ea typeface="Geist"/>
                <a:cs typeface="Geist"/>
              </a:rPr>
              <a:t>RUNNING</a:t>
            </a:r>
          </a:p>
        </p:txBody>
      </p:sp>
      <p:sp>
        <p:nvSpPr>
          <p:cNvPr id="53" name="Rounded Rectangle 52"/>
          <p:cNvSpPr/>
          <p:nvPr/>
        </p:nvSpPr>
        <p:spPr>
          <a:xfrm>
            <a:off x="12192000" y="2762250"/>
            <a:ext cx="53340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12477750" y="2952750"/>
            <a:ext cx="28575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Tick 5</a:t>
            </a:r>
          </a:p>
        </p:txBody>
      </p:sp>
      <p:sp>
        <p:nvSpPr>
          <p:cNvPr id="55" name="Rectangle 54"/>
          <p:cNvSpPr/>
          <p:nvPr/>
        </p:nvSpPr>
        <p:spPr>
          <a:xfrm>
            <a:off x="14839950" y="4743450"/>
            <a:ext cx="38100" cy="800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13100050" y="5505450"/>
            <a:ext cx="351790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13100050" y="5505450"/>
            <a:ext cx="38100" cy="800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14839950" y="5505450"/>
            <a:ext cx="38100" cy="800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16570325" y="5495925"/>
            <a:ext cx="57150" cy="819150"/>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ounded Rectangle 59"/>
          <p:cNvSpPr/>
          <p:nvPr/>
        </p:nvSpPr>
        <p:spPr>
          <a:xfrm>
            <a:off x="12363450" y="6286500"/>
            <a:ext cx="1511300" cy="857250"/>
          </a:xfrm>
          <a:prstGeom prst="roundRect">
            <a:avLst>
              <a:gd name="adj" fmla="val 13333"/>
            </a:avLst>
          </a:prstGeom>
          <a:solidFill>
            <a:srgbClr val="111111"/>
          </a:solidFill>
          <a:ln w="381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ounded Rectangle 60"/>
          <p:cNvSpPr/>
          <p:nvPr/>
        </p:nvSpPr>
        <p:spPr>
          <a:xfrm>
            <a:off x="12401550" y="6381750"/>
            <a:ext cx="66675" cy="6667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12592050" y="6575108"/>
            <a:ext cx="1168400" cy="270034"/>
          </a:xfrm>
          <a:prstGeom prst="rect">
            <a:avLst/>
          </a:prstGeom>
          <a:noFill/>
        </p:spPr>
        <p:txBody>
          <a:bodyPr wrap="square" lIns="0" rIns="0" tIns="0" bIns="0" anchor="t">
            <a:spAutoFit/>
          </a:bodyPr>
          <a:lstStyle/>
          <a:p>
            <a:pPr algn="l"/>
            <a:r>
              <a:rPr sz="1575" b="1" i="0">
                <a:solidFill>
                  <a:srgbClr val="2DD4BF"/>
                </a:solidFill>
                <a:latin typeface="Geist"/>
                <a:ea typeface="Geist"/>
                <a:cs typeface="Geist"/>
              </a:rPr>
              <a:t>▶  </a:t>
            </a:r>
            <a:r>
              <a:rPr sz="1575" b="1" i="0">
                <a:solidFill>
                  <a:srgbClr val="F0E8E8"/>
                </a:solidFill>
                <a:latin typeface="Geist"/>
                <a:ea typeface="Geist"/>
                <a:cs typeface="Geist"/>
              </a:rPr>
              <a:t>Drive</a:t>
            </a:r>
          </a:p>
        </p:txBody>
      </p:sp>
      <p:sp>
        <p:nvSpPr>
          <p:cNvPr id="63" name="Rounded Rectangle 62"/>
          <p:cNvSpPr/>
          <p:nvPr/>
        </p:nvSpPr>
        <p:spPr>
          <a:xfrm>
            <a:off x="12798425" y="6134100"/>
            <a:ext cx="981075" cy="28575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12798425" y="613410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SUCCESS</a:t>
            </a:r>
          </a:p>
        </p:txBody>
      </p:sp>
      <p:sp>
        <p:nvSpPr>
          <p:cNvPr id="65" name="Rounded Rectangle 64"/>
          <p:cNvSpPr/>
          <p:nvPr/>
        </p:nvSpPr>
        <p:spPr>
          <a:xfrm>
            <a:off x="14103350" y="6286500"/>
            <a:ext cx="1511300" cy="857250"/>
          </a:xfrm>
          <a:prstGeom prst="roundRect">
            <a:avLst>
              <a:gd name="adj" fmla="val 13333"/>
            </a:avLst>
          </a:prstGeom>
          <a:solidFill>
            <a:srgbClr val="111111"/>
          </a:solidFill>
          <a:ln w="381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ounded Rectangle 65"/>
          <p:cNvSpPr/>
          <p:nvPr/>
        </p:nvSpPr>
        <p:spPr>
          <a:xfrm>
            <a:off x="14141450" y="6381750"/>
            <a:ext cx="66675" cy="6667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14331950" y="6575108"/>
            <a:ext cx="1168400" cy="270034"/>
          </a:xfrm>
          <a:prstGeom prst="rect">
            <a:avLst/>
          </a:prstGeom>
          <a:noFill/>
        </p:spPr>
        <p:txBody>
          <a:bodyPr wrap="square" lIns="0" rIns="0" tIns="0" bIns="0" anchor="t">
            <a:spAutoFit/>
          </a:bodyPr>
          <a:lstStyle/>
          <a:p>
            <a:pPr algn="l"/>
            <a:r>
              <a:rPr sz="1575" b="1" i="0">
                <a:solidFill>
                  <a:srgbClr val="2DD4BF"/>
                </a:solidFill>
                <a:latin typeface="Geist"/>
                <a:ea typeface="Geist"/>
                <a:cs typeface="Geist"/>
              </a:rPr>
              <a:t>▶  </a:t>
            </a:r>
            <a:r>
              <a:rPr sz="1575" b="1" i="0">
                <a:solidFill>
                  <a:srgbClr val="F0E8E8"/>
                </a:solidFill>
                <a:latin typeface="Geist"/>
                <a:ea typeface="Geist"/>
                <a:cs typeface="Geist"/>
              </a:rPr>
              <a:t>Aim</a:t>
            </a:r>
          </a:p>
        </p:txBody>
      </p:sp>
      <p:sp>
        <p:nvSpPr>
          <p:cNvPr id="68" name="Rounded Rectangle 67"/>
          <p:cNvSpPr/>
          <p:nvPr/>
        </p:nvSpPr>
        <p:spPr>
          <a:xfrm>
            <a:off x="14538325" y="6134100"/>
            <a:ext cx="981075" cy="28575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14538325" y="613410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SUCCESS</a:t>
            </a:r>
          </a:p>
        </p:txBody>
      </p:sp>
      <p:sp>
        <p:nvSpPr>
          <p:cNvPr id="70" name="Rounded Rectangle 69"/>
          <p:cNvSpPr/>
          <p:nvPr/>
        </p:nvSpPr>
        <p:spPr>
          <a:xfrm>
            <a:off x="15843250" y="6286500"/>
            <a:ext cx="1511300" cy="857250"/>
          </a:xfrm>
          <a:prstGeom prst="roundRect">
            <a:avLst>
              <a:gd name="adj" fmla="val 13333"/>
            </a:avLst>
          </a:prstGeom>
          <a:solidFill>
            <a:srgbClr val="111111"/>
          </a:solidFill>
          <a:ln w="381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ounded Rectangle 70"/>
          <p:cNvSpPr/>
          <p:nvPr/>
        </p:nvSpPr>
        <p:spPr>
          <a:xfrm>
            <a:off x="15881350" y="6381750"/>
            <a:ext cx="66675" cy="6667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16071850" y="6575108"/>
            <a:ext cx="1168400" cy="270034"/>
          </a:xfrm>
          <a:prstGeom prst="rect">
            <a:avLst/>
          </a:prstGeom>
          <a:noFill/>
        </p:spPr>
        <p:txBody>
          <a:bodyPr wrap="square" lIns="0" rIns="0" tIns="0" bIns="0" anchor="t">
            <a:spAutoFit/>
          </a:bodyPr>
          <a:lstStyle/>
          <a:p>
            <a:pPr algn="l"/>
            <a:r>
              <a:rPr sz="1575" b="1" i="0">
                <a:solidFill>
                  <a:srgbClr val="2DD4BF"/>
                </a:solidFill>
                <a:latin typeface="Geist"/>
                <a:ea typeface="Geist"/>
                <a:cs typeface="Geist"/>
              </a:rPr>
              <a:t>▶  </a:t>
            </a:r>
            <a:r>
              <a:rPr sz="1575" b="1" i="0">
                <a:solidFill>
                  <a:srgbClr val="F0E8E8"/>
                </a:solidFill>
                <a:latin typeface="Geist"/>
                <a:ea typeface="Geist"/>
                <a:cs typeface="Geist"/>
              </a:rPr>
              <a:t>Shoot</a:t>
            </a:r>
          </a:p>
        </p:txBody>
      </p:sp>
      <p:sp>
        <p:nvSpPr>
          <p:cNvPr id="73" name="Rounded Rectangle 72"/>
          <p:cNvSpPr/>
          <p:nvPr/>
        </p:nvSpPr>
        <p:spPr>
          <a:xfrm>
            <a:off x="16278225" y="6134100"/>
            <a:ext cx="981075" cy="28575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16278225" y="613410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SUCCESS</a:t>
            </a:r>
          </a:p>
        </p:txBody>
      </p:sp>
      <p:sp>
        <p:nvSpPr>
          <p:cNvPr id="75" name="Rounded Rectangle 74"/>
          <p:cNvSpPr/>
          <p:nvPr/>
        </p:nvSpPr>
        <p:spPr>
          <a:xfrm>
            <a:off x="13716000" y="3905250"/>
            <a:ext cx="2286000" cy="857250"/>
          </a:xfrm>
          <a:prstGeom prst="roundRect">
            <a:avLst>
              <a:gd name="adj" fmla="val 13333"/>
            </a:avLst>
          </a:prstGeom>
          <a:solidFill>
            <a:srgbClr val="111111"/>
          </a:solidFill>
          <a:ln w="381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ounded Rectangle 75"/>
          <p:cNvSpPr/>
          <p:nvPr/>
        </p:nvSpPr>
        <p:spPr>
          <a:xfrm>
            <a:off x="13754100" y="4000500"/>
            <a:ext cx="66675" cy="66675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13944600" y="4193858"/>
            <a:ext cx="1943100" cy="270034"/>
          </a:xfrm>
          <a:prstGeom prst="rect">
            <a:avLst/>
          </a:prstGeom>
          <a:noFill/>
        </p:spPr>
        <p:txBody>
          <a:bodyPr wrap="square" lIns="0" rIns="0" tIns="0" bIns="0" anchor="t">
            <a:spAutoFit/>
          </a:bodyPr>
          <a:lstStyle/>
          <a:p>
            <a:pPr algn="l"/>
            <a:r>
              <a:rPr sz="1575" b="1" i="0">
                <a:solidFill>
                  <a:srgbClr val="7C93C3"/>
                </a:solidFill>
                <a:latin typeface="Geist"/>
                <a:ea typeface="Geist"/>
                <a:cs typeface="Geist"/>
              </a:rPr>
              <a:t>→  </a:t>
            </a:r>
            <a:r>
              <a:rPr sz="1575" b="1" i="0">
                <a:solidFill>
                  <a:srgbClr val="F0E8E8"/>
                </a:solidFill>
                <a:latin typeface="Geist"/>
                <a:ea typeface="Geist"/>
                <a:cs typeface="Geist"/>
              </a:rPr>
              <a:t>Sequence</a:t>
            </a:r>
          </a:p>
        </p:txBody>
      </p:sp>
      <p:sp>
        <p:nvSpPr>
          <p:cNvPr id="78" name="Rounded Rectangle 77"/>
          <p:cNvSpPr/>
          <p:nvPr/>
        </p:nvSpPr>
        <p:spPr>
          <a:xfrm>
            <a:off x="14925675" y="3752850"/>
            <a:ext cx="981075" cy="28575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14925675" y="375285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SUCCESS</a:t>
            </a:r>
          </a:p>
        </p:txBody>
      </p:sp>
      <p:sp>
        <p:nvSpPr>
          <p:cNvPr id="80" name="Rounded Rectangle 79"/>
          <p:cNvSpPr/>
          <p:nvPr/>
        </p:nvSpPr>
        <p:spPr>
          <a:xfrm>
            <a:off x="914400" y="8382000"/>
            <a:ext cx="16459200" cy="762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1" name="Picture 80" descr="list-ol.png"/>
          <p:cNvPicPr>
            <a:picLocks noChangeAspect="1"/>
          </p:cNvPicPr>
          <p:nvPr/>
        </p:nvPicPr>
        <p:blipFill>
          <a:blip r:embed="rId3"/>
          <a:stretch>
            <a:fillRect/>
          </a:stretch>
        </p:blipFill>
        <p:spPr>
          <a:xfrm>
            <a:off x="1333500" y="8496300"/>
            <a:ext cx="694660" cy="533400"/>
          </a:xfrm>
          <a:prstGeom prst="rect">
            <a:avLst/>
          </a:prstGeom>
        </p:spPr>
      </p:pic>
      <p:sp>
        <p:nvSpPr>
          <p:cNvPr id="82" name="TextBox 81"/>
          <p:cNvSpPr txBox="1"/>
          <p:nvPr/>
        </p:nvSpPr>
        <p:spPr>
          <a:xfrm>
            <a:off x="2190750" y="8382000"/>
            <a:ext cx="14801850" cy="7620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Remembers its place:  </a:t>
            </a:r>
            <a:r>
              <a:rPr sz="2100" b="0" i="0">
                <a:solidFill>
                  <a:srgbClr val="F0E8E8"/>
                </a:solidFill>
                <a:latin typeface="Geist"/>
                <a:ea typeface="Geist"/>
                <a:cs typeface="Geist"/>
              </a:rPr>
              <a:t>a RUNNING child is resumed next tick. SUCCESS moves on in the same tick.</a:t>
            </a:r>
          </a:p>
        </p:txBody>
      </p:sp>
      <p:sp>
        <p:nvSpPr>
          <p:cNvPr id="83" name="TextBox 8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84" name="TextBox 8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BEHAVIOR TREES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Sequence: stops at the first failure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952750"/>
            <a:ext cx="57150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Tick 2</a:t>
            </a:r>
          </a:p>
        </p:txBody>
      </p:sp>
      <p:sp>
        <p:nvSpPr>
          <p:cNvPr id="7" name="Rectangle 6"/>
          <p:cNvSpPr/>
          <p:nvPr/>
        </p:nvSpPr>
        <p:spPr>
          <a:xfrm>
            <a:off x="6134100" y="4933950"/>
            <a:ext cx="38100" cy="800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2768600" y="5695950"/>
            <a:ext cx="676910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759075" y="5686425"/>
            <a:ext cx="57150" cy="819150"/>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124575" y="5686425"/>
            <a:ext cx="57150" cy="819150"/>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499600" y="5695950"/>
            <a:ext cx="38100" cy="800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1358900" y="6477000"/>
            <a:ext cx="2857500" cy="952500"/>
          </a:xfrm>
          <a:prstGeom prst="roundRect">
            <a:avLst>
              <a:gd name="adj" fmla="val 12000"/>
            </a:avLst>
          </a:prstGeom>
          <a:solidFill>
            <a:srgbClr val="111111"/>
          </a:solidFill>
          <a:ln w="381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1397000" y="6572250"/>
            <a:ext cx="66675" cy="7620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587500" y="6779895"/>
            <a:ext cx="2514600" cy="334328"/>
          </a:xfrm>
          <a:prstGeom prst="rect">
            <a:avLst/>
          </a:prstGeom>
          <a:noFill/>
        </p:spPr>
        <p:txBody>
          <a:bodyPr wrap="square" lIns="0" rIns="0" tIns="0" bIns="0" anchor="t">
            <a:spAutoFit/>
          </a:bodyPr>
          <a:lstStyle/>
          <a:p>
            <a:pPr algn="l"/>
            <a:r>
              <a:rPr sz="1950" b="1" i="0">
                <a:solidFill>
                  <a:srgbClr val="2DD4BF"/>
                </a:solidFill>
                <a:latin typeface="Geist"/>
                <a:ea typeface="Geist"/>
                <a:cs typeface="Geist"/>
              </a:rPr>
              <a:t>▶  </a:t>
            </a:r>
            <a:r>
              <a:rPr sz="1950" b="1" i="0">
                <a:solidFill>
                  <a:srgbClr val="F0E8E8"/>
                </a:solidFill>
                <a:latin typeface="Geist"/>
                <a:ea typeface="Geist"/>
                <a:cs typeface="Geist"/>
              </a:rPr>
              <a:t>Drive path</a:t>
            </a:r>
          </a:p>
        </p:txBody>
      </p:sp>
      <p:sp>
        <p:nvSpPr>
          <p:cNvPr id="15" name="Rounded Rectangle 14"/>
          <p:cNvSpPr/>
          <p:nvPr/>
        </p:nvSpPr>
        <p:spPr>
          <a:xfrm>
            <a:off x="3140075" y="6324600"/>
            <a:ext cx="981075" cy="28575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40075" y="632460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SUCCESS</a:t>
            </a:r>
          </a:p>
        </p:txBody>
      </p:sp>
      <p:sp>
        <p:nvSpPr>
          <p:cNvPr id="17" name="Rounded Rectangle 16"/>
          <p:cNvSpPr/>
          <p:nvPr/>
        </p:nvSpPr>
        <p:spPr>
          <a:xfrm>
            <a:off x="4724400" y="6477000"/>
            <a:ext cx="2857500" cy="952500"/>
          </a:xfrm>
          <a:prstGeom prst="roundRect">
            <a:avLst>
              <a:gd name="adj" fmla="val 12000"/>
            </a:avLst>
          </a:prstGeom>
          <a:solidFill>
            <a:srgbClr val="111111"/>
          </a:solidFill>
          <a:ln w="381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4762500" y="6572250"/>
            <a:ext cx="66675" cy="7620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953000" y="6779895"/>
            <a:ext cx="2514600" cy="334328"/>
          </a:xfrm>
          <a:prstGeom prst="rect">
            <a:avLst/>
          </a:prstGeom>
          <a:noFill/>
        </p:spPr>
        <p:txBody>
          <a:bodyPr wrap="square" lIns="0" rIns="0" tIns="0" bIns="0" anchor="t">
            <a:spAutoFit/>
          </a:bodyPr>
          <a:lstStyle/>
          <a:p>
            <a:pPr algn="l"/>
            <a:r>
              <a:rPr sz="1950" b="1" i="0">
                <a:solidFill>
                  <a:srgbClr val="2DD4BF"/>
                </a:solidFill>
                <a:latin typeface="Geist"/>
                <a:ea typeface="Geist"/>
                <a:cs typeface="Geist"/>
              </a:rPr>
              <a:t>▶  </a:t>
            </a:r>
            <a:r>
              <a:rPr sz="1950" b="1" i="0">
                <a:solidFill>
                  <a:srgbClr val="F0E8E8"/>
                </a:solidFill>
                <a:latin typeface="Geist"/>
                <a:ea typeface="Geist"/>
                <a:cs typeface="Geist"/>
              </a:rPr>
              <a:t>Aim</a:t>
            </a:r>
          </a:p>
        </p:txBody>
      </p:sp>
      <p:sp>
        <p:nvSpPr>
          <p:cNvPr id="20" name="Rounded Rectangle 19"/>
          <p:cNvSpPr/>
          <p:nvPr/>
        </p:nvSpPr>
        <p:spPr>
          <a:xfrm>
            <a:off x="6505575" y="6324600"/>
            <a:ext cx="981075" cy="285750"/>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505575" y="632460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FAILURE</a:t>
            </a:r>
          </a:p>
        </p:txBody>
      </p:sp>
      <p:sp>
        <p:nvSpPr>
          <p:cNvPr id="22" name="Rounded Rectangle 21"/>
          <p:cNvSpPr/>
          <p:nvPr/>
        </p:nvSpPr>
        <p:spPr>
          <a:xfrm>
            <a:off x="8089900" y="6477000"/>
            <a:ext cx="2857500" cy="952500"/>
          </a:xfrm>
          <a:prstGeom prst="roundRect">
            <a:avLst>
              <a:gd name="adj" fmla="val 12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8128000" y="6572250"/>
            <a:ext cx="66675" cy="7620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318500" y="6779895"/>
            <a:ext cx="2514600" cy="334328"/>
          </a:xfrm>
          <a:prstGeom prst="rect">
            <a:avLst/>
          </a:prstGeom>
          <a:noFill/>
        </p:spPr>
        <p:txBody>
          <a:bodyPr wrap="square" lIns="0" rIns="0" tIns="0" bIns="0" anchor="t">
            <a:spAutoFit/>
          </a:bodyPr>
          <a:lstStyle/>
          <a:p>
            <a:pPr algn="l"/>
            <a:r>
              <a:rPr sz="1950" b="1" i="0">
                <a:solidFill>
                  <a:srgbClr val="2DD4BF"/>
                </a:solidFill>
                <a:latin typeface="Geist"/>
                <a:ea typeface="Geist"/>
                <a:cs typeface="Geist"/>
              </a:rPr>
              <a:t>▶  </a:t>
            </a:r>
            <a:r>
              <a:rPr sz="1950" b="1" i="0">
                <a:solidFill>
                  <a:srgbClr val="F0E8E8"/>
                </a:solidFill>
                <a:latin typeface="Geist"/>
                <a:ea typeface="Geist"/>
                <a:cs typeface="Geist"/>
              </a:rPr>
              <a:t>Shoot</a:t>
            </a:r>
          </a:p>
        </p:txBody>
      </p:sp>
      <p:sp>
        <p:nvSpPr>
          <p:cNvPr id="25" name="Rounded Rectangle 24"/>
          <p:cNvSpPr/>
          <p:nvPr/>
        </p:nvSpPr>
        <p:spPr>
          <a:xfrm>
            <a:off x="4724400" y="4000500"/>
            <a:ext cx="2857500" cy="952500"/>
          </a:xfrm>
          <a:prstGeom prst="roundRect">
            <a:avLst>
              <a:gd name="adj" fmla="val 12000"/>
            </a:avLst>
          </a:prstGeom>
          <a:solidFill>
            <a:srgbClr val="111111"/>
          </a:solidFill>
          <a:ln w="381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4762500" y="4095750"/>
            <a:ext cx="66675" cy="76200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53000" y="4303395"/>
            <a:ext cx="2514600" cy="334328"/>
          </a:xfrm>
          <a:prstGeom prst="rect">
            <a:avLst/>
          </a:prstGeom>
          <a:noFill/>
        </p:spPr>
        <p:txBody>
          <a:bodyPr wrap="square" lIns="0" rIns="0" tIns="0" bIns="0" anchor="t">
            <a:spAutoFit/>
          </a:bodyPr>
          <a:lstStyle/>
          <a:p>
            <a:pPr algn="l"/>
            <a:r>
              <a:rPr sz="1950" b="1" i="0">
                <a:solidFill>
                  <a:srgbClr val="7C93C3"/>
                </a:solidFill>
                <a:latin typeface="Geist"/>
                <a:ea typeface="Geist"/>
                <a:cs typeface="Geist"/>
              </a:rPr>
              <a:t>→  </a:t>
            </a:r>
            <a:r>
              <a:rPr sz="1950" b="1" i="0">
                <a:solidFill>
                  <a:srgbClr val="F0E8E8"/>
                </a:solidFill>
                <a:latin typeface="Geist"/>
                <a:ea typeface="Geist"/>
                <a:cs typeface="Geist"/>
              </a:rPr>
              <a:t>Sequence</a:t>
            </a:r>
          </a:p>
        </p:txBody>
      </p:sp>
      <p:sp>
        <p:nvSpPr>
          <p:cNvPr id="28" name="Rounded Rectangle 27"/>
          <p:cNvSpPr/>
          <p:nvPr/>
        </p:nvSpPr>
        <p:spPr>
          <a:xfrm>
            <a:off x="6505575" y="3848100"/>
            <a:ext cx="981075" cy="285750"/>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05575" y="384810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FAILURE</a:t>
            </a:r>
          </a:p>
        </p:txBody>
      </p:sp>
      <p:sp>
        <p:nvSpPr>
          <p:cNvPr id="30" name="TextBox 29"/>
          <p:cNvSpPr txBox="1"/>
          <p:nvPr/>
        </p:nvSpPr>
        <p:spPr>
          <a:xfrm>
            <a:off x="1295400" y="8001000"/>
            <a:ext cx="9525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Shoot: never ticked</a:t>
            </a:r>
          </a:p>
        </p:txBody>
      </p:sp>
      <p:sp>
        <p:nvSpPr>
          <p:cNvPr id="31" name="Rounded Rectangle 30"/>
          <p:cNvSpPr/>
          <p:nvPr/>
        </p:nvSpPr>
        <p:spPr>
          <a:xfrm>
            <a:off x="11811000" y="2762250"/>
            <a:ext cx="556260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2192000" y="3143250"/>
            <a:ext cx="4800600" cy="571500"/>
          </a:xfrm>
          <a:prstGeom prst="rect">
            <a:avLst/>
          </a:prstGeom>
          <a:noFill/>
        </p:spPr>
        <p:txBody>
          <a:bodyPr wrap="square" lIns="0" rIns="0" tIns="0" bIns="0" anchor="t">
            <a:spAutoFit/>
          </a:bodyPr>
          <a:lstStyle/>
          <a:p>
            <a:pPr algn="l">
              <a:lnSpc>
                <a:spcPct val="110000"/>
              </a:lnSpc>
            </a:pPr>
            <a:r>
              <a:rPr sz="3000" b="1" i="0">
                <a:solidFill>
                  <a:srgbClr val="F0E8E8"/>
                </a:solidFill>
                <a:latin typeface="Geist"/>
                <a:ea typeface="Geist"/>
                <a:cs typeface="Geist"/>
              </a:rPr>
              <a:t>AND</a:t>
            </a:r>
          </a:p>
        </p:txBody>
      </p:sp>
      <p:sp>
        <p:nvSpPr>
          <p:cNvPr id="33" name="TextBox 32"/>
          <p:cNvSpPr txBox="1"/>
          <p:nvPr/>
        </p:nvSpPr>
        <p:spPr>
          <a:xfrm>
            <a:off x="12192000" y="3829050"/>
            <a:ext cx="480060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Every child must succeed. The first FAILURE stops the Sequence.</a:t>
            </a:r>
          </a:p>
        </p:txBody>
      </p:sp>
      <p:pic>
        <p:nvPicPr>
          <p:cNvPr id="34" name="Picture 33" descr="dozer_wide_left.png"/>
          <p:cNvPicPr>
            <a:picLocks noChangeAspect="1"/>
          </p:cNvPicPr>
          <p:nvPr/>
        </p:nvPicPr>
        <p:blipFill>
          <a:blip r:embed="rId3"/>
          <a:stretch>
            <a:fillRect/>
          </a:stretch>
        </p:blipFill>
        <p:spPr>
          <a:xfrm>
            <a:off x="13906500" y="6191250"/>
            <a:ext cx="2857500" cy="1756344"/>
          </a:xfrm>
          <a:prstGeom prst="rect">
            <a:avLst/>
          </a:prstGeom>
        </p:spPr>
      </p:pic>
      <p:sp>
        <p:nvSpPr>
          <p:cNvPr id="35" name="TextBox 3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6" name="TextBox 3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BEHAVIOR TREES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Fallback: plan B</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952750"/>
            <a:ext cx="57150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Tick 3</a:t>
            </a:r>
          </a:p>
        </p:txBody>
      </p:sp>
      <p:sp>
        <p:nvSpPr>
          <p:cNvPr id="7" name="Rectangle 6"/>
          <p:cNvSpPr/>
          <p:nvPr/>
        </p:nvSpPr>
        <p:spPr>
          <a:xfrm>
            <a:off x="6134100" y="4933950"/>
            <a:ext cx="38100" cy="800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2768600" y="5695950"/>
            <a:ext cx="676910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768600" y="5695950"/>
            <a:ext cx="38100" cy="800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124575" y="5686425"/>
            <a:ext cx="57150" cy="819150"/>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499600" y="5695950"/>
            <a:ext cx="38100" cy="800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1358900" y="6477000"/>
            <a:ext cx="2857500" cy="952500"/>
          </a:xfrm>
          <a:prstGeom prst="roundRect">
            <a:avLst>
              <a:gd name="adj" fmla="val 12000"/>
            </a:avLst>
          </a:prstGeom>
          <a:solidFill>
            <a:srgbClr val="111111"/>
          </a:solidFill>
          <a:ln w="381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1397000" y="6572250"/>
            <a:ext cx="66675" cy="7620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587500" y="6779895"/>
            <a:ext cx="2514600" cy="334328"/>
          </a:xfrm>
          <a:prstGeom prst="rect">
            <a:avLst/>
          </a:prstGeom>
          <a:noFill/>
        </p:spPr>
        <p:txBody>
          <a:bodyPr wrap="square" lIns="0" rIns="0" tIns="0" bIns="0" anchor="t">
            <a:spAutoFit/>
          </a:bodyPr>
          <a:lstStyle/>
          <a:p>
            <a:pPr algn="l"/>
            <a:r>
              <a:rPr sz="1950" b="1" i="0">
                <a:solidFill>
                  <a:srgbClr val="2DD4BF"/>
                </a:solidFill>
                <a:latin typeface="Geist"/>
                <a:ea typeface="Geist"/>
                <a:cs typeface="Geist"/>
              </a:rPr>
              <a:t>▶  </a:t>
            </a:r>
            <a:r>
              <a:rPr sz="1950" b="1" i="0">
                <a:solidFill>
                  <a:srgbClr val="F0E8E8"/>
                </a:solidFill>
                <a:latin typeface="Geist"/>
                <a:ea typeface="Geist"/>
                <a:cs typeface="Geist"/>
              </a:rPr>
              <a:t>Aim: vision</a:t>
            </a:r>
          </a:p>
        </p:txBody>
      </p:sp>
      <p:sp>
        <p:nvSpPr>
          <p:cNvPr id="15" name="Rounded Rectangle 14"/>
          <p:cNvSpPr/>
          <p:nvPr/>
        </p:nvSpPr>
        <p:spPr>
          <a:xfrm>
            <a:off x="3140075" y="6324600"/>
            <a:ext cx="981075" cy="285750"/>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40075" y="632460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FAILURE</a:t>
            </a:r>
          </a:p>
        </p:txBody>
      </p:sp>
      <p:sp>
        <p:nvSpPr>
          <p:cNvPr id="17" name="Rounded Rectangle 16"/>
          <p:cNvSpPr/>
          <p:nvPr/>
        </p:nvSpPr>
        <p:spPr>
          <a:xfrm>
            <a:off x="4724400" y="6477000"/>
            <a:ext cx="2857500" cy="952500"/>
          </a:xfrm>
          <a:prstGeom prst="roundRect">
            <a:avLst>
              <a:gd name="adj" fmla="val 12000"/>
            </a:avLst>
          </a:prstGeom>
          <a:solidFill>
            <a:srgbClr val="111111"/>
          </a:solidFill>
          <a:ln w="381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4762500" y="6572250"/>
            <a:ext cx="66675" cy="7620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953000" y="6779895"/>
            <a:ext cx="2514600" cy="334328"/>
          </a:xfrm>
          <a:prstGeom prst="rect">
            <a:avLst/>
          </a:prstGeom>
          <a:noFill/>
        </p:spPr>
        <p:txBody>
          <a:bodyPr wrap="square" lIns="0" rIns="0" tIns="0" bIns="0" anchor="t">
            <a:spAutoFit/>
          </a:bodyPr>
          <a:lstStyle/>
          <a:p>
            <a:pPr algn="l"/>
            <a:r>
              <a:rPr sz="1950" b="1" i="0">
                <a:solidFill>
                  <a:srgbClr val="2DD4BF"/>
                </a:solidFill>
                <a:latin typeface="Geist"/>
                <a:ea typeface="Geist"/>
                <a:cs typeface="Geist"/>
              </a:rPr>
              <a:t>▶  </a:t>
            </a:r>
            <a:r>
              <a:rPr sz="1950" b="1" i="0">
                <a:solidFill>
                  <a:srgbClr val="F0E8E8"/>
                </a:solidFill>
                <a:latin typeface="Geist"/>
                <a:ea typeface="Geist"/>
                <a:cs typeface="Geist"/>
              </a:rPr>
              <a:t>Aim: manual</a:t>
            </a:r>
          </a:p>
        </p:txBody>
      </p:sp>
      <p:sp>
        <p:nvSpPr>
          <p:cNvPr id="20" name="Rounded Rectangle 19"/>
          <p:cNvSpPr/>
          <p:nvPr/>
        </p:nvSpPr>
        <p:spPr>
          <a:xfrm>
            <a:off x="6505575" y="6324600"/>
            <a:ext cx="981075" cy="28575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505575" y="632460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SUCCESS</a:t>
            </a:r>
          </a:p>
        </p:txBody>
      </p:sp>
      <p:sp>
        <p:nvSpPr>
          <p:cNvPr id="22" name="Rounded Rectangle 21"/>
          <p:cNvSpPr/>
          <p:nvPr/>
        </p:nvSpPr>
        <p:spPr>
          <a:xfrm>
            <a:off x="8089900" y="6477000"/>
            <a:ext cx="2857500" cy="952500"/>
          </a:xfrm>
          <a:prstGeom prst="roundRect">
            <a:avLst>
              <a:gd name="adj" fmla="val 12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8128000" y="6572250"/>
            <a:ext cx="66675" cy="7620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318500" y="6779895"/>
            <a:ext cx="2514600" cy="334328"/>
          </a:xfrm>
          <a:prstGeom prst="rect">
            <a:avLst/>
          </a:prstGeom>
          <a:noFill/>
        </p:spPr>
        <p:txBody>
          <a:bodyPr wrap="square" lIns="0" rIns="0" tIns="0" bIns="0" anchor="t">
            <a:spAutoFit/>
          </a:bodyPr>
          <a:lstStyle/>
          <a:p>
            <a:pPr algn="l"/>
            <a:r>
              <a:rPr sz="1950" b="1" i="0">
                <a:solidFill>
                  <a:srgbClr val="2DD4BF"/>
                </a:solidFill>
                <a:latin typeface="Geist"/>
                <a:ea typeface="Geist"/>
                <a:cs typeface="Geist"/>
              </a:rPr>
              <a:t>▶  </a:t>
            </a:r>
            <a:r>
              <a:rPr sz="1950" b="1" i="0">
                <a:solidFill>
                  <a:srgbClr val="F0E8E8"/>
                </a:solidFill>
                <a:latin typeface="Geist"/>
                <a:ea typeface="Geist"/>
                <a:cs typeface="Geist"/>
              </a:rPr>
              <a:t>Skip the shot</a:t>
            </a:r>
          </a:p>
        </p:txBody>
      </p:sp>
      <p:sp>
        <p:nvSpPr>
          <p:cNvPr id="25" name="Rounded Rectangle 24"/>
          <p:cNvSpPr/>
          <p:nvPr/>
        </p:nvSpPr>
        <p:spPr>
          <a:xfrm>
            <a:off x="4724400" y="4000500"/>
            <a:ext cx="2857500" cy="952500"/>
          </a:xfrm>
          <a:prstGeom prst="roundRect">
            <a:avLst>
              <a:gd name="adj" fmla="val 12000"/>
            </a:avLst>
          </a:prstGeom>
          <a:solidFill>
            <a:srgbClr val="111111"/>
          </a:solidFill>
          <a:ln w="381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4762500" y="4095750"/>
            <a:ext cx="66675" cy="76200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53000" y="4303395"/>
            <a:ext cx="2514600" cy="334328"/>
          </a:xfrm>
          <a:prstGeom prst="rect">
            <a:avLst/>
          </a:prstGeom>
          <a:noFill/>
        </p:spPr>
        <p:txBody>
          <a:bodyPr wrap="square" lIns="0" rIns="0" tIns="0" bIns="0" anchor="t">
            <a:spAutoFit/>
          </a:bodyPr>
          <a:lstStyle/>
          <a:p>
            <a:pPr algn="l"/>
            <a:r>
              <a:rPr sz="1950" b="1" i="0">
                <a:solidFill>
                  <a:srgbClr val="7C93C3"/>
                </a:solidFill>
                <a:latin typeface="Geist"/>
                <a:ea typeface="Geist"/>
                <a:cs typeface="Geist"/>
              </a:rPr>
              <a:t>?  </a:t>
            </a:r>
            <a:r>
              <a:rPr sz="1950" b="1" i="0">
                <a:solidFill>
                  <a:srgbClr val="F0E8E8"/>
                </a:solidFill>
                <a:latin typeface="Geist"/>
                <a:ea typeface="Geist"/>
                <a:cs typeface="Geist"/>
              </a:rPr>
              <a:t>Fallback</a:t>
            </a:r>
          </a:p>
        </p:txBody>
      </p:sp>
      <p:sp>
        <p:nvSpPr>
          <p:cNvPr id="28" name="Rounded Rectangle 27"/>
          <p:cNvSpPr/>
          <p:nvPr/>
        </p:nvSpPr>
        <p:spPr>
          <a:xfrm>
            <a:off x="6505575" y="3848100"/>
            <a:ext cx="981075" cy="28575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05575" y="384810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SUCCESS</a:t>
            </a:r>
          </a:p>
        </p:txBody>
      </p:sp>
      <p:sp>
        <p:nvSpPr>
          <p:cNvPr id="30" name="TextBox 29"/>
          <p:cNvSpPr txBox="1"/>
          <p:nvPr/>
        </p:nvSpPr>
        <p:spPr>
          <a:xfrm>
            <a:off x="1295400" y="8001000"/>
            <a:ext cx="9525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Skip the shot: never tried</a:t>
            </a:r>
          </a:p>
        </p:txBody>
      </p:sp>
      <p:sp>
        <p:nvSpPr>
          <p:cNvPr id="31" name="Rounded Rectangle 30"/>
          <p:cNvSpPr/>
          <p:nvPr/>
        </p:nvSpPr>
        <p:spPr>
          <a:xfrm>
            <a:off x="11811000" y="2762250"/>
            <a:ext cx="5562600" cy="2762250"/>
          </a:xfrm>
          <a:prstGeom prst="roundRect">
            <a:avLst>
              <a:gd name="adj" fmla="val 551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2192000" y="3048000"/>
            <a:ext cx="47625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  Sequence</a:t>
            </a:r>
          </a:p>
        </p:txBody>
      </p:sp>
      <p:sp>
        <p:nvSpPr>
          <p:cNvPr id="33" name="TextBox 32"/>
          <p:cNvSpPr txBox="1"/>
          <p:nvPr/>
        </p:nvSpPr>
        <p:spPr>
          <a:xfrm>
            <a:off x="12192000" y="3676650"/>
            <a:ext cx="4762500" cy="857250"/>
          </a:xfrm>
          <a:prstGeom prst="rect">
            <a:avLst/>
          </a:prstGeom>
          <a:noFill/>
        </p:spPr>
        <p:txBody>
          <a:bodyPr wrap="square" lIns="0" rIns="0" tIns="0" bIns="0" anchor="t">
            <a:spAutoFit/>
          </a:bodyPr>
          <a:lstStyle/>
          <a:p>
            <a:pPr algn="l"/>
            <a:r>
              <a:rPr sz="4800" b="1" i="0">
                <a:solidFill>
                  <a:srgbClr val="9A7878"/>
                </a:solidFill>
                <a:latin typeface="Geist"/>
                <a:ea typeface="Geist"/>
                <a:cs typeface="Geist"/>
              </a:rPr>
              <a:t>AND</a:t>
            </a:r>
          </a:p>
        </p:txBody>
      </p:sp>
      <p:sp>
        <p:nvSpPr>
          <p:cNvPr id="34" name="TextBox 33"/>
          <p:cNvSpPr txBox="1"/>
          <p:nvPr/>
        </p:nvSpPr>
        <p:spPr>
          <a:xfrm>
            <a:off x="12192000" y="4667250"/>
            <a:ext cx="4762500" cy="571500"/>
          </a:xfrm>
          <a:prstGeom prst="rect">
            <a:avLst/>
          </a:prstGeom>
          <a:noFill/>
        </p:spPr>
        <p:txBody>
          <a:bodyPr wrap="square" lIns="0" rIns="0" tIns="0" bIns="0" anchor="t">
            <a:spAutoFit/>
          </a:bodyPr>
          <a:lstStyle/>
          <a:p>
            <a:pPr algn="l"/>
            <a:r>
              <a:rPr sz="1875" b="0" i="0">
                <a:solidFill>
                  <a:srgbClr val="9A7878"/>
                </a:solidFill>
                <a:latin typeface="Geist"/>
                <a:ea typeface="Geist"/>
                <a:cs typeface="Geist"/>
              </a:rPr>
              <a:t>Stops at the first FAILURE</a:t>
            </a:r>
          </a:p>
        </p:txBody>
      </p:sp>
      <p:sp>
        <p:nvSpPr>
          <p:cNvPr id="35" name="Rounded Rectangle 34"/>
          <p:cNvSpPr/>
          <p:nvPr/>
        </p:nvSpPr>
        <p:spPr>
          <a:xfrm>
            <a:off x="11811000" y="5810250"/>
            <a:ext cx="5562600" cy="2762250"/>
          </a:xfrm>
          <a:prstGeom prst="roundRect">
            <a:avLst>
              <a:gd name="adj" fmla="val 5517"/>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2192000" y="6096000"/>
            <a:ext cx="47625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  Fallback</a:t>
            </a:r>
          </a:p>
        </p:txBody>
      </p:sp>
      <p:sp>
        <p:nvSpPr>
          <p:cNvPr id="37" name="TextBox 36"/>
          <p:cNvSpPr txBox="1"/>
          <p:nvPr/>
        </p:nvSpPr>
        <p:spPr>
          <a:xfrm>
            <a:off x="12192000" y="6724650"/>
            <a:ext cx="4762500" cy="857250"/>
          </a:xfrm>
          <a:prstGeom prst="rect">
            <a:avLst/>
          </a:prstGeom>
          <a:noFill/>
        </p:spPr>
        <p:txBody>
          <a:bodyPr wrap="square" lIns="0" rIns="0" tIns="0" bIns="0" anchor="t">
            <a:spAutoFit/>
          </a:bodyPr>
          <a:lstStyle/>
          <a:p>
            <a:pPr algn="l"/>
            <a:r>
              <a:rPr sz="4800" b="1" i="0">
                <a:solidFill>
                  <a:srgbClr val="D5000E"/>
                </a:solidFill>
                <a:latin typeface="Geist"/>
                <a:ea typeface="Geist"/>
                <a:cs typeface="Geist"/>
              </a:rPr>
              <a:t>OR</a:t>
            </a:r>
          </a:p>
        </p:txBody>
      </p:sp>
      <p:sp>
        <p:nvSpPr>
          <p:cNvPr id="38" name="TextBox 37"/>
          <p:cNvSpPr txBox="1"/>
          <p:nvPr/>
        </p:nvSpPr>
        <p:spPr>
          <a:xfrm>
            <a:off x="12192000" y="7715250"/>
            <a:ext cx="4762500" cy="571500"/>
          </a:xfrm>
          <a:prstGeom prst="rect">
            <a:avLst/>
          </a:prstGeom>
          <a:noFill/>
        </p:spPr>
        <p:txBody>
          <a:bodyPr wrap="square" lIns="0" rIns="0" tIns="0" bIns="0" anchor="t">
            <a:spAutoFit/>
          </a:bodyPr>
          <a:lstStyle/>
          <a:p>
            <a:pPr algn="l"/>
            <a:r>
              <a:rPr sz="1875" b="0" i="0">
                <a:solidFill>
                  <a:srgbClr val="9A7878"/>
                </a:solidFill>
                <a:latin typeface="Geist"/>
                <a:ea typeface="Geist"/>
                <a:cs typeface="Geist"/>
              </a:rPr>
              <a:t>Stops at the first SUCCESS</a:t>
            </a:r>
          </a:p>
        </p:txBody>
      </p:sp>
      <p:sp>
        <p:nvSpPr>
          <p:cNvPr id="39" name="TextBox 3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0" name="TextBox 3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BEHAVIOR TREES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Timeout: don't hang forever</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95250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952750"/>
            <a:ext cx="57150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At 3.0 s</a:t>
            </a:r>
          </a:p>
        </p:txBody>
      </p:sp>
      <p:sp>
        <p:nvSpPr>
          <p:cNvPr id="7" name="Rectangle 6"/>
          <p:cNvSpPr/>
          <p:nvPr/>
        </p:nvSpPr>
        <p:spPr>
          <a:xfrm>
            <a:off x="3419475" y="5743575"/>
            <a:ext cx="38100" cy="300038"/>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419475" y="6005512"/>
            <a:ext cx="3810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419475" y="6005512"/>
            <a:ext cx="38100" cy="300038"/>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57850" y="4362450"/>
            <a:ext cx="38100" cy="300038"/>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419475" y="4624388"/>
            <a:ext cx="451485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419475" y="4624388"/>
            <a:ext cx="38100" cy="300038"/>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886700" y="4614862"/>
            <a:ext cx="57150" cy="319088"/>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1914525" y="6286500"/>
            <a:ext cx="3048000" cy="857250"/>
          </a:xfrm>
          <a:prstGeom prst="roundRect">
            <a:avLst>
              <a:gd name="adj" fmla="val 13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1952625" y="6381750"/>
            <a:ext cx="66675" cy="6667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143125" y="6548438"/>
            <a:ext cx="2705100" cy="321469"/>
          </a:xfrm>
          <a:prstGeom prst="rect">
            <a:avLst/>
          </a:prstGeom>
          <a:noFill/>
        </p:spPr>
        <p:txBody>
          <a:bodyPr wrap="square" lIns="0" rIns="0" tIns="0" bIns="0" anchor="t">
            <a:spAutoFit/>
          </a:bodyPr>
          <a:lstStyle/>
          <a:p>
            <a:pPr algn="l"/>
            <a:r>
              <a:rPr sz="1875" b="1" i="0">
                <a:solidFill>
                  <a:srgbClr val="2DD4BF"/>
                </a:solidFill>
                <a:latin typeface="Geist"/>
                <a:ea typeface="Geist"/>
                <a:cs typeface="Geist"/>
              </a:rPr>
              <a:t>▶  </a:t>
            </a:r>
            <a:r>
              <a:rPr sz="1875" b="1" i="0">
                <a:solidFill>
                  <a:srgbClr val="F0E8E8"/>
                </a:solidFill>
                <a:latin typeface="Geist"/>
                <a:ea typeface="Geist"/>
                <a:cs typeface="Geist"/>
              </a:rPr>
              <a:t>Aim</a:t>
            </a:r>
          </a:p>
        </p:txBody>
      </p:sp>
      <p:sp>
        <p:nvSpPr>
          <p:cNvPr id="17" name="Rounded Rectangle 16"/>
          <p:cNvSpPr/>
          <p:nvPr/>
        </p:nvSpPr>
        <p:spPr>
          <a:xfrm>
            <a:off x="1914525" y="4905375"/>
            <a:ext cx="3048000" cy="857250"/>
          </a:xfrm>
          <a:prstGeom prst="roundRect">
            <a:avLst>
              <a:gd name="adj" fmla="val 13333"/>
            </a:avLst>
          </a:prstGeom>
          <a:solidFill>
            <a:srgbClr val="111111"/>
          </a:solidFill>
          <a:ln w="381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1952625" y="5000625"/>
            <a:ext cx="66675" cy="66675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143125" y="5019675"/>
            <a:ext cx="2705100" cy="321469"/>
          </a:xfrm>
          <a:prstGeom prst="rect">
            <a:avLst/>
          </a:prstGeom>
          <a:noFill/>
        </p:spPr>
        <p:txBody>
          <a:bodyPr wrap="square" lIns="0" rIns="0" tIns="0" bIns="0" anchor="t">
            <a:spAutoFit/>
          </a:bodyPr>
          <a:lstStyle/>
          <a:p>
            <a:pPr algn="l"/>
            <a:r>
              <a:rPr sz="1875" b="1" i="0">
                <a:solidFill>
                  <a:srgbClr val="7C93C3"/>
                </a:solidFill>
                <a:latin typeface="Geist"/>
                <a:ea typeface="Geist"/>
                <a:cs typeface="Geist"/>
              </a:rPr>
              <a:t>⏱  </a:t>
            </a:r>
            <a:r>
              <a:rPr sz="1875" b="1" i="0">
                <a:solidFill>
                  <a:srgbClr val="F0E8E8"/>
                </a:solidFill>
                <a:latin typeface="Geist"/>
                <a:ea typeface="Geist"/>
                <a:cs typeface="Geist"/>
              </a:rPr>
              <a:t>Timeout</a:t>
            </a:r>
          </a:p>
        </p:txBody>
      </p:sp>
      <p:sp>
        <p:nvSpPr>
          <p:cNvPr id="20" name="TextBox 19"/>
          <p:cNvSpPr txBox="1"/>
          <p:nvPr/>
        </p:nvSpPr>
        <p:spPr>
          <a:xfrm>
            <a:off x="2143125" y="5360194"/>
            <a:ext cx="2705100" cy="285750"/>
          </a:xfrm>
          <a:prstGeom prst="rect">
            <a:avLst/>
          </a:prstGeom>
          <a:noFill/>
        </p:spPr>
        <p:txBody>
          <a:bodyPr wrap="square" lIns="0" rIns="0" tIns="0" bIns="0" anchor="t">
            <a:spAutoFit/>
          </a:bodyPr>
          <a:lstStyle/>
          <a:p>
            <a:pPr algn="l"/>
            <a:r>
              <a:rPr sz="1462" b="0" i="0">
                <a:solidFill>
                  <a:srgbClr val="E8C27A"/>
                </a:solidFill>
                <a:latin typeface="Geist Mono"/>
                <a:ea typeface="Geist Mono"/>
                <a:cs typeface="Geist Mono"/>
              </a:rPr>
              <a:t>3000 ms</a:t>
            </a:r>
          </a:p>
        </p:txBody>
      </p:sp>
      <p:sp>
        <p:nvSpPr>
          <p:cNvPr id="21" name="Rounded Rectangle 20"/>
          <p:cNvSpPr/>
          <p:nvPr/>
        </p:nvSpPr>
        <p:spPr>
          <a:xfrm>
            <a:off x="3886200" y="4752975"/>
            <a:ext cx="981075" cy="285750"/>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86200" y="4752975"/>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FAILURE</a:t>
            </a:r>
          </a:p>
        </p:txBody>
      </p:sp>
      <p:sp>
        <p:nvSpPr>
          <p:cNvPr id="23" name="Rounded Rectangle 22"/>
          <p:cNvSpPr/>
          <p:nvPr/>
        </p:nvSpPr>
        <p:spPr>
          <a:xfrm>
            <a:off x="6391275" y="4905375"/>
            <a:ext cx="3048000" cy="857250"/>
          </a:xfrm>
          <a:prstGeom prst="roundRect">
            <a:avLst>
              <a:gd name="adj" fmla="val 13333"/>
            </a:avLst>
          </a:prstGeom>
          <a:solidFill>
            <a:srgbClr val="111111"/>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6429375" y="5000625"/>
            <a:ext cx="66675" cy="6667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619875" y="5167312"/>
            <a:ext cx="2705100" cy="321469"/>
          </a:xfrm>
          <a:prstGeom prst="rect">
            <a:avLst/>
          </a:prstGeom>
          <a:noFill/>
        </p:spPr>
        <p:txBody>
          <a:bodyPr wrap="square" lIns="0" rIns="0" tIns="0" bIns="0" anchor="t">
            <a:spAutoFit/>
          </a:bodyPr>
          <a:lstStyle/>
          <a:p>
            <a:pPr algn="l"/>
            <a:r>
              <a:rPr sz="1875" b="1" i="0">
                <a:solidFill>
                  <a:srgbClr val="2DD4BF"/>
                </a:solidFill>
                <a:latin typeface="Geist"/>
                <a:ea typeface="Geist"/>
                <a:cs typeface="Geist"/>
              </a:rPr>
              <a:t>▶  </a:t>
            </a:r>
            <a:r>
              <a:rPr sz="1875" b="1" i="0">
                <a:solidFill>
                  <a:srgbClr val="F0E8E8"/>
                </a:solidFill>
                <a:latin typeface="Geist"/>
                <a:ea typeface="Geist"/>
                <a:cs typeface="Geist"/>
              </a:rPr>
              <a:t>Backup path</a:t>
            </a:r>
          </a:p>
        </p:txBody>
      </p:sp>
      <p:sp>
        <p:nvSpPr>
          <p:cNvPr id="26" name="Rounded Rectangle 25"/>
          <p:cNvSpPr/>
          <p:nvPr/>
        </p:nvSpPr>
        <p:spPr>
          <a:xfrm>
            <a:off x="8362950" y="4752975"/>
            <a:ext cx="981075" cy="28575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362950" y="4752975"/>
            <a:ext cx="981075" cy="285750"/>
          </a:xfrm>
          <a:prstGeom prst="rect">
            <a:avLst/>
          </a:prstGeom>
          <a:noFill/>
        </p:spPr>
        <p:txBody>
          <a:bodyPr wrap="square" lIns="0" rIns="0" tIns="0" bIns="0" anchor="ctr">
            <a:spAutoFit/>
          </a:bodyPr>
          <a:lstStyle/>
          <a:p>
            <a:pPr algn="ctr"/>
            <a:r>
              <a:rPr sz="1125" b="1" i="0" spc="60">
                <a:solidFill>
                  <a:srgbClr val="111111"/>
                </a:solidFill>
                <a:latin typeface="Geist"/>
                <a:ea typeface="Geist"/>
                <a:cs typeface="Geist"/>
              </a:rPr>
              <a:t>RUNNING</a:t>
            </a:r>
          </a:p>
        </p:txBody>
      </p:sp>
      <p:sp>
        <p:nvSpPr>
          <p:cNvPr id="28" name="Rounded Rectangle 27"/>
          <p:cNvSpPr/>
          <p:nvPr/>
        </p:nvSpPr>
        <p:spPr>
          <a:xfrm>
            <a:off x="4152900" y="3524250"/>
            <a:ext cx="3048000" cy="857250"/>
          </a:xfrm>
          <a:prstGeom prst="roundRect">
            <a:avLst>
              <a:gd name="adj" fmla="val 13333"/>
            </a:avLst>
          </a:prstGeom>
          <a:solidFill>
            <a:srgbClr val="111111"/>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4191000" y="3619500"/>
            <a:ext cx="66675" cy="66675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381500" y="3786188"/>
            <a:ext cx="2705100" cy="321469"/>
          </a:xfrm>
          <a:prstGeom prst="rect">
            <a:avLst/>
          </a:prstGeom>
          <a:noFill/>
        </p:spPr>
        <p:txBody>
          <a:bodyPr wrap="square" lIns="0" rIns="0" tIns="0" bIns="0" anchor="t">
            <a:spAutoFit/>
          </a:bodyPr>
          <a:lstStyle/>
          <a:p>
            <a:pPr algn="l"/>
            <a:r>
              <a:rPr sz="1875" b="1" i="0">
                <a:solidFill>
                  <a:srgbClr val="7C93C3"/>
                </a:solidFill>
                <a:latin typeface="Geist"/>
                <a:ea typeface="Geist"/>
                <a:cs typeface="Geist"/>
              </a:rPr>
              <a:t>?  </a:t>
            </a:r>
            <a:r>
              <a:rPr sz="1875" b="1" i="0">
                <a:solidFill>
                  <a:srgbClr val="F0E8E8"/>
                </a:solidFill>
                <a:latin typeface="Geist"/>
                <a:ea typeface="Geist"/>
                <a:cs typeface="Geist"/>
              </a:rPr>
              <a:t>Fallback</a:t>
            </a:r>
          </a:p>
        </p:txBody>
      </p:sp>
      <p:sp>
        <p:nvSpPr>
          <p:cNvPr id="31" name="Rounded Rectangle 30"/>
          <p:cNvSpPr/>
          <p:nvPr/>
        </p:nvSpPr>
        <p:spPr>
          <a:xfrm>
            <a:off x="6124575" y="3371850"/>
            <a:ext cx="981075" cy="28575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124575" y="3371850"/>
            <a:ext cx="981075" cy="285750"/>
          </a:xfrm>
          <a:prstGeom prst="rect">
            <a:avLst/>
          </a:prstGeom>
          <a:noFill/>
        </p:spPr>
        <p:txBody>
          <a:bodyPr wrap="square" lIns="0" rIns="0" tIns="0" bIns="0" anchor="ctr">
            <a:spAutoFit/>
          </a:bodyPr>
          <a:lstStyle/>
          <a:p>
            <a:pPr algn="ctr"/>
            <a:r>
              <a:rPr sz="1125" b="1" i="0" spc="60">
                <a:solidFill>
                  <a:srgbClr val="111111"/>
                </a:solidFill>
                <a:latin typeface="Geist"/>
                <a:ea typeface="Geist"/>
                <a:cs typeface="Geist"/>
              </a:rPr>
              <a:t>RUNNING</a:t>
            </a:r>
          </a:p>
        </p:txBody>
      </p:sp>
      <p:sp>
        <p:nvSpPr>
          <p:cNvPr id="33" name="TextBox 32"/>
          <p:cNvSpPr txBox="1"/>
          <p:nvPr/>
        </p:nvSpPr>
        <p:spPr>
          <a:xfrm>
            <a:off x="11049000" y="2857500"/>
            <a:ext cx="5715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THE CLOCK</a:t>
            </a:r>
          </a:p>
        </p:txBody>
      </p:sp>
      <p:sp>
        <p:nvSpPr>
          <p:cNvPr id="34" name="TextBox 33"/>
          <p:cNvSpPr txBox="1"/>
          <p:nvPr/>
        </p:nvSpPr>
        <p:spPr>
          <a:xfrm>
            <a:off x="11049000" y="3619500"/>
            <a:ext cx="38100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Aim</a:t>
            </a:r>
          </a:p>
        </p:txBody>
      </p:sp>
      <p:sp>
        <p:nvSpPr>
          <p:cNvPr id="35" name="Rounded Rectangle 34"/>
          <p:cNvSpPr/>
          <p:nvPr/>
        </p:nvSpPr>
        <p:spPr>
          <a:xfrm>
            <a:off x="11049000" y="4095750"/>
            <a:ext cx="3657600" cy="476250"/>
          </a:xfrm>
          <a:prstGeom prst="roundRect">
            <a:avLst>
              <a:gd name="adj" fmla="val 2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1049000" y="4857750"/>
            <a:ext cx="38100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Backup path</a:t>
            </a:r>
          </a:p>
        </p:txBody>
      </p:sp>
      <p:sp>
        <p:nvSpPr>
          <p:cNvPr id="37" name="Rounded Rectangle 36"/>
          <p:cNvSpPr/>
          <p:nvPr/>
        </p:nvSpPr>
        <p:spPr>
          <a:xfrm>
            <a:off x="14706600" y="5334000"/>
            <a:ext cx="2438400" cy="476250"/>
          </a:xfrm>
          <a:prstGeom prst="roundRect">
            <a:avLst>
              <a:gd name="adj" fmla="val 2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11039475" y="6276975"/>
            <a:ext cx="61150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11039475" y="6276975"/>
            <a:ext cx="19050" cy="1333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0668000" y="64770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 s</a:t>
            </a:r>
          </a:p>
        </p:txBody>
      </p:sp>
      <p:sp>
        <p:nvSpPr>
          <p:cNvPr id="41" name="Rectangle 40"/>
          <p:cNvSpPr/>
          <p:nvPr/>
        </p:nvSpPr>
        <p:spPr>
          <a:xfrm>
            <a:off x="12258675" y="6276975"/>
            <a:ext cx="19050" cy="1333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1887200" y="64770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 s</a:t>
            </a:r>
          </a:p>
        </p:txBody>
      </p:sp>
      <p:sp>
        <p:nvSpPr>
          <p:cNvPr id="43" name="Rectangle 42"/>
          <p:cNvSpPr/>
          <p:nvPr/>
        </p:nvSpPr>
        <p:spPr>
          <a:xfrm>
            <a:off x="13477875" y="6276975"/>
            <a:ext cx="19050" cy="1333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3106400" y="64770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 s</a:t>
            </a:r>
          </a:p>
        </p:txBody>
      </p:sp>
      <p:sp>
        <p:nvSpPr>
          <p:cNvPr id="45" name="Rectangle 44"/>
          <p:cNvSpPr/>
          <p:nvPr/>
        </p:nvSpPr>
        <p:spPr>
          <a:xfrm>
            <a:off x="14697075" y="6276975"/>
            <a:ext cx="19050" cy="1333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4325600" y="64770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 s</a:t>
            </a:r>
          </a:p>
        </p:txBody>
      </p:sp>
      <p:sp>
        <p:nvSpPr>
          <p:cNvPr id="47" name="Rectangle 46"/>
          <p:cNvSpPr/>
          <p:nvPr/>
        </p:nvSpPr>
        <p:spPr>
          <a:xfrm>
            <a:off x="15916275" y="6276975"/>
            <a:ext cx="19050" cy="1333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5544800" y="64770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 s</a:t>
            </a:r>
          </a:p>
        </p:txBody>
      </p:sp>
      <p:sp>
        <p:nvSpPr>
          <p:cNvPr id="49" name="Rectangle 48"/>
          <p:cNvSpPr/>
          <p:nvPr/>
        </p:nvSpPr>
        <p:spPr>
          <a:xfrm>
            <a:off x="17135475" y="6276975"/>
            <a:ext cx="19050" cy="1333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6764000" y="64770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5 s</a:t>
            </a:r>
          </a:p>
        </p:txBody>
      </p:sp>
      <p:sp>
        <p:nvSpPr>
          <p:cNvPr id="51" name="Rectangle 50"/>
          <p:cNvSpPr/>
          <p:nvPr/>
        </p:nvSpPr>
        <p:spPr>
          <a:xfrm>
            <a:off x="14692312" y="3414712"/>
            <a:ext cx="28575" cy="2886075"/>
          </a:xfrm>
          <a:prstGeom prst="rect">
            <a:avLst/>
          </a:prstGeom>
          <a:solidFill>
            <a:srgbClr val="EF4444"/>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3277850" y="6858000"/>
            <a:ext cx="2857500" cy="571500"/>
          </a:xfrm>
          <a:prstGeom prst="rect">
            <a:avLst/>
          </a:prstGeom>
          <a:noFill/>
        </p:spPr>
        <p:txBody>
          <a:bodyPr wrap="square" lIns="0" rIns="0" tIns="0" bIns="0" anchor="t">
            <a:spAutoFit/>
          </a:bodyPr>
          <a:lstStyle/>
          <a:p>
            <a:pPr algn="ctr">
              <a:lnSpc>
                <a:spcPct val="120000"/>
              </a:lnSpc>
            </a:pPr>
            <a:r>
              <a:rPr sz="1575" b="1" i="0">
                <a:solidFill>
                  <a:srgbClr val="EF4444"/>
                </a:solidFill>
                <a:latin typeface="Geist"/>
                <a:ea typeface="Geist"/>
                <a:cs typeface="Geist"/>
              </a:rPr>
              <a:t>Time's up: Aim halted, Timeout FAILURE</a:t>
            </a:r>
          </a:p>
        </p:txBody>
      </p:sp>
      <p:sp>
        <p:nvSpPr>
          <p:cNvPr id="53" name="Rounded Rectangle 52"/>
          <p:cNvSpPr/>
          <p:nvPr/>
        </p:nvSpPr>
        <p:spPr>
          <a:xfrm>
            <a:off x="914400" y="80010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4" name="Picture 53" descr="stopwatch.png"/>
          <p:cNvPicPr>
            <a:picLocks noChangeAspect="1"/>
          </p:cNvPicPr>
          <p:nvPr/>
        </p:nvPicPr>
        <p:blipFill>
          <a:blip r:embed="rId3"/>
          <a:stretch>
            <a:fillRect/>
          </a:stretch>
        </p:blipFill>
        <p:spPr>
          <a:xfrm>
            <a:off x="1333500" y="8162925"/>
            <a:ext cx="481781" cy="533400"/>
          </a:xfrm>
          <a:prstGeom prst="rect">
            <a:avLst/>
          </a:prstGeom>
        </p:spPr>
      </p:pic>
      <p:sp>
        <p:nvSpPr>
          <p:cNvPr id="55" name="TextBox 54"/>
          <p:cNvSpPr txBox="1"/>
          <p:nvPr/>
        </p:nvSpPr>
        <p:spPr>
          <a:xfrm>
            <a:off x="2190750" y="800100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Timeout + Fallback:  </a:t>
            </a:r>
            <a:r>
              <a:rPr sz="2100" b="0" i="0">
                <a:solidFill>
                  <a:srgbClr val="F0E8E8"/>
                </a:solidFill>
                <a:latin typeface="Geist"/>
                <a:ea typeface="Geist"/>
                <a:cs typeface="Geist"/>
              </a:rPr>
              <a:t>a step that hangs can no longer stall the whole auto.</a:t>
            </a:r>
          </a:p>
        </p:txBody>
      </p:sp>
      <p:sp>
        <p:nvSpPr>
          <p:cNvPr id="56" name="TextBox 5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7" name="TextBox 5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BEHAVIOR TREES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ParallelDeadline: two things at once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95250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7850" y="4362450"/>
            <a:ext cx="38100" cy="6572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3419475" y="4981575"/>
            <a:ext cx="451485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409950" y="4972050"/>
            <a:ext cx="57150" cy="676275"/>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886700" y="4972050"/>
            <a:ext cx="57150" cy="676275"/>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1628775" y="5619750"/>
            <a:ext cx="3619500" cy="952500"/>
          </a:xfrm>
          <a:prstGeom prst="roundRect">
            <a:avLst>
              <a:gd name="adj" fmla="val 12000"/>
            </a:avLst>
          </a:prstGeom>
          <a:solidFill>
            <a:srgbClr val="111111"/>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1666875" y="5715000"/>
            <a:ext cx="66675" cy="7620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857375" y="5734050"/>
            <a:ext cx="3276600" cy="334328"/>
          </a:xfrm>
          <a:prstGeom prst="rect">
            <a:avLst/>
          </a:prstGeom>
          <a:noFill/>
        </p:spPr>
        <p:txBody>
          <a:bodyPr wrap="square" lIns="0" rIns="0" tIns="0" bIns="0" anchor="t">
            <a:spAutoFit/>
          </a:bodyPr>
          <a:lstStyle/>
          <a:p>
            <a:pPr algn="l"/>
            <a:r>
              <a:rPr sz="1950" b="1" i="0">
                <a:solidFill>
                  <a:srgbClr val="2DD4BF"/>
                </a:solidFill>
                <a:latin typeface="Geist"/>
                <a:ea typeface="Geist"/>
                <a:cs typeface="Geist"/>
              </a:rPr>
              <a:t>▶  </a:t>
            </a:r>
            <a:r>
              <a:rPr sz="1950" b="1" i="0">
                <a:solidFill>
                  <a:srgbClr val="F0E8E8"/>
                </a:solidFill>
                <a:latin typeface="Geist"/>
                <a:ea typeface="Geist"/>
                <a:cs typeface="Geist"/>
              </a:rPr>
              <a:t>FollowPath</a:t>
            </a:r>
          </a:p>
        </p:txBody>
      </p:sp>
      <p:sp>
        <p:nvSpPr>
          <p:cNvPr id="13" name="TextBox 12"/>
          <p:cNvSpPr txBox="1"/>
          <p:nvPr/>
        </p:nvSpPr>
        <p:spPr>
          <a:xfrm>
            <a:off x="1857375" y="6087428"/>
            <a:ext cx="3276600" cy="297180"/>
          </a:xfrm>
          <a:prstGeom prst="rect">
            <a:avLst/>
          </a:prstGeom>
          <a:noFill/>
        </p:spPr>
        <p:txBody>
          <a:bodyPr wrap="square" lIns="0" rIns="0" tIns="0" bIns="0" anchor="t">
            <a:spAutoFit/>
          </a:bodyPr>
          <a:lstStyle/>
          <a:p>
            <a:pPr algn="l"/>
            <a:r>
              <a:rPr sz="1521" b="0" i="0">
                <a:solidFill>
                  <a:srgbClr val="E8C27A"/>
                </a:solidFill>
                <a:latin typeface="Geist Mono"/>
                <a:ea typeface="Geist Mono"/>
                <a:cs typeface="Geist Mono"/>
              </a:rPr>
              <a:t>the deadline</a:t>
            </a:r>
          </a:p>
        </p:txBody>
      </p:sp>
      <p:sp>
        <p:nvSpPr>
          <p:cNvPr id="14" name="Rounded Rectangle 13"/>
          <p:cNvSpPr/>
          <p:nvPr/>
        </p:nvSpPr>
        <p:spPr>
          <a:xfrm>
            <a:off x="4171950" y="5467350"/>
            <a:ext cx="981075" cy="28575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71950" y="5467350"/>
            <a:ext cx="981075" cy="285750"/>
          </a:xfrm>
          <a:prstGeom prst="rect">
            <a:avLst/>
          </a:prstGeom>
          <a:noFill/>
        </p:spPr>
        <p:txBody>
          <a:bodyPr wrap="square" lIns="0" rIns="0" tIns="0" bIns="0" anchor="ctr">
            <a:spAutoFit/>
          </a:bodyPr>
          <a:lstStyle/>
          <a:p>
            <a:pPr algn="ctr"/>
            <a:r>
              <a:rPr sz="1125" b="1" i="0" spc="60">
                <a:solidFill>
                  <a:srgbClr val="111111"/>
                </a:solidFill>
                <a:latin typeface="Geist"/>
                <a:ea typeface="Geist"/>
                <a:cs typeface="Geist"/>
              </a:rPr>
              <a:t>RUNNING</a:t>
            </a:r>
          </a:p>
        </p:txBody>
      </p:sp>
      <p:sp>
        <p:nvSpPr>
          <p:cNvPr id="16" name="Rounded Rectangle 15"/>
          <p:cNvSpPr/>
          <p:nvPr/>
        </p:nvSpPr>
        <p:spPr>
          <a:xfrm>
            <a:off x="6105525" y="5619750"/>
            <a:ext cx="3619500" cy="952500"/>
          </a:xfrm>
          <a:prstGeom prst="roundRect">
            <a:avLst>
              <a:gd name="adj" fmla="val 12000"/>
            </a:avLst>
          </a:prstGeom>
          <a:solidFill>
            <a:srgbClr val="111111"/>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143625" y="5715000"/>
            <a:ext cx="66675" cy="7620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34125" y="5734050"/>
            <a:ext cx="3276600" cy="334328"/>
          </a:xfrm>
          <a:prstGeom prst="rect">
            <a:avLst/>
          </a:prstGeom>
          <a:noFill/>
        </p:spPr>
        <p:txBody>
          <a:bodyPr wrap="square" lIns="0" rIns="0" tIns="0" bIns="0" anchor="t">
            <a:spAutoFit/>
          </a:bodyPr>
          <a:lstStyle/>
          <a:p>
            <a:pPr algn="l"/>
            <a:r>
              <a:rPr sz="1950" b="1" i="0">
                <a:solidFill>
                  <a:srgbClr val="2DD4BF"/>
                </a:solidFill>
                <a:latin typeface="Geist"/>
                <a:ea typeface="Geist"/>
                <a:cs typeface="Geist"/>
              </a:rPr>
              <a:t>▶  </a:t>
            </a:r>
            <a:r>
              <a:rPr sz="1950" b="1" i="0">
                <a:solidFill>
                  <a:srgbClr val="F0E8E8"/>
                </a:solidFill>
                <a:latin typeface="Geist"/>
                <a:ea typeface="Geist"/>
                <a:cs typeface="Geist"/>
              </a:rPr>
              <a:t>Intake on event</a:t>
            </a:r>
          </a:p>
        </p:txBody>
      </p:sp>
      <p:sp>
        <p:nvSpPr>
          <p:cNvPr id="19" name="TextBox 18"/>
          <p:cNvSpPr txBox="1"/>
          <p:nvPr/>
        </p:nvSpPr>
        <p:spPr>
          <a:xfrm>
            <a:off x="6334125" y="6087428"/>
            <a:ext cx="3276600" cy="297180"/>
          </a:xfrm>
          <a:prstGeom prst="rect">
            <a:avLst/>
          </a:prstGeom>
          <a:noFill/>
        </p:spPr>
        <p:txBody>
          <a:bodyPr wrap="square" lIns="0" rIns="0" tIns="0" bIns="0" anchor="t">
            <a:spAutoFit/>
          </a:bodyPr>
          <a:lstStyle/>
          <a:p>
            <a:pPr algn="l"/>
            <a:r>
              <a:rPr sz="1521" b="0" i="0">
                <a:solidFill>
                  <a:srgbClr val="E8C27A"/>
                </a:solidFill>
                <a:latin typeface="Geist Mono"/>
                <a:ea typeface="Geist Mono"/>
                <a:cs typeface="Geist Mono"/>
              </a:rPr>
              <a:t>Intake Out</a:t>
            </a:r>
          </a:p>
        </p:txBody>
      </p:sp>
      <p:sp>
        <p:nvSpPr>
          <p:cNvPr id="20" name="Rounded Rectangle 19"/>
          <p:cNvSpPr/>
          <p:nvPr/>
        </p:nvSpPr>
        <p:spPr>
          <a:xfrm>
            <a:off x="8648700" y="5467350"/>
            <a:ext cx="981075" cy="28575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648700" y="5467350"/>
            <a:ext cx="981075" cy="285750"/>
          </a:xfrm>
          <a:prstGeom prst="rect">
            <a:avLst/>
          </a:prstGeom>
          <a:noFill/>
        </p:spPr>
        <p:txBody>
          <a:bodyPr wrap="square" lIns="0" rIns="0" tIns="0" bIns="0" anchor="ctr">
            <a:spAutoFit/>
          </a:bodyPr>
          <a:lstStyle/>
          <a:p>
            <a:pPr algn="ctr"/>
            <a:r>
              <a:rPr sz="1125" b="1" i="0" spc="60">
                <a:solidFill>
                  <a:srgbClr val="111111"/>
                </a:solidFill>
                <a:latin typeface="Geist"/>
                <a:ea typeface="Geist"/>
                <a:cs typeface="Geist"/>
              </a:rPr>
              <a:t>RUNNING</a:t>
            </a:r>
          </a:p>
        </p:txBody>
      </p:sp>
      <p:sp>
        <p:nvSpPr>
          <p:cNvPr id="22" name="Rounded Rectangle 21"/>
          <p:cNvSpPr/>
          <p:nvPr/>
        </p:nvSpPr>
        <p:spPr>
          <a:xfrm>
            <a:off x="3867150" y="3429000"/>
            <a:ext cx="3619500" cy="952500"/>
          </a:xfrm>
          <a:prstGeom prst="roundRect">
            <a:avLst>
              <a:gd name="adj" fmla="val 12000"/>
            </a:avLst>
          </a:prstGeom>
          <a:solidFill>
            <a:srgbClr val="111111"/>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3905250" y="3524250"/>
            <a:ext cx="66675" cy="76200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095750" y="3731895"/>
            <a:ext cx="3276600" cy="334328"/>
          </a:xfrm>
          <a:prstGeom prst="rect">
            <a:avLst/>
          </a:prstGeom>
          <a:noFill/>
        </p:spPr>
        <p:txBody>
          <a:bodyPr wrap="square" lIns="0" rIns="0" tIns="0" bIns="0" anchor="t">
            <a:spAutoFit/>
          </a:bodyPr>
          <a:lstStyle/>
          <a:p>
            <a:pPr algn="l"/>
            <a:r>
              <a:rPr sz="1950" b="1" i="0">
                <a:solidFill>
                  <a:srgbClr val="7C93C3"/>
                </a:solidFill>
                <a:latin typeface="Geist"/>
                <a:ea typeface="Geist"/>
                <a:cs typeface="Geist"/>
              </a:rPr>
              <a:t>⇉  </a:t>
            </a:r>
            <a:r>
              <a:rPr sz="1950" b="1" i="0">
                <a:solidFill>
                  <a:srgbClr val="F0E8E8"/>
                </a:solidFill>
                <a:latin typeface="Geist"/>
                <a:ea typeface="Geist"/>
                <a:cs typeface="Geist"/>
              </a:rPr>
              <a:t>ParallelDeadline</a:t>
            </a:r>
          </a:p>
        </p:txBody>
      </p:sp>
      <p:sp>
        <p:nvSpPr>
          <p:cNvPr id="25" name="Rounded Rectangle 24"/>
          <p:cNvSpPr/>
          <p:nvPr/>
        </p:nvSpPr>
        <p:spPr>
          <a:xfrm>
            <a:off x="6410325" y="3276600"/>
            <a:ext cx="981075" cy="28575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410325" y="3276600"/>
            <a:ext cx="981075" cy="285750"/>
          </a:xfrm>
          <a:prstGeom prst="rect">
            <a:avLst/>
          </a:prstGeom>
          <a:noFill/>
        </p:spPr>
        <p:txBody>
          <a:bodyPr wrap="square" lIns="0" rIns="0" tIns="0" bIns="0" anchor="ctr">
            <a:spAutoFit/>
          </a:bodyPr>
          <a:lstStyle/>
          <a:p>
            <a:pPr algn="ctr"/>
            <a:r>
              <a:rPr sz="1125" b="1" i="0" spc="60">
                <a:solidFill>
                  <a:srgbClr val="111111"/>
                </a:solidFill>
                <a:latin typeface="Geist"/>
                <a:ea typeface="Geist"/>
                <a:cs typeface="Geist"/>
              </a:rPr>
              <a:t>RUNNING</a:t>
            </a:r>
          </a:p>
        </p:txBody>
      </p:sp>
      <p:sp>
        <p:nvSpPr>
          <p:cNvPr id="27" name="TextBox 26"/>
          <p:cNvSpPr txBox="1"/>
          <p:nvPr/>
        </p:nvSpPr>
        <p:spPr>
          <a:xfrm>
            <a:off x="1295400" y="7620000"/>
            <a:ext cx="8763000" cy="762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Both tick together. When FollowPath finishes, Intake on event is halted.</a:t>
            </a:r>
          </a:p>
        </p:txBody>
      </p:sp>
      <p:sp>
        <p:nvSpPr>
          <p:cNvPr id="28" name="Oval 27"/>
          <p:cNvSpPr/>
          <p:nvPr/>
        </p:nvSpPr>
        <p:spPr>
          <a:xfrm>
            <a:off x="109537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9537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0" name="TextBox 29"/>
          <p:cNvSpPr txBox="1"/>
          <p:nvPr/>
        </p:nvSpPr>
        <p:spPr>
          <a:xfrm>
            <a:off x="11563350" y="2819400"/>
            <a:ext cx="5810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All children together</a:t>
            </a:r>
          </a:p>
        </p:txBody>
      </p:sp>
      <p:sp>
        <p:nvSpPr>
          <p:cNvPr id="31" name="TextBox 30"/>
          <p:cNvSpPr txBox="1"/>
          <p:nvPr/>
        </p:nvSpPr>
        <p:spPr>
          <a:xfrm>
            <a:off x="11563350" y="3238500"/>
            <a:ext cx="5810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Every tick, every child</a:t>
            </a:r>
          </a:p>
        </p:txBody>
      </p:sp>
      <p:sp>
        <p:nvSpPr>
          <p:cNvPr id="32" name="Oval 31"/>
          <p:cNvSpPr/>
          <p:nvPr/>
        </p:nvSpPr>
        <p:spPr>
          <a:xfrm>
            <a:off x="10953750" y="4476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53750" y="4476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4" name="TextBox 33"/>
          <p:cNvSpPr txBox="1"/>
          <p:nvPr/>
        </p:nvSpPr>
        <p:spPr>
          <a:xfrm>
            <a:off x="11563350" y="4438650"/>
            <a:ext cx="5810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first is the deadline</a:t>
            </a:r>
          </a:p>
        </p:txBody>
      </p:sp>
      <p:sp>
        <p:nvSpPr>
          <p:cNvPr id="35" name="TextBox 34"/>
          <p:cNvSpPr txBox="1"/>
          <p:nvPr/>
        </p:nvSpPr>
        <p:spPr>
          <a:xfrm>
            <a:off x="11563350" y="4857750"/>
            <a:ext cx="5810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When it ends, the rest are halted</a:t>
            </a:r>
          </a:p>
        </p:txBody>
      </p:sp>
      <p:sp>
        <p:nvSpPr>
          <p:cNvPr id="36" name="Oval 35"/>
          <p:cNvSpPr/>
          <p:nvPr/>
        </p:nvSpPr>
        <p:spPr>
          <a:xfrm>
            <a:off x="10953750" y="6096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953750" y="6096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8" name="TextBox 37"/>
          <p:cNvSpPr txBox="1"/>
          <p:nvPr/>
        </p:nvSpPr>
        <p:spPr>
          <a:xfrm>
            <a:off x="11563350" y="6057900"/>
            <a:ext cx="5810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Its answer counts</a:t>
            </a:r>
          </a:p>
        </p:txBody>
      </p:sp>
      <p:sp>
        <p:nvSpPr>
          <p:cNvPr id="39" name="TextBox 38"/>
          <p:cNvSpPr txBox="1"/>
          <p:nvPr/>
        </p:nvSpPr>
        <p:spPr>
          <a:xfrm>
            <a:off x="11563350" y="6477000"/>
            <a:ext cx="5810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node answers with the deadline's result</a:t>
            </a:r>
          </a:p>
        </p:txBody>
      </p:sp>
      <p:sp>
        <p:nvSpPr>
          <p:cNvPr id="40" name="TextBox 3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1" name="TextBox 4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05</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Arbor</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Building the tree: it asks the robot for states, and drives the paths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32</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The tree asks. RobotContainer does the work. Teamwork!</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ARBOR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Arbor?</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85725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The editor for our autonomous routines</a:t>
            </a:r>
          </a:p>
        </p:txBody>
      </p:sp>
      <p:sp>
        <p:nvSpPr>
          <p:cNvPr id="6" name="TextBox 5"/>
          <p:cNvSpPr txBox="1"/>
          <p:nvPr/>
        </p:nvSpPr>
        <p:spPr>
          <a:xfrm>
            <a:off x="914400" y="3514725"/>
            <a:ext cx="85725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An auto is a behavior tree: steps the robot works through</a:t>
            </a:r>
          </a:p>
        </p:txBody>
      </p:sp>
      <p:sp>
        <p:nvSpPr>
          <p:cNvPr id="7" name="TextBox 6"/>
          <p:cNvSpPr txBox="1"/>
          <p:nvPr/>
        </p:nvSpPr>
        <p:spPr>
          <a:xfrm>
            <a:off x="914400" y="4171950"/>
            <a:ext cx="85725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Saved as an XML file the robot runs</a:t>
            </a:r>
          </a:p>
        </p:txBody>
      </p:sp>
      <p:sp>
        <p:nvSpPr>
          <p:cNvPr id="8" name="TextBox 7"/>
          <p:cNvSpPr txBox="1"/>
          <p:nvPr/>
        </p:nvSpPr>
        <p:spPr>
          <a:xfrm>
            <a:off x="914400" y="4829175"/>
            <a:ext cx="85725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Watch it run live, and replay a run afterwards</a:t>
            </a:r>
          </a:p>
        </p:txBody>
      </p:sp>
      <p:sp>
        <p:nvSpPr>
          <p:cNvPr id="9" name="Rounded Rectangle 8"/>
          <p:cNvSpPr/>
          <p:nvPr/>
        </p:nvSpPr>
        <p:spPr>
          <a:xfrm>
            <a:off x="10287000" y="2857500"/>
            <a:ext cx="708660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arbor-logo.png"/>
          <p:cNvPicPr>
            <a:picLocks noChangeAspect="1"/>
          </p:cNvPicPr>
          <p:nvPr/>
        </p:nvPicPr>
        <p:blipFill>
          <a:blip r:embed="rId3"/>
          <a:stretch>
            <a:fillRect/>
          </a:stretch>
        </p:blipFill>
        <p:spPr>
          <a:xfrm>
            <a:off x="12782550" y="3238500"/>
            <a:ext cx="2117912" cy="2095500"/>
          </a:xfrm>
          <a:prstGeom prst="rect">
            <a:avLst/>
          </a:prstGeom>
        </p:spPr>
      </p:pic>
      <p:pic>
        <p:nvPicPr>
          <p:cNvPr id="11" name="Picture 10" descr="arbor-wordmark.png"/>
          <p:cNvPicPr>
            <a:picLocks noChangeAspect="1"/>
          </p:cNvPicPr>
          <p:nvPr/>
        </p:nvPicPr>
        <p:blipFill>
          <a:blip r:embed="rId4"/>
          <a:stretch>
            <a:fillRect/>
          </a:stretch>
        </p:blipFill>
        <p:spPr>
          <a:xfrm>
            <a:off x="12211050" y="5619750"/>
            <a:ext cx="3238500" cy="596665"/>
          </a:xfrm>
          <a:prstGeom prst="rect">
            <a:avLst/>
          </a:prstGeom>
        </p:spPr>
      </p:pic>
      <p:sp>
        <p:nvSpPr>
          <p:cNvPr id="12" name="Rounded Rectangle 11"/>
          <p:cNvSpPr/>
          <p:nvPr/>
        </p:nvSpPr>
        <p:spPr>
          <a:xfrm>
            <a:off x="914400" y="7429500"/>
            <a:ext cx="4978400" cy="1333500"/>
          </a:xfrm>
          <a:prstGeom prst="roundRect">
            <a:avLst>
              <a:gd name="adj" fmla="val 1142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9650" y="7620000"/>
            <a:ext cx="47879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Choreo</a:t>
            </a:r>
          </a:p>
        </p:txBody>
      </p:sp>
      <p:sp>
        <p:nvSpPr>
          <p:cNvPr id="14" name="TextBox 13"/>
          <p:cNvSpPr txBox="1"/>
          <p:nvPr/>
        </p:nvSpPr>
        <p:spPr>
          <a:xfrm>
            <a:off x="1066800" y="8210550"/>
            <a:ext cx="4673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Draws the paths</a:t>
            </a:r>
          </a:p>
        </p:txBody>
      </p:sp>
      <p:sp>
        <p:nvSpPr>
          <p:cNvPr id="15" name="Rectangle 14"/>
          <p:cNvSpPr/>
          <p:nvPr/>
        </p:nvSpPr>
        <p:spPr>
          <a:xfrm>
            <a:off x="5954712" y="8081962"/>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sosceles Triangle 15"/>
          <p:cNvSpPr/>
          <p:nvPr/>
        </p:nvSpPr>
        <p:spPr>
          <a:xfrm rot="5400000">
            <a:off x="6426200" y="80200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654800" y="7429500"/>
            <a:ext cx="4978400" cy="1333500"/>
          </a:xfrm>
          <a:prstGeom prst="roundRect">
            <a:avLst>
              <a:gd name="adj" fmla="val 11428"/>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750050" y="7620000"/>
            <a:ext cx="47879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Arbor</a:t>
            </a:r>
          </a:p>
        </p:txBody>
      </p:sp>
      <p:sp>
        <p:nvSpPr>
          <p:cNvPr id="19" name="TextBox 18"/>
          <p:cNvSpPr txBox="1"/>
          <p:nvPr/>
        </p:nvSpPr>
        <p:spPr>
          <a:xfrm>
            <a:off x="6807200" y="8210550"/>
            <a:ext cx="4673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Builds the routine</a:t>
            </a:r>
          </a:p>
        </p:txBody>
      </p:sp>
      <p:sp>
        <p:nvSpPr>
          <p:cNvPr id="20" name="Rectangle 19"/>
          <p:cNvSpPr/>
          <p:nvPr/>
        </p:nvSpPr>
        <p:spPr>
          <a:xfrm>
            <a:off x="11695112" y="8081962"/>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rot="5400000">
            <a:off x="12166600" y="80200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2395200" y="7429500"/>
            <a:ext cx="4978400" cy="1333500"/>
          </a:xfrm>
          <a:prstGeom prst="roundRect">
            <a:avLst>
              <a:gd name="adj" fmla="val 1142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2490450" y="7620000"/>
            <a:ext cx="47879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Robot</a:t>
            </a:r>
          </a:p>
        </p:txBody>
      </p:sp>
      <p:sp>
        <p:nvSpPr>
          <p:cNvPr id="24" name="TextBox 23"/>
          <p:cNvSpPr txBox="1"/>
          <p:nvPr/>
        </p:nvSpPr>
        <p:spPr>
          <a:xfrm>
            <a:off x="12547600" y="8210550"/>
            <a:ext cx="4673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Runs the XML file</a:t>
            </a:r>
          </a:p>
        </p:txBody>
      </p:sp>
      <p:sp>
        <p:nvSpPr>
          <p:cNvPr id="25" name="TextBox 2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6" name="TextBox 2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ARBOR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Arbor window</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57500"/>
            <a:ext cx="9243391" cy="59055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hot_ar_editor.png"/>
          <p:cNvPicPr>
            <a:picLocks noChangeAspect="1"/>
          </p:cNvPicPr>
          <p:nvPr/>
        </p:nvPicPr>
        <p:blipFill>
          <a:blip r:embed="rId3"/>
          <a:stretch>
            <a:fillRect/>
          </a:stretch>
        </p:blipFill>
        <p:spPr>
          <a:xfrm>
            <a:off x="914400" y="2857500"/>
            <a:ext cx="9243391" cy="5905500"/>
          </a:xfrm>
          <a:prstGeom prst="rect">
            <a:avLst/>
          </a:prstGeom>
        </p:spPr>
      </p:pic>
      <p:sp>
        <p:nvSpPr>
          <p:cNvPr id="7" name="Rectangle 6"/>
          <p:cNvSpPr/>
          <p:nvPr/>
        </p:nvSpPr>
        <p:spPr>
          <a:xfrm>
            <a:off x="914400" y="2857500"/>
            <a:ext cx="9243391" cy="59055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757570" y="2945793"/>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57570" y="2945793"/>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0" name="Oval 9"/>
          <p:cNvSpPr/>
          <p:nvPr/>
        </p:nvSpPr>
        <p:spPr>
          <a:xfrm>
            <a:off x="1757570" y="4008783"/>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57570" y="4008783"/>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2" name="Oval 11"/>
          <p:cNvSpPr/>
          <p:nvPr/>
        </p:nvSpPr>
        <p:spPr>
          <a:xfrm>
            <a:off x="5121137" y="4188515"/>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1137" y="418851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4" name="Oval 13"/>
          <p:cNvSpPr/>
          <p:nvPr/>
        </p:nvSpPr>
        <p:spPr>
          <a:xfrm>
            <a:off x="8715789" y="3752022"/>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15789" y="3752022"/>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6" name="Oval 15"/>
          <p:cNvSpPr/>
          <p:nvPr/>
        </p:nvSpPr>
        <p:spPr>
          <a:xfrm>
            <a:off x="3375163" y="7444243"/>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75163" y="7444243"/>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18" name="Oval 17"/>
          <p:cNvSpPr/>
          <p:nvPr/>
        </p:nvSpPr>
        <p:spPr>
          <a:xfrm>
            <a:off x="107632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63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0" name="TextBox 19"/>
          <p:cNvSpPr txBox="1"/>
          <p:nvPr/>
        </p:nvSpPr>
        <p:spPr>
          <a:xfrm>
            <a:off x="11372850" y="2819400"/>
            <a:ext cx="6000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Trees</a:t>
            </a:r>
          </a:p>
        </p:txBody>
      </p:sp>
      <p:sp>
        <p:nvSpPr>
          <p:cNvPr id="21" name="TextBox 20"/>
          <p:cNvSpPr txBox="1"/>
          <p:nvPr/>
        </p:nvSpPr>
        <p:spPr>
          <a:xfrm>
            <a:off x="11372850" y="3238500"/>
            <a:ext cx="6000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Your tree files. + New tree makes one</a:t>
            </a:r>
          </a:p>
        </p:txBody>
      </p:sp>
      <p:sp>
        <p:nvSpPr>
          <p:cNvPr id="22" name="Oval 21"/>
          <p:cNvSpPr/>
          <p:nvPr/>
        </p:nvSpPr>
        <p:spPr>
          <a:xfrm>
            <a:off x="10763250" y="40386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763250" y="40386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4" name="TextBox 23"/>
          <p:cNvSpPr txBox="1"/>
          <p:nvPr/>
        </p:nvSpPr>
        <p:spPr>
          <a:xfrm>
            <a:off x="11372850" y="4000500"/>
            <a:ext cx="6000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Nodes</a:t>
            </a:r>
          </a:p>
        </p:txBody>
      </p:sp>
      <p:sp>
        <p:nvSpPr>
          <p:cNvPr id="25" name="TextBox 24"/>
          <p:cNvSpPr txBox="1"/>
          <p:nvPr/>
        </p:nvSpPr>
        <p:spPr>
          <a:xfrm>
            <a:off x="11372850" y="4419600"/>
            <a:ext cx="6000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Every step you can use</a:t>
            </a:r>
          </a:p>
        </p:txBody>
      </p:sp>
      <p:sp>
        <p:nvSpPr>
          <p:cNvPr id="26" name="Oval 25"/>
          <p:cNvSpPr/>
          <p:nvPr/>
        </p:nvSpPr>
        <p:spPr>
          <a:xfrm>
            <a:off x="10763250" y="52197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763250" y="52197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8" name="TextBox 27"/>
          <p:cNvSpPr txBox="1"/>
          <p:nvPr/>
        </p:nvSpPr>
        <p:spPr>
          <a:xfrm>
            <a:off x="11372850" y="5181600"/>
            <a:ext cx="6000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Canvas</a:t>
            </a:r>
          </a:p>
        </p:txBody>
      </p:sp>
      <p:sp>
        <p:nvSpPr>
          <p:cNvPr id="29" name="TextBox 28"/>
          <p:cNvSpPr txBox="1"/>
          <p:nvPr/>
        </p:nvSpPr>
        <p:spPr>
          <a:xfrm>
            <a:off x="11372850" y="5600700"/>
            <a:ext cx="6000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tree. Click a node to select it</a:t>
            </a:r>
          </a:p>
        </p:txBody>
      </p:sp>
      <p:sp>
        <p:nvSpPr>
          <p:cNvPr id="30" name="Oval 29"/>
          <p:cNvSpPr/>
          <p:nvPr/>
        </p:nvSpPr>
        <p:spPr>
          <a:xfrm>
            <a:off x="10763250" y="64008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763250" y="64008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2" name="TextBox 31"/>
          <p:cNvSpPr txBox="1"/>
          <p:nvPr/>
        </p:nvSpPr>
        <p:spPr>
          <a:xfrm>
            <a:off x="11372850" y="6362700"/>
            <a:ext cx="6000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Ports</a:t>
            </a:r>
          </a:p>
        </p:txBody>
      </p:sp>
      <p:sp>
        <p:nvSpPr>
          <p:cNvPr id="33" name="TextBox 32"/>
          <p:cNvSpPr txBox="1"/>
          <p:nvPr/>
        </p:nvSpPr>
        <p:spPr>
          <a:xfrm>
            <a:off x="11372850" y="6781800"/>
            <a:ext cx="6000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selected node's settings</a:t>
            </a:r>
          </a:p>
        </p:txBody>
      </p:sp>
      <p:sp>
        <p:nvSpPr>
          <p:cNvPr id="34" name="Oval 33"/>
          <p:cNvSpPr/>
          <p:nvPr/>
        </p:nvSpPr>
        <p:spPr>
          <a:xfrm>
            <a:off x="10763250" y="75819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763250" y="75819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36" name="TextBox 35"/>
          <p:cNvSpPr txBox="1"/>
          <p:nvPr/>
        </p:nvSpPr>
        <p:spPr>
          <a:xfrm>
            <a:off x="11372850" y="7543800"/>
            <a:ext cx="6000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Problems, XML, Live log</a:t>
            </a:r>
          </a:p>
        </p:txBody>
      </p:sp>
      <p:sp>
        <p:nvSpPr>
          <p:cNvPr id="37" name="TextBox 36"/>
          <p:cNvSpPr txBox="1"/>
          <p:nvPr/>
        </p:nvSpPr>
        <p:spPr>
          <a:xfrm>
            <a:off x="11372850" y="7962900"/>
            <a:ext cx="6000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Mistakes, the saved file, the robot</a:t>
            </a:r>
          </a:p>
        </p:txBody>
      </p:sp>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ARBOR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Ports: a node's settings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952750"/>
            <a:ext cx="4953000" cy="990600"/>
          </a:xfrm>
          <a:prstGeom prst="roundRect">
            <a:avLst>
              <a:gd name="adj" fmla="val 115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952500" y="3048000"/>
            <a:ext cx="66675" cy="8001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43000" y="3067050"/>
            <a:ext cx="4610100" cy="360045"/>
          </a:xfrm>
          <a:prstGeom prst="rect">
            <a:avLst/>
          </a:prstGeom>
          <a:noFill/>
        </p:spPr>
        <p:txBody>
          <a:bodyPr wrap="square" lIns="0" rIns="0" tIns="0" bIns="0" anchor="t">
            <a:spAutoFit/>
          </a:bodyPr>
          <a:lstStyle/>
          <a:p>
            <a:pPr algn="l"/>
            <a:r>
              <a:rPr sz="2100" b="1" i="0">
                <a:solidFill>
                  <a:srgbClr val="2DD4BF"/>
                </a:solidFill>
                <a:latin typeface="Geist"/>
                <a:ea typeface="Geist"/>
                <a:cs typeface="Geist"/>
              </a:rPr>
              <a:t>▶  </a:t>
            </a:r>
            <a:r>
              <a:rPr sz="2100" b="1" i="0">
                <a:solidFill>
                  <a:srgbClr val="F0E8E8"/>
                </a:solidFill>
                <a:latin typeface="Geist"/>
                <a:ea typeface="Geist"/>
                <a:cs typeface="Geist"/>
              </a:rPr>
              <a:t>SetWantedState</a:t>
            </a:r>
          </a:p>
        </p:txBody>
      </p:sp>
      <p:sp>
        <p:nvSpPr>
          <p:cNvPr id="8" name="TextBox 7"/>
          <p:cNvSpPr txBox="1"/>
          <p:nvPr/>
        </p:nvSpPr>
        <p:spPr>
          <a:xfrm>
            <a:off x="1143000" y="3446145"/>
            <a:ext cx="4610100" cy="320040"/>
          </a:xfrm>
          <a:prstGeom prst="rect">
            <a:avLst/>
          </a:prstGeom>
          <a:noFill/>
        </p:spPr>
        <p:txBody>
          <a:bodyPr wrap="square" lIns="0" rIns="0" tIns="0" bIns="0" anchor="t">
            <a:spAutoFit/>
          </a:bodyPr>
          <a:lstStyle/>
          <a:p>
            <a:pPr algn="l"/>
            <a:r>
              <a:rPr sz="1638" b="0" i="0">
                <a:solidFill>
                  <a:srgbClr val="E8C27A"/>
                </a:solidFill>
                <a:latin typeface="Geist Mono"/>
                <a:ea typeface="Geist Mono"/>
                <a:cs typeface="Geist Mono"/>
              </a:rPr>
              <a:t>state = AIM</a:t>
            </a:r>
          </a:p>
        </p:txBody>
      </p:sp>
      <p:sp>
        <p:nvSpPr>
          <p:cNvPr id="9" name="TextBox 8"/>
          <p:cNvSpPr txBox="1"/>
          <p:nvPr/>
        </p:nvSpPr>
        <p:spPr>
          <a:xfrm>
            <a:off x="6286500" y="2952750"/>
            <a:ext cx="4191000" cy="99060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Which robot state to ask for</a:t>
            </a:r>
          </a:p>
        </p:txBody>
      </p:sp>
      <p:sp>
        <p:nvSpPr>
          <p:cNvPr id="10" name="Rounded Rectangle 9"/>
          <p:cNvSpPr/>
          <p:nvPr/>
        </p:nvSpPr>
        <p:spPr>
          <a:xfrm>
            <a:off x="914400" y="4381500"/>
            <a:ext cx="4953000" cy="990600"/>
          </a:xfrm>
          <a:prstGeom prst="roundRect">
            <a:avLst>
              <a:gd name="adj" fmla="val 115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952500" y="4476750"/>
            <a:ext cx="66675" cy="8001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43000" y="4495800"/>
            <a:ext cx="4610100" cy="360045"/>
          </a:xfrm>
          <a:prstGeom prst="rect">
            <a:avLst/>
          </a:prstGeom>
          <a:noFill/>
        </p:spPr>
        <p:txBody>
          <a:bodyPr wrap="square" lIns="0" rIns="0" tIns="0" bIns="0" anchor="t">
            <a:spAutoFit/>
          </a:bodyPr>
          <a:lstStyle/>
          <a:p>
            <a:pPr algn="l"/>
            <a:r>
              <a:rPr sz="2100" b="1" i="0">
                <a:solidFill>
                  <a:srgbClr val="2DD4BF"/>
                </a:solidFill>
                <a:latin typeface="Geist"/>
                <a:ea typeface="Geist"/>
                <a:cs typeface="Geist"/>
              </a:rPr>
              <a:t>▶  </a:t>
            </a:r>
            <a:r>
              <a:rPr sz="2100" b="1" i="0">
                <a:solidFill>
                  <a:srgbClr val="F0E8E8"/>
                </a:solidFill>
                <a:latin typeface="Geist"/>
                <a:ea typeface="Geist"/>
                <a:cs typeface="Geist"/>
              </a:rPr>
              <a:t>FollowPath</a:t>
            </a:r>
          </a:p>
        </p:txBody>
      </p:sp>
      <p:sp>
        <p:nvSpPr>
          <p:cNvPr id="13" name="TextBox 12"/>
          <p:cNvSpPr txBox="1"/>
          <p:nvPr/>
        </p:nvSpPr>
        <p:spPr>
          <a:xfrm>
            <a:off x="1143000" y="4874895"/>
            <a:ext cx="4610100" cy="320040"/>
          </a:xfrm>
          <a:prstGeom prst="rect">
            <a:avLst/>
          </a:prstGeom>
          <a:noFill/>
        </p:spPr>
        <p:txBody>
          <a:bodyPr wrap="square" lIns="0" rIns="0" tIns="0" bIns="0" anchor="t">
            <a:spAutoFit/>
          </a:bodyPr>
          <a:lstStyle/>
          <a:p>
            <a:pPr algn="l"/>
            <a:r>
              <a:rPr sz="1638" b="0" i="0">
                <a:solidFill>
                  <a:srgbClr val="E8C27A"/>
                </a:solidFill>
                <a:latin typeface="Geist Mono"/>
                <a:ea typeface="Geist Mono"/>
                <a:cs typeface="Geist Mono"/>
              </a:rPr>
              <a:t>trajectory = ToScore</a:t>
            </a:r>
          </a:p>
        </p:txBody>
      </p:sp>
      <p:sp>
        <p:nvSpPr>
          <p:cNvPr id="14" name="TextBox 13"/>
          <p:cNvSpPr txBox="1"/>
          <p:nvPr/>
        </p:nvSpPr>
        <p:spPr>
          <a:xfrm>
            <a:off x="6286500" y="4381500"/>
            <a:ext cx="4191000" cy="99060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A Choreo path, by its exact name</a:t>
            </a:r>
          </a:p>
        </p:txBody>
      </p:sp>
      <p:sp>
        <p:nvSpPr>
          <p:cNvPr id="15" name="Rounded Rectangle 14"/>
          <p:cNvSpPr/>
          <p:nvPr/>
        </p:nvSpPr>
        <p:spPr>
          <a:xfrm>
            <a:off x="914400" y="5810250"/>
            <a:ext cx="4953000" cy="990600"/>
          </a:xfrm>
          <a:prstGeom prst="roundRect">
            <a:avLst>
              <a:gd name="adj" fmla="val 115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952500" y="5905500"/>
            <a:ext cx="66675" cy="8001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143000" y="5924550"/>
            <a:ext cx="4610100" cy="360045"/>
          </a:xfrm>
          <a:prstGeom prst="rect">
            <a:avLst/>
          </a:prstGeom>
          <a:noFill/>
        </p:spPr>
        <p:txBody>
          <a:bodyPr wrap="square" lIns="0" rIns="0" tIns="0" bIns="0" anchor="t">
            <a:spAutoFit/>
          </a:bodyPr>
          <a:lstStyle/>
          <a:p>
            <a:pPr algn="l"/>
            <a:r>
              <a:rPr sz="2100" b="1" i="0">
                <a:solidFill>
                  <a:srgbClr val="2DD4BF"/>
                </a:solidFill>
                <a:latin typeface="Geist"/>
                <a:ea typeface="Geist"/>
                <a:cs typeface="Geist"/>
              </a:rPr>
              <a:t>▶  </a:t>
            </a:r>
            <a:r>
              <a:rPr sz="2100" b="1" i="0">
                <a:solidFill>
                  <a:srgbClr val="F0E8E8"/>
                </a:solidFill>
                <a:latin typeface="Geist"/>
                <a:ea typeface="Geist"/>
                <a:cs typeface="Geist"/>
              </a:rPr>
              <a:t>Sleep</a:t>
            </a:r>
          </a:p>
        </p:txBody>
      </p:sp>
      <p:sp>
        <p:nvSpPr>
          <p:cNvPr id="18" name="TextBox 17"/>
          <p:cNvSpPr txBox="1"/>
          <p:nvPr/>
        </p:nvSpPr>
        <p:spPr>
          <a:xfrm>
            <a:off x="1143000" y="6303645"/>
            <a:ext cx="4610100" cy="320040"/>
          </a:xfrm>
          <a:prstGeom prst="rect">
            <a:avLst/>
          </a:prstGeom>
          <a:noFill/>
        </p:spPr>
        <p:txBody>
          <a:bodyPr wrap="square" lIns="0" rIns="0" tIns="0" bIns="0" anchor="t">
            <a:spAutoFit/>
          </a:bodyPr>
          <a:lstStyle/>
          <a:p>
            <a:pPr algn="l"/>
            <a:r>
              <a:rPr sz="1638" b="0" i="0">
                <a:solidFill>
                  <a:srgbClr val="E8C27A"/>
                </a:solidFill>
                <a:latin typeface="Geist Mono"/>
                <a:ea typeface="Geist Mono"/>
                <a:cs typeface="Geist Mono"/>
              </a:rPr>
              <a:t>msec = 500</a:t>
            </a:r>
          </a:p>
        </p:txBody>
      </p:sp>
      <p:sp>
        <p:nvSpPr>
          <p:cNvPr id="19" name="TextBox 18"/>
          <p:cNvSpPr txBox="1"/>
          <p:nvPr/>
        </p:nvSpPr>
        <p:spPr>
          <a:xfrm>
            <a:off x="6286500" y="5810250"/>
            <a:ext cx="4191000" cy="99060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How long to wait, in milliseconds</a:t>
            </a:r>
          </a:p>
        </p:txBody>
      </p:sp>
      <p:sp>
        <p:nvSpPr>
          <p:cNvPr id="20" name="Rounded Rectangle 19"/>
          <p:cNvSpPr/>
          <p:nvPr/>
        </p:nvSpPr>
        <p:spPr>
          <a:xfrm>
            <a:off x="10858500" y="2857500"/>
            <a:ext cx="6515100" cy="4476750"/>
          </a:xfrm>
          <a:prstGeom prst="roundRect">
            <a:avLst>
              <a:gd name="adj" fmla="val 340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1239500" y="3143250"/>
            <a:ext cx="5715000" cy="38100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TUNABLE VALUES</a:t>
            </a:r>
          </a:p>
        </p:txBody>
      </p:sp>
      <p:sp>
        <p:nvSpPr>
          <p:cNvPr id="22" name="TextBox 21"/>
          <p:cNvSpPr txBox="1"/>
          <p:nvPr/>
        </p:nvSpPr>
        <p:spPr>
          <a:xfrm>
            <a:off x="11239500" y="3619500"/>
            <a:ext cx="5810250" cy="1143000"/>
          </a:xfrm>
          <a:prstGeom prst="rect">
            <a:avLst/>
          </a:prstGeom>
          <a:noFill/>
        </p:spPr>
        <p:txBody>
          <a:bodyPr wrap="square" lIns="0" rIns="0" tIns="0" bIns="0" anchor="t">
            <a:spAutoFit/>
          </a:bodyPr>
          <a:lstStyle/>
          <a:p>
            <a:pPr algn="l">
              <a:lnSpc>
                <a:spcPct val="130000"/>
              </a:lnSpc>
            </a:pPr>
            <a:r>
              <a:rPr sz="1950" b="0" i="0">
                <a:solidFill>
                  <a:srgbClr val="F0E8E8"/>
                </a:solidFill>
                <a:latin typeface="Geist"/>
                <a:ea typeface="Geist"/>
                <a:cs typeface="Geist"/>
              </a:rPr>
              <a:t>Declare an input port on the tree, then use its name in braces:</a:t>
            </a:r>
          </a:p>
        </p:txBody>
      </p:sp>
      <p:sp>
        <p:nvSpPr>
          <p:cNvPr id="23" name="Rounded Rectangle 22"/>
          <p:cNvSpPr/>
          <p:nvPr/>
        </p:nvSpPr>
        <p:spPr>
          <a:xfrm>
            <a:off x="11239500" y="4762500"/>
            <a:ext cx="4953000" cy="990600"/>
          </a:xfrm>
          <a:prstGeom prst="roundRect">
            <a:avLst>
              <a:gd name="adj" fmla="val 115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11277600" y="4857750"/>
            <a:ext cx="66675" cy="8001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1468100" y="4876800"/>
            <a:ext cx="4610100" cy="360045"/>
          </a:xfrm>
          <a:prstGeom prst="rect">
            <a:avLst/>
          </a:prstGeom>
          <a:noFill/>
        </p:spPr>
        <p:txBody>
          <a:bodyPr wrap="square" lIns="0" rIns="0" tIns="0" bIns="0" anchor="t">
            <a:spAutoFit/>
          </a:bodyPr>
          <a:lstStyle/>
          <a:p>
            <a:pPr algn="l"/>
            <a:r>
              <a:rPr sz="2100" b="1" i="0">
                <a:solidFill>
                  <a:srgbClr val="2DD4BF"/>
                </a:solidFill>
                <a:latin typeface="Geist"/>
                <a:ea typeface="Geist"/>
                <a:cs typeface="Geist"/>
              </a:rPr>
              <a:t>▶  </a:t>
            </a:r>
            <a:r>
              <a:rPr sz="2100" b="1" i="0">
                <a:solidFill>
                  <a:srgbClr val="F0E8E8"/>
                </a:solidFill>
                <a:latin typeface="Geist"/>
                <a:ea typeface="Geist"/>
                <a:cs typeface="Geist"/>
              </a:rPr>
              <a:t>Sleep</a:t>
            </a:r>
          </a:p>
        </p:txBody>
      </p:sp>
      <p:sp>
        <p:nvSpPr>
          <p:cNvPr id="26" name="TextBox 25"/>
          <p:cNvSpPr txBox="1"/>
          <p:nvPr/>
        </p:nvSpPr>
        <p:spPr>
          <a:xfrm>
            <a:off x="11468100" y="5255895"/>
            <a:ext cx="4610100" cy="320040"/>
          </a:xfrm>
          <a:prstGeom prst="rect">
            <a:avLst/>
          </a:prstGeom>
          <a:noFill/>
        </p:spPr>
        <p:txBody>
          <a:bodyPr wrap="square" lIns="0" rIns="0" tIns="0" bIns="0" anchor="t">
            <a:spAutoFit/>
          </a:bodyPr>
          <a:lstStyle/>
          <a:p>
            <a:pPr algn="l"/>
            <a:r>
              <a:rPr sz="1638" b="0" i="0">
                <a:solidFill>
                  <a:srgbClr val="E8C27A"/>
                </a:solidFill>
                <a:latin typeface="Geist Mono"/>
                <a:ea typeface="Geist Mono"/>
                <a:cs typeface="Geist Mono"/>
              </a:rPr>
              <a:t>msec = {wait_msec}</a:t>
            </a:r>
          </a:p>
        </p:txBody>
      </p:sp>
      <p:sp>
        <p:nvSpPr>
          <p:cNvPr id="27" name="TextBox 26"/>
          <p:cNvSpPr txBox="1"/>
          <p:nvPr/>
        </p:nvSpPr>
        <p:spPr>
          <a:xfrm>
            <a:off x="11239500" y="6096000"/>
            <a:ext cx="5810250" cy="10477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On the robot it appears on the dashboard. Change it at the field, no rebuild.</a:t>
            </a:r>
          </a:p>
        </p:txBody>
      </p:sp>
      <p:sp>
        <p:nvSpPr>
          <p:cNvPr id="28" name="Rounded Rectangle 27"/>
          <p:cNvSpPr/>
          <p:nvPr/>
        </p:nvSpPr>
        <p:spPr>
          <a:xfrm>
            <a:off x="914400" y="771525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exclamation-circle.png"/>
          <p:cNvPicPr>
            <a:picLocks noChangeAspect="1"/>
          </p:cNvPicPr>
          <p:nvPr/>
        </p:nvPicPr>
        <p:blipFill>
          <a:blip r:embed="rId3"/>
          <a:stretch>
            <a:fillRect/>
          </a:stretch>
        </p:blipFill>
        <p:spPr>
          <a:xfrm>
            <a:off x="1333500" y="7972425"/>
            <a:ext cx="533400" cy="533400"/>
          </a:xfrm>
          <a:prstGeom prst="rect">
            <a:avLst/>
          </a:prstGeom>
        </p:spPr>
      </p:pic>
      <p:sp>
        <p:nvSpPr>
          <p:cNvPr id="30" name="TextBox 29"/>
          <p:cNvSpPr txBox="1"/>
          <p:nvPr/>
        </p:nvSpPr>
        <p:spPr>
          <a:xfrm>
            <a:off x="2190750" y="771525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Spelling counts.  </a:t>
            </a:r>
            <a:r>
              <a:rPr sz="2100" b="0" i="0">
                <a:solidFill>
                  <a:srgbClr val="F0E8E8"/>
                </a:solidFill>
                <a:latin typeface="Geist"/>
                <a:ea typeface="Geist"/>
                <a:cs typeface="Geist"/>
              </a:rPr>
              <a:t>A path name or tunable that doesn't match stops the auto from loading. Check Arbor's Problems tab.</a:t>
            </a:r>
          </a:p>
        </p:txBody>
      </p:sp>
      <p:sp>
        <p:nvSpPr>
          <p:cNvPr id="31" name="TextBox 3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2" name="TextBox 3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ARBOR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tree asks the robot, like a button does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952750"/>
            <a:ext cx="4000500" cy="1047750"/>
          </a:xfrm>
          <a:prstGeom prst="roundRect">
            <a:avLst>
              <a:gd name="adj" fmla="val 109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952500" y="3048000"/>
            <a:ext cx="66675" cy="8572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43000" y="3067050"/>
            <a:ext cx="3657600" cy="360045"/>
          </a:xfrm>
          <a:prstGeom prst="rect">
            <a:avLst/>
          </a:prstGeom>
          <a:noFill/>
        </p:spPr>
        <p:txBody>
          <a:bodyPr wrap="square" lIns="0" rIns="0" tIns="0" bIns="0" anchor="t">
            <a:spAutoFit/>
          </a:bodyPr>
          <a:lstStyle/>
          <a:p>
            <a:pPr algn="l"/>
            <a:r>
              <a:rPr sz="2100" b="1" i="0">
                <a:solidFill>
                  <a:srgbClr val="2DD4BF"/>
                </a:solidFill>
                <a:latin typeface="Geist"/>
                <a:ea typeface="Geist"/>
                <a:cs typeface="Geist"/>
              </a:rPr>
              <a:t>▶  </a:t>
            </a:r>
            <a:r>
              <a:rPr sz="2100" b="1" i="0">
                <a:solidFill>
                  <a:srgbClr val="F0E8E8"/>
                </a:solidFill>
                <a:latin typeface="Geist"/>
                <a:ea typeface="Geist"/>
                <a:cs typeface="Geist"/>
              </a:rPr>
              <a:t>SetWantedState</a:t>
            </a:r>
          </a:p>
        </p:txBody>
      </p:sp>
      <p:sp>
        <p:nvSpPr>
          <p:cNvPr id="8" name="TextBox 7"/>
          <p:cNvSpPr txBox="1"/>
          <p:nvPr/>
        </p:nvSpPr>
        <p:spPr>
          <a:xfrm>
            <a:off x="1143000" y="3446145"/>
            <a:ext cx="3657600" cy="320040"/>
          </a:xfrm>
          <a:prstGeom prst="rect">
            <a:avLst/>
          </a:prstGeom>
          <a:noFill/>
        </p:spPr>
        <p:txBody>
          <a:bodyPr wrap="square" lIns="0" rIns="0" tIns="0" bIns="0" anchor="t">
            <a:spAutoFit/>
          </a:bodyPr>
          <a:lstStyle/>
          <a:p>
            <a:pPr algn="l"/>
            <a:r>
              <a:rPr sz="1638" b="0" i="0">
                <a:solidFill>
                  <a:srgbClr val="E8C27A"/>
                </a:solidFill>
                <a:latin typeface="Geist Mono"/>
                <a:ea typeface="Geist Mono"/>
                <a:cs typeface="Geist Mono"/>
              </a:rPr>
              <a:t>state = AIM</a:t>
            </a:r>
          </a:p>
        </p:txBody>
      </p:sp>
      <p:sp>
        <p:nvSpPr>
          <p:cNvPr id="9" name="Rectangle 8"/>
          <p:cNvSpPr/>
          <p:nvPr/>
        </p:nvSpPr>
        <p:spPr>
          <a:xfrm>
            <a:off x="4991100" y="3457575"/>
            <a:ext cx="7010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rot="5400000">
            <a:off x="5657850" y="340042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05500" y="3095625"/>
            <a:ext cx="3619500" cy="762000"/>
          </a:xfrm>
          <a:prstGeom prst="roundRect">
            <a:avLst>
              <a:gd name="adj" fmla="val 15000"/>
            </a:avLst>
          </a:prstGeom>
          <a:solidFill>
            <a:srgbClr val="1A0F0F"/>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905500" y="3095625"/>
            <a:ext cx="3619500" cy="7620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setWantedState(AIM)</a:t>
            </a:r>
          </a:p>
        </p:txBody>
      </p:sp>
      <p:sp>
        <p:nvSpPr>
          <p:cNvPr id="13" name="Rectangle 12"/>
          <p:cNvSpPr/>
          <p:nvPr/>
        </p:nvSpPr>
        <p:spPr>
          <a:xfrm>
            <a:off x="9601200" y="3457575"/>
            <a:ext cx="4724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10039350" y="340042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287000" y="3238500"/>
            <a:ext cx="1428750" cy="38100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287000" y="3238500"/>
            <a:ext cx="1428750" cy="381000"/>
          </a:xfrm>
          <a:prstGeom prst="rect">
            <a:avLst/>
          </a:prstGeom>
          <a:noFill/>
        </p:spPr>
        <p:txBody>
          <a:bodyPr wrap="square" lIns="0" rIns="0" tIns="0" bIns="0" anchor="ctr">
            <a:spAutoFit/>
          </a:bodyPr>
          <a:lstStyle/>
          <a:p>
            <a:pPr algn="ctr"/>
            <a:r>
              <a:rPr sz="1200" b="1" i="0">
                <a:solidFill>
                  <a:srgbClr val="FFFFFF"/>
                </a:solidFill>
                <a:latin typeface="Geist"/>
                <a:ea typeface="Geist"/>
                <a:cs typeface="Geist"/>
              </a:rPr>
              <a:t>SUCCESS</a:t>
            </a:r>
          </a:p>
        </p:txBody>
      </p:sp>
      <p:sp>
        <p:nvSpPr>
          <p:cNvPr id="17" name="TextBox 16"/>
          <p:cNvSpPr txBox="1"/>
          <p:nvPr/>
        </p:nvSpPr>
        <p:spPr>
          <a:xfrm>
            <a:off x="5905500" y="3905250"/>
            <a:ext cx="3619500" cy="34290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at once, like a button</a:t>
            </a:r>
          </a:p>
        </p:txBody>
      </p:sp>
      <p:sp>
        <p:nvSpPr>
          <p:cNvPr id="18" name="Rounded Rectangle 17"/>
          <p:cNvSpPr/>
          <p:nvPr/>
        </p:nvSpPr>
        <p:spPr>
          <a:xfrm>
            <a:off x="914400" y="4857750"/>
            <a:ext cx="4000500" cy="1047750"/>
          </a:xfrm>
          <a:prstGeom prst="roundRect">
            <a:avLst>
              <a:gd name="adj" fmla="val 109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952500" y="4953000"/>
            <a:ext cx="66675" cy="857250"/>
          </a:xfrm>
          <a:prstGeom prst="roundRect">
            <a:avLst>
              <a:gd name="adj" fmla="val 42857"/>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143000" y="4972050"/>
            <a:ext cx="3657600" cy="360045"/>
          </a:xfrm>
          <a:prstGeom prst="rect">
            <a:avLst/>
          </a:prstGeom>
          <a:noFill/>
        </p:spPr>
        <p:txBody>
          <a:bodyPr wrap="square" lIns="0" rIns="0" tIns="0" bIns="0" anchor="t">
            <a:spAutoFit/>
          </a:bodyPr>
          <a:lstStyle/>
          <a:p>
            <a:pPr algn="l"/>
            <a:r>
              <a:rPr sz="2100" b="1" i="0">
                <a:solidFill>
                  <a:srgbClr val="C084FC"/>
                </a:solidFill>
                <a:latin typeface="Geist"/>
                <a:ea typeface="Geist"/>
                <a:cs typeface="Geist"/>
              </a:rPr>
              <a:t>●  </a:t>
            </a:r>
            <a:r>
              <a:rPr sz="2100" b="1" i="0">
                <a:solidFill>
                  <a:srgbClr val="F0E8E8"/>
                </a:solidFill>
                <a:latin typeface="Geist"/>
                <a:ea typeface="Geist"/>
                <a:cs typeface="Geist"/>
              </a:rPr>
              <a:t>IsSystemState</a:t>
            </a:r>
          </a:p>
        </p:txBody>
      </p:sp>
      <p:sp>
        <p:nvSpPr>
          <p:cNvPr id="21" name="TextBox 20"/>
          <p:cNvSpPr txBox="1"/>
          <p:nvPr/>
        </p:nvSpPr>
        <p:spPr>
          <a:xfrm>
            <a:off x="1143000" y="5351145"/>
            <a:ext cx="3657600" cy="320040"/>
          </a:xfrm>
          <a:prstGeom prst="rect">
            <a:avLst/>
          </a:prstGeom>
          <a:noFill/>
        </p:spPr>
        <p:txBody>
          <a:bodyPr wrap="square" lIns="0" rIns="0" tIns="0" bIns="0" anchor="t">
            <a:spAutoFit/>
          </a:bodyPr>
          <a:lstStyle/>
          <a:p>
            <a:pPr algn="l"/>
            <a:r>
              <a:rPr sz="1638" b="0" i="0">
                <a:solidFill>
                  <a:srgbClr val="E8C27A"/>
                </a:solidFill>
                <a:latin typeface="Geist Mono"/>
                <a:ea typeface="Geist Mono"/>
                <a:cs typeface="Geist Mono"/>
              </a:rPr>
              <a:t>state = AIM</a:t>
            </a:r>
          </a:p>
        </p:txBody>
      </p:sp>
      <p:sp>
        <p:nvSpPr>
          <p:cNvPr id="22" name="Rectangle 21"/>
          <p:cNvSpPr/>
          <p:nvPr/>
        </p:nvSpPr>
        <p:spPr>
          <a:xfrm>
            <a:off x="4991100" y="5362575"/>
            <a:ext cx="7010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Isosceles Triangle 22"/>
          <p:cNvSpPr/>
          <p:nvPr/>
        </p:nvSpPr>
        <p:spPr>
          <a:xfrm rot="5400000">
            <a:off x="5657850" y="530542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905500" y="5000625"/>
            <a:ext cx="3619500" cy="762000"/>
          </a:xfrm>
          <a:prstGeom prst="roundRect">
            <a:avLst>
              <a:gd name="adj" fmla="val 15000"/>
            </a:avLst>
          </a:prstGeom>
          <a:solidFill>
            <a:srgbClr val="1A0F0F"/>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905500" y="5000625"/>
            <a:ext cx="3619500" cy="7620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robot in AIM?</a:t>
            </a:r>
          </a:p>
        </p:txBody>
      </p:sp>
      <p:sp>
        <p:nvSpPr>
          <p:cNvPr id="26" name="Rectangle 25"/>
          <p:cNvSpPr/>
          <p:nvPr/>
        </p:nvSpPr>
        <p:spPr>
          <a:xfrm>
            <a:off x="9601200" y="5362575"/>
            <a:ext cx="4724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Isosceles Triangle 26"/>
          <p:cNvSpPr/>
          <p:nvPr/>
        </p:nvSpPr>
        <p:spPr>
          <a:xfrm rot="5400000">
            <a:off x="10039350" y="530542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287000" y="4953000"/>
            <a:ext cx="1428750" cy="38100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287000" y="4953000"/>
            <a:ext cx="1428750" cy="381000"/>
          </a:xfrm>
          <a:prstGeom prst="rect">
            <a:avLst/>
          </a:prstGeom>
          <a:noFill/>
        </p:spPr>
        <p:txBody>
          <a:bodyPr wrap="square" lIns="0" rIns="0" tIns="0" bIns="0" anchor="ctr">
            <a:spAutoFit/>
          </a:bodyPr>
          <a:lstStyle/>
          <a:p>
            <a:pPr algn="ctr"/>
            <a:r>
              <a:rPr sz="1200" b="1" i="0">
                <a:solidFill>
                  <a:srgbClr val="FFFFFF"/>
                </a:solidFill>
                <a:latin typeface="Geist"/>
                <a:ea typeface="Geist"/>
                <a:cs typeface="Geist"/>
              </a:rPr>
              <a:t>SUCCESS</a:t>
            </a:r>
          </a:p>
        </p:txBody>
      </p:sp>
      <p:sp>
        <p:nvSpPr>
          <p:cNvPr id="30" name="Rounded Rectangle 29"/>
          <p:cNvSpPr/>
          <p:nvPr/>
        </p:nvSpPr>
        <p:spPr>
          <a:xfrm>
            <a:off x="10287000" y="5429250"/>
            <a:ext cx="1428750" cy="381000"/>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287000" y="5429250"/>
            <a:ext cx="1428750" cy="381000"/>
          </a:xfrm>
          <a:prstGeom prst="rect">
            <a:avLst/>
          </a:prstGeom>
          <a:noFill/>
        </p:spPr>
        <p:txBody>
          <a:bodyPr wrap="square" lIns="0" rIns="0" tIns="0" bIns="0" anchor="ctr">
            <a:spAutoFit/>
          </a:bodyPr>
          <a:lstStyle/>
          <a:p>
            <a:pPr algn="ctr"/>
            <a:r>
              <a:rPr sz="1200" b="1" i="0">
                <a:solidFill>
                  <a:srgbClr val="FFFFFF"/>
                </a:solidFill>
                <a:latin typeface="Geist"/>
                <a:ea typeface="Geist"/>
                <a:cs typeface="Geist"/>
              </a:rPr>
              <a:t>FAILURE</a:t>
            </a:r>
          </a:p>
        </p:txBody>
      </p:sp>
      <p:sp>
        <p:nvSpPr>
          <p:cNvPr id="32" name="TextBox 31"/>
          <p:cNvSpPr txBox="1"/>
          <p:nvPr/>
        </p:nvSpPr>
        <p:spPr>
          <a:xfrm>
            <a:off x="5905500" y="5810250"/>
            <a:ext cx="3619500" cy="34290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yes / not yet</a:t>
            </a:r>
          </a:p>
        </p:txBody>
      </p:sp>
      <p:sp>
        <p:nvSpPr>
          <p:cNvPr id="33" name="TextBox 32"/>
          <p:cNvSpPr txBox="1"/>
          <p:nvPr/>
        </p:nvSpPr>
        <p:spPr>
          <a:xfrm>
            <a:off x="914400" y="6858000"/>
            <a:ext cx="5715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TO WAIT FOR A STATE</a:t>
            </a:r>
          </a:p>
        </p:txBody>
      </p:sp>
      <p:sp>
        <p:nvSpPr>
          <p:cNvPr id="34" name="Rounded Rectangle 33"/>
          <p:cNvSpPr/>
          <p:nvPr/>
        </p:nvSpPr>
        <p:spPr>
          <a:xfrm>
            <a:off x="914400" y="7334250"/>
            <a:ext cx="3524250" cy="952500"/>
          </a:xfrm>
          <a:prstGeom prst="roundRect">
            <a:avLst>
              <a:gd name="adj" fmla="val 12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952500" y="7429500"/>
            <a:ext cx="66675" cy="76200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143000" y="7448550"/>
            <a:ext cx="3181350" cy="295751"/>
          </a:xfrm>
          <a:prstGeom prst="rect">
            <a:avLst/>
          </a:prstGeom>
          <a:noFill/>
        </p:spPr>
        <p:txBody>
          <a:bodyPr wrap="square" lIns="0" rIns="0" tIns="0" bIns="0" anchor="t">
            <a:spAutoFit/>
          </a:bodyPr>
          <a:lstStyle/>
          <a:p>
            <a:pPr algn="l"/>
            <a:r>
              <a:rPr sz="1725" b="1" i="0">
                <a:solidFill>
                  <a:srgbClr val="7C93C3"/>
                </a:solidFill>
                <a:latin typeface="Geist"/>
                <a:ea typeface="Geist"/>
                <a:cs typeface="Geist"/>
              </a:rPr>
              <a:t>⏱  </a:t>
            </a:r>
            <a:r>
              <a:rPr sz="1725" b="1" i="0">
                <a:solidFill>
                  <a:srgbClr val="F0E8E8"/>
                </a:solidFill>
                <a:latin typeface="Geist"/>
                <a:ea typeface="Geist"/>
                <a:cs typeface="Geist"/>
              </a:rPr>
              <a:t>Timeout</a:t>
            </a:r>
          </a:p>
        </p:txBody>
      </p:sp>
      <p:sp>
        <p:nvSpPr>
          <p:cNvPr id="37" name="TextBox 36"/>
          <p:cNvSpPr txBox="1"/>
          <p:nvPr/>
        </p:nvSpPr>
        <p:spPr>
          <a:xfrm>
            <a:off x="1143000" y="7763351"/>
            <a:ext cx="3181350" cy="262890"/>
          </a:xfrm>
          <a:prstGeom prst="rect">
            <a:avLst/>
          </a:prstGeom>
          <a:noFill/>
        </p:spPr>
        <p:txBody>
          <a:bodyPr wrap="square" lIns="0" rIns="0" tIns="0" bIns="0" anchor="t">
            <a:spAutoFit/>
          </a:bodyPr>
          <a:lstStyle/>
          <a:p>
            <a:pPr algn="l"/>
            <a:r>
              <a:rPr sz="1345" b="0" i="0">
                <a:solidFill>
                  <a:srgbClr val="E8C27A"/>
                </a:solidFill>
                <a:latin typeface="Geist Mono"/>
                <a:ea typeface="Geist Mono"/>
                <a:cs typeface="Geist Mono"/>
              </a:rPr>
              <a:t>3000 ms</a:t>
            </a:r>
          </a:p>
        </p:txBody>
      </p:sp>
      <p:sp>
        <p:nvSpPr>
          <p:cNvPr id="38" name="Rounded Rectangle 37"/>
          <p:cNvSpPr/>
          <p:nvPr/>
        </p:nvSpPr>
        <p:spPr>
          <a:xfrm>
            <a:off x="4819650" y="7334250"/>
            <a:ext cx="3524250" cy="952500"/>
          </a:xfrm>
          <a:prstGeom prst="roundRect">
            <a:avLst>
              <a:gd name="adj" fmla="val 12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ounded Rectangle 38"/>
          <p:cNvSpPr/>
          <p:nvPr/>
        </p:nvSpPr>
        <p:spPr>
          <a:xfrm>
            <a:off x="4857750" y="7429500"/>
            <a:ext cx="66675" cy="76200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048250" y="7448550"/>
            <a:ext cx="3181350" cy="295751"/>
          </a:xfrm>
          <a:prstGeom prst="rect">
            <a:avLst/>
          </a:prstGeom>
          <a:noFill/>
        </p:spPr>
        <p:txBody>
          <a:bodyPr wrap="square" lIns="0" rIns="0" tIns="0" bIns="0" anchor="t">
            <a:spAutoFit/>
          </a:bodyPr>
          <a:lstStyle/>
          <a:p>
            <a:pPr algn="l"/>
            <a:r>
              <a:rPr sz="1725" b="1" i="0">
                <a:solidFill>
                  <a:srgbClr val="7C93C3"/>
                </a:solidFill>
                <a:latin typeface="Geist"/>
                <a:ea typeface="Geist"/>
                <a:cs typeface="Geist"/>
              </a:rPr>
              <a:t>↻  </a:t>
            </a:r>
            <a:r>
              <a:rPr sz="1725" b="1" i="0">
                <a:solidFill>
                  <a:srgbClr val="F0E8E8"/>
                </a:solidFill>
                <a:latin typeface="Geist"/>
                <a:ea typeface="Geist"/>
                <a:cs typeface="Geist"/>
              </a:rPr>
              <a:t>RetryUntilSuccessful</a:t>
            </a:r>
          </a:p>
        </p:txBody>
      </p:sp>
      <p:sp>
        <p:nvSpPr>
          <p:cNvPr id="41" name="TextBox 40"/>
          <p:cNvSpPr txBox="1"/>
          <p:nvPr/>
        </p:nvSpPr>
        <p:spPr>
          <a:xfrm>
            <a:off x="5048250" y="7763351"/>
            <a:ext cx="3181350" cy="262890"/>
          </a:xfrm>
          <a:prstGeom prst="rect">
            <a:avLst/>
          </a:prstGeom>
          <a:noFill/>
        </p:spPr>
        <p:txBody>
          <a:bodyPr wrap="square" lIns="0" rIns="0" tIns="0" bIns="0" anchor="t">
            <a:spAutoFit/>
          </a:bodyPr>
          <a:lstStyle/>
          <a:p>
            <a:pPr algn="l"/>
            <a:r>
              <a:rPr sz="1345" b="0" i="0">
                <a:solidFill>
                  <a:srgbClr val="E8C27A"/>
                </a:solidFill>
                <a:latin typeface="Geist Mono"/>
                <a:ea typeface="Geist Mono"/>
                <a:cs typeface="Geist Mono"/>
              </a:rPr>
              <a:t>until it works</a:t>
            </a:r>
          </a:p>
        </p:txBody>
      </p:sp>
      <p:sp>
        <p:nvSpPr>
          <p:cNvPr id="42" name="Rectangle 41"/>
          <p:cNvSpPr/>
          <p:nvPr/>
        </p:nvSpPr>
        <p:spPr>
          <a:xfrm>
            <a:off x="4457700" y="7791450"/>
            <a:ext cx="2057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Isosceles Triangle 42"/>
          <p:cNvSpPr/>
          <p:nvPr/>
        </p:nvSpPr>
        <p:spPr>
          <a:xfrm rot="5400000">
            <a:off x="4629150" y="77343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8724900" y="7334250"/>
            <a:ext cx="3524250" cy="952500"/>
          </a:xfrm>
          <a:prstGeom prst="roundRect">
            <a:avLst>
              <a:gd name="adj" fmla="val 12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8763000" y="7429500"/>
            <a:ext cx="66675" cy="762000"/>
          </a:xfrm>
          <a:prstGeom prst="roundRect">
            <a:avLst>
              <a:gd name="adj" fmla="val 42857"/>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953500" y="7448550"/>
            <a:ext cx="3181350" cy="295751"/>
          </a:xfrm>
          <a:prstGeom prst="rect">
            <a:avLst/>
          </a:prstGeom>
          <a:noFill/>
        </p:spPr>
        <p:txBody>
          <a:bodyPr wrap="square" lIns="0" rIns="0" tIns="0" bIns="0" anchor="t">
            <a:spAutoFit/>
          </a:bodyPr>
          <a:lstStyle/>
          <a:p>
            <a:pPr algn="l"/>
            <a:r>
              <a:rPr sz="1725" b="1" i="0">
                <a:solidFill>
                  <a:srgbClr val="C084FC"/>
                </a:solidFill>
                <a:latin typeface="Geist"/>
                <a:ea typeface="Geist"/>
                <a:cs typeface="Geist"/>
              </a:rPr>
              <a:t>●  </a:t>
            </a:r>
            <a:r>
              <a:rPr sz="1725" b="1" i="0">
                <a:solidFill>
                  <a:srgbClr val="F0E8E8"/>
                </a:solidFill>
                <a:latin typeface="Geist"/>
                <a:ea typeface="Geist"/>
                <a:cs typeface="Geist"/>
              </a:rPr>
              <a:t>IsSystemState</a:t>
            </a:r>
          </a:p>
        </p:txBody>
      </p:sp>
      <p:sp>
        <p:nvSpPr>
          <p:cNvPr id="47" name="TextBox 46"/>
          <p:cNvSpPr txBox="1"/>
          <p:nvPr/>
        </p:nvSpPr>
        <p:spPr>
          <a:xfrm>
            <a:off x="8953500" y="7763351"/>
            <a:ext cx="3181350" cy="262890"/>
          </a:xfrm>
          <a:prstGeom prst="rect">
            <a:avLst/>
          </a:prstGeom>
          <a:noFill/>
        </p:spPr>
        <p:txBody>
          <a:bodyPr wrap="square" lIns="0" rIns="0" tIns="0" bIns="0" anchor="t">
            <a:spAutoFit/>
          </a:bodyPr>
          <a:lstStyle/>
          <a:p>
            <a:pPr algn="l"/>
            <a:r>
              <a:rPr sz="1345" b="0" i="0">
                <a:solidFill>
                  <a:srgbClr val="E8C27A"/>
                </a:solidFill>
                <a:latin typeface="Geist Mono"/>
                <a:ea typeface="Geist Mono"/>
                <a:cs typeface="Geist Mono"/>
              </a:rPr>
              <a:t>state = AIM</a:t>
            </a:r>
          </a:p>
        </p:txBody>
      </p:sp>
      <p:sp>
        <p:nvSpPr>
          <p:cNvPr id="48" name="Rectangle 47"/>
          <p:cNvSpPr/>
          <p:nvPr/>
        </p:nvSpPr>
        <p:spPr>
          <a:xfrm>
            <a:off x="8362950" y="7791450"/>
            <a:ext cx="2057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Isosceles Triangle 48"/>
          <p:cNvSpPr/>
          <p:nvPr/>
        </p:nvSpPr>
        <p:spPr>
          <a:xfrm rot="5400000">
            <a:off x="8534400" y="77343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4400" y="8477250"/>
            <a:ext cx="11430000" cy="381000"/>
          </a:xfrm>
          <a:prstGeom prst="rect">
            <a:avLst/>
          </a:prstGeom>
          <a:noFill/>
        </p:spPr>
        <p:txBody>
          <a:bodyPr wrap="square" lIns="0" rIns="0" tIns="0" bIns="0" anchor="t">
            <a:spAutoFit/>
          </a:bodyPr>
          <a:lstStyle/>
          <a:p>
            <a:pPr algn="l"/>
            <a:r>
              <a:rPr sz="1575" b="0" i="0">
                <a:solidFill>
                  <a:srgbClr val="9A7878"/>
                </a:solidFill>
                <a:latin typeface="Geist"/>
                <a:ea typeface="Geist"/>
                <a:cs typeface="Geist"/>
              </a:rPr>
              <a:t>Each arrow means "holds": the Timeout holds the retry, the retry holds the check.</a:t>
            </a:r>
          </a:p>
        </p:txBody>
      </p:sp>
      <p:sp>
        <p:nvSpPr>
          <p:cNvPr id="51" name="Oval 50"/>
          <p:cNvSpPr/>
          <p:nvPr/>
        </p:nvSpPr>
        <p:spPr>
          <a:xfrm>
            <a:off x="12763500" y="3143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2763500" y="314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53" name="TextBox 52"/>
          <p:cNvSpPr txBox="1"/>
          <p:nvPr/>
        </p:nvSpPr>
        <p:spPr>
          <a:xfrm>
            <a:off x="13373100" y="3105150"/>
            <a:ext cx="40005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Ask: SetWantedState</a:t>
            </a:r>
          </a:p>
        </p:txBody>
      </p:sp>
      <p:sp>
        <p:nvSpPr>
          <p:cNvPr id="54" name="TextBox 53"/>
          <p:cNvSpPr txBox="1"/>
          <p:nvPr/>
        </p:nvSpPr>
        <p:spPr>
          <a:xfrm>
            <a:off x="13373100" y="3543300"/>
            <a:ext cx="4000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Instant, like a button press</a:t>
            </a:r>
          </a:p>
        </p:txBody>
      </p:sp>
      <p:sp>
        <p:nvSpPr>
          <p:cNvPr id="55" name="Oval 54"/>
          <p:cNvSpPr/>
          <p:nvPr/>
        </p:nvSpPr>
        <p:spPr>
          <a:xfrm>
            <a:off x="12763500" y="4953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2763500" y="4953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57" name="TextBox 56"/>
          <p:cNvSpPr txBox="1"/>
          <p:nvPr/>
        </p:nvSpPr>
        <p:spPr>
          <a:xfrm>
            <a:off x="13373100" y="4914900"/>
            <a:ext cx="40005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Check: IsSystemState</a:t>
            </a:r>
          </a:p>
        </p:txBody>
      </p:sp>
      <p:sp>
        <p:nvSpPr>
          <p:cNvPr id="58" name="TextBox 57"/>
          <p:cNvSpPr txBox="1"/>
          <p:nvPr/>
        </p:nvSpPr>
        <p:spPr>
          <a:xfrm>
            <a:off x="13373100" y="5353050"/>
            <a:ext cx="4000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SUCCESS only while the robot is in that state</a:t>
            </a:r>
          </a:p>
        </p:txBody>
      </p:sp>
      <p:sp>
        <p:nvSpPr>
          <p:cNvPr id="59" name="Oval 58"/>
          <p:cNvSpPr/>
          <p:nvPr/>
        </p:nvSpPr>
        <p:spPr>
          <a:xfrm>
            <a:off x="12763500" y="6762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2763500" y="6762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61" name="TextBox 60"/>
          <p:cNvSpPr txBox="1"/>
          <p:nvPr/>
        </p:nvSpPr>
        <p:spPr>
          <a:xfrm>
            <a:off x="13373100" y="6724650"/>
            <a:ext cx="40005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Wait: retry the check</a:t>
            </a:r>
          </a:p>
        </p:txBody>
      </p:sp>
      <p:sp>
        <p:nvSpPr>
          <p:cNvPr id="62" name="TextBox 61"/>
          <p:cNvSpPr txBox="1"/>
          <p:nvPr/>
        </p:nvSpPr>
        <p:spPr>
          <a:xfrm>
            <a:off x="13373100" y="7162800"/>
            <a:ext cx="4000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Inside a Timeout, so it can't stall the auto</a:t>
            </a:r>
          </a:p>
        </p:txBody>
      </p:sp>
      <p:sp>
        <p:nvSpPr>
          <p:cNvPr id="63" name="TextBox 6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4" name="TextBox 6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ARBOR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lesson's tree: PickupAndScore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172700" y="6838950"/>
            <a:ext cx="38100" cy="347662"/>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0172700" y="7148512"/>
            <a:ext cx="3810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0172700" y="7148512"/>
            <a:ext cx="38100" cy="347662"/>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0172700" y="5267325"/>
            <a:ext cx="38100" cy="347662"/>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0172700" y="5576888"/>
            <a:ext cx="3810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0172700" y="5576888"/>
            <a:ext cx="38100" cy="347662"/>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124950" y="3695700"/>
            <a:ext cx="38100" cy="347662"/>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790700" y="4005262"/>
            <a:ext cx="1470660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790700" y="4005262"/>
            <a:ext cx="38100" cy="347662"/>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3886200" y="4005262"/>
            <a:ext cx="38100" cy="347662"/>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981700" y="4005262"/>
            <a:ext cx="38100" cy="347662"/>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077200" y="4005262"/>
            <a:ext cx="38100" cy="347662"/>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0172700" y="4005262"/>
            <a:ext cx="38100" cy="347662"/>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2268200" y="4005262"/>
            <a:ext cx="38100" cy="347662"/>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4363700" y="4005262"/>
            <a:ext cx="38100" cy="347662"/>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6459200" y="4005262"/>
            <a:ext cx="38100" cy="347662"/>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76300" y="4333875"/>
            <a:ext cx="1866900" cy="952500"/>
          </a:xfrm>
          <a:prstGeom prst="roundRect">
            <a:avLst>
              <a:gd name="adj" fmla="val 12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914400" y="4429125"/>
            <a:ext cx="66675" cy="7620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104900" y="4448175"/>
            <a:ext cx="1524000" cy="218599"/>
          </a:xfrm>
          <a:prstGeom prst="rect">
            <a:avLst/>
          </a:prstGeom>
          <a:noFill/>
        </p:spPr>
        <p:txBody>
          <a:bodyPr wrap="square" lIns="0" rIns="0" tIns="0" bIns="0" anchor="t">
            <a:spAutoFit/>
          </a:bodyPr>
          <a:lstStyle/>
          <a:p>
            <a:pPr algn="l"/>
            <a:r>
              <a:rPr sz="1275" b="1" i="0">
                <a:solidFill>
                  <a:srgbClr val="2DD4BF"/>
                </a:solidFill>
                <a:latin typeface="Geist"/>
                <a:ea typeface="Geist"/>
                <a:cs typeface="Geist"/>
              </a:rPr>
              <a:t>▶  </a:t>
            </a:r>
            <a:r>
              <a:rPr sz="1275" b="1" i="0">
                <a:solidFill>
                  <a:srgbClr val="F0E8E8"/>
                </a:solidFill>
                <a:latin typeface="Geist"/>
                <a:ea typeface="Geist"/>
                <a:cs typeface="Geist"/>
              </a:rPr>
              <a:t>FollowPath</a:t>
            </a:r>
          </a:p>
        </p:txBody>
      </p:sp>
      <p:sp>
        <p:nvSpPr>
          <p:cNvPr id="24" name="TextBox 23"/>
          <p:cNvSpPr txBox="1"/>
          <p:nvPr/>
        </p:nvSpPr>
        <p:spPr>
          <a:xfrm>
            <a:off x="1104900" y="4685824"/>
            <a:ext cx="1524000" cy="194310"/>
          </a:xfrm>
          <a:prstGeom prst="rect">
            <a:avLst/>
          </a:prstGeom>
          <a:noFill/>
        </p:spPr>
        <p:txBody>
          <a:bodyPr wrap="square" lIns="0" rIns="0" tIns="0" bIns="0" anchor="t">
            <a:spAutoFit/>
          </a:bodyPr>
          <a:lstStyle/>
          <a:p>
            <a:pPr algn="l"/>
            <a:r>
              <a:rPr sz="994" b="0" i="0">
                <a:solidFill>
                  <a:srgbClr val="E8C27A"/>
                </a:solidFill>
                <a:latin typeface="Geist Mono"/>
                <a:ea typeface="Geist Mono"/>
                <a:cs typeface="Geist Mono"/>
              </a:rPr>
              <a:t>ToPickup</a:t>
            </a:r>
          </a:p>
        </p:txBody>
      </p:sp>
      <p:sp>
        <p:nvSpPr>
          <p:cNvPr id="25" name="Rounded Rectangle 24"/>
          <p:cNvSpPr/>
          <p:nvPr/>
        </p:nvSpPr>
        <p:spPr>
          <a:xfrm>
            <a:off x="2971800" y="4333875"/>
            <a:ext cx="1866900" cy="952500"/>
          </a:xfrm>
          <a:prstGeom prst="roundRect">
            <a:avLst>
              <a:gd name="adj" fmla="val 12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3009900" y="4429125"/>
            <a:ext cx="66675" cy="7620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200400" y="4448175"/>
            <a:ext cx="1524000" cy="218599"/>
          </a:xfrm>
          <a:prstGeom prst="rect">
            <a:avLst/>
          </a:prstGeom>
          <a:noFill/>
        </p:spPr>
        <p:txBody>
          <a:bodyPr wrap="square" lIns="0" rIns="0" tIns="0" bIns="0" anchor="t">
            <a:spAutoFit/>
          </a:bodyPr>
          <a:lstStyle/>
          <a:p>
            <a:pPr algn="l"/>
            <a:r>
              <a:rPr sz="1275" b="1" i="0">
                <a:solidFill>
                  <a:srgbClr val="2DD4BF"/>
                </a:solidFill>
                <a:latin typeface="Geist"/>
                <a:ea typeface="Geist"/>
                <a:cs typeface="Geist"/>
              </a:rPr>
              <a:t>▶  </a:t>
            </a:r>
            <a:r>
              <a:rPr sz="1275" b="1" i="0">
                <a:solidFill>
                  <a:srgbClr val="F0E8E8"/>
                </a:solidFill>
                <a:latin typeface="Geist"/>
                <a:ea typeface="Geist"/>
                <a:cs typeface="Geist"/>
              </a:rPr>
              <a:t>Sleep</a:t>
            </a:r>
          </a:p>
        </p:txBody>
      </p:sp>
      <p:sp>
        <p:nvSpPr>
          <p:cNvPr id="28" name="TextBox 27"/>
          <p:cNvSpPr txBox="1"/>
          <p:nvPr/>
        </p:nvSpPr>
        <p:spPr>
          <a:xfrm>
            <a:off x="3200400" y="4685824"/>
            <a:ext cx="1524000" cy="194310"/>
          </a:xfrm>
          <a:prstGeom prst="rect">
            <a:avLst/>
          </a:prstGeom>
          <a:noFill/>
        </p:spPr>
        <p:txBody>
          <a:bodyPr wrap="square" lIns="0" rIns="0" tIns="0" bIns="0" anchor="t">
            <a:spAutoFit/>
          </a:bodyPr>
          <a:lstStyle/>
          <a:p>
            <a:pPr algn="l"/>
            <a:r>
              <a:rPr sz="994" b="0" i="0">
                <a:solidFill>
                  <a:srgbClr val="E8C27A"/>
                </a:solidFill>
                <a:latin typeface="Geist Mono"/>
                <a:ea typeface="Geist Mono"/>
                <a:cs typeface="Geist Mono"/>
              </a:rPr>
              <a:t>500</a:t>
            </a:r>
          </a:p>
        </p:txBody>
      </p:sp>
      <p:sp>
        <p:nvSpPr>
          <p:cNvPr id="29" name="Rounded Rectangle 28"/>
          <p:cNvSpPr/>
          <p:nvPr/>
        </p:nvSpPr>
        <p:spPr>
          <a:xfrm>
            <a:off x="5067300" y="4333875"/>
            <a:ext cx="1866900" cy="952500"/>
          </a:xfrm>
          <a:prstGeom prst="roundRect">
            <a:avLst>
              <a:gd name="adj" fmla="val 12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5105400" y="4429125"/>
            <a:ext cx="66675" cy="7620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295900" y="4448175"/>
            <a:ext cx="1524000" cy="218599"/>
          </a:xfrm>
          <a:prstGeom prst="rect">
            <a:avLst/>
          </a:prstGeom>
          <a:noFill/>
        </p:spPr>
        <p:txBody>
          <a:bodyPr wrap="square" lIns="0" rIns="0" tIns="0" bIns="0" anchor="t">
            <a:spAutoFit/>
          </a:bodyPr>
          <a:lstStyle/>
          <a:p>
            <a:pPr algn="l"/>
            <a:r>
              <a:rPr sz="1275" b="1" i="0">
                <a:solidFill>
                  <a:srgbClr val="2DD4BF"/>
                </a:solidFill>
                <a:latin typeface="Geist"/>
                <a:ea typeface="Geist"/>
                <a:cs typeface="Geist"/>
              </a:rPr>
              <a:t>▶  </a:t>
            </a:r>
            <a:r>
              <a:rPr sz="1275" b="1" i="0">
                <a:solidFill>
                  <a:srgbClr val="F0E8E8"/>
                </a:solidFill>
                <a:latin typeface="Geist"/>
                <a:ea typeface="Geist"/>
                <a:cs typeface="Geist"/>
              </a:rPr>
              <a:t>FollowPath</a:t>
            </a:r>
          </a:p>
        </p:txBody>
      </p:sp>
      <p:sp>
        <p:nvSpPr>
          <p:cNvPr id="32" name="TextBox 31"/>
          <p:cNvSpPr txBox="1"/>
          <p:nvPr/>
        </p:nvSpPr>
        <p:spPr>
          <a:xfrm>
            <a:off x="5295900" y="4685824"/>
            <a:ext cx="1524000" cy="194310"/>
          </a:xfrm>
          <a:prstGeom prst="rect">
            <a:avLst/>
          </a:prstGeom>
          <a:noFill/>
        </p:spPr>
        <p:txBody>
          <a:bodyPr wrap="square" lIns="0" rIns="0" tIns="0" bIns="0" anchor="t">
            <a:spAutoFit/>
          </a:bodyPr>
          <a:lstStyle/>
          <a:p>
            <a:pPr algn="l"/>
            <a:r>
              <a:rPr sz="994" b="0" i="0">
                <a:solidFill>
                  <a:srgbClr val="E8C27A"/>
                </a:solidFill>
                <a:latin typeface="Geist Mono"/>
                <a:ea typeface="Geist Mono"/>
                <a:cs typeface="Geist Mono"/>
              </a:rPr>
              <a:t>ToScore</a:t>
            </a:r>
          </a:p>
        </p:txBody>
      </p:sp>
      <p:sp>
        <p:nvSpPr>
          <p:cNvPr id="33" name="Rounded Rectangle 32"/>
          <p:cNvSpPr/>
          <p:nvPr/>
        </p:nvSpPr>
        <p:spPr>
          <a:xfrm>
            <a:off x="7162800" y="4333875"/>
            <a:ext cx="1866900" cy="952500"/>
          </a:xfrm>
          <a:prstGeom prst="roundRect">
            <a:avLst>
              <a:gd name="adj" fmla="val 12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7200900" y="4429125"/>
            <a:ext cx="66675" cy="7620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391400" y="4448175"/>
            <a:ext cx="1524000" cy="218599"/>
          </a:xfrm>
          <a:prstGeom prst="rect">
            <a:avLst/>
          </a:prstGeom>
          <a:noFill/>
        </p:spPr>
        <p:txBody>
          <a:bodyPr wrap="square" lIns="0" rIns="0" tIns="0" bIns="0" anchor="t">
            <a:spAutoFit/>
          </a:bodyPr>
          <a:lstStyle/>
          <a:p>
            <a:pPr algn="l"/>
            <a:r>
              <a:rPr sz="1275" b="1" i="0">
                <a:solidFill>
                  <a:srgbClr val="2DD4BF"/>
                </a:solidFill>
                <a:latin typeface="Geist"/>
                <a:ea typeface="Geist"/>
                <a:cs typeface="Geist"/>
              </a:rPr>
              <a:t>▶  </a:t>
            </a:r>
            <a:r>
              <a:rPr sz="1275" b="1" i="0">
                <a:solidFill>
                  <a:srgbClr val="F0E8E8"/>
                </a:solidFill>
                <a:latin typeface="Geist"/>
                <a:ea typeface="Geist"/>
                <a:cs typeface="Geist"/>
              </a:rPr>
              <a:t>SetWantedState</a:t>
            </a:r>
          </a:p>
        </p:txBody>
      </p:sp>
      <p:sp>
        <p:nvSpPr>
          <p:cNvPr id="36" name="TextBox 35"/>
          <p:cNvSpPr txBox="1"/>
          <p:nvPr/>
        </p:nvSpPr>
        <p:spPr>
          <a:xfrm>
            <a:off x="7391400" y="4685824"/>
            <a:ext cx="1524000" cy="194310"/>
          </a:xfrm>
          <a:prstGeom prst="rect">
            <a:avLst/>
          </a:prstGeom>
          <a:noFill/>
        </p:spPr>
        <p:txBody>
          <a:bodyPr wrap="square" lIns="0" rIns="0" tIns="0" bIns="0" anchor="t">
            <a:spAutoFit/>
          </a:bodyPr>
          <a:lstStyle/>
          <a:p>
            <a:pPr algn="l"/>
            <a:r>
              <a:rPr sz="994" b="0" i="0">
                <a:solidFill>
                  <a:srgbClr val="E8C27A"/>
                </a:solidFill>
                <a:latin typeface="Geist Mono"/>
                <a:ea typeface="Geist Mono"/>
                <a:cs typeface="Geist Mono"/>
              </a:rPr>
              <a:t>AIM</a:t>
            </a:r>
          </a:p>
        </p:txBody>
      </p:sp>
      <p:sp>
        <p:nvSpPr>
          <p:cNvPr id="37" name="Rounded Rectangle 36"/>
          <p:cNvSpPr/>
          <p:nvPr/>
        </p:nvSpPr>
        <p:spPr>
          <a:xfrm>
            <a:off x="9258300" y="7477125"/>
            <a:ext cx="1866900" cy="952500"/>
          </a:xfrm>
          <a:prstGeom prst="roundRect">
            <a:avLst>
              <a:gd name="adj" fmla="val 12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9296400" y="7572375"/>
            <a:ext cx="66675" cy="762000"/>
          </a:xfrm>
          <a:prstGeom prst="roundRect">
            <a:avLst>
              <a:gd name="adj" fmla="val 42857"/>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486900" y="7591425"/>
            <a:ext cx="1524000" cy="218599"/>
          </a:xfrm>
          <a:prstGeom prst="rect">
            <a:avLst/>
          </a:prstGeom>
          <a:noFill/>
        </p:spPr>
        <p:txBody>
          <a:bodyPr wrap="square" lIns="0" rIns="0" tIns="0" bIns="0" anchor="t">
            <a:spAutoFit/>
          </a:bodyPr>
          <a:lstStyle/>
          <a:p>
            <a:pPr algn="l"/>
            <a:r>
              <a:rPr sz="1275" b="1" i="0">
                <a:solidFill>
                  <a:srgbClr val="C084FC"/>
                </a:solidFill>
                <a:latin typeface="Geist"/>
                <a:ea typeface="Geist"/>
                <a:cs typeface="Geist"/>
              </a:rPr>
              <a:t>●  </a:t>
            </a:r>
            <a:r>
              <a:rPr sz="1275" b="1" i="0">
                <a:solidFill>
                  <a:srgbClr val="F0E8E8"/>
                </a:solidFill>
                <a:latin typeface="Geist"/>
                <a:ea typeface="Geist"/>
                <a:cs typeface="Geist"/>
              </a:rPr>
              <a:t>IsSystemState</a:t>
            </a:r>
          </a:p>
        </p:txBody>
      </p:sp>
      <p:sp>
        <p:nvSpPr>
          <p:cNvPr id="40" name="TextBox 39"/>
          <p:cNvSpPr txBox="1"/>
          <p:nvPr/>
        </p:nvSpPr>
        <p:spPr>
          <a:xfrm>
            <a:off x="9486900" y="7829074"/>
            <a:ext cx="1524000" cy="194310"/>
          </a:xfrm>
          <a:prstGeom prst="rect">
            <a:avLst/>
          </a:prstGeom>
          <a:noFill/>
        </p:spPr>
        <p:txBody>
          <a:bodyPr wrap="square" lIns="0" rIns="0" tIns="0" bIns="0" anchor="t">
            <a:spAutoFit/>
          </a:bodyPr>
          <a:lstStyle/>
          <a:p>
            <a:pPr algn="l"/>
            <a:r>
              <a:rPr sz="994" b="0" i="0">
                <a:solidFill>
                  <a:srgbClr val="E8C27A"/>
                </a:solidFill>
                <a:latin typeface="Geist Mono"/>
                <a:ea typeface="Geist Mono"/>
                <a:cs typeface="Geist Mono"/>
              </a:rPr>
              <a:t>AIM</a:t>
            </a:r>
          </a:p>
        </p:txBody>
      </p:sp>
      <p:sp>
        <p:nvSpPr>
          <p:cNvPr id="41" name="Rounded Rectangle 40"/>
          <p:cNvSpPr/>
          <p:nvPr/>
        </p:nvSpPr>
        <p:spPr>
          <a:xfrm>
            <a:off x="9239250" y="5905500"/>
            <a:ext cx="1905000" cy="952500"/>
          </a:xfrm>
          <a:prstGeom prst="roundRect">
            <a:avLst>
              <a:gd name="adj" fmla="val 12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ounded Rectangle 41"/>
          <p:cNvSpPr/>
          <p:nvPr/>
        </p:nvSpPr>
        <p:spPr>
          <a:xfrm>
            <a:off x="9277350" y="6000750"/>
            <a:ext cx="66675" cy="76200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467850" y="6019800"/>
            <a:ext cx="1562100" cy="218599"/>
          </a:xfrm>
          <a:prstGeom prst="rect">
            <a:avLst/>
          </a:prstGeom>
          <a:noFill/>
        </p:spPr>
        <p:txBody>
          <a:bodyPr wrap="square" lIns="0" rIns="0" tIns="0" bIns="0" anchor="t">
            <a:spAutoFit/>
          </a:bodyPr>
          <a:lstStyle/>
          <a:p>
            <a:pPr algn="l"/>
            <a:r>
              <a:rPr sz="1275" b="1" i="0">
                <a:solidFill>
                  <a:srgbClr val="7C93C3"/>
                </a:solidFill>
                <a:latin typeface="Geist"/>
                <a:ea typeface="Geist"/>
                <a:cs typeface="Geist"/>
              </a:rPr>
              <a:t>↻  </a:t>
            </a:r>
            <a:r>
              <a:rPr sz="1275" b="1" i="0">
                <a:solidFill>
                  <a:srgbClr val="F0E8E8"/>
                </a:solidFill>
                <a:latin typeface="Geist"/>
                <a:ea typeface="Geist"/>
                <a:cs typeface="Geist"/>
              </a:rPr>
              <a:t>Retry</a:t>
            </a:r>
          </a:p>
        </p:txBody>
      </p:sp>
      <p:sp>
        <p:nvSpPr>
          <p:cNvPr id="44" name="TextBox 43"/>
          <p:cNvSpPr txBox="1"/>
          <p:nvPr/>
        </p:nvSpPr>
        <p:spPr>
          <a:xfrm>
            <a:off x="9467850" y="6257449"/>
            <a:ext cx="1562100" cy="194310"/>
          </a:xfrm>
          <a:prstGeom prst="rect">
            <a:avLst/>
          </a:prstGeom>
          <a:noFill/>
        </p:spPr>
        <p:txBody>
          <a:bodyPr wrap="square" lIns="0" rIns="0" tIns="0" bIns="0" anchor="t">
            <a:spAutoFit/>
          </a:bodyPr>
          <a:lstStyle/>
          <a:p>
            <a:pPr algn="l"/>
            <a:r>
              <a:rPr sz="994" b="0" i="0">
                <a:solidFill>
                  <a:srgbClr val="E8C27A"/>
                </a:solidFill>
                <a:latin typeface="Geist Mono"/>
                <a:ea typeface="Geist Mono"/>
                <a:cs typeface="Geist Mono"/>
              </a:rPr>
              <a:t>until success</a:t>
            </a:r>
          </a:p>
        </p:txBody>
      </p:sp>
      <p:sp>
        <p:nvSpPr>
          <p:cNvPr id="45" name="Rounded Rectangle 44"/>
          <p:cNvSpPr/>
          <p:nvPr/>
        </p:nvSpPr>
        <p:spPr>
          <a:xfrm>
            <a:off x="9239250" y="4333875"/>
            <a:ext cx="1905000" cy="952500"/>
          </a:xfrm>
          <a:prstGeom prst="roundRect">
            <a:avLst>
              <a:gd name="adj" fmla="val 12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ounded Rectangle 45"/>
          <p:cNvSpPr/>
          <p:nvPr/>
        </p:nvSpPr>
        <p:spPr>
          <a:xfrm>
            <a:off x="9277350" y="4429125"/>
            <a:ext cx="66675" cy="76200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9467850" y="4448175"/>
            <a:ext cx="1562100" cy="218599"/>
          </a:xfrm>
          <a:prstGeom prst="rect">
            <a:avLst/>
          </a:prstGeom>
          <a:noFill/>
        </p:spPr>
        <p:txBody>
          <a:bodyPr wrap="square" lIns="0" rIns="0" tIns="0" bIns="0" anchor="t">
            <a:spAutoFit/>
          </a:bodyPr>
          <a:lstStyle/>
          <a:p>
            <a:pPr algn="l"/>
            <a:r>
              <a:rPr sz="1275" b="1" i="0">
                <a:solidFill>
                  <a:srgbClr val="7C93C3"/>
                </a:solidFill>
                <a:latin typeface="Geist"/>
                <a:ea typeface="Geist"/>
                <a:cs typeface="Geist"/>
              </a:rPr>
              <a:t>⏱  </a:t>
            </a:r>
            <a:r>
              <a:rPr sz="1275" b="1" i="0">
                <a:solidFill>
                  <a:srgbClr val="F0E8E8"/>
                </a:solidFill>
                <a:latin typeface="Geist"/>
                <a:ea typeface="Geist"/>
                <a:cs typeface="Geist"/>
              </a:rPr>
              <a:t>Timeout</a:t>
            </a:r>
          </a:p>
        </p:txBody>
      </p:sp>
      <p:sp>
        <p:nvSpPr>
          <p:cNvPr id="48" name="TextBox 47"/>
          <p:cNvSpPr txBox="1"/>
          <p:nvPr/>
        </p:nvSpPr>
        <p:spPr>
          <a:xfrm>
            <a:off x="9467850" y="4685824"/>
            <a:ext cx="1562100" cy="194310"/>
          </a:xfrm>
          <a:prstGeom prst="rect">
            <a:avLst/>
          </a:prstGeom>
          <a:noFill/>
        </p:spPr>
        <p:txBody>
          <a:bodyPr wrap="square" lIns="0" rIns="0" tIns="0" bIns="0" anchor="t">
            <a:spAutoFit/>
          </a:bodyPr>
          <a:lstStyle/>
          <a:p>
            <a:pPr algn="l"/>
            <a:r>
              <a:rPr sz="994" b="0" i="0">
                <a:solidFill>
                  <a:srgbClr val="E8C27A"/>
                </a:solidFill>
                <a:latin typeface="Geist Mono"/>
                <a:ea typeface="Geist Mono"/>
                <a:cs typeface="Geist Mono"/>
              </a:rPr>
              <a:t>3000</a:t>
            </a:r>
          </a:p>
        </p:txBody>
      </p:sp>
      <p:sp>
        <p:nvSpPr>
          <p:cNvPr id="49" name="Rounded Rectangle 48"/>
          <p:cNvSpPr/>
          <p:nvPr/>
        </p:nvSpPr>
        <p:spPr>
          <a:xfrm>
            <a:off x="11353800" y="4333875"/>
            <a:ext cx="1866900" cy="952500"/>
          </a:xfrm>
          <a:prstGeom prst="roundRect">
            <a:avLst>
              <a:gd name="adj" fmla="val 12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ounded Rectangle 49"/>
          <p:cNvSpPr/>
          <p:nvPr/>
        </p:nvSpPr>
        <p:spPr>
          <a:xfrm>
            <a:off x="11391900" y="4429125"/>
            <a:ext cx="66675" cy="7620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11582400" y="4448175"/>
            <a:ext cx="1524000" cy="218599"/>
          </a:xfrm>
          <a:prstGeom prst="rect">
            <a:avLst/>
          </a:prstGeom>
          <a:noFill/>
        </p:spPr>
        <p:txBody>
          <a:bodyPr wrap="square" lIns="0" rIns="0" tIns="0" bIns="0" anchor="t">
            <a:spAutoFit/>
          </a:bodyPr>
          <a:lstStyle/>
          <a:p>
            <a:pPr algn="l"/>
            <a:r>
              <a:rPr sz="1275" b="1" i="0">
                <a:solidFill>
                  <a:srgbClr val="2DD4BF"/>
                </a:solidFill>
                <a:latin typeface="Geist"/>
                <a:ea typeface="Geist"/>
                <a:cs typeface="Geist"/>
              </a:rPr>
              <a:t>▶  </a:t>
            </a:r>
            <a:r>
              <a:rPr sz="1275" b="1" i="0">
                <a:solidFill>
                  <a:srgbClr val="F0E8E8"/>
                </a:solidFill>
                <a:latin typeface="Geist"/>
                <a:ea typeface="Geist"/>
                <a:cs typeface="Geist"/>
              </a:rPr>
              <a:t>SetWantedState</a:t>
            </a:r>
          </a:p>
        </p:txBody>
      </p:sp>
      <p:sp>
        <p:nvSpPr>
          <p:cNvPr id="52" name="TextBox 51"/>
          <p:cNvSpPr txBox="1"/>
          <p:nvPr/>
        </p:nvSpPr>
        <p:spPr>
          <a:xfrm>
            <a:off x="11582400" y="4685824"/>
            <a:ext cx="1524000" cy="194310"/>
          </a:xfrm>
          <a:prstGeom prst="rect">
            <a:avLst/>
          </a:prstGeom>
          <a:noFill/>
        </p:spPr>
        <p:txBody>
          <a:bodyPr wrap="square" lIns="0" rIns="0" tIns="0" bIns="0" anchor="t">
            <a:spAutoFit/>
          </a:bodyPr>
          <a:lstStyle/>
          <a:p>
            <a:pPr algn="l"/>
            <a:r>
              <a:rPr sz="994" b="0" i="0">
                <a:solidFill>
                  <a:srgbClr val="E8C27A"/>
                </a:solidFill>
                <a:latin typeface="Geist Mono"/>
                <a:ea typeface="Geist Mono"/>
                <a:cs typeface="Geist Mono"/>
              </a:rPr>
              <a:t>SHOOT</a:t>
            </a:r>
          </a:p>
        </p:txBody>
      </p:sp>
      <p:sp>
        <p:nvSpPr>
          <p:cNvPr id="53" name="Rounded Rectangle 52"/>
          <p:cNvSpPr/>
          <p:nvPr/>
        </p:nvSpPr>
        <p:spPr>
          <a:xfrm>
            <a:off x="13449300" y="4333875"/>
            <a:ext cx="1866900" cy="952500"/>
          </a:xfrm>
          <a:prstGeom prst="roundRect">
            <a:avLst>
              <a:gd name="adj" fmla="val 12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ounded Rectangle 53"/>
          <p:cNvSpPr/>
          <p:nvPr/>
        </p:nvSpPr>
        <p:spPr>
          <a:xfrm>
            <a:off x="13487400" y="4429125"/>
            <a:ext cx="66675" cy="7620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13677900" y="4448175"/>
            <a:ext cx="1524000" cy="218599"/>
          </a:xfrm>
          <a:prstGeom prst="rect">
            <a:avLst/>
          </a:prstGeom>
          <a:noFill/>
        </p:spPr>
        <p:txBody>
          <a:bodyPr wrap="square" lIns="0" rIns="0" tIns="0" bIns="0" anchor="t">
            <a:spAutoFit/>
          </a:bodyPr>
          <a:lstStyle/>
          <a:p>
            <a:pPr algn="l"/>
            <a:r>
              <a:rPr sz="1275" b="1" i="0">
                <a:solidFill>
                  <a:srgbClr val="2DD4BF"/>
                </a:solidFill>
                <a:latin typeface="Geist"/>
                <a:ea typeface="Geist"/>
                <a:cs typeface="Geist"/>
              </a:rPr>
              <a:t>▶  </a:t>
            </a:r>
            <a:r>
              <a:rPr sz="1275" b="1" i="0">
                <a:solidFill>
                  <a:srgbClr val="F0E8E8"/>
                </a:solidFill>
                <a:latin typeface="Geist"/>
                <a:ea typeface="Geist"/>
                <a:cs typeface="Geist"/>
              </a:rPr>
              <a:t>Sleep</a:t>
            </a:r>
          </a:p>
        </p:txBody>
      </p:sp>
      <p:sp>
        <p:nvSpPr>
          <p:cNvPr id="56" name="TextBox 55"/>
          <p:cNvSpPr txBox="1"/>
          <p:nvPr/>
        </p:nvSpPr>
        <p:spPr>
          <a:xfrm>
            <a:off x="13677900" y="4685824"/>
            <a:ext cx="1524000" cy="194310"/>
          </a:xfrm>
          <a:prstGeom prst="rect">
            <a:avLst/>
          </a:prstGeom>
          <a:noFill/>
        </p:spPr>
        <p:txBody>
          <a:bodyPr wrap="square" lIns="0" rIns="0" tIns="0" bIns="0" anchor="t">
            <a:spAutoFit/>
          </a:bodyPr>
          <a:lstStyle/>
          <a:p>
            <a:pPr algn="l"/>
            <a:r>
              <a:rPr sz="994" b="0" i="0">
                <a:solidFill>
                  <a:srgbClr val="E8C27A"/>
                </a:solidFill>
                <a:latin typeface="Geist Mono"/>
                <a:ea typeface="Geist Mono"/>
                <a:cs typeface="Geist Mono"/>
              </a:rPr>
              <a:t>2000</a:t>
            </a:r>
          </a:p>
        </p:txBody>
      </p:sp>
      <p:sp>
        <p:nvSpPr>
          <p:cNvPr id="57" name="Rounded Rectangle 56"/>
          <p:cNvSpPr/>
          <p:nvPr/>
        </p:nvSpPr>
        <p:spPr>
          <a:xfrm>
            <a:off x="15544800" y="4333875"/>
            <a:ext cx="1866900" cy="952500"/>
          </a:xfrm>
          <a:prstGeom prst="roundRect">
            <a:avLst>
              <a:gd name="adj" fmla="val 12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ounded Rectangle 57"/>
          <p:cNvSpPr/>
          <p:nvPr/>
        </p:nvSpPr>
        <p:spPr>
          <a:xfrm>
            <a:off x="15582900" y="4429125"/>
            <a:ext cx="66675" cy="7620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15773400" y="4448175"/>
            <a:ext cx="1524000" cy="218599"/>
          </a:xfrm>
          <a:prstGeom prst="rect">
            <a:avLst/>
          </a:prstGeom>
          <a:noFill/>
        </p:spPr>
        <p:txBody>
          <a:bodyPr wrap="square" lIns="0" rIns="0" tIns="0" bIns="0" anchor="t">
            <a:spAutoFit/>
          </a:bodyPr>
          <a:lstStyle/>
          <a:p>
            <a:pPr algn="l"/>
            <a:r>
              <a:rPr sz="1275" b="1" i="0">
                <a:solidFill>
                  <a:srgbClr val="2DD4BF"/>
                </a:solidFill>
                <a:latin typeface="Geist"/>
                <a:ea typeface="Geist"/>
                <a:cs typeface="Geist"/>
              </a:rPr>
              <a:t>▶  </a:t>
            </a:r>
            <a:r>
              <a:rPr sz="1275" b="1" i="0">
                <a:solidFill>
                  <a:srgbClr val="F0E8E8"/>
                </a:solidFill>
                <a:latin typeface="Geist"/>
                <a:ea typeface="Geist"/>
                <a:cs typeface="Geist"/>
              </a:rPr>
              <a:t>SetWantedState</a:t>
            </a:r>
          </a:p>
        </p:txBody>
      </p:sp>
      <p:sp>
        <p:nvSpPr>
          <p:cNvPr id="60" name="TextBox 59"/>
          <p:cNvSpPr txBox="1"/>
          <p:nvPr/>
        </p:nvSpPr>
        <p:spPr>
          <a:xfrm>
            <a:off x="15773400" y="4685824"/>
            <a:ext cx="1524000" cy="194310"/>
          </a:xfrm>
          <a:prstGeom prst="rect">
            <a:avLst/>
          </a:prstGeom>
          <a:noFill/>
        </p:spPr>
        <p:txBody>
          <a:bodyPr wrap="square" lIns="0" rIns="0" tIns="0" bIns="0" anchor="t">
            <a:spAutoFit/>
          </a:bodyPr>
          <a:lstStyle/>
          <a:p>
            <a:pPr algn="l"/>
            <a:r>
              <a:rPr sz="994" b="0" i="0">
                <a:solidFill>
                  <a:srgbClr val="E8C27A"/>
                </a:solidFill>
                <a:latin typeface="Geist Mono"/>
                <a:ea typeface="Geist Mono"/>
                <a:cs typeface="Geist Mono"/>
              </a:rPr>
              <a:t>AUTO</a:t>
            </a:r>
          </a:p>
        </p:txBody>
      </p:sp>
      <p:sp>
        <p:nvSpPr>
          <p:cNvPr id="61" name="Rounded Rectangle 60"/>
          <p:cNvSpPr/>
          <p:nvPr/>
        </p:nvSpPr>
        <p:spPr>
          <a:xfrm>
            <a:off x="8191500" y="2762250"/>
            <a:ext cx="1905000" cy="952500"/>
          </a:xfrm>
          <a:prstGeom prst="roundRect">
            <a:avLst>
              <a:gd name="adj" fmla="val 12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ounded Rectangle 61"/>
          <p:cNvSpPr/>
          <p:nvPr/>
        </p:nvSpPr>
        <p:spPr>
          <a:xfrm>
            <a:off x="8229600" y="2857500"/>
            <a:ext cx="66675" cy="76200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8420100" y="2876550"/>
            <a:ext cx="1562100" cy="218599"/>
          </a:xfrm>
          <a:prstGeom prst="rect">
            <a:avLst/>
          </a:prstGeom>
          <a:noFill/>
        </p:spPr>
        <p:txBody>
          <a:bodyPr wrap="square" lIns="0" rIns="0" tIns="0" bIns="0" anchor="t">
            <a:spAutoFit/>
          </a:bodyPr>
          <a:lstStyle/>
          <a:p>
            <a:pPr algn="l"/>
            <a:r>
              <a:rPr sz="1275" b="1" i="0">
                <a:solidFill>
                  <a:srgbClr val="7C93C3"/>
                </a:solidFill>
                <a:latin typeface="Geist"/>
                <a:ea typeface="Geist"/>
                <a:cs typeface="Geist"/>
              </a:rPr>
              <a:t>→  </a:t>
            </a:r>
            <a:r>
              <a:rPr sz="1275" b="1" i="0">
                <a:solidFill>
                  <a:srgbClr val="F0E8E8"/>
                </a:solidFill>
                <a:latin typeface="Geist"/>
                <a:ea typeface="Geist"/>
                <a:cs typeface="Geist"/>
              </a:rPr>
              <a:t>Sequence</a:t>
            </a:r>
          </a:p>
        </p:txBody>
      </p:sp>
      <p:sp>
        <p:nvSpPr>
          <p:cNvPr id="64" name="TextBox 63"/>
          <p:cNvSpPr txBox="1"/>
          <p:nvPr/>
        </p:nvSpPr>
        <p:spPr>
          <a:xfrm>
            <a:off x="8420100" y="3114199"/>
            <a:ext cx="1562100" cy="194310"/>
          </a:xfrm>
          <a:prstGeom prst="rect">
            <a:avLst/>
          </a:prstGeom>
          <a:noFill/>
        </p:spPr>
        <p:txBody>
          <a:bodyPr wrap="square" lIns="0" rIns="0" tIns="0" bIns="0" anchor="t">
            <a:spAutoFit/>
          </a:bodyPr>
          <a:lstStyle/>
          <a:p>
            <a:pPr algn="l"/>
            <a:r>
              <a:rPr sz="994" b="0" i="0">
                <a:solidFill>
                  <a:srgbClr val="E8C27A"/>
                </a:solidFill>
                <a:latin typeface="Geist Mono"/>
                <a:ea typeface="Geist Mono"/>
                <a:cs typeface="Geist Mono"/>
              </a:rPr>
              <a:t>PickupAndScore</a:t>
            </a:r>
          </a:p>
        </p:txBody>
      </p:sp>
      <p:sp>
        <p:nvSpPr>
          <p:cNvPr id="65" name="Oval 64"/>
          <p:cNvSpPr/>
          <p:nvPr/>
        </p:nvSpPr>
        <p:spPr>
          <a:xfrm>
            <a:off x="914400" y="61341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14400" y="61341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67" name="TextBox 66"/>
          <p:cNvSpPr txBox="1"/>
          <p:nvPr/>
        </p:nvSpPr>
        <p:spPr>
          <a:xfrm>
            <a:off x="1524000" y="6096000"/>
            <a:ext cx="5334000" cy="476250"/>
          </a:xfrm>
          <a:prstGeom prst="rect">
            <a:avLst/>
          </a:prstGeom>
          <a:noFill/>
        </p:spPr>
        <p:txBody>
          <a:bodyPr wrap="square" lIns="0" rIns="0" tIns="0" bIns="0" anchor="ctr">
            <a:spAutoFit/>
          </a:bodyPr>
          <a:lstStyle/>
          <a:p>
            <a:pPr algn="l"/>
            <a:r>
              <a:rPr sz="2100" b="1" i="0">
                <a:solidFill>
                  <a:srgbClr val="F0E8E8"/>
                </a:solidFill>
                <a:latin typeface="Geist"/>
                <a:ea typeface="Geist"/>
                <a:cs typeface="Geist"/>
              </a:rPr>
              <a:t>Drive, wait, drive</a:t>
            </a:r>
          </a:p>
        </p:txBody>
      </p:sp>
      <p:sp>
        <p:nvSpPr>
          <p:cNvPr id="68" name="Oval 67"/>
          <p:cNvSpPr/>
          <p:nvPr/>
        </p:nvSpPr>
        <p:spPr>
          <a:xfrm>
            <a:off x="11430000" y="79438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430000" y="79438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70" name="TextBox 69"/>
          <p:cNvSpPr txBox="1"/>
          <p:nvPr/>
        </p:nvSpPr>
        <p:spPr>
          <a:xfrm>
            <a:off x="12039600" y="7905750"/>
            <a:ext cx="5334000" cy="476250"/>
          </a:xfrm>
          <a:prstGeom prst="rect">
            <a:avLst/>
          </a:prstGeom>
          <a:noFill/>
        </p:spPr>
        <p:txBody>
          <a:bodyPr wrap="square" lIns="0" rIns="0" tIns="0" bIns="0" anchor="ctr">
            <a:spAutoFit/>
          </a:bodyPr>
          <a:lstStyle/>
          <a:p>
            <a:pPr algn="l"/>
            <a:r>
              <a:rPr sz="2100" b="1" i="0">
                <a:solidFill>
                  <a:srgbClr val="F0E8E8"/>
                </a:solidFill>
                <a:latin typeface="Geist"/>
                <a:ea typeface="Geist"/>
                <a:cs typeface="Geist"/>
              </a:rPr>
              <a:t>Ask for AIM, wait up to 3 s</a:t>
            </a:r>
          </a:p>
        </p:txBody>
      </p:sp>
      <p:sp>
        <p:nvSpPr>
          <p:cNvPr id="71" name="Oval 70"/>
          <p:cNvSpPr/>
          <p:nvPr/>
        </p:nvSpPr>
        <p:spPr>
          <a:xfrm>
            <a:off x="11430000" y="61341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1430000" y="61341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73" name="TextBox 72"/>
          <p:cNvSpPr txBox="1"/>
          <p:nvPr/>
        </p:nvSpPr>
        <p:spPr>
          <a:xfrm>
            <a:off x="12039600" y="6096000"/>
            <a:ext cx="5334000" cy="476250"/>
          </a:xfrm>
          <a:prstGeom prst="rect">
            <a:avLst/>
          </a:prstGeom>
          <a:noFill/>
        </p:spPr>
        <p:txBody>
          <a:bodyPr wrap="square" lIns="0" rIns="0" tIns="0" bIns="0" anchor="ctr">
            <a:spAutoFit/>
          </a:bodyPr>
          <a:lstStyle/>
          <a:p>
            <a:pPr algn="l"/>
            <a:r>
              <a:rPr sz="2100" b="1" i="0">
                <a:solidFill>
                  <a:srgbClr val="F0E8E8"/>
                </a:solidFill>
                <a:latin typeface="Geist"/>
                <a:ea typeface="Geist"/>
                <a:cs typeface="Geist"/>
              </a:rPr>
              <a:t>Shoot for 2 s, then hand back</a:t>
            </a:r>
          </a:p>
        </p:txBody>
      </p:sp>
      <p:sp>
        <p:nvSpPr>
          <p:cNvPr id="74" name="TextBox 7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75" name="TextBox 7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ARBOR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Arbor writes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533650"/>
            <a:ext cx="11239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deploy/autos/trees/PickupAndScore.xml</a:t>
            </a:r>
          </a:p>
        </p:txBody>
      </p:sp>
      <p:sp>
        <p:nvSpPr>
          <p:cNvPr id="6" name="Rounded Rectangle 5"/>
          <p:cNvSpPr/>
          <p:nvPr/>
        </p:nvSpPr>
        <p:spPr>
          <a:xfrm>
            <a:off x="914400" y="2952750"/>
            <a:ext cx="11239500" cy="5262562"/>
          </a:xfrm>
          <a:prstGeom prst="roundRect">
            <a:avLst>
              <a:gd name="adj" fmla="val 289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5133975"/>
            <a:ext cx="11201400" cy="30003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5133975"/>
            <a:ext cx="57150" cy="300038"/>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434012"/>
            <a:ext cx="11201400" cy="30003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434012"/>
            <a:ext cx="57150" cy="300038"/>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5734050"/>
            <a:ext cx="11201400" cy="30003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5734050"/>
            <a:ext cx="57150" cy="300038"/>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3450" y="6034088"/>
            <a:ext cx="11201400" cy="30003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33450" y="6034088"/>
            <a:ext cx="57150" cy="300038"/>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33450" y="6334125"/>
            <a:ext cx="11201400" cy="30003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933450" y="6334125"/>
            <a:ext cx="57150" cy="300038"/>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933450" y="6634162"/>
            <a:ext cx="11201400" cy="30003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33450" y="6634162"/>
            <a:ext cx="57150" cy="300038"/>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33450" y="6934200"/>
            <a:ext cx="11201400" cy="30003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33450" y="6934200"/>
            <a:ext cx="57150" cy="300038"/>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295400" y="3333750"/>
            <a:ext cx="10706100" cy="300038"/>
          </a:xfrm>
          <a:prstGeom prst="rect">
            <a:avLst/>
          </a:prstGeom>
          <a:noFill/>
        </p:spPr>
        <p:txBody>
          <a:bodyPr wrap="square" lIns="0" rIns="0" tIns="0" bIns="0" anchor="ctr">
            <a:spAutoFit/>
          </a:bodyPr>
          <a:lstStyle/>
          <a:p>
            <a:pPr algn="l"/>
            <a:r>
              <a:rPr sz="1575" b="0" i="0">
                <a:solidFill>
                  <a:srgbClr val="E0785F"/>
                </a:solidFill>
                <a:latin typeface="Geist Mono"/>
                <a:ea typeface="Geist Mono"/>
                <a:cs typeface="Geist Mono"/>
              </a:rPr>
              <a:t>&lt;root</a:t>
            </a:r>
            <a:r>
              <a:rPr sz="1575" b="0" i="0">
                <a:solidFill>
                  <a:srgbClr val="F0E8E8"/>
                </a:solidFill>
                <a:latin typeface="Geist Mono"/>
                <a:ea typeface="Geist Mono"/>
                <a:cs typeface="Geist Mono"/>
              </a:rPr>
              <a:t> BTCPP_format=</a:t>
            </a:r>
            <a:r>
              <a:rPr sz="1575" b="0" i="0">
                <a:solidFill>
                  <a:srgbClr val="9FD29A"/>
                </a:solidFill>
                <a:latin typeface="Geist Mono"/>
                <a:ea typeface="Geist Mono"/>
                <a:cs typeface="Geist Mono"/>
              </a:rPr>
              <a:t>"4"</a:t>
            </a:r>
            <a:r>
              <a:rPr sz="1575" b="0" i="0">
                <a:solidFill>
                  <a:srgbClr val="F0E8E8"/>
                </a:solidFill>
                <a:latin typeface="Geist Mono"/>
                <a:ea typeface="Geist Mono"/>
                <a:cs typeface="Geist Mono"/>
              </a:rPr>
              <a:t> main_tree_to_execute=</a:t>
            </a:r>
            <a:r>
              <a:rPr sz="1575" b="0" i="0">
                <a:solidFill>
                  <a:srgbClr val="9FD29A"/>
                </a:solidFill>
                <a:latin typeface="Geist Mono"/>
                <a:ea typeface="Geist Mono"/>
                <a:cs typeface="Geist Mono"/>
              </a:rPr>
              <a:t>"PickupAndScore"</a:t>
            </a:r>
            <a:r>
              <a:rPr sz="1575" b="0" i="0">
                <a:solidFill>
                  <a:srgbClr val="E0785F"/>
                </a:solidFill>
                <a:latin typeface="Geist Mono"/>
                <a:ea typeface="Geist Mono"/>
                <a:cs typeface="Geist Mono"/>
              </a:rPr>
              <a:t>&gt;</a:t>
            </a:r>
          </a:p>
        </p:txBody>
      </p:sp>
      <p:sp>
        <p:nvSpPr>
          <p:cNvPr id="22" name="TextBox 21"/>
          <p:cNvSpPr txBox="1"/>
          <p:nvPr/>
        </p:nvSpPr>
        <p:spPr>
          <a:xfrm>
            <a:off x="1295400" y="3633788"/>
            <a:ext cx="10706100" cy="300038"/>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&lt;BehaviorTree</a:t>
            </a:r>
            <a:r>
              <a:rPr sz="1575" b="0" i="0">
                <a:solidFill>
                  <a:srgbClr val="F0E8E8"/>
                </a:solidFill>
                <a:latin typeface="Geist Mono"/>
                <a:ea typeface="Geist Mono"/>
                <a:cs typeface="Geist Mono"/>
              </a:rPr>
              <a:t> ID=</a:t>
            </a:r>
            <a:r>
              <a:rPr sz="1575" b="0" i="0">
                <a:solidFill>
                  <a:srgbClr val="9FD29A"/>
                </a:solidFill>
                <a:latin typeface="Geist Mono"/>
                <a:ea typeface="Geist Mono"/>
                <a:cs typeface="Geist Mono"/>
              </a:rPr>
              <a:t>"PickupAndScore"</a:t>
            </a:r>
            <a:r>
              <a:rPr sz="1575" b="0" i="0">
                <a:solidFill>
                  <a:srgbClr val="E0785F"/>
                </a:solidFill>
                <a:latin typeface="Geist Mono"/>
                <a:ea typeface="Geist Mono"/>
                <a:cs typeface="Geist Mono"/>
              </a:rPr>
              <a:t>&gt;</a:t>
            </a:r>
          </a:p>
        </p:txBody>
      </p:sp>
      <p:sp>
        <p:nvSpPr>
          <p:cNvPr id="23" name="TextBox 22"/>
          <p:cNvSpPr txBox="1"/>
          <p:nvPr/>
        </p:nvSpPr>
        <p:spPr>
          <a:xfrm>
            <a:off x="1295400" y="3933825"/>
            <a:ext cx="10706100" cy="300038"/>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&lt;Sequence&gt;</a:t>
            </a:r>
          </a:p>
        </p:txBody>
      </p:sp>
      <p:sp>
        <p:nvSpPr>
          <p:cNvPr id="24" name="TextBox 23"/>
          <p:cNvSpPr txBox="1"/>
          <p:nvPr/>
        </p:nvSpPr>
        <p:spPr>
          <a:xfrm>
            <a:off x="1295400" y="4233862"/>
            <a:ext cx="10706100" cy="300038"/>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&lt;FollowPath</a:t>
            </a:r>
            <a:r>
              <a:rPr sz="1575" b="0" i="0">
                <a:solidFill>
                  <a:srgbClr val="F0E8E8"/>
                </a:solidFill>
                <a:latin typeface="Geist Mono"/>
                <a:ea typeface="Geist Mono"/>
                <a:cs typeface="Geist Mono"/>
              </a:rPr>
              <a:t> trajectory=</a:t>
            </a:r>
            <a:r>
              <a:rPr sz="1575" b="0" i="0">
                <a:solidFill>
                  <a:srgbClr val="9FD29A"/>
                </a:solidFill>
                <a:latin typeface="Geist Mono"/>
                <a:ea typeface="Geist Mono"/>
                <a:cs typeface="Geist Mono"/>
              </a:rPr>
              <a:t>"ToPickup"</a:t>
            </a:r>
            <a:r>
              <a:rPr sz="1575" b="0" i="0">
                <a:solidFill>
                  <a:srgbClr val="E0785F"/>
                </a:solidFill>
                <a:latin typeface="Geist Mono"/>
                <a:ea typeface="Geist Mono"/>
                <a:cs typeface="Geist Mono"/>
              </a:rPr>
              <a:t>/&gt;</a:t>
            </a:r>
          </a:p>
        </p:txBody>
      </p:sp>
      <p:sp>
        <p:nvSpPr>
          <p:cNvPr id="25" name="TextBox 24"/>
          <p:cNvSpPr txBox="1"/>
          <p:nvPr/>
        </p:nvSpPr>
        <p:spPr>
          <a:xfrm>
            <a:off x="1295400" y="4533900"/>
            <a:ext cx="10706100" cy="300038"/>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&lt;Sleep</a:t>
            </a:r>
            <a:r>
              <a:rPr sz="1575" b="0" i="0">
                <a:solidFill>
                  <a:srgbClr val="F0E8E8"/>
                </a:solidFill>
                <a:latin typeface="Geist Mono"/>
                <a:ea typeface="Geist Mono"/>
                <a:cs typeface="Geist Mono"/>
              </a:rPr>
              <a:t> msec=</a:t>
            </a:r>
            <a:r>
              <a:rPr sz="1575" b="0" i="0">
                <a:solidFill>
                  <a:srgbClr val="9FD29A"/>
                </a:solidFill>
                <a:latin typeface="Geist Mono"/>
                <a:ea typeface="Geist Mono"/>
                <a:cs typeface="Geist Mono"/>
              </a:rPr>
              <a:t>"500"</a:t>
            </a:r>
            <a:r>
              <a:rPr sz="1575" b="0" i="0">
                <a:solidFill>
                  <a:srgbClr val="E0785F"/>
                </a:solidFill>
                <a:latin typeface="Geist Mono"/>
                <a:ea typeface="Geist Mono"/>
                <a:cs typeface="Geist Mono"/>
              </a:rPr>
              <a:t>/&gt;</a:t>
            </a:r>
          </a:p>
        </p:txBody>
      </p:sp>
      <p:sp>
        <p:nvSpPr>
          <p:cNvPr id="26" name="TextBox 25"/>
          <p:cNvSpPr txBox="1"/>
          <p:nvPr/>
        </p:nvSpPr>
        <p:spPr>
          <a:xfrm>
            <a:off x="1295400" y="4833938"/>
            <a:ext cx="10706100" cy="300038"/>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&lt;FollowPath</a:t>
            </a:r>
            <a:r>
              <a:rPr sz="1575" b="0" i="0">
                <a:solidFill>
                  <a:srgbClr val="F0E8E8"/>
                </a:solidFill>
                <a:latin typeface="Geist Mono"/>
                <a:ea typeface="Geist Mono"/>
                <a:cs typeface="Geist Mono"/>
              </a:rPr>
              <a:t> trajectory=</a:t>
            </a:r>
            <a:r>
              <a:rPr sz="1575" b="0" i="0">
                <a:solidFill>
                  <a:srgbClr val="9FD29A"/>
                </a:solidFill>
                <a:latin typeface="Geist Mono"/>
                <a:ea typeface="Geist Mono"/>
                <a:cs typeface="Geist Mono"/>
              </a:rPr>
              <a:t>"ToScore"</a:t>
            </a:r>
            <a:r>
              <a:rPr sz="1575" b="0" i="0">
                <a:solidFill>
                  <a:srgbClr val="E0785F"/>
                </a:solidFill>
                <a:latin typeface="Geist Mono"/>
                <a:ea typeface="Geist Mono"/>
                <a:cs typeface="Geist Mono"/>
              </a:rPr>
              <a:t>/&gt;</a:t>
            </a:r>
          </a:p>
        </p:txBody>
      </p:sp>
      <p:sp>
        <p:nvSpPr>
          <p:cNvPr id="27" name="TextBox 26"/>
          <p:cNvSpPr txBox="1"/>
          <p:nvPr/>
        </p:nvSpPr>
        <p:spPr>
          <a:xfrm>
            <a:off x="1295400" y="5133975"/>
            <a:ext cx="10706100" cy="300038"/>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&lt;SetWantedState</a:t>
            </a:r>
            <a:r>
              <a:rPr sz="1575" b="0" i="0">
                <a:solidFill>
                  <a:srgbClr val="F0E8E8"/>
                </a:solidFill>
                <a:latin typeface="Geist Mono"/>
                <a:ea typeface="Geist Mono"/>
                <a:cs typeface="Geist Mono"/>
              </a:rPr>
              <a:t> state=</a:t>
            </a:r>
            <a:r>
              <a:rPr sz="1575" b="0" i="0">
                <a:solidFill>
                  <a:srgbClr val="9FD29A"/>
                </a:solidFill>
                <a:latin typeface="Geist Mono"/>
                <a:ea typeface="Geist Mono"/>
                <a:cs typeface="Geist Mono"/>
              </a:rPr>
              <a:t>"AIM"</a:t>
            </a:r>
            <a:r>
              <a:rPr sz="1575" b="0" i="0">
                <a:solidFill>
                  <a:srgbClr val="E0785F"/>
                </a:solidFill>
                <a:latin typeface="Geist Mono"/>
                <a:ea typeface="Geist Mono"/>
                <a:cs typeface="Geist Mono"/>
              </a:rPr>
              <a:t>/&gt;</a:t>
            </a:r>
          </a:p>
        </p:txBody>
      </p:sp>
      <p:sp>
        <p:nvSpPr>
          <p:cNvPr id="28" name="TextBox 27"/>
          <p:cNvSpPr txBox="1"/>
          <p:nvPr/>
        </p:nvSpPr>
        <p:spPr>
          <a:xfrm>
            <a:off x="1295400" y="5434012"/>
            <a:ext cx="10706100" cy="300038"/>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&lt;Timeout</a:t>
            </a:r>
            <a:r>
              <a:rPr sz="1575" b="0" i="0">
                <a:solidFill>
                  <a:srgbClr val="F0E8E8"/>
                </a:solidFill>
                <a:latin typeface="Geist Mono"/>
                <a:ea typeface="Geist Mono"/>
                <a:cs typeface="Geist Mono"/>
              </a:rPr>
              <a:t> msec=</a:t>
            </a:r>
            <a:r>
              <a:rPr sz="1575" b="0" i="0">
                <a:solidFill>
                  <a:srgbClr val="9FD29A"/>
                </a:solidFill>
                <a:latin typeface="Geist Mono"/>
                <a:ea typeface="Geist Mono"/>
                <a:cs typeface="Geist Mono"/>
              </a:rPr>
              <a:t>"3000"</a:t>
            </a:r>
            <a:r>
              <a:rPr sz="1575" b="0" i="0">
                <a:solidFill>
                  <a:srgbClr val="E0785F"/>
                </a:solidFill>
                <a:latin typeface="Geist Mono"/>
                <a:ea typeface="Geist Mono"/>
                <a:cs typeface="Geist Mono"/>
              </a:rPr>
              <a:t>&gt;</a:t>
            </a:r>
          </a:p>
        </p:txBody>
      </p:sp>
      <p:sp>
        <p:nvSpPr>
          <p:cNvPr id="29" name="TextBox 28"/>
          <p:cNvSpPr txBox="1"/>
          <p:nvPr/>
        </p:nvSpPr>
        <p:spPr>
          <a:xfrm>
            <a:off x="1295400" y="5734050"/>
            <a:ext cx="10706100" cy="300038"/>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&lt;RetryUntilSuccessful</a:t>
            </a:r>
            <a:r>
              <a:rPr sz="1575" b="0" i="0">
                <a:solidFill>
                  <a:srgbClr val="F0E8E8"/>
                </a:solidFill>
                <a:latin typeface="Geist Mono"/>
                <a:ea typeface="Geist Mono"/>
                <a:cs typeface="Geist Mono"/>
              </a:rPr>
              <a:t> num_attempts=</a:t>
            </a:r>
            <a:r>
              <a:rPr sz="1575" b="0" i="0">
                <a:solidFill>
                  <a:srgbClr val="9FD29A"/>
                </a:solidFill>
                <a:latin typeface="Geist Mono"/>
                <a:ea typeface="Geist Mono"/>
                <a:cs typeface="Geist Mono"/>
              </a:rPr>
              <a:t>"-1"</a:t>
            </a:r>
            <a:r>
              <a:rPr sz="1575" b="0" i="0">
                <a:solidFill>
                  <a:srgbClr val="E0785F"/>
                </a:solidFill>
                <a:latin typeface="Geist Mono"/>
                <a:ea typeface="Geist Mono"/>
                <a:cs typeface="Geist Mono"/>
              </a:rPr>
              <a:t>&gt;</a:t>
            </a:r>
          </a:p>
        </p:txBody>
      </p:sp>
      <p:sp>
        <p:nvSpPr>
          <p:cNvPr id="30" name="TextBox 29"/>
          <p:cNvSpPr txBox="1"/>
          <p:nvPr/>
        </p:nvSpPr>
        <p:spPr>
          <a:xfrm>
            <a:off x="1295400" y="6034088"/>
            <a:ext cx="10706100" cy="300038"/>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&lt;IsSystemState</a:t>
            </a:r>
            <a:r>
              <a:rPr sz="1575" b="0" i="0">
                <a:solidFill>
                  <a:srgbClr val="F0E8E8"/>
                </a:solidFill>
                <a:latin typeface="Geist Mono"/>
                <a:ea typeface="Geist Mono"/>
                <a:cs typeface="Geist Mono"/>
              </a:rPr>
              <a:t> state=</a:t>
            </a:r>
            <a:r>
              <a:rPr sz="1575" b="0" i="0">
                <a:solidFill>
                  <a:srgbClr val="9FD29A"/>
                </a:solidFill>
                <a:latin typeface="Geist Mono"/>
                <a:ea typeface="Geist Mono"/>
                <a:cs typeface="Geist Mono"/>
              </a:rPr>
              <a:t>"AIM"</a:t>
            </a:r>
            <a:r>
              <a:rPr sz="1575" b="0" i="0">
                <a:solidFill>
                  <a:srgbClr val="E0785F"/>
                </a:solidFill>
                <a:latin typeface="Geist Mono"/>
                <a:ea typeface="Geist Mono"/>
                <a:cs typeface="Geist Mono"/>
              </a:rPr>
              <a:t>/&gt;</a:t>
            </a:r>
          </a:p>
        </p:txBody>
      </p:sp>
      <p:sp>
        <p:nvSpPr>
          <p:cNvPr id="31" name="TextBox 30"/>
          <p:cNvSpPr txBox="1"/>
          <p:nvPr/>
        </p:nvSpPr>
        <p:spPr>
          <a:xfrm>
            <a:off x="1295400" y="6334125"/>
            <a:ext cx="10706100" cy="300038"/>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&lt;/RetryUntilSuccessful&gt;</a:t>
            </a:r>
          </a:p>
        </p:txBody>
      </p:sp>
      <p:sp>
        <p:nvSpPr>
          <p:cNvPr id="32" name="TextBox 31"/>
          <p:cNvSpPr txBox="1"/>
          <p:nvPr/>
        </p:nvSpPr>
        <p:spPr>
          <a:xfrm>
            <a:off x="1295400" y="6634162"/>
            <a:ext cx="10706100" cy="300038"/>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&lt;/Timeout&gt;</a:t>
            </a:r>
          </a:p>
        </p:txBody>
      </p:sp>
      <p:sp>
        <p:nvSpPr>
          <p:cNvPr id="33" name="TextBox 32"/>
          <p:cNvSpPr txBox="1"/>
          <p:nvPr/>
        </p:nvSpPr>
        <p:spPr>
          <a:xfrm>
            <a:off x="1295400" y="6934200"/>
            <a:ext cx="10706100" cy="300038"/>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&lt;SetWantedState</a:t>
            </a:r>
            <a:r>
              <a:rPr sz="1575" b="0" i="0">
                <a:solidFill>
                  <a:srgbClr val="F0E8E8"/>
                </a:solidFill>
                <a:latin typeface="Geist Mono"/>
                <a:ea typeface="Geist Mono"/>
                <a:cs typeface="Geist Mono"/>
              </a:rPr>
              <a:t> state=</a:t>
            </a:r>
            <a:r>
              <a:rPr sz="1575" b="0" i="0">
                <a:solidFill>
                  <a:srgbClr val="9FD29A"/>
                </a:solidFill>
                <a:latin typeface="Geist Mono"/>
                <a:ea typeface="Geist Mono"/>
                <a:cs typeface="Geist Mono"/>
              </a:rPr>
              <a:t>"SHOOT"</a:t>
            </a:r>
            <a:r>
              <a:rPr sz="1575" b="0" i="0">
                <a:solidFill>
                  <a:srgbClr val="E0785F"/>
                </a:solidFill>
                <a:latin typeface="Geist Mono"/>
                <a:ea typeface="Geist Mono"/>
                <a:cs typeface="Geist Mono"/>
              </a:rPr>
              <a:t>/&gt;</a:t>
            </a:r>
          </a:p>
        </p:txBody>
      </p:sp>
      <p:sp>
        <p:nvSpPr>
          <p:cNvPr id="34" name="TextBox 33"/>
          <p:cNvSpPr txBox="1"/>
          <p:nvPr/>
        </p:nvSpPr>
        <p:spPr>
          <a:xfrm>
            <a:off x="1295400" y="7234238"/>
            <a:ext cx="10706100" cy="300038"/>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&lt;Sleep</a:t>
            </a:r>
            <a:r>
              <a:rPr sz="1575" b="0" i="0">
                <a:solidFill>
                  <a:srgbClr val="F0E8E8"/>
                </a:solidFill>
                <a:latin typeface="Geist Mono"/>
                <a:ea typeface="Geist Mono"/>
                <a:cs typeface="Geist Mono"/>
              </a:rPr>
              <a:t> msec=</a:t>
            </a:r>
            <a:r>
              <a:rPr sz="1575" b="0" i="0">
                <a:solidFill>
                  <a:srgbClr val="9FD29A"/>
                </a:solidFill>
                <a:latin typeface="Geist Mono"/>
                <a:ea typeface="Geist Mono"/>
                <a:cs typeface="Geist Mono"/>
              </a:rPr>
              <a:t>"2000"</a:t>
            </a:r>
            <a:r>
              <a:rPr sz="1575" b="0" i="0">
                <a:solidFill>
                  <a:srgbClr val="E0785F"/>
                </a:solidFill>
                <a:latin typeface="Geist Mono"/>
                <a:ea typeface="Geist Mono"/>
                <a:cs typeface="Geist Mono"/>
              </a:rPr>
              <a:t>/&gt;</a:t>
            </a:r>
          </a:p>
        </p:txBody>
      </p:sp>
      <p:sp>
        <p:nvSpPr>
          <p:cNvPr id="35" name="TextBox 34"/>
          <p:cNvSpPr txBox="1"/>
          <p:nvPr/>
        </p:nvSpPr>
        <p:spPr>
          <a:xfrm>
            <a:off x="1295400" y="7534275"/>
            <a:ext cx="10706100" cy="300038"/>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&lt;SetWantedState</a:t>
            </a:r>
            <a:r>
              <a:rPr sz="1575" b="0" i="0">
                <a:solidFill>
                  <a:srgbClr val="F0E8E8"/>
                </a:solidFill>
                <a:latin typeface="Geist Mono"/>
                <a:ea typeface="Geist Mono"/>
                <a:cs typeface="Geist Mono"/>
              </a:rPr>
              <a:t> state=</a:t>
            </a:r>
            <a:r>
              <a:rPr sz="1575" b="0" i="0">
                <a:solidFill>
                  <a:srgbClr val="9FD29A"/>
                </a:solidFill>
                <a:latin typeface="Geist Mono"/>
                <a:ea typeface="Geist Mono"/>
                <a:cs typeface="Geist Mono"/>
              </a:rPr>
              <a:t>"AUTO"</a:t>
            </a:r>
            <a:r>
              <a:rPr sz="1575" b="0" i="0">
                <a:solidFill>
                  <a:srgbClr val="E0785F"/>
                </a:solidFill>
                <a:latin typeface="Geist Mono"/>
                <a:ea typeface="Geist Mono"/>
                <a:cs typeface="Geist Mono"/>
              </a:rPr>
              <a:t>/&gt;</a:t>
            </a:r>
          </a:p>
        </p:txBody>
      </p:sp>
      <p:sp>
        <p:nvSpPr>
          <p:cNvPr id="36" name="Oval 35"/>
          <p:cNvSpPr/>
          <p:nvPr/>
        </p:nvSpPr>
        <p:spPr>
          <a:xfrm>
            <a:off x="12668250" y="3143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668250" y="314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8" name="TextBox 37"/>
          <p:cNvSpPr txBox="1"/>
          <p:nvPr/>
        </p:nvSpPr>
        <p:spPr>
          <a:xfrm>
            <a:off x="13277850" y="3105150"/>
            <a:ext cx="4095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Names match</a:t>
            </a:r>
          </a:p>
        </p:txBody>
      </p:sp>
      <p:sp>
        <p:nvSpPr>
          <p:cNvPr id="39" name="TextBox 38"/>
          <p:cNvSpPr txBox="1"/>
          <p:nvPr/>
        </p:nvSpPr>
        <p:spPr>
          <a:xfrm>
            <a:off x="13277850" y="352425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File, main_tree_to_execute and ID</a:t>
            </a:r>
          </a:p>
        </p:txBody>
      </p:sp>
      <p:sp>
        <p:nvSpPr>
          <p:cNvPr id="40" name="Oval 39"/>
          <p:cNvSpPr/>
          <p:nvPr/>
        </p:nvSpPr>
        <p:spPr>
          <a:xfrm>
            <a:off x="12668250" y="4762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2668250" y="4762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2" name="TextBox 41"/>
          <p:cNvSpPr txBox="1"/>
          <p:nvPr/>
        </p:nvSpPr>
        <p:spPr>
          <a:xfrm>
            <a:off x="13277850" y="4724400"/>
            <a:ext cx="4095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Ask, then wait</a:t>
            </a:r>
          </a:p>
        </p:txBody>
      </p:sp>
      <p:sp>
        <p:nvSpPr>
          <p:cNvPr id="43" name="TextBox 42"/>
          <p:cNvSpPr txBox="1"/>
          <p:nvPr/>
        </p:nvSpPr>
        <p:spPr>
          <a:xfrm>
            <a:off x="13277850" y="514350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SetWantedState asks; the retry waits</a:t>
            </a:r>
          </a:p>
        </p:txBody>
      </p:sp>
      <p:sp>
        <p:nvSpPr>
          <p:cNvPr id="44" name="Oval 43"/>
          <p:cNvSpPr/>
          <p:nvPr/>
        </p:nvSpPr>
        <p:spPr>
          <a:xfrm>
            <a:off x="12668250" y="6381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668250" y="6381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6" name="TextBox 45"/>
          <p:cNvSpPr txBox="1"/>
          <p:nvPr/>
        </p:nvSpPr>
        <p:spPr>
          <a:xfrm>
            <a:off x="13277850" y="6343650"/>
            <a:ext cx="4095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No Java</a:t>
            </a:r>
          </a:p>
        </p:txBody>
      </p:sp>
      <p:sp>
        <p:nvSpPr>
          <p:cNvPr id="47" name="TextBox 46"/>
          <p:cNvSpPr txBox="1"/>
          <p:nvPr/>
        </p:nvSpPr>
        <p:spPr>
          <a:xfrm>
            <a:off x="13277850" y="676275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robot reads it when you pick the auto</a:t>
            </a:r>
          </a:p>
        </p:txBody>
      </p:sp>
      <p:sp>
        <p:nvSpPr>
          <p:cNvPr id="48" name="TextBox 4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9" name="TextBox 4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ARBOR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Finish the aim step</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19400"/>
            <a:ext cx="10477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RobotContainer.java  ·  handleStateTransition (sketch)</a:t>
            </a:r>
          </a:p>
        </p:txBody>
      </p:sp>
      <p:sp>
        <p:nvSpPr>
          <p:cNvPr id="6" name="Rounded Rectangle 5"/>
          <p:cNvSpPr/>
          <p:nvPr/>
        </p:nvSpPr>
        <p:spPr>
          <a:xfrm>
            <a:off x="914400" y="3238500"/>
            <a:ext cx="10477500" cy="3709035"/>
          </a:xfrm>
          <a:prstGeom prst="roundRect">
            <a:avLst>
              <a:gd name="adj" fmla="val 4108"/>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040505"/>
            <a:ext cx="10439400" cy="42100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040505"/>
            <a:ext cx="57150" cy="42100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461510"/>
            <a:ext cx="10439400" cy="42100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461510"/>
            <a:ext cx="57150" cy="42100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4882515"/>
            <a:ext cx="10439400" cy="42100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4882515"/>
            <a:ext cx="57150" cy="42100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3450" y="5303520"/>
            <a:ext cx="10439400" cy="42100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33450" y="5303520"/>
            <a:ext cx="57150" cy="42100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95400" y="3619500"/>
            <a:ext cx="99441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case AIM:</a:t>
            </a:r>
          </a:p>
        </p:txBody>
      </p:sp>
      <p:sp>
        <p:nvSpPr>
          <p:cNvPr id="16" name="TextBox 15"/>
          <p:cNvSpPr txBox="1"/>
          <p:nvPr/>
        </p:nvSpPr>
        <p:spPr>
          <a:xfrm>
            <a:off x="1295400" y="4040505"/>
            <a:ext cx="99441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if</a:t>
            </a:r>
            <a:r>
              <a:rPr sz="1950" b="0" i="0">
                <a:solidFill>
                  <a:srgbClr val="F0E8E8"/>
                </a:solidFill>
                <a:latin typeface="Geist Mono"/>
                <a:ea typeface="Geist Mono"/>
                <a:cs typeface="Geist Mono"/>
              </a:rPr>
              <a:t> (drive_.isAimed()) {</a:t>
            </a:r>
          </a:p>
        </p:txBody>
      </p:sp>
      <p:sp>
        <p:nvSpPr>
          <p:cNvPr id="17" name="TextBox 16"/>
          <p:cNvSpPr txBox="1"/>
          <p:nvPr/>
        </p:nvSpPr>
        <p:spPr>
          <a:xfrm>
            <a:off x="1295400" y="4461510"/>
            <a:ext cx="99441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system_state_ = RobotStates.AIM;     </a:t>
            </a:r>
            <a:r>
              <a:rPr sz="1950" b="0" i="1">
                <a:solidFill>
                  <a:srgbClr val="9A7878"/>
                </a:solidFill>
                <a:latin typeface="Geist Mono"/>
                <a:ea typeface="Geist Mono"/>
                <a:cs typeface="Geist Mono"/>
              </a:rPr>
              <a:t>// aimed: done</a:t>
            </a:r>
          </a:p>
        </p:txBody>
      </p:sp>
      <p:sp>
        <p:nvSpPr>
          <p:cNvPr id="18" name="TextBox 17"/>
          <p:cNvSpPr txBox="1"/>
          <p:nvPr/>
        </p:nvSpPr>
        <p:spPr>
          <a:xfrm>
            <a:off x="1295400" y="4882515"/>
            <a:ext cx="99441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 </a:t>
            </a:r>
            <a:r>
              <a:rPr sz="1950" b="0" i="0">
                <a:solidFill>
                  <a:srgbClr val="E0785F"/>
                </a:solidFill>
                <a:latin typeface="Geist Mono"/>
                <a:ea typeface="Geist Mono"/>
                <a:cs typeface="Geist Mono"/>
              </a:rPr>
              <a:t>else</a:t>
            </a:r>
            <a:r>
              <a:rPr sz="1950" b="0" i="0">
                <a:solidFill>
                  <a:srgbClr val="F0E8E8"/>
                </a:solidFill>
                <a:latin typeface="Geist Mono"/>
                <a:ea typeface="Geist Mono"/>
                <a:cs typeface="Geist Mono"/>
              </a:rPr>
              <a:t> {</a:t>
            </a:r>
          </a:p>
        </p:txBody>
      </p:sp>
      <p:sp>
        <p:nvSpPr>
          <p:cNvPr id="19" name="TextBox 18"/>
          <p:cNvSpPr txBox="1"/>
          <p:nvPr/>
        </p:nvSpPr>
        <p:spPr>
          <a:xfrm>
            <a:off x="1295400" y="5303520"/>
            <a:ext cx="99441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system_state_ = RobotStates.AIMING;  </a:t>
            </a:r>
            <a:r>
              <a:rPr sz="1950" b="0" i="1">
                <a:solidFill>
                  <a:srgbClr val="9A7878"/>
                </a:solidFill>
                <a:latin typeface="Geist Mono"/>
                <a:ea typeface="Geist Mono"/>
                <a:cs typeface="Geist Mono"/>
              </a:rPr>
              <a:t>// still turning</a:t>
            </a:r>
          </a:p>
        </p:txBody>
      </p:sp>
      <p:sp>
        <p:nvSpPr>
          <p:cNvPr id="20" name="TextBox 19"/>
          <p:cNvSpPr txBox="1"/>
          <p:nvPr/>
        </p:nvSpPr>
        <p:spPr>
          <a:xfrm>
            <a:off x="1295400" y="5724525"/>
            <a:ext cx="99441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p>
        </p:txBody>
      </p:sp>
      <p:sp>
        <p:nvSpPr>
          <p:cNvPr id="21" name="TextBox 20"/>
          <p:cNvSpPr txBox="1"/>
          <p:nvPr/>
        </p:nvSpPr>
        <p:spPr>
          <a:xfrm>
            <a:off x="1295400" y="6145530"/>
            <a:ext cx="99441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break;</a:t>
            </a:r>
          </a:p>
        </p:txBody>
      </p:sp>
      <p:sp>
        <p:nvSpPr>
          <p:cNvPr id="22" name="Oval 21"/>
          <p:cNvSpPr/>
          <p:nvPr/>
        </p:nvSpPr>
        <p:spPr>
          <a:xfrm>
            <a:off x="10782300" y="4060508"/>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782300" y="406050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4" name="Oval 23"/>
          <p:cNvSpPr/>
          <p:nvPr/>
        </p:nvSpPr>
        <p:spPr>
          <a:xfrm>
            <a:off x="10782300" y="5323522"/>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782300" y="5323522"/>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pic>
        <p:nvPicPr>
          <p:cNvPr id="26" name="Picture 25" descr="code-slash.png"/>
          <p:cNvPicPr>
            <a:picLocks noChangeAspect="1"/>
          </p:cNvPicPr>
          <p:nvPr/>
        </p:nvPicPr>
        <p:blipFill>
          <a:blip r:embed="rId3"/>
          <a:stretch>
            <a:fillRect/>
          </a:stretch>
        </p:blipFill>
        <p:spPr>
          <a:xfrm>
            <a:off x="914400" y="7848600"/>
            <a:ext cx="224518" cy="209550"/>
          </a:xfrm>
          <a:prstGeom prst="rect">
            <a:avLst/>
          </a:prstGeom>
        </p:spPr>
      </p:pic>
      <p:sp>
        <p:nvSpPr>
          <p:cNvPr id="27" name="TextBox 26"/>
          <p:cNvSpPr txBox="1"/>
          <p:nvPr/>
        </p:nvSpPr>
        <p:spPr>
          <a:xfrm>
            <a:off x="1295400" y="78105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Conditions</a:t>
            </a:r>
          </a:p>
        </p:txBody>
      </p:sp>
      <p:sp>
        <p:nvSpPr>
          <p:cNvPr id="28" name="Rounded Rectangle 27"/>
          <p:cNvSpPr/>
          <p:nvPr/>
        </p:nvSpPr>
        <p:spPr>
          <a:xfrm>
            <a:off x="11906250" y="2857500"/>
            <a:ext cx="5467350" cy="5905500"/>
          </a:xfrm>
          <a:prstGeom prst="roundRect">
            <a:avLst>
              <a:gd name="adj" fmla="val 278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287250" y="3200400"/>
            <a:ext cx="4762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WHAT ISSYSTEMSTATE AIM SEES</a:t>
            </a:r>
          </a:p>
        </p:txBody>
      </p:sp>
      <p:sp>
        <p:nvSpPr>
          <p:cNvPr id="30" name="TextBox 29"/>
          <p:cNvSpPr txBox="1"/>
          <p:nvPr/>
        </p:nvSpPr>
        <p:spPr>
          <a:xfrm>
            <a:off x="12287250" y="3810000"/>
            <a:ext cx="1905000" cy="85725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loop 1</a:t>
            </a:r>
          </a:p>
        </p:txBody>
      </p:sp>
      <p:sp>
        <p:nvSpPr>
          <p:cNvPr id="31" name="TextBox 30"/>
          <p:cNvSpPr txBox="1"/>
          <p:nvPr/>
        </p:nvSpPr>
        <p:spPr>
          <a:xfrm>
            <a:off x="13525500" y="3810000"/>
            <a:ext cx="1905000" cy="857250"/>
          </a:xfrm>
          <a:prstGeom prst="rect">
            <a:avLst/>
          </a:prstGeom>
          <a:noFill/>
        </p:spPr>
        <p:txBody>
          <a:bodyPr wrap="square" lIns="0" rIns="0" tIns="0" bIns="0" anchor="ctr">
            <a:spAutoFit/>
          </a:bodyPr>
          <a:lstStyle/>
          <a:p>
            <a:pPr algn="l"/>
            <a:r>
              <a:rPr sz="1950" b="1" i="0">
                <a:solidFill>
                  <a:srgbClr val="E8C27A"/>
                </a:solidFill>
                <a:latin typeface="Geist Mono"/>
                <a:ea typeface="Geist Mono"/>
                <a:cs typeface="Geist Mono"/>
              </a:rPr>
              <a:t>AIMING</a:t>
            </a:r>
          </a:p>
        </p:txBody>
      </p:sp>
      <p:sp>
        <p:nvSpPr>
          <p:cNvPr id="32" name="Rounded Rectangle 31"/>
          <p:cNvSpPr/>
          <p:nvPr/>
        </p:nvSpPr>
        <p:spPr>
          <a:xfrm>
            <a:off x="15430500" y="4038600"/>
            <a:ext cx="1619250" cy="419100"/>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5430500" y="4038600"/>
            <a:ext cx="1619250" cy="419100"/>
          </a:xfrm>
          <a:prstGeom prst="rect">
            <a:avLst/>
          </a:prstGeom>
          <a:noFill/>
        </p:spPr>
        <p:txBody>
          <a:bodyPr wrap="square" lIns="0" rIns="0" tIns="0" bIns="0" anchor="ctr">
            <a:spAutoFit/>
          </a:bodyPr>
          <a:lstStyle/>
          <a:p>
            <a:pPr algn="ctr"/>
            <a:r>
              <a:rPr sz="1275" b="1" i="0">
                <a:solidFill>
                  <a:srgbClr val="FFFFFF"/>
                </a:solidFill>
                <a:latin typeface="Geist"/>
                <a:ea typeface="Geist"/>
                <a:cs typeface="Geist"/>
              </a:rPr>
              <a:t>FAILURE</a:t>
            </a:r>
          </a:p>
        </p:txBody>
      </p:sp>
      <p:sp>
        <p:nvSpPr>
          <p:cNvPr id="34" name="TextBox 33"/>
          <p:cNvSpPr txBox="1"/>
          <p:nvPr/>
        </p:nvSpPr>
        <p:spPr>
          <a:xfrm>
            <a:off x="12287250" y="5048250"/>
            <a:ext cx="1905000" cy="85725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loop 2</a:t>
            </a:r>
          </a:p>
        </p:txBody>
      </p:sp>
      <p:sp>
        <p:nvSpPr>
          <p:cNvPr id="35" name="TextBox 34"/>
          <p:cNvSpPr txBox="1"/>
          <p:nvPr/>
        </p:nvSpPr>
        <p:spPr>
          <a:xfrm>
            <a:off x="13525500" y="5048250"/>
            <a:ext cx="1905000" cy="857250"/>
          </a:xfrm>
          <a:prstGeom prst="rect">
            <a:avLst/>
          </a:prstGeom>
          <a:noFill/>
        </p:spPr>
        <p:txBody>
          <a:bodyPr wrap="square" lIns="0" rIns="0" tIns="0" bIns="0" anchor="ctr">
            <a:spAutoFit/>
          </a:bodyPr>
          <a:lstStyle/>
          <a:p>
            <a:pPr algn="l"/>
            <a:r>
              <a:rPr sz="1950" b="1" i="0">
                <a:solidFill>
                  <a:srgbClr val="E8C27A"/>
                </a:solidFill>
                <a:latin typeface="Geist Mono"/>
                <a:ea typeface="Geist Mono"/>
                <a:cs typeface="Geist Mono"/>
              </a:rPr>
              <a:t>AIMING</a:t>
            </a:r>
          </a:p>
        </p:txBody>
      </p:sp>
      <p:sp>
        <p:nvSpPr>
          <p:cNvPr id="36" name="Rounded Rectangle 35"/>
          <p:cNvSpPr/>
          <p:nvPr/>
        </p:nvSpPr>
        <p:spPr>
          <a:xfrm>
            <a:off x="15430500" y="5276850"/>
            <a:ext cx="1619250" cy="419100"/>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5430500" y="5276850"/>
            <a:ext cx="1619250" cy="419100"/>
          </a:xfrm>
          <a:prstGeom prst="rect">
            <a:avLst/>
          </a:prstGeom>
          <a:noFill/>
        </p:spPr>
        <p:txBody>
          <a:bodyPr wrap="square" lIns="0" rIns="0" tIns="0" bIns="0" anchor="ctr">
            <a:spAutoFit/>
          </a:bodyPr>
          <a:lstStyle/>
          <a:p>
            <a:pPr algn="ctr"/>
            <a:r>
              <a:rPr sz="1275" b="1" i="0">
                <a:solidFill>
                  <a:srgbClr val="FFFFFF"/>
                </a:solidFill>
                <a:latin typeface="Geist"/>
                <a:ea typeface="Geist"/>
                <a:cs typeface="Geist"/>
              </a:rPr>
              <a:t>FAILURE</a:t>
            </a:r>
          </a:p>
        </p:txBody>
      </p:sp>
      <p:sp>
        <p:nvSpPr>
          <p:cNvPr id="38" name="TextBox 37"/>
          <p:cNvSpPr txBox="1"/>
          <p:nvPr/>
        </p:nvSpPr>
        <p:spPr>
          <a:xfrm>
            <a:off x="12287250" y="6286500"/>
            <a:ext cx="1905000" cy="85725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loop n</a:t>
            </a:r>
          </a:p>
        </p:txBody>
      </p:sp>
      <p:sp>
        <p:nvSpPr>
          <p:cNvPr id="39" name="TextBox 38"/>
          <p:cNvSpPr txBox="1"/>
          <p:nvPr/>
        </p:nvSpPr>
        <p:spPr>
          <a:xfrm>
            <a:off x="13525500" y="6286500"/>
            <a:ext cx="1905000" cy="857250"/>
          </a:xfrm>
          <a:prstGeom prst="rect">
            <a:avLst/>
          </a:prstGeom>
          <a:noFill/>
        </p:spPr>
        <p:txBody>
          <a:bodyPr wrap="square" lIns="0" rIns="0" tIns="0" bIns="0" anchor="ctr">
            <a:spAutoFit/>
          </a:bodyPr>
          <a:lstStyle/>
          <a:p>
            <a:pPr algn="l"/>
            <a:r>
              <a:rPr sz="1950" b="1" i="0">
                <a:solidFill>
                  <a:srgbClr val="E8C27A"/>
                </a:solidFill>
                <a:latin typeface="Geist Mono"/>
                <a:ea typeface="Geist Mono"/>
                <a:cs typeface="Geist Mono"/>
              </a:rPr>
              <a:t>AIM</a:t>
            </a:r>
          </a:p>
        </p:txBody>
      </p:sp>
      <p:sp>
        <p:nvSpPr>
          <p:cNvPr id="40" name="Rounded Rectangle 39"/>
          <p:cNvSpPr/>
          <p:nvPr/>
        </p:nvSpPr>
        <p:spPr>
          <a:xfrm>
            <a:off x="15430500" y="6515100"/>
            <a:ext cx="1619250" cy="41910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5430500" y="6515100"/>
            <a:ext cx="1619250" cy="419100"/>
          </a:xfrm>
          <a:prstGeom prst="rect">
            <a:avLst/>
          </a:prstGeom>
          <a:noFill/>
        </p:spPr>
        <p:txBody>
          <a:bodyPr wrap="square" lIns="0" rIns="0" tIns="0" bIns="0" anchor="ctr">
            <a:spAutoFit/>
          </a:bodyPr>
          <a:lstStyle/>
          <a:p>
            <a:pPr algn="ctr"/>
            <a:r>
              <a:rPr sz="1275" b="1" i="0">
                <a:solidFill>
                  <a:srgbClr val="FFFFFF"/>
                </a:solidFill>
                <a:latin typeface="Geist"/>
                <a:ea typeface="Geist"/>
                <a:cs typeface="Geist"/>
              </a:rPr>
              <a:t>SUCCESS</a:t>
            </a:r>
          </a:p>
        </p:txBody>
      </p:sp>
      <p:sp>
        <p:nvSpPr>
          <p:cNvPr id="42" name="TextBox 41"/>
          <p:cNvSpPr txBox="1"/>
          <p:nvPr/>
        </p:nvSpPr>
        <p:spPr>
          <a:xfrm>
            <a:off x="12287250" y="7524750"/>
            <a:ext cx="4762500" cy="10477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Each FAILURE means: retry next tick. The Timeout stops it after 3 s.</a:t>
            </a:r>
          </a:p>
        </p:txBody>
      </p:sp>
      <p:sp>
        <p:nvSpPr>
          <p:cNvPr id="43" name="TextBox 4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4" name="TextBox 4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ARBOR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tree on a clock</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44672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095750" y="76962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 s</a:t>
            </a:r>
          </a:p>
        </p:txBody>
      </p:sp>
      <p:sp>
        <p:nvSpPr>
          <p:cNvPr id="7" name="Rectangle 6"/>
          <p:cNvSpPr/>
          <p:nvPr/>
        </p:nvSpPr>
        <p:spPr>
          <a:xfrm>
            <a:off x="52863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1055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9246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53200" y="76962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 s</a:t>
            </a:r>
          </a:p>
        </p:txBody>
      </p:sp>
      <p:sp>
        <p:nvSpPr>
          <p:cNvPr id="11" name="Rectangle 10"/>
          <p:cNvSpPr/>
          <p:nvPr/>
        </p:nvSpPr>
        <p:spPr>
          <a:xfrm>
            <a:off x="77438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85629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821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010650" y="76962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6 s</a:t>
            </a:r>
          </a:p>
        </p:txBody>
      </p:sp>
      <p:sp>
        <p:nvSpPr>
          <p:cNvPr id="15" name="Rectangle 14"/>
          <p:cNvSpPr/>
          <p:nvPr/>
        </p:nvSpPr>
        <p:spPr>
          <a:xfrm>
            <a:off x="102012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0204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8395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1468100" y="76962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9 s</a:t>
            </a:r>
          </a:p>
        </p:txBody>
      </p:sp>
      <p:sp>
        <p:nvSpPr>
          <p:cNvPr id="19" name="Rectangle 18"/>
          <p:cNvSpPr/>
          <p:nvPr/>
        </p:nvSpPr>
        <p:spPr>
          <a:xfrm>
            <a:off x="126587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34778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42970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3925550" y="76962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12 s</a:t>
            </a:r>
          </a:p>
        </p:txBody>
      </p:sp>
      <p:sp>
        <p:nvSpPr>
          <p:cNvPr id="23" name="Rectangle 22"/>
          <p:cNvSpPr/>
          <p:nvPr/>
        </p:nvSpPr>
        <p:spPr>
          <a:xfrm>
            <a:off x="151161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59353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167544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6383000" y="76962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15 s</a:t>
            </a:r>
          </a:p>
        </p:txBody>
      </p:sp>
      <p:sp>
        <p:nvSpPr>
          <p:cNvPr id="27" name="Rectangle 26"/>
          <p:cNvSpPr/>
          <p:nvPr/>
        </p:nvSpPr>
        <p:spPr>
          <a:xfrm>
            <a:off x="4467225" y="7515225"/>
            <a:ext cx="1230630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14400" y="30480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30480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0" name="TextBox 29"/>
          <p:cNvSpPr txBox="1"/>
          <p:nvPr/>
        </p:nvSpPr>
        <p:spPr>
          <a:xfrm>
            <a:off x="1485900" y="2952750"/>
            <a:ext cx="3048000" cy="571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ToPickup</a:t>
            </a:r>
          </a:p>
        </p:txBody>
      </p:sp>
      <p:sp>
        <p:nvSpPr>
          <p:cNvPr id="31" name="Rounded Rectangle 30"/>
          <p:cNvSpPr/>
          <p:nvPr/>
        </p:nvSpPr>
        <p:spPr>
          <a:xfrm>
            <a:off x="4476750" y="2952750"/>
            <a:ext cx="2457450" cy="571500"/>
          </a:xfrm>
          <a:prstGeom prst="roundRect">
            <a:avLst>
              <a:gd name="adj" fmla="val 16666"/>
            </a:avLst>
          </a:prstGeom>
          <a:solidFill>
            <a:srgbClr val="2A1A1A"/>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086600" y="2952750"/>
            <a:ext cx="3619500" cy="5715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arrived</a:t>
            </a:r>
          </a:p>
        </p:txBody>
      </p:sp>
      <p:sp>
        <p:nvSpPr>
          <p:cNvPr id="33" name="Oval 32"/>
          <p:cNvSpPr/>
          <p:nvPr/>
        </p:nvSpPr>
        <p:spPr>
          <a:xfrm>
            <a:off x="914400" y="39433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39433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5" name="TextBox 34"/>
          <p:cNvSpPr txBox="1"/>
          <p:nvPr/>
        </p:nvSpPr>
        <p:spPr>
          <a:xfrm>
            <a:off x="1485900" y="3848100"/>
            <a:ext cx="3048000" cy="571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Sleep</a:t>
            </a:r>
          </a:p>
        </p:txBody>
      </p:sp>
      <p:sp>
        <p:nvSpPr>
          <p:cNvPr id="36" name="Rounded Rectangle 35"/>
          <p:cNvSpPr/>
          <p:nvPr/>
        </p:nvSpPr>
        <p:spPr>
          <a:xfrm>
            <a:off x="6934200" y="3848100"/>
            <a:ext cx="409575" cy="571500"/>
          </a:xfrm>
          <a:prstGeom prst="roundRect">
            <a:avLst>
              <a:gd name="adj" fmla="val 23255"/>
            </a:avLst>
          </a:prstGeom>
          <a:solidFill>
            <a:srgbClr val="2A1A1A"/>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6924675" y="3514725"/>
            <a:ext cx="19050" cy="3429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496175" y="3848100"/>
            <a:ext cx="3619500" cy="5715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0.5 s</a:t>
            </a:r>
          </a:p>
        </p:txBody>
      </p:sp>
      <p:sp>
        <p:nvSpPr>
          <p:cNvPr id="39" name="Oval 38"/>
          <p:cNvSpPr/>
          <p:nvPr/>
        </p:nvSpPr>
        <p:spPr>
          <a:xfrm>
            <a:off x="914400" y="48387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8387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1" name="TextBox 40"/>
          <p:cNvSpPr txBox="1"/>
          <p:nvPr/>
        </p:nvSpPr>
        <p:spPr>
          <a:xfrm>
            <a:off x="1485900" y="4743450"/>
            <a:ext cx="3048000" cy="571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ToScore</a:t>
            </a:r>
          </a:p>
        </p:txBody>
      </p:sp>
      <p:sp>
        <p:nvSpPr>
          <p:cNvPr id="42" name="Rounded Rectangle 41"/>
          <p:cNvSpPr/>
          <p:nvPr/>
        </p:nvSpPr>
        <p:spPr>
          <a:xfrm>
            <a:off x="7343775" y="4743450"/>
            <a:ext cx="2047875" cy="571500"/>
          </a:xfrm>
          <a:prstGeom prst="roundRect">
            <a:avLst>
              <a:gd name="adj" fmla="val 16666"/>
            </a:avLst>
          </a:prstGeom>
          <a:solidFill>
            <a:srgbClr val="2A1A1A"/>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7334250" y="4410075"/>
            <a:ext cx="19050" cy="3429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544050" y="4743450"/>
            <a:ext cx="3619500" cy="5715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arrived</a:t>
            </a:r>
          </a:p>
        </p:txBody>
      </p:sp>
      <p:sp>
        <p:nvSpPr>
          <p:cNvPr id="45" name="Oval 44"/>
          <p:cNvSpPr/>
          <p:nvPr/>
        </p:nvSpPr>
        <p:spPr>
          <a:xfrm>
            <a:off x="914400" y="57340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 y="57340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7" name="TextBox 46"/>
          <p:cNvSpPr txBox="1"/>
          <p:nvPr/>
        </p:nvSpPr>
        <p:spPr>
          <a:xfrm>
            <a:off x="1485900" y="5638800"/>
            <a:ext cx="3048000" cy="571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AIM</a:t>
            </a:r>
          </a:p>
        </p:txBody>
      </p:sp>
      <p:sp>
        <p:nvSpPr>
          <p:cNvPr id="48" name="Rounded Rectangle 47"/>
          <p:cNvSpPr/>
          <p:nvPr/>
        </p:nvSpPr>
        <p:spPr>
          <a:xfrm>
            <a:off x="9391650" y="5638800"/>
            <a:ext cx="982980" cy="571500"/>
          </a:xfrm>
          <a:prstGeom prst="roundRect">
            <a:avLst>
              <a:gd name="adj" fmla="val 16666"/>
            </a:avLst>
          </a:prstGeom>
          <a:solidFill>
            <a:srgbClr val="2A1A1A"/>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9382125" y="5305425"/>
            <a:ext cx="19050" cy="3429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0527030" y="5638800"/>
            <a:ext cx="3619500" cy="5715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aimed (Timeout 3 s)</a:t>
            </a:r>
          </a:p>
        </p:txBody>
      </p:sp>
      <p:sp>
        <p:nvSpPr>
          <p:cNvPr id="51" name="Oval 50"/>
          <p:cNvSpPr/>
          <p:nvPr/>
        </p:nvSpPr>
        <p:spPr>
          <a:xfrm>
            <a:off x="914400" y="66294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14400" y="66294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53" name="TextBox 52"/>
          <p:cNvSpPr txBox="1"/>
          <p:nvPr/>
        </p:nvSpPr>
        <p:spPr>
          <a:xfrm>
            <a:off x="1485900" y="6534150"/>
            <a:ext cx="3048000" cy="571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SHOOT</a:t>
            </a:r>
          </a:p>
        </p:txBody>
      </p:sp>
      <p:sp>
        <p:nvSpPr>
          <p:cNvPr id="54" name="Rounded Rectangle 53"/>
          <p:cNvSpPr/>
          <p:nvPr/>
        </p:nvSpPr>
        <p:spPr>
          <a:xfrm>
            <a:off x="10374630" y="6534150"/>
            <a:ext cx="1638300" cy="571500"/>
          </a:xfrm>
          <a:prstGeom prst="roundRect">
            <a:avLst>
              <a:gd name="adj" fmla="val 16666"/>
            </a:avLst>
          </a:prstGeom>
          <a:solidFill>
            <a:srgbClr val="2A1A1A"/>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10365105" y="6200775"/>
            <a:ext cx="19050" cy="3429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12165330" y="6534150"/>
            <a:ext cx="3619500" cy="5715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Sleep 2 s, then AUTO</a:t>
            </a:r>
          </a:p>
        </p:txBody>
      </p:sp>
      <p:sp>
        <p:nvSpPr>
          <p:cNvPr id="57" name="Rectangle 56"/>
          <p:cNvSpPr/>
          <p:nvPr/>
        </p:nvSpPr>
        <p:spPr>
          <a:xfrm>
            <a:off x="16749712" y="2747962"/>
            <a:ext cx="28575" cy="4791075"/>
          </a:xfrm>
          <a:prstGeom prst="rect">
            <a:avLst/>
          </a:prstGeom>
          <a:solidFill>
            <a:srgbClr val="D5000E"/>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14287500" y="7048500"/>
            <a:ext cx="2324100" cy="323850"/>
          </a:xfrm>
          <a:prstGeom prst="rect">
            <a:avLst/>
          </a:prstGeom>
          <a:noFill/>
        </p:spPr>
        <p:txBody>
          <a:bodyPr wrap="square" lIns="0" rIns="0" tIns="0" bIns="0" anchor="t">
            <a:spAutoFit/>
          </a:bodyPr>
          <a:lstStyle/>
          <a:p>
            <a:pPr algn="r"/>
            <a:r>
              <a:rPr sz="1650" b="1" i="0">
                <a:solidFill>
                  <a:srgbClr val="D5000E"/>
                </a:solidFill>
                <a:latin typeface="Geist"/>
                <a:ea typeface="Geist"/>
                <a:cs typeface="Geist"/>
              </a:rPr>
              <a:t>auto ends at 15 s</a:t>
            </a:r>
          </a:p>
        </p:txBody>
      </p:sp>
      <p:sp>
        <p:nvSpPr>
          <p:cNvPr id="59" name="Rounded Rectangle 58"/>
          <p:cNvSpPr/>
          <p:nvPr/>
        </p:nvSpPr>
        <p:spPr>
          <a:xfrm>
            <a:off x="914400" y="828675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0" name="Picture 59" descr="stopwatch.png"/>
          <p:cNvPicPr>
            <a:picLocks noChangeAspect="1"/>
          </p:cNvPicPr>
          <p:nvPr/>
        </p:nvPicPr>
        <p:blipFill>
          <a:blip r:embed="rId3"/>
          <a:stretch>
            <a:fillRect/>
          </a:stretch>
        </p:blipFill>
        <p:spPr>
          <a:xfrm>
            <a:off x="1333500" y="8448675"/>
            <a:ext cx="481781" cy="533400"/>
          </a:xfrm>
          <a:prstGeom prst="rect">
            <a:avLst/>
          </a:prstGeom>
        </p:spPr>
      </p:pic>
      <p:sp>
        <p:nvSpPr>
          <p:cNvPr id="61" name="TextBox 60"/>
          <p:cNvSpPr txBox="1"/>
          <p:nvPr/>
        </p:nvSpPr>
        <p:spPr>
          <a:xfrm>
            <a:off x="2190750" y="828675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About 9 seconds  </a:t>
            </a:r>
            <a:r>
              <a:rPr sz="2100" b="0" i="0">
                <a:solidFill>
                  <a:srgbClr val="F0E8E8"/>
                </a:solidFill>
                <a:latin typeface="Geist"/>
                <a:ea typeface="Geist"/>
                <a:cs typeface="Geist"/>
              </a:rPr>
              <a:t>in the simulator: room to spare in a 15 second auto.</a:t>
            </a:r>
          </a:p>
        </p:txBody>
      </p:sp>
      <p:sp>
        <p:nvSpPr>
          <p:cNvPr id="62" name="TextBox 6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3" name="TextBox 6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ARBOR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tree on the field</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7239000" cy="6477000"/>
          </a:xfrm>
          <a:prstGeom prst="roundRect">
            <a:avLst>
              <a:gd name="adj" fmla="val 235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676400" y="2952750"/>
            <a:ext cx="5829110" cy="5688140"/>
          </a:xfrm>
          <a:prstGeom prst="roundRect">
            <a:avLst>
              <a:gd name="adj" fmla="val 1004"/>
            </a:avLst>
          </a:prstGeom>
          <a:solidFill>
            <a:srgbClr val="0E1412"/>
          </a:solidFill>
          <a:ln w="28575">
            <a:solidFill>
              <a:srgbClr val="3A4A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37172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695450" y="792651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07657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695450" y="722166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78142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695450" y="651681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627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695450" y="581196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9112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695450" y="510711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89597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695450" y="440226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60082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695450" y="369741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0567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676400" y="2952750"/>
            <a:ext cx="95250" cy="568814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3906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0</a:t>
            </a:r>
          </a:p>
        </p:txBody>
      </p:sp>
      <p:sp>
        <p:nvSpPr>
          <p:cNvPr id="24" name="TextBox 23"/>
          <p:cNvSpPr txBox="1"/>
          <p:nvPr/>
        </p:nvSpPr>
        <p:spPr>
          <a:xfrm>
            <a:off x="28003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2</a:t>
            </a:r>
          </a:p>
        </p:txBody>
      </p:sp>
      <p:sp>
        <p:nvSpPr>
          <p:cNvPr id="25" name="TextBox 24"/>
          <p:cNvSpPr txBox="1"/>
          <p:nvPr/>
        </p:nvSpPr>
        <p:spPr>
          <a:xfrm>
            <a:off x="1238250" y="710736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2</a:t>
            </a:r>
          </a:p>
        </p:txBody>
      </p:sp>
      <p:sp>
        <p:nvSpPr>
          <p:cNvPr id="26" name="TextBox 25"/>
          <p:cNvSpPr txBox="1"/>
          <p:nvPr/>
        </p:nvSpPr>
        <p:spPr>
          <a:xfrm>
            <a:off x="42100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4</a:t>
            </a:r>
          </a:p>
        </p:txBody>
      </p:sp>
      <p:sp>
        <p:nvSpPr>
          <p:cNvPr id="27" name="TextBox 26"/>
          <p:cNvSpPr txBox="1"/>
          <p:nvPr/>
        </p:nvSpPr>
        <p:spPr>
          <a:xfrm>
            <a:off x="1238250" y="569766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4</a:t>
            </a:r>
          </a:p>
        </p:txBody>
      </p:sp>
      <p:sp>
        <p:nvSpPr>
          <p:cNvPr id="28" name="TextBox 27"/>
          <p:cNvSpPr txBox="1"/>
          <p:nvPr/>
        </p:nvSpPr>
        <p:spPr>
          <a:xfrm>
            <a:off x="56197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6</a:t>
            </a:r>
          </a:p>
        </p:txBody>
      </p:sp>
      <p:sp>
        <p:nvSpPr>
          <p:cNvPr id="29" name="TextBox 28"/>
          <p:cNvSpPr txBox="1"/>
          <p:nvPr/>
        </p:nvSpPr>
        <p:spPr>
          <a:xfrm>
            <a:off x="1238250" y="428796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6</a:t>
            </a:r>
          </a:p>
        </p:txBody>
      </p:sp>
      <p:sp>
        <p:nvSpPr>
          <p:cNvPr id="30" name="TextBox 29"/>
          <p:cNvSpPr txBox="1"/>
          <p:nvPr/>
        </p:nvSpPr>
        <p:spPr>
          <a:xfrm>
            <a:off x="70294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8</a:t>
            </a:r>
          </a:p>
        </p:txBody>
      </p:sp>
      <p:sp>
        <p:nvSpPr>
          <p:cNvPr id="31" name="TextBox 30"/>
          <p:cNvSpPr txBox="1"/>
          <p:nvPr/>
        </p:nvSpPr>
        <p:spPr>
          <a:xfrm>
            <a:off x="1238250" y="287826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8</a:t>
            </a:r>
          </a:p>
        </p:txBody>
      </p:sp>
      <p:sp>
        <p:nvSpPr>
          <p:cNvPr id="32" name="Rectangle 31"/>
          <p:cNvSpPr/>
          <p:nvPr/>
        </p:nvSpPr>
        <p:spPr>
          <a:xfrm>
            <a:off x="2705100" y="7555040"/>
            <a:ext cx="61379"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2709329" y="7555040"/>
            <a:ext cx="69132"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2721312" y="7555040"/>
            <a:ext cx="76886"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2741047" y="7555040"/>
            <a:ext cx="85344"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2769241" y="7555040"/>
            <a:ext cx="9309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2805189" y="7555040"/>
            <a:ext cx="100851"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2848889" y="7555040"/>
            <a:ext cx="108604"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2900343" y="7555040"/>
            <a:ext cx="11635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2959551" y="7555040"/>
            <a:ext cx="12058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3022987" y="7554335"/>
            <a:ext cx="121291"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2" name="Connector 41"/>
          <p:cNvCxnSpPr/>
          <p:nvPr/>
        </p:nvCxnSpPr>
        <p:spPr>
          <a:xfrm flipV="1">
            <a:off x="3115704" y="7576566"/>
            <a:ext cx="64141" cy="493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179845" y="7567403"/>
            <a:ext cx="63437" cy="9163"/>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243282" y="7553306"/>
            <a:ext cx="62731" cy="14097"/>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306013" y="7534980"/>
            <a:ext cx="61322" cy="1832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367335" y="7513834"/>
            <a:ext cx="60617" cy="2114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3427952" y="7489869"/>
            <a:ext cx="59208" cy="2396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3487160" y="7465905"/>
            <a:ext cx="59207" cy="2396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546367" y="7441235"/>
            <a:ext cx="59912" cy="2467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3606279" y="7417270"/>
            <a:ext cx="59208" cy="2396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3665487" y="7394010"/>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725399" y="7370750"/>
            <a:ext cx="59207"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784606" y="7347490"/>
            <a:ext cx="59913"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844519" y="7324230"/>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3904431" y="7300970"/>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3964343" y="7277710"/>
            <a:ext cx="59207"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023550" y="7254450"/>
            <a:ext cx="59913"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083463" y="7231190"/>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4143375" y="7207929"/>
            <a:ext cx="59912" cy="23261"/>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4203287" y="7184669"/>
            <a:ext cx="59208"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262495" y="7161409"/>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4322407" y="7138149"/>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4382319" y="7114889"/>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442231" y="7091629"/>
            <a:ext cx="59913"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502144" y="7068369"/>
            <a:ext cx="59207"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561351" y="7045109"/>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621263" y="7021144"/>
            <a:ext cx="59913" cy="2396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4681176" y="6996474"/>
            <a:ext cx="59207" cy="2467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740383" y="6972510"/>
            <a:ext cx="59207" cy="2396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799590" y="6948545"/>
            <a:ext cx="59208" cy="2396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4858798" y="6927399"/>
            <a:ext cx="60617" cy="2114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4919415" y="6909073"/>
            <a:ext cx="61322" cy="1832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4980737" y="6894976"/>
            <a:ext cx="62731" cy="14097"/>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5043468" y="6885813"/>
            <a:ext cx="63437" cy="9163"/>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5106905" y="6880879"/>
            <a:ext cx="64141" cy="493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76" name="Rectangle 75"/>
          <p:cNvSpPr/>
          <p:nvPr/>
        </p:nvSpPr>
        <p:spPr>
          <a:xfrm>
            <a:off x="5142471" y="6852304"/>
            <a:ext cx="121291"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5206613" y="6850894"/>
            <a:ext cx="12058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5270049" y="6850190"/>
            <a:ext cx="11635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5329257" y="6850190"/>
            <a:ext cx="108604"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5380711" y="6850190"/>
            <a:ext cx="100851"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5424411" y="6850190"/>
            <a:ext cx="9309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5460359" y="6850190"/>
            <a:ext cx="85344"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5488553" y="6850190"/>
            <a:ext cx="76886"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5508288" y="6850190"/>
            <a:ext cx="69132"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5520271" y="6850190"/>
            <a:ext cx="61379"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5524500" y="6850190"/>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5524500" y="6850190"/>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5524500" y="6850190"/>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5524500" y="6850190"/>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5524500" y="6850190"/>
            <a:ext cx="57855"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5525205" y="6850190"/>
            <a:ext cx="59969"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5528024" y="6849485"/>
            <a:ext cx="65608"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3" name="Connector 92"/>
          <p:cNvCxnSpPr/>
          <p:nvPr/>
        </p:nvCxnSpPr>
        <p:spPr>
          <a:xfrm flipV="1">
            <a:off x="5565057" y="6868192"/>
            <a:ext cx="13393" cy="634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5578450" y="6858324"/>
            <a:ext cx="17621" cy="9868"/>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5596071" y="6842817"/>
            <a:ext cx="21850" cy="15507"/>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5617921" y="6820967"/>
            <a:ext cx="25375" cy="21850"/>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5643296" y="6793478"/>
            <a:ext cx="27489" cy="2748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5670785" y="6758940"/>
            <a:ext cx="28194" cy="34538"/>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5698979" y="6716649"/>
            <a:ext cx="28899" cy="4229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5727878" y="6668719"/>
            <a:ext cx="26784" cy="47930"/>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5754662" y="6617970"/>
            <a:ext cx="22555" cy="5074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5777217" y="6564401"/>
            <a:ext cx="17622" cy="5356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5794839" y="6510128"/>
            <a:ext cx="12687" cy="5427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5807526" y="6455150"/>
            <a:ext cx="9868" cy="54978"/>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5817394" y="6400171"/>
            <a:ext cx="7048" cy="5497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5824442" y="6344488"/>
            <a:ext cx="5639" cy="5568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5830081" y="6288805"/>
            <a:ext cx="5639" cy="5568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5835720" y="6233122"/>
            <a:ext cx="4934" cy="5568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5840654" y="6177439"/>
            <a:ext cx="7048" cy="5568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5847702" y="6122460"/>
            <a:ext cx="9163" cy="5497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5856865" y="6068187"/>
            <a:ext cx="11983" cy="5427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5868848" y="6014618"/>
            <a:ext cx="16211" cy="5356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5885059" y="5962460"/>
            <a:ext cx="20441" cy="52158"/>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5905500" y="5920169"/>
            <a:ext cx="20441" cy="4229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5925941" y="5878582"/>
            <a:ext cx="22555" cy="41587"/>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5948496" y="5838406"/>
            <a:ext cx="23965" cy="4017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5972461" y="5798934"/>
            <a:ext cx="25374" cy="3947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5997835" y="5760168"/>
            <a:ext cx="26080" cy="3876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6023915" y="5720696"/>
            <a:ext cx="26079" cy="3947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6049994" y="5681224"/>
            <a:ext cx="26080" cy="3947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6076074" y="5641753"/>
            <a:ext cx="24669" cy="3947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6100743" y="5600871"/>
            <a:ext cx="23965" cy="4088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6124708" y="5559285"/>
            <a:ext cx="21146" cy="4158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6145854" y="5516289"/>
            <a:ext cx="19736" cy="4299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6165590" y="5472589"/>
            <a:ext cx="16916" cy="43700"/>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6182506" y="5428183"/>
            <a:ext cx="14097" cy="4440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6196603" y="5383073"/>
            <a:ext cx="13392" cy="45110"/>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6209995" y="5339372"/>
            <a:ext cx="11278" cy="4370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6221273" y="5298491"/>
            <a:ext cx="9163" cy="4088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6230436" y="5261839"/>
            <a:ext cx="7753" cy="3665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6238189" y="5229416"/>
            <a:ext cx="6344" cy="3242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sp>
        <p:nvSpPr>
          <p:cNvPr id="132" name="Rectangle 131"/>
          <p:cNvSpPr/>
          <p:nvPr/>
        </p:nvSpPr>
        <p:spPr>
          <a:xfrm>
            <a:off x="6215958" y="5171942"/>
            <a:ext cx="57150" cy="86049"/>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Rectangle 132"/>
          <p:cNvSpPr/>
          <p:nvPr/>
        </p:nvSpPr>
        <p:spPr>
          <a:xfrm>
            <a:off x="6220187" y="5147977"/>
            <a:ext cx="57150" cy="8111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Rectangle 133"/>
          <p:cNvSpPr/>
          <p:nvPr/>
        </p:nvSpPr>
        <p:spPr>
          <a:xfrm>
            <a:off x="6223711" y="5127536"/>
            <a:ext cx="57150" cy="77591"/>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Rectangle 134"/>
          <p:cNvSpPr/>
          <p:nvPr/>
        </p:nvSpPr>
        <p:spPr>
          <a:xfrm>
            <a:off x="6226531" y="5111325"/>
            <a:ext cx="57150" cy="73362"/>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Rectangle 135"/>
          <p:cNvSpPr/>
          <p:nvPr/>
        </p:nvSpPr>
        <p:spPr>
          <a:xfrm>
            <a:off x="6227940" y="5100047"/>
            <a:ext cx="57150" cy="68428"/>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Rectangle 136"/>
          <p:cNvSpPr/>
          <p:nvPr/>
        </p:nvSpPr>
        <p:spPr>
          <a:xfrm>
            <a:off x="6228645" y="5092294"/>
            <a:ext cx="57150" cy="64903"/>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Rectangle 137"/>
          <p:cNvSpPr/>
          <p:nvPr/>
        </p:nvSpPr>
        <p:spPr>
          <a:xfrm>
            <a:off x="6229350" y="5092294"/>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Rectangle 138"/>
          <p:cNvSpPr/>
          <p:nvPr/>
        </p:nvSpPr>
        <p:spPr>
          <a:xfrm>
            <a:off x="6229350" y="5088769"/>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Rectangle 139"/>
          <p:cNvSpPr/>
          <p:nvPr/>
        </p:nvSpPr>
        <p:spPr>
          <a:xfrm>
            <a:off x="6229350" y="5088065"/>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Rounded Rectangle 140"/>
          <p:cNvSpPr/>
          <p:nvPr/>
        </p:nvSpPr>
        <p:spPr>
          <a:xfrm>
            <a:off x="2428875" y="7278815"/>
            <a:ext cx="609600" cy="609600"/>
          </a:xfrm>
          <a:prstGeom prst="roundRect">
            <a:avLst>
              <a:gd name="adj" fmla="val 15625"/>
            </a:avLst>
          </a:prstGeom>
          <a:noFill/>
          <a:ln w="28575">
            <a:solidFill>
              <a:srgbClr val="9A7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2" name="Picture 141" descr="bullseye.png"/>
          <p:cNvPicPr>
            <a:picLocks noChangeAspect="1"/>
          </p:cNvPicPr>
          <p:nvPr/>
        </p:nvPicPr>
        <p:blipFill>
          <a:blip r:embed="rId3"/>
          <a:stretch>
            <a:fillRect/>
          </a:stretch>
        </p:blipFill>
        <p:spPr>
          <a:xfrm>
            <a:off x="4276725" y="5602415"/>
            <a:ext cx="438150" cy="438150"/>
          </a:xfrm>
          <a:prstGeom prst="rect">
            <a:avLst/>
          </a:prstGeom>
        </p:spPr>
      </p:pic>
      <p:cxnSp>
        <p:nvCxnSpPr>
          <p:cNvPr id="143" name="Connector 142"/>
          <p:cNvCxnSpPr/>
          <p:nvPr/>
        </p:nvCxnSpPr>
        <p:spPr>
          <a:xfrm flipH="1">
            <a:off x="4743450" y="4964240"/>
            <a:ext cx="1133475" cy="952500"/>
          </a:xfrm>
          <a:prstGeom prst="line">
            <a:avLst/>
          </a:prstGeom>
          <a:ln w="38100">
            <a:solidFill>
              <a:srgbClr val="D5000E"/>
            </a:solidFill>
            <a:prstDash val="dash"/>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H="1">
            <a:off x="6176812" y="4449890"/>
            <a:ext cx="81113" cy="495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H="1">
            <a:off x="6096904" y="4454842"/>
            <a:ext cx="79908" cy="1478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H="1">
            <a:off x="6019388" y="4469625"/>
            <a:ext cx="77516" cy="2439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H="1">
            <a:off x="5945415" y="4494020"/>
            <a:ext cx="73973" cy="3364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H="1">
            <a:off x="5876085" y="4527663"/>
            <a:ext cx="69330" cy="4239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H="1">
            <a:off x="5812427" y="4570056"/>
            <a:ext cx="63658" cy="5051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H="1">
            <a:off x="5755386" y="4620568"/>
            <a:ext cx="57041" cy="5788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H="1">
            <a:off x="5705811" y="4678450"/>
            <a:ext cx="49575" cy="6439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H="1">
            <a:off x="5664438" y="4742840"/>
            <a:ext cx="41373" cy="6994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H="1">
            <a:off x="5631880" y="4812784"/>
            <a:ext cx="32558" cy="74457"/>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H="1">
            <a:off x="5608623" y="4887241"/>
            <a:ext cx="23257" cy="7786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H="1">
            <a:off x="5595011" y="4965106"/>
            <a:ext cx="13612" cy="8011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56" name="Rectangle 155"/>
          <p:cNvSpPr/>
          <p:nvPr/>
        </p:nvSpPr>
        <p:spPr>
          <a:xfrm>
            <a:off x="5571198" y="5021409"/>
            <a:ext cx="47625" cy="128802"/>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57" name="Connector 156"/>
          <p:cNvCxnSpPr/>
          <p:nvPr/>
        </p:nvCxnSpPr>
        <p:spPr>
          <a:xfrm>
            <a:off x="5591246" y="5126398"/>
            <a:ext cx="6139" cy="8103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5597385" y="5207430"/>
            <a:ext cx="15952" cy="7968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5597385" y="5207430"/>
            <a:ext cx="41478" cy="156834"/>
          </a:xfrm>
          <a:prstGeom prst="line">
            <a:avLst/>
          </a:prstGeom>
          <a:ln w="47625">
            <a:solidFill>
              <a:srgbClr val="D5000E"/>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60" name="Picture 159" descr="dozer_top.png"/>
          <p:cNvPicPr>
            <a:picLocks noChangeAspect="1"/>
          </p:cNvPicPr>
          <p:nvPr/>
        </p:nvPicPr>
        <p:blipFill>
          <a:blip r:embed="rId4"/>
          <a:stretch>
            <a:fillRect/>
          </a:stretch>
        </p:blipFill>
        <p:spPr>
          <a:xfrm rot="9491915">
            <a:off x="5857875" y="4748913"/>
            <a:ext cx="800100" cy="735454"/>
          </a:xfrm>
          <a:prstGeom prst="rect">
            <a:avLst/>
          </a:prstGeom>
        </p:spPr>
      </p:pic>
      <p:sp>
        <p:nvSpPr>
          <p:cNvPr id="161" name="Oval 160"/>
          <p:cNvSpPr/>
          <p:nvPr/>
        </p:nvSpPr>
        <p:spPr>
          <a:xfrm>
            <a:off x="3773843" y="667232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3773843" y="667232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63" name="Oval 162"/>
          <p:cNvSpPr/>
          <p:nvPr/>
        </p:nvSpPr>
        <p:spPr>
          <a:xfrm>
            <a:off x="5648325" y="7012115"/>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5648325" y="701211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65" name="Oval 164"/>
          <p:cNvSpPr/>
          <p:nvPr/>
        </p:nvSpPr>
        <p:spPr>
          <a:xfrm>
            <a:off x="6196146" y="5783332"/>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6196146" y="5783332"/>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67" name="Oval 166"/>
          <p:cNvSpPr/>
          <p:nvPr/>
        </p:nvSpPr>
        <p:spPr>
          <a:xfrm>
            <a:off x="6734175" y="416414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6734175" y="416414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69" name="Oval 168"/>
          <p:cNvSpPr/>
          <p:nvPr/>
        </p:nvSpPr>
        <p:spPr>
          <a:xfrm>
            <a:off x="5186362" y="5564315"/>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5186362" y="556431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171" name="TextBox 170"/>
          <p:cNvSpPr txBox="1"/>
          <p:nvPr/>
        </p:nvSpPr>
        <p:spPr>
          <a:xfrm>
            <a:off x="1971675" y="7964615"/>
            <a:ext cx="1524000" cy="2857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Start</a:t>
            </a:r>
          </a:p>
        </p:txBody>
      </p:sp>
      <p:sp>
        <p:nvSpPr>
          <p:cNvPr id="172" name="TextBox 171"/>
          <p:cNvSpPr txBox="1"/>
          <p:nvPr/>
        </p:nvSpPr>
        <p:spPr>
          <a:xfrm>
            <a:off x="3733800" y="5230940"/>
            <a:ext cx="1524000" cy="285750"/>
          </a:xfrm>
          <a:prstGeom prst="rect">
            <a:avLst/>
          </a:prstGeom>
          <a:noFill/>
        </p:spPr>
        <p:txBody>
          <a:bodyPr wrap="square" lIns="0" rIns="0" tIns="0" bIns="0" anchor="t">
            <a:spAutoFit/>
          </a:bodyPr>
          <a:lstStyle/>
          <a:p>
            <a:pPr algn="ctr"/>
            <a:r>
              <a:rPr sz="1650" b="1" i="0">
                <a:solidFill>
                  <a:srgbClr val="F0E8E8"/>
                </a:solidFill>
                <a:latin typeface="Geist"/>
                <a:ea typeface="Geist"/>
                <a:cs typeface="Geist"/>
              </a:rPr>
              <a:t>Goal</a:t>
            </a:r>
          </a:p>
        </p:txBody>
      </p:sp>
      <p:sp>
        <p:nvSpPr>
          <p:cNvPr id="173" name="Oval 172"/>
          <p:cNvSpPr/>
          <p:nvPr/>
        </p:nvSpPr>
        <p:spPr>
          <a:xfrm>
            <a:off x="876300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876300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75" name="TextBox 174"/>
          <p:cNvSpPr txBox="1"/>
          <p:nvPr/>
        </p:nvSpPr>
        <p:spPr>
          <a:xfrm>
            <a:off x="9372600" y="2819400"/>
            <a:ext cx="79629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FollowPath ToPickup</a:t>
            </a:r>
          </a:p>
        </p:txBody>
      </p:sp>
      <p:sp>
        <p:nvSpPr>
          <p:cNvPr id="176" name="TextBox 175"/>
          <p:cNvSpPr txBox="1"/>
          <p:nvPr/>
        </p:nvSpPr>
        <p:spPr>
          <a:xfrm>
            <a:off x="9372600" y="3238500"/>
            <a:ext cx="79629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From Start to the game piece</a:t>
            </a:r>
          </a:p>
        </p:txBody>
      </p:sp>
      <p:sp>
        <p:nvSpPr>
          <p:cNvPr id="177" name="Oval 176"/>
          <p:cNvSpPr/>
          <p:nvPr/>
        </p:nvSpPr>
        <p:spPr>
          <a:xfrm>
            <a:off x="8763000" y="40386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8763000" y="40386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79" name="TextBox 178"/>
          <p:cNvSpPr txBox="1"/>
          <p:nvPr/>
        </p:nvSpPr>
        <p:spPr>
          <a:xfrm>
            <a:off x="9372600" y="4000500"/>
            <a:ext cx="79629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Sleep on Pickup</a:t>
            </a:r>
          </a:p>
        </p:txBody>
      </p:sp>
      <p:sp>
        <p:nvSpPr>
          <p:cNvPr id="180" name="TextBox 179"/>
          <p:cNvSpPr txBox="1"/>
          <p:nvPr/>
        </p:nvSpPr>
        <p:spPr>
          <a:xfrm>
            <a:off x="9372600" y="4419600"/>
            <a:ext cx="79629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Half a second to pick it up</a:t>
            </a:r>
          </a:p>
        </p:txBody>
      </p:sp>
      <p:sp>
        <p:nvSpPr>
          <p:cNvPr id="181" name="Oval 180"/>
          <p:cNvSpPr/>
          <p:nvPr/>
        </p:nvSpPr>
        <p:spPr>
          <a:xfrm>
            <a:off x="8763000" y="52197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8763000" y="52197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83" name="TextBox 182"/>
          <p:cNvSpPr txBox="1"/>
          <p:nvPr/>
        </p:nvSpPr>
        <p:spPr>
          <a:xfrm>
            <a:off x="9372600" y="5181600"/>
            <a:ext cx="79629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FollowPath ToScore</a:t>
            </a:r>
          </a:p>
        </p:txBody>
      </p:sp>
      <p:sp>
        <p:nvSpPr>
          <p:cNvPr id="184" name="TextBox 183"/>
          <p:cNvSpPr txBox="1"/>
          <p:nvPr/>
        </p:nvSpPr>
        <p:spPr>
          <a:xfrm>
            <a:off x="9372600" y="5600700"/>
            <a:ext cx="79629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Arrives facing up the field</a:t>
            </a:r>
          </a:p>
        </p:txBody>
      </p:sp>
      <p:sp>
        <p:nvSpPr>
          <p:cNvPr id="185" name="Oval 184"/>
          <p:cNvSpPr/>
          <p:nvPr/>
        </p:nvSpPr>
        <p:spPr>
          <a:xfrm>
            <a:off x="8763000" y="64008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8763000" y="64008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87" name="TextBox 186"/>
          <p:cNvSpPr txBox="1"/>
          <p:nvPr/>
        </p:nvSpPr>
        <p:spPr>
          <a:xfrm>
            <a:off x="9372600" y="6362700"/>
            <a:ext cx="79629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SetWantedState AIM</a:t>
            </a:r>
          </a:p>
        </p:txBody>
      </p:sp>
      <p:sp>
        <p:nvSpPr>
          <p:cNvPr id="188" name="TextBox 187"/>
          <p:cNvSpPr txBox="1"/>
          <p:nvPr/>
        </p:nvSpPr>
        <p:spPr>
          <a:xfrm>
            <a:off x="9372600" y="6781800"/>
            <a:ext cx="79629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Turns about 1.95 rad (112°) left to the goal</a:t>
            </a:r>
          </a:p>
        </p:txBody>
      </p:sp>
      <p:sp>
        <p:nvSpPr>
          <p:cNvPr id="189" name="Oval 188"/>
          <p:cNvSpPr/>
          <p:nvPr/>
        </p:nvSpPr>
        <p:spPr>
          <a:xfrm>
            <a:off x="8763000" y="75819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8763000" y="75819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191" name="TextBox 190"/>
          <p:cNvSpPr txBox="1"/>
          <p:nvPr/>
        </p:nvSpPr>
        <p:spPr>
          <a:xfrm>
            <a:off x="9372600" y="7543800"/>
            <a:ext cx="79629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SetWantedState SHOOT</a:t>
            </a:r>
          </a:p>
        </p:txBody>
      </p:sp>
      <p:sp>
        <p:nvSpPr>
          <p:cNvPr id="192" name="TextBox 191"/>
          <p:cNvSpPr txBox="1"/>
          <p:nvPr/>
        </p:nvSpPr>
        <p:spPr>
          <a:xfrm>
            <a:off x="9372600" y="7962900"/>
            <a:ext cx="79629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Once IsSystemState says AIM</a:t>
            </a:r>
          </a:p>
        </p:txBody>
      </p:sp>
      <p:sp>
        <p:nvSpPr>
          <p:cNvPr id="193" name="TextBox 19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94" name="TextBox 19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ARBOR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Picking and running the auto</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334000" cy="3143250"/>
          </a:xfrm>
          <a:prstGeom prst="roundRect">
            <a:avLst>
              <a:gd name="adj" fmla="val 484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067050"/>
            <a:ext cx="4572000" cy="323850"/>
          </a:xfrm>
          <a:prstGeom prst="rect">
            <a:avLst/>
          </a:prstGeom>
          <a:noFill/>
        </p:spPr>
        <p:txBody>
          <a:bodyPr wrap="square" lIns="0" rIns="0" tIns="0" bIns="0" anchor="t">
            <a:spAutoFit/>
          </a:bodyPr>
          <a:lstStyle/>
          <a:p>
            <a:pPr algn="l"/>
            <a:r>
              <a:rPr sz="1800" b="1" i="0">
                <a:solidFill>
                  <a:srgbClr val="F0E8E8"/>
                </a:solidFill>
                <a:latin typeface="Geist"/>
                <a:ea typeface="Geist"/>
                <a:cs typeface="Geist"/>
              </a:rPr>
              <a:t>Auto Chooser</a:t>
            </a:r>
          </a:p>
        </p:txBody>
      </p:sp>
      <p:sp>
        <p:nvSpPr>
          <p:cNvPr id="7" name="Rounded Rectangle 6"/>
          <p:cNvSpPr/>
          <p:nvPr/>
        </p:nvSpPr>
        <p:spPr>
          <a:xfrm>
            <a:off x="1295400" y="3524250"/>
            <a:ext cx="4572000" cy="571500"/>
          </a:xfrm>
          <a:prstGeom prst="roundRect">
            <a:avLst>
              <a:gd name="adj" fmla="val 16666"/>
            </a:avLst>
          </a:prstGeom>
          <a:solidFill>
            <a:srgbClr val="0A0A0A"/>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524000" y="3524250"/>
            <a:ext cx="3810000" cy="5715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PickupAndScore</a:t>
            </a:r>
          </a:p>
        </p:txBody>
      </p:sp>
      <p:sp>
        <p:nvSpPr>
          <p:cNvPr id="9" name="TextBox 8"/>
          <p:cNvSpPr txBox="1"/>
          <p:nvPr/>
        </p:nvSpPr>
        <p:spPr>
          <a:xfrm>
            <a:off x="5429250" y="3524250"/>
            <a:ext cx="381000" cy="571500"/>
          </a:xfrm>
          <a:prstGeom prst="rect">
            <a:avLst/>
          </a:prstGeom>
          <a:noFill/>
        </p:spPr>
        <p:txBody>
          <a:bodyPr wrap="square" lIns="0" rIns="0" tIns="0" bIns="0" anchor="ctr">
            <a:spAutoFit/>
          </a:bodyPr>
          <a:lstStyle/>
          <a:p>
            <a:pPr algn="l"/>
            <a:r>
              <a:rPr sz="1800" b="0" i="0">
                <a:solidFill>
                  <a:srgbClr val="9A7878"/>
                </a:solidFill>
                <a:latin typeface="Geist"/>
                <a:ea typeface="Geist"/>
                <a:cs typeface="Geist"/>
              </a:rPr>
              <a:t>▾</a:t>
            </a:r>
          </a:p>
        </p:txBody>
      </p:sp>
      <p:sp>
        <p:nvSpPr>
          <p:cNvPr id="10" name="Rounded Rectangle 9"/>
          <p:cNvSpPr/>
          <p:nvPr/>
        </p:nvSpPr>
        <p:spPr>
          <a:xfrm>
            <a:off x="1295400" y="4229100"/>
            <a:ext cx="4572000" cy="533400"/>
          </a:xfrm>
          <a:prstGeom prst="roundRect">
            <a:avLst>
              <a:gd name="adj" fmla="val 14285"/>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524000" y="4229100"/>
            <a:ext cx="4191000" cy="5334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Do Nothing</a:t>
            </a:r>
          </a:p>
        </p:txBody>
      </p:sp>
      <p:sp>
        <p:nvSpPr>
          <p:cNvPr id="12" name="Rounded Rectangle 11"/>
          <p:cNvSpPr/>
          <p:nvPr/>
        </p:nvSpPr>
        <p:spPr>
          <a:xfrm>
            <a:off x="1295400" y="4838700"/>
            <a:ext cx="4572000" cy="533400"/>
          </a:xfrm>
          <a:prstGeom prst="roundRect">
            <a:avLst>
              <a:gd name="adj" fmla="val 1428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524000" y="4838700"/>
            <a:ext cx="4191000" cy="53340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PickupAndScore</a:t>
            </a:r>
          </a:p>
        </p:txBody>
      </p:sp>
      <p:sp>
        <p:nvSpPr>
          <p:cNvPr id="14" name="TextBox 13"/>
          <p:cNvSpPr txBox="1"/>
          <p:nvPr/>
        </p:nvSpPr>
        <p:spPr>
          <a:xfrm>
            <a:off x="914400" y="6096000"/>
            <a:ext cx="5334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Elastic: one option per auto that passed the boot check</a:t>
            </a:r>
          </a:p>
        </p:txBody>
      </p:sp>
      <p:sp>
        <p:nvSpPr>
          <p:cNvPr id="15" name="Rounded Rectangle 14"/>
          <p:cNvSpPr/>
          <p:nvPr/>
        </p:nvSpPr>
        <p:spPr>
          <a:xfrm>
            <a:off x="6667500" y="2857500"/>
            <a:ext cx="32512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762750" y="3429000"/>
            <a:ext cx="30607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Boot check</a:t>
            </a:r>
          </a:p>
        </p:txBody>
      </p:sp>
      <p:sp>
        <p:nvSpPr>
          <p:cNvPr id="17" name="TextBox 16"/>
          <p:cNvSpPr txBox="1"/>
          <p:nvPr/>
        </p:nvSpPr>
        <p:spPr>
          <a:xfrm>
            <a:off x="6819900" y="4019550"/>
            <a:ext cx="29464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Broken autos left out, with an alert</a:t>
            </a:r>
          </a:p>
        </p:txBody>
      </p:sp>
      <p:sp>
        <p:nvSpPr>
          <p:cNvPr id="18" name="Rectangle 17"/>
          <p:cNvSpPr/>
          <p:nvPr/>
        </p:nvSpPr>
        <p:spPr>
          <a:xfrm>
            <a:off x="9980612" y="3890962"/>
            <a:ext cx="2152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5400000">
            <a:off x="10166350" y="38290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394950" y="2857500"/>
            <a:ext cx="32512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490200" y="3429000"/>
            <a:ext cx="30607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Pick</a:t>
            </a:r>
          </a:p>
        </p:txBody>
      </p:sp>
      <p:sp>
        <p:nvSpPr>
          <p:cNvPr id="22" name="TextBox 21"/>
          <p:cNvSpPr txBox="1"/>
          <p:nvPr/>
        </p:nvSpPr>
        <p:spPr>
          <a:xfrm>
            <a:off x="10547350" y="4019550"/>
            <a:ext cx="29464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Paths loaded while disabled</a:t>
            </a:r>
          </a:p>
        </p:txBody>
      </p:sp>
      <p:sp>
        <p:nvSpPr>
          <p:cNvPr id="23" name="Rectangle 22"/>
          <p:cNvSpPr/>
          <p:nvPr/>
        </p:nvSpPr>
        <p:spPr>
          <a:xfrm>
            <a:off x="13708062" y="3890962"/>
            <a:ext cx="2152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rot="5400000">
            <a:off x="13893800" y="38290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4122400" y="2857500"/>
            <a:ext cx="3251200" cy="2095500"/>
          </a:xfrm>
          <a:prstGeom prst="roundRect">
            <a:avLst>
              <a:gd name="adj" fmla="val 7272"/>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4217650" y="3429000"/>
            <a:ext cx="30607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Tick</a:t>
            </a:r>
          </a:p>
        </p:txBody>
      </p:sp>
      <p:sp>
        <p:nvSpPr>
          <p:cNvPr id="27" name="TextBox 26"/>
          <p:cNvSpPr txBox="1"/>
          <p:nvPr/>
        </p:nvSpPr>
        <p:spPr>
          <a:xfrm>
            <a:off x="14274800" y="4019550"/>
            <a:ext cx="29464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Once per loop, before the robot runs</a:t>
            </a:r>
          </a:p>
        </p:txBody>
      </p:sp>
      <p:sp>
        <p:nvSpPr>
          <p:cNvPr id="28" name="TextBox 27"/>
          <p:cNvSpPr txBox="1"/>
          <p:nvPr/>
        </p:nvSpPr>
        <p:spPr>
          <a:xfrm>
            <a:off x="6667500" y="5105400"/>
            <a:ext cx="107061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  ·  robotPeriodic()</a:t>
            </a:r>
          </a:p>
        </p:txBody>
      </p:sp>
      <p:sp>
        <p:nvSpPr>
          <p:cNvPr id="29" name="Rounded Rectangle 28"/>
          <p:cNvSpPr/>
          <p:nvPr/>
        </p:nvSpPr>
        <p:spPr>
          <a:xfrm>
            <a:off x="6667500" y="5524500"/>
            <a:ext cx="10706100" cy="1390650"/>
          </a:xfrm>
          <a:prstGeom prst="roundRect">
            <a:avLst>
              <a:gd name="adj" fmla="val 10958"/>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048500" y="5905500"/>
            <a:ext cx="101727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AutoManager.getInstance().periodic();  </a:t>
            </a:r>
            <a:r>
              <a:rPr sz="1650" b="0" i="1">
                <a:solidFill>
                  <a:srgbClr val="9A7878"/>
                </a:solidFill>
                <a:latin typeface="Geist Mono"/>
                <a:ea typeface="Geist Mono"/>
                <a:cs typeface="Geist Mono"/>
              </a:rPr>
              <a:t>// tick the tree</a:t>
            </a:r>
          </a:p>
        </p:txBody>
      </p:sp>
      <p:sp>
        <p:nvSpPr>
          <p:cNvPr id="31" name="TextBox 30"/>
          <p:cNvSpPr txBox="1"/>
          <p:nvPr/>
        </p:nvSpPr>
        <p:spPr>
          <a:xfrm>
            <a:off x="7048500" y="6219825"/>
            <a:ext cx="101727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robot_container_.doControlLoop();        </a:t>
            </a:r>
            <a:r>
              <a:rPr sz="1650" b="0" i="1">
                <a:solidFill>
                  <a:srgbClr val="9A7878"/>
                </a:solidFill>
                <a:latin typeface="Geist Mono"/>
                <a:ea typeface="Geist Mono"/>
                <a:cs typeface="Geist Mono"/>
              </a:rPr>
              <a:t>// then the robot</a:t>
            </a:r>
          </a:p>
        </p:txBody>
      </p:sp>
      <p:sp>
        <p:nvSpPr>
          <p:cNvPr id="32" name="Rounded Rectangle 31"/>
          <p:cNvSpPr/>
          <p:nvPr/>
        </p:nvSpPr>
        <p:spPr>
          <a:xfrm>
            <a:off x="914400" y="79057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file-earmark-code.png"/>
          <p:cNvPicPr>
            <a:picLocks noChangeAspect="1"/>
          </p:cNvPicPr>
          <p:nvPr/>
        </p:nvPicPr>
        <p:blipFill>
          <a:blip r:embed="rId3"/>
          <a:stretch>
            <a:fillRect/>
          </a:stretch>
        </p:blipFill>
        <p:spPr>
          <a:xfrm>
            <a:off x="1333500" y="8115300"/>
            <a:ext cx="400050" cy="533400"/>
          </a:xfrm>
          <a:prstGeom prst="rect">
            <a:avLst/>
          </a:prstGeom>
        </p:spPr>
      </p:pic>
      <p:sp>
        <p:nvSpPr>
          <p:cNvPr id="34" name="TextBox 33"/>
          <p:cNvSpPr txBox="1"/>
          <p:nvPr/>
        </p:nvSpPr>
        <p:spPr>
          <a:xfrm>
            <a:off x="2190750" y="790575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No rebuild:  </a:t>
            </a:r>
            <a:r>
              <a:rPr sz="2100" b="0" i="0">
                <a:solidFill>
                  <a:srgbClr val="F0E8E8"/>
                </a:solidFill>
                <a:latin typeface="Geist"/>
                <a:ea typeface="Geist"/>
                <a:cs typeface="Geist"/>
              </a:rPr>
              <a:t>changing a tree is a file save. Deploy it and pick the auto again.</a:t>
            </a:r>
          </a:p>
        </p:txBody>
      </p:sp>
      <p:sp>
        <p:nvSpPr>
          <p:cNvPr id="35" name="TextBox 3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6" name="TextBox 3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ARBOR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On the competition robot</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19400"/>
            <a:ext cx="11239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trees/CitrusSynergy.xml  (2026 robot, trimmed)</a:t>
            </a:r>
          </a:p>
        </p:txBody>
      </p:sp>
      <p:sp>
        <p:nvSpPr>
          <p:cNvPr id="6" name="Rounded Rectangle 5"/>
          <p:cNvSpPr/>
          <p:nvPr/>
        </p:nvSpPr>
        <p:spPr>
          <a:xfrm>
            <a:off x="914400" y="3238500"/>
            <a:ext cx="11239500" cy="4114800"/>
          </a:xfrm>
          <a:prstGeom prst="roundRect">
            <a:avLst>
              <a:gd name="adj" fmla="val 370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619500"/>
            <a:ext cx="10706100" cy="335280"/>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&lt;Sequence&gt;</a:t>
            </a:r>
          </a:p>
        </p:txBody>
      </p:sp>
      <p:sp>
        <p:nvSpPr>
          <p:cNvPr id="8" name="TextBox 7"/>
          <p:cNvSpPr txBox="1"/>
          <p:nvPr/>
        </p:nvSpPr>
        <p:spPr>
          <a:xfrm>
            <a:off x="1295400" y="3954780"/>
            <a:ext cx="10706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&lt;ParallelDeadline&gt;</a:t>
            </a:r>
          </a:p>
        </p:txBody>
      </p:sp>
      <p:sp>
        <p:nvSpPr>
          <p:cNvPr id="9" name="TextBox 8"/>
          <p:cNvSpPr txBox="1"/>
          <p:nvPr/>
        </p:nvSpPr>
        <p:spPr>
          <a:xfrm>
            <a:off x="1295400" y="4290060"/>
            <a:ext cx="10706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&lt;FollowTrajectory</a:t>
            </a:r>
            <a:r>
              <a:rPr sz="1650" b="0" i="0">
                <a:solidFill>
                  <a:srgbClr val="F0E8E8"/>
                </a:solidFill>
                <a:latin typeface="Geist Mono"/>
                <a:ea typeface="Geist Mono"/>
                <a:cs typeface="Geist Mono"/>
              </a:rPr>
              <a:t> trajectory=</a:t>
            </a:r>
            <a:r>
              <a:rPr sz="1650" b="0" i="0">
                <a:solidFill>
                  <a:srgbClr val="9FD29A"/>
                </a:solidFill>
                <a:latin typeface="Geist Mono"/>
                <a:ea typeface="Geist Mono"/>
                <a:cs typeface="Geist Mono"/>
              </a:rPr>
              <a:t>"SynergyP1"</a:t>
            </a:r>
            <a:r>
              <a:rPr sz="1650" b="0" i="0">
                <a:solidFill>
                  <a:srgbClr val="E0785F"/>
                </a:solidFill>
                <a:latin typeface="Geist Mono"/>
                <a:ea typeface="Geist Mono"/>
                <a:cs typeface="Geist Mono"/>
              </a:rPr>
              <a:t>/&gt;</a:t>
            </a:r>
          </a:p>
        </p:txBody>
      </p:sp>
      <p:sp>
        <p:nvSpPr>
          <p:cNvPr id="10" name="TextBox 9"/>
          <p:cNvSpPr txBox="1"/>
          <p:nvPr/>
        </p:nvSpPr>
        <p:spPr>
          <a:xfrm>
            <a:off x="1295400" y="4625340"/>
            <a:ext cx="10706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&lt;SubTree</a:t>
            </a:r>
            <a:r>
              <a:rPr sz="1650" b="0" i="0">
                <a:solidFill>
                  <a:srgbClr val="F0E8E8"/>
                </a:solidFill>
                <a:latin typeface="Geist Mono"/>
                <a:ea typeface="Geist Mono"/>
                <a:cs typeface="Geist Mono"/>
              </a:rPr>
              <a:t> ID=</a:t>
            </a:r>
            <a:r>
              <a:rPr sz="1650" b="0" i="0">
                <a:solidFill>
                  <a:srgbClr val="9FD29A"/>
                </a:solidFill>
                <a:latin typeface="Geist Mono"/>
                <a:ea typeface="Geist Mono"/>
                <a:cs typeface="Geist Mono"/>
              </a:rPr>
              <a:t>"IntakeOnEvent"</a:t>
            </a:r>
            <a:r>
              <a:rPr sz="1650" b="0" i="0">
                <a:solidFill>
                  <a:srgbClr val="F0E8E8"/>
                </a:solidFill>
                <a:latin typeface="Geist Mono"/>
                <a:ea typeface="Geist Mono"/>
                <a:cs typeface="Geist Mono"/>
              </a:rPr>
              <a:t> event=</a:t>
            </a:r>
            <a:r>
              <a:rPr sz="1650" b="0" i="0">
                <a:solidFill>
                  <a:srgbClr val="9FD29A"/>
                </a:solidFill>
                <a:latin typeface="Geist Mono"/>
                <a:ea typeface="Geist Mono"/>
                <a:cs typeface="Geist Mono"/>
              </a:rPr>
              <a:t>"Intake Out"</a:t>
            </a:r>
            <a:r>
              <a:rPr sz="1650" b="0" i="0">
                <a:solidFill>
                  <a:srgbClr val="E0785F"/>
                </a:solidFill>
                <a:latin typeface="Geist Mono"/>
                <a:ea typeface="Geist Mono"/>
                <a:cs typeface="Geist Mono"/>
              </a:rPr>
              <a:t>/&gt;</a:t>
            </a:r>
          </a:p>
        </p:txBody>
      </p:sp>
      <p:sp>
        <p:nvSpPr>
          <p:cNvPr id="11" name="TextBox 10"/>
          <p:cNvSpPr txBox="1"/>
          <p:nvPr/>
        </p:nvSpPr>
        <p:spPr>
          <a:xfrm>
            <a:off x="1295400" y="4960620"/>
            <a:ext cx="10706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&lt;/ParallelDeadline&gt;</a:t>
            </a:r>
          </a:p>
        </p:txBody>
      </p:sp>
      <p:sp>
        <p:nvSpPr>
          <p:cNvPr id="12" name="TextBox 11"/>
          <p:cNvSpPr txBox="1"/>
          <p:nvPr/>
        </p:nvSpPr>
        <p:spPr>
          <a:xfrm>
            <a:off x="1295400" y="5295900"/>
            <a:ext cx="10706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&lt;Delay</a:t>
            </a:r>
            <a:r>
              <a:rPr sz="1650" b="0" i="0">
                <a:solidFill>
                  <a:srgbClr val="F0E8E8"/>
                </a:solidFill>
                <a:latin typeface="Geist Mono"/>
                <a:ea typeface="Geist Mono"/>
                <a:cs typeface="Geist Mono"/>
              </a:rPr>
              <a:t> delay_msec=</a:t>
            </a:r>
            <a:r>
              <a:rPr sz="1650" b="0" i="0">
                <a:solidFill>
                  <a:srgbClr val="9FD29A"/>
                </a:solidFill>
                <a:latin typeface="Geist Mono"/>
                <a:ea typeface="Geist Mono"/>
                <a:cs typeface="Geist Mono"/>
              </a:rPr>
              <a:t>"{middle_wait_msec}"</a:t>
            </a:r>
            <a:r>
              <a:rPr sz="1650" b="0" i="0">
                <a:solidFill>
                  <a:srgbClr val="E0785F"/>
                </a:solidFill>
                <a:latin typeface="Geist Mono"/>
                <a:ea typeface="Geist Mono"/>
                <a:cs typeface="Geist Mono"/>
              </a:rPr>
              <a:t>&gt;</a:t>
            </a:r>
          </a:p>
        </p:txBody>
      </p:sp>
      <p:sp>
        <p:nvSpPr>
          <p:cNvPr id="13" name="TextBox 12"/>
          <p:cNvSpPr txBox="1"/>
          <p:nvPr/>
        </p:nvSpPr>
        <p:spPr>
          <a:xfrm>
            <a:off x="1295400" y="5631180"/>
            <a:ext cx="10706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&lt;FollowTrajectory</a:t>
            </a:r>
            <a:r>
              <a:rPr sz="1650" b="0" i="0">
                <a:solidFill>
                  <a:srgbClr val="F0E8E8"/>
                </a:solidFill>
                <a:latin typeface="Geist Mono"/>
                <a:ea typeface="Geist Mono"/>
                <a:cs typeface="Geist Mono"/>
              </a:rPr>
              <a:t> trajectory=</a:t>
            </a:r>
            <a:r>
              <a:rPr sz="1650" b="0" i="0">
                <a:solidFill>
                  <a:srgbClr val="9FD29A"/>
                </a:solidFill>
                <a:latin typeface="Geist Mono"/>
                <a:ea typeface="Geist Mono"/>
                <a:cs typeface="Geist Mono"/>
              </a:rPr>
              <a:t>"SynergyP2"</a:t>
            </a:r>
            <a:r>
              <a:rPr sz="1650" b="0" i="0">
                <a:solidFill>
                  <a:srgbClr val="E0785F"/>
                </a:solidFill>
                <a:latin typeface="Geist Mono"/>
                <a:ea typeface="Geist Mono"/>
                <a:cs typeface="Geist Mono"/>
              </a:rPr>
              <a:t>/&gt;</a:t>
            </a:r>
          </a:p>
        </p:txBody>
      </p:sp>
      <p:sp>
        <p:nvSpPr>
          <p:cNvPr id="14" name="TextBox 13"/>
          <p:cNvSpPr txBox="1"/>
          <p:nvPr/>
        </p:nvSpPr>
        <p:spPr>
          <a:xfrm>
            <a:off x="1295400" y="5966460"/>
            <a:ext cx="10706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&lt;/Delay&gt;</a:t>
            </a:r>
          </a:p>
        </p:txBody>
      </p:sp>
      <p:sp>
        <p:nvSpPr>
          <p:cNvPr id="15" name="TextBox 14"/>
          <p:cNvSpPr txBox="1"/>
          <p:nvPr/>
        </p:nvSpPr>
        <p:spPr>
          <a:xfrm>
            <a:off x="1295400" y="6301740"/>
            <a:ext cx="10706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&lt;SubTree</a:t>
            </a:r>
            <a:r>
              <a:rPr sz="1650" b="0" i="0">
                <a:solidFill>
                  <a:srgbClr val="F0E8E8"/>
                </a:solidFill>
                <a:latin typeface="Geist Mono"/>
                <a:ea typeface="Geist Mono"/>
                <a:cs typeface="Geist Mono"/>
              </a:rPr>
              <a:t> ID=</a:t>
            </a:r>
            <a:r>
              <a:rPr sz="1650" b="0" i="0">
                <a:solidFill>
                  <a:srgbClr val="9FD29A"/>
                </a:solidFill>
                <a:latin typeface="Geist Mono"/>
                <a:ea typeface="Geist Mono"/>
                <a:cs typeface="Geist Mono"/>
              </a:rPr>
              <a:t>"ShootFor"</a:t>
            </a:r>
            <a:r>
              <a:rPr sz="1650" b="0" i="0">
                <a:solidFill>
                  <a:srgbClr val="F0E8E8"/>
                </a:solidFill>
                <a:latin typeface="Geist Mono"/>
                <a:ea typeface="Geist Mono"/>
                <a:cs typeface="Geist Mono"/>
              </a:rPr>
              <a:t> duration_msec=</a:t>
            </a:r>
            <a:r>
              <a:rPr sz="1650" b="0" i="0">
                <a:solidFill>
                  <a:srgbClr val="9FD29A"/>
                </a:solidFill>
                <a:latin typeface="Geist Mono"/>
                <a:ea typeface="Geist Mono"/>
                <a:cs typeface="Geist Mono"/>
              </a:rPr>
              <a:t>"2000"</a:t>
            </a:r>
            <a:r>
              <a:rPr sz="1650" b="0" i="0">
                <a:solidFill>
                  <a:srgbClr val="E0785F"/>
                </a:solidFill>
                <a:latin typeface="Geist Mono"/>
                <a:ea typeface="Geist Mono"/>
                <a:cs typeface="Geist Mono"/>
              </a:rPr>
              <a:t>/&gt;</a:t>
            </a:r>
          </a:p>
        </p:txBody>
      </p:sp>
      <p:sp>
        <p:nvSpPr>
          <p:cNvPr id="16" name="TextBox 15"/>
          <p:cNvSpPr txBox="1"/>
          <p:nvPr/>
        </p:nvSpPr>
        <p:spPr>
          <a:xfrm>
            <a:off x="1295400" y="6637020"/>
            <a:ext cx="10706100" cy="335280"/>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&lt;/Sequence&gt;</a:t>
            </a:r>
          </a:p>
        </p:txBody>
      </p:sp>
      <p:sp>
        <p:nvSpPr>
          <p:cNvPr id="17" name="Oval 16"/>
          <p:cNvSpPr/>
          <p:nvPr/>
        </p:nvSpPr>
        <p:spPr>
          <a:xfrm>
            <a:off x="11544300" y="393192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544300" y="393192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9" name="Oval 18"/>
          <p:cNvSpPr/>
          <p:nvPr/>
        </p:nvSpPr>
        <p:spPr>
          <a:xfrm>
            <a:off x="11544300" y="527304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544300" y="527304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1" name="Oval 20"/>
          <p:cNvSpPr/>
          <p:nvPr/>
        </p:nvSpPr>
        <p:spPr>
          <a:xfrm>
            <a:off x="11544300" y="627888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544300" y="627888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3" name="Oval 22"/>
          <p:cNvSpPr/>
          <p:nvPr/>
        </p:nvSpPr>
        <p:spPr>
          <a:xfrm>
            <a:off x="12668250" y="3143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668250" y="314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5" name="TextBox 24"/>
          <p:cNvSpPr txBox="1"/>
          <p:nvPr/>
        </p:nvSpPr>
        <p:spPr>
          <a:xfrm>
            <a:off x="13277850" y="3105150"/>
            <a:ext cx="4095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Path + event</a:t>
            </a:r>
          </a:p>
        </p:txBody>
      </p:sp>
      <p:sp>
        <p:nvSpPr>
          <p:cNvPr id="26" name="TextBox 25"/>
          <p:cNvSpPr txBox="1"/>
          <p:nvPr/>
        </p:nvSpPr>
        <p:spPr>
          <a:xfrm>
            <a:off x="13277850" y="352425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Intake drops as the path passes a marker</a:t>
            </a:r>
          </a:p>
        </p:txBody>
      </p:sp>
      <p:sp>
        <p:nvSpPr>
          <p:cNvPr id="27" name="Oval 26"/>
          <p:cNvSpPr/>
          <p:nvPr/>
        </p:nvSpPr>
        <p:spPr>
          <a:xfrm>
            <a:off x="12668250" y="4762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668250" y="4762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9" name="TextBox 28"/>
          <p:cNvSpPr txBox="1"/>
          <p:nvPr/>
        </p:nvSpPr>
        <p:spPr>
          <a:xfrm>
            <a:off x="13277850" y="4724400"/>
            <a:ext cx="4095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Tunable wait</a:t>
            </a:r>
          </a:p>
        </p:txBody>
      </p:sp>
      <p:sp>
        <p:nvSpPr>
          <p:cNvPr id="30" name="TextBox 29"/>
          <p:cNvSpPr txBox="1"/>
          <p:nvPr/>
        </p:nvSpPr>
        <p:spPr>
          <a:xfrm>
            <a:off x="13277850" y="514350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{middle_wait_msec}, changed on the dashboard</a:t>
            </a:r>
          </a:p>
        </p:txBody>
      </p:sp>
      <p:sp>
        <p:nvSpPr>
          <p:cNvPr id="31" name="Oval 30"/>
          <p:cNvSpPr/>
          <p:nvPr/>
        </p:nvSpPr>
        <p:spPr>
          <a:xfrm>
            <a:off x="12668250" y="6381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668250" y="6381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3" name="TextBox 32"/>
          <p:cNvSpPr txBox="1"/>
          <p:nvPr/>
        </p:nvSpPr>
        <p:spPr>
          <a:xfrm>
            <a:off x="13277850" y="6343650"/>
            <a:ext cx="4095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Shared sub-tree</a:t>
            </a:r>
          </a:p>
        </p:txBody>
      </p:sp>
      <p:sp>
        <p:nvSpPr>
          <p:cNvPr id="34" name="TextBox 33"/>
          <p:cNvSpPr txBox="1"/>
          <p:nvPr/>
        </p:nvSpPr>
        <p:spPr>
          <a:xfrm>
            <a:off x="13277850" y="676275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ShootFor lives in common.xml</a:t>
            </a:r>
          </a:p>
        </p:txBody>
      </p:sp>
      <p:sp>
        <p:nvSpPr>
          <p:cNvPr id="35" name="Rounded Rectangle 34"/>
          <p:cNvSpPr/>
          <p:nvPr/>
        </p:nvSpPr>
        <p:spPr>
          <a:xfrm>
            <a:off x="914400" y="81915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arrow-left-right.png"/>
          <p:cNvPicPr>
            <a:picLocks noChangeAspect="1"/>
          </p:cNvPicPr>
          <p:nvPr/>
        </p:nvPicPr>
        <p:blipFill>
          <a:blip r:embed="rId3"/>
          <a:stretch>
            <a:fillRect/>
          </a:stretch>
        </p:blipFill>
        <p:spPr>
          <a:xfrm>
            <a:off x="1333500" y="8353425"/>
            <a:ext cx="466725" cy="533400"/>
          </a:xfrm>
          <a:prstGeom prst="rect">
            <a:avLst/>
          </a:prstGeom>
        </p:spPr>
      </p:pic>
      <p:sp>
        <p:nvSpPr>
          <p:cNvPr id="37" name="TextBox 36"/>
          <p:cNvSpPr txBox="1"/>
          <p:nvPr/>
        </p:nvSpPr>
        <p:spPr>
          <a:xfrm>
            <a:off x="2190750" y="819150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Drawn once:  </a:t>
            </a:r>
            <a:r>
              <a:rPr sz="2100" b="0" i="0">
                <a:solidFill>
                  <a:srgbClr val="F0E8E8"/>
                </a:solidFill>
                <a:latin typeface="Geist"/>
                <a:ea typeface="Geist"/>
                <a:cs typeface="Geist"/>
              </a:rPr>
              <a:t>paths are drawn for one alliance and flipped for the other automatically.</a:t>
            </a:r>
          </a:p>
        </p:txBody>
      </p:sp>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06</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Run and check</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Watch it drive, read what the checks say</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44</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Watch me on the 2D field. Am I on the line?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RUN AND CHECK</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Running the routine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952750"/>
            <a:ext cx="3614738"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524250"/>
            <a:ext cx="3424238"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Start</a:t>
            </a:r>
          </a:p>
        </p:txBody>
      </p:sp>
      <p:sp>
        <p:nvSpPr>
          <p:cNvPr id="7" name="TextBox 6"/>
          <p:cNvSpPr txBox="1"/>
          <p:nvPr/>
        </p:nvSpPr>
        <p:spPr>
          <a:xfrm>
            <a:off x="1066800" y="4114800"/>
            <a:ext cx="33099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Wait for Running</a:t>
            </a:r>
          </a:p>
        </p:txBody>
      </p:sp>
      <p:sp>
        <p:nvSpPr>
          <p:cNvPr id="8" name="Rectangle 7"/>
          <p:cNvSpPr/>
          <p:nvPr/>
        </p:nvSpPr>
        <p:spPr>
          <a:xfrm>
            <a:off x="4591050" y="398621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4967288" y="39243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95888" y="2952750"/>
            <a:ext cx="3614738"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91138" y="3524250"/>
            <a:ext cx="3424238"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Pick</a:t>
            </a:r>
          </a:p>
        </p:txBody>
      </p:sp>
      <p:sp>
        <p:nvSpPr>
          <p:cNvPr id="12" name="TextBox 11"/>
          <p:cNvSpPr txBox="1"/>
          <p:nvPr/>
        </p:nvSpPr>
        <p:spPr>
          <a:xfrm>
            <a:off x="5348288" y="4114800"/>
            <a:ext cx="33099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Elastic: Auto Chooser, PickupAndScore</a:t>
            </a:r>
          </a:p>
        </p:txBody>
      </p:sp>
      <p:sp>
        <p:nvSpPr>
          <p:cNvPr id="13" name="Rectangle 12"/>
          <p:cNvSpPr/>
          <p:nvPr/>
        </p:nvSpPr>
        <p:spPr>
          <a:xfrm>
            <a:off x="8872538" y="398621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9248775" y="39243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477375" y="2952750"/>
            <a:ext cx="3614738"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572625" y="3524250"/>
            <a:ext cx="3424238"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Enable</a:t>
            </a:r>
          </a:p>
        </p:txBody>
      </p:sp>
      <p:sp>
        <p:nvSpPr>
          <p:cNvPr id="17" name="TextBox 16"/>
          <p:cNvSpPr txBox="1"/>
          <p:nvPr/>
        </p:nvSpPr>
        <p:spPr>
          <a:xfrm>
            <a:off x="9629775" y="4114800"/>
            <a:ext cx="33099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Driver Station: Auto, then Enable</a:t>
            </a:r>
          </a:p>
        </p:txBody>
      </p:sp>
      <p:sp>
        <p:nvSpPr>
          <p:cNvPr id="18" name="Rectangle 17"/>
          <p:cNvSpPr/>
          <p:nvPr/>
        </p:nvSpPr>
        <p:spPr>
          <a:xfrm>
            <a:off x="13154025" y="398621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5400000">
            <a:off x="13530262" y="39243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3758862" y="2952750"/>
            <a:ext cx="3614738" cy="2095500"/>
          </a:xfrm>
          <a:prstGeom prst="roundRect">
            <a:avLst>
              <a:gd name="adj" fmla="val 7272"/>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3854112" y="3524250"/>
            <a:ext cx="3424238"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Hands off</a:t>
            </a:r>
          </a:p>
        </p:txBody>
      </p:sp>
      <p:sp>
        <p:nvSpPr>
          <p:cNvPr id="22" name="TextBox 21"/>
          <p:cNvSpPr txBox="1"/>
          <p:nvPr/>
        </p:nvSpPr>
        <p:spPr>
          <a:xfrm>
            <a:off x="13911262" y="4114800"/>
            <a:ext cx="33099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It drives itself, about 10 s</a:t>
            </a:r>
          </a:p>
        </p:txBody>
      </p:sp>
      <p:sp>
        <p:nvSpPr>
          <p:cNvPr id="23" name="Rounded Rectangle 22"/>
          <p:cNvSpPr/>
          <p:nvPr/>
        </p:nvSpPr>
        <p:spPr>
          <a:xfrm>
            <a:off x="914400" y="5619750"/>
            <a:ext cx="8077200" cy="3143250"/>
          </a:xfrm>
          <a:prstGeom prst="roundRect">
            <a:avLst>
              <a:gd name="adj" fmla="val 484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display.png"/>
          <p:cNvPicPr>
            <a:picLocks noChangeAspect="1"/>
          </p:cNvPicPr>
          <p:nvPr/>
        </p:nvPicPr>
        <p:blipFill>
          <a:blip r:embed="rId3"/>
          <a:stretch>
            <a:fillRect/>
          </a:stretch>
        </p:blipFill>
        <p:spPr>
          <a:xfrm>
            <a:off x="1295400" y="6000750"/>
            <a:ext cx="682752" cy="533400"/>
          </a:xfrm>
          <a:prstGeom prst="rect">
            <a:avLst/>
          </a:prstGeom>
        </p:spPr>
      </p:pic>
      <p:sp>
        <p:nvSpPr>
          <p:cNvPr id="25" name="TextBox 24"/>
          <p:cNvSpPr txBox="1"/>
          <p:nvPr/>
        </p:nvSpPr>
        <p:spPr>
          <a:xfrm>
            <a:off x="1295400" y="6800850"/>
            <a:ext cx="7315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In training</a:t>
            </a:r>
          </a:p>
        </p:txBody>
      </p:sp>
      <p:sp>
        <p:nvSpPr>
          <p:cNvPr id="26" name="TextBox 25"/>
          <p:cNvSpPr txBox="1"/>
          <p:nvPr/>
        </p:nvSpPr>
        <p:spPr>
          <a:xfrm>
            <a:off x="1295400" y="7362825"/>
            <a:ext cx="7315200" cy="13906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Scriptum's Start button, its Elastic, Arbor and Driver Station panes. Changed the Java? Press Start again.</a:t>
            </a:r>
          </a:p>
        </p:txBody>
      </p:sp>
      <p:sp>
        <p:nvSpPr>
          <p:cNvPr id="27" name="Rounded Rectangle 26"/>
          <p:cNvSpPr/>
          <p:nvPr/>
        </p:nvSpPr>
        <p:spPr>
          <a:xfrm>
            <a:off x="9296400" y="5619750"/>
            <a:ext cx="8077200" cy="3143250"/>
          </a:xfrm>
          <a:prstGeom prst="roundRect">
            <a:avLst>
              <a:gd name="adj" fmla="val 484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robot.png"/>
          <p:cNvPicPr>
            <a:picLocks noChangeAspect="1"/>
          </p:cNvPicPr>
          <p:nvPr/>
        </p:nvPicPr>
        <p:blipFill>
          <a:blip r:embed="rId4"/>
          <a:stretch>
            <a:fillRect/>
          </a:stretch>
        </p:blipFill>
        <p:spPr>
          <a:xfrm>
            <a:off x="9677400" y="6000750"/>
            <a:ext cx="568960" cy="533400"/>
          </a:xfrm>
          <a:prstGeom prst="rect">
            <a:avLst/>
          </a:prstGeom>
        </p:spPr>
      </p:pic>
      <p:sp>
        <p:nvSpPr>
          <p:cNvPr id="29" name="TextBox 28"/>
          <p:cNvSpPr txBox="1"/>
          <p:nvPr/>
        </p:nvSpPr>
        <p:spPr>
          <a:xfrm>
            <a:off x="9677400" y="6800850"/>
            <a:ext cx="7315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On the real robot</a:t>
            </a:r>
          </a:p>
        </p:txBody>
      </p:sp>
      <p:sp>
        <p:nvSpPr>
          <p:cNvPr id="30" name="TextBox 29"/>
          <p:cNvSpPr txBox="1"/>
          <p:nvPr/>
        </p:nvSpPr>
        <p:spPr>
          <a:xfrm>
            <a:off x="9677400" y="7362825"/>
            <a:ext cx="7315200" cy="13906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Deploy from VS Code. Pick the auto in Elastic on the drive laptop. The FRC Driver Station, or the field in a match, runs Auto.</a:t>
            </a:r>
          </a:p>
        </p:txBody>
      </p:sp>
      <p:sp>
        <p:nvSpPr>
          <p:cNvPr id="31" name="TextBox 3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2" name="TextBox 3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RUN AND CHECK</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Watch the tree run in Arbor</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6286500"/>
          </a:xfrm>
          <a:prstGeom prst="roundRect">
            <a:avLst>
              <a:gd name="adj" fmla="val 242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048000"/>
            <a:ext cx="8572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LIVE VIEW, PARTWAY THROUGH THE AUTO</a:t>
            </a:r>
          </a:p>
        </p:txBody>
      </p:sp>
      <p:sp>
        <p:nvSpPr>
          <p:cNvPr id="7" name="Rectangle 6"/>
          <p:cNvSpPr/>
          <p:nvPr/>
        </p:nvSpPr>
        <p:spPr>
          <a:xfrm>
            <a:off x="7396162" y="7124700"/>
            <a:ext cx="38100" cy="2762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396162" y="7362825"/>
            <a:ext cx="3810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86638" y="7353300"/>
            <a:ext cx="57150" cy="295275"/>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7396162" y="5791200"/>
            <a:ext cx="38100" cy="2762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396162" y="6029325"/>
            <a:ext cx="3810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386638" y="6019800"/>
            <a:ext cx="57150" cy="295275"/>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134100" y="4457700"/>
            <a:ext cx="38100" cy="2762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347912" y="4695825"/>
            <a:ext cx="7610475"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347912" y="4695825"/>
            <a:ext cx="38100" cy="2762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872038" y="4695825"/>
            <a:ext cx="38100" cy="2762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86638" y="4686300"/>
            <a:ext cx="57150" cy="295275"/>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920288" y="4695825"/>
            <a:ext cx="38100" cy="2762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1219200" y="4953000"/>
            <a:ext cx="2295525" cy="857250"/>
          </a:xfrm>
          <a:prstGeom prst="roundRect">
            <a:avLst>
              <a:gd name="adj" fmla="val 13333"/>
            </a:avLst>
          </a:prstGeom>
          <a:solidFill>
            <a:srgbClr val="111111"/>
          </a:solidFill>
          <a:ln w="381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1257300" y="5048250"/>
            <a:ext cx="66675" cy="6667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447800" y="5067300"/>
            <a:ext cx="1952625" cy="257175"/>
          </a:xfrm>
          <a:prstGeom prst="rect">
            <a:avLst/>
          </a:prstGeom>
          <a:noFill/>
        </p:spPr>
        <p:txBody>
          <a:bodyPr wrap="square" lIns="0" rIns="0" tIns="0" bIns="0" anchor="t">
            <a:spAutoFit/>
          </a:bodyPr>
          <a:lstStyle/>
          <a:p>
            <a:pPr algn="l"/>
            <a:r>
              <a:rPr sz="1500" b="1" i="0">
                <a:solidFill>
                  <a:srgbClr val="2DD4BF"/>
                </a:solidFill>
                <a:latin typeface="Geist"/>
                <a:ea typeface="Geist"/>
                <a:cs typeface="Geist"/>
              </a:rPr>
              <a:t>▶  </a:t>
            </a:r>
            <a:r>
              <a:rPr sz="1500" b="1" i="0">
                <a:solidFill>
                  <a:srgbClr val="F0E8E8"/>
                </a:solidFill>
                <a:latin typeface="Geist"/>
                <a:ea typeface="Geist"/>
                <a:cs typeface="Geist"/>
              </a:rPr>
              <a:t>FollowPath</a:t>
            </a:r>
          </a:p>
        </p:txBody>
      </p:sp>
      <p:sp>
        <p:nvSpPr>
          <p:cNvPr id="22" name="TextBox 21"/>
          <p:cNvSpPr txBox="1"/>
          <p:nvPr/>
        </p:nvSpPr>
        <p:spPr>
          <a:xfrm>
            <a:off x="1447800" y="5343525"/>
            <a:ext cx="1952625" cy="228600"/>
          </a:xfrm>
          <a:prstGeom prst="rect">
            <a:avLst/>
          </a:prstGeom>
          <a:noFill/>
        </p:spPr>
        <p:txBody>
          <a:bodyPr wrap="square" lIns="0" rIns="0" tIns="0" bIns="0" anchor="t">
            <a:spAutoFit/>
          </a:bodyPr>
          <a:lstStyle/>
          <a:p>
            <a:pPr algn="l"/>
            <a:r>
              <a:rPr sz="1170" b="0" i="0">
                <a:solidFill>
                  <a:srgbClr val="E8C27A"/>
                </a:solidFill>
                <a:latin typeface="Geist Mono"/>
                <a:ea typeface="Geist Mono"/>
                <a:cs typeface="Geist Mono"/>
              </a:rPr>
              <a:t>ToScore</a:t>
            </a:r>
          </a:p>
        </p:txBody>
      </p:sp>
      <p:sp>
        <p:nvSpPr>
          <p:cNvPr id="23" name="Rounded Rectangle 22"/>
          <p:cNvSpPr/>
          <p:nvPr/>
        </p:nvSpPr>
        <p:spPr>
          <a:xfrm>
            <a:off x="2438400" y="4800600"/>
            <a:ext cx="981075" cy="28575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438400" y="480060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SUCCESS</a:t>
            </a:r>
          </a:p>
        </p:txBody>
      </p:sp>
      <p:sp>
        <p:nvSpPr>
          <p:cNvPr id="25" name="Rounded Rectangle 24"/>
          <p:cNvSpPr/>
          <p:nvPr/>
        </p:nvSpPr>
        <p:spPr>
          <a:xfrm>
            <a:off x="3743325" y="4953000"/>
            <a:ext cx="2295525" cy="857250"/>
          </a:xfrm>
          <a:prstGeom prst="roundRect">
            <a:avLst>
              <a:gd name="adj" fmla="val 13333"/>
            </a:avLst>
          </a:prstGeom>
          <a:solidFill>
            <a:srgbClr val="111111"/>
          </a:solidFill>
          <a:ln w="381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3781425" y="5048250"/>
            <a:ext cx="66675" cy="6667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971925" y="5067300"/>
            <a:ext cx="1952625" cy="257175"/>
          </a:xfrm>
          <a:prstGeom prst="rect">
            <a:avLst/>
          </a:prstGeom>
          <a:noFill/>
        </p:spPr>
        <p:txBody>
          <a:bodyPr wrap="square" lIns="0" rIns="0" tIns="0" bIns="0" anchor="t">
            <a:spAutoFit/>
          </a:bodyPr>
          <a:lstStyle/>
          <a:p>
            <a:pPr algn="l"/>
            <a:r>
              <a:rPr sz="1500" b="1" i="0">
                <a:solidFill>
                  <a:srgbClr val="2DD4BF"/>
                </a:solidFill>
                <a:latin typeface="Geist"/>
                <a:ea typeface="Geist"/>
                <a:cs typeface="Geist"/>
              </a:rPr>
              <a:t>▶  </a:t>
            </a:r>
            <a:r>
              <a:rPr sz="1500" b="1" i="0">
                <a:solidFill>
                  <a:srgbClr val="F0E8E8"/>
                </a:solidFill>
                <a:latin typeface="Geist"/>
                <a:ea typeface="Geist"/>
                <a:cs typeface="Geist"/>
              </a:rPr>
              <a:t>SetWantedState</a:t>
            </a:r>
          </a:p>
        </p:txBody>
      </p:sp>
      <p:sp>
        <p:nvSpPr>
          <p:cNvPr id="28" name="TextBox 27"/>
          <p:cNvSpPr txBox="1"/>
          <p:nvPr/>
        </p:nvSpPr>
        <p:spPr>
          <a:xfrm>
            <a:off x="3971925" y="5343525"/>
            <a:ext cx="1952625" cy="228600"/>
          </a:xfrm>
          <a:prstGeom prst="rect">
            <a:avLst/>
          </a:prstGeom>
          <a:noFill/>
        </p:spPr>
        <p:txBody>
          <a:bodyPr wrap="square" lIns="0" rIns="0" tIns="0" bIns="0" anchor="t">
            <a:spAutoFit/>
          </a:bodyPr>
          <a:lstStyle/>
          <a:p>
            <a:pPr algn="l"/>
            <a:r>
              <a:rPr sz="1170" b="0" i="0">
                <a:solidFill>
                  <a:srgbClr val="E8C27A"/>
                </a:solidFill>
                <a:latin typeface="Geist Mono"/>
                <a:ea typeface="Geist Mono"/>
                <a:cs typeface="Geist Mono"/>
              </a:rPr>
              <a:t>AIM</a:t>
            </a:r>
          </a:p>
        </p:txBody>
      </p:sp>
      <p:sp>
        <p:nvSpPr>
          <p:cNvPr id="29" name="Rounded Rectangle 28"/>
          <p:cNvSpPr/>
          <p:nvPr/>
        </p:nvSpPr>
        <p:spPr>
          <a:xfrm>
            <a:off x="4962525" y="4800600"/>
            <a:ext cx="981075" cy="28575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962525" y="480060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SUCCESS</a:t>
            </a:r>
          </a:p>
        </p:txBody>
      </p:sp>
      <p:sp>
        <p:nvSpPr>
          <p:cNvPr id="31" name="Rounded Rectangle 30"/>
          <p:cNvSpPr/>
          <p:nvPr/>
        </p:nvSpPr>
        <p:spPr>
          <a:xfrm>
            <a:off x="6267450" y="7620000"/>
            <a:ext cx="2295525" cy="857250"/>
          </a:xfrm>
          <a:prstGeom prst="roundRect">
            <a:avLst>
              <a:gd name="adj" fmla="val 13333"/>
            </a:avLst>
          </a:prstGeom>
          <a:solidFill>
            <a:srgbClr val="111111"/>
          </a:solidFill>
          <a:ln w="381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6305550" y="7715250"/>
            <a:ext cx="66675" cy="666750"/>
          </a:xfrm>
          <a:prstGeom prst="roundRect">
            <a:avLst>
              <a:gd name="adj" fmla="val 42857"/>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96050" y="7734300"/>
            <a:ext cx="1952625" cy="257175"/>
          </a:xfrm>
          <a:prstGeom prst="rect">
            <a:avLst/>
          </a:prstGeom>
          <a:noFill/>
        </p:spPr>
        <p:txBody>
          <a:bodyPr wrap="square" lIns="0" rIns="0" tIns="0" bIns="0" anchor="t">
            <a:spAutoFit/>
          </a:bodyPr>
          <a:lstStyle/>
          <a:p>
            <a:pPr algn="l"/>
            <a:r>
              <a:rPr sz="1500" b="1" i="0">
                <a:solidFill>
                  <a:srgbClr val="C084FC"/>
                </a:solidFill>
                <a:latin typeface="Geist"/>
                <a:ea typeface="Geist"/>
                <a:cs typeface="Geist"/>
              </a:rPr>
              <a:t>●  </a:t>
            </a:r>
            <a:r>
              <a:rPr sz="1500" b="1" i="0">
                <a:solidFill>
                  <a:srgbClr val="F0E8E8"/>
                </a:solidFill>
                <a:latin typeface="Geist"/>
                <a:ea typeface="Geist"/>
                <a:cs typeface="Geist"/>
              </a:rPr>
              <a:t>IsSystemState</a:t>
            </a:r>
          </a:p>
        </p:txBody>
      </p:sp>
      <p:sp>
        <p:nvSpPr>
          <p:cNvPr id="34" name="TextBox 33"/>
          <p:cNvSpPr txBox="1"/>
          <p:nvPr/>
        </p:nvSpPr>
        <p:spPr>
          <a:xfrm>
            <a:off x="6496050" y="8010525"/>
            <a:ext cx="1952625" cy="228600"/>
          </a:xfrm>
          <a:prstGeom prst="rect">
            <a:avLst/>
          </a:prstGeom>
          <a:noFill/>
        </p:spPr>
        <p:txBody>
          <a:bodyPr wrap="square" lIns="0" rIns="0" tIns="0" bIns="0" anchor="t">
            <a:spAutoFit/>
          </a:bodyPr>
          <a:lstStyle/>
          <a:p>
            <a:pPr algn="l"/>
            <a:r>
              <a:rPr sz="1170" b="0" i="0">
                <a:solidFill>
                  <a:srgbClr val="E8C27A"/>
                </a:solidFill>
                <a:latin typeface="Geist Mono"/>
                <a:ea typeface="Geist Mono"/>
                <a:cs typeface="Geist Mono"/>
              </a:rPr>
              <a:t>AIM</a:t>
            </a:r>
          </a:p>
        </p:txBody>
      </p:sp>
      <p:sp>
        <p:nvSpPr>
          <p:cNvPr id="35" name="Rounded Rectangle 34"/>
          <p:cNvSpPr/>
          <p:nvPr/>
        </p:nvSpPr>
        <p:spPr>
          <a:xfrm>
            <a:off x="7486650" y="7467600"/>
            <a:ext cx="981075" cy="285750"/>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486650" y="746760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FAILURE</a:t>
            </a:r>
          </a:p>
        </p:txBody>
      </p:sp>
      <p:sp>
        <p:nvSpPr>
          <p:cNvPr id="37" name="Rounded Rectangle 36"/>
          <p:cNvSpPr/>
          <p:nvPr/>
        </p:nvSpPr>
        <p:spPr>
          <a:xfrm>
            <a:off x="6224588" y="6286500"/>
            <a:ext cx="2381250" cy="857250"/>
          </a:xfrm>
          <a:prstGeom prst="roundRect">
            <a:avLst>
              <a:gd name="adj" fmla="val 13333"/>
            </a:avLst>
          </a:prstGeom>
          <a:solidFill>
            <a:srgbClr val="111111"/>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6262688" y="6381750"/>
            <a:ext cx="66675" cy="66675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453188" y="6400800"/>
            <a:ext cx="2038350" cy="257175"/>
          </a:xfrm>
          <a:prstGeom prst="rect">
            <a:avLst/>
          </a:prstGeom>
          <a:noFill/>
        </p:spPr>
        <p:txBody>
          <a:bodyPr wrap="square" lIns="0" rIns="0" tIns="0" bIns="0" anchor="t">
            <a:spAutoFit/>
          </a:bodyPr>
          <a:lstStyle/>
          <a:p>
            <a:pPr algn="l"/>
            <a:r>
              <a:rPr sz="1500" b="1" i="0">
                <a:solidFill>
                  <a:srgbClr val="7C93C3"/>
                </a:solidFill>
                <a:latin typeface="Geist"/>
                <a:ea typeface="Geist"/>
                <a:cs typeface="Geist"/>
              </a:rPr>
              <a:t>↻  </a:t>
            </a:r>
            <a:r>
              <a:rPr sz="1500" b="1" i="0">
                <a:solidFill>
                  <a:srgbClr val="F0E8E8"/>
                </a:solidFill>
                <a:latin typeface="Geist"/>
                <a:ea typeface="Geist"/>
                <a:cs typeface="Geist"/>
              </a:rPr>
              <a:t>Retry</a:t>
            </a:r>
          </a:p>
        </p:txBody>
      </p:sp>
      <p:sp>
        <p:nvSpPr>
          <p:cNvPr id="40" name="TextBox 39"/>
          <p:cNvSpPr txBox="1"/>
          <p:nvPr/>
        </p:nvSpPr>
        <p:spPr>
          <a:xfrm>
            <a:off x="6453188" y="6677025"/>
            <a:ext cx="2038350" cy="228600"/>
          </a:xfrm>
          <a:prstGeom prst="rect">
            <a:avLst/>
          </a:prstGeom>
          <a:noFill/>
        </p:spPr>
        <p:txBody>
          <a:bodyPr wrap="square" lIns="0" rIns="0" tIns="0" bIns="0" anchor="t">
            <a:spAutoFit/>
          </a:bodyPr>
          <a:lstStyle/>
          <a:p>
            <a:pPr algn="l"/>
            <a:r>
              <a:rPr sz="1170" b="0" i="0">
                <a:solidFill>
                  <a:srgbClr val="E8C27A"/>
                </a:solidFill>
                <a:latin typeface="Geist Mono"/>
                <a:ea typeface="Geist Mono"/>
                <a:cs typeface="Geist Mono"/>
              </a:rPr>
              <a:t>until success</a:t>
            </a:r>
          </a:p>
        </p:txBody>
      </p:sp>
      <p:sp>
        <p:nvSpPr>
          <p:cNvPr id="41" name="Rounded Rectangle 40"/>
          <p:cNvSpPr/>
          <p:nvPr/>
        </p:nvSpPr>
        <p:spPr>
          <a:xfrm>
            <a:off x="7529512" y="6134100"/>
            <a:ext cx="981075" cy="28575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529512" y="6134100"/>
            <a:ext cx="981075" cy="285750"/>
          </a:xfrm>
          <a:prstGeom prst="rect">
            <a:avLst/>
          </a:prstGeom>
          <a:noFill/>
        </p:spPr>
        <p:txBody>
          <a:bodyPr wrap="square" lIns="0" rIns="0" tIns="0" bIns="0" anchor="ctr">
            <a:spAutoFit/>
          </a:bodyPr>
          <a:lstStyle/>
          <a:p>
            <a:pPr algn="ctr"/>
            <a:r>
              <a:rPr sz="1125" b="1" i="0" spc="60">
                <a:solidFill>
                  <a:srgbClr val="111111"/>
                </a:solidFill>
                <a:latin typeface="Geist"/>
                <a:ea typeface="Geist"/>
                <a:cs typeface="Geist"/>
              </a:rPr>
              <a:t>RUNNING</a:t>
            </a:r>
          </a:p>
        </p:txBody>
      </p:sp>
      <p:sp>
        <p:nvSpPr>
          <p:cNvPr id="43" name="Rounded Rectangle 42"/>
          <p:cNvSpPr/>
          <p:nvPr/>
        </p:nvSpPr>
        <p:spPr>
          <a:xfrm>
            <a:off x="6224588" y="4953000"/>
            <a:ext cx="2381250" cy="857250"/>
          </a:xfrm>
          <a:prstGeom prst="roundRect">
            <a:avLst>
              <a:gd name="adj" fmla="val 13333"/>
            </a:avLst>
          </a:prstGeom>
          <a:solidFill>
            <a:srgbClr val="111111"/>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6262688" y="5048250"/>
            <a:ext cx="66675" cy="66675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53188" y="5067300"/>
            <a:ext cx="2038350" cy="257175"/>
          </a:xfrm>
          <a:prstGeom prst="rect">
            <a:avLst/>
          </a:prstGeom>
          <a:noFill/>
        </p:spPr>
        <p:txBody>
          <a:bodyPr wrap="square" lIns="0" rIns="0" tIns="0" bIns="0" anchor="t">
            <a:spAutoFit/>
          </a:bodyPr>
          <a:lstStyle/>
          <a:p>
            <a:pPr algn="l"/>
            <a:r>
              <a:rPr sz="1500" b="1" i="0">
                <a:solidFill>
                  <a:srgbClr val="7C93C3"/>
                </a:solidFill>
                <a:latin typeface="Geist"/>
                <a:ea typeface="Geist"/>
                <a:cs typeface="Geist"/>
              </a:rPr>
              <a:t>⏱  </a:t>
            </a:r>
            <a:r>
              <a:rPr sz="1500" b="1" i="0">
                <a:solidFill>
                  <a:srgbClr val="F0E8E8"/>
                </a:solidFill>
                <a:latin typeface="Geist"/>
                <a:ea typeface="Geist"/>
                <a:cs typeface="Geist"/>
              </a:rPr>
              <a:t>Timeout</a:t>
            </a:r>
          </a:p>
        </p:txBody>
      </p:sp>
      <p:sp>
        <p:nvSpPr>
          <p:cNvPr id="46" name="TextBox 45"/>
          <p:cNvSpPr txBox="1"/>
          <p:nvPr/>
        </p:nvSpPr>
        <p:spPr>
          <a:xfrm>
            <a:off x="6453188" y="5343525"/>
            <a:ext cx="2038350" cy="228600"/>
          </a:xfrm>
          <a:prstGeom prst="rect">
            <a:avLst/>
          </a:prstGeom>
          <a:noFill/>
        </p:spPr>
        <p:txBody>
          <a:bodyPr wrap="square" lIns="0" rIns="0" tIns="0" bIns="0" anchor="t">
            <a:spAutoFit/>
          </a:bodyPr>
          <a:lstStyle/>
          <a:p>
            <a:pPr algn="l"/>
            <a:r>
              <a:rPr sz="1170" b="0" i="0">
                <a:solidFill>
                  <a:srgbClr val="E8C27A"/>
                </a:solidFill>
                <a:latin typeface="Geist Mono"/>
                <a:ea typeface="Geist Mono"/>
                <a:cs typeface="Geist Mono"/>
              </a:rPr>
              <a:t>3000</a:t>
            </a:r>
          </a:p>
        </p:txBody>
      </p:sp>
      <p:sp>
        <p:nvSpPr>
          <p:cNvPr id="47" name="Rounded Rectangle 46"/>
          <p:cNvSpPr/>
          <p:nvPr/>
        </p:nvSpPr>
        <p:spPr>
          <a:xfrm>
            <a:off x="7529512" y="4800600"/>
            <a:ext cx="981075" cy="28575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7529512" y="4800600"/>
            <a:ext cx="981075" cy="285750"/>
          </a:xfrm>
          <a:prstGeom prst="rect">
            <a:avLst/>
          </a:prstGeom>
          <a:noFill/>
        </p:spPr>
        <p:txBody>
          <a:bodyPr wrap="square" lIns="0" rIns="0" tIns="0" bIns="0" anchor="ctr">
            <a:spAutoFit/>
          </a:bodyPr>
          <a:lstStyle/>
          <a:p>
            <a:pPr algn="ctr"/>
            <a:r>
              <a:rPr sz="1125" b="1" i="0" spc="60">
                <a:solidFill>
                  <a:srgbClr val="111111"/>
                </a:solidFill>
                <a:latin typeface="Geist"/>
                <a:ea typeface="Geist"/>
                <a:cs typeface="Geist"/>
              </a:rPr>
              <a:t>RUNNING</a:t>
            </a:r>
          </a:p>
        </p:txBody>
      </p:sp>
      <p:sp>
        <p:nvSpPr>
          <p:cNvPr id="49" name="Rounded Rectangle 48"/>
          <p:cNvSpPr/>
          <p:nvPr/>
        </p:nvSpPr>
        <p:spPr>
          <a:xfrm>
            <a:off x="8791575" y="4953000"/>
            <a:ext cx="2295525" cy="857250"/>
          </a:xfrm>
          <a:prstGeom prst="roundRect">
            <a:avLst>
              <a:gd name="adj" fmla="val 13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ounded Rectangle 49"/>
          <p:cNvSpPr/>
          <p:nvPr/>
        </p:nvSpPr>
        <p:spPr>
          <a:xfrm>
            <a:off x="8829675" y="5048250"/>
            <a:ext cx="66675" cy="6667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020175" y="5067300"/>
            <a:ext cx="1952625" cy="257175"/>
          </a:xfrm>
          <a:prstGeom prst="rect">
            <a:avLst/>
          </a:prstGeom>
          <a:noFill/>
        </p:spPr>
        <p:txBody>
          <a:bodyPr wrap="square" lIns="0" rIns="0" tIns="0" bIns="0" anchor="t">
            <a:spAutoFit/>
          </a:bodyPr>
          <a:lstStyle/>
          <a:p>
            <a:pPr algn="l"/>
            <a:r>
              <a:rPr sz="1500" b="1" i="0">
                <a:solidFill>
                  <a:srgbClr val="2DD4BF"/>
                </a:solidFill>
                <a:latin typeface="Geist"/>
                <a:ea typeface="Geist"/>
                <a:cs typeface="Geist"/>
              </a:rPr>
              <a:t>▶  </a:t>
            </a:r>
            <a:r>
              <a:rPr sz="1500" b="1" i="0">
                <a:solidFill>
                  <a:srgbClr val="F0E8E8"/>
                </a:solidFill>
                <a:latin typeface="Geist"/>
                <a:ea typeface="Geist"/>
                <a:cs typeface="Geist"/>
              </a:rPr>
              <a:t>SetWantedState</a:t>
            </a:r>
          </a:p>
        </p:txBody>
      </p:sp>
      <p:sp>
        <p:nvSpPr>
          <p:cNvPr id="52" name="TextBox 51"/>
          <p:cNvSpPr txBox="1"/>
          <p:nvPr/>
        </p:nvSpPr>
        <p:spPr>
          <a:xfrm>
            <a:off x="9020175" y="5343525"/>
            <a:ext cx="1952625" cy="228600"/>
          </a:xfrm>
          <a:prstGeom prst="rect">
            <a:avLst/>
          </a:prstGeom>
          <a:noFill/>
        </p:spPr>
        <p:txBody>
          <a:bodyPr wrap="square" lIns="0" rIns="0" tIns="0" bIns="0" anchor="t">
            <a:spAutoFit/>
          </a:bodyPr>
          <a:lstStyle/>
          <a:p>
            <a:pPr algn="l"/>
            <a:r>
              <a:rPr sz="1170" b="0" i="0">
                <a:solidFill>
                  <a:srgbClr val="E8C27A"/>
                </a:solidFill>
                <a:latin typeface="Geist Mono"/>
                <a:ea typeface="Geist Mono"/>
                <a:cs typeface="Geist Mono"/>
              </a:rPr>
              <a:t>SHOOT</a:t>
            </a:r>
          </a:p>
        </p:txBody>
      </p:sp>
      <p:sp>
        <p:nvSpPr>
          <p:cNvPr id="53" name="Rounded Rectangle 52"/>
          <p:cNvSpPr/>
          <p:nvPr/>
        </p:nvSpPr>
        <p:spPr>
          <a:xfrm>
            <a:off x="4962525" y="3619500"/>
            <a:ext cx="2381250" cy="857250"/>
          </a:xfrm>
          <a:prstGeom prst="roundRect">
            <a:avLst>
              <a:gd name="adj" fmla="val 13333"/>
            </a:avLst>
          </a:prstGeom>
          <a:solidFill>
            <a:srgbClr val="111111"/>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ounded Rectangle 53"/>
          <p:cNvSpPr/>
          <p:nvPr/>
        </p:nvSpPr>
        <p:spPr>
          <a:xfrm>
            <a:off x="5000625" y="3714750"/>
            <a:ext cx="66675" cy="66675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5191125" y="3914775"/>
            <a:ext cx="2038350" cy="257175"/>
          </a:xfrm>
          <a:prstGeom prst="rect">
            <a:avLst/>
          </a:prstGeom>
          <a:noFill/>
        </p:spPr>
        <p:txBody>
          <a:bodyPr wrap="square" lIns="0" rIns="0" tIns="0" bIns="0" anchor="t">
            <a:spAutoFit/>
          </a:bodyPr>
          <a:lstStyle/>
          <a:p>
            <a:pPr algn="l"/>
            <a:r>
              <a:rPr sz="1500" b="1" i="0">
                <a:solidFill>
                  <a:srgbClr val="7C93C3"/>
                </a:solidFill>
                <a:latin typeface="Geist"/>
                <a:ea typeface="Geist"/>
                <a:cs typeface="Geist"/>
              </a:rPr>
              <a:t>→  </a:t>
            </a:r>
            <a:r>
              <a:rPr sz="1500" b="1" i="0">
                <a:solidFill>
                  <a:srgbClr val="F0E8E8"/>
                </a:solidFill>
                <a:latin typeface="Geist"/>
                <a:ea typeface="Geist"/>
                <a:cs typeface="Geist"/>
              </a:rPr>
              <a:t>Sequence</a:t>
            </a:r>
          </a:p>
        </p:txBody>
      </p:sp>
      <p:sp>
        <p:nvSpPr>
          <p:cNvPr id="56" name="Rounded Rectangle 55"/>
          <p:cNvSpPr/>
          <p:nvPr/>
        </p:nvSpPr>
        <p:spPr>
          <a:xfrm>
            <a:off x="6267450" y="3467100"/>
            <a:ext cx="981075" cy="28575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6267450" y="3467100"/>
            <a:ext cx="981075" cy="285750"/>
          </a:xfrm>
          <a:prstGeom prst="rect">
            <a:avLst/>
          </a:prstGeom>
          <a:noFill/>
        </p:spPr>
        <p:txBody>
          <a:bodyPr wrap="square" lIns="0" rIns="0" tIns="0" bIns="0" anchor="ctr">
            <a:spAutoFit/>
          </a:bodyPr>
          <a:lstStyle/>
          <a:p>
            <a:pPr algn="ctr"/>
            <a:r>
              <a:rPr sz="1125" b="1" i="0" spc="60">
                <a:solidFill>
                  <a:srgbClr val="111111"/>
                </a:solidFill>
                <a:latin typeface="Geist"/>
                <a:ea typeface="Geist"/>
                <a:cs typeface="Geist"/>
              </a:rPr>
              <a:t>RUNNING</a:t>
            </a:r>
          </a:p>
        </p:txBody>
      </p:sp>
      <p:sp>
        <p:nvSpPr>
          <p:cNvPr id="58" name="Rounded Rectangle 57"/>
          <p:cNvSpPr/>
          <p:nvPr/>
        </p:nvSpPr>
        <p:spPr>
          <a:xfrm>
            <a:off x="1524000" y="8515350"/>
            <a:ext cx="323850" cy="323850"/>
          </a:xfrm>
          <a:prstGeom prst="roundRect">
            <a:avLst>
              <a:gd name="adj" fmla="val 23529"/>
            </a:avLst>
          </a:prstGeom>
          <a:solidFill>
            <a:srgbClr val="111111"/>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1981200" y="8477250"/>
            <a:ext cx="2381250" cy="400050"/>
          </a:xfrm>
          <a:prstGeom prst="rect">
            <a:avLst/>
          </a:prstGeom>
          <a:noFill/>
        </p:spPr>
        <p:txBody>
          <a:bodyPr wrap="square" lIns="0" rIns="0" tIns="0" bIns="0" anchor="ctr">
            <a:spAutoFit/>
          </a:bodyPr>
          <a:lstStyle/>
          <a:p>
            <a:pPr algn="l"/>
            <a:r>
              <a:rPr sz="1650" b="1" i="0">
                <a:solidFill>
                  <a:srgbClr val="F0E8E8"/>
                </a:solidFill>
                <a:latin typeface="Geist"/>
                <a:ea typeface="Geist"/>
                <a:cs typeface="Geist"/>
              </a:rPr>
              <a:t>RUNNING</a:t>
            </a:r>
          </a:p>
        </p:txBody>
      </p:sp>
      <p:sp>
        <p:nvSpPr>
          <p:cNvPr id="60" name="Rounded Rectangle 59"/>
          <p:cNvSpPr/>
          <p:nvPr/>
        </p:nvSpPr>
        <p:spPr>
          <a:xfrm>
            <a:off x="4381500" y="8515350"/>
            <a:ext cx="323850" cy="323850"/>
          </a:xfrm>
          <a:prstGeom prst="roundRect">
            <a:avLst>
              <a:gd name="adj" fmla="val 23529"/>
            </a:avLst>
          </a:prstGeom>
          <a:solidFill>
            <a:srgbClr val="111111"/>
          </a:solidFill>
          <a:ln w="381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4838700" y="8477250"/>
            <a:ext cx="2381250" cy="400050"/>
          </a:xfrm>
          <a:prstGeom prst="rect">
            <a:avLst/>
          </a:prstGeom>
          <a:noFill/>
        </p:spPr>
        <p:txBody>
          <a:bodyPr wrap="square" lIns="0" rIns="0" tIns="0" bIns="0" anchor="ctr">
            <a:spAutoFit/>
          </a:bodyPr>
          <a:lstStyle/>
          <a:p>
            <a:pPr algn="l"/>
            <a:r>
              <a:rPr sz="1650" b="1" i="0">
                <a:solidFill>
                  <a:srgbClr val="F0E8E8"/>
                </a:solidFill>
                <a:latin typeface="Geist"/>
                <a:ea typeface="Geist"/>
                <a:cs typeface="Geist"/>
              </a:rPr>
              <a:t>SUCCESS</a:t>
            </a:r>
          </a:p>
        </p:txBody>
      </p:sp>
      <p:sp>
        <p:nvSpPr>
          <p:cNvPr id="62" name="Rounded Rectangle 61"/>
          <p:cNvSpPr/>
          <p:nvPr/>
        </p:nvSpPr>
        <p:spPr>
          <a:xfrm>
            <a:off x="7239000" y="8515350"/>
            <a:ext cx="323850" cy="323850"/>
          </a:xfrm>
          <a:prstGeom prst="roundRect">
            <a:avLst>
              <a:gd name="adj" fmla="val 23529"/>
            </a:avLst>
          </a:prstGeom>
          <a:solidFill>
            <a:srgbClr val="111111"/>
          </a:solidFill>
          <a:ln w="381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7696200" y="8477250"/>
            <a:ext cx="2381250" cy="400050"/>
          </a:xfrm>
          <a:prstGeom prst="rect">
            <a:avLst/>
          </a:prstGeom>
          <a:noFill/>
        </p:spPr>
        <p:txBody>
          <a:bodyPr wrap="square" lIns="0" rIns="0" tIns="0" bIns="0" anchor="ctr">
            <a:spAutoFit/>
          </a:bodyPr>
          <a:lstStyle/>
          <a:p>
            <a:pPr algn="l"/>
            <a:r>
              <a:rPr sz="1650" b="1" i="0">
                <a:solidFill>
                  <a:srgbClr val="F0E8E8"/>
                </a:solidFill>
                <a:latin typeface="Geist"/>
                <a:ea typeface="Geist"/>
                <a:cs typeface="Geist"/>
              </a:rPr>
              <a:t>FAILURE</a:t>
            </a:r>
          </a:p>
        </p:txBody>
      </p:sp>
      <p:sp>
        <p:nvSpPr>
          <p:cNvPr id="64" name="Oval 63"/>
          <p:cNvSpPr/>
          <p:nvPr/>
        </p:nvSpPr>
        <p:spPr>
          <a:xfrm>
            <a:off x="11906250" y="2952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1906250" y="2952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66" name="TextBox 65"/>
          <p:cNvSpPr txBox="1"/>
          <p:nvPr/>
        </p:nvSpPr>
        <p:spPr>
          <a:xfrm>
            <a:off x="12515850" y="2914650"/>
            <a:ext cx="485775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Live</a:t>
            </a:r>
          </a:p>
        </p:txBody>
      </p:sp>
      <p:sp>
        <p:nvSpPr>
          <p:cNvPr id="67" name="TextBox 66"/>
          <p:cNvSpPr txBox="1"/>
          <p:nvPr/>
        </p:nvSpPr>
        <p:spPr>
          <a:xfrm>
            <a:off x="12515850" y="3352800"/>
            <a:ext cx="4857750" cy="9525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Connect Arbor to the robot or simulator</a:t>
            </a:r>
          </a:p>
        </p:txBody>
      </p:sp>
      <p:sp>
        <p:nvSpPr>
          <p:cNvPr id="68" name="Oval 67"/>
          <p:cNvSpPr/>
          <p:nvPr/>
        </p:nvSpPr>
        <p:spPr>
          <a:xfrm>
            <a:off x="11906250" y="4762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906250" y="4762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70" name="TextBox 69"/>
          <p:cNvSpPr txBox="1"/>
          <p:nvPr/>
        </p:nvSpPr>
        <p:spPr>
          <a:xfrm>
            <a:off x="12515850" y="4724400"/>
            <a:ext cx="485775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Replay</a:t>
            </a:r>
          </a:p>
        </p:txBody>
      </p:sp>
      <p:sp>
        <p:nvSpPr>
          <p:cNvPr id="71" name="TextBox 70"/>
          <p:cNvSpPr txBox="1"/>
          <p:nvPr/>
        </p:nvSpPr>
        <p:spPr>
          <a:xfrm>
            <a:off x="12515850" y="5162550"/>
            <a:ext cx="4857750" cy="9525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.btlog files in logs/bt, or /U/logs/bt on the robot</a:t>
            </a:r>
          </a:p>
        </p:txBody>
      </p:sp>
      <p:sp>
        <p:nvSpPr>
          <p:cNvPr id="72" name="Oval 71"/>
          <p:cNvSpPr/>
          <p:nvPr/>
        </p:nvSpPr>
        <p:spPr>
          <a:xfrm>
            <a:off x="11906250" y="6572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1906250" y="6572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74" name="TextBox 73"/>
          <p:cNvSpPr txBox="1"/>
          <p:nvPr/>
        </p:nvSpPr>
        <p:spPr>
          <a:xfrm>
            <a:off x="12515850" y="6534150"/>
            <a:ext cx="485775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AdvantageScope</a:t>
            </a:r>
          </a:p>
        </p:txBody>
      </p:sp>
      <p:sp>
        <p:nvSpPr>
          <p:cNvPr id="75" name="TextBox 74"/>
          <p:cNvSpPr txBox="1"/>
          <p:nvPr/>
        </p:nvSpPr>
        <p:spPr>
          <a:xfrm>
            <a:off x="12515850" y="6972300"/>
            <a:ext cx="4857750" cy="9525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BehaviorTree/Active and .../Transitions</a:t>
            </a:r>
          </a:p>
        </p:txBody>
      </p:sp>
      <p:sp>
        <p:nvSpPr>
          <p:cNvPr id="76" name="TextBox 7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77" name="TextBox 7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RUN AND CHECK</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Reading the distances in AdvantageScope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95375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895475" y="7800975"/>
            <a:ext cx="95440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333500" y="7667625"/>
            <a:ext cx="438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1895475" y="7134225"/>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33500" y="7000875"/>
            <a:ext cx="438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a:t>
            </a:r>
          </a:p>
        </p:txBody>
      </p:sp>
      <p:sp>
        <p:nvSpPr>
          <p:cNvPr id="10" name="Rectangle 9"/>
          <p:cNvSpPr/>
          <p:nvPr/>
        </p:nvSpPr>
        <p:spPr>
          <a:xfrm>
            <a:off x="1895475" y="6467475"/>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333500" y="6334125"/>
            <a:ext cx="438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a:t>
            </a:r>
          </a:p>
        </p:txBody>
      </p:sp>
      <p:sp>
        <p:nvSpPr>
          <p:cNvPr id="12" name="Rectangle 11"/>
          <p:cNvSpPr/>
          <p:nvPr/>
        </p:nvSpPr>
        <p:spPr>
          <a:xfrm>
            <a:off x="1895475" y="5800725"/>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333500" y="5667375"/>
            <a:ext cx="438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a:t>
            </a:r>
          </a:p>
        </p:txBody>
      </p:sp>
      <p:sp>
        <p:nvSpPr>
          <p:cNvPr id="14" name="Rectangle 13"/>
          <p:cNvSpPr/>
          <p:nvPr/>
        </p:nvSpPr>
        <p:spPr>
          <a:xfrm>
            <a:off x="1895475" y="5133975"/>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333500" y="5000625"/>
            <a:ext cx="438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4</a:t>
            </a:r>
          </a:p>
        </p:txBody>
      </p:sp>
      <p:sp>
        <p:nvSpPr>
          <p:cNvPr id="16" name="Rectangle 15"/>
          <p:cNvSpPr/>
          <p:nvPr/>
        </p:nvSpPr>
        <p:spPr>
          <a:xfrm>
            <a:off x="1895475" y="4467225"/>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333500" y="4333875"/>
            <a:ext cx="438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5</a:t>
            </a:r>
          </a:p>
        </p:txBody>
      </p:sp>
      <p:sp>
        <p:nvSpPr>
          <p:cNvPr id="18" name="Rectangle 17"/>
          <p:cNvSpPr/>
          <p:nvPr/>
        </p:nvSpPr>
        <p:spPr>
          <a:xfrm>
            <a:off x="1895475" y="3800475"/>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333500" y="3667125"/>
            <a:ext cx="438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6</a:t>
            </a:r>
          </a:p>
        </p:txBody>
      </p:sp>
      <p:sp>
        <p:nvSpPr>
          <p:cNvPr id="20" name="Rectangle 19"/>
          <p:cNvSpPr/>
          <p:nvPr/>
        </p:nvSpPr>
        <p:spPr>
          <a:xfrm>
            <a:off x="1895475" y="3133725"/>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333500" y="3000375"/>
            <a:ext cx="438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7</a:t>
            </a:r>
          </a:p>
        </p:txBody>
      </p:sp>
      <p:sp>
        <p:nvSpPr>
          <p:cNvPr id="22" name="TextBox 21"/>
          <p:cNvSpPr txBox="1"/>
          <p:nvPr/>
        </p:nvSpPr>
        <p:spPr>
          <a:xfrm>
            <a:off x="1619250" y="79629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 s</a:t>
            </a:r>
          </a:p>
        </p:txBody>
      </p:sp>
      <p:sp>
        <p:nvSpPr>
          <p:cNvPr id="23" name="TextBox 22"/>
          <p:cNvSpPr txBox="1"/>
          <p:nvPr/>
        </p:nvSpPr>
        <p:spPr>
          <a:xfrm>
            <a:off x="3524250" y="79629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 s</a:t>
            </a:r>
          </a:p>
        </p:txBody>
      </p:sp>
      <p:sp>
        <p:nvSpPr>
          <p:cNvPr id="24" name="TextBox 23"/>
          <p:cNvSpPr txBox="1"/>
          <p:nvPr/>
        </p:nvSpPr>
        <p:spPr>
          <a:xfrm>
            <a:off x="5429250" y="79629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 s</a:t>
            </a:r>
          </a:p>
        </p:txBody>
      </p:sp>
      <p:sp>
        <p:nvSpPr>
          <p:cNvPr id="25" name="TextBox 24"/>
          <p:cNvSpPr txBox="1"/>
          <p:nvPr/>
        </p:nvSpPr>
        <p:spPr>
          <a:xfrm>
            <a:off x="7334250" y="79629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6 s</a:t>
            </a:r>
          </a:p>
        </p:txBody>
      </p:sp>
      <p:sp>
        <p:nvSpPr>
          <p:cNvPr id="26" name="TextBox 25"/>
          <p:cNvSpPr txBox="1"/>
          <p:nvPr/>
        </p:nvSpPr>
        <p:spPr>
          <a:xfrm>
            <a:off x="9239250" y="79629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8 s</a:t>
            </a:r>
          </a:p>
        </p:txBody>
      </p:sp>
      <p:sp>
        <p:nvSpPr>
          <p:cNvPr id="27" name="TextBox 26"/>
          <p:cNvSpPr txBox="1"/>
          <p:nvPr/>
        </p:nvSpPr>
        <p:spPr>
          <a:xfrm>
            <a:off x="11144250" y="79629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10 s</a:t>
            </a:r>
          </a:p>
        </p:txBody>
      </p:sp>
      <p:sp>
        <p:nvSpPr>
          <p:cNvPr id="28" name="Rectangle 27"/>
          <p:cNvSpPr/>
          <p:nvPr/>
        </p:nvSpPr>
        <p:spPr>
          <a:xfrm>
            <a:off x="1890712" y="7529512"/>
            <a:ext cx="9553575" cy="28575"/>
          </a:xfrm>
          <a:prstGeom prst="rect">
            <a:avLst/>
          </a:prstGeom>
          <a:solidFill>
            <a:srgbClr val="D5000E"/>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096500" y="7200900"/>
            <a:ext cx="1333500" cy="285750"/>
          </a:xfrm>
          <a:prstGeom prst="rect">
            <a:avLst/>
          </a:prstGeom>
          <a:noFill/>
        </p:spPr>
        <p:txBody>
          <a:bodyPr wrap="square" lIns="0" rIns="0" tIns="0" bIns="0" anchor="t">
            <a:spAutoFit/>
          </a:bodyPr>
          <a:lstStyle/>
          <a:p>
            <a:pPr algn="r"/>
            <a:r>
              <a:rPr sz="1500" b="1" i="0">
                <a:solidFill>
                  <a:srgbClr val="D5000E"/>
                </a:solidFill>
                <a:latin typeface="Geist"/>
                <a:ea typeface="Geist"/>
                <a:cs typeface="Geist"/>
              </a:rPr>
              <a:t>0.4 m</a:t>
            </a:r>
          </a:p>
        </p:txBody>
      </p:sp>
      <p:sp>
        <p:nvSpPr>
          <p:cNvPr id="30" name="Rectangle 29"/>
          <p:cNvSpPr/>
          <p:nvPr/>
        </p:nvSpPr>
        <p:spPr>
          <a:xfrm>
            <a:off x="1881188" y="5037607"/>
            <a:ext cx="96202"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1" name="Connector 30"/>
          <p:cNvCxnSpPr/>
          <p:nvPr/>
        </p:nvCxnSpPr>
        <p:spPr>
          <a:xfrm>
            <a:off x="1953578" y="5065300"/>
            <a:ext cx="47624" cy="1099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001202" y="5076294"/>
            <a:ext cx="48578" cy="1810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049780" y="5094396"/>
            <a:ext cx="47625" cy="2584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097405" y="5120242"/>
            <a:ext cx="48577" cy="3293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2145982" y="5153172"/>
            <a:ext cx="47626" cy="3999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2193608" y="5193167"/>
            <a:ext cx="48577" cy="4703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2242185" y="5240204"/>
            <a:ext cx="47625" cy="5404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2289810" y="5294252"/>
            <a:ext cx="48578" cy="5799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2338388" y="5352244"/>
            <a:ext cx="47624" cy="5871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2386012" y="5410962"/>
            <a:ext cx="48578" cy="5956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2434590" y="5470522"/>
            <a:ext cx="48578" cy="5999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2483168" y="5530521"/>
            <a:ext cx="47624" cy="6067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530792" y="5591195"/>
            <a:ext cx="48578" cy="6054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2579370" y="5651737"/>
            <a:ext cx="47625" cy="6066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2626995" y="5712405"/>
            <a:ext cx="48577" cy="6014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2675572" y="5772551"/>
            <a:ext cx="47626" cy="6012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2723198" y="5832679"/>
            <a:ext cx="48577" cy="6093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2771775" y="5893614"/>
            <a:ext cx="47625" cy="6008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2819400" y="5953702"/>
            <a:ext cx="48578" cy="6052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2867978" y="6014229"/>
            <a:ext cx="47624" cy="5986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2915602" y="6074095"/>
            <a:ext cx="48578" cy="6048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2964180" y="6134582"/>
            <a:ext cx="48578" cy="6046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3012758" y="6195045"/>
            <a:ext cx="47624" cy="6043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3060382" y="6255483"/>
            <a:ext cx="48578" cy="5976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108960" y="6315246"/>
            <a:ext cx="47625" cy="6037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3156585" y="6375621"/>
            <a:ext cx="48577" cy="6033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3205162" y="6435960"/>
            <a:ext cx="47626" cy="6029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3252788" y="6496256"/>
            <a:ext cx="48577" cy="5959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3301365" y="6555855"/>
            <a:ext cx="47625" cy="6019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3348990" y="6616046"/>
            <a:ext cx="48578" cy="6012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397568" y="6676173"/>
            <a:ext cx="47625" cy="6005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445193" y="6736225"/>
            <a:ext cx="48577" cy="5996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3493770" y="6796188"/>
            <a:ext cx="48578" cy="5920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3542348" y="6855391"/>
            <a:ext cx="47624" cy="5973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3589972" y="6915122"/>
            <a:ext cx="48578" cy="5968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3638550" y="6974806"/>
            <a:ext cx="47625" cy="5890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3686175" y="7033715"/>
            <a:ext cx="48577" cy="5853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3734752" y="7092249"/>
            <a:ext cx="47626" cy="5819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3782378" y="7150442"/>
            <a:ext cx="48577" cy="5888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3830955" y="7209329"/>
            <a:ext cx="47625" cy="5901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3878580" y="7268340"/>
            <a:ext cx="48578" cy="5985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3927158" y="7328196"/>
            <a:ext cx="48577" cy="6019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3975735" y="7388395"/>
            <a:ext cx="47625" cy="6072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4023360" y="7449116"/>
            <a:ext cx="48578" cy="6067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4071938" y="7509795"/>
            <a:ext cx="47624" cy="6000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4119562" y="7569803"/>
            <a:ext cx="48578" cy="5600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4168140" y="7625810"/>
            <a:ext cx="47625" cy="4867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4215765" y="7674483"/>
            <a:ext cx="48577" cy="4133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4264342" y="7715821"/>
            <a:ext cx="47626" cy="3400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4311968" y="7749826"/>
            <a:ext cx="48577" cy="2667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360545" y="7776496"/>
            <a:ext cx="47625" cy="1866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4408170" y="7795165"/>
            <a:ext cx="48578" cy="1133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83" name="Rectangle 82"/>
          <p:cNvSpPr/>
          <p:nvPr/>
        </p:nvSpPr>
        <p:spPr>
          <a:xfrm>
            <a:off x="4432935" y="7782687"/>
            <a:ext cx="96203"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4481512" y="7786688"/>
            <a:ext cx="28575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4719638" y="7786688"/>
            <a:ext cx="52387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5195888" y="7786688"/>
            <a:ext cx="8953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5237798" y="7786688"/>
            <a:ext cx="8953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5279708" y="7786688"/>
            <a:ext cx="8953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5321618" y="7786688"/>
            <a:ext cx="8953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5363528" y="7786688"/>
            <a:ext cx="8953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5405438" y="7786021"/>
            <a:ext cx="8953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2" name="Connector 91"/>
          <p:cNvCxnSpPr/>
          <p:nvPr/>
        </p:nvCxnSpPr>
        <p:spPr>
          <a:xfrm flipV="1">
            <a:off x="5471160" y="7798480"/>
            <a:ext cx="41910" cy="862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5513070" y="7784497"/>
            <a:ext cx="41910" cy="1398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5554980" y="7765466"/>
            <a:ext cx="41910" cy="1903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5596890" y="7740364"/>
            <a:ext cx="42862" cy="2510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5639752" y="7709145"/>
            <a:ext cx="41910" cy="3121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5681662" y="7672997"/>
            <a:ext cx="41911" cy="3614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5723573" y="7631904"/>
            <a:ext cx="41909" cy="4109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5765482" y="7584981"/>
            <a:ext cx="41910" cy="4692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5807392" y="7535107"/>
            <a:ext cx="41910" cy="4987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5849302" y="7485208"/>
            <a:ext cx="41910" cy="4989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5891212" y="7435359"/>
            <a:ext cx="41910" cy="4984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5933122" y="7386786"/>
            <a:ext cx="41910" cy="4857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5975032" y="7338176"/>
            <a:ext cx="41910" cy="4861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6016942" y="7290065"/>
            <a:ext cx="41910" cy="4811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6058852" y="7241214"/>
            <a:ext cx="41910" cy="4885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6100762" y="7191689"/>
            <a:ext cx="41910" cy="4952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6142672" y="7141912"/>
            <a:ext cx="41910" cy="4977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6184582" y="7090920"/>
            <a:ext cx="41910" cy="5099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6226492" y="7039520"/>
            <a:ext cx="41910" cy="5140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6268402" y="6987609"/>
            <a:ext cx="41910" cy="5191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6310312" y="6934817"/>
            <a:ext cx="41911" cy="5279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6352223" y="6881825"/>
            <a:ext cx="41909" cy="5299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6394132" y="6837538"/>
            <a:ext cx="36195" cy="4428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6430327" y="6793126"/>
            <a:ext cx="35243" cy="4441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6465570" y="6749424"/>
            <a:ext cx="35242" cy="4370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6500812" y="6705789"/>
            <a:ext cx="35243" cy="4363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6536055" y="6662452"/>
            <a:ext cx="35243" cy="4333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6571298" y="6618439"/>
            <a:ext cx="35242" cy="4401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6606540" y="6574373"/>
            <a:ext cx="35242" cy="4406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6641782" y="6530800"/>
            <a:ext cx="35243" cy="4357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6677025" y="6486252"/>
            <a:ext cx="35242" cy="4454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6712267" y="6442173"/>
            <a:ext cx="35243" cy="4407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6747510" y="6397423"/>
            <a:ext cx="35242" cy="4475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6782752" y="6353156"/>
            <a:ext cx="35243" cy="4426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6817995" y="6309360"/>
            <a:ext cx="35243" cy="4379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6853238" y="6265206"/>
            <a:ext cx="35242" cy="4415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6888480" y="6223052"/>
            <a:ext cx="35243" cy="4215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6923723" y="6184110"/>
            <a:ext cx="35242" cy="3894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6958965" y="6149340"/>
            <a:ext cx="35243" cy="3477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6994208" y="6118746"/>
            <a:ext cx="35242" cy="3059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7029450" y="6091975"/>
            <a:ext cx="35242" cy="2677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7064692" y="6069748"/>
            <a:ext cx="36196" cy="2222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7100888" y="6050842"/>
            <a:ext cx="35242" cy="1890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7136130" y="6036131"/>
            <a:ext cx="35242" cy="1471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7171372" y="6025989"/>
            <a:ext cx="35243" cy="1014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7206615" y="6018934"/>
            <a:ext cx="35243" cy="705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138" name="Rectangle 137"/>
          <p:cNvSpPr/>
          <p:nvPr/>
        </p:nvSpPr>
        <p:spPr>
          <a:xfrm>
            <a:off x="7218045" y="5995122"/>
            <a:ext cx="82867"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Rectangle 138"/>
          <p:cNvSpPr/>
          <p:nvPr/>
        </p:nvSpPr>
        <p:spPr>
          <a:xfrm>
            <a:off x="7253288" y="5992027"/>
            <a:ext cx="82867"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Rectangle 139"/>
          <p:cNvSpPr/>
          <p:nvPr/>
        </p:nvSpPr>
        <p:spPr>
          <a:xfrm>
            <a:off x="7288530" y="5991408"/>
            <a:ext cx="82868"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Rectangle 140"/>
          <p:cNvSpPr/>
          <p:nvPr/>
        </p:nvSpPr>
        <p:spPr>
          <a:xfrm>
            <a:off x="7323772" y="5991408"/>
            <a:ext cx="28575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Rectangle 141"/>
          <p:cNvSpPr/>
          <p:nvPr/>
        </p:nvSpPr>
        <p:spPr>
          <a:xfrm>
            <a:off x="7561898" y="5991408"/>
            <a:ext cx="389191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Rectangle 142"/>
          <p:cNvSpPr/>
          <p:nvPr/>
        </p:nvSpPr>
        <p:spPr>
          <a:xfrm>
            <a:off x="1881188" y="3717327"/>
            <a:ext cx="96202"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44" name="Connector 143"/>
          <p:cNvCxnSpPr/>
          <p:nvPr/>
        </p:nvCxnSpPr>
        <p:spPr>
          <a:xfrm>
            <a:off x="1953578" y="3744416"/>
            <a:ext cx="47624" cy="9277"/>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2001202" y="3753693"/>
            <a:ext cx="48578" cy="15257"/>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2049780" y="3768950"/>
            <a:ext cx="47625" cy="21745"/>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2097405" y="3790695"/>
            <a:ext cx="48577" cy="2763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2145982" y="3818334"/>
            <a:ext cx="47626" cy="3346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2193608" y="3851800"/>
            <a:ext cx="48577" cy="39212"/>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2242185" y="3891012"/>
            <a:ext cx="47625" cy="44855"/>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2289810" y="3935867"/>
            <a:ext cx="48578" cy="48138"/>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2338388" y="3984005"/>
            <a:ext cx="47624" cy="4873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2386012" y="4032741"/>
            <a:ext cx="48578" cy="5046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2434590" y="4083207"/>
            <a:ext cx="48578" cy="52160"/>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2483168" y="4135367"/>
            <a:ext cx="47624" cy="5435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2530792" y="4189723"/>
            <a:ext cx="48578" cy="5569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2579370" y="4245416"/>
            <a:ext cx="47625" cy="56748"/>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2626995" y="4302164"/>
            <a:ext cx="48577" cy="5733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2675572" y="4359500"/>
            <a:ext cx="47626" cy="57230"/>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2723198" y="4416730"/>
            <a:ext cx="48577" cy="58057"/>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2771775" y="4474787"/>
            <a:ext cx="47625" cy="5699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a:off x="2819400" y="4531786"/>
            <a:ext cx="48578" cy="56924"/>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a:off x="2867978" y="4588710"/>
            <a:ext cx="47624" cy="56287"/>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a:off x="2915602" y="4644997"/>
            <a:ext cx="48578" cy="5663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a:off x="2964180" y="4701628"/>
            <a:ext cx="48578" cy="5647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a:off x="3012758" y="4758099"/>
            <a:ext cx="47624" cy="56302"/>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a:off x="3060382" y="4814401"/>
            <a:ext cx="48578" cy="55644"/>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a:off x="3108960" y="4870045"/>
            <a:ext cx="47625" cy="55937"/>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a:off x="3156585" y="4925982"/>
            <a:ext cx="48577" cy="55737"/>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a:off x="3205162" y="4981719"/>
            <a:ext cx="47626" cy="55525"/>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a:off x="3252788" y="5037244"/>
            <a:ext cx="48577" cy="54835"/>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a:off x="3301365" y="5092079"/>
            <a:ext cx="47625" cy="55064"/>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a:off x="3348990" y="5147143"/>
            <a:ext cx="48578" cy="5480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a:off x="3397568" y="5201952"/>
            <a:ext cx="47625" cy="5453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a:off x="3445193" y="5256491"/>
            <a:ext cx="48577" cy="5424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a:off x="3493770" y="5310740"/>
            <a:ext cx="48578" cy="53504"/>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a:off x="3542348" y="5364244"/>
            <a:ext cx="47624" cy="5361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a:off x="3589972" y="5417863"/>
            <a:ext cx="48578" cy="53782"/>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a:off x="3638550" y="5471645"/>
            <a:ext cx="47625" cy="53517"/>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a:off x="3686175" y="5525162"/>
            <a:ext cx="48577" cy="5262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a:off x="3734752" y="5577788"/>
            <a:ext cx="47626" cy="5222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a:off x="3782378" y="5630011"/>
            <a:ext cx="48577" cy="50438"/>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a:off x="3830955" y="5680449"/>
            <a:ext cx="47625" cy="48104"/>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3878580" y="5728553"/>
            <a:ext cx="48578" cy="4489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a:off x="3927158" y="5773444"/>
            <a:ext cx="48577" cy="40500"/>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a:off x="3975735" y="5813944"/>
            <a:ext cx="47625" cy="36405"/>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a:off x="4023360" y="5850349"/>
            <a:ext cx="48578" cy="3228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a:off x="4071938" y="5882635"/>
            <a:ext cx="47624" cy="2998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4119562" y="5912624"/>
            <a:ext cx="48578" cy="2613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4168140" y="5938757"/>
            <a:ext cx="47625" cy="2163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a:off x="4215765" y="5960390"/>
            <a:ext cx="48577" cy="17558"/>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a:off x="4264342" y="5977948"/>
            <a:ext cx="47626" cy="1386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a:off x="4311968" y="5991814"/>
            <a:ext cx="48577" cy="10502"/>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4360545" y="6002316"/>
            <a:ext cx="47625" cy="715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sp>
        <p:nvSpPr>
          <p:cNvPr id="195" name="Rectangle 194"/>
          <p:cNvSpPr/>
          <p:nvPr/>
        </p:nvSpPr>
        <p:spPr>
          <a:xfrm>
            <a:off x="4384358" y="5985657"/>
            <a:ext cx="96202"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6" name="Rectangle 195"/>
          <p:cNvSpPr/>
          <p:nvPr/>
        </p:nvSpPr>
        <p:spPr>
          <a:xfrm>
            <a:off x="4432935" y="5989919"/>
            <a:ext cx="96203"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7" name="Rectangle 196"/>
          <p:cNvSpPr/>
          <p:nvPr/>
        </p:nvSpPr>
        <p:spPr>
          <a:xfrm>
            <a:off x="4481512" y="5991408"/>
            <a:ext cx="285750"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8" name="Rectangle 197"/>
          <p:cNvSpPr/>
          <p:nvPr/>
        </p:nvSpPr>
        <p:spPr>
          <a:xfrm>
            <a:off x="4719638" y="5991408"/>
            <a:ext cx="523875"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9" name="Rectangle 198"/>
          <p:cNvSpPr/>
          <p:nvPr/>
        </p:nvSpPr>
        <p:spPr>
          <a:xfrm>
            <a:off x="5195888" y="5991408"/>
            <a:ext cx="89535"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0" name="Rectangle 199"/>
          <p:cNvSpPr/>
          <p:nvPr/>
        </p:nvSpPr>
        <p:spPr>
          <a:xfrm>
            <a:off x="5237798" y="5991408"/>
            <a:ext cx="89535"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1" name="Rectangle 200"/>
          <p:cNvSpPr/>
          <p:nvPr/>
        </p:nvSpPr>
        <p:spPr>
          <a:xfrm>
            <a:off x="5279708" y="5991408"/>
            <a:ext cx="89535"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2" name="Rectangle 201"/>
          <p:cNvSpPr/>
          <p:nvPr/>
        </p:nvSpPr>
        <p:spPr>
          <a:xfrm>
            <a:off x="5321618" y="5991408"/>
            <a:ext cx="89535"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3" name="Rectangle 202"/>
          <p:cNvSpPr/>
          <p:nvPr/>
        </p:nvSpPr>
        <p:spPr>
          <a:xfrm>
            <a:off x="5363528" y="5991408"/>
            <a:ext cx="89535"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4" name="Rectangle 203"/>
          <p:cNvSpPr/>
          <p:nvPr/>
        </p:nvSpPr>
        <p:spPr>
          <a:xfrm>
            <a:off x="5405438" y="5991656"/>
            <a:ext cx="89535"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05" name="Connector 204"/>
          <p:cNvCxnSpPr/>
          <p:nvPr/>
        </p:nvCxnSpPr>
        <p:spPr>
          <a:xfrm>
            <a:off x="5471160" y="6017076"/>
            <a:ext cx="41910" cy="604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5513070" y="6023122"/>
            <a:ext cx="41910" cy="10202"/>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a:off x="5554980" y="6033324"/>
            <a:ext cx="41910" cy="1468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a:off x="5596890" y="6048013"/>
            <a:ext cx="42862" cy="20997"/>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a:off x="5639752" y="6069010"/>
            <a:ext cx="41910" cy="2765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a:off x="5681662" y="6096666"/>
            <a:ext cx="41911" cy="33210"/>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a:off x="5723573" y="6129876"/>
            <a:ext cx="41909" cy="3958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a:off x="5765482" y="6169462"/>
            <a:ext cx="41910" cy="4662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a:off x="5807392" y="6216088"/>
            <a:ext cx="41910" cy="5097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a:off x="5849302" y="6267064"/>
            <a:ext cx="41910" cy="5223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5891212" y="6319300"/>
            <a:ext cx="41910" cy="53342"/>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5933122" y="6372642"/>
            <a:ext cx="41910" cy="5254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5975032" y="6425191"/>
            <a:ext cx="41910" cy="52338"/>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6016942" y="6477529"/>
            <a:ext cx="41910" cy="5144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6058852" y="6528975"/>
            <a:ext cx="41910" cy="51554"/>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6100762" y="6580529"/>
            <a:ext cx="41910" cy="5143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6142672" y="6631960"/>
            <a:ext cx="41910" cy="51058"/>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6184582" y="6683018"/>
            <a:ext cx="41910" cy="51605"/>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6226492" y="6734623"/>
            <a:ext cx="41910" cy="51577"/>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6268402" y="6786200"/>
            <a:ext cx="41910" cy="5184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6310312" y="6838049"/>
            <a:ext cx="41911" cy="52694"/>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6352223" y="6890743"/>
            <a:ext cx="41909" cy="52982"/>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6394132" y="6943725"/>
            <a:ext cx="36195" cy="4436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6430327" y="6988086"/>
            <a:ext cx="35243" cy="44490"/>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6465570" y="7032576"/>
            <a:ext cx="35242" cy="4371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6500812" y="7076287"/>
            <a:ext cx="35243" cy="4349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6536055" y="7119783"/>
            <a:ext cx="35243" cy="4297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6571298" y="7162759"/>
            <a:ext cx="35242" cy="4343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6606540" y="7206190"/>
            <a:ext cx="35242" cy="4322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6641782" y="7249413"/>
            <a:ext cx="35243" cy="4258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6677025" y="7291996"/>
            <a:ext cx="35242" cy="4342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6712267" y="7335425"/>
            <a:ext cx="35243" cy="43144"/>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6747510" y="7378569"/>
            <a:ext cx="35242" cy="43925"/>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6782752" y="7422494"/>
            <a:ext cx="35243" cy="43822"/>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6817995" y="7466316"/>
            <a:ext cx="35243" cy="4382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6853238" y="7510142"/>
            <a:ext cx="35242" cy="4428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6888480" y="7554423"/>
            <a:ext cx="35243" cy="42550"/>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6923723" y="7596973"/>
            <a:ext cx="35242" cy="3955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6958965" y="7636524"/>
            <a:ext cx="35243" cy="3536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6994208" y="7671887"/>
            <a:ext cx="35242" cy="3118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7029450" y="7703070"/>
            <a:ext cx="35242" cy="27615"/>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7064692" y="7730685"/>
            <a:ext cx="36196" cy="2289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7100888" y="7753576"/>
            <a:ext cx="35242" cy="1949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7136130" y="7773067"/>
            <a:ext cx="35242" cy="15390"/>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7171372" y="7788457"/>
            <a:ext cx="35243" cy="1068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a:off x="7206615" y="7799146"/>
            <a:ext cx="35243" cy="735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sp>
        <p:nvSpPr>
          <p:cNvPr id="251" name="Rectangle 250"/>
          <p:cNvSpPr/>
          <p:nvPr/>
        </p:nvSpPr>
        <p:spPr>
          <a:xfrm>
            <a:off x="7218045" y="7782687"/>
            <a:ext cx="82867"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2" name="Rectangle 251"/>
          <p:cNvSpPr/>
          <p:nvPr/>
        </p:nvSpPr>
        <p:spPr>
          <a:xfrm>
            <a:off x="7253288" y="7786021"/>
            <a:ext cx="82867"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3" name="Rectangle 252"/>
          <p:cNvSpPr/>
          <p:nvPr/>
        </p:nvSpPr>
        <p:spPr>
          <a:xfrm>
            <a:off x="7288530" y="7786688"/>
            <a:ext cx="82868"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4" name="Rectangle 253"/>
          <p:cNvSpPr/>
          <p:nvPr/>
        </p:nvSpPr>
        <p:spPr>
          <a:xfrm>
            <a:off x="7323772" y="7786688"/>
            <a:ext cx="285750"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5" name="Rectangle 254"/>
          <p:cNvSpPr/>
          <p:nvPr/>
        </p:nvSpPr>
        <p:spPr>
          <a:xfrm>
            <a:off x="7561898" y="7786688"/>
            <a:ext cx="3891915"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6" name="Rectangle 255"/>
          <p:cNvSpPr/>
          <p:nvPr/>
        </p:nvSpPr>
        <p:spPr>
          <a:xfrm>
            <a:off x="1905000" y="8505825"/>
            <a:ext cx="3810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7" name="TextBox 256"/>
          <p:cNvSpPr txBox="1"/>
          <p:nvPr/>
        </p:nvSpPr>
        <p:spPr>
          <a:xfrm>
            <a:off x="2419350" y="8362950"/>
            <a:ext cx="3810000" cy="32385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Drive/DistanceToPickup</a:t>
            </a:r>
          </a:p>
        </p:txBody>
      </p:sp>
      <p:sp>
        <p:nvSpPr>
          <p:cNvPr id="258" name="Rectangle 257"/>
          <p:cNvSpPr/>
          <p:nvPr/>
        </p:nvSpPr>
        <p:spPr>
          <a:xfrm>
            <a:off x="6381750" y="8505825"/>
            <a:ext cx="381000" cy="7620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9" name="TextBox 258"/>
          <p:cNvSpPr txBox="1"/>
          <p:nvPr/>
        </p:nvSpPr>
        <p:spPr>
          <a:xfrm>
            <a:off x="6896100" y="8362950"/>
            <a:ext cx="3810000" cy="32385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Drive/DistanceToScoreSpot</a:t>
            </a:r>
          </a:p>
        </p:txBody>
      </p:sp>
      <p:sp>
        <p:nvSpPr>
          <p:cNvPr id="260" name="Oval 259"/>
          <p:cNvSpPr/>
          <p:nvPr/>
        </p:nvSpPr>
        <p:spPr>
          <a:xfrm>
            <a:off x="4476750" y="67627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4476750" y="67627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62" name="Oval 261"/>
          <p:cNvSpPr/>
          <p:nvPr/>
        </p:nvSpPr>
        <p:spPr>
          <a:xfrm>
            <a:off x="7429500" y="67627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TextBox 262"/>
          <p:cNvSpPr txBox="1"/>
          <p:nvPr/>
        </p:nvSpPr>
        <p:spPr>
          <a:xfrm>
            <a:off x="7429500" y="67627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4" name="Oval 263"/>
          <p:cNvSpPr/>
          <p:nvPr/>
        </p:nvSpPr>
        <p:spPr>
          <a:xfrm>
            <a:off x="9715500" y="55054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9715500" y="55054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66" name="Oval 265"/>
          <p:cNvSpPr/>
          <p:nvPr/>
        </p:nvSpPr>
        <p:spPr>
          <a:xfrm>
            <a:off x="122872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12287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68" name="TextBox 267"/>
          <p:cNvSpPr txBox="1"/>
          <p:nvPr/>
        </p:nvSpPr>
        <p:spPr>
          <a:xfrm>
            <a:off x="12896850" y="28194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Pickup dips</a:t>
            </a:r>
          </a:p>
        </p:txBody>
      </p:sp>
      <p:sp>
        <p:nvSpPr>
          <p:cNvPr id="269" name="TextBox 268"/>
          <p:cNvSpPr txBox="1"/>
          <p:nvPr/>
        </p:nvSpPr>
        <p:spPr>
          <a:xfrm>
            <a:off x="12896850" y="32385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Under 0.4 m: Reaches the pickup</a:t>
            </a:r>
          </a:p>
        </p:txBody>
      </p:sp>
      <p:sp>
        <p:nvSpPr>
          <p:cNvPr id="270" name="Oval 269"/>
          <p:cNvSpPr/>
          <p:nvPr/>
        </p:nvSpPr>
        <p:spPr>
          <a:xfrm>
            <a:off x="12287250" y="4286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TextBox 270"/>
          <p:cNvSpPr txBox="1"/>
          <p:nvPr/>
        </p:nvSpPr>
        <p:spPr>
          <a:xfrm>
            <a:off x="122872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72" name="TextBox 271"/>
          <p:cNvSpPr txBox="1"/>
          <p:nvPr/>
        </p:nvSpPr>
        <p:spPr>
          <a:xfrm>
            <a:off x="12896850" y="42481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ScoreSpot dips</a:t>
            </a:r>
          </a:p>
        </p:txBody>
      </p:sp>
      <p:sp>
        <p:nvSpPr>
          <p:cNvPr id="273" name="TextBox 272"/>
          <p:cNvSpPr txBox="1"/>
          <p:nvPr/>
        </p:nvSpPr>
        <p:spPr>
          <a:xfrm>
            <a:off x="12896850" y="46672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Under 0.4 m: Reaches the scoring spot</a:t>
            </a:r>
          </a:p>
        </p:txBody>
      </p:sp>
      <p:sp>
        <p:nvSpPr>
          <p:cNvPr id="274" name="Oval 273"/>
          <p:cNvSpPr/>
          <p:nvPr/>
        </p:nvSpPr>
        <p:spPr>
          <a:xfrm>
            <a:off x="12287250" y="5715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TextBox 274"/>
          <p:cNvSpPr txBox="1"/>
          <p:nvPr/>
        </p:nvSpPr>
        <p:spPr>
          <a:xfrm>
            <a:off x="122872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76" name="TextBox 275"/>
          <p:cNvSpPr txBox="1"/>
          <p:nvPr/>
        </p:nvSpPr>
        <p:spPr>
          <a:xfrm>
            <a:off x="12896850" y="56769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Flat at the end</a:t>
            </a:r>
          </a:p>
        </p:txBody>
      </p:sp>
      <p:sp>
        <p:nvSpPr>
          <p:cNvPr id="277" name="TextBox 276"/>
          <p:cNvSpPr txBox="1"/>
          <p:nvPr/>
        </p:nvSpPr>
        <p:spPr>
          <a:xfrm>
            <a:off x="12896850" y="60960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Standing still: aiming, then shooting</a:t>
            </a:r>
          </a:p>
        </p:txBody>
      </p:sp>
      <p:sp>
        <p:nvSpPr>
          <p:cNvPr id="278" name="Oval 277"/>
          <p:cNvSpPr/>
          <p:nvPr/>
        </p:nvSpPr>
        <p:spPr>
          <a:xfrm>
            <a:off x="12287250" y="7143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122872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80" name="TextBox 279"/>
          <p:cNvSpPr txBox="1"/>
          <p:nvPr/>
        </p:nvSpPr>
        <p:spPr>
          <a:xfrm>
            <a:off x="12896850" y="71056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Also plot</a:t>
            </a:r>
          </a:p>
        </p:txBody>
      </p:sp>
      <p:sp>
        <p:nvSpPr>
          <p:cNvPr id="281" name="TextBox 280"/>
          <p:cNvSpPr txBox="1"/>
          <p:nvPr/>
        </p:nvSpPr>
        <p:spPr>
          <a:xfrm>
            <a:off x="12896850" y="75247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TrueAimErrorRad: near 0 before the shot</a:t>
            </a:r>
          </a:p>
        </p:txBody>
      </p:sp>
      <p:sp>
        <p:nvSpPr>
          <p:cNvPr id="282" name="TextBox 28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83" name="TextBox 28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RUN AND CHECK</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When a check fails, it's a clue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3906500" cy="609600"/>
          </a:xfrm>
          <a:prstGeom prst="roundRect">
            <a:avLst>
              <a:gd name="adj" fmla="val 1875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81100" y="2857500"/>
            <a:ext cx="4572000" cy="6096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What you see</a:t>
            </a:r>
          </a:p>
        </p:txBody>
      </p:sp>
      <p:sp>
        <p:nvSpPr>
          <p:cNvPr id="7" name="TextBox 6"/>
          <p:cNvSpPr txBox="1"/>
          <p:nvPr/>
        </p:nvSpPr>
        <p:spPr>
          <a:xfrm>
            <a:off x="6134100" y="2857500"/>
            <a:ext cx="8572500" cy="6096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Look at</a:t>
            </a:r>
          </a:p>
        </p:txBody>
      </p:sp>
      <p:sp>
        <p:nvSpPr>
          <p:cNvPr id="8" name="Rectangle 7"/>
          <p:cNvSpPr/>
          <p:nvPr/>
        </p:nvSpPr>
        <p:spPr>
          <a:xfrm>
            <a:off x="904875" y="4552950"/>
            <a:ext cx="13925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81100" y="3562350"/>
            <a:ext cx="4533900" cy="952500"/>
          </a:xfrm>
          <a:prstGeom prst="rect">
            <a:avLst/>
          </a:prstGeom>
          <a:noFill/>
        </p:spPr>
        <p:txBody>
          <a:bodyPr wrap="square" lIns="0" rIns="0" tIns="0" bIns="0" anchor="ctr">
            <a:spAutoFit/>
          </a:bodyPr>
          <a:lstStyle/>
          <a:p>
            <a:pPr algn="l">
              <a:lnSpc>
                <a:spcPct val="120000"/>
              </a:lnSpc>
            </a:pPr>
            <a:r>
              <a:rPr sz="1950" b="1" i="0">
                <a:solidFill>
                  <a:srgbClr val="F0E8E8"/>
                </a:solidFill>
                <a:latin typeface="Geist"/>
                <a:ea typeface="Geist"/>
                <a:cs typeface="Geist"/>
              </a:rPr>
              <a:t>Never reaches the pickup</a:t>
            </a:r>
          </a:p>
        </p:txBody>
      </p:sp>
      <p:sp>
        <p:nvSpPr>
          <p:cNvPr id="10" name="TextBox 9"/>
          <p:cNvSpPr txBox="1"/>
          <p:nvPr/>
        </p:nvSpPr>
        <p:spPr>
          <a:xfrm>
            <a:off x="6134100" y="3562350"/>
            <a:ext cx="8534400" cy="952500"/>
          </a:xfrm>
          <a:prstGeom prst="rect">
            <a:avLst/>
          </a:prstGeom>
          <a:noFill/>
        </p:spPr>
        <p:txBody>
          <a:bodyPr wrap="square" lIns="0" rIns="0" tIns="0" bIns="0" anchor="ctr">
            <a:spAutoFit/>
          </a:bodyPr>
          <a:lstStyle/>
          <a:p>
            <a:pPr algn="l">
              <a:lnSpc>
                <a:spcPct val="120000"/>
              </a:lnSpc>
            </a:pPr>
            <a:r>
              <a:rPr sz="1875" b="0" i="0">
                <a:solidFill>
                  <a:srgbClr val="9A7878"/>
                </a:solidFill>
                <a:latin typeface="Geist"/>
                <a:ea typeface="Geist"/>
                <a:cs typeface="Geist"/>
              </a:rPr>
              <a:t>The first FollowPath: path name, generated, spelled the same?</a:t>
            </a:r>
          </a:p>
        </p:txBody>
      </p:sp>
      <p:sp>
        <p:nvSpPr>
          <p:cNvPr id="11" name="Rectangle 10"/>
          <p:cNvSpPr/>
          <p:nvPr/>
        </p:nvSpPr>
        <p:spPr>
          <a:xfrm>
            <a:off x="904875" y="5600700"/>
            <a:ext cx="13925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81100" y="4610100"/>
            <a:ext cx="4533900" cy="952500"/>
          </a:xfrm>
          <a:prstGeom prst="rect">
            <a:avLst/>
          </a:prstGeom>
          <a:noFill/>
        </p:spPr>
        <p:txBody>
          <a:bodyPr wrap="square" lIns="0" rIns="0" tIns="0" bIns="0" anchor="ctr">
            <a:spAutoFit/>
          </a:bodyPr>
          <a:lstStyle/>
          <a:p>
            <a:pPr algn="l">
              <a:lnSpc>
                <a:spcPct val="120000"/>
              </a:lnSpc>
            </a:pPr>
            <a:r>
              <a:rPr sz="1950" b="1" i="0">
                <a:solidFill>
                  <a:srgbClr val="F0E8E8"/>
                </a:solidFill>
                <a:latin typeface="Geist"/>
                <a:ea typeface="Geist"/>
                <a:cs typeface="Geist"/>
              </a:rPr>
              <a:t>Never reaches the scoring spot</a:t>
            </a:r>
          </a:p>
        </p:txBody>
      </p:sp>
      <p:sp>
        <p:nvSpPr>
          <p:cNvPr id="13" name="TextBox 12"/>
          <p:cNvSpPr txBox="1"/>
          <p:nvPr/>
        </p:nvSpPr>
        <p:spPr>
          <a:xfrm>
            <a:off x="6134100" y="4610100"/>
            <a:ext cx="8534400" cy="952500"/>
          </a:xfrm>
          <a:prstGeom prst="rect">
            <a:avLst/>
          </a:prstGeom>
          <a:noFill/>
        </p:spPr>
        <p:txBody>
          <a:bodyPr wrap="square" lIns="0" rIns="0" tIns="0" bIns="0" anchor="ctr">
            <a:spAutoFit/>
          </a:bodyPr>
          <a:lstStyle/>
          <a:p>
            <a:pPr algn="l">
              <a:lnSpc>
                <a:spcPct val="120000"/>
              </a:lnSpc>
            </a:pPr>
            <a:r>
              <a:rPr sz="1875" b="0" i="0">
                <a:solidFill>
                  <a:srgbClr val="9A7878"/>
                </a:solidFill>
                <a:latin typeface="Geist"/>
                <a:ea typeface="Geist"/>
                <a:cs typeface="Geist"/>
              </a:rPr>
              <a:t>ToScore never ran, or doesn't start where ToPickup ended</a:t>
            </a:r>
          </a:p>
        </p:txBody>
      </p:sp>
      <p:sp>
        <p:nvSpPr>
          <p:cNvPr id="14" name="Rectangle 13"/>
          <p:cNvSpPr/>
          <p:nvPr/>
        </p:nvSpPr>
        <p:spPr>
          <a:xfrm>
            <a:off x="904875" y="6648450"/>
            <a:ext cx="13925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181100" y="5657850"/>
            <a:ext cx="4533900" cy="952500"/>
          </a:xfrm>
          <a:prstGeom prst="rect">
            <a:avLst/>
          </a:prstGeom>
          <a:noFill/>
        </p:spPr>
        <p:txBody>
          <a:bodyPr wrap="square" lIns="0" rIns="0" tIns="0" bIns="0" anchor="ctr">
            <a:spAutoFit/>
          </a:bodyPr>
          <a:lstStyle/>
          <a:p>
            <a:pPr algn="l">
              <a:lnSpc>
                <a:spcPct val="120000"/>
              </a:lnSpc>
            </a:pPr>
            <a:r>
              <a:rPr sz="1950" b="1" i="0">
                <a:solidFill>
                  <a:srgbClr val="F0E8E8"/>
                </a:solidFill>
                <a:latin typeface="Geist"/>
                <a:ea typeface="Geist"/>
                <a:cs typeface="Geist"/>
              </a:rPr>
              <a:t>Shoots without turning</a:t>
            </a:r>
          </a:p>
        </p:txBody>
      </p:sp>
      <p:sp>
        <p:nvSpPr>
          <p:cNvPr id="16" name="TextBox 15"/>
          <p:cNvSpPr txBox="1"/>
          <p:nvPr/>
        </p:nvSpPr>
        <p:spPr>
          <a:xfrm>
            <a:off x="6134100" y="5657850"/>
            <a:ext cx="8534400" cy="952500"/>
          </a:xfrm>
          <a:prstGeom prst="rect">
            <a:avLst/>
          </a:prstGeom>
          <a:noFill/>
        </p:spPr>
        <p:txBody>
          <a:bodyPr wrap="square" lIns="0" rIns="0" tIns="0" bIns="0" anchor="ctr">
            <a:spAutoFit/>
          </a:bodyPr>
          <a:lstStyle/>
          <a:p>
            <a:pPr algn="l">
              <a:lnSpc>
                <a:spcPct val="120000"/>
              </a:lnSpc>
            </a:pPr>
            <a:r>
              <a:rPr sz="1875" b="0" i="0">
                <a:solidFill>
                  <a:srgbClr val="9A7878"/>
                </a:solidFill>
                <a:latin typeface="Geist"/>
                <a:ea typeface="Geist"/>
                <a:cs typeface="Geist"/>
              </a:rPr>
              <a:t>The AIM step in RobotContainer, or AIM after SHOOT in the tree</a:t>
            </a:r>
          </a:p>
        </p:txBody>
      </p:sp>
      <p:sp>
        <p:nvSpPr>
          <p:cNvPr id="17" name="Rectangle 16"/>
          <p:cNvSpPr/>
          <p:nvPr/>
        </p:nvSpPr>
        <p:spPr>
          <a:xfrm>
            <a:off x="904875" y="7696200"/>
            <a:ext cx="13925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181100" y="6705600"/>
            <a:ext cx="4533900" cy="952500"/>
          </a:xfrm>
          <a:prstGeom prst="rect">
            <a:avLst/>
          </a:prstGeom>
          <a:noFill/>
        </p:spPr>
        <p:txBody>
          <a:bodyPr wrap="square" lIns="0" rIns="0" tIns="0" bIns="0" anchor="ctr">
            <a:spAutoFit/>
          </a:bodyPr>
          <a:lstStyle/>
          <a:p>
            <a:pPr algn="l">
              <a:lnSpc>
                <a:spcPct val="120000"/>
              </a:lnSpc>
            </a:pPr>
            <a:r>
              <a:rPr sz="1950" b="1" i="0">
                <a:solidFill>
                  <a:srgbClr val="F0E8E8"/>
                </a:solidFill>
                <a:latin typeface="Geist"/>
                <a:ea typeface="Geist"/>
                <a:cs typeface="Geist"/>
              </a:rPr>
              <a:t>Never shoots</a:t>
            </a:r>
          </a:p>
        </p:txBody>
      </p:sp>
      <p:sp>
        <p:nvSpPr>
          <p:cNvPr id="19" name="TextBox 18"/>
          <p:cNvSpPr txBox="1"/>
          <p:nvPr/>
        </p:nvSpPr>
        <p:spPr>
          <a:xfrm>
            <a:off x="6134100" y="6705600"/>
            <a:ext cx="8534400" cy="952500"/>
          </a:xfrm>
          <a:prstGeom prst="rect">
            <a:avLst/>
          </a:prstGeom>
          <a:noFill/>
        </p:spPr>
        <p:txBody>
          <a:bodyPr wrap="square" lIns="0" rIns="0" tIns="0" bIns="0" anchor="ctr">
            <a:spAutoFit/>
          </a:bodyPr>
          <a:lstStyle/>
          <a:p>
            <a:pPr algn="l">
              <a:lnSpc>
                <a:spcPct val="120000"/>
              </a:lnSpc>
            </a:pPr>
            <a:r>
              <a:rPr sz="1875" b="0" i="0">
                <a:solidFill>
                  <a:srgbClr val="9A7878"/>
                </a:solidFill>
                <a:latin typeface="Geist"/>
                <a:ea typeface="Geist"/>
                <a:cs typeface="Geist"/>
              </a:rPr>
              <a:t>A step failed before SHOOT: find the red node in Arbor</a:t>
            </a:r>
          </a:p>
        </p:txBody>
      </p:sp>
      <p:sp>
        <p:nvSpPr>
          <p:cNvPr id="20" name="TextBox 19"/>
          <p:cNvSpPr txBox="1"/>
          <p:nvPr/>
        </p:nvSpPr>
        <p:spPr>
          <a:xfrm>
            <a:off x="914400" y="7905750"/>
            <a:ext cx="13335000" cy="762000"/>
          </a:xfrm>
          <a:prstGeom prst="rect">
            <a:avLst/>
          </a:prstGeom>
          <a:noFill/>
        </p:spPr>
        <p:txBody>
          <a:bodyPr wrap="square" lIns="0" rIns="0" tIns="0" bIns="0" anchor="t">
            <a:spAutoFit/>
          </a:bodyPr>
          <a:lstStyle/>
          <a:p>
            <a:pPr algn="l">
              <a:lnSpc>
                <a:spcPct val="130000"/>
              </a:lnSpc>
            </a:pPr>
            <a:r>
              <a:rPr sz="2100" b="1" i="0">
                <a:solidFill>
                  <a:srgbClr val="F0E8E8"/>
                </a:solidFill>
                <a:latin typeface="Geist"/>
                <a:ea typeface="Geist"/>
                <a:cs typeface="Geist"/>
              </a:rPr>
              <a:t>After a fix, press Start again. </a:t>
            </a:r>
            <a:r>
              <a:rPr sz="2100" b="0" i="0">
                <a:solidFill>
                  <a:srgbClr val="F0E8E8"/>
                </a:solidFill>
                <a:latin typeface="Geist"/>
                <a:ea typeface="Geist"/>
                <a:cs typeface="Geist"/>
              </a:rPr>
              <a:t>The checks remember the best run since Start.</a:t>
            </a:r>
          </a:p>
        </p:txBody>
      </p:sp>
      <p:pic>
        <p:nvPicPr>
          <p:cNvPr id="21" name="Picture 20" descr="dozer_wide_left.png"/>
          <p:cNvPicPr>
            <a:picLocks noChangeAspect="1"/>
          </p:cNvPicPr>
          <p:nvPr/>
        </p:nvPicPr>
        <p:blipFill>
          <a:blip r:embed="rId3"/>
          <a:stretch>
            <a:fillRect/>
          </a:stretch>
        </p:blipFill>
        <p:spPr>
          <a:xfrm>
            <a:off x="15240000" y="6096000"/>
            <a:ext cx="2095500" cy="1287986"/>
          </a:xfrm>
          <a:prstGeom prst="rect">
            <a:avLst/>
          </a:prstGeom>
        </p:spPr>
      </p:pic>
      <p:sp>
        <p:nvSpPr>
          <p:cNvPr id="22" name="TextBox 2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3" name="TextBox 2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914400" y="914400"/>
            <a:ext cx="16459200" cy="8191500"/>
          </a:xfrm>
          <a:prstGeom prst="roundRect">
            <a:avLst>
              <a:gd name="adj" fmla="val 2790"/>
            </a:avLst>
          </a:prstGeom>
          <a:solidFill>
            <a:srgbClr val="1A0F0F"/>
          </a:solidFill>
          <a:ln w="28575">
            <a:solidFill>
              <a:srgbClr val="D5000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524000" y="14859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YOUR TURN</a:t>
            </a:r>
          </a:p>
        </p:txBody>
      </p:sp>
      <p:sp>
        <p:nvSpPr>
          <p:cNvPr id="4" name="TextBox 3"/>
          <p:cNvSpPr txBox="1"/>
          <p:nvPr/>
        </p:nvSpPr>
        <p:spPr>
          <a:xfrm>
            <a:off x="1524000" y="1866900"/>
            <a:ext cx="123825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Autonomous</a:t>
            </a:r>
          </a:p>
        </p:txBody>
      </p:sp>
      <p:sp>
        <p:nvSpPr>
          <p:cNvPr id="5" name="TextBox 4"/>
          <p:cNvSpPr txBox="1"/>
          <p:nvPr/>
        </p:nvSpPr>
        <p:spPr>
          <a:xfrm>
            <a:off x="1524000" y="2762250"/>
            <a:ext cx="11811000" cy="952500"/>
          </a:xfrm>
          <a:prstGeom prst="rect">
            <a:avLst/>
          </a:prstGeom>
          <a:noFill/>
        </p:spPr>
        <p:txBody>
          <a:bodyPr wrap="square" lIns="0" rIns="0" tIns="0" bIns="0" anchor="t">
            <a:spAutoFit/>
          </a:bodyPr>
          <a:lstStyle/>
          <a:p>
            <a:pPr algn="l">
              <a:lnSpc>
                <a:spcPct val="130000"/>
              </a:lnSpc>
            </a:pPr>
            <a:r>
              <a:rPr sz="2250" b="0" i="0">
                <a:solidFill>
                  <a:srgbClr val="F0E8E8"/>
                </a:solidFill>
                <a:latin typeface="Geist"/>
                <a:ea typeface="Geist"/>
                <a:cs typeface="Geist"/>
              </a:rPr>
              <a:t>Draw two paths, build the tree in Arbor, finish the aim step, then run it in Auto and press Verify.</a:t>
            </a:r>
          </a:p>
        </p:txBody>
      </p:sp>
      <p:sp>
        <p:nvSpPr>
          <p:cNvPr id="6" name="TextBox 5"/>
          <p:cNvSpPr txBox="1"/>
          <p:nvPr/>
        </p:nvSpPr>
        <p:spPr>
          <a:xfrm>
            <a:off x="1524000" y="4000500"/>
            <a:ext cx="8572500" cy="2857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FOUR PARTS</a:t>
            </a:r>
          </a:p>
        </p:txBody>
      </p:sp>
      <p:sp>
        <p:nvSpPr>
          <p:cNvPr id="7" name="Oval 6"/>
          <p:cNvSpPr/>
          <p:nvPr/>
        </p:nvSpPr>
        <p:spPr>
          <a:xfrm>
            <a:off x="1524000" y="44577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24000" y="44577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9" name="TextBox 8"/>
          <p:cNvSpPr txBox="1"/>
          <p:nvPr/>
        </p:nvSpPr>
        <p:spPr>
          <a:xfrm>
            <a:off x="2095500" y="4438650"/>
            <a:ext cx="5334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Draw the paths</a:t>
            </a:r>
          </a:p>
        </p:txBody>
      </p:sp>
      <p:sp>
        <p:nvSpPr>
          <p:cNvPr id="10" name="TextBox 9"/>
          <p:cNvSpPr txBox="1"/>
          <p:nvPr/>
        </p:nvSpPr>
        <p:spPr>
          <a:xfrm>
            <a:off x="2095500" y="4876800"/>
            <a:ext cx="53340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Choreo: ToPickup and ToScore, Differential</a:t>
            </a:r>
          </a:p>
        </p:txBody>
      </p:sp>
      <p:sp>
        <p:nvSpPr>
          <p:cNvPr id="11" name="Oval 10"/>
          <p:cNvSpPr/>
          <p:nvPr/>
        </p:nvSpPr>
        <p:spPr>
          <a:xfrm>
            <a:off x="1524000" y="56959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0" y="56959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3" name="TextBox 12"/>
          <p:cNvSpPr txBox="1"/>
          <p:nvPr/>
        </p:nvSpPr>
        <p:spPr>
          <a:xfrm>
            <a:off x="2095500" y="5676900"/>
            <a:ext cx="5334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Build the tree</a:t>
            </a:r>
          </a:p>
        </p:txBody>
      </p:sp>
      <p:sp>
        <p:nvSpPr>
          <p:cNvPr id="14" name="TextBox 13"/>
          <p:cNvSpPr txBox="1"/>
          <p:nvPr/>
        </p:nvSpPr>
        <p:spPr>
          <a:xfrm>
            <a:off x="2095500" y="6115050"/>
            <a:ext cx="53340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Arbor: PickupAndScore, with a Timeout on AIM</a:t>
            </a:r>
          </a:p>
        </p:txBody>
      </p:sp>
      <p:sp>
        <p:nvSpPr>
          <p:cNvPr id="15" name="Oval 14"/>
          <p:cNvSpPr/>
          <p:nvPr/>
        </p:nvSpPr>
        <p:spPr>
          <a:xfrm>
            <a:off x="7620000" y="44577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20000" y="44577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7" name="TextBox 16"/>
          <p:cNvSpPr txBox="1"/>
          <p:nvPr/>
        </p:nvSpPr>
        <p:spPr>
          <a:xfrm>
            <a:off x="8191500" y="4438650"/>
            <a:ext cx="5334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Finish the aim step</a:t>
            </a:r>
          </a:p>
        </p:txBody>
      </p:sp>
      <p:sp>
        <p:nvSpPr>
          <p:cNvPr id="18" name="TextBox 17"/>
          <p:cNvSpPr txBox="1"/>
          <p:nvPr/>
        </p:nvSpPr>
        <p:spPr>
          <a:xfrm>
            <a:off x="8191500" y="4876800"/>
            <a:ext cx="53340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RobotContainer: AIMING until isAimed()</a:t>
            </a:r>
          </a:p>
        </p:txBody>
      </p:sp>
      <p:sp>
        <p:nvSpPr>
          <p:cNvPr id="19" name="Oval 18"/>
          <p:cNvSpPr/>
          <p:nvPr/>
        </p:nvSpPr>
        <p:spPr>
          <a:xfrm>
            <a:off x="7620000" y="56959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0000" y="56959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1" name="TextBox 20"/>
          <p:cNvSpPr txBox="1"/>
          <p:nvPr/>
        </p:nvSpPr>
        <p:spPr>
          <a:xfrm>
            <a:off x="8191500" y="5676900"/>
            <a:ext cx="5334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Run it</a:t>
            </a:r>
          </a:p>
        </p:txBody>
      </p:sp>
      <p:sp>
        <p:nvSpPr>
          <p:cNvPr id="22" name="TextBox 21"/>
          <p:cNvSpPr txBox="1"/>
          <p:nvPr/>
        </p:nvSpPr>
        <p:spPr>
          <a:xfrm>
            <a:off x="8191500" y="6115050"/>
            <a:ext cx="53340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Auto Chooser, Auto, watch it in Arbor</a:t>
            </a:r>
          </a:p>
        </p:txBody>
      </p:sp>
      <p:sp>
        <p:nvSpPr>
          <p:cNvPr id="23" name="TextBox 22"/>
          <p:cNvSpPr txBox="1"/>
          <p:nvPr/>
        </p:nvSpPr>
        <p:spPr>
          <a:xfrm>
            <a:off x="1524000" y="8020050"/>
            <a:ext cx="12382500" cy="381000"/>
          </a:xfrm>
          <a:prstGeom prst="rect">
            <a:avLst/>
          </a:prstGeom>
          <a:noFill/>
        </p:spPr>
        <p:txBody>
          <a:bodyPr wrap="square" lIns="0" rIns="0" tIns="0" bIns="0" anchor="t">
            <a:spAutoFit/>
          </a:bodyPr>
          <a:lstStyle/>
          <a:p>
            <a:pPr algn="l"/>
            <a:r>
              <a:rPr sz="1800" b="1" i="0">
                <a:solidFill>
                  <a:srgbClr val="F0E8E8"/>
                </a:solidFill>
                <a:latin typeface="Geist"/>
                <a:ea typeface="Geist"/>
                <a:cs typeface="Geist"/>
              </a:rPr>
              <a:t>Bonus: </a:t>
            </a:r>
            <a:r>
              <a:rPr sz="1800" b="0" i="0">
                <a:solidFill>
                  <a:srgbClr val="9A7878"/>
                </a:solidFill>
                <a:latin typeface="Geist"/>
                <a:ea typeface="Geist"/>
                <a:cs typeface="Geist"/>
              </a:rPr>
              <a:t>replay the run's .btlog in Arbor, make the pickup wait a tunable</a:t>
            </a:r>
          </a:p>
        </p:txBody>
      </p:sp>
      <p:sp>
        <p:nvSpPr>
          <p:cNvPr id="24" name="TextBox 23"/>
          <p:cNvSpPr txBox="1"/>
          <p:nvPr/>
        </p:nvSpPr>
        <p:spPr>
          <a:xfrm>
            <a:off x="1524000" y="8439150"/>
            <a:ext cx="1238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 Scriptum: </a:t>
            </a:r>
            <a:r>
              <a:rPr sz="1800" b="1" i="0">
                <a:solidFill>
                  <a:srgbClr val="F0E8E8"/>
                </a:solidFill>
                <a:latin typeface="Geist"/>
                <a:ea typeface="Geist"/>
                <a:cs typeface="Geist"/>
              </a:rPr>
              <a:t>Tools  ›  Choreo, Arbor</a:t>
            </a:r>
            <a:r>
              <a:rPr sz="1800" b="0" i="0">
                <a:solidFill>
                  <a:srgbClr val="9A7878"/>
                </a:solidFill>
                <a:latin typeface="Geist"/>
                <a:ea typeface="Geist"/>
                <a:cs typeface="Geist"/>
              </a:rPr>
              <a:t>  then  </a:t>
            </a:r>
            <a:r>
              <a:rPr sz="1800" b="1" i="0">
                <a:solidFill>
                  <a:srgbClr val="F0E8E8"/>
                </a:solidFill>
                <a:latin typeface="Geist"/>
                <a:ea typeface="Geist"/>
                <a:cs typeface="Geist"/>
              </a:rPr>
              <a:t>FRC Robot  ›  Autonomous</a:t>
            </a:r>
          </a:p>
        </p:txBody>
      </p:sp>
      <p:pic>
        <p:nvPicPr>
          <p:cNvPr id="25" name="Picture 24" descr="dozer.png"/>
          <p:cNvPicPr>
            <a:picLocks noChangeAspect="1"/>
          </p:cNvPicPr>
          <p:nvPr/>
        </p:nvPicPr>
        <p:blipFill>
          <a:blip r:embed="rId3"/>
          <a:stretch>
            <a:fillRect/>
          </a:stretch>
        </p:blipFill>
        <p:spPr>
          <a:xfrm>
            <a:off x="14287500" y="5905500"/>
            <a:ext cx="2667000" cy="1639254"/>
          </a:xfrm>
          <a:prstGeom prst="rect">
            <a:avLst/>
          </a:prstGeom>
        </p:spPr>
      </p:pic>
      <p:sp>
        <p:nvSpPr>
          <p:cNvPr id="26" name="TextBox 2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7" name="TextBox 2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RECAP</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can do now</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heck-circle-fill.png"/>
          <p:cNvPicPr>
            <a:picLocks noChangeAspect="1"/>
          </p:cNvPicPr>
          <p:nvPr/>
        </p:nvPicPr>
        <p:blipFill>
          <a:blip r:embed="rId3"/>
          <a:stretch>
            <a:fillRect/>
          </a:stretch>
        </p:blipFill>
        <p:spPr>
          <a:xfrm>
            <a:off x="914400" y="2895600"/>
            <a:ext cx="381000" cy="381000"/>
          </a:xfrm>
          <a:prstGeom prst="rect">
            <a:avLst/>
          </a:prstGeom>
        </p:spPr>
      </p:pic>
      <p:sp>
        <p:nvSpPr>
          <p:cNvPr id="6" name="TextBox 5"/>
          <p:cNvSpPr txBox="1"/>
          <p:nvPr/>
        </p:nvSpPr>
        <p:spPr>
          <a:xfrm>
            <a:off x="1524000" y="2857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Plan and generate a Choreo path</a:t>
            </a:r>
          </a:p>
        </p:txBody>
      </p:sp>
      <p:pic>
        <p:nvPicPr>
          <p:cNvPr id="7" name="Picture 6" descr="check-circle-fill.png"/>
          <p:cNvPicPr>
            <a:picLocks noChangeAspect="1"/>
          </p:cNvPicPr>
          <p:nvPr/>
        </p:nvPicPr>
        <p:blipFill>
          <a:blip r:embed="rId3"/>
          <a:stretch>
            <a:fillRect/>
          </a:stretch>
        </p:blipFill>
        <p:spPr>
          <a:xfrm>
            <a:off x="914400" y="3695700"/>
            <a:ext cx="381000" cy="381000"/>
          </a:xfrm>
          <a:prstGeom prst="rect">
            <a:avLst/>
          </a:prstGeom>
        </p:spPr>
      </p:pic>
      <p:sp>
        <p:nvSpPr>
          <p:cNvPr id="8" name="TextBox 7"/>
          <p:cNvSpPr txBox="1"/>
          <p:nvPr/>
        </p:nvSpPr>
        <p:spPr>
          <a:xfrm>
            <a:off x="1524000" y="36576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Explain a trajectory as a schedule</a:t>
            </a:r>
          </a:p>
        </p:txBody>
      </p:sp>
      <p:pic>
        <p:nvPicPr>
          <p:cNvPr id="9" name="Picture 8" descr="check-circle-fill.png"/>
          <p:cNvPicPr>
            <a:picLocks noChangeAspect="1"/>
          </p:cNvPicPr>
          <p:nvPr/>
        </p:nvPicPr>
        <p:blipFill>
          <a:blip r:embed="rId3"/>
          <a:stretch>
            <a:fillRect/>
          </a:stretch>
        </p:blipFill>
        <p:spPr>
          <a:xfrm>
            <a:off x="914400" y="4495800"/>
            <a:ext cx="381000" cy="381000"/>
          </a:xfrm>
          <a:prstGeom prst="rect">
            <a:avLst/>
          </a:prstGeom>
        </p:spPr>
      </p:pic>
      <p:sp>
        <p:nvSpPr>
          <p:cNvPr id="10" name="TextBox 9"/>
          <p:cNvSpPr txBox="1"/>
          <p:nvPr/>
        </p:nvSpPr>
        <p:spPr>
          <a:xfrm>
            <a:off x="1524000" y="44577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Describe how the follower closes the gap</a:t>
            </a:r>
          </a:p>
        </p:txBody>
      </p:sp>
      <p:pic>
        <p:nvPicPr>
          <p:cNvPr id="11" name="Picture 10" descr="check-circle-fill.png"/>
          <p:cNvPicPr>
            <a:picLocks noChangeAspect="1"/>
          </p:cNvPicPr>
          <p:nvPr/>
        </p:nvPicPr>
        <p:blipFill>
          <a:blip r:embed="rId3"/>
          <a:stretch>
            <a:fillRect/>
          </a:stretch>
        </p:blipFill>
        <p:spPr>
          <a:xfrm>
            <a:off x="914400" y="5295900"/>
            <a:ext cx="381000" cy="381000"/>
          </a:xfrm>
          <a:prstGeom prst="rect">
            <a:avLst/>
          </a:prstGeom>
        </p:spPr>
      </p:pic>
      <p:sp>
        <p:nvSpPr>
          <p:cNvPr id="12" name="TextBox 11"/>
          <p:cNvSpPr txBox="1"/>
          <p:nvPr/>
        </p:nvSpPr>
        <p:spPr>
          <a:xfrm>
            <a:off x="1524000" y="52578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Trace a tree tick by tick</a:t>
            </a:r>
          </a:p>
        </p:txBody>
      </p:sp>
      <p:pic>
        <p:nvPicPr>
          <p:cNvPr id="13" name="Picture 12" descr="check-circle-fill.png"/>
          <p:cNvPicPr>
            <a:picLocks noChangeAspect="1"/>
          </p:cNvPicPr>
          <p:nvPr/>
        </p:nvPicPr>
        <p:blipFill>
          <a:blip r:embed="rId3"/>
          <a:stretch>
            <a:fillRect/>
          </a:stretch>
        </p:blipFill>
        <p:spPr>
          <a:xfrm>
            <a:off x="914400" y="6096000"/>
            <a:ext cx="381000" cy="381000"/>
          </a:xfrm>
          <a:prstGeom prst="rect">
            <a:avLst/>
          </a:prstGeom>
        </p:spPr>
      </p:pic>
      <p:sp>
        <p:nvSpPr>
          <p:cNvPr id="14" name="TextBox 13"/>
          <p:cNvSpPr txBox="1"/>
          <p:nvPr/>
        </p:nvSpPr>
        <p:spPr>
          <a:xfrm>
            <a:off x="1524000" y="60579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Use Sequence, Fallback and Timeout</a:t>
            </a:r>
          </a:p>
        </p:txBody>
      </p:sp>
      <p:pic>
        <p:nvPicPr>
          <p:cNvPr id="15" name="Picture 14" descr="check-circle-fill.png"/>
          <p:cNvPicPr>
            <a:picLocks noChangeAspect="1"/>
          </p:cNvPicPr>
          <p:nvPr/>
        </p:nvPicPr>
        <p:blipFill>
          <a:blip r:embed="rId3"/>
          <a:stretch>
            <a:fillRect/>
          </a:stretch>
        </p:blipFill>
        <p:spPr>
          <a:xfrm>
            <a:off x="914400" y="6896100"/>
            <a:ext cx="381000" cy="381000"/>
          </a:xfrm>
          <a:prstGeom prst="rect">
            <a:avLst/>
          </a:prstGeom>
        </p:spPr>
      </p:pic>
      <p:sp>
        <p:nvSpPr>
          <p:cNvPr id="16" name="TextBox 15"/>
          <p:cNvSpPr txBox="1"/>
          <p:nvPr/>
        </p:nvSpPr>
        <p:spPr>
          <a:xfrm>
            <a:off x="1524000" y="68580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Build an auto in Arbor from robot states</a:t>
            </a:r>
          </a:p>
        </p:txBody>
      </p:sp>
      <p:pic>
        <p:nvPicPr>
          <p:cNvPr id="17" name="Picture 16" descr="check-circle-fill.png"/>
          <p:cNvPicPr>
            <a:picLocks noChangeAspect="1"/>
          </p:cNvPicPr>
          <p:nvPr/>
        </p:nvPicPr>
        <p:blipFill>
          <a:blip r:embed="rId3"/>
          <a:stretch>
            <a:fillRect/>
          </a:stretch>
        </p:blipFill>
        <p:spPr>
          <a:xfrm>
            <a:off x="914400" y="7696200"/>
            <a:ext cx="381000" cy="381000"/>
          </a:xfrm>
          <a:prstGeom prst="rect">
            <a:avLst/>
          </a:prstGeom>
        </p:spPr>
      </p:pic>
      <p:sp>
        <p:nvSpPr>
          <p:cNvPr id="18" name="TextBox 17"/>
          <p:cNvSpPr txBox="1"/>
          <p:nvPr/>
        </p:nvSpPr>
        <p:spPr>
          <a:xfrm>
            <a:off x="1524000" y="76581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Watch it run, and replay it</a:t>
            </a:r>
          </a:p>
        </p:txBody>
      </p:sp>
      <p:sp>
        <p:nvSpPr>
          <p:cNvPr id="19" name="Rounded Rectangle 18"/>
          <p:cNvSpPr/>
          <p:nvPr/>
        </p:nvSpPr>
        <p:spPr>
          <a:xfrm>
            <a:off x="8953500" y="2857500"/>
            <a:ext cx="4000500" cy="57150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34500" y="3238500"/>
            <a:ext cx="3429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RELATED JAVA TRAINING</a:t>
            </a:r>
          </a:p>
        </p:txBody>
      </p:sp>
      <p:pic>
        <p:nvPicPr>
          <p:cNvPr id="21" name="Picture 20" descr="code-slash.png"/>
          <p:cNvPicPr>
            <a:picLocks noChangeAspect="1"/>
          </p:cNvPicPr>
          <p:nvPr/>
        </p:nvPicPr>
        <p:blipFill>
          <a:blip r:embed="rId4"/>
          <a:stretch>
            <a:fillRect/>
          </a:stretch>
        </p:blipFill>
        <p:spPr>
          <a:xfrm>
            <a:off x="9334500" y="3962400"/>
            <a:ext cx="326571" cy="304800"/>
          </a:xfrm>
          <a:prstGeom prst="rect">
            <a:avLst/>
          </a:prstGeom>
        </p:spPr>
      </p:pic>
      <p:sp>
        <p:nvSpPr>
          <p:cNvPr id="22" name="TextBox 21"/>
          <p:cNvSpPr txBox="1"/>
          <p:nvPr/>
        </p:nvSpPr>
        <p:spPr>
          <a:xfrm>
            <a:off x="9867900" y="3905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Conditions</a:t>
            </a:r>
          </a:p>
        </p:txBody>
      </p:sp>
      <p:pic>
        <p:nvPicPr>
          <p:cNvPr id="23" name="Picture 22" descr="code-slash.png"/>
          <p:cNvPicPr>
            <a:picLocks noChangeAspect="1"/>
          </p:cNvPicPr>
          <p:nvPr/>
        </p:nvPicPr>
        <p:blipFill>
          <a:blip r:embed="rId4"/>
          <a:stretch>
            <a:fillRect/>
          </a:stretch>
        </p:blipFill>
        <p:spPr>
          <a:xfrm>
            <a:off x="9334500" y="4724400"/>
            <a:ext cx="326571" cy="304800"/>
          </a:xfrm>
          <a:prstGeom prst="rect">
            <a:avLst/>
          </a:prstGeom>
        </p:spPr>
      </p:pic>
      <p:sp>
        <p:nvSpPr>
          <p:cNvPr id="24" name="TextBox 23"/>
          <p:cNvSpPr txBox="1"/>
          <p:nvPr/>
        </p:nvSpPr>
        <p:spPr>
          <a:xfrm>
            <a:off x="9867900" y="4667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Classes &amp; Objects</a:t>
            </a:r>
          </a:p>
        </p:txBody>
      </p:sp>
      <p:sp>
        <p:nvSpPr>
          <p:cNvPr id="25" name="TextBox 24"/>
          <p:cNvSpPr txBox="1"/>
          <p:nvPr/>
        </p:nvSpPr>
        <p:spPr>
          <a:xfrm>
            <a:off x="9334500" y="7239000"/>
            <a:ext cx="3238500" cy="10477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Optional practice in Scriptum's Java track.</a:t>
            </a:r>
          </a:p>
        </p:txBody>
      </p:sp>
      <p:sp>
        <p:nvSpPr>
          <p:cNvPr id="26" name="Rounded Rectangle 25"/>
          <p:cNvSpPr/>
          <p:nvPr/>
        </p:nvSpPr>
        <p:spPr>
          <a:xfrm>
            <a:off x="13335000" y="2857500"/>
            <a:ext cx="4038600" cy="5715000"/>
          </a:xfrm>
          <a:prstGeom prst="roundRect">
            <a:avLst>
              <a:gd name="adj" fmla="val 3773"/>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3716000" y="3238500"/>
            <a:ext cx="3238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WHAT'S NEXT</a:t>
            </a:r>
          </a:p>
        </p:txBody>
      </p:sp>
      <p:sp>
        <p:nvSpPr>
          <p:cNvPr id="28" name="TextBox 27"/>
          <p:cNvSpPr txBox="1"/>
          <p:nvPr/>
        </p:nvSpPr>
        <p:spPr>
          <a:xfrm>
            <a:off x="13716000" y="3810000"/>
            <a:ext cx="3333750" cy="571500"/>
          </a:xfrm>
          <a:prstGeom prst="rect">
            <a:avLst/>
          </a:prstGeom>
          <a:noFill/>
        </p:spPr>
        <p:txBody>
          <a:bodyPr wrap="square" lIns="0" rIns="0" tIns="0" bIns="0" anchor="t">
            <a:spAutoFit/>
          </a:bodyPr>
          <a:lstStyle/>
          <a:p>
            <a:pPr algn="l">
              <a:lnSpc>
                <a:spcPct val="110000"/>
              </a:lnSpc>
            </a:pPr>
            <a:r>
              <a:rPr sz="3000" b="1" i="0">
                <a:solidFill>
                  <a:srgbClr val="F0E8E8"/>
                </a:solidFill>
                <a:latin typeface="Geist"/>
                <a:ea typeface="Geist"/>
                <a:cs typeface="Geist"/>
              </a:rPr>
              <a:t>Build season</a:t>
            </a:r>
          </a:p>
        </p:txBody>
      </p:sp>
      <p:sp>
        <p:nvSpPr>
          <p:cNvPr id="29" name="TextBox 28"/>
          <p:cNvSpPr txBox="1"/>
          <p:nvPr/>
        </p:nvSpPr>
        <p:spPr>
          <a:xfrm>
            <a:off x="13716000" y="4438650"/>
            <a:ext cx="3333750" cy="161925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Join a subsystem team and write real robot code.</a:t>
            </a:r>
          </a:p>
        </p:txBody>
      </p:sp>
      <p:sp>
        <p:nvSpPr>
          <p:cNvPr id="30" name="Rounded Rectangle 29"/>
          <p:cNvSpPr/>
          <p:nvPr/>
        </p:nvSpPr>
        <p:spPr>
          <a:xfrm rot="1200000">
            <a:off x="13830300" y="6286500"/>
            <a:ext cx="247650" cy="114300"/>
          </a:xfrm>
          <a:prstGeom prst="roundRect">
            <a:avLst>
              <a:gd name="adj" fmla="val 2500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rot="19800000">
            <a:off x="14287500" y="6000750"/>
            <a:ext cx="247650" cy="114300"/>
          </a:xfrm>
          <a:prstGeom prst="roundRect">
            <a:avLst>
              <a:gd name="adj" fmla="val 25000"/>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rot="2100000">
            <a:off x="16764000" y="6096000"/>
            <a:ext cx="247650" cy="114300"/>
          </a:xfrm>
          <a:prstGeom prst="roundRect">
            <a:avLst>
              <a:gd name="adj" fmla="val 25000"/>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rot="600000">
            <a:off x="17049750" y="6667500"/>
            <a:ext cx="247650" cy="114300"/>
          </a:xfrm>
          <a:prstGeom prst="roundRect">
            <a:avLst>
              <a:gd name="adj" fmla="val 25000"/>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rot="20700000">
            <a:off x="13620750" y="6858000"/>
            <a:ext cx="247650" cy="114300"/>
          </a:xfrm>
          <a:prstGeom prst="roundRect">
            <a:avLst>
              <a:gd name="adj" fmla="val 25000"/>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rot="3000000">
            <a:off x="16383000" y="5715000"/>
            <a:ext cx="247650" cy="114300"/>
          </a:xfrm>
          <a:prstGeom prst="roundRect">
            <a:avLst>
              <a:gd name="adj" fmla="val 25000"/>
            </a:avLst>
          </a:prstGeom>
          <a:solidFill>
            <a:srgbClr val="9FD2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trophy-fill.png"/>
          <p:cNvPicPr>
            <a:picLocks noChangeAspect="1"/>
          </p:cNvPicPr>
          <p:nvPr/>
        </p:nvPicPr>
        <p:blipFill>
          <a:blip r:embed="rId5"/>
          <a:stretch>
            <a:fillRect/>
          </a:stretch>
        </p:blipFill>
        <p:spPr>
          <a:xfrm>
            <a:off x="14859000" y="5810250"/>
            <a:ext cx="666750" cy="666750"/>
          </a:xfrm>
          <a:prstGeom prst="rect">
            <a:avLst/>
          </a:prstGeom>
        </p:spPr>
      </p:pic>
      <p:pic>
        <p:nvPicPr>
          <p:cNvPr id="37" name="Picture 36" descr="dozer_look_up.png"/>
          <p:cNvPicPr>
            <a:picLocks noChangeAspect="1"/>
          </p:cNvPicPr>
          <p:nvPr/>
        </p:nvPicPr>
        <p:blipFill>
          <a:blip r:embed="rId6"/>
          <a:stretch>
            <a:fillRect/>
          </a:stretch>
        </p:blipFill>
        <p:spPr>
          <a:xfrm>
            <a:off x="14097000" y="6762750"/>
            <a:ext cx="2667000" cy="1639254"/>
          </a:xfrm>
          <a:prstGeom prst="rect">
            <a:avLst/>
          </a:prstGeom>
        </p:spPr>
      </p:pic>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