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Control Theory. Last lesson the shooter's flywheel ran at a fixed power. Today it gets a target speed, and we look at three ways to reach and hold it: bang-bang, feedforward and PID. Then we tune the best one. Lots of graphs today: they're how you see what a controller is doing. Ask: who has used cruise control in a car? That's a controller.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The first is vocabulary and pictures, the next three are the three styles of control in the lesson, and the last is tuning. By the end the flywheel spins up fast and gets back to speed quickly after a launch. Ask: what do you think 'control' means for a motor?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code: the words and pictures every controller uses. These are the same on every robot and every mechanism.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lesson the flywheel ran at a fixed power, SHOOT_DUTY_CYCLE. The trouble: the same power doesn't always give the same speed. The battery sags during a match, every launched game piece slows the wheel, and friction changes as parts wear. A shooter needs the same speed every shot, so this lesson gives it a target speed, SHOOT_VELOCITY, and our code decides the power. Deciding that power is control theory. Ask: what else on a robot needs to hold a target? (Arm angle, elevator height, drive speed, heading.)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you'll hear all season. The setpoint is the target: 300 rad/s. The controller does the math: on our robots that's the roboRIO or the motor controller itself. The motor pushes. The output is what actually happens: the wheel spins. A sensor, here the encoder inside the Kraken, measures it, and the measurement is that reading: maybe 287 rad/s. Ask: what's the sensor for an elevator's height? (An encoder on the motor, or a laser sensor.)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is the difference between where we want to be and where we are: setpoint minus measurement. 1: the dashed line is the setpoint, 300 rad/s. 2: the curve is the measurement as the flywheel spins up. 3: the error is the gap between them, big at the start. 4: as the wheel catches up, the error shrinks toward zero. Above the line the error is negative: too fast. Ask: the target is 100 and we're at 120. What's the error? (-20, too fast.)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idea on an elevator, from the old training. The setpoint is 1.2 meters. Work out the error at each position: A at 0.25 m is 0.95 m off, B at 0.75 m is 0.45 m, C at 1.15 m is 0.05 m, D at 1.2 m is 0. Then ask: where should the elevator move fastest, and where slowest? (Fastest at A, slowing down to a stop at D.) Hold on to that answer: it's exactly what a P controller does.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families of control. Open loop: the controller sends a command and never checks what happened, like throwing a ball with your eyes closed. Setting an intake to 60% is open loop. Closed loop adds a sensor: measure the output, compare it to the setpoint to get the error, and correct. The red path is the feedback: it's what closes the loop. Activity: one student walks to a line on the floor with eyes closed (open loop), then with eyes open (closed loop).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control each part of a robot. A motor can be run in three modes. Duty cycle is open loop: a fraction of the battery. Velocity and position are closed loop: you ask for a real speed or a real place and the controller uses a sensor to get there. Intakes and indexers just need to spin, so open loop is fine. Flywheels need a speed, elevators and arms need a position. The drivetrain is open loop when a driver steers and closed loop when it follows a path in auto. Activity: cover the right-hand tags and have the class vote on each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Bang-bang is the first thing you write in the lesson. It's closed loop, because it checks the sensor, but it only has two answers: full power or nothing.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Bang-bang control asks one yes-or-no question every loop: is the measurement below the setpoint? Yes: full power. No: power off. A home thermostat works exactly like this: heat on below 70 degrees, off above. It's closed loop because it reads the sensor every time. Ask: what do you think happens right after it crosses the target? (It coasts a little past, then dips back under, over and over.)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simulated run of bang-bang on the flywheel, computed with a simple motor model. 1: full power from the start, so it reaches speed fast. 2: by the time the sensor sees it's past the target, it has overshot, so power cuts out. 3: it wobbles around the target forever and never settles. 4: the duty cycle underneath slams between 0 and 1. 5: after a launch it gets back fast, because it's at full power the moment it's too slow. Ask: why might slamming a motor on and off be bad on a real robot? (Wear on gears and belts, current spikes, battery sag.)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of the lesson. bangBang() is called every 20 ms while you hold the shoot button. 1: compare the measured speed to the target. 2: too slow, so full power. 3: fast enough, so nothing. Then set FLYWHEEL_CONTROL to BANG_BANG in ShooterConstants so the robot uses it. Ask: what happens if you flip the &lt; to &gt;? (It runs full power while it's already too fast, and never spins 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Bang-bang is great for a flywheel that only needs to be roughly right, and it's dead simple. But it slams the motor fully on and off many times a second, which is hard on gears, belts and the battery. It never sits still on the target. And on something heavy that has to stop, like an elevator or an arm, there are no brakes: it overshoots, then slams the other way. Ask: would you use bang-bang on a climber lifting the whole robot? (No.)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Feedforward works out the power from the target alone. It's open loop: it never looks at the sensor. It's also the first thing you tune on any mechanism.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Feedforward answers: how much power does this speed usually need? It uses a simple model of the mechanism, not the sensor, so it's open loop. Think of cruise control: before it reacts to anything, it already holds the throttle about where that speed needs it. The big win: it starts at the right power instead of waiting for an error to build up. Ask: what can feedforward never fix? (Anything it didn't predict, like a game piece slowing the wheel.)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Spin a motor at different voltages and measure the speed it settles at, and the points fall on a straight line. 1: speed and volts go up together. 2: the slope is kV, volts per radian per second; here 100 more rad/s needs 1.91 more volts, so kV is 0.0191. 3: the top of the line, 12 V, is the free speed, about 628 rad/s for a Kraken, which gives the lesson's first guess: 12 divided by 628. 4: read off the target: 300 rad/s needs 5.73 V. Ask: how many volts for 157 rad/s? (3 V.)</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is in radians per second, kV is in volts per radian per second, and the motor wants a duty cycle. Convert one step at a time and write the unit next to every number. Because kV is volts per rad/s, rad/s times kV leaves just volts. Divide by 12 to get a fraction of the battery. Here's the sneaky part: a wrong unit doesn't crash anything. The robot just quietly does the wrong thing. Activity: have students do the math for SHOOT_VELOCITY = 400 (7.64 V, 0.64).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of the lesson, the units chain from the last slide as code. 1: the target, already in radians per second. 2: kV times that speed gives the volts it needs. 3: divide by 12 for a duty cycle and send it. Notice it never reads getCurrentVelocity(): no sensor, open loop. Then set FLYWHEEL_CONTROL to FEEDFORWARD.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try kV of 0.008, 0.016 and 0.0191 and watch the speed. Simulated with the same motor model. 1: 0.008 asks for far too few volts and settles way below the target. 2: 0.016 gets close but still short. 3: 0.0191 is about right, though it creeps up slowly. 4: at 2.5 s a game piece launches. The speed dips and feedforward does nothing about it: it never looks. The wheel only drifts back on its own. That's why we add feedback next. Ask: why is the spin-up slow even with the right kV? (It only ever asks for the holding voltage, never extra to speed 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feedforward equation from the docs adds up to four guesses. kS: the volts just to get moving, beating friction. kV: the volts to cruise at a speed, the one you tune today. kA: extra volts to speed up quickly. kG: the volts to hold something up against gravity. Each is found by experiment: for kS, slowly raise the voltage until it just starts to move. Our flywheel only needs kV: there's no gravity on a wheel and very little friction.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kG holds a mechanism up against gravity. On an elevator, gravity pulls the same at every height, so kG is one constant. On an arm it depends on the angle: sticking straight out, gravity has the most leverage; pointing straight up, none at all. So arm feedforward is kG times cos of the angle, in radians: cos(0) is 1, cos(π/4), about 0.785 rad, is about 0.71, and cos(π/2), about 1.57 rad, is 0. The old training used the 2024 shooter pivot as the example. Ask: what does an arm pointing straight down need? (cos(-π/2) = 0 again.)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PID is closed loop control that scales its push by the error. P is the one we use most. D and I are extras for specific problems. Then we combine it with feedforward, which is what the lesson's final setup does.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elevator. P stands for proportional: the push is the error times a number, kP. We want full power at the biggest error and nothing at zero error. So kP is 1 divided by 0.95 m, about 1.05 per meter. Then at B, 0.45 m off, the output is 0.47; at C, 0.05 m off, just 0.05; at D, zero. It slows down as it arrives, exactly the answer from the earlier question. Ask: what if we want full power until 0.45 m out? (kP = 1/0.45 ≈ 2.2 per meter; anything over 1.0 is clipped to 1.0.)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controllers on the same simulated elevator, going from 0.25 to 1.2 meters. 1: bang-bang runs full power until it crosses the target. 2: it can't slow down, so it overshoots, slams the other way, and bounces forever. 3: P starts at full power too, but eases off as the error shrinks. 4: it settles on the target. Same sensor, same motor: only the math changed. Ask: where on the P curve is the output biggest? (At the start, where the error is biggest.)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values of kP on the simulated elevator. 1: too low and it creeps toward the target and may never quite get there. 2: about right: quick, with a small overshoot that dies out. 3: too high and it overshoots and swings back and forth. On a real robot that oscillation is a buzzing, shaking mechanism, which can break things. Activity: draw the three curves on the whiteboard and have students label which kP made which.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is for derivative, but think of it as a brake. It looks at how fast the error is changing since the last loop. Rushing toward the target, the error drops fast, so D pushes back and slows it down. 1: kP of 12 alone overshoots and keeps swinging. 2: D is kD times the change in error. 3: with D added, it brakes on the way in and settles. A good first kD is about 10% of kP. Ask: what does D do when the mechanism is sitting still? (Nothing: the error isn't changing.)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is for integral: it adds up the error over time. Here gravity pulls the simulated elevator down. 1: P alone stops short, because near the target its push is too small to beat gravity, so it hangs about 14 cm low forever. 2: I keeps adding up that leftover error, so its push grows until the gap closes. A feedforward kG fixes the same problem from the start, which is why the docs say I is very rarely needed. Too much I overshoots badly. Ask: why might I be dangerous if the mechanism is stuck against something? (The sum keeps growing, so it pushes harder and harder.)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lesson's PID setting really does: two parts added together. Feedforward is the smart guess, kV times the target speed: the power to hold it. Feedback is the correction, kP times the error: push harder when behind, ease off when ahead. Cruise control does the same: it holds the throttle where that speed usually needs it, then adds or eases off by how far you are from the target. On our robot the Talon FX runs this whole loop itself.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on the simulated flywheel, with a launch at 2 seconds. 1: feedforward alone, kV 0.0191, gets there slowly and ignores the dip. 2: P alone, kP 0.032, stops well short: P needs an error to push at all, so it settles where the push is just enough, below the target. 3: both together reach the target fast, stay on it, and recover from the launch in about half a second. Ask: why does P alone never reach the target? (At zero error it pushes zero, and the wheel needs power to keep spinning.)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runFlywheel() picks the style from FLYWHEEL_CONTROL in ShooterConstants. 1: BANG_BANG calls your bangBang(). 2: FEEDFORWARD calls your feedforward(). 3: PID doesn't compute anything in Java: it hands the target speed to the Talon FX, which runs kV plus kP itself, 1000 times a second. The gains come from FLYWHEEL_KV and FLYWHEEL_KP. That's how the team's real mechanisms work too.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Tuning means picking the gains by trying them and watching what happens. Do it in order, change one number at a time, and always look at the graph.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recipe from the docs. 0: feedforward first, because it gets you most of the way. 1: start kP tiny. 2: multiply by 10 until you see a response. 3: raise it in smaller steps until it starts to oscillate, then back off. 4: if it still wobbles, add kD, starting around 10% of kP. 5: leave kI at zero unless there's a stuck gap. The lesson's values to try are on the right. Run the robot after each change: every run starts the simulation fresh.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simulated run with kV 0.0191 and kP 0.032, the lesson's final settings, the way it looks in AdvantageScope. 1: spin-up time, from pressing the bumper to within 3% of the target: about 0.8 s here, under the 1.5 s the checkpoint wants (logged as SpinUpSeconds). 2: the peak: it should top out near 300, between 290 and 330, not shoot way past. 3: tap A to launch: recovery time back to speed, about 0.5 s, under 0.8 (RecoverySeconds). 4: the shaded band is 'at speed': within 3% of the target. Ask: which gain would you raise to recover faster? (kP.)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simulation nothing breaks. On a real robot, a big gain can slam a mechanism into its hard stop or shake it apart. Start tiny and multiply up. Change one gain at a time so you know what did what. Tune in simulation first, then try those numbers on the robot, with the usual safety calls. On the real robot you tune with the laptop's desktop tools: AdvantageScope has a Tuning mode that changes gains live without rebuilding; copy the winners into the constants file. Ask: why one gain at a time? (Otherwise you can't tell which change helped.)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Control Theory lesson in Scriptum's FRC Robot track, about three hours. Hold U (right bumper) to spin the flywheel and tap K (A) to launch a game piece. The first three checkpoints check your code and settings; the last three check your latest run, so do one clean run with your final settings before pressing Verify.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 mechanism you program from now on uses these ideas: an elevator, an arm, a swerve module. Next deck gives the shooter a state machine and commands, so buttons ask for what they want and the subsystem decides how. The Java lesson on the right is optional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7.png"/><Relationship Id="rId7"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9.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6</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Control Theory</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Hold the flywheel at speed three ways: bang-bang, feedforward and PID. Then tune it.</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Hold that speed, even when a launch slows me down!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a target to a steady speed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ullseye.png"/>
          <p:cNvPicPr>
            <a:picLocks noChangeAspect="1"/>
          </p:cNvPicPr>
          <p:nvPr/>
        </p:nvPicPr>
        <p:blipFill>
          <a:blip r:embed="rId3"/>
          <a:stretch>
            <a:fillRect/>
          </a:stretch>
        </p:blipFill>
        <p:spPr>
          <a:xfrm>
            <a:off x="1257300" y="3238500"/>
            <a:ext cx="68580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 big idea</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Setpoint, error, open and closed loop</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hermometer-half.png"/>
          <p:cNvPicPr>
            <a:picLocks noChangeAspect="1"/>
          </p:cNvPicPr>
          <p:nvPr/>
        </p:nvPicPr>
        <p:blipFill>
          <a:blip r:embed="rId4"/>
          <a:stretch>
            <a:fillRect/>
          </a:stretch>
        </p:blipFill>
        <p:spPr>
          <a:xfrm>
            <a:off x="4793456" y="3238500"/>
            <a:ext cx="300038"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Bang-bang</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On or off, like a thermostat</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ning-charge-fill.png"/>
          <p:cNvPicPr>
            <a:picLocks noChangeAspect="1"/>
          </p:cNvPicPr>
          <p:nvPr/>
        </p:nvPicPr>
        <p:blipFill>
          <a:blip r:embed="rId5"/>
          <a:stretch>
            <a:fillRect/>
          </a:stretch>
        </p:blipFill>
        <p:spPr>
          <a:xfrm>
            <a:off x="8048327" y="3238500"/>
            <a:ext cx="476845"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Feedforward</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smart guess: kV, kS and kG</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liders.png"/>
          <p:cNvPicPr>
            <a:picLocks noChangeAspect="1"/>
          </p:cNvPicPr>
          <p:nvPr/>
        </p:nvPicPr>
        <p:blipFill>
          <a:blip r:embed="rId6"/>
          <a:stretch>
            <a:fillRect/>
          </a:stretch>
        </p:blipFill>
        <p:spPr>
          <a:xfrm>
            <a:off x="11287125" y="3259931"/>
            <a:ext cx="685800" cy="642938"/>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PID</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Correct by the error: P, I and D</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graph-up.png"/>
          <p:cNvPicPr>
            <a:picLocks noChangeAspect="1"/>
          </p:cNvPicPr>
          <p:nvPr/>
        </p:nvPicPr>
        <p:blipFill>
          <a:blip r:embed="rId7"/>
          <a:stretch>
            <a:fillRect/>
          </a:stretch>
        </p:blipFill>
        <p:spPr>
          <a:xfrm>
            <a:off x="146304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Tuning</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Feedforward first, then kP, by the graph</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stopwatch.png"/>
          <p:cNvPicPr>
            <a:picLocks noChangeAspect="1"/>
          </p:cNvPicPr>
          <p:nvPr/>
        </p:nvPicPr>
        <p:blipFill>
          <a:blip r:embed="rId8"/>
          <a:stretch>
            <a:fillRect/>
          </a:stretch>
        </p:blipFill>
        <p:spPr>
          <a:xfrm>
            <a:off x="1333500" y="8067675"/>
            <a:ext cx="481781"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flywheel reaches speed in under 1.5 s and recovers from a launch in under 0.8 s.</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The big idea</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far are we from where we want to be?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controller asks one question: how far off am 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problem: hold a speed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2390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2190750" y="4000500"/>
            <a:ext cx="3619500" cy="3619500"/>
          </a:xfrm>
          <a:prstGeom prst="ellipse">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190750" y="4000500"/>
            <a:ext cx="3619500" cy="3619500"/>
          </a:xfrm>
          <a:prstGeom prst="ellipse">
            <a:avLst/>
          </a:prstGeom>
          <a:noFill/>
          <a:ln w="571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4273487" y="5894695"/>
            <a:ext cx="1364937" cy="422224"/>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63862" y="6088886"/>
            <a:ext cx="316812" cy="1393183"/>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742749" y="6004442"/>
            <a:ext cx="1048126" cy="970957"/>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362576" y="5303581"/>
            <a:ext cx="1364937" cy="422224"/>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620326" y="4138431"/>
            <a:ext cx="316812" cy="1393183"/>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210125" y="4645101"/>
            <a:ext cx="1048126" cy="970957"/>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76650" y="5486400"/>
            <a:ext cx="647700" cy="647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120446" y="5436446"/>
            <a:ext cx="24513" cy="186188"/>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44959" y="5622634"/>
            <a:ext cx="8191" cy="187616"/>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6144959" y="5810250"/>
            <a:ext cx="8191" cy="187616"/>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6120446" y="5997866"/>
            <a:ext cx="24513" cy="186188"/>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079800" y="6184054"/>
            <a:ext cx="40646" cy="183343"/>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023329" y="6367397"/>
            <a:ext cx="56471" cy="179103"/>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951463" y="6546500"/>
            <a:ext cx="71866" cy="173499"/>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864750" y="6719999"/>
            <a:ext cx="86713" cy="166576"/>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763848" y="6886575"/>
            <a:ext cx="100902" cy="158384"/>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649526" y="7044959"/>
            <a:ext cx="114322" cy="148988"/>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5522653" y="7193947"/>
            <a:ext cx="126873" cy="138456"/>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384197" y="7332403"/>
            <a:ext cx="138456" cy="126873"/>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5235209" y="7459276"/>
            <a:ext cx="148988" cy="114322"/>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076825" y="7573598"/>
            <a:ext cx="158384" cy="100902"/>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4910249" y="7674500"/>
            <a:ext cx="166576" cy="86713"/>
          </a:xfrm>
          <a:prstGeom prst="line">
            <a:avLst/>
          </a:prstGeom>
          <a:ln w="7620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715000" y="3333750"/>
            <a:ext cx="800100" cy="800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flipV="1">
            <a:off x="6667500" y="3333750"/>
            <a:ext cx="1047750" cy="400050"/>
          </a:xfrm>
          <a:prstGeom prst="line">
            <a:avLst/>
          </a:prstGeom>
          <a:ln w="47625">
            <a:solidFill>
              <a:srgbClr val="E8C2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295400" y="31432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Flywheel</a:t>
            </a:r>
          </a:p>
        </p:txBody>
      </p:sp>
      <p:sp>
        <p:nvSpPr>
          <p:cNvPr id="33" name="TextBox 32"/>
          <p:cNvSpPr txBox="1"/>
          <p:nvPr/>
        </p:nvSpPr>
        <p:spPr>
          <a:xfrm>
            <a:off x="1295400" y="3562350"/>
            <a:ext cx="3810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Each shot slows it down</a:t>
            </a:r>
          </a:p>
        </p:txBody>
      </p:sp>
      <p:sp>
        <p:nvSpPr>
          <p:cNvPr id="34" name="TextBox 33"/>
          <p:cNvSpPr txBox="1"/>
          <p:nvPr/>
        </p:nvSpPr>
        <p:spPr>
          <a:xfrm>
            <a:off x="1295400" y="8001000"/>
            <a:ext cx="66675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300</a:t>
            </a:r>
            <a:r>
              <a:rPr sz="1800" b="0" i="0">
                <a:solidFill>
                  <a:srgbClr val="E8C27A"/>
                </a:solidFill>
                <a:latin typeface="Geist"/>
                <a:ea typeface="Geist"/>
                <a:cs typeface="Geist"/>
              </a:rPr>
              <a:t> rad/s, every shot</a:t>
            </a:r>
          </a:p>
        </p:txBody>
      </p:sp>
      <p:sp>
        <p:nvSpPr>
          <p:cNvPr id="35" name="Rounded Rectangle 34"/>
          <p:cNvSpPr/>
          <p:nvPr/>
        </p:nvSpPr>
        <p:spPr>
          <a:xfrm>
            <a:off x="8572500" y="2857500"/>
            <a:ext cx="8801100" cy="1866900"/>
          </a:xfrm>
          <a:prstGeom prst="roundRect">
            <a:avLst>
              <a:gd name="adj" fmla="val 816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953500" y="3105150"/>
            <a:ext cx="285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Last lesson</a:t>
            </a:r>
          </a:p>
        </p:txBody>
      </p:sp>
      <p:sp>
        <p:nvSpPr>
          <p:cNvPr id="37" name="TextBox 36"/>
          <p:cNvSpPr txBox="1"/>
          <p:nvPr/>
        </p:nvSpPr>
        <p:spPr>
          <a:xfrm>
            <a:off x="11811000" y="3143250"/>
            <a:ext cx="5334000" cy="342900"/>
          </a:xfrm>
          <a:prstGeom prst="rect">
            <a:avLst/>
          </a:prstGeom>
          <a:noFill/>
        </p:spPr>
        <p:txBody>
          <a:bodyPr wrap="square" lIns="0" rIns="0" tIns="0" bIns="0" anchor="t">
            <a:spAutoFit/>
          </a:bodyPr>
          <a:lstStyle/>
          <a:p>
            <a:pPr algn="r"/>
            <a:r>
              <a:rPr sz="1800" b="0" i="0">
                <a:solidFill>
                  <a:srgbClr val="E8C27A"/>
                </a:solidFill>
                <a:latin typeface="Geist Mono"/>
                <a:ea typeface="Geist Mono"/>
                <a:cs typeface="Geist Mono"/>
              </a:rPr>
              <a:t>SHOOT_DUTY_CYCLE</a:t>
            </a:r>
          </a:p>
        </p:txBody>
      </p:sp>
      <p:sp>
        <p:nvSpPr>
          <p:cNvPr id="38" name="TextBox 37"/>
          <p:cNvSpPr txBox="1"/>
          <p:nvPr/>
        </p:nvSpPr>
        <p:spPr>
          <a:xfrm>
            <a:off x="8953500" y="3714750"/>
            <a:ext cx="80010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fixed power. No idea how fast the wheel really spins.</a:t>
            </a:r>
          </a:p>
        </p:txBody>
      </p:sp>
      <p:sp>
        <p:nvSpPr>
          <p:cNvPr id="39" name="Rounded Rectangle 38"/>
          <p:cNvSpPr/>
          <p:nvPr/>
        </p:nvSpPr>
        <p:spPr>
          <a:xfrm>
            <a:off x="8572500" y="4953000"/>
            <a:ext cx="8801100" cy="1866900"/>
          </a:xfrm>
          <a:prstGeom prst="roundRect">
            <a:avLst>
              <a:gd name="adj" fmla="val 816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953500" y="5200650"/>
            <a:ext cx="285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This lesson</a:t>
            </a:r>
          </a:p>
        </p:txBody>
      </p:sp>
      <p:sp>
        <p:nvSpPr>
          <p:cNvPr id="41" name="TextBox 40"/>
          <p:cNvSpPr txBox="1"/>
          <p:nvPr/>
        </p:nvSpPr>
        <p:spPr>
          <a:xfrm>
            <a:off x="11811000" y="5238750"/>
            <a:ext cx="5334000" cy="342900"/>
          </a:xfrm>
          <a:prstGeom prst="rect">
            <a:avLst/>
          </a:prstGeom>
          <a:noFill/>
        </p:spPr>
        <p:txBody>
          <a:bodyPr wrap="square" lIns="0" rIns="0" tIns="0" bIns="0" anchor="t">
            <a:spAutoFit/>
          </a:bodyPr>
          <a:lstStyle/>
          <a:p>
            <a:pPr algn="r"/>
            <a:r>
              <a:rPr sz="1800" b="0" i="0">
                <a:solidFill>
                  <a:srgbClr val="E8C27A"/>
                </a:solidFill>
                <a:latin typeface="Geist Mono"/>
                <a:ea typeface="Geist Mono"/>
                <a:cs typeface="Geist Mono"/>
              </a:rPr>
              <a:t>SHOOT_VELOCITY</a:t>
            </a:r>
          </a:p>
        </p:txBody>
      </p:sp>
      <p:sp>
        <p:nvSpPr>
          <p:cNvPr id="42" name="TextBox 41"/>
          <p:cNvSpPr txBox="1"/>
          <p:nvPr/>
        </p:nvSpPr>
        <p:spPr>
          <a:xfrm>
            <a:off x="8953500" y="5810250"/>
            <a:ext cx="80010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target speed. Your code decides the power to reach it.</a:t>
            </a:r>
          </a:p>
        </p:txBody>
      </p:sp>
      <p:sp>
        <p:nvSpPr>
          <p:cNvPr id="43" name="Rounded Rectangle 42"/>
          <p:cNvSpPr/>
          <p:nvPr/>
        </p:nvSpPr>
        <p:spPr>
          <a:xfrm>
            <a:off x="8572500" y="7086600"/>
            <a:ext cx="8801100" cy="1485900"/>
          </a:xfrm>
          <a:prstGeom prst="roundRect">
            <a:avLst>
              <a:gd name="adj" fmla="val 1025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953500" y="7086600"/>
            <a:ext cx="8191500" cy="14859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Control theory:</a:t>
            </a:r>
            <a:r>
              <a:rPr sz="2100" b="0" i="0">
                <a:solidFill>
                  <a:srgbClr val="F0E8E8"/>
                </a:solidFill>
                <a:latin typeface="Geist"/>
                <a:ea typeface="Geist"/>
                <a:cs typeface="Geist"/>
              </a:rPr>
              <a:t> deciding how much power to give a motor so it holds a target.</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Six words for every controller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247900" cy="2476500"/>
          </a:xfrm>
          <a:prstGeom prst="roundRect">
            <a:avLst>
              <a:gd name="adj" fmla="val 6779"/>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Setpoint</a:t>
            </a:r>
          </a:p>
        </p:txBody>
      </p:sp>
      <p:sp>
        <p:nvSpPr>
          <p:cNvPr id="7" name="TextBox 6"/>
          <p:cNvSpPr txBox="1"/>
          <p:nvPr/>
        </p:nvSpPr>
        <p:spPr>
          <a:xfrm>
            <a:off x="104775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What we want</a:t>
            </a:r>
          </a:p>
        </p:txBody>
      </p:sp>
      <p:sp>
        <p:nvSpPr>
          <p:cNvPr id="8" name="Rounded Rectangle 7"/>
          <p:cNvSpPr/>
          <p:nvPr/>
        </p:nvSpPr>
        <p:spPr>
          <a:xfrm>
            <a:off x="110490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0490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300 rad/s</a:t>
            </a:r>
          </a:p>
        </p:txBody>
      </p:sp>
      <p:sp>
        <p:nvSpPr>
          <p:cNvPr id="10" name="Rectangle 9"/>
          <p:cNvSpPr/>
          <p:nvPr/>
        </p:nvSpPr>
        <p:spPr>
          <a:xfrm>
            <a:off x="322421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352425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752850" y="3143250"/>
            <a:ext cx="2247900" cy="2476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2905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Controller</a:t>
            </a:r>
          </a:p>
        </p:txBody>
      </p:sp>
      <p:sp>
        <p:nvSpPr>
          <p:cNvPr id="14" name="TextBox 13"/>
          <p:cNvSpPr txBox="1"/>
          <p:nvPr/>
        </p:nvSpPr>
        <p:spPr>
          <a:xfrm>
            <a:off x="388620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Works out the power</a:t>
            </a:r>
          </a:p>
        </p:txBody>
      </p:sp>
      <p:sp>
        <p:nvSpPr>
          <p:cNvPr id="15" name="Rounded Rectangle 14"/>
          <p:cNvSpPr/>
          <p:nvPr/>
        </p:nvSpPr>
        <p:spPr>
          <a:xfrm>
            <a:off x="394335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4335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roboRIO / Talon</a:t>
            </a:r>
          </a:p>
        </p:txBody>
      </p:sp>
      <p:sp>
        <p:nvSpPr>
          <p:cNvPr id="17" name="Rectangle 16"/>
          <p:cNvSpPr/>
          <p:nvPr/>
        </p:nvSpPr>
        <p:spPr>
          <a:xfrm>
            <a:off x="606266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636270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91300" y="3143250"/>
            <a:ext cx="2247900" cy="2476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6750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Motor</a:t>
            </a:r>
          </a:p>
        </p:txBody>
      </p:sp>
      <p:sp>
        <p:nvSpPr>
          <p:cNvPr id="21" name="TextBox 20"/>
          <p:cNvSpPr txBox="1"/>
          <p:nvPr/>
        </p:nvSpPr>
        <p:spPr>
          <a:xfrm>
            <a:off x="672465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Pushes</a:t>
            </a:r>
          </a:p>
        </p:txBody>
      </p:sp>
      <p:sp>
        <p:nvSpPr>
          <p:cNvPr id="22" name="Rounded Rectangle 21"/>
          <p:cNvSpPr/>
          <p:nvPr/>
        </p:nvSpPr>
        <p:spPr>
          <a:xfrm>
            <a:off x="678180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8180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Kraken X60</a:t>
            </a:r>
          </a:p>
        </p:txBody>
      </p:sp>
      <p:sp>
        <p:nvSpPr>
          <p:cNvPr id="24" name="Rectangle 23"/>
          <p:cNvSpPr/>
          <p:nvPr/>
        </p:nvSpPr>
        <p:spPr>
          <a:xfrm>
            <a:off x="890111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920115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429750" y="3143250"/>
            <a:ext cx="2247900" cy="2476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50595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Output</a:t>
            </a:r>
          </a:p>
        </p:txBody>
      </p:sp>
      <p:sp>
        <p:nvSpPr>
          <p:cNvPr id="28" name="TextBox 27"/>
          <p:cNvSpPr txBox="1"/>
          <p:nvPr/>
        </p:nvSpPr>
        <p:spPr>
          <a:xfrm>
            <a:off x="956310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What really happens</a:t>
            </a:r>
          </a:p>
        </p:txBody>
      </p:sp>
      <p:sp>
        <p:nvSpPr>
          <p:cNvPr id="29" name="Rounded Rectangle 28"/>
          <p:cNvSpPr/>
          <p:nvPr/>
        </p:nvSpPr>
        <p:spPr>
          <a:xfrm>
            <a:off x="962025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62025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wheel spins</a:t>
            </a:r>
          </a:p>
        </p:txBody>
      </p:sp>
      <p:sp>
        <p:nvSpPr>
          <p:cNvPr id="31" name="Rectangle 30"/>
          <p:cNvSpPr/>
          <p:nvPr/>
        </p:nvSpPr>
        <p:spPr>
          <a:xfrm>
            <a:off x="1173956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5400000">
            <a:off x="1203960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2268200" y="3143250"/>
            <a:ext cx="2247900" cy="2476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34440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Sensor</a:t>
            </a:r>
          </a:p>
        </p:txBody>
      </p:sp>
      <p:sp>
        <p:nvSpPr>
          <p:cNvPr id="35" name="TextBox 34"/>
          <p:cNvSpPr txBox="1"/>
          <p:nvPr/>
        </p:nvSpPr>
        <p:spPr>
          <a:xfrm>
            <a:off x="1240155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Measures it</a:t>
            </a:r>
          </a:p>
        </p:txBody>
      </p:sp>
      <p:sp>
        <p:nvSpPr>
          <p:cNvPr id="36" name="Rounded Rectangle 35"/>
          <p:cNvSpPr/>
          <p:nvPr/>
        </p:nvSpPr>
        <p:spPr>
          <a:xfrm>
            <a:off x="1245870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45870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encoder</a:t>
            </a:r>
          </a:p>
        </p:txBody>
      </p:sp>
      <p:sp>
        <p:nvSpPr>
          <p:cNvPr id="38" name="Rectangle 37"/>
          <p:cNvSpPr/>
          <p:nvPr/>
        </p:nvSpPr>
        <p:spPr>
          <a:xfrm>
            <a:off x="1457801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Isosceles Triangle 38"/>
          <p:cNvSpPr/>
          <p:nvPr/>
        </p:nvSpPr>
        <p:spPr>
          <a:xfrm rot="5400000">
            <a:off x="1487805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5106650" y="3143250"/>
            <a:ext cx="2247900" cy="2476500"/>
          </a:xfrm>
          <a:prstGeom prst="roundRect">
            <a:avLst>
              <a:gd name="adj" fmla="val 6779"/>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5182850" y="3486150"/>
            <a:ext cx="2095500" cy="419100"/>
          </a:xfrm>
          <a:prstGeom prst="rect">
            <a:avLst/>
          </a:prstGeom>
          <a:noFill/>
        </p:spPr>
        <p:txBody>
          <a:bodyPr wrap="square" lIns="0" rIns="0" tIns="0" bIns="0" anchor="t">
            <a:spAutoFit/>
          </a:bodyPr>
          <a:lstStyle/>
          <a:p>
            <a:pPr algn="ctr"/>
            <a:r>
              <a:rPr sz="1875" b="1" i="0">
                <a:solidFill>
                  <a:srgbClr val="F0E8E8"/>
                </a:solidFill>
                <a:latin typeface="Geist"/>
                <a:ea typeface="Geist"/>
                <a:cs typeface="Geist"/>
              </a:rPr>
              <a:t>Measurement</a:t>
            </a:r>
          </a:p>
        </p:txBody>
      </p:sp>
      <p:sp>
        <p:nvSpPr>
          <p:cNvPr id="42" name="TextBox 41"/>
          <p:cNvSpPr txBox="1"/>
          <p:nvPr/>
        </p:nvSpPr>
        <p:spPr>
          <a:xfrm>
            <a:off x="1524000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reading</a:t>
            </a:r>
          </a:p>
        </p:txBody>
      </p:sp>
      <p:sp>
        <p:nvSpPr>
          <p:cNvPr id="43" name="Rounded Rectangle 42"/>
          <p:cNvSpPr/>
          <p:nvPr/>
        </p:nvSpPr>
        <p:spPr>
          <a:xfrm>
            <a:off x="1529715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529715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287 rad/s</a:t>
            </a:r>
          </a:p>
        </p:txBody>
      </p:sp>
      <p:sp>
        <p:nvSpPr>
          <p:cNvPr id="45" name="Rounded Rectangle 44"/>
          <p:cNvSpPr/>
          <p:nvPr/>
        </p:nvSpPr>
        <p:spPr>
          <a:xfrm>
            <a:off x="914400" y="6286500"/>
            <a:ext cx="16459200" cy="2095500"/>
          </a:xfrm>
          <a:prstGeom prst="roundRect">
            <a:avLst>
              <a:gd name="adj" fmla="val 727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333500" y="6572250"/>
            <a:ext cx="13335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Same unit, always</a:t>
            </a:r>
          </a:p>
        </p:txBody>
      </p:sp>
      <p:sp>
        <p:nvSpPr>
          <p:cNvPr id="47" name="TextBox 46"/>
          <p:cNvSpPr txBox="1"/>
          <p:nvPr/>
        </p:nvSpPr>
        <p:spPr>
          <a:xfrm>
            <a:off x="1333500" y="7086600"/>
            <a:ext cx="15621000" cy="104775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a:ea typeface="Geist"/>
                <a:cs typeface="Geist"/>
              </a:rPr>
              <a:t>Setpoint and measurement must use the same unit, so every number carries one: </a:t>
            </a:r>
            <a:r>
              <a:rPr sz="1950" b="0" i="0">
                <a:solidFill>
                  <a:srgbClr val="9A7878"/>
                </a:solidFill>
                <a:latin typeface="Geist Mono"/>
                <a:ea typeface="Geist Mono"/>
                <a:cs typeface="Geist Mono"/>
              </a:rPr>
              <a:t>300</a:t>
            </a:r>
            <a:r>
              <a:rPr sz="1950" b="0" i="0">
                <a:solidFill>
                  <a:srgbClr val="9A7878"/>
                </a:solidFill>
                <a:latin typeface="Geist"/>
                <a:ea typeface="Geist"/>
                <a:cs typeface="Geist"/>
              </a:rPr>
              <a:t> rad/s, not just </a:t>
            </a:r>
            <a:r>
              <a:rPr sz="1950" b="0" i="0">
                <a:solidFill>
                  <a:srgbClr val="9A7878"/>
                </a:solidFill>
                <a:latin typeface="Geist Mono"/>
                <a:ea typeface="Geist Mono"/>
                <a:cs typeface="Geist Mono"/>
              </a:rPr>
              <a:t>300</a:t>
            </a:r>
            <a:r>
              <a:rPr sz="1950" b="0" i="0">
                <a:solidFill>
                  <a:srgbClr val="9A7878"/>
                </a:solidFill>
                <a:latin typeface="Geist"/>
                <a:ea typeface="Geist"/>
                <a:cs typeface="Geist"/>
              </a:rPr>
              <a:t>. Mix units up and the robot won't crash, it just does the wrong thing.</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Error: the gap to the target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68246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3959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543061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28773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417875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03587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TextBox 15"/>
          <p:cNvSpPr txBox="1"/>
          <p:nvPr/>
        </p:nvSpPr>
        <p:spPr>
          <a:xfrm>
            <a:off x="4565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7" name="TextBox 16"/>
          <p:cNvSpPr txBox="1"/>
          <p:nvPr/>
        </p:nvSpPr>
        <p:spPr>
          <a:xfrm>
            <a:off x="7454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18" name="TextBox 17"/>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19" name="TextBox 18"/>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FLYWHEEL SPEED (RAD/S)</a:t>
            </a:r>
          </a:p>
        </p:txBody>
      </p:sp>
      <p:sp>
        <p:nvSpPr>
          <p:cNvPr id="20" name="TextBox 19"/>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1" name="Rectangle 20"/>
          <p:cNvSpPr/>
          <p:nvPr/>
        </p:nvSpPr>
        <p:spPr>
          <a:xfrm>
            <a:off x="2152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438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724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009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295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581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867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152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438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724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10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295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581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867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53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438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724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7010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296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581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867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53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439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724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9010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296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9582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867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0153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0439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0725150" y="417399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962900" y="3826329"/>
            <a:ext cx="28194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setpoint 300</a:t>
            </a:r>
          </a:p>
        </p:txBody>
      </p:sp>
      <p:cxnSp>
        <p:nvCxnSpPr>
          <p:cNvPr id="53" name="Connector 52"/>
          <p:cNvCxnSpPr/>
          <p:nvPr/>
        </p:nvCxnSpPr>
        <p:spPr>
          <a:xfrm flipV="1">
            <a:off x="2152650" y="7393719"/>
            <a:ext cx="274479" cy="5501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2427129" y="6878977"/>
            <a:ext cx="303371" cy="5147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730500" y="6446936"/>
            <a:ext cx="303371" cy="43204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033871" y="6052971"/>
            <a:ext cx="332264" cy="3939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366135" y="5702333"/>
            <a:ext cx="361156" cy="3506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27291" y="5407490"/>
            <a:ext cx="375603" cy="2948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102894" y="5153910"/>
            <a:ext cx="404495" cy="25358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507389" y="4934282"/>
            <a:ext cx="447833" cy="2196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955222" y="4759918"/>
            <a:ext cx="462280" cy="17436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417502" y="4615611"/>
            <a:ext cx="505619" cy="1443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923121" y="4497406"/>
            <a:ext cx="563404" cy="1182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486525" y="4402951"/>
            <a:ext cx="635635" cy="944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7122160" y="4331481"/>
            <a:ext cx="707866" cy="714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830026" y="4277915"/>
            <a:ext cx="823436" cy="535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653462" y="4240238"/>
            <a:ext cx="967899" cy="376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621361" y="4215095"/>
            <a:ext cx="1199039" cy="251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2851150" y="4358776"/>
            <a:ext cx="47625" cy="227168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Isosceles Triangle 69"/>
          <p:cNvSpPr/>
          <p:nvPr/>
        </p:nvSpPr>
        <p:spPr>
          <a:xfrm>
            <a:off x="2798762" y="4245429"/>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08312" y="5273638"/>
            <a:ext cx="1905000" cy="304800"/>
          </a:xfrm>
          <a:prstGeom prst="rect">
            <a:avLst/>
          </a:prstGeom>
          <a:noFill/>
        </p:spPr>
        <p:txBody>
          <a:bodyPr wrap="square" lIns="0" rIns="0" tIns="0" bIns="0" anchor="t">
            <a:spAutoFit/>
          </a:bodyPr>
          <a:lstStyle/>
          <a:p>
            <a:pPr algn="l"/>
            <a:r>
              <a:rPr sz="1800" b="1" i="0">
                <a:solidFill>
                  <a:srgbClr val="D5000E"/>
                </a:solidFill>
                <a:latin typeface="Geist Mono"/>
                <a:ea typeface="Geist Mono"/>
                <a:cs typeface="Geist Mono"/>
              </a:rPr>
              <a:t>198</a:t>
            </a:r>
          </a:p>
        </p:txBody>
      </p:sp>
      <p:sp>
        <p:nvSpPr>
          <p:cNvPr id="72" name="Rectangle 71"/>
          <p:cNvSpPr/>
          <p:nvPr/>
        </p:nvSpPr>
        <p:spPr>
          <a:xfrm>
            <a:off x="4151312" y="4358776"/>
            <a:ext cx="47625" cy="96564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Isosceles Triangle 72"/>
          <p:cNvSpPr/>
          <p:nvPr/>
        </p:nvSpPr>
        <p:spPr>
          <a:xfrm>
            <a:off x="4098925" y="4245429"/>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308475" y="4620619"/>
            <a:ext cx="1905000" cy="304800"/>
          </a:xfrm>
          <a:prstGeom prst="rect">
            <a:avLst/>
          </a:prstGeom>
          <a:noFill/>
        </p:spPr>
        <p:txBody>
          <a:bodyPr wrap="square" lIns="0" rIns="0" tIns="0" bIns="0" anchor="t">
            <a:spAutoFit/>
          </a:bodyPr>
          <a:lstStyle/>
          <a:p>
            <a:pPr algn="l"/>
            <a:r>
              <a:rPr sz="1800" b="1" i="0">
                <a:solidFill>
                  <a:srgbClr val="D5000E"/>
                </a:solidFill>
                <a:latin typeface="Geist Mono"/>
                <a:ea typeface="Geist Mono"/>
                <a:cs typeface="Geist Mono"/>
              </a:rPr>
              <a:t>93</a:t>
            </a:r>
          </a:p>
        </p:txBody>
      </p:sp>
      <p:sp>
        <p:nvSpPr>
          <p:cNvPr id="75" name="Rectangle 74"/>
          <p:cNvSpPr/>
          <p:nvPr/>
        </p:nvSpPr>
        <p:spPr>
          <a:xfrm>
            <a:off x="5884862" y="4358776"/>
            <a:ext cx="47625" cy="227063"/>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Isosceles Triangle 75"/>
          <p:cNvSpPr/>
          <p:nvPr/>
        </p:nvSpPr>
        <p:spPr>
          <a:xfrm>
            <a:off x="5832475" y="4245429"/>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042025" y="4251328"/>
            <a:ext cx="1905000" cy="304800"/>
          </a:xfrm>
          <a:prstGeom prst="rect">
            <a:avLst/>
          </a:prstGeom>
          <a:noFill/>
        </p:spPr>
        <p:txBody>
          <a:bodyPr wrap="square" lIns="0" rIns="0" tIns="0" bIns="0" anchor="t">
            <a:spAutoFit/>
          </a:bodyPr>
          <a:lstStyle/>
          <a:p>
            <a:pPr algn="l"/>
            <a:r>
              <a:rPr sz="1800" b="1" i="0">
                <a:solidFill>
                  <a:srgbClr val="D5000E"/>
                </a:solidFill>
                <a:latin typeface="Geist Mono"/>
                <a:ea typeface="Geist Mono"/>
                <a:cs typeface="Geist Mono"/>
              </a:rPr>
              <a:t>34</a:t>
            </a:r>
          </a:p>
        </p:txBody>
      </p:sp>
      <p:sp>
        <p:nvSpPr>
          <p:cNvPr id="78" name="Oval 77"/>
          <p:cNvSpPr/>
          <p:nvPr/>
        </p:nvSpPr>
        <p:spPr>
          <a:xfrm>
            <a:off x="8318500" y="365487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18500" y="36548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0" name="Oval 79"/>
          <p:cNvSpPr/>
          <p:nvPr/>
        </p:nvSpPr>
        <p:spPr>
          <a:xfrm>
            <a:off x="3932238" y="5625193"/>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932238" y="562519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82" name="Oval 81"/>
          <p:cNvSpPr/>
          <p:nvPr/>
        </p:nvSpPr>
        <p:spPr>
          <a:xfrm>
            <a:off x="2360612" y="524963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360612" y="524963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84" name="Oval 83"/>
          <p:cNvSpPr/>
          <p:nvPr/>
        </p:nvSpPr>
        <p:spPr>
          <a:xfrm>
            <a:off x="5394325" y="46863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394325" y="4686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86" name="Oval 85"/>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8" name="TextBox 87"/>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Setpoint</a:t>
            </a:r>
          </a:p>
        </p:txBody>
      </p:sp>
      <p:sp>
        <p:nvSpPr>
          <p:cNvPr id="89" name="TextBox 88"/>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we want to be</a:t>
            </a:r>
          </a:p>
        </p:txBody>
      </p:sp>
      <p:sp>
        <p:nvSpPr>
          <p:cNvPr id="90" name="Oval 89"/>
          <p:cNvSpPr/>
          <p:nvPr/>
        </p:nvSpPr>
        <p:spPr>
          <a:xfrm>
            <a:off x="11906250" y="404812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906250" y="404812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92" name="TextBox 91"/>
          <p:cNvSpPr txBox="1"/>
          <p:nvPr/>
        </p:nvSpPr>
        <p:spPr>
          <a:xfrm>
            <a:off x="12515850" y="4010025"/>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Measurement</a:t>
            </a:r>
          </a:p>
        </p:txBody>
      </p:sp>
      <p:sp>
        <p:nvSpPr>
          <p:cNvPr id="93" name="TextBox 92"/>
          <p:cNvSpPr txBox="1"/>
          <p:nvPr/>
        </p:nvSpPr>
        <p:spPr>
          <a:xfrm>
            <a:off x="12515850" y="4429125"/>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the sensor reads</a:t>
            </a:r>
          </a:p>
        </p:txBody>
      </p:sp>
      <p:sp>
        <p:nvSpPr>
          <p:cNvPr id="94" name="Oval 93"/>
          <p:cNvSpPr/>
          <p:nvPr/>
        </p:nvSpPr>
        <p:spPr>
          <a:xfrm>
            <a:off x="11906250" y="5238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906250" y="5238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96" name="TextBox 95"/>
          <p:cNvSpPr txBox="1"/>
          <p:nvPr/>
        </p:nvSpPr>
        <p:spPr>
          <a:xfrm>
            <a:off x="12515850" y="5200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Error</a:t>
            </a:r>
          </a:p>
        </p:txBody>
      </p:sp>
      <p:sp>
        <p:nvSpPr>
          <p:cNvPr id="97" name="TextBox 96"/>
          <p:cNvSpPr txBox="1"/>
          <p:nvPr/>
        </p:nvSpPr>
        <p:spPr>
          <a:xfrm>
            <a:off x="12515850" y="5619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Setpoint - measurement. Big at first</a:t>
            </a:r>
          </a:p>
        </p:txBody>
      </p:sp>
      <p:sp>
        <p:nvSpPr>
          <p:cNvPr id="98" name="Oval 97"/>
          <p:cNvSpPr/>
          <p:nvPr/>
        </p:nvSpPr>
        <p:spPr>
          <a:xfrm>
            <a:off x="11906250" y="642937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906250" y="642937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00" name="TextBox 99"/>
          <p:cNvSpPr txBox="1"/>
          <p:nvPr/>
        </p:nvSpPr>
        <p:spPr>
          <a:xfrm>
            <a:off x="12515850" y="6391275"/>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Shrinks to 0</a:t>
            </a:r>
          </a:p>
        </p:txBody>
      </p:sp>
      <p:sp>
        <p:nvSpPr>
          <p:cNvPr id="101" name="TextBox 100"/>
          <p:cNvSpPr txBox="1"/>
          <p:nvPr/>
        </p:nvSpPr>
        <p:spPr>
          <a:xfrm>
            <a:off x="12515850" y="6810375"/>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As the wheel catches up</a:t>
            </a:r>
          </a:p>
        </p:txBody>
      </p:sp>
      <p:sp>
        <p:nvSpPr>
          <p:cNvPr id="102" name="Rounded Rectangle 101"/>
          <p:cNvSpPr/>
          <p:nvPr/>
        </p:nvSpPr>
        <p:spPr>
          <a:xfrm>
            <a:off x="11906250" y="7677150"/>
            <a:ext cx="5467350" cy="1036320"/>
          </a:xfrm>
          <a:prstGeom prst="roundRect">
            <a:avLst>
              <a:gd name="adj" fmla="val 1470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12287250" y="8058150"/>
            <a:ext cx="4933950" cy="2743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error = setpoint - measurement</a:t>
            </a:r>
          </a:p>
        </p:txBody>
      </p:sp>
      <p:sp>
        <p:nvSpPr>
          <p:cNvPr id="104" name="TextBox 10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5" name="TextBox 10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Error on an elevator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2390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562225" y="3324225"/>
            <a:ext cx="19050" cy="4972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562225" y="8277225"/>
            <a:ext cx="2286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562225" y="7896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562225" y="7515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562225" y="7134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562225" y="6753225"/>
            <a:ext cx="2286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562225" y="6372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562225" y="5991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562225" y="5610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562225" y="5229225"/>
            <a:ext cx="2286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562225" y="4848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562225" y="4467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562225" y="4086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562225" y="3705225"/>
            <a:ext cx="2286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562225" y="3324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428750" y="8143875"/>
            <a:ext cx="9525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 m</a:t>
            </a:r>
          </a:p>
        </p:txBody>
      </p:sp>
      <p:sp>
        <p:nvSpPr>
          <p:cNvPr id="22" name="TextBox 21"/>
          <p:cNvSpPr txBox="1"/>
          <p:nvPr/>
        </p:nvSpPr>
        <p:spPr>
          <a:xfrm>
            <a:off x="1428750" y="6619875"/>
            <a:ext cx="9525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0.4 m</a:t>
            </a:r>
          </a:p>
        </p:txBody>
      </p:sp>
      <p:sp>
        <p:nvSpPr>
          <p:cNvPr id="23" name="TextBox 22"/>
          <p:cNvSpPr txBox="1"/>
          <p:nvPr/>
        </p:nvSpPr>
        <p:spPr>
          <a:xfrm>
            <a:off x="1428750" y="5095875"/>
            <a:ext cx="9525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0.8 m</a:t>
            </a:r>
          </a:p>
        </p:txBody>
      </p:sp>
      <p:sp>
        <p:nvSpPr>
          <p:cNvPr id="24" name="TextBox 23"/>
          <p:cNvSpPr txBox="1"/>
          <p:nvPr/>
        </p:nvSpPr>
        <p:spPr>
          <a:xfrm>
            <a:off x="1428750" y="3571875"/>
            <a:ext cx="9525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 m</a:t>
            </a:r>
          </a:p>
        </p:txBody>
      </p:sp>
      <p:sp>
        <p:nvSpPr>
          <p:cNvPr id="25" name="Rectangle 24"/>
          <p:cNvSpPr/>
          <p:nvPr/>
        </p:nvSpPr>
        <p:spPr>
          <a:xfrm>
            <a:off x="3143250" y="3333750"/>
            <a:ext cx="133350" cy="49530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343400" y="3333750"/>
            <a:ext cx="133350" cy="49530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85750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14325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42900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71475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00050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28625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57200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85775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14350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429250" y="3700463"/>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810250" y="3543300"/>
            <a:ext cx="1905000" cy="34290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setpoint</a:t>
            </a:r>
          </a:p>
        </p:txBody>
      </p:sp>
      <p:sp>
        <p:nvSpPr>
          <p:cNvPr id="38" name="Rounded Rectangle 37"/>
          <p:cNvSpPr/>
          <p:nvPr/>
        </p:nvSpPr>
        <p:spPr>
          <a:xfrm>
            <a:off x="3333750" y="7200900"/>
            <a:ext cx="952500" cy="266700"/>
          </a:xfrm>
          <a:prstGeom prst="roundRect">
            <a:avLst>
              <a:gd name="adj" fmla="val 21428"/>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610100" y="7162800"/>
            <a:ext cx="476250" cy="3429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a:t>
            </a:r>
          </a:p>
        </p:txBody>
      </p:sp>
      <p:sp>
        <p:nvSpPr>
          <p:cNvPr id="40" name="Rounded Rectangle 39"/>
          <p:cNvSpPr/>
          <p:nvPr/>
        </p:nvSpPr>
        <p:spPr>
          <a:xfrm>
            <a:off x="3333750" y="5295900"/>
            <a:ext cx="952500" cy="266700"/>
          </a:xfrm>
          <a:prstGeom prst="roundRect">
            <a:avLst>
              <a:gd name="adj" fmla="val 21428"/>
            </a:avLst>
          </a:prstGeom>
          <a:no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610100" y="5257800"/>
            <a:ext cx="476250" cy="3429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B</a:t>
            </a:r>
          </a:p>
        </p:txBody>
      </p:sp>
      <p:sp>
        <p:nvSpPr>
          <p:cNvPr id="42" name="Rounded Rectangle 41"/>
          <p:cNvSpPr/>
          <p:nvPr/>
        </p:nvSpPr>
        <p:spPr>
          <a:xfrm>
            <a:off x="3333750" y="3771900"/>
            <a:ext cx="952500" cy="266700"/>
          </a:xfrm>
          <a:prstGeom prst="roundRect">
            <a:avLst>
              <a:gd name="adj" fmla="val 21428"/>
            </a:avLst>
          </a:prstGeom>
          <a:no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610100" y="3848100"/>
            <a:ext cx="476250" cy="3429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C</a:t>
            </a:r>
          </a:p>
        </p:txBody>
      </p:sp>
      <p:sp>
        <p:nvSpPr>
          <p:cNvPr id="44" name="TextBox 43"/>
          <p:cNvSpPr txBox="1"/>
          <p:nvPr/>
        </p:nvSpPr>
        <p:spPr>
          <a:xfrm>
            <a:off x="4610100" y="3295650"/>
            <a:ext cx="476250" cy="3429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D</a:t>
            </a:r>
          </a:p>
        </p:txBody>
      </p:sp>
      <p:sp>
        <p:nvSpPr>
          <p:cNvPr id="45" name="Rectangle 44"/>
          <p:cNvSpPr/>
          <p:nvPr/>
        </p:nvSpPr>
        <p:spPr>
          <a:xfrm>
            <a:off x="5219700" y="3909060"/>
            <a:ext cx="38100" cy="340614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Isosceles Triangle 45"/>
          <p:cNvSpPr/>
          <p:nvPr/>
        </p:nvSpPr>
        <p:spPr>
          <a:xfrm>
            <a:off x="5162550" y="37909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91150" y="5372100"/>
            <a:ext cx="1143000" cy="304800"/>
          </a:xfrm>
          <a:prstGeom prst="rect">
            <a:avLst/>
          </a:prstGeom>
          <a:noFill/>
        </p:spPr>
        <p:txBody>
          <a:bodyPr wrap="square" lIns="0" rIns="0" tIns="0" bIns="0" anchor="t">
            <a:spAutoFit/>
          </a:bodyPr>
          <a:lstStyle/>
          <a:p>
            <a:pPr algn="l"/>
            <a:r>
              <a:rPr sz="1800" b="1" i="0">
                <a:solidFill>
                  <a:srgbClr val="D5000E"/>
                </a:solidFill>
                <a:latin typeface="Geist Mono"/>
                <a:ea typeface="Geist Mono"/>
                <a:cs typeface="Geist Mono"/>
              </a:rPr>
              <a:t>0.95</a:t>
            </a:r>
          </a:p>
        </p:txBody>
      </p:sp>
      <p:sp>
        <p:nvSpPr>
          <p:cNvPr id="48" name="Rounded Rectangle 47"/>
          <p:cNvSpPr/>
          <p:nvPr/>
        </p:nvSpPr>
        <p:spPr>
          <a:xfrm>
            <a:off x="8763000" y="2857500"/>
            <a:ext cx="80010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029700" y="2857500"/>
            <a:ext cx="8763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
            </a:r>
          </a:p>
        </p:txBody>
      </p:sp>
      <p:sp>
        <p:nvSpPr>
          <p:cNvPr id="50" name="TextBox 49"/>
          <p:cNvSpPr txBox="1"/>
          <p:nvPr/>
        </p:nvSpPr>
        <p:spPr>
          <a:xfrm>
            <a:off x="10172700" y="2857500"/>
            <a:ext cx="31623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Height</a:t>
            </a:r>
          </a:p>
        </p:txBody>
      </p:sp>
      <p:sp>
        <p:nvSpPr>
          <p:cNvPr id="51" name="TextBox 50"/>
          <p:cNvSpPr txBox="1"/>
          <p:nvPr/>
        </p:nvSpPr>
        <p:spPr>
          <a:xfrm>
            <a:off x="13601700" y="2857500"/>
            <a:ext cx="31623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Error (m)</a:t>
            </a:r>
          </a:p>
        </p:txBody>
      </p:sp>
      <p:sp>
        <p:nvSpPr>
          <p:cNvPr id="52" name="Rectangle 51"/>
          <p:cNvSpPr/>
          <p:nvPr/>
        </p:nvSpPr>
        <p:spPr>
          <a:xfrm>
            <a:off x="8753475" y="4505325"/>
            <a:ext cx="8020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029700" y="3619500"/>
            <a:ext cx="876300" cy="85725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a:t>
            </a:r>
          </a:p>
        </p:txBody>
      </p:sp>
      <p:sp>
        <p:nvSpPr>
          <p:cNvPr id="54" name="TextBox 53"/>
          <p:cNvSpPr txBox="1"/>
          <p:nvPr/>
        </p:nvSpPr>
        <p:spPr>
          <a:xfrm>
            <a:off x="10172700" y="36195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0.25 m</a:t>
            </a:r>
          </a:p>
        </p:txBody>
      </p:sp>
      <p:sp>
        <p:nvSpPr>
          <p:cNvPr id="55" name="TextBox 54"/>
          <p:cNvSpPr txBox="1"/>
          <p:nvPr/>
        </p:nvSpPr>
        <p:spPr>
          <a:xfrm>
            <a:off x="13601700" y="3619500"/>
            <a:ext cx="3162300" cy="857250"/>
          </a:xfrm>
          <a:prstGeom prst="rect">
            <a:avLst/>
          </a:prstGeom>
          <a:noFill/>
        </p:spPr>
        <p:txBody>
          <a:bodyPr wrap="square" lIns="0" rIns="0" tIns="0" bIns="0" anchor="ctr">
            <a:spAutoFit/>
          </a:bodyPr>
          <a:lstStyle/>
          <a:p>
            <a:pPr algn="l"/>
            <a:r>
              <a:rPr sz="2250" b="1" i="0">
                <a:solidFill>
                  <a:srgbClr val="D5000E"/>
                </a:solidFill>
                <a:latin typeface="Geist Mono"/>
                <a:ea typeface="Geist Mono"/>
                <a:cs typeface="Geist Mono"/>
              </a:rPr>
              <a:t>1.2 - 0.25 = 0.95</a:t>
            </a:r>
          </a:p>
        </p:txBody>
      </p:sp>
      <p:sp>
        <p:nvSpPr>
          <p:cNvPr id="56" name="Rectangle 55"/>
          <p:cNvSpPr/>
          <p:nvPr/>
        </p:nvSpPr>
        <p:spPr>
          <a:xfrm>
            <a:off x="8753475" y="5457825"/>
            <a:ext cx="8020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9029700" y="4572000"/>
            <a:ext cx="876300" cy="85725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B</a:t>
            </a:r>
          </a:p>
        </p:txBody>
      </p:sp>
      <p:sp>
        <p:nvSpPr>
          <p:cNvPr id="58" name="TextBox 57"/>
          <p:cNvSpPr txBox="1"/>
          <p:nvPr/>
        </p:nvSpPr>
        <p:spPr>
          <a:xfrm>
            <a:off x="10172700" y="45720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0.75 m</a:t>
            </a:r>
          </a:p>
        </p:txBody>
      </p:sp>
      <p:sp>
        <p:nvSpPr>
          <p:cNvPr id="59" name="TextBox 58"/>
          <p:cNvSpPr txBox="1"/>
          <p:nvPr/>
        </p:nvSpPr>
        <p:spPr>
          <a:xfrm>
            <a:off x="13601700" y="45720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1.2 - 0.75 = 0.45</a:t>
            </a:r>
          </a:p>
        </p:txBody>
      </p:sp>
      <p:sp>
        <p:nvSpPr>
          <p:cNvPr id="60" name="Rectangle 59"/>
          <p:cNvSpPr/>
          <p:nvPr/>
        </p:nvSpPr>
        <p:spPr>
          <a:xfrm>
            <a:off x="8753475" y="6410325"/>
            <a:ext cx="8020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029700" y="5524500"/>
            <a:ext cx="876300" cy="85725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C</a:t>
            </a:r>
          </a:p>
        </p:txBody>
      </p:sp>
      <p:sp>
        <p:nvSpPr>
          <p:cNvPr id="62" name="TextBox 61"/>
          <p:cNvSpPr txBox="1"/>
          <p:nvPr/>
        </p:nvSpPr>
        <p:spPr>
          <a:xfrm>
            <a:off x="10172700" y="55245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1.15 m</a:t>
            </a:r>
          </a:p>
        </p:txBody>
      </p:sp>
      <p:sp>
        <p:nvSpPr>
          <p:cNvPr id="63" name="TextBox 62"/>
          <p:cNvSpPr txBox="1"/>
          <p:nvPr/>
        </p:nvSpPr>
        <p:spPr>
          <a:xfrm>
            <a:off x="13601700" y="55245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1.2 - 1.15 = 0.05</a:t>
            </a:r>
          </a:p>
        </p:txBody>
      </p:sp>
      <p:sp>
        <p:nvSpPr>
          <p:cNvPr id="64" name="Rectangle 63"/>
          <p:cNvSpPr/>
          <p:nvPr/>
        </p:nvSpPr>
        <p:spPr>
          <a:xfrm>
            <a:off x="8753475" y="7362825"/>
            <a:ext cx="8020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9029700" y="6477000"/>
            <a:ext cx="876300" cy="85725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D</a:t>
            </a:r>
          </a:p>
        </p:txBody>
      </p:sp>
      <p:sp>
        <p:nvSpPr>
          <p:cNvPr id="66" name="TextBox 65"/>
          <p:cNvSpPr txBox="1"/>
          <p:nvPr/>
        </p:nvSpPr>
        <p:spPr>
          <a:xfrm>
            <a:off x="10172700" y="64770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1.2 m</a:t>
            </a:r>
          </a:p>
        </p:txBody>
      </p:sp>
      <p:sp>
        <p:nvSpPr>
          <p:cNvPr id="67" name="TextBox 66"/>
          <p:cNvSpPr txBox="1"/>
          <p:nvPr/>
        </p:nvSpPr>
        <p:spPr>
          <a:xfrm>
            <a:off x="13601700" y="64770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1.2 - 1.2 = 0</a:t>
            </a:r>
          </a:p>
        </p:txBody>
      </p:sp>
      <p:sp>
        <p:nvSpPr>
          <p:cNvPr id="68" name="Rounded Rectangle 67"/>
          <p:cNvSpPr/>
          <p:nvPr/>
        </p:nvSpPr>
        <p:spPr>
          <a:xfrm>
            <a:off x="8763000" y="7429500"/>
            <a:ext cx="8610600" cy="1333500"/>
          </a:xfrm>
          <a:prstGeom prst="roundRect">
            <a:avLst>
              <a:gd name="adj" fmla="val 1142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Picture 68" descr="chat-left-text.png"/>
          <p:cNvPicPr>
            <a:picLocks noChangeAspect="1"/>
          </p:cNvPicPr>
          <p:nvPr/>
        </p:nvPicPr>
        <p:blipFill>
          <a:blip r:embed="rId3"/>
          <a:stretch>
            <a:fillRect/>
          </a:stretch>
        </p:blipFill>
        <p:spPr>
          <a:xfrm>
            <a:off x="9144000" y="7829550"/>
            <a:ext cx="557349" cy="533400"/>
          </a:xfrm>
          <a:prstGeom prst="rect">
            <a:avLst/>
          </a:prstGeom>
        </p:spPr>
      </p:pic>
      <p:sp>
        <p:nvSpPr>
          <p:cNvPr id="70" name="TextBox 69"/>
          <p:cNvSpPr txBox="1"/>
          <p:nvPr/>
        </p:nvSpPr>
        <p:spPr>
          <a:xfrm>
            <a:off x="10001250" y="7429500"/>
            <a:ext cx="7048500" cy="1333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Ask:  </a:t>
            </a:r>
            <a:r>
              <a:rPr sz="2100" b="0" i="0">
                <a:solidFill>
                  <a:srgbClr val="F0E8E8"/>
                </a:solidFill>
                <a:latin typeface="Geist"/>
                <a:ea typeface="Geist"/>
                <a:cs typeface="Geist"/>
              </a:rPr>
              <a:t>where should it move fastest? Where slowest?</a:t>
            </a:r>
          </a:p>
        </p:txBody>
      </p:sp>
      <p:sp>
        <p:nvSpPr>
          <p:cNvPr id="71" name="TextBox 7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2" name="TextBox 7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Open loop and closed loop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2190750"/>
          </a:xfrm>
          <a:prstGeom prst="roundRect">
            <a:avLst>
              <a:gd name="adj" fmla="val 695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90850"/>
            <a:ext cx="11430000" cy="285750"/>
          </a:xfrm>
          <a:prstGeom prst="rect">
            <a:avLst/>
          </a:prstGeom>
          <a:noFill/>
        </p:spPr>
        <p:txBody>
          <a:bodyPr wrap="square" lIns="0" rIns="0" tIns="0" bIns="0" anchor="t">
            <a:spAutoFit/>
          </a:bodyPr>
          <a:lstStyle/>
          <a:p>
            <a:pPr algn="l"/>
            <a:r>
              <a:rPr sz="1500" b="1" i="0" spc="130">
                <a:solidFill>
                  <a:srgbClr val="F0E8E8"/>
                </a:solidFill>
                <a:latin typeface="Geist"/>
                <a:ea typeface="Geist"/>
                <a:cs typeface="Geist"/>
              </a:rPr>
              <a:t>OPEN LOOP</a:t>
            </a:r>
            <a:r>
              <a:rPr sz="1500" b="0" i="0">
                <a:solidFill>
                  <a:srgbClr val="9A7878"/>
                </a:solidFill>
                <a:latin typeface="Geist"/>
                <a:ea typeface="Geist"/>
                <a:cs typeface="Geist"/>
              </a:rPr>
              <a:t>    No sensor: it never checks</a:t>
            </a:r>
          </a:p>
        </p:txBody>
      </p:sp>
      <p:sp>
        <p:nvSpPr>
          <p:cNvPr id="7" name="Rounded Rectangle 6"/>
          <p:cNvSpPr/>
          <p:nvPr/>
        </p:nvSpPr>
        <p:spPr>
          <a:xfrm>
            <a:off x="1295400" y="3524250"/>
            <a:ext cx="285750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71600" y="3776662"/>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Setpoint</a:t>
            </a:r>
          </a:p>
        </p:txBody>
      </p:sp>
      <p:sp>
        <p:nvSpPr>
          <p:cNvPr id="9" name="TextBox 8"/>
          <p:cNvSpPr txBox="1"/>
          <p:nvPr/>
        </p:nvSpPr>
        <p:spPr>
          <a:xfrm>
            <a:off x="1390650" y="4124325"/>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60% power</a:t>
            </a:r>
          </a:p>
        </p:txBody>
      </p:sp>
      <p:sp>
        <p:nvSpPr>
          <p:cNvPr id="10" name="Rectangle 9"/>
          <p:cNvSpPr/>
          <p:nvPr/>
        </p:nvSpPr>
        <p:spPr>
          <a:xfrm>
            <a:off x="4214812" y="4033838"/>
            <a:ext cx="11582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5343525" y="3971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72125" y="3524250"/>
            <a:ext cx="285750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48325" y="3776662"/>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Controller</a:t>
            </a:r>
          </a:p>
        </p:txBody>
      </p:sp>
      <p:sp>
        <p:nvSpPr>
          <p:cNvPr id="14" name="TextBox 13"/>
          <p:cNvSpPr txBox="1"/>
          <p:nvPr/>
        </p:nvSpPr>
        <p:spPr>
          <a:xfrm>
            <a:off x="5667375" y="4124325"/>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sends it</a:t>
            </a:r>
          </a:p>
        </p:txBody>
      </p:sp>
      <p:sp>
        <p:nvSpPr>
          <p:cNvPr id="15" name="Rectangle 14"/>
          <p:cNvSpPr/>
          <p:nvPr/>
        </p:nvSpPr>
        <p:spPr>
          <a:xfrm>
            <a:off x="8491538" y="4033838"/>
            <a:ext cx="11582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9620250" y="3971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848850" y="3524250"/>
            <a:ext cx="285750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25050" y="3776662"/>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19" name="TextBox 18"/>
          <p:cNvSpPr txBox="1"/>
          <p:nvPr/>
        </p:nvSpPr>
        <p:spPr>
          <a:xfrm>
            <a:off x="9944100" y="4124325"/>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pushes</a:t>
            </a:r>
          </a:p>
        </p:txBody>
      </p:sp>
      <p:sp>
        <p:nvSpPr>
          <p:cNvPr id="20" name="Rectangle 19"/>
          <p:cNvSpPr/>
          <p:nvPr/>
        </p:nvSpPr>
        <p:spPr>
          <a:xfrm>
            <a:off x="12768262" y="4033838"/>
            <a:ext cx="11582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3896975" y="3971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4125575" y="3524250"/>
            <a:ext cx="285750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4201775" y="3776662"/>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Output</a:t>
            </a:r>
          </a:p>
        </p:txBody>
      </p:sp>
      <p:sp>
        <p:nvSpPr>
          <p:cNvPr id="24" name="TextBox 23"/>
          <p:cNvSpPr txBox="1"/>
          <p:nvPr/>
        </p:nvSpPr>
        <p:spPr>
          <a:xfrm>
            <a:off x="14220825" y="4124325"/>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whatever happens</a:t>
            </a:r>
          </a:p>
        </p:txBody>
      </p:sp>
      <p:sp>
        <p:nvSpPr>
          <p:cNvPr id="25" name="Rounded Rectangle 24"/>
          <p:cNvSpPr/>
          <p:nvPr/>
        </p:nvSpPr>
        <p:spPr>
          <a:xfrm>
            <a:off x="914400" y="5219700"/>
            <a:ext cx="16459200" cy="3638550"/>
          </a:xfrm>
          <a:prstGeom prst="roundRect">
            <a:avLst>
              <a:gd name="adj" fmla="val 4188"/>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5448300"/>
            <a:ext cx="11430000" cy="285750"/>
          </a:xfrm>
          <a:prstGeom prst="rect">
            <a:avLst/>
          </a:prstGeom>
          <a:noFill/>
        </p:spPr>
        <p:txBody>
          <a:bodyPr wrap="square" lIns="0" rIns="0" tIns="0" bIns="0" anchor="t">
            <a:spAutoFit/>
          </a:bodyPr>
          <a:lstStyle/>
          <a:p>
            <a:pPr algn="l"/>
            <a:r>
              <a:rPr sz="1500" b="1" i="0" spc="130">
                <a:solidFill>
                  <a:srgbClr val="F0E8E8"/>
                </a:solidFill>
                <a:latin typeface="Geist"/>
                <a:ea typeface="Geist"/>
                <a:cs typeface="Geist"/>
              </a:rPr>
              <a:t>CLOSED LOOP</a:t>
            </a:r>
            <a:r>
              <a:rPr sz="1500" b="0" i="0">
                <a:solidFill>
                  <a:srgbClr val="9A7878"/>
                </a:solidFill>
                <a:latin typeface="Geist"/>
                <a:ea typeface="Geist"/>
                <a:cs typeface="Geist"/>
              </a:rPr>
              <a:t>    Measure, compare, correct</a:t>
            </a:r>
          </a:p>
        </p:txBody>
      </p:sp>
      <p:sp>
        <p:nvSpPr>
          <p:cNvPr id="27" name="Rounded Rectangle 26"/>
          <p:cNvSpPr/>
          <p:nvPr/>
        </p:nvSpPr>
        <p:spPr>
          <a:xfrm>
            <a:off x="1295400" y="6000750"/>
            <a:ext cx="2095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71600" y="6205538"/>
            <a:ext cx="1943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Setpoint</a:t>
            </a:r>
          </a:p>
        </p:txBody>
      </p:sp>
      <p:sp>
        <p:nvSpPr>
          <p:cNvPr id="29" name="TextBox 28"/>
          <p:cNvSpPr txBox="1"/>
          <p:nvPr/>
        </p:nvSpPr>
        <p:spPr>
          <a:xfrm>
            <a:off x="1390650" y="6553200"/>
            <a:ext cx="1905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300 rad/s</a:t>
            </a:r>
          </a:p>
        </p:txBody>
      </p:sp>
      <p:sp>
        <p:nvSpPr>
          <p:cNvPr id="30" name="Oval 29"/>
          <p:cNvSpPr/>
          <p:nvPr/>
        </p:nvSpPr>
        <p:spPr>
          <a:xfrm>
            <a:off x="4429125" y="6143625"/>
            <a:ext cx="666750" cy="666750"/>
          </a:xfrm>
          <a:prstGeom prst="ellipse">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29125" y="6143625"/>
            <a:ext cx="666750" cy="666750"/>
          </a:xfrm>
          <a:prstGeom prst="ellipse">
            <a:avLst/>
          </a:prstGeom>
          <a:no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29125" y="6143625"/>
            <a:ext cx="666750" cy="666750"/>
          </a:xfrm>
          <a:prstGeom prst="rect">
            <a:avLst/>
          </a:prstGeom>
          <a:noFill/>
        </p:spPr>
        <p:txBody>
          <a:bodyPr wrap="square" lIns="0" rIns="0" tIns="0" bIns="0" anchor="ctr">
            <a:spAutoFit/>
          </a:bodyPr>
          <a:lstStyle/>
          <a:p>
            <a:pPr algn="ctr"/>
            <a:r>
              <a:rPr sz="2550" b="1" i="0">
                <a:solidFill>
                  <a:srgbClr val="F0E8E8"/>
                </a:solidFill>
                <a:latin typeface="Geist"/>
                <a:ea typeface="Geist"/>
                <a:cs typeface="Geist"/>
              </a:rPr>
              <a:t>−</a:t>
            </a:r>
          </a:p>
        </p:txBody>
      </p:sp>
      <p:sp>
        <p:nvSpPr>
          <p:cNvPr id="33" name="Rectangle 32"/>
          <p:cNvSpPr/>
          <p:nvPr/>
        </p:nvSpPr>
        <p:spPr>
          <a:xfrm>
            <a:off x="3452812" y="6462712"/>
            <a:ext cx="7772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4200525" y="6400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86500" y="6000750"/>
            <a:ext cx="26670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62700" y="6205538"/>
            <a:ext cx="25146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Controller</a:t>
            </a:r>
          </a:p>
        </p:txBody>
      </p:sp>
      <p:sp>
        <p:nvSpPr>
          <p:cNvPr id="37" name="TextBox 36"/>
          <p:cNvSpPr txBox="1"/>
          <p:nvPr/>
        </p:nvSpPr>
        <p:spPr>
          <a:xfrm>
            <a:off x="6381750" y="6553200"/>
            <a:ext cx="24765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uses the error</a:t>
            </a:r>
          </a:p>
        </p:txBody>
      </p:sp>
      <p:sp>
        <p:nvSpPr>
          <p:cNvPr id="38" name="Rectangle 37"/>
          <p:cNvSpPr/>
          <p:nvPr/>
        </p:nvSpPr>
        <p:spPr>
          <a:xfrm>
            <a:off x="5153025" y="6457950"/>
            <a:ext cx="939165"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Isosceles Triangle 38"/>
          <p:cNvSpPr/>
          <p:nvPr/>
        </p:nvSpPr>
        <p:spPr>
          <a:xfrm rot="5400000">
            <a:off x="6057900" y="64008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91125" y="6057900"/>
            <a:ext cx="1047750" cy="285750"/>
          </a:xfrm>
          <a:prstGeom prst="rect">
            <a:avLst/>
          </a:prstGeom>
          <a:noFill/>
        </p:spPr>
        <p:txBody>
          <a:bodyPr wrap="square" lIns="0" rIns="0" tIns="0" bIns="0" anchor="t">
            <a:spAutoFit/>
          </a:bodyPr>
          <a:lstStyle/>
          <a:p>
            <a:pPr algn="ctr"/>
            <a:r>
              <a:rPr sz="1500" b="1" i="0">
                <a:solidFill>
                  <a:srgbClr val="D5000E"/>
                </a:solidFill>
                <a:latin typeface="Geist"/>
                <a:ea typeface="Geist"/>
                <a:cs typeface="Geist"/>
              </a:rPr>
              <a:t>error</a:t>
            </a:r>
          </a:p>
        </p:txBody>
      </p:sp>
      <p:sp>
        <p:nvSpPr>
          <p:cNvPr id="41" name="Rounded Rectangle 40"/>
          <p:cNvSpPr/>
          <p:nvPr/>
        </p:nvSpPr>
        <p:spPr>
          <a:xfrm>
            <a:off x="9906000" y="6000750"/>
            <a:ext cx="22860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982200" y="6205538"/>
            <a:ext cx="21336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43" name="TextBox 42"/>
          <p:cNvSpPr txBox="1"/>
          <p:nvPr/>
        </p:nvSpPr>
        <p:spPr>
          <a:xfrm>
            <a:off x="10001250" y="6553200"/>
            <a:ext cx="20955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pushes</a:t>
            </a:r>
          </a:p>
        </p:txBody>
      </p:sp>
      <p:sp>
        <p:nvSpPr>
          <p:cNvPr id="44" name="Rectangle 43"/>
          <p:cNvSpPr/>
          <p:nvPr/>
        </p:nvSpPr>
        <p:spPr>
          <a:xfrm>
            <a:off x="9015412" y="6462712"/>
            <a:ext cx="691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Isosceles Triangle 44"/>
          <p:cNvSpPr/>
          <p:nvPr/>
        </p:nvSpPr>
        <p:spPr>
          <a:xfrm rot="5400000">
            <a:off x="9677400" y="6400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3144500" y="6000750"/>
            <a:ext cx="2476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3220700" y="6205538"/>
            <a:ext cx="2324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Output</a:t>
            </a:r>
          </a:p>
        </p:txBody>
      </p:sp>
      <p:sp>
        <p:nvSpPr>
          <p:cNvPr id="48" name="TextBox 47"/>
          <p:cNvSpPr txBox="1"/>
          <p:nvPr/>
        </p:nvSpPr>
        <p:spPr>
          <a:xfrm>
            <a:off x="13239750" y="6553200"/>
            <a:ext cx="2286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wheel spins</a:t>
            </a:r>
          </a:p>
        </p:txBody>
      </p:sp>
      <p:sp>
        <p:nvSpPr>
          <p:cNvPr id="49" name="Rectangle 48"/>
          <p:cNvSpPr/>
          <p:nvPr/>
        </p:nvSpPr>
        <p:spPr>
          <a:xfrm>
            <a:off x="12253912" y="6462712"/>
            <a:ext cx="691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Isosceles Triangle 49"/>
          <p:cNvSpPr/>
          <p:nvPr/>
        </p:nvSpPr>
        <p:spPr>
          <a:xfrm rot="5400000">
            <a:off x="12915900" y="6400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906000" y="7810500"/>
            <a:ext cx="2286000" cy="762000"/>
          </a:xfrm>
          <a:prstGeom prst="roundRect">
            <a:avLst>
              <a:gd name="adj" fmla="val 1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982200" y="7810500"/>
            <a:ext cx="2133600" cy="7620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Sensor</a:t>
            </a:r>
          </a:p>
        </p:txBody>
      </p:sp>
      <p:sp>
        <p:nvSpPr>
          <p:cNvPr id="53" name="Rectangle 52"/>
          <p:cNvSpPr/>
          <p:nvPr/>
        </p:nvSpPr>
        <p:spPr>
          <a:xfrm>
            <a:off x="14363700" y="7010400"/>
            <a:ext cx="38100" cy="1200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2405360" y="8172450"/>
            <a:ext cx="19964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Isosceles Triangle 54"/>
          <p:cNvSpPr/>
          <p:nvPr/>
        </p:nvSpPr>
        <p:spPr>
          <a:xfrm rot="16200000">
            <a:off x="12287250" y="81153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743450" y="8172450"/>
            <a:ext cx="510540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4743450" y="7004685"/>
            <a:ext cx="38100" cy="120586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Isosceles Triangle 57"/>
          <p:cNvSpPr/>
          <p:nvPr/>
        </p:nvSpPr>
        <p:spPr>
          <a:xfrm>
            <a:off x="4686300" y="688657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334000" y="7810500"/>
            <a:ext cx="2857500" cy="285750"/>
          </a:xfrm>
          <a:prstGeom prst="rect">
            <a:avLst/>
          </a:prstGeom>
          <a:noFill/>
        </p:spPr>
        <p:txBody>
          <a:bodyPr wrap="square" lIns="0" rIns="0" tIns="0" bIns="0" anchor="t">
            <a:spAutoFit/>
          </a:bodyPr>
          <a:lstStyle/>
          <a:p>
            <a:pPr algn="l"/>
            <a:r>
              <a:rPr sz="1500" b="1" i="0">
                <a:solidFill>
                  <a:srgbClr val="D5000E"/>
                </a:solidFill>
                <a:latin typeface="Geist"/>
                <a:ea typeface="Geist"/>
                <a:cs typeface="Geist"/>
              </a:rPr>
              <a:t>measurement</a:t>
            </a:r>
          </a:p>
        </p:txBody>
      </p:sp>
      <p:sp>
        <p:nvSpPr>
          <p:cNvPr id="60" name="TextBox 5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1" name="TextBox 6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Open or closed? It depends on the job</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66675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THREE WAYS TO RUN A MOTOR</a:t>
            </a:r>
          </a:p>
        </p:txBody>
      </p:sp>
      <p:sp>
        <p:nvSpPr>
          <p:cNvPr id="6" name="Rounded Rectangle 5"/>
          <p:cNvSpPr/>
          <p:nvPr/>
        </p:nvSpPr>
        <p:spPr>
          <a:xfrm>
            <a:off x="914400" y="3333750"/>
            <a:ext cx="68580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81400"/>
            <a:ext cx="4191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Duty cycle</a:t>
            </a:r>
          </a:p>
        </p:txBody>
      </p:sp>
      <p:sp>
        <p:nvSpPr>
          <p:cNvPr id="8" name="TextBox 7"/>
          <p:cNvSpPr txBox="1"/>
          <p:nvPr/>
        </p:nvSpPr>
        <p:spPr>
          <a:xfrm>
            <a:off x="1295400" y="409575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 fraction of the battery: 0.6</a:t>
            </a:r>
          </a:p>
        </p:txBody>
      </p:sp>
      <p:sp>
        <p:nvSpPr>
          <p:cNvPr id="9" name="Rounded Rectangle 8"/>
          <p:cNvSpPr/>
          <p:nvPr/>
        </p:nvSpPr>
        <p:spPr>
          <a:xfrm>
            <a:off x="6057900" y="3838575"/>
            <a:ext cx="1428750" cy="419100"/>
          </a:xfrm>
          <a:prstGeom prst="roundRect">
            <a:avLst>
              <a:gd name="adj" fmla="val 50000"/>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57900" y="3838575"/>
            <a:ext cx="1428750" cy="419100"/>
          </a:xfrm>
          <a:prstGeom prst="rect">
            <a:avLst/>
          </a:prstGeom>
          <a:noFill/>
        </p:spPr>
        <p:txBody>
          <a:bodyPr wrap="square" lIns="0" rIns="0" tIns="0" bIns="0" anchor="ctr">
            <a:spAutoFit/>
          </a:bodyPr>
          <a:lstStyle/>
          <a:p>
            <a:pPr algn="ctr"/>
            <a:r>
              <a:rPr sz="1500" b="1" i="0">
                <a:solidFill>
                  <a:srgbClr val="F0E8E8"/>
                </a:solidFill>
                <a:latin typeface="Geist"/>
                <a:ea typeface="Geist"/>
                <a:cs typeface="Geist"/>
              </a:rPr>
              <a:t>Open</a:t>
            </a:r>
          </a:p>
        </p:txBody>
      </p:sp>
      <p:sp>
        <p:nvSpPr>
          <p:cNvPr id="11" name="Rounded Rectangle 10"/>
          <p:cNvSpPr/>
          <p:nvPr/>
        </p:nvSpPr>
        <p:spPr>
          <a:xfrm>
            <a:off x="914400" y="4953000"/>
            <a:ext cx="68580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5200650"/>
            <a:ext cx="4191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Velocity</a:t>
            </a:r>
          </a:p>
        </p:txBody>
      </p:sp>
      <p:sp>
        <p:nvSpPr>
          <p:cNvPr id="13" name="TextBox 12"/>
          <p:cNvSpPr txBox="1"/>
          <p:nvPr/>
        </p:nvSpPr>
        <p:spPr>
          <a:xfrm>
            <a:off x="1295400" y="571500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 real speed: 300 rad/s</a:t>
            </a:r>
          </a:p>
        </p:txBody>
      </p:sp>
      <p:sp>
        <p:nvSpPr>
          <p:cNvPr id="14" name="Rounded Rectangle 13"/>
          <p:cNvSpPr/>
          <p:nvPr/>
        </p:nvSpPr>
        <p:spPr>
          <a:xfrm>
            <a:off x="6057900" y="5457825"/>
            <a:ext cx="1428750" cy="4191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57900" y="5457825"/>
            <a:ext cx="142875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16" name="Rounded Rectangle 15"/>
          <p:cNvSpPr/>
          <p:nvPr/>
        </p:nvSpPr>
        <p:spPr>
          <a:xfrm>
            <a:off x="914400" y="6572250"/>
            <a:ext cx="68580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819900"/>
            <a:ext cx="4191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Position</a:t>
            </a:r>
          </a:p>
        </p:txBody>
      </p:sp>
      <p:sp>
        <p:nvSpPr>
          <p:cNvPr id="18" name="TextBox 17"/>
          <p:cNvSpPr txBox="1"/>
          <p:nvPr/>
        </p:nvSpPr>
        <p:spPr>
          <a:xfrm>
            <a:off x="1295400" y="733425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 real place: 1.2 meters</a:t>
            </a:r>
          </a:p>
        </p:txBody>
      </p:sp>
      <p:sp>
        <p:nvSpPr>
          <p:cNvPr id="19" name="Rounded Rectangle 18"/>
          <p:cNvSpPr/>
          <p:nvPr/>
        </p:nvSpPr>
        <p:spPr>
          <a:xfrm>
            <a:off x="6057900" y="7077075"/>
            <a:ext cx="1428750" cy="4191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57900" y="7077075"/>
            <a:ext cx="142875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21" name="TextBox 20"/>
          <p:cNvSpPr txBox="1"/>
          <p:nvPr/>
        </p:nvSpPr>
        <p:spPr>
          <a:xfrm>
            <a:off x="8382000" y="2857500"/>
            <a:ext cx="66675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ON THE ROBOT</a:t>
            </a:r>
          </a:p>
        </p:txBody>
      </p:sp>
      <p:sp>
        <p:nvSpPr>
          <p:cNvPr id="22" name="Rounded Rectangle 21"/>
          <p:cNvSpPr/>
          <p:nvPr/>
        </p:nvSpPr>
        <p:spPr>
          <a:xfrm>
            <a:off x="8382000" y="333375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0" y="358140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Intake</a:t>
            </a:r>
          </a:p>
        </p:txBody>
      </p:sp>
      <p:sp>
        <p:nvSpPr>
          <p:cNvPr id="24" name="TextBox 23"/>
          <p:cNvSpPr txBox="1"/>
          <p:nvPr/>
        </p:nvSpPr>
        <p:spPr>
          <a:xfrm>
            <a:off x="8686800" y="407670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Just spin it</a:t>
            </a:r>
          </a:p>
        </p:txBody>
      </p:sp>
      <p:sp>
        <p:nvSpPr>
          <p:cNvPr id="25" name="Rounded Rectangle 24"/>
          <p:cNvSpPr/>
          <p:nvPr/>
        </p:nvSpPr>
        <p:spPr>
          <a:xfrm>
            <a:off x="11239500" y="3619500"/>
            <a:ext cx="1181100" cy="419100"/>
          </a:xfrm>
          <a:prstGeom prst="roundRect">
            <a:avLst>
              <a:gd name="adj" fmla="val 50000"/>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1239500" y="3619500"/>
            <a:ext cx="1181100" cy="419100"/>
          </a:xfrm>
          <a:prstGeom prst="rect">
            <a:avLst/>
          </a:prstGeom>
          <a:noFill/>
        </p:spPr>
        <p:txBody>
          <a:bodyPr wrap="square" lIns="0" rIns="0" tIns="0" bIns="0" anchor="ctr">
            <a:spAutoFit/>
          </a:bodyPr>
          <a:lstStyle/>
          <a:p>
            <a:pPr algn="ctr"/>
            <a:r>
              <a:rPr sz="1500" b="1" i="0">
                <a:solidFill>
                  <a:srgbClr val="F0E8E8"/>
                </a:solidFill>
                <a:latin typeface="Geist"/>
                <a:ea typeface="Geist"/>
                <a:cs typeface="Geist"/>
              </a:rPr>
              <a:t>Open</a:t>
            </a:r>
          </a:p>
        </p:txBody>
      </p:sp>
      <p:sp>
        <p:nvSpPr>
          <p:cNvPr id="27" name="Rounded Rectangle 26"/>
          <p:cNvSpPr/>
          <p:nvPr/>
        </p:nvSpPr>
        <p:spPr>
          <a:xfrm>
            <a:off x="12954000" y="333375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258800" y="358140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Indexer</a:t>
            </a:r>
          </a:p>
        </p:txBody>
      </p:sp>
      <p:sp>
        <p:nvSpPr>
          <p:cNvPr id="29" name="TextBox 28"/>
          <p:cNvSpPr txBox="1"/>
          <p:nvPr/>
        </p:nvSpPr>
        <p:spPr>
          <a:xfrm>
            <a:off x="13258800" y="407670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Feed it through</a:t>
            </a:r>
          </a:p>
        </p:txBody>
      </p:sp>
      <p:sp>
        <p:nvSpPr>
          <p:cNvPr id="30" name="Rounded Rectangle 29"/>
          <p:cNvSpPr/>
          <p:nvPr/>
        </p:nvSpPr>
        <p:spPr>
          <a:xfrm>
            <a:off x="15811500" y="3619500"/>
            <a:ext cx="1181100" cy="419100"/>
          </a:xfrm>
          <a:prstGeom prst="roundRect">
            <a:avLst>
              <a:gd name="adj" fmla="val 50000"/>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5811500" y="3619500"/>
            <a:ext cx="1181100" cy="419100"/>
          </a:xfrm>
          <a:prstGeom prst="rect">
            <a:avLst/>
          </a:prstGeom>
          <a:noFill/>
        </p:spPr>
        <p:txBody>
          <a:bodyPr wrap="square" lIns="0" rIns="0" tIns="0" bIns="0" anchor="ctr">
            <a:spAutoFit/>
          </a:bodyPr>
          <a:lstStyle/>
          <a:p>
            <a:pPr algn="ctr"/>
            <a:r>
              <a:rPr sz="1500" b="1" i="0">
                <a:solidFill>
                  <a:srgbClr val="F0E8E8"/>
                </a:solidFill>
                <a:latin typeface="Geist"/>
                <a:ea typeface="Geist"/>
                <a:cs typeface="Geist"/>
              </a:rPr>
              <a:t>Open</a:t>
            </a:r>
          </a:p>
        </p:txBody>
      </p:sp>
      <p:sp>
        <p:nvSpPr>
          <p:cNvPr id="32" name="Rounded Rectangle 31"/>
          <p:cNvSpPr/>
          <p:nvPr/>
        </p:nvSpPr>
        <p:spPr>
          <a:xfrm>
            <a:off x="8382000" y="495300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686800" y="520065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Flywheel</a:t>
            </a:r>
          </a:p>
        </p:txBody>
      </p:sp>
      <p:sp>
        <p:nvSpPr>
          <p:cNvPr id="34" name="TextBox 33"/>
          <p:cNvSpPr txBox="1"/>
          <p:nvPr/>
        </p:nvSpPr>
        <p:spPr>
          <a:xfrm>
            <a:off x="8686800" y="569595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Hold a speed</a:t>
            </a:r>
          </a:p>
        </p:txBody>
      </p:sp>
      <p:sp>
        <p:nvSpPr>
          <p:cNvPr id="35" name="Rounded Rectangle 34"/>
          <p:cNvSpPr/>
          <p:nvPr/>
        </p:nvSpPr>
        <p:spPr>
          <a:xfrm>
            <a:off x="11239500" y="5238750"/>
            <a:ext cx="1181100" cy="4191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239500" y="5238750"/>
            <a:ext cx="1181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37" name="Rounded Rectangle 36"/>
          <p:cNvSpPr/>
          <p:nvPr/>
        </p:nvSpPr>
        <p:spPr>
          <a:xfrm>
            <a:off x="12954000" y="495300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258800" y="520065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Elevator</a:t>
            </a:r>
          </a:p>
        </p:txBody>
      </p:sp>
      <p:sp>
        <p:nvSpPr>
          <p:cNvPr id="39" name="TextBox 38"/>
          <p:cNvSpPr txBox="1"/>
          <p:nvPr/>
        </p:nvSpPr>
        <p:spPr>
          <a:xfrm>
            <a:off x="13258800" y="569595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Go to a height</a:t>
            </a:r>
          </a:p>
        </p:txBody>
      </p:sp>
      <p:sp>
        <p:nvSpPr>
          <p:cNvPr id="40" name="Rounded Rectangle 39"/>
          <p:cNvSpPr/>
          <p:nvPr/>
        </p:nvSpPr>
        <p:spPr>
          <a:xfrm>
            <a:off x="15811500" y="5238750"/>
            <a:ext cx="1181100" cy="4191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5811500" y="5238750"/>
            <a:ext cx="1181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42" name="Rounded Rectangle 41"/>
          <p:cNvSpPr/>
          <p:nvPr/>
        </p:nvSpPr>
        <p:spPr>
          <a:xfrm>
            <a:off x="8382000" y="657225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686800" y="681990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Arm</a:t>
            </a:r>
          </a:p>
        </p:txBody>
      </p:sp>
      <p:sp>
        <p:nvSpPr>
          <p:cNvPr id="44" name="TextBox 43"/>
          <p:cNvSpPr txBox="1"/>
          <p:nvPr/>
        </p:nvSpPr>
        <p:spPr>
          <a:xfrm>
            <a:off x="8686800" y="731520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Go to an angle</a:t>
            </a:r>
          </a:p>
        </p:txBody>
      </p:sp>
      <p:sp>
        <p:nvSpPr>
          <p:cNvPr id="45" name="Rounded Rectangle 44"/>
          <p:cNvSpPr/>
          <p:nvPr/>
        </p:nvSpPr>
        <p:spPr>
          <a:xfrm>
            <a:off x="11239500" y="6858000"/>
            <a:ext cx="1181100" cy="4191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1239500" y="6858000"/>
            <a:ext cx="1181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47" name="Rounded Rectangle 46"/>
          <p:cNvSpPr/>
          <p:nvPr/>
        </p:nvSpPr>
        <p:spPr>
          <a:xfrm>
            <a:off x="12954000" y="657225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3258800" y="681990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Drivetrain</a:t>
            </a:r>
          </a:p>
        </p:txBody>
      </p:sp>
      <p:sp>
        <p:nvSpPr>
          <p:cNvPr id="49" name="TextBox 48"/>
          <p:cNvSpPr txBox="1"/>
          <p:nvPr/>
        </p:nvSpPr>
        <p:spPr>
          <a:xfrm>
            <a:off x="13258800" y="731520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Driver: open. Auto path: closed</a:t>
            </a:r>
          </a:p>
        </p:txBody>
      </p:sp>
      <p:sp>
        <p:nvSpPr>
          <p:cNvPr id="50" name="Rounded Rectangle 49"/>
          <p:cNvSpPr/>
          <p:nvPr/>
        </p:nvSpPr>
        <p:spPr>
          <a:xfrm>
            <a:off x="15811500" y="6858000"/>
            <a:ext cx="1181100" cy="4191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5811500" y="6858000"/>
            <a:ext cx="1181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Both</a:t>
            </a:r>
          </a:p>
        </p:txBody>
      </p:sp>
      <p:sp>
        <p:nvSpPr>
          <p:cNvPr id="52" name="Rounded Rectangle 5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333500" y="81915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Rule of thumb:  </a:t>
            </a:r>
            <a:r>
              <a:rPr sz="2100" b="0" i="0">
                <a:solidFill>
                  <a:srgbClr val="F0E8E8"/>
                </a:solidFill>
                <a:latin typeface="Geist"/>
                <a:ea typeface="Geist"/>
                <a:cs typeface="Geist"/>
              </a:rPr>
              <a:t>if it has to hit a real number, close the loop.</a:t>
            </a:r>
          </a:p>
        </p:txBody>
      </p:sp>
      <p:sp>
        <p:nvSpPr>
          <p:cNvPr id="54" name="TextBox 5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5" name="TextBox 5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Bang-bang</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simplest closed loop: on or off</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Too slow? FULL POWER! Fast enough? Nap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Full power or nothing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096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724150" y="3429000"/>
            <a:ext cx="6477000" cy="1238250"/>
          </a:xfrm>
          <a:prstGeom prst="roundRect">
            <a:avLst>
              <a:gd name="adj" fmla="val 12307"/>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724150" y="3429000"/>
            <a:ext cx="6477000" cy="123825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measurement &lt; setpoint ?</a:t>
            </a:r>
          </a:p>
        </p:txBody>
      </p:sp>
      <p:cxnSp>
        <p:nvCxnSpPr>
          <p:cNvPr id="8" name="Connector 7"/>
          <p:cNvCxnSpPr/>
          <p:nvPr/>
        </p:nvCxnSpPr>
        <p:spPr>
          <a:xfrm flipH="1">
            <a:off x="3676650" y="4743450"/>
            <a:ext cx="1143000" cy="1352550"/>
          </a:xfrm>
          <a:prstGeom prst="line">
            <a:avLst/>
          </a:prstGeom>
          <a:ln w="3810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295650" y="5257800"/>
            <a:ext cx="762000" cy="342900"/>
          </a:xfrm>
          <a:prstGeom prst="rect">
            <a:avLst/>
          </a:prstGeom>
          <a:noFill/>
        </p:spPr>
        <p:txBody>
          <a:bodyPr wrap="square" lIns="0" rIns="0" tIns="0" bIns="0" anchor="t">
            <a:spAutoFit/>
          </a:bodyPr>
          <a:lstStyle/>
          <a:p>
            <a:pPr algn="ctr"/>
            <a:r>
              <a:rPr sz="1800" b="1" i="0">
                <a:solidFill>
                  <a:srgbClr val="D5000E"/>
                </a:solidFill>
                <a:latin typeface="Geist"/>
                <a:ea typeface="Geist"/>
                <a:cs typeface="Geist"/>
              </a:rPr>
              <a:t>yes</a:t>
            </a:r>
          </a:p>
        </p:txBody>
      </p:sp>
      <p:sp>
        <p:nvSpPr>
          <p:cNvPr id="10" name="Rounded Rectangle 9"/>
          <p:cNvSpPr/>
          <p:nvPr/>
        </p:nvSpPr>
        <p:spPr>
          <a:xfrm>
            <a:off x="1771650" y="6191250"/>
            <a:ext cx="3810000" cy="1809750"/>
          </a:xfrm>
          <a:prstGeom prst="roundRect">
            <a:avLst>
              <a:gd name="adj" fmla="val 8421"/>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771650" y="6400800"/>
            <a:ext cx="3810000" cy="857250"/>
          </a:xfrm>
          <a:prstGeom prst="rect">
            <a:avLst/>
          </a:prstGeom>
          <a:noFill/>
        </p:spPr>
        <p:txBody>
          <a:bodyPr wrap="square" lIns="0" rIns="0" tIns="0" bIns="0" anchor="t">
            <a:spAutoFit/>
          </a:bodyPr>
          <a:lstStyle/>
          <a:p>
            <a:pPr algn="ctr"/>
            <a:r>
              <a:rPr sz="4800" b="1" i="0">
                <a:solidFill>
                  <a:srgbClr val="E8C27A"/>
                </a:solidFill>
                <a:latin typeface="Geist Mono"/>
                <a:ea typeface="Geist Mono"/>
                <a:cs typeface="Geist Mono"/>
              </a:rPr>
              <a:t>1.0</a:t>
            </a:r>
          </a:p>
        </p:txBody>
      </p:sp>
      <p:sp>
        <p:nvSpPr>
          <p:cNvPr id="12" name="TextBox 11"/>
          <p:cNvSpPr txBox="1"/>
          <p:nvPr/>
        </p:nvSpPr>
        <p:spPr>
          <a:xfrm>
            <a:off x="1771650" y="7353300"/>
            <a:ext cx="38100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full power</a:t>
            </a:r>
          </a:p>
        </p:txBody>
      </p:sp>
      <p:cxnSp>
        <p:nvCxnSpPr>
          <p:cNvPr id="13" name="Connector 12"/>
          <p:cNvCxnSpPr/>
          <p:nvPr/>
        </p:nvCxnSpPr>
        <p:spPr>
          <a:xfrm>
            <a:off x="7105650" y="4743450"/>
            <a:ext cx="1143000" cy="135255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67650" y="5257800"/>
            <a:ext cx="762000" cy="342900"/>
          </a:xfrm>
          <a:prstGeom prst="rect">
            <a:avLst/>
          </a:prstGeom>
          <a:noFill/>
        </p:spPr>
        <p:txBody>
          <a:bodyPr wrap="square" lIns="0" rIns="0" tIns="0" bIns="0" anchor="t">
            <a:spAutoFit/>
          </a:bodyPr>
          <a:lstStyle/>
          <a:p>
            <a:pPr algn="ctr"/>
            <a:r>
              <a:rPr sz="1800" b="1" i="0">
                <a:solidFill>
                  <a:srgbClr val="9A7878"/>
                </a:solidFill>
                <a:latin typeface="Geist"/>
                <a:ea typeface="Geist"/>
                <a:cs typeface="Geist"/>
              </a:rPr>
              <a:t>no</a:t>
            </a:r>
          </a:p>
        </p:txBody>
      </p:sp>
      <p:sp>
        <p:nvSpPr>
          <p:cNvPr id="15" name="Rounded Rectangle 14"/>
          <p:cNvSpPr/>
          <p:nvPr/>
        </p:nvSpPr>
        <p:spPr>
          <a:xfrm>
            <a:off x="6343650" y="6191250"/>
            <a:ext cx="3810000" cy="1809750"/>
          </a:xfrm>
          <a:prstGeom prst="roundRect">
            <a:avLst>
              <a:gd name="adj" fmla="val 8421"/>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43650" y="6400800"/>
            <a:ext cx="3810000" cy="857250"/>
          </a:xfrm>
          <a:prstGeom prst="rect">
            <a:avLst/>
          </a:prstGeom>
          <a:noFill/>
        </p:spPr>
        <p:txBody>
          <a:bodyPr wrap="square" lIns="0" rIns="0" tIns="0" bIns="0" anchor="t">
            <a:spAutoFit/>
          </a:bodyPr>
          <a:lstStyle/>
          <a:p>
            <a:pPr algn="ctr"/>
            <a:r>
              <a:rPr sz="4800" b="1" i="0">
                <a:solidFill>
                  <a:srgbClr val="E8C27A"/>
                </a:solidFill>
                <a:latin typeface="Geist Mono"/>
                <a:ea typeface="Geist Mono"/>
                <a:cs typeface="Geist Mono"/>
              </a:rPr>
              <a:t>0.0</a:t>
            </a:r>
          </a:p>
        </p:txBody>
      </p:sp>
      <p:sp>
        <p:nvSpPr>
          <p:cNvPr id="17" name="TextBox 16"/>
          <p:cNvSpPr txBox="1"/>
          <p:nvPr/>
        </p:nvSpPr>
        <p:spPr>
          <a:xfrm>
            <a:off x="6343650" y="7353300"/>
            <a:ext cx="38100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off</a:t>
            </a:r>
          </a:p>
        </p:txBody>
      </p:sp>
      <p:sp>
        <p:nvSpPr>
          <p:cNvPr id="18" name="Rounded Rectangle 17"/>
          <p:cNvSpPr/>
          <p:nvPr/>
        </p:nvSpPr>
        <p:spPr>
          <a:xfrm>
            <a:off x="11430000" y="2857500"/>
            <a:ext cx="59436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thermometer-half.png"/>
          <p:cNvPicPr>
            <a:picLocks noChangeAspect="1"/>
          </p:cNvPicPr>
          <p:nvPr/>
        </p:nvPicPr>
        <p:blipFill>
          <a:blip r:embed="rId3"/>
          <a:stretch>
            <a:fillRect/>
          </a:stretch>
        </p:blipFill>
        <p:spPr>
          <a:xfrm>
            <a:off x="12025312" y="3238500"/>
            <a:ext cx="333375" cy="762000"/>
          </a:xfrm>
          <a:prstGeom prst="rect">
            <a:avLst/>
          </a:prstGeom>
        </p:spPr>
      </p:pic>
      <p:sp>
        <p:nvSpPr>
          <p:cNvPr id="20" name="TextBox 19"/>
          <p:cNvSpPr txBox="1"/>
          <p:nvPr/>
        </p:nvSpPr>
        <p:spPr>
          <a:xfrm>
            <a:off x="11811000" y="4286250"/>
            <a:ext cx="51435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Like a thermostat</a:t>
            </a:r>
          </a:p>
        </p:txBody>
      </p:sp>
      <p:sp>
        <p:nvSpPr>
          <p:cNvPr id="21" name="TextBox 20"/>
          <p:cNvSpPr txBox="1"/>
          <p:nvPr/>
        </p:nvSpPr>
        <p:spPr>
          <a:xfrm>
            <a:off x="11811000" y="4914900"/>
            <a:ext cx="5143500" cy="190500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a:ea typeface="Geist"/>
                <a:cs typeface="Geist"/>
              </a:rPr>
              <a:t>Heat on below the setpoint, off above it. Nothing in between.</a:t>
            </a:r>
          </a:p>
        </p:txBody>
      </p:sp>
      <p:sp>
        <p:nvSpPr>
          <p:cNvPr id="22" name="TextBox 21"/>
          <p:cNvSpPr txBox="1"/>
          <p:nvPr/>
        </p:nvSpPr>
        <p:spPr>
          <a:xfrm>
            <a:off x="11811000" y="6858000"/>
            <a:ext cx="5143500" cy="1524000"/>
          </a:xfrm>
          <a:prstGeom prst="rect">
            <a:avLst/>
          </a:prstGeom>
          <a:noFill/>
        </p:spPr>
        <p:txBody>
          <a:bodyPr wrap="square" lIns="0" rIns="0" tIns="0" bIns="0" anchor="t">
            <a:spAutoFit/>
          </a:bodyPr>
          <a:lstStyle/>
          <a:p>
            <a:pPr algn="l">
              <a:lnSpc>
                <a:spcPct val="135000"/>
              </a:lnSpc>
            </a:pPr>
            <a:r>
              <a:rPr sz="1950" b="1" i="0">
                <a:solidFill>
                  <a:srgbClr val="F0E8E8"/>
                </a:solidFill>
                <a:latin typeface="Geist"/>
                <a:ea typeface="Geist"/>
                <a:cs typeface="Geist"/>
              </a:rPr>
              <a:t>Closed loop: </a:t>
            </a:r>
            <a:r>
              <a:rPr sz="1950" b="0" i="0">
                <a:solidFill>
                  <a:srgbClr val="F0E8E8"/>
                </a:solidFill>
                <a:latin typeface="Geist"/>
                <a:ea typeface="Geist"/>
                <a:cs typeface="Geist"/>
              </a:rPr>
              <a:t>it checks the sensor every 20 ms, so it always knows which side it's on.</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bang-bang looks like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646747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632460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563471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549184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480196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465908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396920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382632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646271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FLYWHEEL SPEED (RAD/S)</a:t>
            </a:r>
          </a:p>
        </p:txBody>
      </p:sp>
      <p:sp>
        <p:nvSpPr>
          <p:cNvPr id="16" name="TextBox 15"/>
          <p:cNvSpPr txBox="1"/>
          <p:nvPr/>
        </p:nvSpPr>
        <p:spPr>
          <a:xfrm>
            <a:off x="7010400" y="691515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
            </a:r>
          </a:p>
        </p:txBody>
      </p:sp>
      <p:sp>
        <p:nvSpPr>
          <p:cNvPr id="17" name="Rectangle 16"/>
          <p:cNvSpPr/>
          <p:nvPr/>
        </p:nvSpPr>
        <p:spPr>
          <a:xfrm>
            <a:off x="2152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438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724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009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3295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3581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867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152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38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724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010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5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581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867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153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438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724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010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296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581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867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8153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439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724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9010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9296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9582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867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153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0439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0725150" y="396444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2228850" y="3654879"/>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setpoint</a:t>
            </a:r>
          </a:p>
        </p:txBody>
      </p:sp>
      <p:cxnSp>
        <p:nvCxnSpPr>
          <p:cNvPr id="49" name="Connector 48"/>
          <p:cNvCxnSpPr/>
          <p:nvPr/>
        </p:nvCxnSpPr>
        <p:spPr>
          <a:xfrm flipV="1">
            <a:off x="2152650" y="5673528"/>
            <a:ext cx="346710" cy="80347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499360" y="4943839"/>
            <a:ext cx="374447" cy="72968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2873807" y="4614176"/>
            <a:ext cx="194157" cy="3296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067964" y="4313913"/>
            <a:ext cx="194158" cy="3002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262122" y="4021853"/>
            <a:ext cx="208026" cy="2920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470148" y="3757609"/>
            <a:ext cx="208026" cy="26424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678174" y="3757609"/>
            <a:ext cx="346710" cy="41779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024884" y="3725540"/>
            <a:ext cx="346710" cy="44986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371594" y="3725540"/>
            <a:ext cx="346710" cy="42272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718304" y="3785862"/>
            <a:ext cx="277368" cy="36240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995672" y="3785862"/>
            <a:ext cx="346710" cy="4134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342382" y="3745779"/>
            <a:ext cx="346710" cy="4535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689092" y="3745779"/>
            <a:ext cx="346710" cy="4196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6035802" y="3800851"/>
            <a:ext cx="277368" cy="36454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313170" y="3800851"/>
            <a:ext cx="346710" cy="41115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659880" y="3756516"/>
            <a:ext cx="346710" cy="45548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006590" y="3756516"/>
            <a:ext cx="346710" cy="4179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353300" y="3741344"/>
            <a:ext cx="332842" cy="43313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686142" y="3741344"/>
            <a:ext cx="13868" cy="60798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700010" y="4349326"/>
            <a:ext cx="208026" cy="2026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908036" y="4139128"/>
            <a:ext cx="277368" cy="41283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185404" y="3777867"/>
            <a:ext cx="277368" cy="3612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462772" y="3777867"/>
            <a:ext cx="346710" cy="41468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8809482" y="3740052"/>
            <a:ext cx="346710" cy="45249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156192" y="3740052"/>
            <a:ext cx="346710" cy="42049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502902" y="3796610"/>
            <a:ext cx="277368" cy="36393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780270" y="3796610"/>
            <a:ext cx="346710" cy="41180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0126980" y="3753478"/>
            <a:ext cx="346710" cy="45493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473690" y="3753478"/>
            <a:ext cx="346710" cy="41843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80" name="Rectangle 79"/>
          <p:cNvSpPr/>
          <p:nvPr/>
        </p:nvSpPr>
        <p:spPr>
          <a:xfrm>
            <a:off x="2143125" y="703897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009650" y="689610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a:t>
            </a:r>
          </a:p>
        </p:txBody>
      </p:sp>
      <p:sp>
        <p:nvSpPr>
          <p:cNvPr id="82" name="Rectangle 81"/>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84" name="TextBox 83"/>
          <p:cNvSpPr txBox="1"/>
          <p:nvPr/>
        </p:nvSpPr>
        <p:spPr>
          <a:xfrm>
            <a:off x="34099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85" name="TextBox 84"/>
          <p:cNvSpPr txBox="1"/>
          <p:nvPr/>
        </p:nvSpPr>
        <p:spPr>
          <a:xfrm>
            <a:off x="51435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86" name="TextBox 85"/>
          <p:cNvSpPr txBox="1"/>
          <p:nvPr/>
        </p:nvSpPr>
        <p:spPr>
          <a:xfrm>
            <a:off x="68770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87" name="TextBox 86"/>
          <p:cNvSpPr txBox="1"/>
          <p:nvPr/>
        </p:nvSpPr>
        <p:spPr>
          <a:xfrm>
            <a:off x="86106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88" name="TextBox 87"/>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2.5</a:t>
            </a:r>
          </a:p>
        </p:txBody>
      </p:sp>
      <p:sp>
        <p:nvSpPr>
          <p:cNvPr id="89" name="TextBox 88"/>
          <p:cNvSpPr txBox="1"/>
          <p:nvPr/>
        </p:nvSpPr>
        <p:spPr>
          <a:xfrm>
            <a:off x="1200150" y="710565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
            </a:r>
          </a:p>
        </p:txBody>
      </p:sp>
      <p:sp>
        <p:nvSpPr>
          <p:cNvPr id="90" name="TextBox 89"/>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91" name="TextBox 90"/>
          <p:cNvSpPr txBox="1"/>
          <p:nvPr/>
        </p:nvSpPr>
        <p:spPr>
          <a:xfrm>
            <a:off x="1200150" y="6610350"/>
            <a:ext cx="1143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DUTY</a:t>
            </a:r>
          </a:p>
        </p:txBody>
      </p:sp>
      <p:sp>
        <p:nvSpPr>
          <p:cNvPr id="92" name="Rectangle 91"/>
          <p:cNvSpPr/>
          <p:nvPr/>
        </p:nvSpPr>
        <p:spPr>
          <a:xfrm>
            <a:off x="2138362" y="7034212"/>
            <a:ext cx="1550632"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3660419"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3663886"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4007129"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4010597" y="703421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4353839"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4357306"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4700549"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4704016" y="7034212"/>
            <a:ext cx="302476"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977917"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4981384"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5324627"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5328094" y="703421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5671337"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5674804"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018047"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021515" y="7034212"/>
            <a:ext cx="302476"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29541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298882"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64212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645592" y="703421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98883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992302"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733554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339012" y="703421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68225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7685722" y="7929562"/>
            <a:ext cx="233134"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7890281"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7893748" y="7034212"/>
            <a:ext cx="579844"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8445017"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8448484"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8791727"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8795194" y="703421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9138437"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9141904"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9485147"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9488614" y="7034212"/>
            <a:ext cx="302476"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976251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ectangle 129"/>
          <p:cNvSpPr/>
          <p:nvPr/>
        </p:nvSpPr>
        <p:spPr>
          <a:xfrm>
            <a:off x="9765983"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1010922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10112693" y="703421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1045593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10459402" y="7929562"/>
            <a:ext cx="371818" cy="285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10802645" y="7034212"/>
            <a:ext cx="28575" cy="923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Oval 135"/>
          <p:cNvSpPr/>
          <p:nvPr/>
        </p:nvSpPr>
        <p:spPr>
          <a:xfrm>
            <a:off x="2123694" y="495408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123694" y="495408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8" name="Oval 137"/>
          <p:cNvSpPr/>
          <p:nvPr/>
        </p:nvSpPr>
        <p:spPr>
          <a:xfrm>
            <a:off x="3544824" y="324325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544824" y="324325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0" name="Oval 139"/>
          <p:cNvSpPr/>
          <p:nvPr/>
        </p:nvSpPr>
        <p:spPr>
          <a:xfrm>
            <a:off x="5949315" y="312147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5949315" y="31214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2" name="Oval 141"/>
          <p:cNvSpPr/>
          <p:nvPr/>
        </p:nvSpPr>
        <p:spPr>
          <a:xfrm>
            <a:off x="5082540" y="73056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082540" y="73056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44" name="Oval 143"/>
          <p:cNvSpPr/>
          <p:nvPr/>
        </p:nvSpPr>
        <p:spPr>
          <a:xfrm>
            <a:off x="7528560" y="470426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8560" y="470426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46" name="Rectangle 145"/>
          <p:cNvSpPr/>
          <p:nvPr/>
        </p:nvSpPr>
        <p:spPr>
          <a:xfrm>
            <a:off x="7704772" y="4546010"/>
            <a:ext cx="28575" cy="1665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Isosceles Triangle 146"/>
          <p:cNvSpPr/>
          <p:nvPr/>
        </p:nvSpPr>
        <p:spPr>
          <a:xfrm rot="10800000">
            <a:off x="7642860" y="4683034"/>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0" name="TextBox 149"/>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Full power</a:t>
            </a:r>
          </a:p>
        </p:txBody>
      </p:sp>
      <p:sp>
        <p:nvSpPr>
          <p:cNvPr id="151" name="TextBox 150"/>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Reaches speed fast</a:t>
            </a:r>
          </a:p>
        </p:txBody>
      </p:sp>
      <p:sp>
        <p:nvSpPr>
          <p:cNvPr id="152" name="Oval 151"/>
          <p:cNvSpPr/>
          <p:nvPr/>
        </p:nvSpPr>
        <p:spPr>
          <a:xfrm>
            <a:off x="11906250" y="40195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1906250" y="40195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4" name="TextBox 153"/>
          <p:cNvSpPr txBox="1"/>
          <p:nvPr/>
        </p:nvSpPr>
        <p:spPr>
          <a:xfrm>
            <a:off x="12515850" y="39814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Overshoots</a:t>
            </a:r>
          </a:p>
        </p:txBody>
      </p:sp>
      <p:sp>
        <p:nvSpPr>
          <p:cNvPr id="155" name="TextBox 154"/>
          <p:cNvSpPr txBox="1"/>
          <p:nvPr/>
        </p:nvSpPr>
        <p:spPr>
          <a:xfrm>
            <a:off x="12515850" y="44005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power cuts out a little late</a:t>
            </a:r>
          </a:p>
        </p:txBody>
      </p:sp>
      <p:sp>
        <p:nvSpPr>
          <p:cNvPr id="156" name="Oval 155"/>
          <p:cNvSpPr/>
          <p:nvPr/>
        </p:nvSpPr>
        <p:spPr>
          <a:xfrm>
            <a:off x="11906250" y="51816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1906250" y="5181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8" name="TextBox 157"/>
          <p:cNvSpPr txBox="1"/>
          <p:nvPr/>
        </p:nvSpPr>
        <p:spPr>
          <a:xfrm>
            <a:off x="12515850" y="51435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Wobbles</a:t>
            </a:r>
          </a:p>
        </p:txBody>
      </p:sp>
      <p:sp>
        <p:nvSpPr>
          <p:cNvPr id="159" name="TextBox 158"/>
          <p:cNvSpPr txBox="1"/>
          <p:nvPr/>
        </p:nvSpPr>
        <p:spPr>
          <a:xfrm>
            <a:off x="12515850" y="55626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Never settles on the target</a:t>
            </a:r>
          </a:p>
        </p:txBody>
      </p:sp>
      <p:sp>
        <p:nvSpPr>
          <p:cNvPr id="160" name="Oval 159"/>
          <p:cNvSpPr/>
          <p:nvPr/>
        </p:nvSpPr>
        <p:spPr>
          <a:xfrm>
            <a:off x="11906250" y="63436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1906250" y="63436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2" name="TextBox 161"/>
          <p:cNvSpPr txBox="1"/>
          <p:nvPr/>
        </p:nvSpPr>
        <p:spPr>
          <a:xfrm>
            <a:off x="12515850" y="63055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Slams</a:t>
            </a:r>
          </a:p>
        </p:txBody>
      </p:sp>
      <p:sp>
        <p:nvSpPr>
          <p:cNvPr id="163" name="TextBox 162"/>
          <p:cNvSpPr txBox="1"/>
          <p:nvPr/>
        </p:nvSpPr>
        <p:spPr>
          <a:xfrm>
            <a:off x="12515850" y="67246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Duty jumps between 0 and 1</a:t>
            </a:r>
          </a:p>
        </p:txBody>
      </p:sp>
      <p:sp>
        <p:nvSpPr>
          <p:cNvPr id="164" name="Oval 163"/>
          <p:cNvSpPr/>
          <p:nvPr/>
        </p:nvSpPr>
        <p:spPr>
          <a:xfrm>
            <a:off x="11906250" y="75057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1906250" y="7505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66" name="TextBox 165"/>
          <p:cNvSpPr txBox="1"/>
          <p:nvPr/>
        </p:nvSpPr>
        <p:spPr>
          <a:xfrm>
            <a:off x="12515850" y="74676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Launch</a:t>
            </a:r>
          </a:p>
        </p:txBody>
      </p:sp>
      <p:sp>
        <p:nvSpPr>
          <p:cNvPr id="167" name="TextBox 166"/>
          <p:cNvSpPr txBox="1"/>
          <p:nvPr/>
        </p:nvSpPr>
        <p:spPr>
          <a:xfrm>
            <a:off x="12515850" y="78867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Full power again right away</a:t>
            </a:r>
          </a:p>
        </p:txBody>
      </p:sp>
      <p:sp>
        <p:nvSpPr>
          <p:cNvPr id="168" name="TextBox 16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9" name="TextBox 16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bangBang()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238500"/>
            <a:ext cx="10572750" cy="3322320"/>
          </a:xfrm>
          <a:prstGeom prst="roundRect">
            <a:avLst>
              <a:gd name="adj" fmla="val 458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85260"/>
            <a:ext cx="10534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8526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0393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bangBang() {</a:t>
            </a:r>
          </a:p>
        </p:txBody>
      </p:sp>
      <p:sp>
        <p:nvSpPr>
          <p:cNvPr id="10" name="TextBox 9"/>
          <p:cNvSpPr txBox="1"/>
          <p:nvPr/>
        </p:nvSpPr>
        <p:spPr>
          <a:xfrm>
            <a:off x="1295400" y="398526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(flywheel_.getCurrentVelocity() &lt; CONSTANTS.SHOOT_VELOCITY) {</a:t>
            </a:r>
          </a:p>
        </p:txBody>
      </p:sp>
      <p:sp>
        <p:nvSpPr>
          <p:cNvPr id="11" name="TextBox 10"/>
          <p:cNvSpPr txBox="1"/>
          <p:nvPr/>
        </p:nvSpPr>
        <p:spPr>
          <a:xfrm>
            <a:off x="1295400" y="435102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flywheel_.setTargetDutyCycle(</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a:t>
            </a:r>
          </a:p>
        </p:txBody>
      </p:sp>
      <p:sp>
        <p:nvSpPr>
          <p:cNvPr id="12" name="TextBox 11"/>
          <p:cNvSpPr txBox="1"/>
          <p:nvPr/>
        </p:nvSpPr>
        <p:spPr>
          <a:xfrm>
            <a:off x="1295400" y="471678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a:t>
            </a:r>
            <a:r>
              <a:rPr sz="1800" b="0" i="0">
                <a:solidFill>
                  <a:srgbClr val="E0785F"/>
                </a:solidFill>
                <a:latin typeface="Geist Mono"/>
                <a:ea typeface="Geist Mono"/>
                <a:cs typeface="Geist Mono"/>
              </a:rPr>
              <a:t>else</a:t>
            </a:r>
            <a:r>
              <a:rPr sz="1800" b="0" i="0">
                <a:solidFill>
                  <a:srgbClr val="F0E8E8"/>
                </a:solidFill>
                <a:latin typeface="Geist Mono"/>
                <a:ea typeface="Geist Mono"/>
                <a:cs typeface="Geist Mono"/>
              </a:rPr>
              <a:t> {</a:t>
            </a:r>
          </a:p>
        </p:txBody>
      </p:sp>
      <p:sp>
        <p:nvSpPr>
          <p:cNvPr id="13" name="TextBox 12"/>
          <p:cNvSpPr txBox="1"/>
          <p:nvPr/>
        </p:nvSpPr>
        <p:spPr>
          <a:xfrm>
            <a:off x="1295400" y="508254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flywheel_.setTargetDutyCycle(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4" name="TextBox 13"/>
          <p:cNvSpPr txBox="1"/>
          <p:nvPr/>
        </p:nvSpPr>
        <p:spPr>
          <a:xfrm>
            <a:off x="1295400" y="544830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5" name="TextBox 14"/>
          <p:cNvSpPr txBox="1"/>
          <p:nvPr/>
        </p:nvSpPr>
        <p:spPr>
          <a:xfrm>
            <a:off x="1295400" y="581406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6" name="Oval 15"/>
          <p:cNvSpPr/>
          <p:nvPr/>
        </p:nvSpPr>
        <p:spPr>
          <a:xfrm>
            <a:off x="10877550" y="397764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77550" y="39776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10877550" y="43434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77550" y="4343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10877550" y="507492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77550" y="50749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Oval 21"/>
          <p:cNvSpPr/>
          <p:nvPr/>
        </p:nvSpPr>
        <p:spPr>
          <a:xfrm>
            <a:off x="1190625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TextBox 23"/>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Compare</a:t>
            </a:r>
          </a:p>
        </p:txBody>
      </p:sp>
      <p:sp>
        <p:nvSpPr>
          <p:cNvPr id="25" name="TextBox 24"/>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Measured speed vs the target</a:t>
            </a:r>
          </a:p>
        </p:txBody>
      </p:sp>
      <p:sp>
        <p:nvSpPr>
          <p:cNvPr id="26" name="Oval 25"/>
          <p:cNvSpPr/>
          <p:nvPr/>
        </p:nvSpPr>
        <p:spPr>
          <a:xfrm>
            <a:off x="1190625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06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TextBox 27"/>
          <p:cNvSpPr txBox="1"/>
          <p:nvPr/>
        </p:nvSpPr>
        <p:spPr>
          <a:xfrm>
            <a:off x="12515850" y="4629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Too slow</a:t>
            </a:r>
          </a:p>
        </p:txBody>
      </p:sp>
      <p:sp>
        <p:nvSpPr>
          <p:cNvPr id="29" name="TextBox 28"/>
          <p:cNvSpPr txBox="1"/>
          <p:nvPr/>
        </p:nvSpPr>
        <p:spPr>
          <a:xfrm>
            <a:off x="12515850" y="5048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Full power: 1.0</a:t>
            </a:r>
          </a:p>
        </p:txBody>
      </p:sp>
      <p:sp>
        <p:nvSpPr>
          <p:cNvPr id="30" name="Oval 29"/>
          <p:cNvSpPr/>
          <p:nvPr/>
        </p:nvSpPr>
        <p:spPr>
          <a:xfrm>
            <a:off x="1190625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906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2" name="TextBox 31"/>
          <p:cNvSpPr txBox="1"/>
          <p:nvPr/>
        </p:nvSpPr>
        <p:spPr>
          <a:xfrm>
            <a:off x="12515850" y="6248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Fast enough</a:t>
            </a:r>
          </a:p>
        </p:txBody>
      </p:sp>
      <p:sp>
        <p:nvSpPr>
          <p:cNvPr id="33" name="TextBox 32"/>
          <p:cNvSpPr txBox="1"/>
          <p:nvPr/>
        </p:nvSpPr>
        <p:spPr>
          <a:xfrm>
            <a:off x="12515850" y="6667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 power: 0.0</a:t>
            </a:r>
          </a:p>
        </p:txBody>
      </p:sp>
      <p:pic>
        <p:nvPicPr>
          <p:cNvPr id="34" name="Picture 33" descr="code-slash.png"/>
          <p:cNvPicPr>
            <a:picLocks noChangeAspect="1"/>
          </p:cNvPicPr>
          <p:nvPr/>
        </p:nvPicPr>
        <p:blipFill>
          <a:blip r:embed="rId3"/>
          <a:stretch>
            <a:fillRect/>
          </a:stretch>
        </p:blipFill>
        <p:spPr>
          <a:xfrm>
            <a:off x="914400" y="6896100"/>
            <a:ext cx="224518" cy="209550"/>
          </a:xfrm>
          <a:prstGeom prst="rect">
            <a:avLst/>
          </a:prstGeom>
        </p:spPr>
      </p:pic>
      <p:sp>
        <p:nvSpPr>
          <p:cNvPr id="35" name="TextBox 34"/>
          <p:cNvSpPr txBox="1"/>
          <p:nvPr/>
        </p:nvSpPr>
        <p:spPr>
          <a:xfrm>
            <a:off x="1295400" y="6858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Operators</a:t>
            </a:r>
          </a:p>
        </p:txBody>
      </p:sp>
      <p:sp>
        <p:nvSpPr>
          <p:cNvPr id="36" name="Rounded Rectangle 35"/>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95400" y="7524750"/>
            <a:ext cx="15811500" cy="10477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Then in </a:t>
            </a:r>
            <a:r>
              <a:rPr sz="1950" b="0" i="0">
                <a:solidFill>
                  <a:srgbClr val="F0E8E8"/>
                </a:solidFill>
                <a:latin typeface="Geist Mono"/>
                <a:ea typeface="Geist Mono"/>
                <a:cs typeface="Geist Mono"/>
              </a:rPr>
              <a:t>ShooterConstants.java</a:t>
            </a:r>
            <a:r>
              <a:rPr sz="1950" b="0" i="0">
                <a:solidFill>
                  <a:srgbClr val="F0E8E8"/>
                </a:solidFill>
                <a:latin typeface="Geist"/>
                <a:ea typeface="Geist"/>
                <a:cs typeface="Geist"/>
              </a:rPr>
              <a:t>:  </a:t>
            </a:r>
            <a:r>
              <a:rPr sz="1950" b="0" i="0">
                <a:solidFill>
                  <a:srgbClr val="E8C27A"/>
                </a:solidFill>
                <a:latin typeface="Geist Mono"/>
                <a:ea typeface="Geist Mono"/>
                <a:cs typeface="Geist Mono"/>
              </a:rPr>
              <a:t>FLYWHEEL_CONTROL = FlywheelControl.BANG_BANG</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not use it everywhere?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ightning-charge-fill.png"/>
          <p:cNvPicPr>
            <a:picLocks noChangeAspect="1"/>
          </p:cNvPicPr>
          <p:nvPr/>
        </p:nvPicPr>
        <p:blipFill>
          <a:blip r:embed="rId3"/>
          <a:stretch>
            <a:fillRect/>
          </a:stretch>
        </p:blipFill>
        <p:spPr>
          <a:xfrm>
            <a:off x="1295400" y="3238500"/>
            <a:ext cx="423862" cy="609600"/>
          </a:xfrm>
          <a:prstGeom prst="rect">
            <a:avLst/>
          </a:prstGeom>
        </p:spPr>
      </p:pic>
      <p:sp>
        <p:nvSpPr>
          <p:cNvPr id="7" name="TextBox 6"/>
          <p:cNvSpPr txBox="1"/>
          <p:nvPr/>
        </p:nvSpPr>
        <p:spPr>
          <a:xfrm>
            <a:off x="1295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Slams the motor</a:t>
            </a:r>
          </a:p>
        </p:txBody>
      </p:sp>
      <p:sp>
        <p:nvSpPr>
          <p:cNvPr id="8" name="TextBox 7"/>
          <p:cNvSpPr txBox="1"/>
          <p:nvPr/>
        </p:nvSpPr>
        <p:spPr>
          <a:xfrm>
            <a:off x="1295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Full on, full off, many times a second. Hard on gears, belts and the battery.</a:t>
            </a:r>
          </a:p>
        </p:txBody>
      </p:sp>
      <p:sp>
        <p:nvSpPr>
          <p:cNvPr id="9" name="Rounded Rectangle 8"/>
          <p:cNvSpPr/>
          <p:nvPr/>
        </p:nvSpPr>
        <p:spPr>
          <a:xfrm>
            <a:off x="6502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row-repeat.png"/>
          <p:cNvPicPr>
            <a:picLocks noChangeAspect="1"/>
          </p:cNvPicPr>
          <p:nvPr/>
        </p:nvPicPr>
        <p:blipFill>
          <a:blip r:embed="rId4"/>
          <a:stretch>
            <a:fillRect/>
          </a:stretch>
        </p:blipFill>
        <p:spPr>
          <a:xfrm>
            <a:off x="6883400" y="3238500"/>
            <a:ext cx="787400" cy="609600"/>
          </a:xfrm>
          <a:prstGeom prst="rect">
            <a:avLst/>
          </a:prstGeom>
        </p:spPr>
      </p:pic>
      <p:sp>
        <p:nvSpPr>
          <p:cNvPr id="11" name="TextBox 10"/>
          <p:cNvSpPr txBox="1"/>
          <p:nvPr/>
        </p:nvSpPr>
        <p:spPr>
          <a:xfrm>
            <a:off x="6883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Never settles</a:t>
            </a:r>
          </a:p>
        </p:txBody>
      </p:sp>
      <p:sp>
        <p:nvSpPr>
          <p:cNvPr id="12" name="TextBox 11"/>
          <p:cNvSpPr txBox="1"/>
          <p:nvPr/>
        </p:nvSpPr>
        <p:spPr>
          <a:xfrm>
            <a:off x="6883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It wobbles around the target instead of sitting on it.</a:t>
            </a:r>
          </a:p>
        </p:txBody>
      </p:sp>
      <p:sp>
        <p:nvSpPr>
          <p:cNvPr id="13" name="Rounded Rectangle 12"/>
          <p:cNvSpPr/>
          <p:nvPr/>
        </p:nvSpPr>
        <p:spPr>
          <a:xfrm>
            <a:off x="12090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exclamation-triangle-fill.png"/>
          <p:cNvPicPr>
            <a:picLocks noChangeAspect="1"/>
          </p:cNvPicPr>
          <p:nvPr/>
        </p:nvPicPr>
        <p:blipFill>
          <a:blip r:embed="rId5"/>
          <a:stretch>
            <a:fillRect/>
          </a:stretch>
        </p:blipFill>
        <p:spPr>
          <a:xfrm>
            <a:off x="12471400" y="3238500"/>
            <a:ext cx="696686" cy="609600"/>
          </a:xfrm>
          <a:prstGeom prst="rect">
            <a:avLst/>
          </a:prstGeom>
        </p:spPr>
      </p:pic>
      <p:sp>
        <p:nvSpPr>
          <p:cNvPr id="15" name="TextBox 14"/>
          <p:cNvSpPr txBox="1"/>
          <p:nvPr/>
        </p:nvSpPr>
        <p:spPr>
          <a:xfrm>
            <a:off x="12471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brakes</a:t>
            </a:r>
          </a:p>
        </p:txBody>
      </p:sp>
      <p:sp>
        <p:nvSpPr>
          <p:cNvPr id="16" name="TextBox 15"/>
          <p:cNvSpPr txBox="1"/>
          <p:nvPr/>
        </p:nvSpPr>
        <p:spPr>
          <a:xfrm>
            <a:off x="12471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An elevator or arm overshoots, then slams back the other way.</a:t>
            </a:r>
          </a:p>
        </p:txBody>
      </p:sp>
      <p:sp>
        <p:nvSpPr>
          <p:cNvPr id="17" name="TextBox 16"/>
          <p:cNvSpPr txBox="1"/>
          <p:nvPr/>
        </p:nvSpPr>
        <p:spPr>
          <a:xfrm>
            <a:off x="914400" y="7524750"/>
            <a:ext cx="12382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Good for: </a:t>
            </a:r>
            <a:r>
              <a:rPr sz="2250" b="0" i="0">
                <a:solidFill>
                  <a:srgbClr val="F0E8E8"/>
                </a:solidFill>
                <a:latin typeface="Geist"/>
                <a:ea typeface="Geist"/>
                <a:cs typeface="Geist"/>
              </a:rPr>
              <a:t>a flywheel that only has to be close. A thermostat.</a:t>
            </a:r>
          </a:p>
        </p:txBody>
      </p:sp>
      <p:sp>
        <p:nvSpPr>
          <p:cNvPr id="18" name="TextBox 17"/>
          <p:cNvSpPr txBox="1"/>
          <p:nvPr/>
        </p:nvSpPr>
        <p:spPr>
          <a:xfrm>
            <a:off x="914400" y="8096250"/>
            <a:ext cx="12382500" cy="47625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anything that has to stop on a number: keep reading.</a:t>
            </a:r>
          </a:p>
        </p:txBody>
      </p:sp>
      <p:pic>
        <p:nvPicPr>
          <p:cNvPr id="19" name="Picture 18" descr="dozer_wide_left.png"/>
          <p:cNvPicPr>
            <a:picLocks noChangeAspect="1"/>
          </p:cNvPicPr>
          <p:nvPr/>
        </p:nvPicPr>
        <p:blipFill>
          <a:blip r:embed="rId6"/>
          <a:stretch>
            <a:fillRect/>
          </a:stretch>
        </p:blipFill>
        <p:spPr>
          <a:xfrm>
            <a:off x="15144750" y="7239000"/>
            <a:ext cx="2190750" cy="1346530"/>
          </a:xfrm>
          <a:prstGeom prst="rect">
            <a:avLst/>
          </a:prstGeom>
        </p:spPr>
      </p:pic>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Feedforward</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 smart first guess, no sensor needed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Feedforward is a smart guess. No peeking at the sensor!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Guess the power from the target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ye-slash.png"/>
          <p:cNvPicPr>
            <a:picLocks noChangeAspect="1"/>
          </p:cNvPicPr>
          <p:nvPr/>
        </p:nvPicPr>
        <p:blipFill>
          <a:blip r:embed="rId3"/>
          <a:stretch>
            <a:fillRect/>
          </a:stretch>
        </p:blipFill>
        <p:spPr>
          <a:xfrm>
            <a:off x="1295400" y="3238500"/>
            <a:ext cx="764988" cy="609600"/>
          </a:xfrm>
          <a:prstGeom prst="rect">
            <a:avLst/>
          </a:prstGeom>
        </p:spPr>
      </p:pic>
      <p:sp>
        <p:nvSpPr>
          <p:cNvPr id="7" name="TextBox 6"/>
          <p:cNvSpPr txBox="1"/>
          <p:nvPr/>
        </p:nvSpPr>
        <p:spPr>
          <a:xfrm>
            <a:off x="1295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sensor</a:t>
            </a:r>
          </a:p>
        </p:txBody>
      </p:sp>
      <p:sp>
        <p:nvSpPr>
          <p:cNvPr id="8" name="TextBox 7"/>
          <p:cNvSpPr txBox="1"/>
          <p:nvPr/>
        </p:nvSpPr>
        <p:spPr>
          <a:xfrm>
            <a:off x="1295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Open loop. It works out the power from the target alone and never checks.</a:t>
            </a:r>
          </a:p>
        </p:txBody>
      </p:sp>
      <p:sp>
        <p:nvSpPr>
          <p:cNvPr id="9" name="Rounded Rectangle 8"/>
          <p:cNvSpPr/>
          <p:nvPr/>
        </p:nvSpPr>
        <p:spPr>
          <a:xfrm>
            <a:off x="6502400" y="2857500"/>
            <a:ext cx="5283200" cy="4095750"/>
          </a:xfrm>
          <a:prstGeom prst="roundRect">
            <a:avLst>
              <a:gd name="adj" fmla="val 372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alculator.png"/>
          <p:cNvPicPr>
            <a:picLocks noChangeAspect="1"/>
          </p:cNvPicPr>
          <p:nvPr/>
        </p:nvPicPr>
        <p:blipFill>
          <a:blip r:embed="rId4"/>
          <a:stretch>
            <a:fillRect/>
          </a:stretch>
        </p:blipFill>
        <p:spPr>
          <a:xfrm>
            <a:off x="6883400" y="3238500"/>
            <a:ext cx="457200" cy="609600"/>
          </a:xfrm>
          <a:prstGeom prst="rect">
            <a:avLst/>
          </a:prstGeom>
        </p:spPr>
      </p:pic>
      <p:sp>
        <p:nvSpPr>
          <p:cNvPr id="11" name="TextBox 10"/>
          <p:cNvSpPr txBox="1"/>
          <p:nvPr/>
        </p:nvSpPr>
        <p:spPr>
          <a:xfrm>
            <a:off x="6883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Uses a model</a:t>
            </a:r>
          </a:p>
        </p:txBody>
      </p:sp>
      <p:sp>
        <p:nvSpPr>
          <p:cNvPr id="12" name="TextBox 11"/>
          <p:cNvSpPr txBox="1"/>
          <p:nvPr/>
        </p:nvSpPr>
        <p:spPr>
          <a:xfrm>
            <a:off x="6883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“This speed usually needs about this many volts.” A straight line, as you'll see.</a:t>
            </a:r>
          </a:p>
        </p:txBody>
      </p:sp>
      <p:sp>
        <p:nvSpPr>
          <p:cNvPr id="13" name="Rounded Rectangle 12"/>
          <p:cNvSpPr/>
          <p:nvPr/>
        </p:nvSpPr>
        <p:spPr>
          <a:xfrm>
            <a:off x="12090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r-front.png"/>
          <p:cNvPicPr>
            <a:picLocks noChangeAspect="1"/>
          </p:cNvPicPr>
          <p:nvPr/>
        </p:nvPicPr>
        <p:blipFill>
          <a:blip r:embed="rId5"/>
          <a:stretch>
            <a:fillRect/>
          </a:stretch>
        </p:blipFill>
        <p:spPr>
          <a:xfrm>
            <a:off x="12471400" y="3238500"/>
            <a:ext cx="812800" cy="609600"/>
          </a:xfrm>
          <a:prstGeom prst="rect">
            <a:avLst/>
          </a:prstGeom>
        </p:spPr>
      </p:pic>
      <p:sp>
        <p:nvSpPr>
          <p:cNvPr id="15" name="TextBox 14"/>
          <p:cNvSpPr txBox="1"/>
          <p:nvPr/>
        </p:nvSpPr>
        <p:spPr>
          <a:xfrm>
            <a:off x="12471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Like cruise control</a:t>
            </a:r>
          </a:p>
        </p:txBody>
      </p:sp>
      <p:sp>
        <p:nvSpPr>
          <p:cNvPr id="16" name="TextBox 15"/>
          <p:cNvSpPr txBox="1"/>
          <p:nvPr/>
        </p:nvSpPr>
        <p:spPr>
          <a:xfrm>
            <a:off x="12471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Hold the throttle where that speed needs it, before anything goes wrong.</a:t>
            </a:r>
          </a:p>
        </p:txBody>
      </p:sp>
      <p:sp>
        <p:nvSpPr>
          <p:cNvPr id="17" name="Rounded Rectangle 16"/>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ghtbulb.png"/>
          <p:cNvPicPr>
            <a:picLocks noChangeAspect="1"/>
          </p:cNvPicPr>
          <p:nvPr/>
        </p:nvPicPr>
        <p:blipFill>
          <a:blip r:embed="rId6"/>
          <a:stretch>
            <a:fillRect/>
          </a:stretch>
        </p:blipFill>
        <p:spPr>
          <a:xfrm>
            <a:off x="1333500" y="7781925"/>
            <a:ext cx="400050" cy="533400"/>
          </a:xfrm>
          <a:prstGeom prst="rect">
            <a:avLst/>
          </a:prstGeom>
        </p:spPr>
      </p:pic>
      <p:sp>
        <p:nvSpPr>
          <p:cNvPr id="19" name="TextBox 18"/>
          <p:cNvSpPr txBox="1"/>
          <p:nvPr/>
        </p:nvSpPr>
        <p:spPr>
          <a:xfrm>
            <a:off x="2190750" y="7524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Tune it first.  </a:t>
            </a:r>
            <a:r>
              <a:rPr sz="2100" b="0" i="0">
                <a:solidFill>
                  <a:srgbClr val="F0E8E8"/>
                </a:solidFill>
                <a:latin typeface="Geist"/>
                <a:ea typeface="Geist"/>
                <a:cs typeface="Geist"/>
              </a:rPr>
              <a:t>On every mechanism, feedforward gets you close. Feedback cleans up the rest.</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kV: volts for each unit of speed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838950"/>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696075"/>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0" name="Rectangle 9"/>
          <p:cNvSpPr/>
          <p:nvPr/>
        </p:nvSpPr>
        <p:spPr>
          <a:xfrm>
            <a:off x="2143125" y="574357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60070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12" name="Rectangle 11"/>
          <p:cNvSpPr/>
          <p:nvPr/>
        </p:nvSpPr>
        <p:spPr>
          <a:xfrm>
            <a:off x="2143125" y="4648200"/>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505325"/>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9</a:t>
            </a:r>
          </a:p>
        </p:txBody>
      </p:sp>
      <p:sp>
        <p:nvSpPr>
          <p:cNvPr id="14" name="Rectangle 13"/>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6" name="Rectangle 15"/>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8" name="TextBox 17"/>
          <p:cNvSpPr txBox="1"/>
          <p:nvPr/>
        </p:nvSpPr>
        <p:spPr>
          <a:xfrm>
            <a:off x="3056615"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100</a:t>
            </a:r>
          </a:p>
        </p:txBody>
      </p:sp>
      <p:sp>
        <p:nvSpPr>
          <p:cNvPr id="19" name="TextBox 18"/>
          <p:cNvSpPr txBox="1"/>
          <p:nvPr/>
        </p:nvSpPr>
        <p:spPr>
          <a:xfrm>
            <a:off x="443683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200</a:t>
            </a:r>
          </a:p>
        </p:txBody>
      </p:sp>
      <p:sp>
        <p:nvSpPr>
          <p:cNvPr id="20" name="TextBox 19"/>
          <p:cNvSpPr txBox="1"/>
          <p:nvPr/>
        </p:nvSpPr>
        <p:spPr>
          <a:xfrm>
            <a:off x="5817045"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300</a:t>
            </a:r>
          </a:p>
        </p:txBody>
      </p:sp>
      <p:sp>
        <p:nvSpPr>
          <p:cNvPr id="21" name="TextBox 20"/>
          <p:cNvSpPr txBox="1"/>
          <p:nvPr/>
        </p:nvSpPr>
        <p:spPr>
          <a:xfrm>
            <a:off x="719726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400</a:t>
            </a:r>
          </a:p>
        </p:txBody>
      </p:sp>
      <p:sp>
        <p:nvSpPr>
          <p:cNvPr id="22" name="TextBox 21"/>
          <p:cNvSpPr txBox="1"/>
          <p:nvPr/>
        </p:nvSpPr>
        <p:spPr>
          <a:xfrm>
            <a:off x="8577475"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500</a:t>
            </a:r>
          </a:p>
        </p:txBody>
      </p:sp>
      <p:sp>
        <p:nvSpPr>
          <p:cNvPr id="23" name="TextBox 22"/>
          <p:cNvSpPr txBox="1"/>
          <p:nvPr/>
        </p:nvSpPr>
        <p:spPr>
          <a:xfrm>
            <a:off x="995769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600</a:t>
            </a:r>
          </a:p>
        </p:txBody>
      </p:sp>
      <p:sp>
        <p:nvSpPr>
          <p:cNvPr id="24" name="TextBox 23"/>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VOLTS</a:t>
            </a:r>
          </a:p>
        </p:txBody>
      </p:sp>
      <p:sp>
        <p:nvSpPr>
          <p:cNvPr id="25" name="TextBox 24"/>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speed (rad/s)</a:t>
            </a:r>
          </a:p>
        </p:txBody>
      </p:sp>
      <p:sp>
        <p:nvSpPr>
          <p:cNvPr id="26" name="Oval 25"/>
          <p:cNvSpPr/>
          <p:nvPr/>
        </p:nvSpPr>
        <p:spPr>
          <a:xfrm>
            <a:off x="2904579" y="7394267"/>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732708" y="7103446"/>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60837" y="6575294"/>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388966" y="6229704"/>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217095" y="5701552"/>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045224" y="5410731"/>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873353" y="4919091"/>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01482" y="4463964"/>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529611" y="4136631"/>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flipV="1">
            <a:off x="2152650" y="3562350"/>
            <a:ext cx="8667750" cy="438150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215265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43840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72415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00990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29565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58140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386715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15290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443865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472440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501015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529590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58165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867400" y="5836489"/>
            <a:ext cx="171450"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153150" y="5836489"/>
            <a:ext cx="140145"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6279007" y="58507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6279007" y="60793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6279007" y="63079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279007" y="65365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6279007" y="67651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6279007" y="69937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6279007" y="72223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79007" y="74509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6279007" y="7679577"/>
            <a:ext cx="28575" cy="1333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6279007" y="7908177"/>
            <a:ext cx="28575" cy="35673"/>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6178995" y="5736477"/>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02845" y="5907927"/>
            <a:ext cx="3238500" cy="285750"/>
          </a:xfrm>
          <a:prstGeom prst="rect">
            <a:avLst/>
          </a:prstGeom>
          <a:noFill/>
        </p:spPr>
        <p:txBody>
          <a:bodyPr wrap="square" lIns="0" rIns="0" tIns="0" bIns="0" anchor="t">
            <a:spAutoFit/>
          </a:bodyPr>
          <a:lstStyle/>
          <a:p>
            <a:pPr algn="l"/>
            <a:r>
              <a:rPr sz="1650" b="1" i="0">
                <a:solidFill>
                  <a:srgbClr val="D5000E"/>
                </a:solidFill>
                <a:latin typeface="Geist Mono"/>
                <a:ea typeface="Geist Mono"/>
                <a:cs typeface="Geist Mono"/>
              </a:rPr>
              <a:t>300 rad/s → 5.73 V</a:t>
            </a:r>
          </a:p>
        </p:txBody>
      </p:sp>
      <p:sp>
        <p:nvSpPr>
          <p:cNvPr id="63" name="Rectangle 62"/>
          <p:cNvSpPr/>
          <p:nvPr/>
        </p:nvSpPr>
        <p:spPr>
          <a:xfrm>
            <a:off x="7659222" y="5138798"/>
            <a:ext cx="1408790" cy="285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9039437" y="4441107"/>
            <a:ext cx="28575" cy="726266"/>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730660" y="5229286"/>
            <a:ext cx="1714500" cy="2857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+100 rad/s</a:t>
            </a:r>
          </a:p>
        </p:txBody>
      </p:sp>
      <p:sp>
        <p:nvSpPr>
          <p:cNvPr id="66" name="TextBox 65"/>
          <p:cNvSpPr txBox="1"/>
          <p:nvPr/>
        </p:nvSpPr>
        <p:spPr>
          <a:xfrm>
            <a:off x="9168025" y="4661365"/>
            <a:ext cx="1143000" cy="2857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+1.91 V</a:t>
            </a:r>
          </a:p>
        </p:txBody>
      </p:sp>
      <p:sp>
        <p:nvSpPr>
          <p:cNvPr id="67" name="Oval 66"/>
          <p:cNvSpPr/>
          <p:nvPr/>
        </p:nvSpPr>
        <p:spPr>
          <a:xfrm>
            <a:off x="3894451" y="60737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94451" y="60737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9" name="Oval 68"/>
          <p:cNvSpPr/>
          <p:nvPr/>
        </p:nvSpPr>
        <p:spPr>
          <a:xfrm>
            <a:off x="10291975" y="461374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91975" y="46137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71" name="Oval 70"/>
          <p:cNvSpPr/>
          <p:nvPr/>
        </p:nvSpPr>
        <p:spPr>
          <a:xfrm>
            <a:off x="10344150" y="30480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344150" y="3048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73" name="Oval 72"/>
          <p:cNvSpPr/>
          <p:nvPr/>
        </p:nvSpPr>
        <p:spPr>
          <a:xfrm>
            <a:off x="5721795" y="5279277"/>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721795" y="527927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75" name="Oval 74"/>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77" name="TextBox 76"/>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straight line</a:t>
            </a:r>
          </a:p>
        </p:txBody>
      </p:sp>
      <p:sp>
        <p:nvSpPr>
          <p:cNvPr id="78" name="TextBox 77"/>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More speed needs more volts</a:t>
            </a:r>
          </a:p>
        </p:txBody>
      </p:sp>
      <p:sp>
        <p:nvSpPr>
          <p:cNvPr id="79" name="Oval 78"/>
          <p:cNvSpPr/>
          <p:nvPr/>
        </p:nvSpPr>
        <p:spPr>
          <a:xfrm>
            <a:off x="11906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81" name="TextBox 80"/>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Slope = kV</a:t>
            </a:r>
          </a:p>
        </p:txBody>
      </p:sp>
      <p:sp>
        <p:nvSpPr>
          <p:cNvPr id="82" name="TextBox 81"/>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0.0191 V per rad/s</a:t>
            </a:r>
          </a:p>
        </p:txBody>
      </p:sp>
      <p:sp>
        <p:nvSpPr>
          <p:cNvPr id="83" name="Oval 82"/>
          <p:cNvSpPr/>
          <p:nvPr/>
        </p:nvSpPr>
        <p:spPr>
          <a:xfrm>
            <a:off x="11906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85" name="TextBox 84"/>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Top speed</a:t>
            </a:r>
          </a:p>
        </p:txBody>
      </p:sp>
      <p:sp>
        <p:nvSpPr>
          <p:cNvPr id="86" name="TextBox 85"/>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12 V ≈ 628 rad/s. First guess: 12 / 628</a:t>
            </a:r>
          </a:p>
        </p:txBody>
      </p:sp>
      <p:sp>
        <p:nvSpPr>
          <p:cNvPr id="87" name="Oval 86"/>
          <p:cNvSpPr/>
          <p:nvPr/>
        </p:nvSpPr>
        <p:spPr>
          <a:xfrm>
            <a:off x="11906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1906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89" name="TextBox 88"/>
          <p:cNvSpPr txBox="1"/>
          <p:nvPr/>
        </p:nvSpPr>
        <p:spPr>
          <a:xfrm>
            <a:off x="12515850" y="7105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 it off</a:t>
            </a:r>
          </a:p>
        </p:txBody>
      </p:sp>
      <p:sp>
        <p:nvSpPr>
          <p:cNvPr id="90" name="TextBox 89"/>
          <p:cNvSpPr txBox="1"/>
          <p:nvPr/>
        </p:nvSpPr>
        <p:spPr>
          <a:xfrm>
            <a:off x="12515850" y="7524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Our target needs 5.73 V</a:t>
            </a:r>
          </a:p>
        </p:txBody>
      </p:sp>
      <p:sp>
        <p:nvSpPr>
          <p:cNvPr id="91" name="TextBox 9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2" name="TextBox 9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Getting the units right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191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3429000"/>
            <a:ext cx="4191000" cy="762000"/>
          </a:xfrm>
          <a:prstGeom prst="rect">
            <a:avLst/>
          </a:prstGeom>
          <a:noFill/>
        </p:spPr>
        <p:txBody>
          <a:bodyPr wrap="square" lIns="0" rIns="0" tIns="0" bIns="0" anchor="t">
            <a:spAutoFit/>
          </a:bodyPr>
          <a:lstStyle/>
          <a:p>
            <a:pPr algn="ctr"/>
            <a:r>
              <a:rPr sz="4500" b="1" i="0">
                <a:solidFill>
                  <a:srgbClr val="E8C27A"/>
                </a:solidFill>
                <a:latin typeface="Geist Mono"/>
                <a:ea typeface="Geist Mono"/>
                <a:cs typeface="Geist Mono"/>
              </a:rPr>
              <a:t>300</a:t>
            </a:r>
          </a:p>
        </p:txBody>
      </p:sp>
      <p:sp>
        <p:nvSpPr>
          <p:cNvPr id="7" name="TextBox 6"/>
          <p:cNvSpPr txBox="1"/>
          <p:nvPr/>
        </p:nvSpPr>
        <p:spPr>
          <a:xfrm>
            <a:off x="914400" y="4267200"/>
            <a:ext cx="41910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rad/s</a:t>
            </a:r>
          </a:p>
        </p:txBody>
      </p:sp>
      <p:sp>
        <p:nvSpPr>
          <p:cNvPr id="8" name="TextBox 7"/>
          <p:cNvSpPr txBox="1"/>
          <p:nvPr/>
        </p:nvSpPr>
        <p:spPr>
          <a:xfrm>
            <a:off x="1066800" y="4762500"/>
            <a:ext cx="3886200" cy="381000"/>
          </a:xfrm>
          <a:prstGeom prst="rect">
            <a:avLst/>
          </a:prstGeom>
          <a:noFill/>
        </p:spPr>
        <p:txBody>
          <a:bodyPr wrap="square" lIns="0" rIns="0" tIns="0" bIns="0" anchor="t">
            <a:spAutoFit/>
          </a:bodyPr>
          <a:lstStyle/>
          <a:p>
            <a:pPr algn="ctr"/>
            <a:r>
              <a:rPr sz="1575" b="0" i="0">
                <a:solidFill>
                  <a:srgbClr val="9A7878"/>
                </a:solidFill>
                <a:latin typeface="Geist Mono"/>
                <a:ea typeface="Geist Mono"/>
                <a:cs typeface="Geist Mono"/>
              </a:rPr>
              <a:t>SHOOT_VELOCITY</a:t>
            </a:r>
          </a:p>
        </p:txBody>
      </p:sp>
      <p:sp>
        <p:nvSpPr>
          <p:cNvPr id="9" name="Rectangle 8"/>
          <p:cNvSpPr/>
          <p:nvPr/>
        </p:nvSpPr>
        <p:spPr>
          <a:xfrm>
            <a:off x="5186362" y="4319588"/>
            <a:ext cx="1644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6800850" y="42576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5400" y="3810000"/>
            <a:ext cx="1943100" cy="381000"/>
          </a:xfrm>
          <a:prstGeom prst="rect">
            <a:avLst/>
          </a:prstGeom>
          <a:noFill/>
        </p:spPr>
        <p:txBody>
          <a:bodyPr wrap="square" lIns="0" rIns="0" tIns="0" bIns="0" anchor="t">
            <a:spAutoFit/>
          </a:bodyPr>
          <a:lstStyle/>
          <a:p>
            <a:pPr algn="ctr"/>
            <a:r>
              <a:rPr sz="1950" b="1" i="0">
                <a:solidFill>
                  <a:srgbClr val="D5000E"/>
                </a:solidFill>
                <a:latin typeface="Geist Mono"/>
                <a:ea typeface="Geist Mono"/>
                <a:cs typeface="Geist Mono"/>
              </a:rPr>
              <a:t>× kV</a:t>
            </a:r>
          </a:p>
        </p:txBody>
      </p:sp>
      <p:sp>
        <p:nvSpPr>
          <p:cNvPr id="12" name="Rounded Rectangle 11"/>
          <p:cNvSpPr/>
          <p:nvPr/>
        </p:nvSpPr>
        <p:spPr>
          <a:xfrm>
            <a:off x="7048500" y="3143250"/>
            <a:ext cx="4191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48500" y="3429000"/>
            <a:ext cx="4191000" cy="762000"/>
          </a:xfrm>
          <a:prstGeom prst="rect">
            <a:avLst/>
          </a:prstGeom>
          <a:noFill/>
        </p:spPr>
        <p:txBody>
          <a:bodyPr wrap="square" lIns="0" rIns="0" tIns="0" bIns="0" anchor="t">
            <a:spAutoFit/>
          </a:bodyPr>
          <a:lstStyle/>
          <a:p>
            <a:pPr algn="ctr"/>
            <a:r>
              <a:rPr sz="4500" b="1" i="0">
                <a:solidFill>
                  <a:srgbClr val="E8C27A"/>
                </a:solidFill>
                <a:latin typeface="Geist Mono"/>
                <a:ea typeface="Geist Mono"/>
                <a:cs typeface="Geist Mono"/>
              </a:rPr>
              <a:t>5.73</a:t>
            </a:r>
          </a:p>
        </p:txBody>
      </p:sp>
      <p:sp>
        <p:nvSpPr>
          <p:cNvPr id="14" name="TextBox 13"/>
          <p:cNvSpPr txBox="1"/>
          <p:nvPr/>
        </p:nvSpPr>
        <p:spPr>
          <a:xfrm>
            <a:off x="7048500" y="4267200"/>
            <a:ext cx="41910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volts</a:t>
            </a:r>
          </a:p>
        </p:txBody>
      </p:sp>
      <p:sp>
        <p:nvSpPr>
          <p:cNvPr id="15" name="TextBox 14"/>
          <p:cNvSpPr txBox="1"/>
          <p:nvPr/>
        </p:nvSpPr>
        <p:spPr>
          <a:xfrm>
            <a:off x="7200900" y="4762500"/>
            <a:ext cx="3886200" cy="38100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to hold that speed</a:t>
            </a:r>
          </a:p>
        </p:txBody>
      </p:sp>
      <p:sp>
        <p:nvSpPr>
          <p:cNvPr id="16" name="Rectangle 15"/>
          <p:cNvSpPr/>
          <p:nvPr/>
        </p:nvSpPr>
        <p:spPr>
          <a:xfrm>
            <a:off x="11320462" y="4319588"/>
            <a:ext cx="1644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12934950" y="42576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239500" y="3810000"/>
            <a:ext cx="1943100" cy="381000"/>
          </a:xfrm>
          <a:prstGeom prst="rect">
            <a:avLst/>
          </a:prstGeom>
          <a:noFill/>
        </p:spPr>
        <p:txBody>
          <a:bodyPr wrap="square" lIns="0" rIns="0" tIns="0" bIns="0" anchor="t">
            <a:spAutoFit/>
          </a:bodyPr>
          <a:lstStyle/>
          <a:p>
            <a:pPr algn="ctr"/>
            <a:r>
              <a:rPr sz="1950" b="1" i="0">
                <a:solidFill>
                  <a:srgbClr val="D5000E"/>
                </a:solidFill>
                <a:latin typeface="Geist Mono"/>
                <a:ea typeface="Geist Mono"/>
                <a:cs typeface="Geist Mono"/>
              </a:rPr>
              <a:t>÷ 12</a:t>
            </a:r>
          </a:p>
        </p:txBody>
      </p:sp>
      <p:sp>
        <p:nvSpPr>
          <p:cNvPr id="19" name="Rounded Rectangle 18"/>
          <p:cNvSpPr/>
          <p:nvPr/>
        </p:nvSpPr>
        <p:spPr>
          <a:xfrm>
            <a:off x="13182600" y="3143250"/>
            <a:ext cx="4191000" cy="2381250"/>
          </a:xfrm>
          <a:prstGeom prst="roundRect">
            <a:avLst>
              <a:gd name="adj" fmla="val 64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182600" y="3429000"/>
            <a:ext cx="4191000" cy="762000"/>
          </a:xfrm>
          <a:prstGeom prst="rect">
            <a:avLst/>
          </a:prstGeom>
          <a:noFill/>
        </p:spPr>
        <p:txBody>
          <a:bodyPr wrap="square" lIns="0" rIns="0" tIns="0" bIns="0" anchor="t">
            <a:spAutoFit/>
          </a:bodyPr>
          <a:lstStyle/>
          <a:p>
            <a:pPr algn="ctr"/>
            <a:r>
              <a:rPr sz="4500" b="1" i="0">
                <a:solidFill>
                  <a:srgbClr val="E8C27A"/>
                </a:solidFill>
                <a:latin typeface="Geist Mono"/>
                <a:ea typeface="Geist Mono"/>
                <a:cs typeface="Geist Mono"/>
              </a:rPr>
              <a:t>0.48</a:t>
            </a:r>
          </a:p>
        </p:txBody>
      </p:sp>
      <p:sp>
        <p:nvSpPr>
          <p:cNvPr id="21" name="TextBox 20"/>
          <p:cNvSpPr txBox="1"/>
          <p:nvPr/>
        </p:nvSpPr>
        <p:spPr>
          <a:xfrm>
            <a:off x="13182600" y="4267200"/>
            <a:ext cx="41910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duty cycle</a:t>
            </a:r>
          </a:p>
        </p:txBody>
      </p:sp>
      <p:sp>
        <p:nvSpPr>
          <p:cNvPr id="22" name="TextBox 21"/>
          <p:cNvSpPr txBox="1"/>
          <p:nvPr/>
        </p:nvSpPr>
        <p:spPr>
          <a:xfrm>
            <a:off x="13335000" y="4762500"/>
            <a:ext cx="3886200" cy="38100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a fraction of 12 V</a:t>
            </a:r>
          </a:p>
        </p:txBody>
      </p:sp>
      <p:sp>
        <p:nvSpPr>
          <p:cNvPr id="23" name="Rounded Rectangle 22"/>
          <p:cNvSpPr/>
          <p:nvPr/>
        </p:nvSpPr>
        <p:spPr>
          <a:xfrm>
            <a:off x="914400" y="6191250"/>
            <a:ext cx="13335000" cy="1809750"/>
          </a:xfrm>
          <a:prstGeom prst="roundRect">
            <a:avLst>
              <a:gd name="adj" fmla="val 842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95400" y="6438900"/>
            <a:ext cx="12573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A wrong unit doesn't crash</a:t>
            </a:r>
          </a:p>
        </p:txBody>
      </p:sp>
      <p:sp>
        <p:nvSpPr>
          <p:cNvPr id="25" name="TextBox 24"/>
          <p:cNvSpPr txBox="1"/>
          <p:nvPr/>
        </p:nvSpPr>
        <p:spPr>
          <a:xfrm>
            <a:off x="1295400" y="6991350"/>
            <a:ext cx="12573000" cy="85725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a:ea typeface="Geist"/>
                <a:cs typeface="Geist"/>
              </a:rPr>
              <a:t>The robot just quietly does the wrong thing. Write the unit next to every number: in the name or a comment.</a:t>
            </a:r>
          </a:p>
        </p:txBody>
      </p:sp>
      <p:pic>
        <p:nvPicPr>
          <p:cNvPr id="26" name="Picture 25" descr="dozer_wide_left.png"/>
          <p:cNvPicPr>
            <a:picLocks noChangeAspect="1"/>
          </p:cNvPicPr>
          <p:nvPr/>
        </p:nvPicPr>
        <p:blipFill>
          <a:blip r:embed="rId3"/>
          <a:stretch>
            <a:fillRect/>
          </a:stretch>
        </p:blipFill>
        <p:spPr>
          <a:xfrm>
            <a:off x="15049500" y="6191250"/>
            <a:ext cx="2286000" cy="1405075"/>
          </a:xfrm>
          <a:prstGeom prst="rect">
            <a:avLst/>
          </a:prstGeom>
        </p:spPr>
      </p:pic>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feedforward()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238500"/>
            <a:ext cx="10572750" cy="2590800"/>
          </a:xfrm>
          <a:prstGeom prst="roundRect">
            <a:avLst>
              <a:gd name="adj" fmla="val 5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351020"/>
            <a:ext cx="10534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35102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0393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feedforward() {</a:t>
            </a:r>
          </a:p>
        </p:txBody>
      </p:sp>
      <p:sp>
        <p:nvSpPr>
          <p:cNvPr id="10" name="TextBox 9"/>
          <p:cNvSpPr txBox="1"/>
          <p:nvPr/>
        </p:nvSpPr>
        <p:spPr>
          <a:xfrm>
            <a:off x="1295400" y="398526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target_rad_per_sec = CONSTANTS.SHOOT_VELOCITY;</a:t>
            </a:r>
          </a:p>
        </p:txBody>
      </p:sp>
      <p:sp>
        <p:nvSpPr>
          <p:cNvPr id="11" name="TextBox 10"/>
          <p:cNvSpPr txBox="1"/>
          <p:nvPr/>
        </p:nvSpPr>
        <p:spPr>
          <a:xfrm>
            <a:off x="1295400" y="435102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volts = CONSTANTS.FLYWHEEL_KV * target_rad_per_sec;</a:t>
            </a:r>
          </a:p>
        </p:txBody>
      </p:sp>
      <p:sp>
        <p:nvSpPr>
          <p:cNvPr id="12" name="TextBox 11"/>
          <p:cNvSpPr txBox="1"/>
          <p:nvPr/>
        </p:nvSpPr>
        <p:spPr>
          <a:xfrm>
            <a:off x="1295400" y="471678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flywheel_.setTargetDutyCycle(volts / </a:t>
            </a:r>
            <a:r>
              <a:rPr sz="1800" b="0" i="0">
                <a:solidFill>
                  <a:srgbClr val="E8C27A"/>
                </a:solidFill>
                <a:latin typeface="Geist Mono"/>
                <a:ea typeface="Geist Mono"/>
                <a:cs typeface="Geist Mono"/>
              </a:rPr>
              <a:t>12.0</a:t>
            </a:r>
            <a:r>
              <a:rPr sz="1800" b="0" i="0">
                <a:solidFill>
                  <a:srgbClr val="F0E8E8"/>
                </a:solidFill>
                <a:latin typeface="Geist Mono"/>
                <a:ea typeface="Geist Mono"/>
                <a:cs typeface="Geist Mono"/>
              </a:rPr>
              <a:t>);</a:t>
            </a:r>
          </a:p>
        </p:txBody>
      </p:sp>
      <p:sp>
        <p:nvSpPr>
          <p:cNvPr id="13" name="TextBox 12"/>
          <p:cNvSpPr txBox="1"/>
          <p:nvPr/>
        </p:nvSpPr>
        <p:spPr>
          <a:xfrm>
            <a:off x="1295400" y="508254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4" name="Oval 13"/>
          <p:cNvSpPr/>
          <p:nvPr/>
        </p:nvSpPr>
        <p:spPr>
          <a:xfrm>
            <a:off x="10877550" y="397764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77550" y="39776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 name="Oval 15"/>
          <p:cNvSpPr/>
          <p:nvPr/>
        </p:nvSpPr>
        <p:spPr>
          <a:xfrm>
            <a:off x="10877550" y="43434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77550" y="4343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8" name="Oval 17"/>
          <p:cNvSpPr/>
          <p:nvPr/>
        </p:nvSpPr>
        <p:spPr>
          <a:xfrm>
            <a:off x="10877550" y="470916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77550" y="47091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0" name="Oval 19"/>
          <p:cNvSpPr/>
          <p:nvPr/>
        </p:nvSpPr>
        <p:spPr>
          <a:xfrm>
            <a:off x="1190625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target</a:t>
            </a:r>
          </a:p>
        </p:txBody>
      </p:sp>
      <p:sp>
        <p:nvSpPr>
          <p:cNvPr id="23" name="TextBox 22"/>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Already in rad/s: no conversion</a:t>
            </a:r>
          </a:p>
        </p:txBody>
      </p:sp>
      <p:sp>
        <p:nvSpPr>
          <p:cNvPr id="24" name="Oval 23"/>
          <p:cNvSpPr/>
          <p:nvPr/>
        </p:nvSpPr>
        <p:spPr>
          <a:xfrm>
            <a:off x="1190625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906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2515850" y="4629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Volts</a:t>
            </a:r>
          </a:p>
        </p:txBody>
      </p:sp>
      <p:sp>
        <p:nvSpPr>
          <p:cNvPr id="27" name="TextBox 26"/>
          <p:cNvSpPr txBox="1"/>
          <p:nvPr/>
        </p:nvSpPr>
        <p:spPr>
          <a:xfrm>
            <a:off x="12515850" y="5048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kV × speed: the guess</a:t>
            </a:r>
          </a:p>
        </p:txBody>
      </p:sp>
      <p:sp>
        <p:nvSpPr>
          <p:cNvPr id="28" name="Oval 27"/>
          <p:cNvSpPr/>
          <p:nvPr/>
        </p:nvSpPr>
        <p:spPr>
          <a:xfrm>
            <a:off x="1190625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906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2515850" y="6248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Duty cycle</a:t>
            </a:r>
          </a:p>
        </p:txBody>
      </p:sp>
      <p:sp>
        <p:nvSpPr>
          <p:cNvPr id="31" name="TextBox 30"/>
          <p:cNvSpPr txBox="1"/>
          <p:nvPr/>
        </p:nvSpPr>
        <p:spPr>
          <a:xfrm>
            <a:off x="12515850" y="6667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Volts ÷ 12, sent to the motor</a:t>
            </a:r>
          </a:p>
        </p:txBody>
      </p:sp>
      <p:pic>
        <p:nvPicPr>
          <p:cNvPr id="32" name="Picture 31" descr="code-slash.png"/>
          <p:cNvPicPr>
            <a:picLocks noChangeAspect="1"/>
          </p:cNvPicPr>
          <p:nvPr/>
        </p:nvPicPr>
        <p:blipFill>
          <a:blip r:embed="rId3"/>
          <a:stretch>
            <a:fillRect/>
          </a:stretch>
        </p:blipFill>
        <p:spPr>
          <a:xfrm>
            <a:off x="914400" y="6134100"/>
            <a:ext cx="224518" cy="209550"/>
          </a:xfrm>
          <a:prstGeom prst="rect">
            <a:avLst/>
          </a:prstGeom>
        </p:spPr>
      </p:pic>
      <p:sp>
        <p:nvSpPr>
          <p:cNvPr id="33" name="TextBox 32"/>
          <p:cNvSpPr txBox="1"/>
          <p:nvPr/>
        </p:nvSpPr>
        <p:spPr>
          <a:xfrm>
            <a:off x="1295400" y="6096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Operators</a:t>
            </a:r>
          </a:p>
        </p:txBody>
      </p:sp>
      <p:sp>
        <p:nvSpPr>
          <p:cNvPr id="34" name="Rounded Rectangle 33"/>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eye-slash.png"/>
          <p:cNvPicPr>
            <a:picLocks noChangeAspect="1"/>
          </p:cNvPicPr>
          <p:nvPr/>
        </p:nvPicPr>
        <p:blipFill>
          <a:blip r:embed="rId4"/>
          <a:stretch>
            <a:fillRect/>
          </a:stretch>
        </p:blipFill>
        <p:spPr>
          <a:xfrm>
            <a:off x="1295400" y="7781925"/>
            <a:ext cx="669365" cy="533400"/>
          </a:xfrm>
          <a:prstGeom prst="rect">
            <a:avLst/>
          </a:prstGeom>
        </p:spPr>
      </p:pic>
      <p:sp>
        <p:nvSpPr>
          <p:cNvPr id="36" name="TextBox 35"/>
          <p:cNvSpPr txBox="1"/>
          <p:nvPr/>
        </p:nvSpPr>
        <p:spPr>
          <a:xfrm>
            <a:off x="2152650" y="7524750"/>
            <a:ext cx="14859000" cy="10477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It never calls </a:t>
            </a:r>
            <a:r>
              <a:rPr sz="2100" b="0" i="0">
                <a:solidFill>
                  <a:srgbClr val="F0E8E8"/>
                </a:solidFill>
                <a:latin typeface="Geist Mono"/>
                <a:ea typeface="Geist Mono"/>
                <a:cs typeface="Geist Mono"/>
              </a:rPr>
              <a:t>getCurrentVelocity()</a:t>
            </a:r>
            <a:r>
              <a:rPr sz="2100" b="0" i="0">
                <a:solidFill>
                  <a:srgbClr val="F0E8E8"/>
                </a:solidFill>
                <a:latin typeface="Geist"/>
                <a:ea typeface="Geist"/>
                <a:cs typeface="Geist"/>
              </a:rPr>
              <a:t>. No sensor: that's what makes it open loop.</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Finding kV by experiment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68246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3959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543061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28773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417875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03587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TextBox 15"/>
          <p:cNvSpPr txBox="1"/>
          <p:nvPr/>
        </p:nvSpPr>
        <p:spPr>
          <a:xfrm>
            <a:off x="3843338"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7" name="TextBox 16"/>
          <p:cNvSpPr txBox="1"/>
          <p:nvPr/>
        </p:nvSpPr>
        <p:spPr>
          <a:xfrm>
            <a:off x="6010275"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18" name="TextBox 17"/>
          <p:cNvSpPr txBox="1"/>
          <p:nvPr/>
        </p:nvSpPr>
        <p:spPr>
          <a:xfrm>
            <a:off x="8177212"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19" name="TextBox 18"/>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0" name="TextBox 19"/>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FLYWHEEL SPEED (RAD/S)</a:t>
            </a:r>
          </a:p>
        </p:txBody>
      </p:sp>
      <p:sp>
        <p:nvSpPr>
          <p:cNvPr id="21" name="TextBox 20"/>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2" name="Rectangle 21"/>
          <p:cNvSpPr/>
          <p:nvPr/>
        </p:nvSpPr>
        <p:spPr>
          <a:xfrm>
            <a:off x="2152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438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724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009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295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581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867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152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438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24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010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5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581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867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153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438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724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010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296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581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867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153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439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8724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010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9296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582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867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0153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0439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0725150" y="417399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3" name="Connector 52"/>
          <p:cNvCxnSpPr/>
          <p:nvPr/>
        </p:nvCxnSpPr>
        <p:spPr>
          <a:xfrm flipV="1">
            <a:off x="2152650" y="7680269"/>
            <a:ext cx="238363" cy="26358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2391013" y="7442854"/>
            <a:ext cx="260033" cy="23741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651046" y="7234000"/>
            <a:ext cx="281702" cy="20885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932748" y="7060094"/>
            <a:ext cx="292536" cy="17390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225284" y="6912160"/>
            <a:ext cx="314206" cy="14793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539490" y="6785519"/>
            <a:ext cx="346710" cy="12664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886200" y="6680709"/>
            <a:ext cx="379214" cy="10481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65414" y="6594856"/>
            <a:ext cx="422553" cy="8585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687967" y="6518700"/>
            <a:ext cx="541734" cy="7615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229701" y="6461498"/>
            <a:ext cx="639247" cy="5720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868948" y="6421706"/>
            <a:ext cx="758428" cy="3979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627376" y="6396014"/>
            <a:ext cx="931783" cy="2569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559159" y="6396014"/>
            <a:ext cx="10835" cy="93868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569994" y="7146933"/>
            <a:ext cx="281702" cy="18777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7851696" y="6980342"/>
            <a:ext cx="314206" cy="16659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165902" y="6841634"/>
            <a:ext cx="335875" cy="13870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501777" y="6725558"/>
            <a:ext cx="368379" cy="11607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870156" y="6631554"/>
            <a:ext cx="400884" cy="9400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271040" y="6554708"/>
            <a:ext cx="455057" cy="7684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726097" y="6495301"/>
            <a:ext cx="509230" cy="5940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0235327" y="6450416"/>
            <a:ext cx="585073" cy="4488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9010650" y="6526616"/>
            <a:ext cx="1771650" cy="285750"/>
          </a:xfrm>
          <a:prstGeom prst="rect">
            <a:avLst/>
          </a:prstGeom>
          <a:noFill/>
        </p:spPr>
        <p:txBody>
          <a:bodyPr wrap="square" lIns="0" rIns="0" tIns="0" bIns="0" anchor="t">
            <a:spAutoFit/>
          </a:bodyPr>
          <a:lstStyle/>
          <a:p>
            <a:pPr algn="r"/>
            <a:r>
              <a:rPr sz="1500" b="1" i="0">
                <a:solidFill>
                  <a:srgbClr val="9A7878"/>
                </a:solidFill>
                <a:latin typeface="Geist Mono"/>
                <a:ea typeface="Geist Mono"/>
                <a:cs typeface="Geist Mono"/>
              </a:rPr>
              <a:t>kV 0.008</a:t>
            </a:r>
          </a:p>
        </p:txBody>
      </p:sp>
      <p:cxnSp>
        <p:nvCxnSpPr>
          <p:cNvPr id="75" name="Connector 74"/>
          <p:cNvCxnSpPr/>
          <p:nvPr/>
        </p:nvCxnSpPr>
        <p:spPr>
          <a:xfrm flipV="1">
            <a:off x="2152650" y="7416689"/>
            <a:ext cx="238363" cy="527161"/>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391013" y="6959803"/>
            <a:ext cx="249198" cy="456886"/>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640211" y="6553165"/>
            <a:ext cx="270867" cy="406638"/>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911078" y="6199503"/>
            <a:ext cx="292537" cy="353662"/>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203615" y="5898658"/>
            <a:ext cx="314206" cy="300845"/>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517821" y="5641115"/>
            <a:ext cx="346710" cy="257543"/>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864531" y="5427969"/>
            <a:ext cx="379214" cy="213146"/>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4243745" y="5257179"/>
            <a:ext cx="411718" cy="170790"/>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4655463" y="5170982"/>
            <a:ext cx="270867" cy="86197"/>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4926330" y="5098502"/>
            <a:ext cx="281702" cy="72480"/>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208032" y="4982174"/>
            <a:ext cx="639246" cy="116328"/>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847278" y="4901249"/>
            <a:ext cx="758429" cy="80925"/>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605707" y="4848177"/>
            <a:ext cx="953452" cy="53072"/>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559159" y="4848177"/>
            <a:ext cx="10835" cy="938486"/>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7569994" y="5594157"/>
            <a:ext cx="281702" cy="192506"/>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7851696" y="5423365"/>
            <a:ext cx="314206" cy="170792"/>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8165902" y="5281159"/>
            <a:ext cx="335875" cy="142206"/>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8501777" y="5162155"/>
            <a:ext cx="368379" cy="119004"/>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8870156" y="5065780"/>
            <a:ext cx="400884" cy="96375"/>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271040" y="4986996"/>
            <a:ext cx="455057" cy="78784"/>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726097" y="4926091"/>
            <a:ext cx="509230" cy="60905"/>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0235327" y="4880073"/>
            <a:ext cx="585073" cy="46018"/>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9010650" y="4956273"/>
            <a:ext cx="1771650" cy="285750"/>
          </a:xfrm>
          <a:prstGeom prst="rect">
            <a:avLst/>
          </a:prstGeom>
          <a:noFill/>
        </p:spPr>
        <p:txBody>
          <a:bodyPr wrap="square" lIns="0" rIns="0" tIns="0" bIns="0" anchor="t">
            <a:spAutoFit/>
          </a:bodyPr>
          <a:lstStyle/>
          <a:p>
            <a:pPr algn="r"/>
            <a:r>
              <a:rPr sz="1500" b="1" i="0">
                <a:solidFill>
                  <a:srgbClr val="6FA8DC"/>
                </a:solidFill>
                <a:latin typeface="Geist Mono"/>
                <a:ea typeface="Geist Mono"/>
                <a:cs typeface="Geist Mono"/>
              </a:rPr>
              <a:t>kV 0.016</a:t>
            </a:r>
          </a:p>
        </p:txBody>
      </p:sp>
      <p:cxnSp>
        <p:nvCxnSpPr>
          <p:cNvPr id="98" name="Connector 97"/>
          <p:cNvCxnSpPr/>
          <p:nvPr/>
        </p:nvCxnSpPr>
        <p:spPr>
          <a:xfrm flipV="1">
            <a:off x="2152650" y="7314551"/>
            <a:ext cx="238363" cy="62929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391013" y="6769144"/>
            <a:ext cx="249198" cy="54540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640211" y="6283719"/>
            <a:ext cx="270867" cy="48542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911078" y="5861536"/>
            <a:ext cx="292537" cy="42218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203615" y="5502402"/>
            <a:ext cx="314206" cy="35913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517821" y="5203378"/>
            <a:ext cx="335875" cy="29902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853696" y="5069405"/>
            <a:ext cx="184190" cy="13397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4037886" y="4946803"/>
            <a:ext cx="195024" cy="12260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4232910" y="4741216"/>
            <a:ext cx="411718" cy="20558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4644628" y="4637457"/>
            <a:ext cx="270867" cy="10375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4915495" y="4550208"/>
            <a:ext cx="281702" cy="8724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197197" y="4475170"/>
            <a:ext cx="303371" cy="7503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500568" y="4410178"/>
            <a:ext cx="335876" cy="6499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36444" y="4311746"/>
            <a:ext cx="769263" cy="9843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605707" y="4248390"/>
            <a:ext cx="953452" cy="6335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559159" y="4248390"/>
            <a:ext cx="10835" cy="93840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7569994" y="4992456"/>
            <a:ext cx="281702" cy="19434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7851696" y="4820036"/>
            <a:ext cx="314206" cy="17242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165902" y="4676474"/>
            <a:ext cx="335875" cy="14356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8501777" y="4556336"/>
            <a:ext cx="368379" cy="12013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870156" y="4459042"/>
            <a:ext cx="400884" cy="9729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9271040" y="4379508"/>
            <a:ext cx="455057" cy="7953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9726097" y="4318021"/>
            <a:ext cx="509230" cy="6148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0235327" y="4271565"/>
            <a:ext cx="585073" cy="4645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9010650" y="4347765"/>
            <a:ext cx="1771650" cy="285750"/>
          </a:xfrm>
          <a:prstGeom prst="rect">
            <a:avLst/>
          </a:prstGeom>
          <a:noFill/>
        </p:spPr>
        <p:txBody>
          <a:bodyPr wrap="square" lIns="0" rIns="0" tIns="0" bIns="0" anchor="t">
            <a:spAutoFit/>
          </a:bodyPr>
          <a:lstStyle/>
          <a:p>
            <a:pPr algn="r"/>
            <a:r>
              <a:rPr sz="1500" b="1" i="0">
                <a:solidFill>
                  <a:srgbClr val="D5000E"/>
                </a:solidFill>
                <a:latin typeface="Geist Mono"/>
                <a:ea typeface="Geist Mono"/>
                <a:cs typeface="Geist Mono"/>
              </a:rPr>
              <a:t>kV 0.0191</a:t>
            </a:r>
          </a:p>
        </p:txBody>
      </p:sp>
      <p:sp>
        <p:nvSpPr>
          <p:cNvPr id="123" name="TextBox 122"/>
          <p:cNvSpPr txBox="1"/>
          <p:nvPr/>
        </p:nvSpPr>
        <p:spPr>
          <a:xfrm>
            <a:off x="2247900" y="3845379"/>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setpoint 300</a:t>
            </a:r>
          </a:p>
        </p:txBody>
      </p:sp>
      <p:sp>
        <p:nvSpPr>
          <p:cNvPr id="124" name="Oval 123"/>
          <p:cNvSpPr/>
          <p:nvPr/>
        </p:nvSpPr>
        <p:spPr>
          <a:xfrm>
            <a:off x="6512719" y="653687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512719" y="653687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26" name="Oval 125"/>
          <p:cNvSpPr/>
          <p:nvPr/>
        </p:nvSpPr>
        <p:spPr>
          <a:xfrm>
            <a:off x="6512719" y="500960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512719" y="50096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8" name="Oval 127"/>
          <p:cNvSpPr/>
          <p:nvPr/>
        </p:nvSpPr>
        <p:spPr>
          <a:xfrm>
            <a:off x="6512719" y="439619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512719" y="439619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0" name="Oval 129"/>
          <p:cNvSpPr/>
          <p:nvPr/>
        </p:nvSpPr>
        <p:spPr>
          <a:xfrm>
            <a:off x="7055644" y="575037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055644" y="57503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32" name="Oval 131"/>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4" name="TextBox 133"/>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0.008</a:t>
            </a:r>
          </a:p>
        </p:txBody>
      </p:sp>
      <p:sp>
        <p:nvSpPr>
          <p:cNvPr id="135" name="TextBox 134"/>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Far too few volts: way too slow</a:t>
            </a:r>
          </a:p>
        </p:txBody>
      </p:sp>
      <p:sp>
        <p:nvSpPr>
          <p:cNvPr id="136" name="Oval 135"/>
          <p:cNvSpPr/>
          <p:nvPr/>
        </p:nvSpPr>
        <p:spPr>
          <a:xfrm>
            <a:off x="11906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8" name="TextBox 137"/>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0.016</a:t>
            </a:r>
          </a:p>
        </p:txBody>
      </p:sp>
      <p:sp>
        <p:nvSpPr>
          <p:cNvPr id="139" name="TextBox 138"/>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Close, still short</a:t>
            </a:r>
          </a:p>
        </p:txBody>
      </p:sp>
      <p:sp>
        <p:nvSpPr>
          <p:cNvPr id="140" name="Oval 139"/>
          <p:cNvSpPr/>
          <p:nvPr/>
        </p:nvSpPr>
        <p:spPr>
          <a:xfrm>
            <a:off x="11906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2" name="TextBox 141"/>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0.0191</a:t>
            </a:r>
          </a:p>
        </p:txBody>
      </p:sp>
      <p:sp>
        <p:nvSpPr>
          <p:cNvPr id="143" name="TextBox 142"/>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right, but slow to get there</a:t>
            </a:r>
          </a:p>
        </p:txBody>
      </p:sp>
      <p:sp>
        <p:nvSpPr>
          <p:cNvPr id="144" name="Oval 143"/>
          <p:cNvSpPr/>
          <p:nvPr/>
        </p:nvSpPr>
        <p:spPr>
          <a:xfrm>
            <a:off x="11906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1906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46" name="TextBox 145"/>
          <p:cNvSpPr txBox="1"/>
          <p:nvPr/>
        </p:nvSpPr>
        <p:spPr>
          <a:xfrm>
            <a:off x="12515850" y="7105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launch</a:t>
            </a:r>
          </a:p>
        </p:txBody>
      </p:sp>
      <p:sp>
        <p:nvSpPr>
          <p:cNvPr id="147" name="TextBox 146"/>
          <p:cNvSpPr txBox="1"/>
          <p:nvPr/>
        </p:nvSpPr>
        <p:spPr>
          <a:xfrm>
            <a:off x="12515850" y="7524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Dips, and it never notices</a:t>
            </a:r>
          </a:p>
        </p:txBody>
      </p:sp>
      <p:sp>
        <p:nvSpPr>
          <p:cNvPr id="148" name="TextBox 1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9" name="TextBox 1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whole guess: kS, kV, kA, kG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333500"/>
          </a:xfrm>
          <a:prstGeom prst="roundRect">
            <a:avLst>
              <a:gd name="adj" fmla="val 1142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6459200" cy="1333500"/>
          </a:xfrm>
          <a:prstGeom prst="rect">
            <a:avLst/>
          </a:prstGeom>
          <a:noFill/>
        </p:spPr>
        <p:txBody>
          <a:bodyPr wrap="square" lIns="0" rIns="0" tIns="0" bIns="0" anchor="ctr">
            <a:spAutoFit/>
          </a:bodyPr>
          <a:lstStyle/>
          <a:p>
            <a:pPr algn="ctr"/>
            <a:r>
              <a:rPr sz="3600" b="0" i="0">
                <a:solidFill>
                  <a:srgbClr val="F0E8E8"/>
                </a:solidFill>
                <a:latin typeface="Geist Mono"/>
                <a:ea typeface="Geist Mono"/>
                <a:cs typeface="Geist Mono"/>
              </a:rPr>
              <a:t>V</a:t>
            </a:r>
            <a:r>
              <a:rPr sz="3600" b="0" i="0">
                <a:solidFill>
                  <a:srgbClr val="9A7878"/>
                </a:solidFill>
                <a:latin typeface="Geist Mono"/>
                <a:ea typeface="Geist Mono"/>
                <a:cs typeface="Geist Mono"/>
              </a:rPr>
              <a:t> = </a:t>
            </a:r>
            <a:r>
              <a:rPr sz="3600" b="0" i="0">
                <a:solidFill>
                  <a:srgbClr val="E8C27A"/>
                </a:solidFill>
                <a:latin typeface="Geist Mono"/>
                <a:ea typeface="Geist Mono"/>
                <a:cs typeface="Geist Mono"/>
              </a:rPr>
              <a:t>kG</a:t>
            </a:r>
            <a:r>
              <a:rPr sz="3600" b="0" i="0">
                <a:solidFill>
                  <a:srgbClr val="9A7878"/>
                </a:solidFill>
                <a:latin typeface="Geist Mono"/>
                <a:ea typeface="Geist Mono"/>
                <a:cs typeface="Geist Mono"/>
              </a:rPr>
              <a:t> + </a:t>
            </a:r>
            <a:r>
              <a:rPr sz="3600" b="0" i="0">
                <a:solidFill>
                  <a:srgbClr val="E8C27A"/>
                </a:solidFill>
                <a:latin typeface="Geist Mono"/>
                <a:ea typeface="Geist Mono"/>
                <a:cs typeface="Geist Mono"/>
              </a:rPr>
              <a:t>kS</a:t>
            </a:r>
            <a:r>
              <a:rPr sz="3600" b="0" i="0">
                <a:solidFill>
                  <a:srgbClr val="F0E8E8"/>
                </a:solidFill>
                <a:latin typeface="Geist Mono"/>
                <a:ea typeface="Geist Mono"/>
                <a:cs typeface="Geist Mono"/>
              </a:rPr>
              <a:t>·sign(v)</a:t>
            </a:r>
            <a:r>
              <a:rPr sz="3600" b="0" i="0">
                <a:solidFill>
                  <a:srgbClr val="9A7878"/>
                </a:solidFill>
                <a:latin typeface="Geist Mono"/>
                <a:ea typeface="Geist Mono"/>
                <a:cs typeface="Geist Mono"/>
              </a:rPr>
              <a:t> + </a:t>
            </a:r>
            <a:r>
              <a:rPr sz="3600" b="1" i="0">
                <a:solidFill>
                  <a:srgbClr val="D5000E"/>
                </a:solidFill>
                <a:latin typeface="Geist Mono"/>
                <a:ea typeface="Geist Mono"/>
                <a:cs typeface="Geist Mono"/>
              </a:rPr>
              <a:t>kV</a:t>
            </a:r>
            <a:r>
              <a:rPr sz="3600" b="0" i="0">
                <a:solidFill>
                  <a:srgbClr val="F0E8E8"/>
                </a:solidFill>
                <a:latin typeface="Geist Mono"/>
                <a:ea typeface="Geist Mono"/>
                <a:cs typeface="Geist Mono"/>
              </a:rPr>
              <a:t>·v</a:t>
            </a:r>
            <a:r>
              <a:rPr sz="3600" b="0" i="0">
                <a:solidFill>
                  <a:srgbClr val="9A7878"/>
                </a:solidFill>
                <a:latin typeface="Geist Mono"/>
                <a:ea typeface="Geist Mono"/>
                <a:cs typeface="Geist Mono"/>
              </a:rPr>
              <a:t> + </a:t>
            </a:r>
            <a:r>
              <a:rPr sz="3600" b="0" i="0">
                <a:solidFill>
                  <a:srgbClr val="E8C27A"/>
                </a:solidFill>
                <a:latin typeface="Geist Mono"/>
                <a:ea typeface="Geist Mono"/>
                <a:cs typeface="Geist Mono"/>
              </a:rPr>
              <a:t>kA</a:t>
            </a:r>
            <a:r>
              <a:rPr sz="3600" b="0" i="0">
                <a:solidFill>
                  <a:srgbClr val="F0E8E8"/>
                </a:solidFill>
                <a:latin typeface="Geist Mono"/>
                <a:ea typeface="Geist Mono"/>
                <a:cs typeface="Geist Mono"/>
              </a:rPr>
              <a:t>·a</a:t>
            </a:r>
          </a:p>
        </p:txBody>
      </p:sp>
      <p:sp>
        <p:nvSpPr>
          <p:cNvPr id="7" name="Rounded Rectangle 6"/>
          <p:cNvSpPr/>
          <p:nvPr/>
        </p:nvSpPr>
        <p:spPr>
          <a:xfrm>
            <a:off x="914400" y="4667250"/>
            <a:ext cx="3886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504825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kS  static</a:t>
            </a:r>
          </a:p>
        </p:txBody>
      </p:sp>
      <p:sp>
        <p:nvSpPr>
          <p:cNvPr id="9" name="TextBox 8"/>
          <p:cNvSpPr txBox="1"/>
          <p:nvPr/>
        </p:nvSpPr>
        <p:spPr>
          <a:xfrm>
            <a:off x="1295400" y="5610225"/>
            <a:ext cx="3124200" cy="1714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Volts to just barely get moving. Beats friction.</a:t>
            </a:r>
          </a:p>
        </p:txBody>
      </p:sp>
      <p:sp>
        <p:nvSpPr>
          <p:cNvPr id="10" name="Rounded Rectangle 9"/>
          <p:cNvSpPr/>
          <p:nvPr/>
        </p:nvSpPr>
        <p:spPr>
          <a:xfrm>
            <a:off x="5105400" y="4667250"/>
            <a:ext cx="3886200" cy="2667000"/>
          </a:xfrm>
          <a:prstGeom prst="roundRect">
            <a:avLst>
              <a:gd name="adj" fmla="val 571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0" y="504825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kV  velocity</a:t>
            </a:r>
          </a:p>
        </p:txBody>
      </p:sp>
      <p:sp>
        <p:nvSpPr>
          <p:cNvPr id="12" name="TextBox 11"/>
          <p:cNvSpPr txBox="1"/>
          <p:nvPr/>
        </p:nvSpPr>
        <p:spPr>
          <a:xfrm>
            <a:off x="5486400" y="5610225"/>
            <a:ext cx="3124200" cy="1714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Volts to cruise at a speed. Today's lesson.</a:t>
            </a:r>
          </a:p>
        </p:txBody>
      </p:sp>
      <p:sp>
        <p:nvSpPr>
          <p:cNvPr id="13" name="Rounded Rectangle 12"/>
          <p:cNvSpPr/>
          <p:nvPr/>
        </p:nvSpPr>
        <p:spPr>
          <a:xfrm>
            <a:off x="9296400" y="4667250"/>
            <a:ext cx="3886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77400" y="504825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kA  acceleration</a:t>
            </a:r>
          </a:p>
        </p:txBody>
      </p:sp>
      <p:sp>
        <p:nvSpPr>
          <p:cNvPr id="15" name="TextBox 14"/>
          <p:cNvSpPr txBox="1"/>
          <p:nvPr/>
        </p:nvSpPr>
        <p:spPr>
          <a:xfrm>
            <a:off x="9677400" y="5610225"/>
            <a:ext cx="3124200" cy="1714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Extra volts to speed up quickly.</a:t>
            </a:r>
          </a:p>
        </p:txBody>
      </p:sp>
      <p:sp>
        <p:nvSpPr>
          <p:cNvPr id="16" name="Rounded Rectangle 15"/>
          <p:cNvSpPr/>
          <p:nvPr/>
        </p:nvSpPr>
        <p:spPr>
          <a:xfrm>
            <a:off x="13487400" y="4667250"/>
            <a:ext cx="3886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868400" y="504825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kG  gravity</a:t>
            </a:r>
          </a:p>
        </p:txBody>
      </p:sp>
      <p:sp>
        <p:nvSpPr>
          <p:cNvPr id="18" name="TextBox 17"/>
          <p:cNvSpPr txBox="1"/>
          <p:nvPr/>
        </p:nvSpPr>
        <p:spPr>
          <a:xfrm>
            <a:off x="13868400" y="5610225"/>
            <a:ext cx="3124200" cy="1714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Volts to hold an elevator or arm up.</a:t>
            </a:r>
          </a:p>
        </p:txBody>
      </p:sp>
      <p:sp>
        <p:nvSpPr>
          <p:cNvPr id="19" name="TextBox 18"/>
          <p:cNvSpPr txBox="1"/>
          <p:nvPr/>
        </p:nvSpPr>
        <p:spPr>
          <a:xfrm>
            <a:off x="914400" y="7810500"/>
            <a:ext cx="16459200" cy="762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v is the target speed and a the target acceleration. Our flywheel needs only </a:t>
            </a:r>
            <a:r>
              <a:rPr sz="1950" b="1" i="0">
                <a:solidFill>
                  <a:srgbClr val="9A7878"/>
                </a:solidFill>
                <a:latin typeface="Geist"/>
                <a:ea typeface="Geist"/>
                <a:cs typeface="Geist"/>
              </a:rPr>
              <a:t>kV</a:t>
            </a:r>
            <a:r>
              <a:rPr sz="1950" b="0" i="0">
                <a:solidFill>
                  <a:srgbClr val="9A7878"/>
                </a:solidFill>
                <a:latin typeface="Geist"/>
                <a:ea typeface="Geist"/>
                <a:cs typeface="Geist"/>
              </a:rPr>
              <a:t>: no gravity, little friction.</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kG: holding things up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0960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5334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Elevator</a:t>
            </a:r>
          </a:p>
        </p:txBody>
      </p:sp>
      <p:sp>
        <p:nvSpPr>
          <p:cNvPr id="7" name="TextBox 6"/>
          <p:cNvSpPr txBox="1"/>
          <p:nvPr/>
        </p:nvSpPr>
        <p:spPr>
          <a:xfrm>
            <a:off x="1295400" y="3619500"/>
            <a:ext cx="5334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Same pull at every height</a:t>
            </a:r>
          </a:p>
        </p:txBody>
      </p:sp>
      <p:sp>
        <p:nvSpPr>
          <p:cNvPr id="8" name="Rectangle 7"/>
          <p:cNvSpPr/>
          <p:nvPr/>
        </p:nvSpPr>
        <p:spPr>
          <a:xfrm>
            <a:off x="205740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0510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209800" y="6667500"/>
            <a:ext cx="457200" cy="381000"/>
          </a:xfrm>
          <a:prstGeom prst="roundRect">
            <a:avLst>
              <a:gd name="adj" fmla="val 15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414588" y="7081838"/>
            <a:ext cx="47625" cy="52006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10800000">
            <a:off x="2362200" y="75628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665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2435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829050" y="5619750"/>
            <a:ext cx="457200" cy="381000"/>
          </a:xfrm>
          <a:prstGeom prst="roundRect">
            <a:avLst>
              <a:gd name="adj" fmla="val 15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033838" y="6034088"/>
            <a:ext cx="47625" cy="52006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10800000">
            <a:off x="3981450" y="65151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9590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94360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448300" y="4572000"/>
            <a:ext cx="457200" cy="381000"/>
          </a:xfrm>
          <a:prstGeom prst="roundRect">
            <a:avLst>
              <a:gd name="adj" fmla="val 15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53088" y="4986338"/>
            <a:ext cx="47625" cy="52006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10800000">
            <a:off x="5600700" y="54673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95400" y="7943850"/>
            <a:ext cx="5334000" cy="381000"/>
          </a:xfrm>
          <a:prstGeom prst="rect">
            <a:avLst/>
          </a:prstGeom>
          <a:noFill/>
        </p:spPr>
        <p:txBody>
          <a:bodyPr wrap="square" lIns="0" rIns="0" tIns="0" bIns="0" anchor="t">
            <a:spAutoFit/>
          </a:bodyPr>
          <a:lstStyle/>
          <a:p>
            <a:pPr algn="l"/>
            <a:r>
              <a:rPr sz="2100" b="0" i="0">
                <a:solidFill>
                  <a:srgbClr val="9A7878"/>
                </a:solidFill>
                <a:latin typeface="Geist Mono"/>
                <a:ea typeface="Geist Mono"/>
                <a:cs typeface="Geist Mono"/>
              </a:rPr>
              <a:t>V = </a:t>
            </a:r>
            <a:r>
              <a:rPr sz="2100" b="1" i="0">
                <a:solidFill>
                  <a:srgbClr val="D5000E"/>
                </a:solidFill>
                <a:latin typeface="Geist Mono"/>
                <a:ea typeface="Geist Mono"/>
                <a:cs typeface="Geist Mono"/>
              </a:rPr>
              <a:t>kG</a:t>
            </a:r>
          </a:p>
        </p:txBody>
      </p:sp>
      <p:sp>
        <p:nvSpPr>
          <p:cNvPr id="24" name="Rounded Rectangle 23"/>
          <p:cNvSpPr/>
          <p:nvPr/>
        </p:nvSpPr>
        <p:spPr>
          <a:xfrm>
            <a:off x="7391400" y="2857500"/>
            <a:ext cx="9982200" cy="5715000"/>
          </a:xfrm>
          <a:prstGeom prst="roundRect">
            <a:avLst>
              <a:gd name="adj" fmla="val 2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0" y="3143250"/>
            <a:ext cx="857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Arm</a:t>
            </a:r>
          </a:p>
        </p:txBody>
      </p:sp>
      <p:sp>
        <p:nvSpPr>
          <p:cNvPr id="26" name="TextBox 25"/>
          <p:cNvSpPr txBox="1"/>
          <p:nvPr/>
        </p:nvSpPr>
        <p:spPr>
          <a:xfrm>
            <a:off x="7772400" y="361950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Gravity's pull depends on the angle</a:t>
            </a:r>
          </a:p>
        </p:txBody>
      </p:sp>
      <p:sp>
        <p:nvSpPr>
          <p:cNvPr id="27" name="Rectangle 26"/>
          <p:cNvSpPr/>
          <p:nvPr/>
        </p:nvSpPr>
        <p:spPr>
          <a:xfrm>
            <a:off x="8505825" y="4505325"/>
            <a:ext cx="133350" cy="29908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401050" y="4400550"/>
            <a:ext cx="342900" cy="3429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0150" y="4191000"/>
            <a:ext cx="1905000" cy="285750"/>
          </a:xfrm>
          <a:prstGeom prst="rect">
            <a:avLst/>
          </a:prstGeom>
          <a:noFill/>
        </p:spPr>
        <p:txBody>
          <a:bodyPr wrap="square" lIns="0" rIns="0" tIns="0" bIns="0" anchor="t">
            <a:spAutoFit/>
          </a:bodyPr>
          <a:lstStyle/>
          <a:p>
            <a:pPr algn="l"/>
            <a:r>
              <a:rPr sz="1650" b="1" i="0">
                <a:solidFill>
                  <a:srgbClr val="9A7878"/>
                </a:solidFill>
                <a:latin typeface="Geist Mono"/>
                <a:ea typeface="Geist Mono"/>
                <a:cs typeface="Geist Mono"/>
              </a:rPr>
              <a:t>π/2 rad (90°)</a:t>
            </a:r>
          </a:p>
        </p:txBody>
      </p:sp>
      <p:cxnSp>
        <p:nvCxnSpPr>
          <p:cNvPr id="30" name="Connector 29"/>
          <p:cNvCxnSpPr/>
          <p:nvPr/>
        </p:nvCxnSpPr>
        <p:spPr>
          <a:xfrm flipV="1">
            <a:off x="8572500" y="5408942"/>
            <a:ext cx="2020558" cy="2020558"/>
          </a:xfrm>
          <a:prstGeom prst="line">
            <a:avLst/>
          </a:prstGeom>
          <a:ln w="133350">
            <a:solidFill>
              <a:srgbClr val="9A7878"/>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421608" y="5237492"/>
            <a:ext cx="342900" cy="3429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840708" y="5027942"/>
            <a:ext cx="1905000" cy="285750"/>
          </a:xfrm>
          <a:prstGeom prst="rect">
            <a:avLst/>
          </a:prstGeom>
          <a:noFill/>
        </p:spPr>
        <p:txBody>
          <a:bodyPr wrap="square" lIns="0" rIns="0" tIns="0" bIns="0" anchor="t">
            <a:spAutoFit/>
          </a:bodyPr>
          <a:lstStyle/>
          <a:p>
            <a:pPr algn="l"/>
            <a:r>
              <a:rPr sz="1650" b="1" i="0">
                <a:solidFill>
                  <a:srgbClr val="9A7878"/>
                </a:solidFill>
                <a:latin typeface="Geist Mono"/>
                <a:ea typeface="Geist Mono"/>
                <a:cs typeface="Geist Mono"/>
              </a:rPr>
              <a:t>π/4 rad (45°)</a:t>
            </a:r>
          </a:p>
        </p:txBody>
      </p:sp>
      <p:sp>
        <p:nvSpPr>
          <p:cNvPr id="33" name="Rectangle 32"/>
          <p:cNvSpPr/>
          <p:nvPr/>
        </p:nvSpPr>
        <p:spPr>
          <a:xfrm>
            <a:off x="8505825" y="7362825"/>
            <a:ext cx="2990850" cy="13335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1258550" y="72580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7048500"/>
            <a:ext cx="1905000" cy="285750"/>
          </a:xfrm>
          <a:prstGeom prst="rect">
            <a:avLst/>
          </a:prstGeom>
          <a:noFill/>
        </p:spPr>
        <p:txBody>
          <a:bodyPr wrap="square" lIns="0" rIns="0" tIns="0" bIns="0" anchor="t">
            <a:spAutoFit/>
          </a:bodyPr>
          <a:lstStyle/>
          <a:p>
            <a:pPr algn="l"/>
            <a:r>
              <a:rPr sz="1650" b="1" i="0">
                <a:solidFill>
                  <a:srgbClr val="F0E8E8"/>
                </a:solidFill>
                <a:latin typeface="Geist Mono"/>
                <a:ea typeface="Geist Mono"/>
                <a:cs typeface="Geist Mono"/>
              </a:rPr>
              <a:t>0 rad</a:t>
            </a:r>
          </a:p>
        </p:txBody>
      </p:sp>
      <p:sp>
        <p:nvSpPr>
          <p:cNvPr id="36" name="Oval 35"/>
          <p:cNvSpPr/>
          <p:nvPr/>
        </p:nvSpPr>
        <p:spPr>
          <a:xfrm>
            <a:off x="8343900" y="72009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668250" y="4572000"/>
            <a:ext cx="857250" cy="38100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0</a:t>
            </a:r>
          </a:p>
        </p:txBody>
      </p:sp>
      <p:sp>
        <p:nvSpPr>
          <p:cNvPr id="38" name="Rounded Rectangle 37"/>
          <p:cNvSpPr/>
          <p:nvPr/>
        </p:nvSpPr>
        <p:spPr>
          <a:xfrm>
            <a:off x="13525500" y="4629150"/>
            <a:ext cx="3238500" cy="266700"/>
          </a:xfrm>
          <a:prstGeom prst="roundRect">
            <a:avLst>
              <a:gd name="adj" fmla="val 2142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13525500" y="4629150"/>
            <a:ext cx="3238500" cy="266700"/>
          </a:xfrm>
          <a:prstGeom prst="roundRect">
            <a:avLst>
              <a:gd name="adj" fmla="val 21428"/>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3525500" y="4991100"/>
            <a:ext cx="3238500" cy="28575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cos = 1</a:t>
            </a:r>
          </a:p>
        </p:txBody>
      </p:sp>
      <p:sp>
        <p:nvSpPr>
          <p:cNvPr id="41" name="TextBox 40"/>
          <p:cNvSpPr txBox="1"/>
          <p:nvPr/>
        </p:nvSpPr>
        <p:spPr>
          <a:xfrm>
            <a:off x="12668250" y="5619750"/>
            <a:ext cx="857250" cy="38100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π/4</a:t>
            </a:r>
          </a:p>
        </p:txBody>
      </p:sp>
      <p:sp>
        <p:nvSpPr>
          <p:cNvPr id="42" name="Rounded Rectangle 41"/>
          <p:cNvSpPr/>
          <p:nvPr/>
        </p:nvSpPr>
        <p:spPr>
          <a:xfrm>
            <a:off x="13525500" y="5676900"/>
            <a:ext cx="3238500" cy="266700"/>
          </a:xfrm>
          <a:prstGeom prst="roundRect">
            <a:avLst>
              <a:gd name="adj" fmla="val 2142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13525500" y="5676900"/>
            <a:ext cx="2299335" cy="266700"/>
          </a:xfrm>
          <a:prstGeom prst="roundRect">
            <a:avLst>
              <a:gd name="adj" fmla="val 21428"/>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3525500" y="6038850"/>
            <a:ext cx="3238500" cy="28575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cos = 0.71</a:t>
            </a:r>
          </a:p>
        </p:txBody>
      </p:sp>
      <p:sp>
        <p:nvSpPr>
          <p:cNvPr id="45" name="TextBox 44"/>
          <p:cNvSpPr txBox="1"/>
          <p:nvPr/>
        </p:nvSpPr>
        <p:spPr>
          <a:xfrm>
            <a:off x="12668250" y="6667500"/>
            <a:ext cx="857250" cy="38100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π/2</a:t>
            </a:r>
          </a:p>
        </p:txBody>
      </p:sp>
      <p:sp>
        <p:nvSpPr>
          <p:cNvPr id="46" name="Rounded Rectangle 45"/>
          <p:cNvSpPr/>
          <p:nvPr/>
        </p:nvSpPr>
        <p:spPr>
          <a:xfrm>
            <a:off x="13525500" y="6724650"/>
            <a:ext cx="3238500" cy="266700"/>
          </a:xfrm>
          <a:prstGeom prst="roundRect">
            <a:avLst>
              <a:gd name="adj" fmla="val 2142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3525500" y="7086600"/>
            <a:ext cx="3238500" cy="28575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cos = 0</a:t>
            </a:r>
          </a:p>
        </p:txBody>
      </p:sp>
      <p:sp>
        <p:nvSpPr>
          <p:cNvPr id="48" name="TextBox 47"/>
          <p:cNvSpPr txBox="1"/>
          <p:nvPr/>
        </p:nvSpPr>
        <p:spPr>
          <a:xfrm>
            <a:off x="12668250" y="7810500"/>
            <a:ext cx="4572000" cy="381000"/>
          </a:xfrm>
          <a:prstGeom prst="rect">
            <a:avLst/>
          </a:prstGeom>
          <a:noFill/>
        </p:spPr>
        <p:txBody>
          <a:bodyPr wrap="square" lIns="0" rIns="0" tIns="0" bIns="0" anchor="t">
            <a:spAutoFit/>
          </a:bodyPr>
          <a:lstStyle/>
          <a:p>
            <a:pPr algn="l"/>
            <a:r>
              <a:rPr sz="2100" b="0" i="0">
                <a:solidFill>
                  <a:srgbClr val="9A7878"/>
                </a:solidFill>
                <a:latin typeface="Geist Mono"/>
                <a:ea typeface="Geist Mono"/>
                <a:cs typeface="Geist Mono"/>
              </a:rPr>
              <a:t>V = </a:t>
            </a:r>
            <a:r>
              <a:rPr sz="2100" b="1" i="0">
                <a:solidFill>
                  <a:srgbClr val="D5000E"/>
                </a:solidFill>
                <a:latin typeface="Geist Mono"/>
                <a:ea typeface="Geist Mono"/>
                <a:cs typeface="Geist Mono"/>
              </a:rPr>
              <a:t>kG</a:t>
            </a:r>
            <a:r>
              <a:rPr sz="2100" b="0" i="0">
                <a:solidFill>
                  <a:srgbClr val="F0E8E8"/>
                </a:solidFill>
                <a:latin typeface="Geist Mono"/>
                <a:ea typeface="Geist Mono"/>
                <a:cs typeface="Geist Mono"/>
              </a:rPr>
              <a:t> × cos(θ)</a:t>
            </a:r>
          </a:p>
        </p:txBody>
      </p:sp>
      <p:sp>
        <p:nvSpPr>
          <p:cNvPr id="49" name="TextBox 48"/>
          <p:cNvSpPr txBox="1"/>
          <p:nvPr/>
        </p:nvSpPr>
        <p:spPr>
          <a:xfrm>
            <a:off x="12668250" y="8210550"/>
            <a:ext cx="4572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θ in radians</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PID</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Correct by the error: P, I and 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The farther I am from the target, the harder I push!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 push in proportion to the error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2865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5753100" cy="396240"/>
          </a:xfrm>
          <a:prstGeom prst="rect">
            <a:avLst/>
          </a:prstGeom>
          <a:noFill/>
        </p:spPr>
        <p:txBody>
          <a:bodyPr wrap="square" lIns="0" rIns="0" tIns="0" bIns="0" anchor="ctr">
            <a:spAutoFit/>
          </a:bodyPr>
          <a:lstStyle/>
          <a:p>
            <a:pPr algn="l"/>
            <a:r>
              <a:rPr sz="2400" b="0" i="0">
                <a:solidFill>
                  <a:srgbClr val="F0E8E8"/>
                </a:solidFill>
                <a:latin typeface="Geist Mono"/>
                <a:ea typeface="Geist Mono"/>
                <a:cs typeface="Geist Mono"/>
              </a:rPr>
              <a:t>output = kP * error;</a:t>
            </a:r>
          </a:p>
        </p:txBody>
      </p:sp>
      <p:sp>
        <p:nvSpPr>
          <p:cNvPr id="7" name="TextBox 6"/>
          <p:cNvSpPr txBox="1"/>
          <p:nvPr/>
        </p:nvSpPr>
        <p:spPr>
          <a:xfrm>
            <a:off x="7620000" y="2857500"/>
            <a:ext cx="9753600" cy="116205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kP = 1 / 0.95 ≈ </a:t>
            </a:r>
            <a:r>
              <a:rPr sz="2100" b="1" i="0">
                <a:solidFill>
                  <a:srgbClr val="E8C27A"/>
                </a:solidFill>
                <a:latin typeface="Geist Mono"/>
                <a:ea typeface="Geist Mono"/>
                <a:cs typeface="Geist Mono"/>
              </a:rPr>
              <a:t>1.05</a:t>
            </a:r>
            <a:r>
              <a:rPr sz="2100" b="0" i="0">
                <a:solidFill>
                  <a:srgbClr val="F0E8E8"/>
                </a:solidFill>
                <a:latin typeface="Geist"/>
                <a:ea typeface="Geist"/>
                <a:cs typeface="Geist"/>
              </a:rPr>
              <a:t>: full power at the biggest error, nothing at zero.</a:t>
            </a:r>
          </a:p>
        </p:txBody>
      </p:sp>
      <p:sp>
        <p:nvSpPr>
          <p:cNvPr id="8" name="Rounded Rectangle 7"/>
          <p:cNvSpPr/>
          <p:nvPr/>
        </p:nvSpPr>
        <p:spPr>
          <a:xfrm>
            <a:off x="914400" y="4476750"/>
            <a:ext cx="164592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4476750"/>
            <a:ext cx="2857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
            </a:r>
          </a:p>
        </p:txBody>
      </p:sp>
      <p:sp>
        <p:nvSpPr>
          <p:cNvPr id="10" name="TextBox 9"/>
          <p:cNvSpPr txBox="1"/>
          <p:nvPr/>
        </p:nvSpPr>
        <p:spPr>
          <a:xfrm>
            <a:off x="2324100" y="4476750"/>
            <a:ext cx="2857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Error</a:t>
            </a:r>
          </a:p>
        </p:txBody>
      </p:sp>
      <p:sp>
        <p:nvSpPr>
          <p:cNvPr id="11" name="TextBox 10"/>
          <p:cNvSpPr txBox="1"/>
          <p:nvPr/>
        </p:nvSpPr>
        <p:spPr>
          <a:xfrm>
            <a:off x="4705350" y="4476750"/>
            <a:ext cx="2857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 kP</a:t>
            </a:r>
          </a:p>
        </p:txBody>
      </p:sp>
      <p:sp>
        <p:nvSpPr>
          <p:cNvPr id="12" name="TextBox 11"/>
          <p:cNvSpPr txBox="1"/>
          <p:nvPr/>
        </p:nvSpPr>
        <p:spPr>
          <a:xfrm>
            <a:off x="7467600" y="4476750"/>
            <a:ext cx="2857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Output</a:t>
            </a:r>
          </a:p>
        </p:txBody>
      </p:sp>
      <p:sp>
        <p:nvSpPr>
          <p:cNvPr id="13" name="Rectangle 12"/>
          <p:cNvSpPr/>
          <p:nvPr/>
        </p:nvSpPr>
        <p:spPr>
          <a:xfrm>
            <a:off x="904875" y="60293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43000" y="5219700"/>
            <a:ext cx="762000" cy="7620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a:t>
            </a:r>
          </a:p>
        </p:txBody>
      </p:sp>
      <p:sp>
        <p:nvSpPr>
          <p:cNvPr id="15" name="TextBox 14"/>
          <p:cNvSpPr txBox="1"/>
          <p:nvPr/>
        </p:nvSpPr>
        <p:spPr>
          <a:xfrm>
            <a:off x="2324100" y="5219700"/>
            <a:ext cx="19050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0.95 m</a:t>
            </a:r>
          </a:p>
        </p:txBody>
      </p:sp>
      <p:sp>
        <p:nvSpPr>
          <p:cNvPr id="16" name="TextBox 15"/>
          <p:cNvSpPr txBox="1"/>
          <p:nvPr/>
        </p:nvSpPr>
        <p:spPr>
          <a:xfrm>
            <a:off x="4705350" y="5219700"/>
            <a:ext cx="2476500" cy="76200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0.95 × 1.05</a:t>
            </a:r>
          </a:p>
        </p:txBody>
      </p:sp>
      <p:sp>
        <p:nvSpPr>
          <p:cNvPr id="17" name="Rounded Rectangle 16"/>
          <p:cNvSpPr/>
          <p:nvPr/>
        </p:nvSpPr>
        <p:spPr>
          <a:xfrm>
            <a:off x="7467600" y="5448300"/>
            <a:ext cx="7810500" cy="304800"/>
          </a:xfrm>
          <a:prstGeom prst="roundRect">
            <a:avLst>
              <a:gd name="adj" fmla="val 1875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7467600" y="5448300"/>
            <a:ext cx="7810500" cy="304800"/>
          </a:xfrm>
          <a:prstGeom prst="roundRect">
            <a:avLst>
              <a:gd name="adj" fmla="val 1875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5468600" y="5219700"/>
            <a:ext cx="1905000" cy="7620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1.00</a:t>
            </a:r>
          </a:p>
        </p:txBody>
      </p:sp>
      <p:sp>
        <p:nvSpPr>
          <p:cNvPr id="20" name="Rectangle 19"/>
          <p:cNvSpPr/>
          <p:nvPr/>
        </p:nvSpPr>
        <p:spPr>
          <a:xfrm>
            <a:off x="904875" y="69056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43000" y="6096000"/>
            <a:ext cx="762000" cy="7620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B</a:t>
            </a:r>
          </a:p>
        </p:txBody>
      </p:sp>
      <p:sp>
        <p:nvSpPr>
          <p:cNvPr id="22" name="TextBox 21"/>
          <p:cNvSpPr txBox="1"/>
          <p:nvPr/>
        </p:nvSpPr>
        <p:spPr>
          <a:xfrm>
            <a:off x="2324100" y="6096000"/>
            <a:ext cx="19050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0.45 m</a:t>
            </a:r>
          </a:p>
        </p:txBody>
      </p:sp>
      <p:sp>
        <p:nvSpPr>
          <p:cNvPr id="23" name="TextBox 22"/>
          <p:cNvSpPr txBox="1"/>
          <p:nvPr/>
        </p:nvSpPr>
        <p:spPr>
          <a:xfrm>
            <a:off x="4705350" y="6096000"/>
            <a:ext cx="2476500" cy="76200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0.45 × 1.05</a:t>
            </a:r>
          </a:p>
        </p:txBody>
      </p:sp>
      <p:sp>
        <p:nvSpPr>
          <p:cNvPr id="24" name="Rounded Rectangle 23"/>
          <p:cNvSpPr/>
          <p:nvPr/>
        </p:nvSpPr>
        <p:spPr>
          <a:xfrm>
            <a:off x="7467600" y="6324600"/>
            <a:ext cx="7810500" cy="304800"/>
          </a:xfrm>
          <a:prstGeom prst="roundRect">
            <a:avLst>
              <a:gd name="adj" fmla="val 1875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7467600" y="6324600"/>
            <a:ext cx="3699711" cy="304800"/>
          </a:xfrm>
          <a:prstGeom prst="roundRect">
            <a:avLst>
              <a:gd name="adj" fmla="val 1875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468600" y="6096000"/>
            <a:ext cx="1905000" cy="7620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0.47</a:t>
            </a:r>
          </a:p>
        </p:txBody>
      </p:sp>
      <p:sp>
        <p:nvSpPr>
          <p:cNvPr id="27" name="Rectangle 26"/>
          <p:cNvSpPr/>
          <p:nvPr/>
        </p:nvSpPr>
        <p:spPr>
          <a:xfrm>
            <a:off x="904875" y="77819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43000" y="6972300"/>
            <a:ext cx="762000" cy="7620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C</a:t>
            </a:r>
          </a:p>
        </p:txBody>
      </p:sp>
      <p:sp>
        <p:nvSpPr>
          <p:cNvPr id="29" name="TextBox 28"/>
          <p:cNvSpPr txBox="1"/>
          <p:nvPr/>
        </p:nvSpPr>
        <p:spPr>
          <a:xfrm>
            <a:off x="2324100" y="6972300"/>
            <a:ext cx="19050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0.05 m</a:t>
            </a:r>
          </a:p>
        </p:txBody>
      </p:sp>
      <p:sp>
        <p:nvSpPr>
          <p:cNvPr id="30" name="TextBox 29"/>
          <p:cNvSpPr txBox="1"/>
          <p:nvPr/>
        </p:nvSpPr>
        <p:spPr>
          <a:xfrm>
            <a:off x="4705350" y="6972300"/>
            <a:ext cx="2476500" cy="76200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0.05 × 1.05</a:t>
            </a:r>
          </a:p>
        </p:txBody>
      </p:sp>
      <p:sp>
        <p:nvSpPr>
          <p:cNvPr id="31" name="Rounded Rectangle 30"/>
          <p:cNvSpPr/>
          <p:nvPr/>
        </p:nvSpPr>
        <p:spPr>
          <a:xfrm>
            <a:off x="7467600" y="7200900"/>
            <a:ext cx="7810500" cy="304800"/>
          </a:xfrm>
          <a:prstGeom prst="roundRect">
            <a:avLst>
              <a:gd name="adj" fmla="val 1875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7467600" y="7200900"/>
            <a:ext cx="411079" cy="304800"/>
          </a:xfrm>
          <a:prstGeom prst="roundRect">
            <a:avLst>
              <a:gd name="adj" fmla="val 1875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5468600" y="6972300"/>
            <a:ext cx="1905000" cy="7620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0.05</a:t>
            </a:r>
          </a:p>
        </p:txBody>
      </p:sp>
      <p:sp>
        <p:nvSpPr>
          <p:cNvPr id="34" name="Rectangle 33"/>
          <p:cNvSpPr/>
          <p:nvPr/>
        </p:nvSpPr>
        <p:spPr>
          <a:xfrm>
            <a:off x="904875" y="86582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143000" y="7848600"/>
            <a:ext cx="762000" cy="7620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D</a:t>
            </a:r>
          </a:p>
        </p:txBody>
      </p:sp>
      <p:sp>
        <p:nvSpPr>
          <p:cNvPr id="36" name="TextBox 35"/>
          <p:cNvSpPr txBox="1"/>
          <p:nvPr/>
        </p:nvSpPr>
        <p:spPr>
          <a:xfrm>
            <a:off x="2324100" y="7848600"/>
            <a:ext cx="19050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 m</a:t>
            </a:r>
          </a:p>
        </p:txBody>
      </p:sp>
      <p:sp>
        <p:nvSpPr>
          <p:cNvPr id="37" name="TextBox 36"/>
          <p:cNvSpPr txBox="1"/>
          <p:nvPr/>
        </p:nvSpPr>
        <p:spPr>
          <a:xfrm>
            <a:off x="4705350" y="7848600"/>
            <a:ext cx="2476500" cy="76200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0 × 1.05</a:t>
            </a:r>
          </a:p>
        </p:txBody>
      </p:sp>
      <p:sp>
        <p:nvSpPr>
          <p:cNvPr id="38" name="Rounded Rectangle 37"/>
          <p:cNvSpPr/>
          <p:nvPr/>
        </p:nvSpPr>
        <p:spPr>
          <a:xfrm>
            <a:off x="7467600" y="8077200"/>
            <a:ext cx="7810500" cy="304800"/>
          </a:xfrm>
          <a:prstGeom prst="roundRect">
            <a:avLst>
              <a:gd name="adj" fmla="val 1875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5468600" y="7848600"/>
            <a:ext cx="1905000" cy="7620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0.00</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Bang-bang vs 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70580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9151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0" name="Rectangle 9"/>
          <p:cNvSpPr/>
          <p:nvPr/>
        </p:nvSpPr>
        <p:spPr>
          <a:xfrm>
            <a:off x="2143125" y="61817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60388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0.6</a:t>
            </a:r>
          </a:p>
        </p:txBody>
      </p:sp>
      <p:sp>
        <p:nvSpPr>
          <p:cNvPr id="12" name="Rectangle 11"/>
          <p:cNvSpPr/>
          <p:nvPr/>
        </p:nvSpPr>
        <p:spPr>
          <a:xfrm>
            <a:off x="2143125" y="53054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51625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0.9</a:t>
            </a:r>
          </a:p>
        </p:txBody>
      </p:sp>
      <p:sp>
        <p:nvSpPr>
          <p:cNvPr id="14" name="Rectangle 13"/>
          <p:cNvSpPr/>
          <p:nvPr/>
        </p:nvSpPr>
        <p:spPr>
          <a:xfrm>
            <a:off x="2143125" y="44291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42862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6" name="Rectangle 15"/>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1.5</a:t>
            </a:r>
          </a:p>
        </p:txBody>
      </p:sp>
      <p:sp>
        <p:nvSpPr>
          <p:cNvPr id="18" name="Rectangle 17"/>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0" name="TextBox 19"/>
          <p:cNvSpPr txBox="1"/>
          <p:nvPr/>
        </p:nvSpPr>
        <p:spPr>
          <a:xfrm>
            <a:off x="4565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TextBox 20"/>
          <p:cNvSpPr txBox="1"/>
          <p:nvPr/>
        </p:nvSpPr>
        <p:spPr>
          <a:xfrm>
            <a:off x="7454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TextBox 21"/>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3" name="TextBox 22"/>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ELEVATOR HEIGHT (M)</a:t>
            </a:r>
          </a:p>
        </p:txBody>
      </p:sp>
      <p:sp>
        <p:nvSpPr>
          <p:cNvPr id="24" name="TextBox 23"/>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5" name="Rectangle 24"/>
          <p:cNvSpPr/>
          <p:nvPr/>
        </p:nvSpPr>
        <p:spPr>
          <a:xfrm>
            <a:off x="2152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38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724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009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295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81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867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152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438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24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010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295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581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867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153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438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724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010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296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581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867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153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439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724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010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296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582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867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0153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439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725150" y="4424363"/>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6" name="Connector 55"/>
          <p:cNvCxnSpPr/>
          <p:nvPr/>
        </p:nvCxnSpPr>
        <p:spPr>
          <a:xfrm flipV="1">
            <a:off x="2152650" y="7205093"/>
            <a:ext cx="80899" cy="850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2233549" y="7177181"/>
            <a:ext cx="92456" cy="279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326005" y="7073898"/>
            <a:ext cx="184912" cy="1032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510917" y="6889261"/>
            <a:ext cx="219583" cy="18463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730500" y="6631167"/>
            <a:ext cx="242697" cy="25809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973197" y="6245756"/>
            <a:ext cx="312039" cy="38541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285236" y="5742799"/>
            <a:ext cx="369824" cy="50295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655060" y="4083928"/>
            <a:ext cx="1132586" cy="165887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787646" y="3953500"/>
            <a:ext cx="127127" cy="13042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914773" y="3887045"/>
            <a:ext cx="127127" cy="6645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041900" y="3871324"/>
            <a:ext cx="104013" cy="1572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145913" y="3871324"/>
            <a:ext cx="104013" cy="129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249926" y="3884241"/>
            <a:ext cx="115570" cy="422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365496" y="3926458"/>
            <a:ext cx="127127" cy="7418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492623" y="4000639"/>
            <a:ext cx="138684" cy="10752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631307" y="4108167"/>
            <a:ext cx="161798" cy="15288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5793105" y="4261051"/>
            <a:ext cx="427609" cy="48197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220714" y="4743026"/>
            <a:ext cx="104013" cy="7004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324727" y="4813070"/>
            <a:ext cx="115570" cy="3399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6421247" y="4828019"/>
            <a:ext cx="130556"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6" name="Connector 75"/>
          <p:cNvCxnSpPr/>
          <p:nvPr/>
        </p:nvCxnSpPr>
        <p:spPr>
          <a:xfrm flipV="1">
            <a:off x="6532753" y="4825319"/>
            <a:ext cx="92456" cy="2122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625209" y="4724906"/>
            <a:ext cx="196469" cy="10041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821678" y="4512802"/>
            <a:ext cx="254254" cy="21210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075932" y="4131339"/>
            <a:ext cx="358267" cy="38146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434199" y="4066602"/>
            <a:ext cx="104013" cy="6473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538212" y="4037479"/>
            <a:ext cx="115570" cy="2912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7634732" y="4018429"/>
            <a:ext cx="130556"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3" name="Connector 82"/>
          <p:cNvCxnSpPr/>
          <p:nvPr/>
        </p:nvCxnSpPr>
        <p:spPr>
          <a:xfrm>
            <a:off x="7746238" y="4041258"/>
            <a:ext cx="92456" cy="2399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838694" y="4065256"/>
            <a:ext cx="196469" cy="10501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8035163" y="4170272"/>
            <a:ext cx="254254" cy="21614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289417" y="4386418"/>
            <a:ext cx="346710" cy="37499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636127" y="4761413"/>
            <a:ext cx="104013" cy="6990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740140" y="4831315"/>
            <a:ext cx="104013" cy="3231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8825103" y="4844583"/>
            <a:ext cx="130556"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0" name="Connector 89"/>
          <p:cNvCxnSpPr/>
          <p:nvPr/>
        </p:nvCxnSpPr>
        <p:spPr>
          <a:xfrm flipV="1">
            <a:off x="8936609" y="4846956"/>
            <a:ext cx="92456" cy="1889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29065" y="4804350"/>
            <a:ext cx="104013" cy="4260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133078" y="4742735"/>
            <a:ext cx="104013" cy="6161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9237091" y="4530523"/>
            <a:ext cx="254254" cy="2122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491345" y="4144611"/>
            <a:ext cx="358267" cy="3859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849612" y="4080567"/>
            <a:ext cx="92456" cy="6404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942068" y="4044469"/>
            <a:ext cx="104013" cy="3609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46081" y="4038803"/>
            <a:ext cx="80899" cy="566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126980" y="4038803"/>
            <a:ext cx="80899" cy="1114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207879" y="4049944"/>
            <a:ext cx="184912" cy="7726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392791" y="4127208"/>
            <a:ext cx="196469" cy="14280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589260" y="4270013"/>
            <a:ext cx="231140" cy="22433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152650" y="7187818"/>
            <a:ext cx="144462" cy="257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297112" y="7119186"/>
            <a:ext cx="144463" cy="6863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441575" y="6993486"/>
            <a:ext cx="173355" cy="12570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614930" y="6817408"/>
            <a:ext cx="187801" cy="17607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802731" y="6419219"/>
            <a:ext cx="346710" cy="3981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149441" y="5411628"/>
            <a:ext cx="780098" cy="10075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929539" y="5151185"/>
            <a:ext cx="231140" cy="26044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160679" y="4925139"/>
            <a:ext cx="231140" cy="2260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391819" y="4746962"/>
            <a:ext cx="216693" cy="1781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4608512" y="4601464"/>
            <a:ext cx="216694" cy="14549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4825206" y="4480445"/>
            <a:ext cx="231140" cy="12101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056346" y="4391439"/>
            <a:ext cx="231140" cy="890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287486" y="4333387"/>
            <a:ext cx="216694" cy="5805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5504180" y="4296107"/>
            <a:ext cx="216694" cy="372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5720874" y="4274244"/>
            <a:ext cx="245586" cy="2186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966460" y="4269197"/>
            <a:ext cx="260032" cy="504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226492" y="4269197"/>
            <a:ext cx="418942" cy="176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645434" y="4286813"/>
            <a:ext cx="1213485" cy="1009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858919" y="4387716"/>
            <a:ext cx="736759" cy="411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595678" y="4428905"/>
            <a:ext cx="895667" cy="195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9462770" y="4419921"/>
            <a:ext cx="13862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5334000"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Bang-bang</a:t>
            </a:r>
          </a:p>
        </p:txBody>
      </p:sp>
      <p:sp>
        <p:nvSpPr>
          <p:cNvPr id="125" name="Rectangle 124"/>
          <p:cNvSpPr/>
          <p:nvPr/>
        </p:nvSpPr>
        <p:spPr>
          <a:xfrm>
            <a:off x="7158038" y="3114675"/>
            <a:ext cx="3429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7615238"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a:t>
            </a:r>
          </a:p>
        </p:txBody>
      </p:sp>
      <p:sp>
        <p:nvSpPr>
          <p:cNvPr id="127" name="Oval 126"/>
          <p:cNvSpPr/>
          <p:nvPr/>
        </p:nvSpPr>
        <p:spPr>
          <a:xfrm>
            <a:off x="2843212" y="58547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843212" y="5854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29" name="Oval 128"/>
          <p:cNvSpPr/>
          <p:nvPr/>
        </p:nvSpPr>
        <p:spPr>
          <a:xfrm>
            <a:off x="4958302" y="337601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4958302" y="33760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1" name="Oval 130"/>
          <p:cNvSpPr/>
          <p:nvPr/>
        </p:nvSpPr>
        <p:spPr>
          <a:xfrm>
            <a:off x="4114800" y="51244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114800" y="5124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3" name="Oval 132"/>
          <p:cNvSpPr/>
          <p:nvPr/>
        </p:nvSpPr>
        <p:spPr>
          <a:xfrm>
            <a:off x="10915650" y="42481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91565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35" name="Oval 134"/>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7" name="TextBox 136"/>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Bang-bang</a:t>
            </a:r>
          </a:p>
        </p:txBody>
      </p:sp>
      <p:sp>
        <p:nvSpPr>
          <p:cNvPr id="138" name="TextBox 137"/>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Full power until it crosses</a:t>
            </a:r>
          </a:p>
        </p:txBody>
      </p:sp>
      <p:sp>
        <p:nvSpPr>
          <p:cNvPr id="139" name="Oval 138"/>
          <p:cNvSpPr/>
          <p:nvPr/>
        </p:nvSpPr>
        <p:spPr>
          <a:xfrm>
            <a:off x="11906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1" name="TextBox 140"/>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Overshoots</a:t>
            </a:r>
          </a:p>
        </p:txBody>
      </p:sp>
      <p:sp>
        <p:nvSpPr>
          <p:cNvPr id="142" name="TextBox 141"/>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Then bounces, and never settles</a:t>
            </a:r>
          </a:p>
        </p:txBody>
      </p:sp>
      <p:sp>
        <p:nvSpPr>
          <p:cNvPr id="143" name="Oval 142"/>
          <p:cNvSpPr/>
          <p:nvPr/>
        </p:nvSpPr>
        <p:spPr>
          <a:xfrm>
            <a:off x="11906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5" name="TextBox 144"/>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eases off</a:t>
            </a:r>
          </a:p>
        </p:txBody>
      </p:sp>
      <p:sp>
        <p:nvSpPr>
          <p:cNvPr id="146" name="TextBox 145"/>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Less push as the error shrinks</a:t>
            </a:r>
          </a:p>
        </p:txBody>
      </p:sp>
      <p:sp>
        <p:nvSpPr>
          <p:cNvPr id="147" name="Oval 146"/>
          <p:cNvSpPr/>
          <p:nvPr/>
        </p:nvSpPr>
        <p:spPr>
          <a:xfrm>
            <a:off x="11906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1906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49" name="TextBox 148"/>
          <p:cNvSpPr txBox="1"/>
          <p:nvPr/>
        </p:nvSpPr>
        <p:spPr>
          <a:xfrm>
            <a:off x="12515850" y="7105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settles</a:t>
            </a:r>
          </a:p>
        </p:txBody>
      </p:sp>
      <p:sp>
        <p:nvSpPr>
          <p:cNvPr id="150" name="TextBox 149"/>
          <p:cNvSpPr txBox="1"/>
          <p:nvPr/>
        </p:nvSpPr>
        <p:spPr>
          <a:xfrm>
            <a:off x="12515850" y="7524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Stops on the target</a:t>
            </a:r>
          </a:p>
        </p:txBody>
      </p:sp>
      <p:sp>
        <p:nvSpPr>
          <p:cNvPr id="151" name="TextBox 1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52" name="TextBox 1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kP too low, about right, too high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70580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9151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0" name="Rectangle 9"/>
          <p:cNvSpPr/>
          <p:nvPr/>
        </p:nvSpPr>
        <p:spPr>
          <a:xfrm>
            <a:off x="2143125" y="61817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60388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0.6</a:t>
            </a:r>
          </a:p>
        </p:txBody>
      </p:sp>
      <p:sp>
        <p:nvSpPr>
          <p:cNvPr id="12" name="Rectangle 11"/>
          <p:cNvSpPr/>
          <p:nvPr/>
        </p:nvSpPr>
        <p:spPr>
          <a:xfrm>
            <a:off x="2143125" y="53054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51625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0.9</a:t>
            </a:r>
          </a:p>
        </p:txBody>
      </p:sp>
      <p:sp>
        <p:nvSpPr>
          <p:cNvPr id="14" name="Rectangle 13"/>
          <p:cNvSpPr/>
          <p:nvPr/>
        </p:nvSpPr>
        <p:spPr>
          <a:xfrm>
            <a:off x="2143125" y="44291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42862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6" name="Rectangle 15"/>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1.5</a:t>
            </a:r>
          </a:p>
        </p:txBody>
      </p:sp>
      <p:sp>
        <p:nvSpPr>
          <p:cNvPr id="18" name="Rectangle 17"/>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0" name="TextBox 19"/>
          <p:cNvSpPr txBox="1"/>
          <p:nvPr/>
        </p:nvSpPr>
        <p:spPr>
          <a:xfrm>
            <a:off x="4565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TextBox 20"/>
          <p:cNvSpPr txBox="1"/>
          <p:nvPr/>
        </p:nvSpPr>
        <p:spPr>
          <a:xfrm>
            <a:off x="7454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TextBox 21"/>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3" name="TextBox 22"/>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ELEVATOR HEIGHT (M)</a:t>
            </a:r>
          </a:p>
        </p:txBody>
      </p:sp>
      <p:sp>
        <p:nvSpPr>
          <p:cNvPr id="24" name="TextBox 23"/>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5" name="Rectangle 24"/>
          <p:cNvSpPr/>
          <p:nvPr/>
        </p:nvSpPr>
        <p:spPr>
          <a:xfrm>
            <a:off x="2152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38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724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009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295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81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867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152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438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24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010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295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581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867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153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438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724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010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296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581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867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153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439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724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010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296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582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867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0153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439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725150" y="4424363"/>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6" name="Connector 55"/>
          <p:cNvCxnSpPr/>
          <p:nvPr/>
        </p:nvCxnSpPr>
        <p:spPr>
          <a:xfrm flipV="1">
            <a:off x="2152650" y="7204383"/>
            <a:ext cx="127127" cy="9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2279777" y="7176677"/>
            <a:ext cx="138684" cy="277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418461" y="7066049"/>
            <a:ext cx="312039" cy="1106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730500" y="6864453"/>
            <a:ext cx="404495" cy="2015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134995" y="6236544"/>
            <a:ext cx="1121029" cy="62790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56024" y="5941829"/>
            <a:ext cx="589407" cy="29471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845431" y="5772537"/>
            <a:ext cx="381381" cy="1692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226812" y="5615824"/>
            <a:ext cx="392938" cy="15671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619750" y="5476181"/>
            <a:ext cx="392938" cy="1396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012688" y="5348883"/>
            <a:ext cx="404495" cy="1272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417183" y="5224777"/>
            <a:ext cx="450723" cy="1241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867906" y="5112148"/>
            <a:ext cx="473837" cy="1126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7341743" y="5011107"/>
            <a:ext cx="496951" cy="1010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838694" y="4919614"/>
            <a:ext cx="531622" cy="9149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370316" y="4769128"/>
            <a:ext cx="1144143" cy="15048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514459" y="4653924"/>
            <a:ext cx="1305941" cy="1152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2152650" y="7205093"/>
            <a:ext cx="80899" cy="850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2233549" y="7177181"/>
            <a:ext cx="92456" cy="279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326005" y="7073898"/>
            <a:ext cx="184912" cy="1032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510917" y="6900307"/>
            <a:ext cx="208026" cy="17359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718943" y="6644440"/>
            <a:ext cx="242697" cy="2558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961640" y="6290757"/>
            <a:ext cx="288925" cy="3536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250565" y="5807530"/>
            <a:ext cx="358267" cy="48322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608832" y="4159965"/>
            <a:ext cx="1132586" cy="164756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4741418" y="3983073"/>
            <a:ext cx="161798" cy="17689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4903216" y="3935191"/>
            <a:ext cx="69342" cy="478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4972558" y="3901038"/>
            <a:ext cx="80899" cy="3415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053457" y="3886919"/>
            <a:ext cx="104013" cy="1411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57470" y="3886919"/>
            <a:ext cx="104013" cy="1425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61483" y="3901174"/>
            <a:ext cx="115570" cy="4344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377053" y="3944620"/>
            <a:ext cx="115570" cy="6739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492623" y="4012014"/>
            <a:ext cx="254254" cy="2122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746877" y="4224296"/>
            <a:ext cx="462280" cy="48800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209157" y="4712301"/>
            <a:ext cx="127127" cy="8967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336284" y="4801979"/>
            <a:ext cx="127127" cy="4114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91" name="Rectangle 90"/>
          <p:cNvSpPr/>
          <p:nvPr/>
        </p:nvSpPr>
        <p:spPr>
          <a:xfrm>
            <a:off x="6444361" y="4824072"/>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2" name="Connector 91"/>
          <p:cNvCxnSpPr/>
          <p:nvPr/>
        </p:nvCxnSpPr>
        <p:spPr>
          <a:xfrm flipV="1">
            <a:off x="6544310" y="4829983"/>
            <a:ext cx="80899" cy="1470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6625209" y="4746231"/>
            <a:ext cx="184912" cy="8375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6810121" y="4588284"/>
            <a:ext cx="208026" cy="15794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7018147" y="4182941"/>
            <a:ext cx="427609" cy="40534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445756" y="4106110"/>
            <a:ext cx="127127" cy="7683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7572883" y="4074449"/>
            <a:ext cx="127127" cy="3166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7680960" y="4055399"/>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9" name="Connector 98"/>
          <p:cNvCxnSpPr/>
          <p:nvPr/>
        </p:nvCxnSpPr>
        <p:spPr>
          <a:xfrm>
            <a:off x="7780909" y="4077804"/>
            <a:ext cx="80899" cy="189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7861808" y="4096786"/>
            <a:ext cx="173355" cy="8413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035163" y="4180916"/>
            <a:ext cx="173355" cy="13056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208518" y="4311476"/>
            <a:ext cx="392938" cy="3597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601456" y="4671243"/>
            <a:ext cx="115570" cy="7281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717026" y="4744061"/>
            <a:ext cx="115570" cy="383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8813546" y="4763398"/>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6" name="Connector 105"/>
          <p:cNvCxnSpPr/>
          <p:nvPr/>
        </p:nvCxnSpPr>
        <p:spPr>
          <a:xfrm flipV="1">
            <a:off x="8913495" y="4774244"/>
            <a:ext cx="80899" cy="1241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8994394" y="4701441"/>
            <a:ext cx="173355" cy="7280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9167749" y="4569700"/>
            <a:ext cx="184912" cy="13174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9352661" y="4199092"/>
            <a:ext cx="416052" cy="37060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9768713" y="4126775"/>
            <a:ext cx="127127" cy="723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9895840" y="4097980"/>
            <a:ext cx="115570" cy="2879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9992360" y="4078930"/>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3" name="Connector 112"/>
          <p:cNvCxnSpPr/>
          <p:nvPr/>
        </p:nvCxnSpPr>
        <p:spPr>
          <a:xfrm>
            <a:off x="10092309" y="4099905"/>
            <a:ext cx="80899" cy="1773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0173208" y="4117643"/>
            <a:ext cx="173355" cy="819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346563" y="4199630"/>
            <a:ext cx="173355" cy="12897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519918" y="4328604"/>
            <a:ext cx="300482" cy="27510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152650" y="7189744"/>
            <a:ext cx="138684" cy="238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291334" y="7119186"/>
            <a:ext cx="150241" cy="7055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441575" y="6993486"/>
            <a:ext cx="173355" cy="12570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614930" y="6820371"/>
            <a:ext cx="184912" cy="1731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799842" y="6422824"/>
            <a:ext cx="346710" cy="39754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146552" y="5408182"/>
            <a:ext cx="785876" cy="101464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932428" y="5148138"/>
            <a:ext cx="231140" cy="2600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4163568" y="4922546"/>
            <a:ext cx="231140" cy="22559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4394708" y="4742663"/>
            <a:ext cx="219583" cy="17988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4614291" y="4596306"/>
            <a:ext cx="219583" cy="14635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833874" y="4476554"/>
            <a:ext cx="231140" cy="11975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5065014" y="4388671"/>
            <a:ext cx="231140" cy="8788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5296154" y="4333387"/>
            <a:ext cx="208026" cy="5528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5504180" y="4295733"/>
            <a:ext cx="219583" cy="376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5723763" y="4274244"/>
            <a:ext cx="242697" cy="214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5966460" y="4269254"/>
            <a:ext cx="265811" cy="499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6232271" y="4269254"/>
            <a:ext cx="416052" cy="177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6648323" y="4287009"/>
            <a:ext cx="1213485" cy="1009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861808" y="4387926"/>
            <a:ext cx="739648" cy="412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601456" y="4429129"/>
            <a:ext cx="901446" cy="1945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9474327" y="4420012"/>
            <a:ext cx="1374648"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5334000" y="3114675"/>
            <a:ext cx="342900" cy="571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kP 0.48</a:t>
            </a:r>
          </a:p>
        </p:txBody>
      </p:sp>
      <p:sp>
        <p:nvSpPr>
          <p:cNvPr id="140" name="Rectangle 139"/>
          <p:cNvSpPr/>
          <p:nvPr/>
        </p:nvSpPr>
        <p:spPr>
          <a:xfrm>
            <a:off x="6938962" y="3114675"/>
            <a:ext cx="3429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7396162" y="2990850"/>
            <a:ext cx="3810000" cy="3048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kP 1.4</a:t>
            </a:r>
          </a:p>
        </p:txBody>
      </p:sp>
      <p:sp>
        <p:nvSpPr>
          <p:cNvPr id="142" name="Rectangle 141"/>
          <p:cNvSpPr/>
          <p:nvPr/>
        </p:nvSpPr>
        <p:spPr>
          <a:xfrm>
            <a:off x="8434388"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8891588" y="2990850"/>
            <a:ext cx="3810000" cy="3048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kP 12</a:t>
            </a:r>
          </a:p>
        </p:txBody>
      </p:sp>
      <p:sp>
        <p:nvSpPr>
          <p:cNvPr id="144" name="Oval 143"/>
          <p:cNvSpPr/>
          <p:nvPr/>
        </p:nvSpPr>
        <p:spPr>
          <a:xfrm>
            <a:off x="6584950" y="53022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584950" y="5302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46" name="Oval 145"/>
          <p:cNvSpPr/>
          <p:nvPr/>
        </p:nvSpPr>
        <p:spPr>
          <a:xfrm>
            <a:off x="10915650" y="42481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091565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8" name="Oval 147"/>
          <p:cNvSpPr/>
          <p:nvPr/>
        </p:nvSpPr>
        <p:spPr>
          <a:xfrm>
            <a:off x="4446905" y="33401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446905" y="3340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0" name="Oval 149"/>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2" name="TextBox 151"/>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Too low</a:t>
            </a:r>
          </a:p>
        </p:txBody>
      </p:sp>
      <p:sp>
        <p:nvSpPr>
          <p:cNvPr id="153" name="TextBox 152"/>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Slow. Creeps toward the target</a:t>
            </a:r>
          </a:p>
        </p:txBody>
      </p:sp>
      <p:sp>
        <p:nvSpPr>
          <p:cNvPr id="154" name="Oval 153"/>
          <p:cNvSpPr/>
          <p:nvPr/>
        </p:nvSpPr>
        <p:spPr>
          <a:xfrm>
            <a:off x="11906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6" name="TextBox 155"/>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About right</a:t>
            </a:r>
          </a:p>
        </p:txBody>
      </p:sp>
      <p:sp>
        <p:nvSpPr>
          <p:cNvPr id="157" name="TextBox 156"/>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Quick, small overshoot</a:t>
            </a:r>
          </a:p>
        </p:txBody>
      </p:sp>
      <p:sp>
        <p:nvSpPr>
          <p:cNvPr id="158" name="Oval 157"/>
          <p:cNvSpPr/>
          <p:nvPr/>
        </p:nvSpPr>
        <p:spPr>
          <a:xfrm>
            <a:off x="11906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60" name="TextBox 159"/>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Too high</a:t>
            </a:r>
          </a:p>
        </p:txBody>
      </p:sp>
      <p:sp>
        <p:nvSpPr>
          <p:cNvPr id="161" name="TextBox 160"/>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Overshoots and oscillates</a:t>
            </a:r>
          </a:p>
        </p:txBody>
      </p:sp>
      <p:sp>
        <p:nvSpPr>
          <p:cNvPr id="162" name="Rounded Rectangle 161"/>
          <p:cNvSpPr/>
          <p:nvPr/>
        </p:nvSpPr>
        <p:spPr>
          <a:xfrm>
            <a:off x="11906250" y="7239000"/>
            <a:ext cx="5467350" cy="1333500"/>
          </a:xfrm>
          <a:prstGeom prst="roundRect">
            <a:avLst>
              <a:gd name="adj" fmla="val 1142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12249150" y="7239000"/>
            <a:ext cx="4857750" cy="1333500"/>
          </a:xfrm>
          <a:prstGeom prst="rect">
            <a:avLst/>
          </a:prstGeom>
          <a:noFill/>
        </p:spPr>
        <p:txBody>
          <a:bodyPr wrap="square" lIns="0" rIns="0" tIns="0" bIns="0" anchor="ctr">
            <a:spAutoFit/>
          </a:bodyPr>
          <a:lstStyle/>
          <a:p>
            <a:pPr algn="l">
              <a:lnSpc>
                <a:spcPct val="130000"/>
              </a:lnSpc>
            </a:pPr>
            <a:r>
              <a:rPr sz="1800" b="1" i="0">
                <a:solidFill>
                  <a:srgbClr val="F0E8E8"/>
                </a:solidFill>
                <a:latin typeface="Geist"/>
                <a:ea typeface="Geist"/>
                <a:cs typeface="Geist"/>
              </a:rPr>
              <a:t>Real robot? </a:t>
            </a:r>
            <a:r>
              <a:rPr sz="1800" b="0" i="0">
                <a:solidFill>
                  <a:srgbClr val="F0E8E8"/>
                </a:solidFill>
                <a:latin typeface="Geist"/>
                <a:ea typeface="Geist"/>
                <a:cs typeface="Geist"/>
              </a:rPr>
              <a:t>Too much kP makes a mechanism buzz and shake.</a:t>
            </a:r>
          </a:p>
        </p:txBody>
      </p:sp>
      <p:sp>
        <p:nvSpPr>
          <p:cNvPr id="164" name="TextBox 16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5" name="TextBox 16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 the brake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70580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9151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0" name="Rectangle 9"/>
          <p:cNvSpPr/>
          <p:nvPr/>
        </p:nvSpPr>
        <p:spPr>
          <a:xfrm>
            <a:off x="2143125" y="61817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60388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0.6</a:t>
            </a:r>
          </a:p>
        </p:txBody>
      </p:sp>
      <p:sp>
        <p:nvSpPr>
          <p:cNvPr id="12" name="Rectangle 11"/>
          <p:cNvSpPr/>
          <p:nvPr/>
        </p:nvSpPr>
        <p:spPr>
          <a:xfrm>
            <a:off x="2143125" y="53054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51625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0.9</a:t>
            </a:r>
          </a:p>
        </p:txBody>
      </p:sp>
      <p:sp>
        <p:nvSpPr>
          <p:cNvPr id="14" name="Rectangle 13"/>
          <p:cNvSpPr/>
          <p:nvPr/>
        </p:nvSpPr>
        <p:spPr>
          <a:xfrm>
            <a:off x="2143125" y="44291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42862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6" name="Rectangle 15"/>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1.5</a:t>
            </a:r>
          </a:p>
        </p:txBody>
      </p:sp>
      <p:sp>
        <p:nvSpPr>
          <p:cNvPr id="18" name="Rectangle 17"/>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0" name="TextBox 19"/>
          <p:cNvSpPr txBox="1"/>
          <p:nvPr/>
        </p:nvSpPr>
        <p:spPr>
          <a:xfrm>
            <a:off x="4565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TextBox 20"/>
          <p:cNvSpPr txBox="1"/>
          <p:nvPr/>
        </p:nvSpPr>
        <p:spPr>
          <a:xfrm>
            <a:off x="7454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TextBox 21"/>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3" name="TextBox 22"/>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ELEVATOR HEIGHT (M)</a:t>
            </a:r>
          </a:p>
        </p:txBody>
      </p:sp>
      <p:sp>
        <p:nvSpPr>
          <p:cNvPr id="24" name="TextBox 23"/>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5" name="Rectangle 24"/>
          <p:cNvSpPr/>
          <p:nvPr/>
        </p:nvSpPr>
        <p:spPr>
          <a:xfrm>
            <a:off x="2152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38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724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009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295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81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867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152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438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24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010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295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581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867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153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438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724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010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296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581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867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153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439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724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010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296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582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867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0153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439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725150" y="4424363"/>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6" name="Connector 55"/>
          <p:cNvCxnSpPr/>
          <p:nvPr/>
        </p:nvCxnSpPr>
        <p:spPr>
          <a:xfrm flipV="1">
            <a:off x="2152650" y="7205093"/>
            <a:ext cx="80899" cy="850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2233549" y="7177181"/>
            <a:ext cx="92456" cy="279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326005" y="7073898"/>
            <a:ext cx="184912" cy="1032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510917" y="6900307"/>
            <a:ext cx="208026" cy="17359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718943" y="6644440"/>
            <a:ext cx="242697" cy="2558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961640" y="6290757"/>
            <a:ext cx="288925" cy="3536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250565" y="5807530"/>
            <a:ext cx="358267" cy="48322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608832" y="4159965"/>
            <a:ext cx="1132586" cy="164756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741418" y="3983073"/>
            <a:ext cx="161798" cy="17689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903216" y="3935191"/>
            <a:ext cx="69342" cy="478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2558" y="3901038"/>
            <a:ext cx="80899" cy="3415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053457" y="3886919"/>
            <a:ext cx="104013" cy="1411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157470" y="3886919"/>
            <a:ext cx="104013" cy="1425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261483" y="3901174"/>
            <a:ext cx="115570" cy="4344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377053" y="3944620"/>
            <a:ext cx="115570" cy="6739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492623" y="4012014"/>
            <a:ext cx="254254" cy="2122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5746877" y="4224296"/>
            <a:ext cx="462280" cy="48800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209157" y="4712301"/>
            <a:ext cx="127127" cy="8967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336284" y="4801979"/>
            <a:ext cx="127127" cy="4114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6444361" y="4824072"/>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6" name="Connector 75"/>
          <p:cNvCxnSpPr/>
          <p:nvPr/>
        </p:nvCxnSpPr>
        <p:spPr>
          <a:xfrm flipV="1">
            <a:off x="6544310" y="4829983"/>
            <a:ext cx="80899" cy="1470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625209" y="4746231"/>
            <a:ext cx="184912" cy="8375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810121" y="4588284"/>
            <a:ext cx="208026" cy="15794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018147" y="4182941"/>
            <a:ext cx="427609" cy="40534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445756" y="4106110"/>
            <a:ext cx="127127" cy="7683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572883" y="4074449"/>
            <a:ext cx="127127" cy="3166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7680960" y="4055399"/>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3" name="Connector 82"/>
          <p:cNvCxnSpPr/>
          <p:nvPr/>
        </p:nvCxnSpPr>
        <p:spPr>
          <a:xfrm>
            <a:off x="7780909" y="4077804"/>
            <a:ext cx="80899" cy="189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861808" y="4096786"/>
            <a:ext cx="173355" cy="8413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8035163" y="4180916"/>
            <a:ext cx="173355" cy="13056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208518" y="4311476"/>
            <a:ext cx="392938" cy="3597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601456" y="4671243"/>
            <a:ext cx="115570" cy="7281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717026" y="4744061"/>
            <a:ext cx="115570" cy="383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8813546" y="4763398"/>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0" name="Connector 89"/>
          <p:cNvCxnSpPr/>
          <p:nvPr/>
        </p:nvCxnSpPr>
        <p:spPr>
          <a:xfrm flipV="1">
            <a:off x="8913495" y="4774244"/>
            <a:ext cx="80899" cy="1241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8994394" y="4701441"/>
            <a:ext cx="173355" cy="7280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167749" y="4569700"/>
            <a:ext cx="184912" cy="13174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9352661" y="4199092"/>
            <a:ext cx="416052" cy="37060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768713" y="4126775"/>
            <a:ext cx="127127" cy="723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895840" y="4097980"/>
            <a:ext cx="115570" cy="2879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9992360" y="4078930"/>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7" name="Connector 96"/>
          <p:cNvCxnSpPr/>
          <p:nvPr/>
        </p:nvCxnSpPr>
        <p:spPr>
          <a:xfrm>
            <a:off x="10092309" y="4099905"/>
            <a:ext cx="80899" cy="1773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173208" y="4117643"/>
            <a:ext cx="173355" cy="819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346563" y="4199630"/>
            <a:ext cx="173355" cy="12897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519918" y="4328604"/>
            <a:ext cx="300482" cy="27510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152650" y="7181635"/>
            <a:ext cx="161798" cy="3196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314448" y="7081939"/>
            <a:ext cx="184912" cy="996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499360" y="6922003"/>
            <a:ext cx="196469" cy="15993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695829" y="6683735"/>
            <a:ext cx="231140" cy="23826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926969" y="6350023"/>
            <a:ext cx="277368" cy="3337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204337" y="5919708"/>
            <a:ext cx="323596" cy="4303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527933" y="4437820"/>
            <a:ext cx="1028573" cy="148188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4556506" y="4274508"/>
            <a:ext cx="150241" cy="1633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706747" y="4225391"/>
            <a:ext cx="69342" cy="491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776089" y="4189852"/>
            <a:ext cx="80899" cy="3553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4856988" y="4175614"/>
            <a:ext cx="138684" cy="1423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4995672" y="4175614"/>
            <a:ext cx="138684" cy="337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5134356" y="4209395"/>
            <a:ext cx="127127" cy="642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261483" y="4273600"/>
            <a:ext cx="358267" cy="2304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5619750" y="4504017"/>
            <a:ext cx="115570" cy="451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5735320" y="4549138"/>
            <a:ext cx="115570" cy="1866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850890" y="4548890"/>
            <a:ext cx="173355" cy="189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024245" y="4402499"/>
            <a:ext cx="427609" cy="1463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451854" y="4366386"/>
            <a:ext cx="231140" cy="3611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682994" y="4366386"/>
            <a:ext cx="173355" cy="1026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856349" y="4376646"/>
            <a:ext cx="427609" cy="8190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283958" y="4458548"/>
            <a:ext cx="231140" cy="205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515098" y="4416047"/>
            <a:ext cx="832104" cy="6301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347202" y="4416047"/>
            <a:ext cx="808990" cy="350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9156192" y="4431632"/>
            <a:ext cx="843661" cy="194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9999853" y="4431632"/>
            <a:ext cx="820547" cy="1090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5334000"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only</a:t>
            </a:r>
          </a:p>
        </p:txBody>
      </p:sp>
      <p:sp>
        <p:nvSpPr>
          <p:cNvPr id="129" name="Rectangle 128"/>
          <p:cNvSpPr/>
          <p:nvPr/>
        </p:nvSpPr>
        <p:spPr>
          <a:xfrm>
            <a:off x="6829425" y="3114675"/>
            <a:ext cx="3429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7286625"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 D</a:t>
            </a:r>
          </a:p>
        </p:txBody>
      </p:sp>
      <p:sp>
        <p:nvSpPr>
          <p:cNvPr id="131" name="Oval 130"/>
          <p:cNvSpPr/>
          <p:nvPr/>
        </p:nvSpPr>
        <p:spPr>
          <a:xfrm>
            <a:off x="6440488" y="37719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440488" y="3771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3" name="Oval 132"/>
          <p:cNvSpPr/>
          <p:nvPr/>
        </p:nvSpPr>
        <p:spPr>
          <a:xfrm>
            <a:off x="10915650" y="42481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91565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5" name="Oval 134"/>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7" name="TextBox 136"/>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alone</a:t>
            </a:r>
          </a:p>
        </p:txBody>
      </p:sp>
      <p:sp>
        <p:nvSpPr>
          <p:cNvPr id="138" name="TextBox 137"/>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Rushes in and swings past</a:t>
            </a:r>
          </a:p>
        </p:txBody>
      </p:sp>
      <p:sp>
        <p:nvSpPr>
          <p:cNvPr id="139" name="Oval 138"/>
          <p:cNvSpPr/>
          <p:nvPr/>
        </p:nvSpPr>
        <p:spPr>
          <a:xfrm>
            <a:off x="11906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1" name="TextBox 140"/>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 = kD × change in error</a:t>
            </a:r>
          </a:p>
        </p:txBody>
      </p:sp>
      <p:sp>
        <p:nvSpPr>
          <p:cNvPr id="142" name="TextBox 141"/>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Pushes back when the error falls fast</a:t>
            </a:r>
          </a:p>
        </p:txBody>
      </p:sp>
      <p:sp>
        <p:nvSpPr>
          <p:cNvPr id="143" name="Oval 142"/>
          <p:cNvSpPr/>
          <p:nvPr/>
        </p:nvSpPr>
        <p:spPr>
          <a:xfrm>
            <a:off x="11906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5" name="TextBox 144"/>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With D</a:t>
            </a:r>
          </a:p>
        </p:txBody>
      </p:sp>
      <p:sp>
        <p:nvSpPr>
          <p:cNvPr id="146" name="TextBox 145"/>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Brakes on the way in, then settles</a:t>
            </a:r>
          </a:p>
        </p:txBody>
      </p:sp>
      <p:sp>
        <p:nvSpPr>
          <p:cNvPr id="147" name="Rounded Rectangle 146"/>
          <p:cNvSpPr/>
          <p:nvPr/>
        </p:nvSpPr>
        <p:spPr>
          <a:xfrm>
            <a:off x="11906250" y="7239000"/>
            <a:ext cx="5467350" cy="1034415"/>
          </a:xfrm>
          <a:prstGeom prst="roundRect">
            <a:avLst>
              <a:gd name="adj" fmla="val 1473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12287250" y="7620000"/>
            <a:ext cx="4933950" cy="27241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d = kD * (error - last_error);</a:t>
            </a:r>
          </a:p>
        </p:txBody>
      </p:sp>
      <p:sp>
        <p:nvSpPr>
          <p:cNvPr id="149" name="TextBox 1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50" name="TextBox 1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 closing a stuck gap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70580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9151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0" name="Rectangle 9"/>
          <p:cNvSpPr/>
          <p:nvPr/>
        </p:nvSpPr>
        <p:spPr>
          <a:xfrm>
            <a:off x="2143125" y="61817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60388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0.6</a:t>
            </a:r>
          </a:p>
        </p:txBody>
      </p:sp>
      <p:sp>
        <p:nvSpPr>
          <p:cNvPr id="12" name="Rectangle 11"/>
          <p:cNvSpPr/>
          <p:nvPr/>
        </p:nvSpPr>
        <p:spPr>
          <a:xfrm>
            <a:off x="2143125" y="53054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51625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0.9</a:t>
            </a:r>
          </a:p>
        </p:txBody>
      </p:sp>
      <p:sp>
        <p:nvSpPr>
          <p:cNvPr id="14" name="Rectangle 13"/>
          <p:cNvSpPr/>
          <p:nvPr/>
        </p:nvSpPr>
        <p:spPr>
          <a:xfrm>
            <a:off x="2143125" y="44291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42862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6" name="Rectangle 15"/>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1.5</a:t>
            </a:r>
          </a:p>
        </p:txBody>
      </p:sp>
      <p:sp>
        <p:nvSpPr>
          <p:cNvPr id="18" name="Rectangle 17"/>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0" name="TextBox 19"/>
          <p:cNvSpPr txBox="1"/>
          <p:nvPr/>
        </p:nvSpPr>
        <p:spPr>
          <a:xfrm>
            <a:off x="34099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TextBox 20"/>
          <p:cNvSpPr txBox="1"/>
          <p:nvPr/>
        </p:nvSpPr>
        <p:spPr>
          <a:xfrm>
            <a:off x="51435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TextBox 21"/>
          <p:cNvSpPr txBox="1"/>
          <p:nvPr/>
        </p:nvSpPr>
        <p:spPr>
          <a:xfrm>
            <a:off x="68770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3" name="TextBox 22"/>
          <p:cNvSpPr txBox="1"/>
          <p:nvPr/>
        </p:nvSpPr>
        <p:spPr>
          <a:xfrm>
            <a:off x="86106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4" name="TextBox 23"/>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a:t>
            </a:r>
          </a:p>
        </p:txBody>
      </p:sp>
      <p:sp>
        <p:nvSpPr>
          <p:cNvPr id="25" name="TextBox 24"/>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ELEVATOR HEIGHT (M)</a:t>
            </a:r>
          </a:p>
        </p:txBody>
      </p:sp>
      <p:sp>
        <p:nvSpPr>
          <p:cNvPr id="26" name="TextBox 25"/>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7" name="Rectangle 26"/>
          <p:cNvSpPr/>
          <p:nvPr/>
        </p:nvSpPr>
        <p:spPr>
          <a:xfrm>
            <a:off x="2152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438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724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009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295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581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3867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152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438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24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010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5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581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5867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153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438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724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010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296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7581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867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153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8439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8724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010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296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95821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98679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15365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0439400" y="4424363"/>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0725150" y="4424363"/>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2152650" y="7194515"/>
            <a:ext cx="83210" cy="1908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235860" y="7132436"/>
            <a:ext cx="97079" cy="6207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332939" y="7021762"/>
            <a:ext cx="110947" cy="11067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443886" y="6879896"/>
            <a:ext cx="110948" cy="14186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2554834" y="6510951"/>
            <a:ext cx="235762" cy="36894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2790596" y="5631940"/>
            <a:ext cx="499263" cy="87901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289859" y="5401337"/>
            <a:ext cx="152552" cy="23060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3442411" y="5205616"/>
            <a:ext cx="152553" cy="19572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3594964" y="5046959"/>
            <a:ext cx="152552" cy="15865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747516" y="4915006"/>
            <a:ext cx="166421" cy="13195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937" y="4822026"/>
            <a:ext cx="166421" cy="9298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080358" y="4762336"/>
            <a:ext cx="166420" cy="5969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246778" y="4723505"/>
            <a:ext cx="221895" cy="3883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4449623" y="4704455"/>
            <a:ext cx="301600"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2" name="Connector 71"/>
          <p:cNvCxnSpPr/>
          <p:nvPr/>
        </p:nvCxnSpPr>
        <p:spPr>
          <a:xfrm>
            <a:off x="4732172" y="4719209"/>
            <a:ext cx="1095604" cy="11232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827776" y="4831533"/>
            <a:ext cx="721157" cy="3165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6548933" y="4855947"/>
            <a:ext cx="4271467" cy="724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152650" y="7188028"/>
            <a:ext cx="97079" cy="2557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249729" y="7108271"/>
            <a:ext cx="110947" cy="7975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360676" y="6988838"/>
            <a:ext cx="110947" cy="11943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471623" y="6800042"/>
            <a:ext cx="138684" cy="1887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2610307" y="6341648"/>
            <a:ext cx="277368" cy="4583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887675" y="5240103"/>
            <a:ext cx="596341" cy="11015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484016" y="4995390"/>
            <a:ext cx="152553" cy="24471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636569" y="4784334"/>
            <a:ext cx="152552" cy="2110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89121" y="4595455"/>
            <a:ext cx="166421" cy="18887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955542" y="4449246"/>
            <a:ext cx="166421" cy="1462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4121963" y="4342535"/>
            <a:ext cx="166421" cy="1067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4288384" y="4265856"/>
            <a:ext cx="180289" cy="7667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4468673" y="4213242"/>
            <a:ext cx="249631" cy="5261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4718304" y="4207556"/>
            <a:ext cx="305105" cy="568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023409" y="4207556"/>
            <a:ext cx="1206551" cy="1475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229960" y="4355083"/>
            <a:ext cx="790498" cy="4457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7020458" y="4399658"/>
            <a:ext cx="3799942" cy="155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334000"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only</a:t>
            </a:r>
          </a:p>
        </p:txBody>
      </p:sp>
      <p:sp>
        <p:nvSpPr>
          <p:cNvPr id="94" name="Rectangle 93"/>
          <p:cNvSpPr/>
          <p:nvPr/>
        </p:nvSpPr>
        <p:spPr>
          <a:xfrm>
            <a:off x="6829425" y="3114675"/>
            <a:ext cx="3429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7286625"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 I</a:t>
            </a:r>
          </a:p>
        </p:txBody>
      </p:sp>
      <p:sp>
        <p:nvSpPr>
          <p:cNvPr id="96" name="Oval 95"/>
          <p:cNvSpPr/>
          <p:nvPr/>
        </p:nvSpPr>
        <p:spPr>
          <a:xfrm>
            <a:off x="8202930" y="5008347"/>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202930" y="500834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8" name="Oval 97"/>
          <p:cNvSpPr/>
          <p:nvPr/>
        </p:nvSpPr>
        <p:spPr>
          <a:xfrm>
            <a:off x="6122670" y="38290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122670" y="38290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00" name="Oval 99"/>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2" name="TextBox 101"/>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alone stops short</a:t>
            </a:r>
          </a:p>
        </p:txBody>
      </p:sp>
      <p:sp>
        <p:nvSpPr>
          <p:cNvPr id="103" name="TextBox 102"/>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Gravity wins near the target</a:t>
            </a:r>
          </a:p>
        </p:txBody>
      </p:sp>
      <p:sp>
        <p:nvSpPr>
          <p:cNvPr id="104" name="Oval 103"/>
          <p:cNvSpPr/>
          <p:nvPr/>
        </p:nvSpPr>
        <p:spPr>
          <a:xfrm>
            <a:off x="11906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06" name="TextBox 105"/>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 adds it up</a:t>
            </a:r>
          </a:p>
        </p:txBody>
      </p:sp>
      <p:sp>
        <p:nvSpPr>
          <p:cNvPr id="107" name="TextBox 106"/>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Its push grows until the gap closes</a:t>
            </a:r>
          </a:p>
        </p:txBody>
      </p:sp>
      <p:sp>
        <p:nvSpPr>
          <p:cNvPr id="108" name="Rounded Rectangle 107"/>
          <p:cNvSpPr/>
          <p:nvPr/>
        </p:nvSpPr>
        <p:spPr>
          <a:xfrm>
            <a:off x="11906250" y="5619750"/>
            <a:ext cx="5467350" cy="1333500"/>
          </a:xfrm>
          <a:prstGeom prst="roundRect">
            <a:avLst>
              <a:gd name="adj" fmla="val 1142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12249150" y="5619750"/>
            <a:ext cx="4857750" cy="1333500"/>
          </a:xfrm>
          <a:prstGeom prst="rect">
            <a:avLst/>
          </a:prstGeom>
          <a:noFill/>
        </p:spPr>
        <p:txBody>
          <a:bodyPr wrap="square" lIns="0" rIns="0" tIns="0" bIns="0" anchor="ctr">
            <a:spAutoFit/>
          </a:bodyPr>
          <a:lstStyle/>
          <a:p>
            <a:pPr algn="l">
              <a:lnSpc>
                <a:spcPct val="130000"/>
              </a:lnSpc>
            </a:pPr>
            <a:r>
              <a:rPr sz="1800" b="1" i="0">
                <a:solidFill>
                  <a:srgbClr val="F0E8E8"/>
                </a:solidFill>
                <a:latin typeface="Geist"/>
                <a:ea typeface="Geist"/>
                <a:cs typeface="Geist"/>
              </a:rPr>
              <a:t>Better: kG. </a:t>
            </a:r>
            <a:r>
              <a:rPr sz="1800" b="0" i="0">
                <a:solidFill>
                  <a:srgbClr val="F0E8E8"/>
                </a:solidFill>
                <a:latin typeface="Geist"/>
                <a:ea typeface="Geist"/>
                <a:cs typeface="Geist"/>
              </a:rPr>
              <a:t>Feedforward fixes it from the start. I is rarely needed.</a:t>
            </a:r>
          </a:p>
        </p:txBody>
      </p:sp>
      <p:sp>
        <p:nvSpPr>
          <p:cNvPr id="110" name="Rounded Rectangle 109"/>
          <p:cNvSpPr/>
          <p:nvPr/>
        </p:nvSpPr>
        <p:spPr>
          <a:xfrm>
            <a:off x="11906250" y="7239000"/>
            <a:ext cx="5467350" cy="1034415"/>
          </a:xfrm>
          <a:prstGeom prst="roundRect">
            <a:avLst>
              <a:gd name="adj" fmla="val 1473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12287250" y="7620000"/>
            <a:ext cx="4933950" cy="27241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i = kI * sum_of_errors;</a:t>
            </a:r>
          </a:p>
        </p:txBody>
      </p:sp>
      <p:sp>
        <p:nvSpPr>
          <p:cNvPr id="112" name="TextBox 11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3" name="TextBox 1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Better together: feedforward + feedback</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476750"/>
            <a:ext cx="2095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4681538"/>
            <a:ext cx="1943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Setpoint</a:t>
            </a:r>
          </a:p>
        </p:txBody>
      </p:sp>
      <p:sp>
        <p:nvSpPr>
          <p:cNvPr id="7" name="TextBox 6"/>
          <p:cNvSpPr txBox="1"/>
          <p:nvPr/>
        </p:nvSpPr>
        <p:spPr>
          <a:xfrm>
            <a:off x="1009650" y="5029200"/>
            <a:ext cx="1905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300 rad/s</a:t>
            </a:r>
          </a:p>
        </p:txBody>
      </p:sp>
      <p:sp>
        <p:nvSpPr>
          <p:cNvPr id="8" name="Rectangle 7"/>
          <p:cNvSpPr/>
          <p:nvPr/>
        </p:nvSpPr>
        <p:spPr>
          <a:xfrm>
            <a:off x="2995612" y="4938712"/>
            <a:ext cx="638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05212" y="3605212"/>
            <a:ext cx="28575" cy="2695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05212" y="3605212"/>
            <a:ext cx="11487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4724400" y="3543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05212" y="6272212"/>
            <a:ext cx="4343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sosceles Triangle 12"/>
          <p:cNvSpPr/>
          <p:nvPr/>
        </p:nvSpPr>
        <p:spPr>
          <a:xfrm rot="5400000">
            <a:off x="4010025" y="6210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53000" y="3143250"/>
            <a:ext cx="3619500" cy="952500"/>
          </a:xfrm>
          <a:prstGeom prst="roundRect">
            <a:avLst>
              <a:gd name="adj" fmla="val 14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29200" y="3348038"/>
            <a:ext cx="3467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Feedforward</a:t>
            </a:r>
          </a:p>
        </p:txBody>
      </p:sp>
      <p:sp>
        <p:nvSpPr>
          <p:cNvPr id="16" name="TextBox 15"/>
          <p:cNvSpPr txBox="1"/>
          <p:nvPr/>
        </p:nvSpPr>
        <p:spPr>
          <a:xfrm>
            <a:off x="5048250" y="3695700"/>
            <a:ext cx="3429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kV × target: the guess</a:t>
            </a:r>
          </a:p>
        </p:txBody>
      </p:sp>
      <p:sp>
        <p:nvSpPr>
          <p:cNvPr id="17" name="Oval 16"/>
          <p:cNvSpPr/>
          <p:nvPr/>
        </p:nvSpPr>
        <p:spPr>
          <a:xfrm>
            <a:off x="4238625" y="5953125"/>
            <a:ext cx="666750" cy="666750"/>
          </a:xfrm>
          <a:prstGeom prst="ellipse">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38625" y="5953125"/>
            <a:ext cx="666750" cy="666750"/>
          </a:xfrm>
          <a:prstGeom prst="ellipse">
            <a:avLst/>
          </a:prstGeom>
          <a:no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38625" y="5953125"/>
            <a:ext cx="666750" cy="666750"/>
          </a:xfrm>
          <a:prstGeom prst="rect">
            <a:avLst/>
          </a:prstGeom>
          <a:noFill/>
        </p:spPr>
        <p:txBody>
          <a:bodyPr wrap="square" lIns="0" rIns="0" tIns="0" bIns="0" anchor="ctr">
            <a:spAutoFit/>
          </a:bodyPr>
          <a:lstStyle/>
          <a:p>
            <a:pPr algn="ctr"/>
            <a:r>
              <a:rPr sz="2550" b="1" i="0">
                <a:solidFill>
                  <a:srgbClr val="F0E8E8"/>
                </a:solidFill>
                <a:latin typeface="Geist"/>
                <a:ea typeface="Geist"/>
                <a:cs typeface="Geist"/>
              </a:rPr>
              <a:t>−</a:t>
            </a:r>
          </a:p>
        </p:txBody>
      </p:sp>
      <p:sp>
        <p:nvSpPr>
          <p:cNvPr id="20" name="Rectangle 19"/>
          <p:cNvSpPr/>
          <p:nvPr/>
        </p:nvSpPr>
        <p:spPr>
          <a:xfrm>
            <a:off x="4967288" y="6272212"/>
            <a:ext cx="5486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5486400" y="6210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53000" y="5867400"/>
            <a:ext cx="762000" cy="285750"/>
          </a:xfrm>
          <a:prstGeom prst="rect">
            <a:avLst/>
          </a:prstGeom>
          <a:noFill/>
        </p:spPr>
        <p:txBody>
          <a:bodyPr wrap="square" lIns="0" rIns="0" tIns="0" bIns="0" anchor="t">
            <a:spAutoFit/>
          </a:bodyPr>
          <a:lstStyle/>
          <a:p>
            <a:pPr algn="ctr"/>
            <a:r>
              <a:rPr sz="1350" b="0" i="0">
                <a:solidFill>
                  <a:srgbClr val="9A7878"/>
                </a:solidFill>
                <a:latin typeface="Geist"/>
                <a:ea typeface="Geist"/>
                <a:cs typeface="Geist"/>
              </a:rPr>
              <a:t>error</a:t>
            </a:r>
          </a:p>
        </p:txBody>
      </p:sp>
      <p:sp>
        <p:nvSpPr>
          <p:cNvPr id="23" name="Rounded Rectangle 22"/>
          <p:cNvSpPr/>
          <p:nvPr/>
        </p:nvSpPr>
        <p:spPr>
          <a:xfrm>
            <a:off x="5715000" y="5810250"/>
            <a:ext cx="2857500" cy="952500"/>
          </a:xfrm>
          <a:prstGeom prst="roundRect">
            <a:avLst>
              <a:gd name="adj" fmla="val 14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791200" y="6015038"/>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Feedback</a:t>
            </a:r>
          </a:p>
        </p:txBody>
      </p:sp>
      <p:sp>
        <p:nvSpPr>
          <p:cNvPr id="25" name="TextBox 24"/>
          <p:cNvSpPr txBox="1"/>
          <p:nvPr/>
        </p:nvSpPr>
        <p:spPr>
          <a:xfrm>
            <a:off x="5810250" y="6362700"/>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kP × error: the fix</a:t>
            </a:r>
          </a:p>
        </p:txBody>
      </p:sp>
      <p:sp>
        <p:nvSpPr>
          <p:cNvPr id="26" name="Oval 25"/>
          <p:cNvSpPr/>
          <p:nvPr/>
        </p:nvSpPr>
        <p:spPr>
          <a:xfrm>
            <a:off x="9525000" y="4619625"/>
            <a:ext cx="666750" cy="666750"/>
          </a:xfrm>
          <a:prstGeom prst="ellipse">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25000" y="4619625"/>
            <a:ext cx="666750" cy="666750"/>
          </a:xfrm>
          <a:prstGeom prst="ellipse">
            <a:avLst/>
          </a:prstGeom>
          <a:no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25000" y="4619625"/>
            <a:ext cx="666750" cy="666750"/>
          </a:xfrm>
          <a:prstGeom prst="rect">
            <a:avLst/>
          </a:prstGeom>
          <a:noFill/>
        </p:spPr>
        <p:txBody>
          <a:bodyPr wrap="square" lIns="0" rIns="0" tIns="0" bIns="0" anchor="ctr">
            <a:spAutoFit/>
          </a:bodyPr>
          <a:lstStyle/>
          <a:p>
            <a:pPr algn="ctr"/>
            <a:r>
              <a:rPr sz="2550" b="1" i="0">
                <a:solidFill>
                  <a:srgbClr val="F0E8E8"/>
                </a:solidFill>
                <a:latin typeface="Geist"/>
                <a:ea typeface="Geist"/>
                <a:cs typeface="Geist"/>
              </a:rPr>
              <a:t>+</a:t>
            </a:r>
          </a:p>
        </p:txBody>
      </p:sp>
      <p:sp>
        <p:nvSpPr>
          <p:cNvPr id="29" name="Rectangle 28"/>
          <p:cNvSpPr/>
          <p:nvPr/>
        </p:nvSpPr>
        <p:spPr>
          <a:xfrm>
            <a:off x="8558212" y="3605212"/>
            <a:ext cx="1314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844088" y="3605212"/>
            <a:ext cx="28575" cy="8153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Isosceles Triangle 30"/>
          <p:cNvSpPr/>
          <p:nvPr/>
        </p:nvSpPr>
        <p:spPr>
          <a:xfrm rot="10800000">
            <a:off x="9782175" y="43910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558212" y="6272212"/>
            <a:ext cx="1314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844088" y="5485448"/>
            <a:ext cx="28575" cy="8153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a:off x="9782175" y="53625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53662" y="493871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sosceles Triangle 35"/>
          <p:cNvSpPr/>
          <p:nvPr/>
        </p:nvSpPr>
        <p:spPr>
          <a:xfrm rot="5400000">
            <a:off x="1072515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953750" y="4476750"/>
            <a:ext cx="22860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1029950" y="4681538"/>
            <a:ext cx="21336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39" name="TextBox 38"/>
          <p:cNvSpPr txBox="1"/>
          <p:nvPr/>
        </p:nvSpPr>
        <p:spPr>
          <a:xfrm>
            <a:off x="11049000" y="5029200"/>
            <a:ext cx="20955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Kraken X60</a:t>
            </a:r>
          </a:p>
        </p:txBody>
      </p:sp>
      <p:sp>
        <p:nvSpPr>
          <p:cNvPr id="40" name="Rectangle 39"/>
          <p:cNvSpPr/>
          <p:nvPr/>
        </p:nvSpPr>
        <p:spPr>
          <a:xfrm>
            <a:off x="13301662" y="493871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sosceles Triangle 40"/>
          <p:cNvSpPr/>
          <p:nvPr/>
        </p:nvSpPr>
        <p:spPr>
          <a:xfrm rot="5400000">
            <a:off x="1377315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4001750" y="4476750"/>
            <a:ext cx="2476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4077950" y="4681538"/>
            <a:ext cx="2324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Flywheel</a:t>
            </a:r>
          </a:p>
        </p:txBody>
      </p:sp>
      <p:sp>
        <p:nvSpPr>
          <p:cNvPr id="44" name="TextBox 43"/>
          <p:cNvSpPr txBox="1"/>
          <p:nvPr/>
        </p:nvSpPr>
        <p:spPr>
          <a:xfrm>
            <a:off x="14097000" y="5029200"/>
            <a:ext cx="2286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spins</a:t>
            </a:r>
          </a:p>
        </p:txBody>
      </p:sp>
      <p:sp>
        <p:nvSpPr>
          <p:cNvPr id="45" name="Rectangle 44"/>
          <p:cNvSpPr/>
          <p:nvPr/>
        </p:nvSpPr>
        <p:spPr>
          <a:xfrm>
            <a:off x="15225712" y="5414962"/>
            <a:ext cx="28575" cy="2124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3438822" y="7510462"/>
            <a:ext cx="18154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Isosceles Triangle 46"/>
          <p:cNvSpPr/>
          <p:nvPr/>
        </p:nvSpPr>
        <p:spPr>
          <a:xfrm rot="16200000">
            <a:off x="13315950" y="7448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953750" y="7143750"/>
            <a:ext cx="2286000" cy="762000"/>
          </a:xfrm>
          <a:prstGeom prst="roundRect">
            <a:avLst>
              <a:gd name="adj" fmla="val 1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1029950" y="7143750"/>
            <a:ext cx="2133600" cy="7620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Encoder</a:t>
            </a:r>
          </a:p>
        </p:txBody>
      </p:sp>
      <p:sp>
        <p:nvSpPr>
          <p:cNvPr id="50" name="Rectangle 49"/>
          <p:cNvSpPr/>
          <p:nvPr/>
        </p:nvSpPr>
        <p:spPr>
          <a:xfrm>
            <a:off x="4557712" y="7510462"/>
            <a:ext cx="6410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557712" y="6818948"/>
            <a:ext cx="28575" cy="7200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Isosceles Triangle 51"/>
          <p:cNvSpPr/>
          <p:nvPr/>
        </p:nvSpPr>
        <p:spPr>
          <a:xfrm>
            <a:off x="4495800" y="66960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34000" y="714375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measurement</a:t>
            </a:r>
          </a:p>
        </p:txBody>
      </p:sp>
      <p:sp>
        <p:nvSpPr>
          <p:cNvPr id="54" name="Rounded Rectangle 53"/>
          <p:cNvSpPr/>
          <p:nvPr/>
        </p:nvSpPr>
        <p:spPr>
          <a:xfrm>
            <a:off x="914400" y="8191500"/>
            <a:ext cx="11239500" cy="1059180"/>
          </a:xfrm>
          <a:prstGeom prst="roundRect">
            <a:avLst>
              <a:gd name="adj" fmla="val 1438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295400" y="8572500"/>
            <a:ext cx="10706100" cy="29718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duty = (kV * target_rad_per_sec + kP * error) / </a:t>
            </a:r>
            <a:r>
              <a:rPr sz="1950" b="0" i="0">
                <a:solidFill>
                  <a:srgbClr val="E8C27A"/>
                </a:solidFill>
                <a:latin typeface="Geist Mono"/>
                <a:ea typeface="Geist Mono"/>
                <a:cs typeface="Geist Mono"/>
              </a:rPr>
              <a:t>12.0</a:t>
            </a:r>
            <a:r>
              <a:rPr sz="1950" b="0" i="0">
                <a:solidFill>
                  <a:srgbClr val="F0E8E8"/>
                </a:solidFill>
                <a:latin typeface="Geist Mono"/>
                <a:ea typeface="Geist Mono"/>
                <a:cs typeface="Geist Mono"/>
              </a:rPr>
              <a:t>;</a:t>
            </a:r>
          </a:p>
        </p:txBody>
      </p:sp>
      <p:sp>
        <p:nvSpPr>
          <p:cNvPr id="56" name="TextBox 5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7" name="TextBox 5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both? Guess, then correct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68246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3959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543061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28773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417875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03587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TextBox 15"/>
          <p:cNvSpPr txBox="1"/>
          <p:nvPr/>
        </p:nvSpPr>
        <p:spPr>
          <a:xfrm>
            <a:off x="3843338"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7" name="TextBox 16"/>
          <p:cNvSpPr txBox="1"/>
          <p:nvPr/>
        </p:nvSpPr>
        <p:spPr>
          <a:xfrm>
            <a:off x="6010275"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18" name="TextBox 17"/>
          <p:cNvSpPr txBox="1"/>
          <p:nvPr/>
        </p:nvSpPr>
        <p:spPr>
          <a:xfrm>
            <a:off x="8177212"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19" name="TextBox 18"/>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0" name="TextBox 19"/>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FLYWHEEL SPEED (RAD/S)</a:t>
            </a:r>
          </a:p>
        </p:txBody>
      </p:sp>
      <p:sp>
        <p:nvSpPr>
          <p:cNvPr id="21" name="TextBox 20"/>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2" name="Rectangle 21"/>
          <p:cNvSpPr/>
          <p:nvPr/>
        </p:nvSpPr>
        <p:spPr>
          <a:xfrm>
            <a:off x="2152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438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724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009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295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581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867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152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438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24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010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5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581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867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153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438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724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010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296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581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867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153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439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8724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010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9296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582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867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0153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0439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0725150" y="417399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3" name="Connector 52"/>
          <p:cNvCxnSpPr/>
          <p:nvPr/>
        </p:nvCxnSpPr>
        <p:spPr>
          <a:xfrm flipV="1">
            <a:off x="2152650" y="7314551"/>
            <a:ext cx="238363" cy="6292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2391013" y="6769144"/>
            <a:ext cx="249198" cy="5454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640211" y="6283719"/>
            <a:ext cx="270867" cy="4854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911078" y="5861536"/>
            <a:ext cx="292537" cy="4221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203615" y="5502402"/>
            <a:ext cx="314206" cy="3591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517821" y="5203378"/>
            <a:ext cx="335875" cy="29902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853696" y="4953142"/>
            <a:ext cx="368379" cy="2502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22075" y="4745833"/>
            <a:ext cx="411718" cy="20730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633793" y="4601644"/>
            <a:ext cx="390049" cy="1441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023842" y="4487317"/>
            <a:ext cx="422553" cy="1143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446395" y="4395961"/>
            <a:ext cx="476726" cy="913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923121" y="4324571"/>
            <a:ext cx="552569" cy="7139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475690" y="4324571"/>
            <a:ext cx="10835" cy="93777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486525" y="5011135"/>
            <a:ext cx="346710" cy="2512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833235" y="4803229"/>
            <a:ext cx="379214" cy="2079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7212449" y="4632929"/>
            <a:ext cx="422553" cy="1703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635002" y="4499415"/>
            <a:ext cx="465891" cy="1335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100893" y="4397307"/>
            <a:ext cx="520065" cy="1021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620958" y="4319914"/>
            <a:ext cx="606743" cy="7739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227701" y="4264880"/>
            <a:ext cx="715089" cy="550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942790" y="4228058"/>
            <a:ext cx="877610" cy="368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152650" y="7431556"/>
            <a:ext cx="119182" cy="51229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271832" y="6999095"/>
            <a:ext cx="130016" cy="43246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401848" y="6644556"/>
            <a:ext cx="140851" cy="35453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542699" y="6361989"/>
            <a:ext cx="151685" cy="2825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694384" y="6130713"/>
            <a:ext cx="173355" cy="23127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2867739" y="5952488"/>
            <a:ext cx="195025" cy="17822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062764" y="5817657"/>
            <a:ext cx="227528" cy="13483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290292" y="5724180"/>
            <a:ext cx="260033" cy="9347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550325" y="5652700"/>
            <a:ext cx="379214" cy="7148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929539" y="5613983"/>
            <a:ext cx="498395" cy="387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4427934" y="5597457"/>
            <a:ext cx="704255" cy="1652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5113139" y="5578407"/>
            <a:ext cx="1381601"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6" name="Connector 85"/>
          <p:cNvCxnSpPr/>
          <p:nvPr/>
        </p:nvCxnSpPr>
        <p:spPr>
          <a:xfrm>
            <a:off x="6475690" y="5592722"/>
            <a:ext cx="10835" cy="93888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486525" y="6345690"/>
            <a:ext cx="108347" cy="18591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594872" y="6208496"/>
            <a:ext cx="97512" cy="13719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692384" y="6074273"/>
            <a:ext cx="119182" cy="13422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811566" y="5969291"/>
            <a:ext cx="119181" cy="1049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930747" y="5880670"/>
            <a:ext cx="130016" cy="8862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7060763" y="5803253"/>
            <a:ext cx="151686" cy="774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7212449" y="5743221"/>
            <a:ext cx="162520" cy="6003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7374969" y="5697898"/>
            <a:ext cx="173355" cy="4532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7548324" y="5639608"/>
            <a:ext cx="390049" cy="5829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938373" y="5607854"/>
            <a:ext cx="541735" cy="3175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8480108" y="5592529"/>
            <a:ext cx="2340292" cy="1532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152650" y="7019357"/>
            <a:ext cx="162520" cy="92449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315170" y="6320257"/>
            <a:ext cx="140851" cy="69910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456021" y="5819083"/>
            <a:ext cx="130017" cy="5011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586038" y="5381275"/>
            <a:ext cx="151685" cy="4378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737723" y="5041779"/>
            <a:ext cx="162520" cy="3394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900243" y="4886444"/>
            <a:ext cx="97513" cy="15533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997756" y="4759400"/>
            <a:ext cx="97512" cy="1270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095268" y="4645186"/>
            <a:ext cx="108347" cy="11421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203615" y="4545775"/>
            <a:ext cx="119181" cy="994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322796" y="4468022"/>
            <a:ext cx="119182" cy="7775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441978" y="4397670"/>
            <a:ext cx="140851" cy="7035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582829" y="4334926"/>
            <a:ext cx="173355" cy="627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56184" y="4286575"/>
            <a:ext cx="195024" cy="483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951208" y="4249996"/>
            <a:ext cx="227529" cy="3657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4178737" y="4223847"/>
            <a:ext cx="270867" cy="2614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4449604" y="4197071"/>
            <a:ext cx="704254" cy="2677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153858" y="4189423"/>
            <a:ext cx="1321832" cy="76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6475690" y="4189423"/>
            <a:ext cx="10835" cy="9388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486525" y="4942343"/>
            <a:ext cx="108347" cy="18596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594872" y="4805118"/>
            <a:ext cx="97512" cy="13722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692384" y="4670864"/>
            <a:ext cx="119182" cy="1342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811566" y="4565859"/>
            <a:ext cx="119181" cy="1050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930747" y="4477217"/>
            <a:ext cx="130016" cy="8864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060763" y="4399783"/>
            <a:ext cx="151686" cy="774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212449" y="4339737"/>
            <a:ext cx="162520" cy="600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374969" y="4294403"/>
            <a:ext cx="173355" cy="453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548324" y="4236100"/>
            <a:ext cx="390049" cy="583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938373" y="4204339"/>
            <a:ext cx="541735" cy="3176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480108" y="4189011"/>
            <a:ext cx="2340292" cy="1532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5334000" y="3114675"/>
            <a:ext cx="342900" cy="571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Feedforward</a:t>
            </a:r>
          </a:p>
        </p:txBody>
      </p:sp>
      <p:sp>
        <p:nvSpPr>
          <p:cNvPr id="129" name="Rectangle 128"/>
          <p:cNvSpPr/>
          <p:nvPr/>
        </p:nvSpPr>
        <p:spPr>
          <a:xfrm>
            <a:off x="7377112"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7834312"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only</a:t>
            </a:r>
          </a:p>
        </p:txBody>
      </p:sp>
      <p:sp>
        <p:nvSpPr>
          <p:cNvPr id="131" name="Rectangle 130"/>
          <p:cNvSpPr/>
          <p:nvPr/>
        </p:nvSpPr>
        <p:spPr>
          <a:xfrm>
            <a:off x="8872538" y="3114675"/>
            <a:ext cx="3429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9329738"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Both</a:t>
            </a:r>
          </a:p>
        </p:txBody>
      </p:sp>
      <p:sp>
        <p:nvSpPr>
          <p:cNvPr id="133" name="Oval 132"/>
          <p:cNvSpPr/>
          <p:nvPr/>
        </p:nvSpPr>
        <p:spPr>
          <a:xfrm>
            <a:off x="4562475" y="4909457"/>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562475" y="490945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5" name="Oval 134"/>
          <p:cNvSpPr/>
          <p:nvPr/>
        </p:nvSpPr>
        <p:spPr>
          <a:xfrm>
            <a:off x="4562475" y="576126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4562475" y="57612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7" name="Oval 136"/>
          <p:cNvSpPr/>
          <p:nvPr/>
        </p:nvSpPr>
        <p:spPr>
          <a:xfrm>
            <a:off x="3153966" y="357867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153966" y="35786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9" name="Oval 138"/>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41" name="TextBox 140"/>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Feedforward only</a:t>
            </a:r>
          </a:p>
        </p:txBody>
      </p:sp>
      <p:sp>
        <p:nvSpPr>
          <p:cNvPr id="142" name="TextBox 141"/>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Slow, and ignores the dip</a:t>
            </a:r>
          </a:p>
        </p:txBody>
      </p:sp>
      <p:sp>
        <p:nvSpPr>
          <p:cNvPr id="143" name="Oval 142"/>
          <p:cNvSpPr/>
          <p:nvPr/>
        </p:nvSpPr>
        <p:spPr>
          <a:xfrm>
            <a:off x="11906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5" name="TextBox 144"/>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only</a:t>
            </a:r>
          </a:p>
        </p:txBody>
      </p:sp>
      <p:sp>
        <p:nvSpPr>
          <p:cNvPr id="146" name="TextBox 145"/>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Stops short: no error, no push</a:t>
            </a:r>
          </a:p>
        </p:txBody>
      </p:sp>
      <p:sp>
        <p:nvSpPr>
          <p:cNvPr id="147" name="Oval 146"/>
          <p:cNvSpPr/>
          <p:nvPr/>
        </p:nvSpPr>
        <p:spPr>
          <a:xfrm>
            <a:off x="11906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9" name="TextBox 148"/>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Both</a:t>
            </a:r>
          </a:p>
        </p:txBody>
      </p:sp>
      <p:sp>
        <p:nvSpPr>
          <p:cNvPr id="150" name="TextBox 149"/>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Fast, on target, quick recovery</a:t>
            </a:r>
          </a:p>
        </p:txBody>
      </p:sp>
      <p:sp>
        <p:nvSpPr>
          <p:cNvPr id="151" name="TextBox 1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52" name="TextBox 1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Picking the style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  ·  runFlywheel()</a:t>
            </a:r>
          </a:p>
        </p:txBody>
      </p:sp>
      <p:sp>
        <p:nvSpPr>
          <p:cNvPr id="6" name="Rounded Rectangle 5"/>
          <p:cNvSpPr/>
          <p:nvPr/>
        </p:nvSpPr>
        <p:spPr>
          <a:xfrm>
            <a:off x="914400" y="3238500"/>
            <a:ext cx="10572750" cy="4739640"/>
          </a:xfrm>
          <a:prstGeom prst="roundRect">
            <a:avLst>
              <a:gd name="adj" fmla="val 32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6602730"/>
            <a:ext cx="10534650" cy="33147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6602730"/>
            <a:ext cx="57150" cy="33147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039350" cy="33147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switch</a:t>
            </a:r>
            <a:r>
              <a:rPr sz="1800" b="0" i="0">
                <a:solidFill>
                  <a:srgbClr val="F0E8E8"/>
                </a:solidFill>
                <a:latin typeface="Geist Mono"/>
                <a:ea typeface="Geist Mono"/>
                <a:cs typeface="Geist Mono"/>
              </a:rPr>
              <a:t> (CONSTANTS.FLYWHEEL_CONTROL) {</a:t>
            </a:r>
          </a:p>
        </p:txBody>
      </p:sp>
      <p:sp>
        <p:nvSpPr>
          <p:cNvPr id="10" name="TextBox 9"/>
          <p:cNvSpPr txBox="1"/>
          <p:nvPr/>
        </p:nvSpPr>
        <p:spPr>
          <a:xfrm>
            <a:off x="1295400" y="395097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BANG_BANG:</a:t>
            </a:r>
          </a:p>
        </p:txBody>
      </p:sp>
      <p:sp>
        <p:nvSpPr>
          <p:cNvPr id="11" name="TextBox 10"/>
          <p:cNvSpPr txBox="1"/>
          <p:nvPr/>
        </p:nvSpPr>
        <p:spPr>
          <a:xfrm>
            <a:off x="1295400" y="428244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bangBang();</a:t>
            </a:r>
          </a:p>
        </p:txBody>
      </p:sp>
      <p:sp>
        <p:nvSpPr>
          <p:cNvPr id="12" name="TextBox 11"/>
          <p:cNvSpPr txBox="1"/>
          <p:nvPr/>
        </p:nvSpPr>
        <p:spPr>
          <a:xfrm>
            <a:off x="1295400" y="461391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3" name="TextBox 12"/>
          <p:cNvSpPr txBox="1"/>
          <p:nvPr/>
        </p:nvSpPr>
        <p:spPr>
          <a:xfrm>
            <a:off x="1295400" y="494538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FEEDFORWARD:</a:t>
            </a:r>
          </a:p>
        </p:txBody>
      </p:sp>
      <p:sp>
        <p:nvSpPr>
          <p:cNvPr id="14" name="TextBox 13"/>
          <p:cNvSpPr txBox="1"/>
          <p:nvPr/>
        </p:nvSpPr>
        <p:spPr>
          <a:xfrm>
            <a:off x="1295400" y="527685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feedforward();</a:t>
            </a:r>
          </a:p>
        </p:txBody>
      </p:sp>
      <p:sp>
        <p:nvSpPr>
          <p:cNvPr id="15" name="TextBox 14"/>
          <p:cNvSpPr txBox="1"/>
          <p:nvPr/>
        </p:nvSpPr>
        <p:spPr>
          <a:xfrm>
            <a:off x="1295400" y="560832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6" name="TextBox 15"/>
          <p:cNvSpPr txBox="1"/>
          <p:nvPr/>
        </p:nvSpPr>
        <p:spPr>
          <a:xfrm>
            <a:off x="1295400" y="593979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PID:</a:t>
            </a:r>
          </a:p>
        </p:txBody>
      </p:sp>
      <p:sp>
        <p:nvSpPr>
          <p:cNvPr id="17" name="TextBox 16"/>
          <p:cNvSpPr txBox="1"/>
          <p:nvPr/>
        </p:nvSpPr>
        <p:spPr>
          <a:xfrm>
            <a:off x="1295400" y="627126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default</a:t>
            </a:r>
            <a:r>
              <a:rPr sz="1800" b="0" i="0">
                <a:solidFill>
                  <a:srgbClr val="F0E8E8"/>
                </a:solidFill>
                <a:latin typeface="Geist Mono"/>
                <a:ea typeface="Geist Mono"/>
                <a:cs typeface="Geist Mono"/>
              </a:rPr>
              <a:t>:</a:t>
            </a:r>
          </a:p>
        </p:txBody>
      </p:sp>
      <p:sp>
        <p:nvSpPr>
          <p:cNvPr id="18" name="TextBox 17"/>
          <p:cNvSpPr txBox="1"/>
          <p:nvPr/>
        </p:nvSpPr>
        <p:spPr>
          <a:xfrm>
            <a:off x="1295400" y="660273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flywheel_.setTargetVelocity(CONSTANTS.SHOOT_VELOCITY);</a:t>
            </a:r>
          </a:p>
        </p:txBody>
      </p:sp>
      <p:sp>
        <p:nvSpPr>
          <p:cNvPr id="19" name="TextBox 18"/>
          <p:cNvSpPr txBox="1"/>
          <p:nvPr/>
        </p:nvSpPr>
        <p:spPr>
          <a:xfrm>
            <a:off x="1295400" y="693420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20" name="TextBox 19"/>
          <p:cNvSpPr txBox="1"/>
          <p:nvPr/>
        </p:nvSpPr>
        <p:spPr>
          <a:xfrm>
            <a:off x="1295400" y="726567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1" name="Oval 20"/>
          <p:cNvSpPr/>
          <p:nvPr/>
        </p:nvSpPr>
        <p:spPr>
          <a:xfrm>
            <a:off x="10877550" y="392620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77550" y="392620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0877550" y="492061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77550" y="49206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0877550" y="657796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77550" y="65779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190625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BANG_BANG</a:t>
            </a:r>
          </a:p>
        </p:txBody>
      </p:sp>
      <p:sp>
        <p:nvSpPr>
          <p:cNvPr id="30" name="TextBox 29"/>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your bangBang()</a:t>
            </a:r>
          </a:p>
        </p:txBody>
      </p:sp>
      <p:sp>
        <p:nvSpPr>
          <p:cNvPr id="31" name="Oval 30"/>
          <p:cNvSpPr/>
          <p:nvPr/>
        </p:nvSpPr>
        <p:spPr>
          <a:xfrm>
            <a:off x="1190625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906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2515850" y="4629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FEEDFORWARD</a:t>
            </a:r>
          </a:p>
        </p:txBody>
      </p:sp>
      <p:sp>
        <p:nvSpPr>
          <p:cNvPr id="34" name="TextBox 33"/>
          <p:cNvSpPr txBox="1"/>
          <p:nvPr/>
        </p:nvSpPr>
        <p:spPr>
          <a:xfrm>
            <a:off x="12515850" y="5048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your feedforward()</a:t>
            </a:r>
          </a:p>
        </p:txBody>
      </p:sp>
      <p:sp>
        <p:nvSpPr>
          <p:cNvPr id="35" name="Oval 34"/>
          <p:cNvSpPr/>
          <p:nvPr/>
        </p:nvSpPr>
        <p:spPr>
          <a:xfrm>
            <a:off x="1190625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906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2515850" y="6248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PID</a:t>
            </a:r>
          </a:p>
        </p:txBody>
      </p:sp>
      <p:sp>
        <p:nvSpPr>
          <p:cNvPr id="38" name="TextBox 37"/>
          <p:cNvSpPr txBox="1"/>
          <p:nvPr/>
        </p:nvSpPr>
        <p:spPr>
          <a:xfrm>
            <a:off x="12515850" y="6667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Talon FX runs kV + kP for us, 1000 times a second</a:t>
            </a:r>
          </a:p>
        </p:txBody>
      </p:sp>
      <p:sp>
        <p:nvSpPr>
          <p:cNvPr id="39" name="Rounded Rectangle 38"/>
          <p:cNvSpPr/>
          <p:nvPr/>
        </p:nvSpPr>
        <p:spPr>
          <a:xfrm>
            <a:off x="914400" y="8286750"/>
            <a:ext cx="1057275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95400" y="8286750"/>
            <a:ext cx="9906000" cy="762000"/>
          </a:xfrm>
          <a:prstGeom prst="rect">
            <a:avLst/>
          </a:prstGeom>
          <a:noFill/>
        </p:spPr>
        <p:txBody>
          <a:bodyPr wrap="square" lIns="0" rIns="0" tIns="0" bIns="0" anchor="ctr">
            <a:spAutoFit/>
          </a:bodyPr>
          <a:lstStyle/>
          <a:p>
            <a:pPr algn="l"/>
            <a:r>
              <a:rPr sz="1800" b="0" i="0">
                <a:solidFill>
                  <a:srgbClr val="F0E8E8"/>
                </a:solidFill>
                <a:latin typeface="Geist"/>
                <a:ea typeface="Geist"/>
                <a:cs typeface="Geist"/>
              </a:rPr>
              <a:t>Pick one in </a:t>
            </a:r>
            <a:r>
              <a:rPr sz="1800" b="0" i="0">
                <a:solidFill>
                  <a:srgbClr val="F0E8E8"/>
                </a:solidFill>
                <a:latin typeface="Geist Mono"/>
                <a:ea typeface="Geist Mono"/>
                <a:cs typeface="Geist Mono"/>
              </a:rPr>
              <a:t>ShooterConstants</a:t>
            </a:r>
            <a:r>
              <a:rPr sz="1800" b="0" i="0">
                <a:solidFill>
                  <a:srgbClr val="F0E8E8"/>
                </a:solidFill>
                <a:latin typeface="Geist"/>
                <a:ea typeface="Geist"/>
                <a:cs typeface="Geist"/>
              </a:rPr>
              <a:t>:  </a:t>
            </a:r>
            <a:r>
              <a:rPr sz="1800" b="0" i="0">
                <a:solidFill>
                  <a:srgbClr val="E8C27A"/>
                </a:solidFill>
                <a:latin typeface="Geist Mono"/>
                <a:ea typeface="Geist Mono"/>
                <a:cs typeface="Geist Mono"/>
              </a:rPr>
              <a:t>FLYWHEEL_CONTROL = FlywheelControl.PID</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Tuning</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Feedforward first, then kP, by the graph</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Start small. Big gains can break a real robot!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TUNING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tuning recipe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14400" y="291465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9146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0</a:t>
            </a:r>
          </a:p>
        </p:txBody>
      </p:sp>
      <p:sp>
        <p:nvSpPr>
          <p:cNvPr id="7" name="TextBox 6"/>
          <p:cNvSpPr txBox="1"/>
          <p:nvPr/>
        </p:nvSpPr>
        <p:spPr>
          <a:xfrm>
            <a:off x="1619250" y="28575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Feedforward first</a:t>
            </a:r>
          </a:p>
        </p:txBody>
      </p:sp>
      <p:sp>
        <p:nvSpPr>
          <p:cNvPr id="8" name="TextBox 7"/>
          <p:cNvSpPr txBox="1"/>
          <p:nvPr/>
        </p:nvSpPr>
        <p:spPr>
          <a:xfrm>
            <a:off x="5334000" y="28575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kS, kV, kG get you close</a:t>
            </a:r>
          </a:p>
        </p:txBody>
      </p:sp>
      <p:sp>
        <p:nvSpPr>
          <p:cNvPr id="9" name="Oval 8"/>
          <p:cNvSpPr/>
          <p:nvPr/>
        </p:nvSpPr>
        <p:spPr>
          <a:xfrm>
            <a:off x="914400" y="386715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671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TextBox 10"/>
          <p:cNvSpPr txBox="1"/>
          <p:nvPr/>
        </p:nvSpPr>
        <p:spPr>
          <a:xfrm>
            <a:off x="1619250" y="38100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kP tiny</a:t>
            </a:r>
          </a:p>
        </p:txBody>
      </p:sp>
      <p:sp>
        <p:nvSpPr>
          <p:cNvPr id="12" name="TextBox 11"/>
          <p:cNvSpPr txBox="1"/>
          <p:nvPr/>
        </p:nvSpPr>
        <p:spPr>
          <a:xfrm>
            <a:off x="5334000" y="38100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Like 0.0001 on a real robot</a:t>
            </a:r>
          </a:p>
        </p:txBody>
      </p:sp>
      <p:sp>
        <p:nvSpPr>
          <p:cNvPr id="13" name="Oval 12"/>
          <p:cNvSpPr/>
          <p:nvPr/>
        </p:nvSpPr>
        <p:spPr>
          <a:xfrm>
            <a:off x="914400" y="481965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196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1619250" y="47625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 10</a:t>
            </a:r>
          </a:p>
        </p:txBody>
      </p:sp>
      <p:sp>
        <p:nvSpPr>
          <p:cNvPr id="16" name="TextBox 15"/>
          <p:cNvSpPr txBox="1"/>
          <p:nvPr/>
        </p:nvSpPr>
        <p:spPr>
          <a:xfrm>
            <a:off x="5334000" y="47625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Until it responds</a:t>
            </a:r>
          </a:p>
        </p:txBody>
      </p:sp>
      <p:sp>
        <p:nvSpPr>
          <p:cNvPr id="17" name="Oval 16"/>
          <p:cNvSpPr/>
          <p:nvPr/>
        </p:nvSpPr>
        <p:spPr>
          <a:xfrm>
            <a:off x="914400" y="577215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7721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 name="TextBox 18"/>
          <p:cNvSpPr txBox="1"/>
          <p:nvPr/>
        </p:nvSpPr>
        <p:spPr>
          <a:xfrm>
            <a:off x="1619250" y="57150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Raise slowly</a:t>
            </a:r>
          </a:p>
        </p:txBody>
      </p:sp>
      <p:sp>
        <p:nvSpPr>
          <p:cNvPr id="20" name="TextBox 19"/>
          <p:cNvSpPr txBox="1"/>
          <p:nvPr/>
        </p:nvSpPr>
        <p:spPr>
          <a:xfrm>
            <a:off x="5334000" y="57150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Until it oscillates, then back off</a:t>
            </a:r>
          </a:p>
        </p:txBody>
      </p:sp>
      <p:sp>
        <p:nvSpPr>
          <p:cNvPr id="21" name="Oval 20"/>
          <p:cNvSpPr/>
          <p:nvPr/>
        </p:nvSpPr>
        <p:spPr>
          <a:xfrm>
            <a:off x="914400" y="672465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67246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3" name="TextBox 22"/>
          <p:cNvSpPr txBox="1"/>
          <p:nvPr/>
        </p:nvSpPr>
        <p:spPr>
          <a:xfrm>
            <a:off x="1619250" y="66675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kD if it wobbles</a:t>
            </a:r>
          </a:p>
        </p:txBody>
      </p:sp>
      <p:sp>
        <p:nvSpPr>
          <p:cNvPr id="24" name="TextBox 23"/>
          <p:cNvSpPr txBox="1"/>
          <p:nvPr/>
        </p:nvSpPr>
        <p:spPr>
          <a:xfrm>
            <a:off x="5334000" y="66675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Start near 10% of kP</a:t>
            </a:r>
          </a:p>
        </p:txBody>
      </p:sp>
      <p:sp>
        <p:nvSpPr>
          <p:cNvPr id="25" name="Oval 24"/>
          <p:cNvSpPr/>
          <p:nvPr/>
        </p:nvSpPr>
        <p:spPr>
          <a:xfrm>
            <a:off x="914400" y="767715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76771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7" name="TextBox 26"/>
          <p:cNvSpPr txBox="1"/>
          <p:nvPr/>
        </p:nvSpPr>
        <p:spPr>
          <a:xfrm>
            <a:off x="1619250" y="76200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kI rarely</a:t>
            </a:r>
          </a:p>
        </p:txBody>
      </p:sp>
      <p:sp>
        <p:nvSpPr>
          <p:cNvPr id="28" name="TextBox 27"/>
          <p:cNvSpPr txBox="1"/>
          <p:nvPr/>
        </p:nvSpPr>
        <p:spPr>
          <a:xfrm>
            <a:off x="5334000" y="76200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Only for a stuck gap</a:t>
            </a:r>
          </a:p>
        </p:txBody>
      </p:sp>
      <p:sp>
        <p:nvSpPr>
          <p:cNvPr id="29" name="Rounded Rectangle 28"/>
          <p:cNvSpPr/>
          <p:nvPr/>
        </p:nvSpPr>
        <p:spPr>
          <a:xfrm>
            <a:off x="10858500" y="2857500"/>
            <a:ext cx="6515100" cy="5524500"/>
          </a:xfrm>
          <a:prstGeom prst="roundRect">
            <a:avLst>
              <a:gd name="adj" fmla="val 2758"/>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239500" y="320040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IN THE LESSON</a:t>
            </a:r>
          </a:p>
        </p:txBody>
      </p:sp>
      <p:sp>
        <p:nvSpPr>
          <p:cNvPr id="31" name="TextBox 30"/>
          <p:cNvSpPr txBox="1"/>
          <p:nvPr/>
        </p:nvSpPr>
        <p:spPr>
          <a:xfrm>
            <a:off x="11239500" y="3810000"/>
            <a:ext cx="57150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FLYWHEEL_KV</a:t>
            </a:r>
          </a:p>
        </p:txBody>
      </p:sp>
      <p:sp>
        <p:nvSpPr>
          <p:cNvPr id="32" name="TextBox 31"/>
          <p:cNvSpPr txBox="1"/>
          <p:nvPr/>
        </p:nvSpPr>
        <p:spPr>
          <a:xfrm>
            <a:off x="11239500" y="4286250"/>
            <a:ext cx="5715000" cy="381000"/>
          </a:xfrm>
          <a:prstGeom prst="rect">
            <a:avLst/>
          </a:prstGeom>
          <a:noFill/>
        </p:spPr>
        <p:txBody>
          <a:bodyPr wrap="square" lIns="0" rIns="0" tIns="0" bIns="0" anchor="t">
            <a:spAutoFit/>
          </a:bodyPr>
          <a:lstStyle/>
          <a:p>
            <a:pPr algn="l"/>
            <a:r>
              <a:rPr sz="1950" b="0" i="0">
                <a:solidFill>
                  <a:srgbClr val="E8C27A"/>
                </a:solidFill>
                <a:latin typeface="Geist Mono"/>
                <a:ea typeface="Geist Mono"/>
                <a:cs typeface="Geist Mono"/>
              </a:rPr>
              <a:t>0.008   0.016   0.0191</a:t>
            </a:r>
          </a:p>
        </p:txBody>
      </p:sp>
      <p:sp>
        <p:nvSpPr>
          <p:cNvPr id="33" name="TextBox 32"/>
          <p:cNvSpPr txBox="1"/>
          <p:nvPr/>
        </p:nvSpPr>
        <p:spPr>
          <a:xfrm>
            <a:off x="11239500" y="5238750"/>
            <a:ext cx="57150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FLYWHEEL_KP</a:t>
            </a:r>
          </a:p>
        </p:txBody>
      </p:sp>
      <p:sp>
        <p:nvSpPr>
          <p:cNvPr id="34" name="TextBox 33"/>
          <p:cNvSpPr txBox="1"/>
          <p:nvPr/>
        </p:nvSpPr>
        <p:spPr>
          <a:xfrm>
            <a:off x="11239500" y="5715000"/>
            <a:ext cx="5715000" cy="381000"/>
          </a:xfrm>
          <a:prstGeom prst="rect">
            <a:avLst/>
          </a:prstGeom>
          <a:noFill/>
        </p:spPr>
        <p:txBody>
          <a:bodyPr wrap="square" lIns="0" rIns="0" tIns="0" bIns="0" anchor="t">
            <a:spAutoFit/>
          </a:bodyPr>
          <a:lstStyle/>
          <a:p>
            <a:pPr algn="l"/>
            <a:r>
              <a:rPr sz="1950" b="0" i="0">
                <a:solidFill>
                  <a:srgbClr val="E8C27A"/>
                </a:solidFill>
                <a:latin typeface="Geist Mono"/>
                <a:ea typeface="Geist Mono"/>
                <a:cs typeface="Geist Mono"/>
              </a:rPr>
              <a:t>0.008   0.032   0.16   0.48</a:t>
            </a:r>
          </a:p>
        </p:txBody>
      </p:sp>
      <p:sp>
        <p:nvSpPr>
          <p:cNvPr id="35" name="TextBox 34"/>
          <p:cNvSpPr txBox="1"/>
          <p:nvPr/>
        </p:nvSpPr>
        <p:spPr>
          <a:xfrm>
            <a:off x="11239500" y="6667500"/>
            <a:ext cx="5715000" cy="1428750"/>
          </a:xfrm>
          <a:prstGeom prst="rect">
            <a:avLst/>
          </a:prstGeom>
          <a:noFill/>
        </p:spPr>
        <p:txBody>
          <a:bodyPr wrap="square" lIns="0" rIns="0" tIns="0" bIns="0" anchor="t">
            <a:spAutoFit/>
          </a:bodyPr>
          <a:lstStyle/>
          <a:p>
            <a:pPr algn="l">
              <a:lnSpc>
                <a:spcPct val="135000"/>
              </a:lnSpc>
            </a:pPr>
            <a:r>
              <a:rPr sz="1800" b="0" i="0">
                <a:solidFill>
                  <a:srgbClr val="9A7878"/>
                </a:solidFill>
                <a:latin typeface="Geist"/>
                <a:ea typeface="Geist"/>
                <a:cs typeface="Geist"/>
              </a:rPr>
              <a:t>Watch </a:t>
            </a:r>
            <a:r>
              <a:rPr sz="1800" b="0" i="0">
                <a:solidFill>
                  <a:srgbClr val="9A7878"/>
                </a:solidFill>
                <a:latin typeface="Geist Mono"/>
                <a:ea typeface="Geist Mono"/>
                <a:cs typeface="Geist Mono"/>
              </a:rPr>
              <a:t>FlywheelVelocity</a:t>
            </a:r>
            <a:r>
              <a:rPr sz="1800" b="0" i="0">
                <a:solidFill>
                  <a:srgbClr val="9A7878"/>
                </a:solidFill>
                <a:latin typeface="Geist"/>
                <a:ea typeface="Geist"/>
                <a:cs typeface="Geist"/>
              </a:rPr>
              <a:t> and </a:t>
            </a:r>
            <a:r>
              <a:rPr sz="1800" b="0" i="0">
                <a:solidFill>
                  <a:srgbClr val="9A7878"/>
                </a:solidFill>
                <a:latin typeface="Geist Mono"/>
                <a:ea typeface="Geist Mono"/>
                <a:cs typeface="Geist Mono"/>
              </a:rPr>
              <a:t>FlywheelError</a:t>
            </a:r>
            <a:r>
              <a:rPr sz="1800" b="0" i="0">
                <a:solidFill>
                  <a:srgbClr val="9A7878"/>
                </a:solidFill>
                <a:latin typeface="Geist"/>
                <a:ea typeface="Geist"/>
                <a:cs typeface="Geist"/>
              </a:rPr>
              <a:t> in AdvantageScope after each run.</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TUNING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graph: what Verify checks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68246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3959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543061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28773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417875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03587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TextBox 15"/>
          <p:cNvSpPr txBox="1"/>
          <p:nvPr/>
        </p:nvSpPr>
        <p:spPr>
          <a:xfrm>
            <a:off x="2914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17" name="TextBox 16"/>
          <p:cNvSpPr txBox="1"/>
          <p:nvPr/>
        </p:nvSpPr>
        <p:spPr>
          <a:xfrm>
            <a:off x="4152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8" name="TextBox 17"/>
          <p:cNvSpPr txBox="1"/>
          <p:nvPr/>
        </p:nvSpPr>
        <p:spPr>
          <a:xfrm>
            <a:off x="5391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19" name="TextBox 18"/>
          <p:cNvSpPr txBox="1"/>
          <p:nvPr/>
        </p:nvSpPr>
        <p:spPr>
          <a:xfrm>
            <a:off x="6629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0" name="TextBox 19"/>
          <p:cNvSpPr txBox="1"/>
          <p:nvPr/>
        </p:nvSpPr>
        <p:spPr>
          <a:xfrm>
            <a:off x="7867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2.5</a:t>
            </a:r>
          </a:p>
        </p:txBody>
      </p:sp>
      <p:sp>
        <p:nvSpPr>
          <p:cNvPr id="21" name="TextBox 20"/>
          <p:cNvSpPr txBox="1"/>
          <p:nvPr/>
        </p:nvSpPr>
        <p:spPr>
          <a:xfrm>
            <a:off x="9105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2" name="TextBox 21"/>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3.5</a:t>
            </a:r>
          </a:p>
        </p:txBody>
      </p:sp>
      <p:sp>
        <p:nvSpPr>
          <p:cNvPr id="23" name="TextBox 22"/>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SUBSYSTEM/SHOOTER/FLYWHEELVELOCITY</a:t>
            </a:r>
          </a:p>
        </p:txBody>
      </p:sp>
      <p:sp>
        <p:nvSpPr>
          <p:cNvPr id="24" name="TextBox 23"/>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5" name="Rectangle 24"/>
          <p:cNvSpPr/>
          <p:nvPr/>
        </p:nvSpPr>
        <p:spPr>
          <a:xfrm>
            <a:off x="2152650" y="4075611"/>
            <a:ext cx="8667750" cy="225334"/>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152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438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724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009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295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581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867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152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438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24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010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295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581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867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153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438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724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010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296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581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7867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153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439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8724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010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296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582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9867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153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439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0725150" y="417399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7" name="Connector 56"/>
          <p:cNvCxnSpPr/>
          <p:nvPr/>
        </p:nvCxnSpPr>
        <p:spPr>
          <a:xfrm flipV="1">
            <a:off x="2152650" y="7077457"/>
            <a:ext cx="173355" cy="86639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326005" y="6358689"/>
            <a:ext cx="163449" cy="71876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489454" y="5863374"/>
            <a:ext cx="143637" cy="49531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633091" y="5446947"/>
            <a:ext cx="158496" cy="41642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791587" y="5084741"/>
            <a:ext cx="188214" cy="36220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2979801" y="4938134"/>
            <a:ext cx="99060" cy="14660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078861" y="4804419"/>
            <a:ext cx="108966" cy="13371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187827" y="4690070"/>
            <a:ext cx="113919" cy="11434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3301746" y="4589736"/>
            <a:ext cx="123825" cy="10033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3425571" y="4503809"/>
            <a:ext cx="133731" cy="8592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559302" y="4429758"/>
            <a:ext cx="148590" cy="7405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707892" y="4355872"/>
            <a:ext cx="203073" cy="7388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3910965" y="4299593"/>
            <a:ext cx="227838" cy="5627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138803" y="4257831"/>
            <a:ext cx="262509" cy="4176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401312" y="4228153"/>
            <a:ext cx="312039" cy="2967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713351" y="4197876"/>
            <a:ext cx="817245" cy="3027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530596" y="4189416"/>
            <a:ext cx="1570101" cy="846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100697" y="4189416"/>
            <a:ext cx="4953" cy="93888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7105650" y="4830402"/>
            <a:ext cx="212979" cy="29790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318629" y="4711225"/>
            <a:ext cx="113919" cy="11917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7432548" y="4610406"/>
            <a:ext cx="118872" cy="10081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7551420" y="4520048"/>
            <a:ext cx="133731" cy="9035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685151" y="4444452"/>
            <a:ext cx="143637" cy="7559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828788" y="4380896"/>
            <a:ext cx="158496" cy="6355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987284" y="4329330"/>
            <a:ext cx="173355" cy="5156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8160639" y="4259468"/>
            <a:ext cx="381381" cy="6986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8542020" y="4218028"/>
            <a:ext cx="490347" cy="4144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9032367" y="4197532"/>
            <a:ext cx="673608" cy="2049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9705975" y="4190045"/>
            <a:ext cx="1114425" cy="748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2138362" y="7428820"/>
            <a:ext cx="2009775" cy="285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2138362" y="7314520"/>
            <a:ext cx="28575" cy="2571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4119562" y="7314520"/>
            <a:ext cx="28575" cy="2571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4124325" y="4300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4124325" y="4529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4124325" y="4758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4124325" y="49867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4124325" y="52153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4124325" y="5443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4124325" y="5672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4124325" y="5901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4124325" y="61297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4124325" y="63583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4124325" y="6586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4124325" y="6815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124325" y="7044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4124325" y="72727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2247900" y="7062107"/>
            <a:ext cx="2857500" cy="285750"/>
          </a:xfrm>
          <a:prstGeom prst="rect">
            <a:avLst/>
          </a:prstGeom>
          <a:noFill/>
        </p:spPr>
        <p:txBody>
          <a:bodyPr wrap="square" lIns="0" rIns="0" tIns="0" bIns="0" anchor="t">
            <a:spAutoFit/>
          </a:bodyPr>
          <a:lstStyle/>
          <a:p>
            <a:pPr algn="l"/>
            <a:r>
              <a:rPr sz="1500" b="1" i="0">
                <a:solidFill>
                  <a:srgbClr val="E8C27A"/>
                </a:solidFill>
                <a:latin typeface="Geist Mono"/>
                <a:ea typeface="Geist Mono"/>
                <a:cs typeface="Geist Mono"/>
              </a:rPr>
              <a:t>spin-up 0.80 s</a:t>
            </a:r>
          </a:p>
        </p:txBody>
      </p:sp>
      <p:sp>
        <p:nvSpPr>
          <p:cNvPr id="104" name="Rectangle 103"/>
          <p:cNvSpPr/>
          <p:nvPr/>
        </p:nvSpPr>
        <p:spPr>
          <a:xfrm>
            <a:off x="7091362" y="6051777"/>
            <a:ext cx="1209865" cy="285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7091362" y="5937477"/>
            <a:ext cx="28575" cy="2571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8272653" y="5937477"/>
            <a:ext cx="28575" cy="2571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8277415" y="4300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8277415" y="4529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8277415" y="4758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8277415" y="49867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8277415" y="52153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8277415" y="5443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8277415" y="5672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8277415" y="5901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7096125" y="5189764"/>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096125" y="5418364"/>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096125" y="5646964"/>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7096125" y="5875564"/>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8401240" y="5913664"/>
            <a:ext cx="2857500" cy="285750"/>
          </a:xfrm>
          <a:prstGeom prst="rect">
            <a:avLst/>
          </a:prstGeom>
          <a:noFill/>
        </p:spPr>
        <p:txBody>
          <a:bodyPr wrap="square" lIns="0" rIns="0" tIns="0" bIns="0" anchor="t">
            <a:spAutoFit/>
          </a:bodyPr>
          <a:lstStyle/>
          <a:p>
            <a:pPr algn="l"/>
            <a:r>
              <a:rPr sz="1500" b="1" i="0">
                <a:solidFill>
                  <a:srgbClr val="E8C27A"/>
                </a:solidFill>
                <a:latin typeface="Geist Mono"/>
                <a:ea typeface="Geist Mono"/>
                <a:cs typeface="Geist Mono"/>
              </a:rPr>
              <a:t>recovery 0.48 s</a:t>
            </a:r>
          </a:p>
        </p:txBody>
      </p:sp>
      <p:sp>
        <p:nvSpPr>
          <p:cNvPr id="120" name="TextBox 119"/>
          <p:cNvSpPr txBox="1"/>
          <p:nvPr/>
        </p:nvSpPr>
        <p:spPr>
          <a:xfrm>
            <a:off x="5962650" y="5344886"/>
            <a:ext cx="104775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launch</a:t>
            </a:r>
          </a:p>
        </p:txBody>
      </p:sp>
      <p:sp>
        <p:nvSpPr>
          <p:cNvPr id="121" name="Oval 120"/>
          <p:cNvSpPr/>
          <p:nvPr/>
        </p:nvSpPr>
        <p:spPr>
          <a:xfrm>
            <a:off x="2952750" y="7633607"/>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952750" y="763360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23" name="Oval 122"/>
          <p:cNvSpPr/>
          <p:nvPr/>
        </p:nvSpPr>
        <p:spPr>
          <a:xfrm>
            <a:off x="5429250" y="357867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429250" y="35786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5" name="Oval 124"/>
          <p:cNvSpPr/>
          <p:nvPr/>
        </p:nvSpPr>
        <p:spPr>
          <a:xfrm>
            <a:off x="7505795" y="625656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505795" y="62565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27" name="Oval 126"/>
          <p:cNvSpPr/>
          <p:nvPr/>
        </p:nvSpPr>
        <p:spPr>
          <a:xfrm>
            <a:off x="10010775" y="437877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010775" y="43787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29" name="Oval 128"/>
          <p:cNvSpPr/>
          <p:nvPr/>
        </p:nvSpPr>
        <p:spPr>
          <a:xfrm>
            <a:off x="11906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1" name="TextBox 130"/>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Spin-up</a:t>
            </a:r>
          </a:p>
        </p:txBody>
      </p:sp>
      <p:sp>
        <p:nvSpPr>
          <p:cNvPr id="132" name="TextBox 131"/>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1.5 s:  SpinUpSeconds</a:t>
            </a:r>
          </a:p>
        </p:txBody>
      </p:sp>
      <p:sp>
        <p:nvSpPr>
          <p:cNvPr id="133" name="Oval 132"/>
          <p:cNvSpPr/>
          <p:nvPr/>
        </p:nvSpPr>
        <p:spPr>
          <a:xfrm>
            <a:off x="11906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5" name="TextBox 134"/>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Peak</a:t>
            </a:r>
          </a:p>
        </p:txBody>
      </p:sp>
      <p:sp>
        <p:nvSpPr>
          <p:cNvPr id="136" name="TextBox 135"/>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290 to 330: no big overshoot</a:t>
            </a:r>
          </a:p>
        </p:txBody>
      </p:sp>
      <p:sp>
        <p:nvSpPr>
          <p:cNvPr id="137" name="Oval 136"/>
          <p:cNvSpPr/>
          <p:nvPr/>
        </p:nvSpPr>
        <p:spPr>
          <a:xfrm>
            <a:off x="11906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9" name="TextBox 138"/>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Recovery</a:t>
            </a:r>
          </a:p>
        </p:txBody>
      </p:sp>
      <p:sp>
        <p:nvSpPr>
          <p:cNvPr id="140" name="TextBox 139"/>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0.8 s:  RecoverySeconds</a:t>
            </a:r>
          </a:p>
        </p:txBody>
      </p:sp>
      <p:sp>
        <p:nvSpPr>
          <p:cNvPr id="141" name="Oval 140"/>
          <p:cNvSpPr/>
          <p:nvPr/>
        </p:nvSpPr>
        <p:spPr>
          <a:xfrm>
            <a:off x="11906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1906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43" name="TextBox 142"/>
          <p:cNvSpPr txBox="1"/>
          <p:nvPr/>
        </p:nvSpPr>
        <p:spPr>
          <a:xfrm>
            <a:off x="12515850" y="7105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speed</a:t>
            </a:r>
          </a:p>
        </p:txBody>
      </p:sp>
      <p:sp>
        <p:nvSpPr>
          <p:cNvPr id="144" name="TextBox 143"/>
          <p:cNvSpPr txBox="1"/>
          <p:nvPr/>
        </p:nvSpPr>
        <p:spPr>
          <a:xfrm>
            <a:off x="12515850" y="7524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Within 3% of the target</a:t>
            </a:r>
          </a:p>
        </p:txBody>
      </p:sp>
      <p:sp>
        <p:nvSpPr>
          <p:cNvPr id="145" name="TextBox 1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6" name="TextBox 1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TUNING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a real robot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095750"/>
          </a:xfrm>
          <a:prstGeom prst="roundRect">
            <a:avLst>
              <a:gd name="adj" fmla="val 392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xclamation-triangle-fill.png"/>
          <p:cNvPicPr>
            <a:picLocks noChangeAspect="1"/>
          </p:cNvPicPr>
          <p:nvPr/>
        </p:nvPicPr>
        <p:blipFill>
          <a:blip r:embed="rId3"/>
          <a:stretch>
            <a:fillRect/>
          </a:stretch>
        </p:blipFill>
        <p:spPr>
          <a:xfrm>
            <a:off x="1295400" y="3238500"/>
            <a:ext cx="653143" cy="571500"/>
          </a:xfrm>
          <a:prstGeom prst="rect">
            <a:avLst/>
          </a:prstGeom>
        </p:spPr>
      </p:pic>
      <p:sp>
        <p:nvSpPr>
          <p:cNvPr id="7" name="TextBox 6"/>
          <p:cNvSpPr txBox="1"/>
          <p:nvPr/>
        </p:nvSpPr>
        <p:spPr>
          <a:xfrm>
            <a:off x="1295400" y="4076700"/>
            <a:ext cx="31242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Start tiny</a:t>
            </a:r>
          </a:p>
        </p:txBody>
      </p:sp>
      <p:sp>
        <p:nvSpPr>
          <p:cNvPr id="8" name="TextBox 7"/>
          <p:cNvSpPr txBox="1"/>
          <p:nvPr/>
        </p:nvSpPr>
        <p:spPr>
          <a:xfrm>
            <a:off x="1295400" y="4613910"/>
            <a:ext cx="3124200" cy="23050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kP of 0.0001, then × 10. Big numbers can break things.</a:t>
            </a:r>
          </a:p>
        </p:txBody>
      </p:sp>
      <p:sp>
        <p:nvSpPr>
          <p:cNvPr id="9" name="Rounded Rectangle 8"/>
          <p:cNvSpPr/>
          <p:nvPr/>
        </p:nvSpPr>
        <p:spPr>
          <a:xfrm>
            <a:off x="5105400" y="2857500"/>
            <a:ext cx="3886200" cy="4095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4"/>
          <a:stretch>
            <a:fillRect/>
          </a:stretch>
        </p:blipFill>
        <p:spPr>
          <a:xfrm>
            <a:off x="5486400" y="3238500"/>
            <a:ext cx="609600" cy="571500"/>
          </a:xfrm>
          <a:prstGeom prst="rect">
            <a:avLst/>
          </a:prstGeom>
        </p:spPr>
      </p:pic>
      <p:sp>
        <p:nvSpPr>
          <p:cNvPr id="11" name="TextBox 10"/>
          <p:cNvSpPr txBox="1"/>
          <p:nvPr/>
        </p:nvSpPr>
        <p:spPr>
          <a:xfrm>
            <a:off x="5486400" y="4076700"/>
            <a:ext cx="31242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One gain at a time</a:t>
            </a:r>
          </a:p>
        </p:txBody>
      </p:sp>
      <p:sp>
        <p:nvSpPr>
          <p:cNvPr id="12" name="TextBox 11"/>
          <p:cNvSpPr txBox="1"/>
          <p:nvPr/>
        </p:nvSpPr>
        <p:spPr>
          <a:xfrm>
            <a:off x="5486400" y="4613910"/>
            <a:ext cx="3124200" cy="23050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So you know which change did what.</a:t>
            </a:r>
          </a:p>
        </p:txBody>
      </p:sp>
      <p:sp>
        <p:nvSpPr>
          <p:cNvPr id="13" name="Rounded Rectangle 12"/>
          <p:cNvSpPr/>
          <p:nvPr/>
        </p:nvSpPr>
        <p:spPr>
          <a:xfrm>
            <a:off x="9296400" y="2857500"/>
            <a:ext cx="3886200" cy="4095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png"/>
          <p:cNvPicPr>
            <a:picLocks noChangeAspect="1"/>
          </p:cNvPicPr>
          <p:nvPr/>
        </p:nvPicPr>
        <p:blipFill>
          <a:blip r:embed="rId5"/>
          <a:stretch>
            <a:fillRect/>
          </a:stretch>
        </p:blipFill>
        <p:spPr>
          <a:xfrm>
            <a:off x="9677400" y="3238500"/>
            <a:ext cx="609600" cy="571500"/>
          </a:xfrm>
          <a:prstGeom prst="rect">
            <a:avLst/>
          </a:prstGeom>
        </p:spPr>
      </p:pic>
      <p:sp>
        <p:nvSpPr>
          <p:cNvPr id="15" name="TextBox 14"/>
          <p:cNvSpPr txBox="1"/>
          <p:nvPr/>
        </p:nvSpPr>
        <p:spPr>
          <a:xfrm>
            <a:off x="9677400" y="4076700"/>
            <a:ext cx="31242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Simulate first</a:t>
            </a:r>
          </a:p>
        </p:txBody>
      </p:sp>
      <p:sp>
        <p:nvSpPr>
          <p:cNvPr id="16" name="TextBox 15"/>
          <p:cNvSpPr txBox="1"/>
          <p:nvPr/>
        </p:nvSpPr>
        <p:spPr>
          <a:xfrm>
            <a:off x="9677400" y="4613910"/>
            <a:ext cx="3124200" cy="23050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Tune in simulation, then try the numbers on the robot.</a:t>
            </a:r>
          </a:p>
        </p:txBody>
      </p:sp>
      <p:sp>
        <p:nvSpPr>
          <p:cNvPr id="17" name="Rounded Rectangle 16"/>
          <p:cNvSpPr/>
          <p:nvPr/>
        </p:nvSpPr>
        <p:spPr>
          <a:xfrm>
            <a:off x="13487400" y="2857500"/>
            <a:ext cx="3886200" cy="4095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graph-up.png"/>
          <p:cNvPicPr>
            <a:picLocks noChangeAspect="1"/>
          </p:cNvPicPr>
          <p:nvPr/>
        </p:nvPicPr>
        <p:blipFill>
          <a:blip r:embed="rId6"/>
          <a:stretch>
            <a:fillRect/>
          </a:stretch>
        </p:blipFill>
        <p:spPr>
          <a:xfrm>
            <a:off x="13868400" y="3238500"/>
            <a:ext cx="571500" cy="571500"/>
          </a:xfrm>
          <a:prstGeom prst="rect">
            <a:avLst/>
          </a:prstGeom>
        </p:spPr>
      </p:pic>
      <p:sp>
        <p:nvSpPr>
          <p:cNvPr id="19" name="TextBox 18"/>
          <p:cNvSpPr txBox="1"/>
          <p:nvPr/>
        </p:nvSpPr>
        <p:spPr>
          <a:xfrm>
            <a:off x="13868400" y="4076700"/>
            <a:ext cx="31242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Tune live</a:t>
            </a:r>
          </a:p>
        </p:txBody>
      </p:sp>
      <p:sp>
        <p:nvSpPr>
          <p:cNvPr id="20" name="TextBox 19"/>
          <p:cNvSpPr txBox="1"/>
          <p:nvPr/>
        </p:nvSpPr>
        <p:spPr>
          <a:xfrm>
            <a:off x="13868400" y="4613910"/>
            <a:ext cx="3124200" cy="23050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AdvantageScope's Tuning mode changes gains without a rebuild.</a:t>
            </a:r>
          </a:p>
        </p:txBody>
      </p:sp>
      <p:sp>
        <p:nvSpPr>
          <p:cNvPr id="21" name="TextBox 20"/>
          <p:cNvSpPr txBox="1"/>
          <p:nvPr/>
        </p:nvSpPr>
        <p:spPr>
          <a:xfrm>
            <a:off x="914400" y="7524750"/>
            <a:ext cx="1285875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Then </a:t>
            </a:r>
            <a:r>
              <a:rPr sz="2250" b="0" i="0">
                <a:solidFill>
                  <a:srgbClr val="F0E8E8"/>
                </a:solidFill>
                <a:latin typeface="Geist"/>
                <a:ea typeface="Geist"/>
                <a:cs typeface="Geist"/>
              </a:rPr>
              <a:t>copy the best values into </a:t>
            </a:r>
            <a:r>
              <a:rPr sz="2250" b="0" i="0">
                <a:solidFill>
                  <a:srgbClr val="F0E8E8"/>
                </a:solidFill>
                <a:latin typeface="Geist Mono"/>
                <a:ea typeface="Geist Mono"/>
                <a:cs typeface="Geist Mono"/>
              </a:rPr>
              <a:t>ShooterConstants.java</a:t>
            </a:r>
            <a:r>
              <a:rPr sz="2250" b="0" i="0">
                <a:solidFill>
                  <a:srgbClr val="F0E8E8"/>
                </a:solidFill>
                <a:latin typeface="Geist"/>
                <a:ea typeface="Geist"/>
                <a:cs typeface="Geist"/>
              </a:rPr>
              <a:t>.</a:t>
            </a:r>
          </a:p>
        </p:txBody>
      </p:sp>
      <p:sp>
        <p:nvSpPr>
          <p:cNvPr id="22" name="TextBox 21"/>
          <p:cNvSpPr txBox="1"/>
          <p:nvPr/>
        </p:nvSpPr>
        <p:spPr>
          <a:xfrm>
            <a:off x="914400" y="8096250"/>
            <a:ext cx="12858750" cy="47625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Say “ENABLING!” before every test, just like always.</a:t>
            </a:r>
          </a:p>
        </p:txBody>
      </p:sp>
      <p:pic>
        <p:nvPicPr>
          <p:cNvPr id="23" name="Picture 22" descr="dozer_wide_left.png"/>
          <p:cNvPicPr>
            <a:picLocks noChangeAspect="1"/>
          </p:cNvPicPr>
          <p:nvPr/>
        </p:nvPicPr>
        <p:blipFill>
          <a:blip r:embed="rId7"/>
          <a:stretch>
            <a:fillRect/>
          </a:stretch>
        </p:blipFill>
        <p:spPr>
          <a:xfrm>
            <a:off x="15144750" y="7239000"/>
            <a:ext cx="2190750" cy="1346530"/>
          </a:xfrm>
          <a:prstGeom prst="rect">
            <a:avLst/>
          </a:prstGeom>
        </p:spPr>
      </p:pic>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Control Theory</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100" b="0" i="0">
                <a:solidFill>
                  <a:srgbClr val="F0E8E8"/>
                </a:solidFill>
                <a:latin typeface="Geist"/>
                <a:ea typeface="Geist"/>
                <a:cs typeface="Geist"/>
              </a:rPr>
              <a:t>Write bangBang() and feedforward(), then tune kV and kP until the flywheel spins up fast and recovers from a launch.</a:t>
            </a:r>
          </a:p>
        </p:txBody>
      </p:sp>
      <p:sp>
        <p:nvSpPr>
          <p:cNvPr id="6" name="TextBox 5"/>
          <p:cNvSpPr txBox="1"/>
          <p:nvPr/>
        </p:nvSpPr>
        <p:spPr>
          <a:xfrm>
            <a:off x="1524000" y="39243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6 CHECKPOINTS</a:t>
            </a:r>
          </a:p>
        </p:txBody>
      </p:sp>
      <p:pic>
        <p:nvPicPr>
          <p:cNvPr id="7" name="Picture 6" descr="check-circle-fill.png"/>
          <p:cNvPicPr>
            <a:picLocks noChangeAspect="1"/>
          </p:cNvPicPr>
          <p:nvPr/>
        </p:nvPicPr>
        <p:blipFill>
          <a:blip r:embed="rId3"/>
          <a:stretch>
            <a:fillRect/>
          </a:stretch>
        </p:blipFill>
        <p:spPr>
          <a:xfrm>
            <a:off x="1524000" y="4362450"/>
            <a:ext cx="304800" cy="304800"/>
          </a:xfrm>
          <a:prstGeom prst="rect">
            <a:avLst/>
          </a:prstGeom>
        </p:spPr>
      </p:pic>
      <p:sp>
        <p:nvSpPr>
          <p:cNvPr id="8" name="TextBox 7"/>
          <p:cNvSpPr txBox="1"/>
          <p:nvPr/>
        </p:nvSpPr>
        <p:spPr>
          <a:xfrm>
            <a:off x="2019300" y="43053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Bang-bang</a:t>
            </a:r>
          </a:p>
        </p:txBody>
      </p:sp>
      <p:sp>
        <p:nvSpPr>
          <p:cNvPr id="9" name="TextBox 8"/>
          <p:cNvSpPr txBox="1"/>
          <p:nvPr/>
        </p:nvSpPr>
        <p:spPr>
          <a:xfrm>
            <a:off x="6286500" y="43434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Full power while too slow, off once fast enough</a:t>
            </a:r>
          </a:p>
        </p:txBody>
      </p:sp>
      <p:pic>
        <p:nvPicPr>
          <p:cNvPr id="10" name="Picture 9" descr="check-circle-fill.png"/>
          <p:cNvPicPr>
            <a:picLocks noChangeAspect="1"/>
          </p:cNvPicPr>
          <p:nvPr/>
        </p:nvPicPr>
        <p:blipFill>
          <a:blip r:embed="rId3"/>
          <a:stretch>
            <a:fillRect/>
          </a:stretch>
        </p:blipFill>
        <p:spPr>
          <a:xfrm>
            <a:off x="1524000" y="4972050"/>
            <a:ext cx="304800" cy="304800"/>
          </a:xfrm>
          <a:prstGeom prst="rect">
            <a:avLst/>
          </a:prstGeom>
        </p:spPr>
      </p:pic>
      <p:sp>
        <p:nvSpPr>
          <p:cNvPr id="11" name="TextBox 10"/>
          <p:cNvSpPr txBox="1"/>
          <p:nvPr/>
        </p:nvSpPr>
        <p:spPr>
          <a:xfrm>
            <a:off x="2019300" y="49149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Feedforward</a:t>
            </a:r>
          </a:p>
        </p:txBody>
      </p:sp>
      <p:sp>
        <p:nvSpPr>
          <p:cNvPr id="12" name="TextBox 11"/>
          <p:cNvSpPr txBox="1"/>
          <p:nvPr/>
        </p:nvSpPr>
        <p:spPr>
          <a:xfrm>
            <a:off x="6286500" y="49530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Power for the target speed from FLYWHEEL_KV</a:t>
            </a:r>
          </a:p>
        </p:txBody>
      </p:sp>
      <p:pic>
        <p:nvPicPr>
          <p:cNvPr id="13" name="Picture 12" descr="check-circle-fill.png"/>
          <p:cNvPicPr>
            <a:picLocks noChangeAspect="1"/>
          </p:cNvPicPr>
          <p:nvPr/>
        </p:nvPicPr>
        <p:blipFill>
          <a:blip r:embed="rId3"/>
          <a:stretch>
            <a:fillRect/>
          </a:stretch>
        </p:blipFill>
        <p:spPr>
          <a:xfrm>
            <a:off x="1524000" y="5581650"/>
            <a:ext cx="304800" cy="304800"/>
          </a:xfrm>
          <a:prstGeom prst="rect">
            <a:avLst/>
          </a:prstGeom>
        </p:spPr>
      </p:pic>
      <p:sp>
        <p:nvSpPr>
          <p:cNvPr id="14" name="TextBox 13"/>
          <p:cNvSpPr txBox="1"/>
          <p:nvPr/>
        </p:nvSpPr>
        <p:spPr>
          <a:xfrm>
            <a:off x="2019300" y="55245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PID selected and tuned</a:t>
            </a:r>
          </a:p>
        </p:txBody>
      </p:sp>
      <p:sp>
        <p:nvSpPr>
          <p:cNvPr id="15" name="TextBox 14"/>
          <p:cNvSpPr txBox="1"/>
          <p:nvPr/>
        </p:nvSpPr>
        <p:spPr>
          <a:xfrm>
            <a:off x="6286500" y="55626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PID with some kV and some kP</a:t>
            </a:r>
          </a:p>
        </p:txBody>
      </p:sp>
      <p:pic>
        <p:nvPicPr>
          <p:cNvPr id="16" name="Picture 15" descr="check-circle-fill.png"/>
          <p:cNvPicPr>
            <a:picLocks noChangeAspect="1"/>
          </p:cNvPicPr>
          <p:nvPr/>
        </p:nvPicPr>
        <p:blipFill>
          <a:blip r:embed="rId3"/>
          <a:stretch>
            <a:fillRect/>
          </a:stretch>
        </p:blipFill>
        <p:spPr>
          <a:xfrm>
            <a:off x="1524000" y="6191250"/>
            <a:ext cx="304800" cy="304800"/>
          </a:xfrm>
          <a:prstGeom prst="rect">
            <a:avLst/>
          </a:prstGeom>
        </p:spPr>
      </p:pic>
      <p:sp>
        <p:nvSpPr>
          <p:cNvPr id="17" name="TextBox 16"/>
          <p:cNvSpPr txBox="1"/>
          <p:nvPr/>
        </p:nvSpPr>
        <p:spPr>
          <a:xfrm>
            <a:off x="2019300" y="61341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Fast spin-up</a:t>
            </a:r>
          </a:p>
        </p:txBody>
      </p:sp>
      <p:sp>
        <p:nvSpPr>
          <p:cNvPr id="18" name="TextBox 17"/>
          <p:cNvSpPr txBox="1"/>
          <p:nvPr/>
        </p:nvSpPr>
        <p:spPr>
          <a:xfrm>
            <a:off x="6286500" y="61722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At speed in under about 1.5 s</a:t>
            </a:r>
          </a:p>
        </p:txBody>
      </p:sp>
      <p:pic>
        <p:nvPicPr>
          <p:cNvPr id="19" name="Picture 18" descr="check-circle-fill.png"/>
          <p:cNvPicPr>
            <a:picLocks noChangeAspect="1"/>
          </p:cNvPicPr>
          <p:nvPr/>
        </p:nvPicPr>
        <p:blipFill>
          <a:blip r:embed="rId3"/>
          <a:stretch>
            <a:fillRect/>
          </a:stretch>
        </p:blipFill>
        <p:spPr>
          <a:xfrm>
            <a:off x="1524000" y="6800850"/>
            <a:ext cx="304800" cy="304800"/>
          </a:xfrm>
          <a:prstGeom prst="rect">
            <a:avLst/>
          </a:prstGeom>
        </p:spPr>
      </p:pic>
      <p:sp>
        <p:nvSpPr>
          <p:cNvPr id="20" name="TextBox 19"/>
          <p:cNvSpPr txBox="1"/>
          <p:nvPr/>
        </p:nvSpPr>
        <p:spPr>
          <a:xfrm>
            <a:off x="2019300" y="67437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No big overshoot</a:t>
            </a:r>
          </a:p>
        </p:txBody>
      </p:sp>
      <p:sp>
        <p:nvSpPr>
          <p:cNvPr id="21" name="TextBox 20"/>
          <p:cNvSpPr txBox="1"/>
          <p:nvPr/>
        </p:nvSpPr>
        <p:spPr>
          <a:xfrm>
            <a:off x="6286500" y="67818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Peaks near the target, not far above</a:t>
            </a:r>
          </a:p>
        </p:txBody>
      </p:sp>
      <p:pic>
        <p:nvPicPr>
          <p:cNvPr id="22" name="Picture 21" descr="check-circle-fill.png"/>
          <p:cNvPicPr>
            <a:picLocks noChangeAspect="1"/>
          </p:cNvPicPr>
          <p:nvPr/>
        </p:nvPicPr>
        <p:blipFill>
          <a:blip r:embed="rId3"/>
          <a:stretch>
            <a:fillRect/>
          </a:stretch>
        </p:blipFill>
        <p:spPr>
          <a:xfrm>
            <a:off x="1524000" y="7410450"/>
            <a:ext cx="304800" cy="304800"/>
          </a:xfrm>
          <a:prstGeom prst="rect">
            <a:avLst/>
          </a:prstGeom>
        </p:spPr>
      </p:pic>
      <p:sp>
        <p:nvSpPr>
          <p:cNvPr id="23" name="TextBox 22"/>
          <p:cNvSpPr txBox="1"/>
          <p:nvPr/>
        </p:nvSpPr>
        <p:spPr>
          <a:xfrm>
            <a:off x="2019300" y="73533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Recovers after a launch</a:t>
            </a:r>
          </a:p>
        </p:txBody>
      </p:sp>
      <p:sp>
        <p:nvSpPr>
          <p:cNvPr id="24" name="TextBox 23"/>
          <p:cNvSpPr txBox="1"/>
          <p:nvPr/>
        </p:nvSpPr>
        <p:spPr>
          <a:xfrm>
            <a:off x="6286500" y="73914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Back to speed in under about 0.8 s</a:t>
            </a:r>
          </a:p>
        </p:txBody>
      </p:sp>
      <p:sp>
        <p:nvSpPr>
          <p:cNvPr id="25" name="TextBox 24"/>
          <p:cNvSpPr txBox="1"/>
          <p:nvPr/>
        </p:nvSpPr>
        <p:spPr>
          <a:xfrm>
            <a:off x="1524000" y="8058150"/>
            <a:ext cx="12382500" cy="381000"/>
          </a:xfrm>
          <a:prstGeom prst="rect">
            <a:avLst/>
          </a:prstGeom>
          <a:noFill/>
        </p:spPr>
        <p:txBody>
          <a:bodyPr wrap="square" lIns="0" rIns="0" tIns="0" bIns="0" anchor="t">
            <a:spAutoFit/>
          </a:bodyPr>
          <a:lstStyle/>
          <a:p>
            <a:pPr algn="l"/>
            <a:r>
              <a:rPr sz="1725" b="1" i="0">
                <a:solidFill>
                  <a:srgbClr val="F0E8E8"/>
                </a:solidFill>
                <a:latin typeface="Geist"/>
                <a:ea typeface="Geist"/>
                <a:cs typeface="Geist"/>
              </a:rPr>
              <a:t>Bonus: </a:t>
            </a:r>
            <a:r>
              <a:rPr sz="1725" b="0" i="0">
                <a:solidFill>
                  <a:srgbClr val="9A7878"/>
                </a:solidFill>
                <a:latin typeface="Geist"/>
                <a:ea typeface="Geist"/>
                <a:cs typeface="Geist"/>
              </a:rPr>
              <a:t>WPILib elevator and arm tuning, live tuning in AdvantageScope, SHOOT_VELOCITY = 400</a:t>
            </a:r>
          </a:p>
        </p:txBody>
      </p:sp>
      <p:sp>
        <p:nvSpPr>
          <p:cNvPr id="26" name="TextBox 25"/>
          <p:cNvSpPr txBox="1"/>
          <p:nvPr/>
        </p:nvSpPr>
        <p:spPr>
          <a:xfrm>
            <a:off x="1524000" y="849630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Control Theory</a:t>
            </a:r>
          </a:p>
        </p:txBody>
      </p:sp>
      <p:pic>
        <p:nvPicPr>
          <p:cNvPr id="27" name="Picture 26" descr="dozer.png"/>
          <p:cNvPicPr>
            <a:picLocks noChangeAspect="1"/>
          </p:cNvPicPr>
          <p:nvPr/>
        </p:nvPicPr>
        <p:blipFill>
          <a:blip r:embed="rId4"/>
          <a:stretch>
            <a:fillRect/>
          </a:stretch>
        </p:blipFill>
        <p:spPr>
          <a:xfrm>
            <a:off x="14287500" y="5715000"/>
            <a:ext cx="2667000" cy="1639254"/>
          </a:xfrm>
          <a:prstGeom prst="rect">
            <a:avLst/>
          </a:prstGeom>
        </p:spPr>
      </p:pic>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setpoint, measurement and error</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Tell open loop from closed loop</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a bang-bang controller</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Turn a target into volts with kV</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what P, I and D do</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Tune kV and kP by the graph</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Operators</a:t>
            </a:r>
          </a:p>
        </p:txBody>
      </p:sp>
      <p:sp>
        <p:nvSpPr>
          <p:cNvPr id="21" name="TextBox 20"/>
          <p:cNvSpPr txBox="1"/>
          <p:nvPr/>
        </p:nvSpPr>
        <p:spPr>
          <a:xfrm>
            <a:off x="9334500" y="4572000"/>
            <a:ext cx="3238500" cy="1524000"/>
          </a:xfrm>
          <a:prstGeom prst="rect">
            <a:avLst/>
          </a:prstGeom>
          <a:noFill/>
        </p:spPr>
        <p:txBody>
          <a:bodyPr wrap="square" lIns="0" rIns="0" tIns="0" bIns="0" anchor="t">
            <a:spAutoFit/>
          </a:bodyPr>
          <a:lstStyle/>
          <a:p>
            <a:pPr algn="l">
              <a:lnSpc>
                <a:spcPct val="135000"/>
              </a:lnSpc>
            </a:pPr>
            <a:r>
              <a:rPr sz="1650" b="0" i="0">
                <a:solidFill>
                  <a:srgbClr val="9A7878"/>
                </a:solidFill>
                <a:latin typeface="Geist"/>
                <a:ea typeface="Geist"/>
                <a:cs typeface="Geist"/>
              </a:rPr>
              <a:t>Comparisons like &lt; in bangBang(), and the math in feedforward().</a:t>
            </a:r>
          </a:p>
        </p:txBody>
      </p:sp>
      <p:sp>
        <p:nvSpPr>
          <p:cNvPr id="22" name="TextBox 21"/>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3" name="Rounded Rectangle 22"/>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sp>
        <p:nvSpPr>
          <p:cNvPr id="25" name="TextBox 24"/>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2850" b="1" i="0">
                <a:solidFill>
                  <a:srgbClr val="F0E8E8"/>
                </a:solidFill>
                <a:latin typeface="Geist"/>
                <a:ea typeface="Geist"/>
                <a:cs typeface="Geist"/>
              </a:rPr>
              <a:t>State Machines and Commands</a:t>
            </a:r>
          </a:p>
        </p:txBody>
      </p:sp>
      <p:sp>
        <p:nvSpPr>
          <p:cNvPr id="26" name="TextBox 25"/>
          <p:cNvSpPr txBox="1"/>
          <p:nvPr/>
        </p:nvSpPr>
        <p:spPr>
          <a:xfrm>
            <a:off x="13716000" y="5048250"/>
            <a:ext cx="3333750" cy="1428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Give the shooter a state machine and control it with commands bound to buttons.</a:t>
            </a:r>
          </a:p>
        </p:txBody>
      </p:sp>
      <p:pic>
        <p:nvPicPr>
          <p:cNvPr id="27" name="Picture 26" descr="dozer.png"/>
          <p:cNvPicPr>
            <a:picLocks noChangeAspect="1"/>
          </p:cNvPicPr>
          <p:nvPr/>
        </p:nvPicPr>
        <p:blipFill>
          <a:blip r:embed="rId5"/>
          <a:stretch>
            <a:fillRect/>
          </a:stretch>
        </p:blipFill>
        <p:spPr>
          <a:xfrm>
            <a:off x="14287500" y="6858000"/>
            <a:ext cx="2476500" cy="1522165"/>
          </a:xfrm>
          <a:prstGeom prst="rect">
            <a:avLst/>
          </a:prstGeom>
        </p:spPr>
      </p:pic>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