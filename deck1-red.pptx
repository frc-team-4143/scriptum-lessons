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first FRC Robot deck. Today: how the robot turns a number in your code into a spinning wheel, how to run the robot safely from the Driver Station, just enough Java to write drive code, and then tank drive and arcade drive. The hands-on part is the Motors and Drivetrains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By the end of the lesson you drive the simulated robot with a gamepad, first with two sticks (tank) and then with one (arcade). Ask: who has driven an RC car? Which kind of controls did it have?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is hardware: what's on the robot and how a command reaches a motor. You won't wire anything today, but knowing the chain makes debugging much easier.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one command. The driver moves a stick on the gamepad plugged into the Driver Station laptop. The laptop sends it over Wi-Fi to the robot's radio, which passes it to the roboRIO. Your code runs on the roboRIO: it reads the stick and decides on a number. That number travels over the CAN bus to a motor controller, which lets the right amount of battery power through to the motor. Activity: have six students stand in a line as the six boxes and pass a sticky note.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roboRIO is a small computer made for FRC robots. Your Java runs on it. It talks to the motor controllers over CAN, and has ports for sensors and simpler devices. Its address on the robot network is 10.TE.AM.2, so 10.41.43.2 on Varsity and 10.44.23.2 on JV. Ask: why would the robot need its own computer instead of running code on the laptop?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motor only knows how to spin when power flows through it. The motor controller sits between the battery and the motor and decides how much of the battery's 12 volts to let through, based on the number it gets from the roboRIO. Ask: what would happen if a motor were wired straight to the battery? (It would run flat out with no way to stop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kinds of motor. Brushed motors switch their own current with small carbon brushes, so they're simple but wear out and have no built-in sensor. Brushless motors let the controller's electronics do the switching: stronger, more efficient, and they report their own position and speed. The team drives with brushless motors. Older brushed motors (CIM, 775pro) used controllers like the Victor SPX and Talon SRX; you'll still see them on old robots.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controllers and motors on our robots. The Kraken X60 is a brushless motor with a Talon FX controller built in, so there's nothing extra to wire: it's what the lesson's drivetrain uses. REV's Spark MAX drives a NEO; the Spark Flex docks right onto a NEO Vortex. The Thrifty Nova is another small brushless controller. All of them connect to the roboRIO over CAN. Pass real ones around if you have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Krakens. The X60 is the bigger one: the most power, and what our drivetrain uses. The X44 has a smaller diameter and weighs less, but keeps the same shaft, mounting and length, so it can drop into most of the same places. WCP built it for spots where space is tight: shooters, hoods and intakes. Both have a Talon FX built in, so code talks to them the same way; in MWLib only the motor type in the config changes. Ask: where on last season's robot would a smaller motor have helped?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 is the wire that connects the roboRIO to every motor controller and many sensors. It's a twisted pair: yellow is CAN High, green is CAN Low. Devices are daisy-chained, one to the next, and each end of the chain needs a 120 ohm terminating resistor (the roboRIO has one built in). Every device has an ID number so the roboRIO can talk to one at a time. Ask: if one connector in the middle comes loose, which devices stop working? (Everything after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device on the bus needs its own ID. CTRE devices like the Talon FX inside a Kraken are set with Phoenix Tuner X; REV devices like the Spark MAX with the REV Hardware Client. Two devices with the same ID fight over the same messages, and neither works right. The code then refers to each motor by the ID you set. In the lesson project, Constants.java says the left motor is ID 1 and the right is ID 2.</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code tells a motor controller how hard to push with one number from -1.0 to 1.0, called the duty cycle. 1.0 is full forward, -1.0 is full backward, 0 is stop, and 0.5 is half. Anything past 1.0 is clipped, so 1.5 acts like 1.0. Activity: call out numbers and have the class point which way and how fast: 0.25, -1.0, 0, 2.0.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sides of a drivetrain are mirror images: the right motor faces the opposite way from the left. Give both the same positive number and they spin the same way as seen from the motor, which turns the robot in place. Inverting one side flips its direction so positive means forward on both. In our code, Constants.java marks the right side inverted and MWLib takes care of it, so in your code positive always means forward. Followers: when a side has two motors, one follows the other and copies its output.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Driver Station is how a person controls the robot. Safety habits start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FRC Driver Station runs on the drive laptop. On the left, pick the mode: TeleOperated, Autonomous, Practice or Test. Under it, Enable and Disable. On the right, check the three lights: Communications, Robot Code and Joysticks all need to be green before you can enable. Keyboard shortcuts: press [ ] and \ together to enable, Enter to disable, Space for emergency stop. Screenshots from the MARS/WARS docs.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can move fast and without warning. Before enabling, yell ENABLING so everyone near the robot hears it, and only enable when hands are clear. Know the stops by heart: Enter disables, Space is an emergency stop (the robot then needs a reboot). The robot signal light (RSL) tells anyone looking: solid means powered on, flashing means enabled. Practice: have the class shout ENABLING before every enable today.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 runs your code in modes. Disabled: nothing moves. Autonomous: the robot drives itself. Teleop: drivers control it. Test: for checking mechanisms. Each mode has three methods WPILib calls for you: Init once when the mode starts, Periodic over and over while it's on, Exit once when it ends. robotPeriodic runs in every mode. Today's code goes in teleopPeriodic. Ask: which method would you use to reset a timer at the start of auto?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teleopPeriodic isn't called once: WPILib calls it every 20 milliseconds, about 50 times a second, for as long as the robot is enabled in teleop. Each run does three things: read the sticks, do the math, set the motors. Because it runs so often, the robot reacts to the sticks right away. Never put a long loop or a wait inside it: the next run can't start until this one ends, and the robot stops responding. Ask: how many times does it run in a 2 minute 15 second match? (About 6,750.)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training there's no real robot or Driver Station: Scriptum has its own Driver Station panel next to a simulated robot. Press Start to build and run your code, pick Teleop, then Enable. No gamepad? The keyboard stands in: W and S are the left stick up and down, A and D are left and right, the arrow keys are the right stick up and down. On the real robot you use the FRC Driver Station and an Xbox controller instead.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ideas: objects with methods, variables, comments and operators. The Java track in Scriptum goes deeper on each; it's listed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lesson's Robot.java, trimmed. 1: controller_ is the gamepad, made once when the robot starts. 2: drive_ is the drivetrain, built from the motor list in Constants. 3: teleopPeriodic is where your code goes; WPILib calls it for you. Everything else in the file is already done. The underscore at the end of a name is the team's style for things the robot keeps around.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object is a thing in the program, like the gamepad or the drivetrain. A method is something it can do. You call a method with a dot and parentheses; the values inside the parentheses are its inputs. Some methods do something (setDutyCycles makes the motors move); some give back an answer (getLeftY returns how far the stick is pushed). Ask: what do you think controller_.getRightX() returns?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variable is a named box that holds a value. double is the type: a number that can have a decimal point. forward is the name. The equals sign means store, not equals: put the right side into the box. After this line, anywhere you write forward, Java uses the number inside. Variables made inside teleopPeriodic are made fresh every run. Ask: why does the stick value need its own name? (So the math reads like English.)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Comments are notes for people. Java ignores everything after // on a line, and everything between /* and */. Write comments that say why, not what: the code already says what. The lesson's starter code is full of comments telling you what to do; read them.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math operators work the way you expect: + - * /. The minus sign also flips a number's sign, which you'll use on the stick. Watch out for whole numbers: 1 / 2 in Java is 0, because two ints give an int and the fraction is dropped. Write 1.0 / 2 to get 0.5. Activity: have students predict each result before revealing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gamepad stick gives two numbers, each from -1.0 to 1.0. getLeftX is left to right. getLeftY is up and down, and here's the surprise: pushing up gives a negative number. It's a leftover from flight sticks. So forward = -controller_.getLeftY() flips it so up means forward. Forgetting the minus sign is the most common bug in this lesson: the robot drives backward. Ask: what does the stick read when you let go? (0, roughly.)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common drivetrains in FRC. We compete with swerve; we learn with tank.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Tank (also called differential or skid steer): wheels in two fixed rows. It turns by running the sides at different speeds, like a tank or a bulldozer. Mecanum: four wheels with angled rollers, so it can also slide sideways. Swerve: every wheel steers on its own, so it can drive any direction while facing any direction. MARS/WARS has run swerve on every robot since 2014. We learn on tank because it's the simplest: the ideas (motors, inputs, math) carry straight over to swerve.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idea behind tank drive. Same speed on both sides: straight. Opposite speeds: spin in place. One side faster: curve toward the slower side. Activity: two students hold hands side by side as the left and right wheels and walk these three moves.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drive styles fit in three to five lines of code. The lesson walks through each.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Tank drive: the left stick drives the left side and the right stick drives the right side. Read both Y axes, flip them so up is forward, and send them to the motors. Three lines. Push both sticks up: straight. One up, one down: spin. Ask: what happens if you only flip one of them?</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Arcade drive: one stick does everything. Up and down is forward; left and right is turn. Mix them: the left side gets forward plus turn, the right side gets forward minus turn. Pushing right makes the left side faster and the right side slower, so the robot turns right. This is the lesson's solution.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the arcade math by hand. Cover the last two columns and have students fill them in, then predict what the robot does. The last row shows clipping: 1.5 is past 1.0, so the left side just runs at full speed and the curve is less sharp than the math says.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bonus ideas from the lesson. Speed limit: multiply both speeds by 0.5 so new drivers can't go full speed. Backwards robot: flip the signs so the back becomes the front. Squared sticks: multiply the stick by its own size, forward * Math.abs(forward). Small pushes get much smaller, full pushes stay full, so fine control is easier. Math.abs keeps the sign so backward stays backward. Ask: what's 0.5 squared this way? (0.25.)</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check your code, open AdvantageScope and graph Drive/LeftOutput and Drive/RightOutput. Driving straight, the two lines sit on top of each other. Spinning, they're mirror images around zero. Curving, one is higher than the other. If a line goes the wrong way, a sign is flipped. This mock shows one short drive: stop, straight, spin, curve.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hands-on part: the Motors and Drivetrains lesson in Scriptum's FRC Robot track. Press Verify on each checkpoint as you go. The first checks your code; the other three drive the robot and check it moved the right way. Bonuses are optional. Nothing is graded and you can verify as many times as you like.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Everything later builds on this: the next deck adds sensors so the robot knows how far it's gone. The Java lessons on the right are optional practice for the ideas used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4.png"/><Relationship Id="rId5" Type="http://schemas.openxmlformats.org/officeDocument/2006/relationships/image" Target="../media/image9.png"/><Relationship Id="rId6" Type="http://schemas.openxmlformats.org/officeDocument/2006/relationships/image" Target="../media/image3.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27.png"/><Relationship Id="rId6" Type="http://schemas.openxmlformats.org/officeDocument/2006/relationships/image" Target="../media/image30.png"/><Relationship Id="rId7"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1.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5.png"/><Relationship Id="rId4"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5.png"/><Relationship Id="rId4" Type="http://schemas.openxmlformats.org/officeDocument/2006/relationships/image" Target="../media/image5.png"/><Relationship Id="rId5" Type="http://schemas.openxmlformats.org/officeDocument/2006/relationships/image" Target="../media/image1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1</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Motors and Drivetrains</a:t>
            </a:r>
          </a:p>
        </p:txBody>
      </p:sp>
      <p:sp>
        <p:nvSpPr>
          <p:cNvPr id="6" name="TextBox 5"/>
          <p:cNvSpPr txBox="1"/>
          <p:nvPr/>
        </p:nvSpPr>
        <p:spPr>
          <a:xfrm>
            <a:off x="914400" y="4953000"/>
            <a:ext cx="95250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How code turns into motion, and your first drive code: tank drive, then arcade drive.</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Let's get me moving! First stop: the motors.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motor to driving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pu.png"/>
          <p:cNvPicPr>
            <a:picLocks noChangeAspect="1"/>
          </p:cNvPicPr>
          <p:nvPr/>
        </p:nvPicPr>
        <p:blipFill>
          <a:blip r:embed="rId3"/>
          <a:stretch>
            <a:fillRect/>
          </a:stretch>
        </p:blipFill>
        <p:spPr>
          <a:xfrm>
            <a:off x="1257300" y="3238500"/>
            <a:ext cx="68580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How a robot moves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Controllers, motors and the CAN bus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display.png"/>
          <p:cNvPicPr>
            <a:picLocks noChangeAspect="1"/>
          </p:cNvPicPr>
          <p:nvPr/>
        </p:nvPicPr>
        <p:blipFill>
          <a:blip r:embed="rId4"/>
          <a:stretch>
            <a:fillRect/>
          </a:stretch>
        </p:blipFill>
        <p:spPr>
          <a:xfrm>
            <a:off x="4600575" y="3238500"/>
            <a:ext cx="877824"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Driver Station and modes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Enabling safely and when code runs</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code-slash.png"/>
          <p:cNvPicPr>
            <a:picLocks noChangeAspect="1"/>
          </p:cNvPicPr>
          <p:nvPr/>
        </p:nvPicPr>
        <p:blipFill>
          <a:blip r:embed="rId5"/>
          <a:stretch>
            <a:fillRect/>
          </a:stretch>
        </p:blipFill>
        <p:spPr>
          <a:xfrm>
            <a:off x="7943850" y="3238500"/>
            <a:ext cx="734786"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Your first Java</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Objects, methods, variables, math</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gear.png"/>
          <p:cNvPicPr>
            <a:picLocks noChangeAspect="1"/>
          </p:cNvPicPr>
          <p:nvPr/>
        </p:nvPicPr>
        <p:blipFill>
          <a:blip r:embed="rId6"/>
          <a:stretch>
            <a:fillRect/>
          </a:stretch>
        </p:blipFill>
        <p:spPr>
          <a:xfrm>
            <a:off x="11287125" y="3238500"/>
            <a:ext cx="685800" cy="6858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Drivetrains</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Tank, mecanum and swerve</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ontroller.png"/>
          <p:cNvPicPr>
            <a:picLocks noChangeAspect="1"/>
          </p:cNvPicPr>
          <p:nvPr/>
        </p:nvPicPr>
        <p:blipFill>
          <a:blip r:embed="rId7"/>
          <a:stretch>
            <a:fillRect/>
          </a:stretch>
        </p:blipFill>
        <p:spPr>
          <a:xfrm>
            <a:off x="14630400" y="3238500"/>
            <a:ext cx="909430" cy="685800"/>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Tank and arcade</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Writing the drive code</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you drive the robot with a gamepad, first with two sticks, then with one.</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How a robot moves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From a number in your code to a spinning wheel</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Your code never touches a motor. It sends a number down the 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control chain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1657350" y="3598889"/>
            <a:ext cx="762000" cy="574623"/>
          </a:xfrm>
          <a:prstGeom prst="rect">
            <a:avLst/>
          </a:prstGeom>
        </p:spPr>
      </p:pic>
      <p:sp>
        <p:nvSpPr>
          <p:cNvPr id="7" name="TextBox 6"/>
          <p:cNvSpPr txBox="1"/>
          <p:nvPr/>
        </p:nvSpPr>
        <p:spPr>
          <a:xfrm>
            <a:off x="100965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Gamepad</a:t>
            </a:r>
          </a:p>
        </p:txBody>
      </p:sp>
      <p:sp>
        <p:nvSpPr>
          <p:cNvPr id="8" name="TextBox 7"/>
          <p:cNvSpPr txBox="1"/>
          <p:nvPr/>
        </p:nvSpPr>
        <p:spPr>
          <a:xfrm>
            <a:off x="106680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Driver moves a stick</a:t>
            </a:r>
          </a:p>
        </p:txBody>
      </p:sp>
      <p:sp>
        <p:nvSpPr>
          <p:cNvPr id="9" name="Rectangle 8"/>
          <p:cNvSpPr/>
          <p:nvPr/>
        </p:nvSpPr>
        <p:spPr>
          <a:xfrm>
            <a:off x="322421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3524250" y="4495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75285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isplay.png"/>
          <p:cNvPicPr>
            <a:picLocks noChangeAspect="1"/>
          </p:cNvPicPr>
          <p:nvPr/>
        </p:nvPicPr>
        <p:blipFill>
          <a:blip r:embed="rId4"/>
          <a:stretch>
            <a:fillRect/>
          </a:stretch>
        </p:blipFill>
        <p:spPr>
          <a:xfrm>
            <a:off x="4495800" y="3588544"/>
            <a:ext cx="762000" cy="595312"/>
          </a:xfrm>
          <a:prstGeom prst="rect">
            <a:avLst/>
          </a:prstGeom>
        </p:spPr>
      </p:pic>
      <p:sp>
        <p:nvSpPr>
          <p:cNvPr id="13" name="TextBox 12"/>
          <p:cNvSpPr txBox="1"/>
          <p:nvPr/>
        </p:nvSpPr>
        <p:spPr>
          <a:xfrm>
            <a:off x="384810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Driver Station</a:t>
            </a:r>
          </a:p>
        </p:txBody>
      </p:sp>
      <p:sp>
        <p:nvSpPr>
          <p:cNvPr id="14" name="TextBox 13"/>
          <p:cNvSpPr txBox="1"/>
          <p:nvPr/>
        </p:nvSpPr>
        <p:spPr>
          <a:xfrm>
            <a:off x="390525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Laptop sends it</a:t>
            </a:r>
          </a:p>
        </p:txBody>
      </p:sp>
      <p:sp>
        <p:nvSpPr>
          <p:cNvPr id="15" name="Rectangle 14"/>
          <p:cNvSpPr/>
          <p:nvPr/>
        </p:nvSpPr>
        <p:spPr>
          <a:xfrm>
            <a:off x="606266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6362700" y="4495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59130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wifi.png"/>
          <p:cNvPicPr>
            <a:picLocks noChangeAspect="1"/>
          </p:cNvPicPr>
          <p:nvPr/>
        </p:nvPicPr>
        <p:blipFill>
          <a:blip r:embed="rId5"/>
          <a:stretch>
            <a:fillRect/>
          </a:stretch>
        </p:blipFill>
        <p:spPr>
          <a:xfrm>
            <a:off x="7334250" y="3626427"/>
            <a:ext cx="762000" cy="519545"/>
          </a:xfrm>
          <a:prstGeom prst="rect">
            <a:avLst/>
          </a:prstGeom>
        </p:spPr>
      </p:pic>
      <p:sp>
        <p:nvSpPr>
          <p:cNvPr id="19" name="TextBox 18"/>
          <p:cNvSpPr txBox="1"/>
          <p:nvPr/>
        </p:nvSpPr>
        <p:spPr>
          <a:xfrm>
            <a:off x="668655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Radio</a:t>
            </a:r>
          </a:p>
        </p:txBody>
      </p:sp>
      <p:sp>
        <p:nvSpPr>
          <p:cNvPr id="20" name="TextBox 19"/>
          <p:cNvSpPr txBox="1"/>
          <p:nvPr/>
        </p:nvSpPr>
        <p:spPr>
          <a:xfrm>
            <a:off x="674370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Wi-Fi to the robot</a:t>
            </a:r>
          </a:p>
        </p:txBody>
      </p:sp>
      <p:sp>
        <p:nvSpPr>
          <p:cNvPr id="21" name="Rectangle 20"/>
          <p:cNvSpPr/>
          <p:nvPr/>
        </p:nvSpPr>
        <p:spPr>
          <a:xfrm>
            <a:off x="890111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9201150" y="4495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429750" y="3143250"/>
            <a:ext cx="2247900" cy="2857500"/>
          </a:xfrm>
          <a:prstGeom prst="roundRect">
            <a:avLst>
              <a:gd name="adj" fmla="val 6779"/>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pu.png"/>
          <p:cNvPicPr>
            <a:picLocks noChangeAspect="1"/>
          </p:cNvPicPr>
          <p:nvPr/>
        </p:nvPicPr>
        <p:blipFill>
          <a:blip r:embed="rId6"/>
          <a:stretch>
            <a:fillRect/>
          </a:stretch>
        </p:blipFill>
        <p:spPr>
          <a:xfrm>
            <a:off x="10210800" y="3543300"/>
            <a:ext cx="685800" cy="685800"/>
          </a:xfrm>
          <a:prstGeom prst="rect">
            <a:avLst/>
          </a:prstGeom>
        </p:spPr>
      </p:pic>
      <p:sp>
        <p:nvSpPr>
          <p:cNvPr id="25" name="TextBox 24"/>
          <p:cNvSpPr txBox="1"/>
          <p:nvPr/>
        </p:nvSpPr>
        <p:spPr>
          <a:xfrm>
            <a:off x="952500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roboRIO</a:t>
            </a:r>
          </a:p>
        </p:txBody>
      </p:sp>
      <p:sp>
        <p:nvSpPr>
          <p:cNvPr id="26" name="TextBox 25"/>
          <p:cNvSpPr txBox="1"/>
          <p:nvPr/>
        </p:nvSpPr>
        <p:spPr>
          <a:xfrm>
            <a:off x="958215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Your code runs here</a:t>
            </a:r>
          </a:p>
        </p:txBody>
      </p:sp>
      <p:sp>
        <p:nvSpPr>
          <p:cNvPr id="27" name="Rectangle 26"/>
          <p:cNvSpPr/>
          <p:nvPr/>
        </p:nvSpPr>
        <p:spPr>
          <a:xfrm>
            <a:off x="1173956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2039600" y="4495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226820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diagram-3.png"/>
          <p:cNvPicPr>
            <a:picLocks noChangeAspect="1"/>
          </p:cNvPicPr>
          <p:nvPr/>
        </p:nvPicPr>
        <p:blipFill>
          <a:blip r:embed="rId7"/>
          <a:stretch>
            <a:fillRect/>
          </a:stretch>
        </p:blipFill>
        <p:spPr>
          <a:xfrm>
            <a:off x="13011150" y="3600450"/>
            <a:ext cx="762000" cy="571500"/>
          </a:xfrm>
          <a:prstGeom prst="rect">
            <a:avLst/>
          </a:prstGeom>
        </p:spPr>
      </p:pic>
      <p:sp>
        <p:nvSpPr>
          <p:cNvPr id="31" name="TextBox 30"/>
          <p:cNvSpPr txBox="1"/>
          <p:nvPr/>
        </p:nvSpPr>
        <p:spPr>
          <a:xfrm>
            <a:off x="1236345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CAN bus</a:t>
            </a:r>
          </a:p>
        </p:txBody>
      </p:sp>
      <p:sp>
        <p:nvSpPr>
          <p:cNvPr id="32" name="TextBox 31"/>
          <p:cNvSpPr txBox="1"/>
          <p:nvPr/>
        </p:nvSpPr>
        <p:spPr>
          <a:xfrm>
            <a:off x="1242060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Carries the number</a:t>
            </a:r>
          </a:p>
        </p:txBody>
      </p:sp>
      <p:sp>
        <p:nvSpPr>
          <p:cNvPr id="33" name="Rectangle 32"/>
          <p:cNvSpPr/>
          <p:nvPr/>
        </p:nvSpPr>
        <p:spPr>
          <a:xfrm>
            <a:off x="14578012" y="4557712"/>
            <a:ext cx="3295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Isosceles Triangle 33"/>
          <p:cNvSpPr/>
          <p:nvPr/>
        </p:nvSpPr>
        <p:spPr>
          <a:xfrm rot="5400000">
            <a:off x="14878050" y="4495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15106650" y="3143250"/>
            <a:ext cx="2247900" cy="2857500"/>
          </a:xfrm>
          <a:prstGeom prst="roundRect">
            <a:avLst>
              <a:gd name="adj" fmla="val 67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lightning-charge-fill.png"/>
          <p:cNvPicPr>
            <a:picLocks noChangeAspect="1"/>
          </p:cNvPicPr>
          <p:nvPr/>
        </p:nvPicPr>
        <p:blipFill>
          <a:blip r:embed="rId8"/>
          <a:stretch>
            <a:fillRect/>
          </a:stretch>
        </p:blipFill>
        <p:spPr>
          <a:xfrm>
            <a:off x="15992177" y="3543300"/>
            <a:ext cx="476845" cy="685800"/>
          </a:xfrm>
          <a:prstGeom prst="rect">
            <a:avLst/>
          </a:prstGeom>
        </p:spPr>
      </p:pic>
      <p:sp>
        <p:nvSpPr>
          <p:cNvPr id="37" name="TextBox 36"/>
          <p:cNvSpPr txBox="1"/>
          <p:nvPr/>
        </p:nvSpPr>
        <p:spPr>
          <a:xfrm>
            <a:off x="15201900" y="4476750"/>
            <a:ext cx="2057400" cy="762000"/>
          </a:xfrm>
          <a:prstGeom prst="rect">
            <a:avLst/>
          </a:prstGeom>
          <a:noFill/>
        </p:spPr>
        <p:txBody>
          <a:bodyPr wrap="square" lIns="0" rIns="0" tIns="0" bIns="0" anchor="t">
            <a:spAutoFit/>
          </a:bodyPr>
          <a:lstStyle/>
          <a:p>
            <a:pPr algn="ctr">
              <a:lnSpc>
                <a:spcPct val="105000"/>
              </a:lnSpc>
            </a:pPr>
            <a:r>
              <a:rPr sz="2100" b="1" i="0">
                <a:solidFill>
                  <a:srgbClr val="F0E8E8"/>
                </a:solidFill>
                <a:latin typeface="Geist"/>
                <a:ea typeface="Geist"/>
                <a:cs typeface="Geist"/>
              </a:rPr>
              <a:t>Motor controller</a:t>
            </a:r>
          </a:p>
        </p:txBody>
      </p:sp>
      <p:sp>
        <p:nvSpPr>
          <p:cNvPr id="38" name="TextBox 37"/>
          <p:cNvSpPr txBox="1"/>
          <p:nvPr/>
        </p:nvSpPr>
        <p:spPr>
          <a:xfrm>
            <a:off x="15259050" y="5295900"/>
            <a:ext cx="19431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Lets power through</a:t>
            </a:r>
          </a:p>
        </p:txBody>
      </p:sp>
      <p:pic>
        <p:nvPicPr>
          <p:cNvPr id="39" name="Picture 38" descr="dozer.png"/>
          <p:cNvPicPr>
            <a:picLocks noChangeAspect="1"/>
          </p:cNvPicPr>
          <p:nvPr/>
        </p:nvPicPr>
        <p:blipFill>
          <a:blip r:embed="rId9"/>
          <a:stretch>
            <a:fillRect/>
          </a:stretch>
        </p:blipFill>
        <p:spPr>
          <a:xfrm>
            <a:off x="15049500" y="6096000"/>
            <a:ext cx="2190750" cy="1346530"/>
          </a:xfrm>
          <a:prstGeom prst="rect">
            <a:avLst/>
          </a:prstGeom>
        </p:spPr>
      </p:pic>
      <p:sp>
        <p:nvSpPr>
          <p:cNvPr id="40" name="TextBox 39"/>
          <p:cNvSpPr txBox="1"/>
          <p:nvPr/>
        </p:nvSpPr>
        <p:spPr>
          <a:xfrm>
            <a:off x="14859000" y="7524750"/>
            <a:ext cx="24765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...and the motor spins</a:t>
            </a:r>
          </a:p>
        </p:txBody>
      </p:sp>
      <p:sp>
        <p:nvSpPr>
          <p:cNvPr id="41" name="Rounded Rectangle 40"/>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Your code  </a:t>
            </a:r>
            <a:r>
              <a:rPr sz="2100" b="0" i="0">
                <a:solidFill>
                  <a:srgbClr val="F0E8E8"/>
                </a:solidFill>
                <a:latin typeface="Geist"/>
                <a:ea typeface="Geist"/>
                <a:cs typeface="Geist"/>
              </a:rPr>
              <a:t>runs on the roboRIO. Everything else carries its numbers in or out.</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roboRIO: the robot's brain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857500"/>
            <a:ext cx="9525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Runs your robot code</a:t>
            </a:r>
            <a:r>
              <a:rPr sz="2400" b="0" i="0">
                <a:solidFill>
                  <a:srgbClr val="F0E8E8"/>
                </a:solidFill>
                <a:latin typeface="Geist"/>
                <a:ea typeface="Geist"/>
                <a:cs typeface="Geist"/>
              </a:rPr>
              <a:t> every 20 ms</a:t>
            </a:r>
          </a:p>
        </p:txBody>
      </p:sp>
      <p:sp>
        <p:nvSpPr>
          <p:cNvPr id="6" name="TextBox 5"/>
          <p:cNvSpPr txBox="1"/>
          <p:nvPr/>
        </p:nvSpPr>
        <p:spPr>
          <a:xfrm>
            <a:off x="914400" y="3539490"/>
            <a:ext cx="9525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Talks to motor controllers</a:t>
            </a:r>
            <a:r>
              <a:rPr sz="2400" b="0" i="0">
                <a:solidFill>
                  <a:srgbClr val="F0E8E8"/>
                </a:solidFill>
                <a:latin typeface="Geist"/>
                <a:ea typeface="Geist"/>
                <a:cs typeface="Geist"/>
              </a:rPr>
              <a:t> over CAN</a:t>
            </a:r>
          </a:p>
        </p:txBody>
      </p:sp>
      <p:sp>
        <p:nvSpPr>
          <p:cNvPr id="7" name="TextBox 6"/>
          <p:cNvSpPr txBox="1"/>
          <p:nvPr/>
        </p:nvSpPr>
        <p:spPr>
          <a:xfrm>
            <a:off x="914400" y="4221480"/>
            <a:ext cx="9525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Has ports</a:t>
            </a:r>
            <a:r>
              <a:rPr sz="2400" b="0" i="0">
                <a:solidFill>
                  <a:srgbClr val="F0E8E8"/>
                </a:solidFill>
                <a:latin typeface="Geist"/>
                <a:ea typeface="Geist"/>
                <a:cs typeface="Geist"/>
              </a:rPr>
              <a:t> for sensors: 10 DIO, 4 analog, 10 PWM</a:t>
            </a:r>
          </a:p>
        </p:txBody>
      </p:sp>
      <p:sp>
        <p:nvSpPr>
          <p:cNvPr id="8" name="TextBox 7"/>
          <p:cNvSpPr txBox="1"/>
          <p:nvPr/>
        </p:nvSpPr>
        <p:spPr>
          <a:xfrm>
            <a:off x="914400" y="4903470"/>
            <a:ext cx="9525000" cy="396240"/>
          </a:xfrm>
          <a:prstGeom prst="rect">
            <a:avLst/>
          </a:prstGeom>
          <a:noFill/>
        </p:spPr>
        <p:txBody>
          <a:bodyPr wrap="square" lIns="0" rIns="0" tIns="0" bIns="0" anchor="t">
            <a:spAutoFit/>
          </a:bodyPr>
          <a:lstStyle/>
          <a:p>
            <a:pPr algn="l">
              <a:lnSpc>
                <a:spcPct val="125000"/>
              </a:lnSpc>
            </a:pPr>
            <a:r>
              <a:rPr sz="2400" b="1" i="0">
                <a:solidFill>
                  <a:srgbClr val="D5000E"/>
                </a:solidFill>
                <a:latin typeface="Geist"/>
                <a:ea typeface="Geist"/>
                <a:cs typeface="Geist"/>
              </a:rPr>
              <a:t>•  </a:t>
            </a:r>
            <a:r>
              <a:rPr sz="2400" b="1" i="0">
                <a:solidFill>
                  <a:srgbClr val="F0E8E8"/>
                </a:solidFill>
                <a:latin typeface="Geist"/>
                <a:ea typeface="Geist"/>
                <a:cs typeface="Geist"/>
              </a:rPr>
              <a:t>Lives at</a:t>
            </a:r>
            <a:r>
              <a:rPr sz="2400" b="0" i="0">
                <a:solidFill>
                  <a:srgbClr val="F0E8E8"/>
                </a:solidFill>
                <a:latin typeface="Geist"/>
                <a:ea typeface="Geist"/>
                <a:cs typeface="Geist"/>
              </a:rPr>
              <a:t> </a:t>
            </a:r>
            <a:r>
              <a:rPr sz="2400" b="0" i="0">
                <a:solidFill>
                  <a:srgbClr val="F0E8E8"/>
                </a:solidFill>
                <a:latin typeface="Geist Mono"/>
                <a:ea typeface="Geist Mono"/>
                <a:cs typeface="Geist Mono"/>
              </a:rPr>
              <a:t>10.41.43.2</a:t>
            </a:r>
            <a:r>
              <a:rPr sz="2400" b="0" i="0">
                <a:solidFill>
                  <a:srgbClr val="F0E8E8"/>
                </a:solidFill>
                <a:latin typeface="Geist"/>
                <a:ea typeface="Geist"/>
                <a:cs typeface="Geist"/>
              </a:rPr>
              <a:t> (Varsity) and </a:t>
            </a:r>
            <a:r>
              <a:rPr sz="2400" b="0" i="0">
                <a:solidFill>
                  <a:srgbClr val="F0E8E8"/>
                </a:solidFill>
                <a:latin typeface="Geist Mono"/>
                <a:ea typeface="Geist Mono"/>
                <a:cs typeface="Geist Mono"/>
              </a:rPr>
              <a:t>10.44.23.2</a:t>
            </a:r>
            <a:r>
              <a:rPr sz="2400" b="0" i="0">
                <a:solidFill>
                  <a:srgbClr val="F0E8E8"/>
                </a:solidFill>
                <a:latin typeface="Geist"/>
                <a:ea typeface="Geist"/>
                <a:cs typeface="Geist"/>
              </a:rPr>
              <a:t> (JV)</a:t>
            </a:r>
          </a:p>
        </p:txBody>
      </p:sp>
      <p:sp>
        <p:nvSpPr>
          <p:cNvPr id="9" name="Rounded Rectangle 8"/>
          <p:cNvSpPr/>
          <p:nvPr/>
        </p:nvSpPr>
        <p:spPr>
          <a:xfrm>
            <a:off x="11239500" y="2857500"/>
            <a:ext cx="61341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roboRio.png"/>
          <p:cNvPicPr>
            <a:picLocks noChangeAspect="1"/>
          </p:cNvPicPr>
          <p:nvPr/>
        </p:nvPicPr>
        <p:blipFill>
          <a:blip r:embed="rId3"/>
          <a:stretch>
            <a:fillRect/>
          </a:stretch>
        </p:blipFill>
        <p:spPr>
          <a:xfrm>
            <a:off x="11620500" y="3365723"/>
            <a:ext cx="5372100" cy="3555555"/>
          </a:xfrm>
          <a:prstGeom prst="rect">
            <a:avLst/>
          </a:prstGeom>
        </p:spPr>
      </p:pic>
      <p:sp>
        <p:nvSpPr>
          <p:cNvPr id="11" name="TextBox 10"/>
          <p:cNvSpPr txBox="1"/>
          <p:nvPr/>
        </p:nvSpPr>
        <p:spPr>
          <a:xfrm>
            <a:off x="11620500" y="7334250"/>
            <a:ext cx="5372100" cy="3810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NI roboRIO</a:t>
            </a:r>
          </a:p>
        </p:txBody>
      </p:sp>
      <p:sp>
        <p:nvSpPr>
          <p:cNvPr id="12" name="TextBox 1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3" name="TextBox 1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Motors and motor controllers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953000"/>
            <a:ext cx="4648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lightning-charge-fill.png"/>
          <p:cNvPicPr>
            <a:picLocks noChangeAspect="1"/>
          </p:cNvPicPr>
          <p:nvPr/>
        </p:nvPicPr>
        <p:blipFill>
          <a:blip r:embed="rId3"/>
          <a:stretch>
            <a:fillRect/>
          </a:stretch>
        </p:blipFill>
        <p:spPr>
          <a:xfrm>
            <a:off x="1345257" y="5524500"/>
            <a:ext cx="662285" cy="952500"/>
          </a:xfrm>
          <a:prstGeom prst="rect">
            <a:avLst/>
          </a:prstGeom>
        </p:spPr>
      </p:pic>
      <p:sp>
        <p:nvSpPr>
          <p:cNvPr id="7" name="TextBox 6"/>
          <p:cNvSpPr txBox="1"/>
          <p:nvPr/>
        </p:nvSpPr>
        <p:spPr>
          <a:xfrm>
            <a:off x="2343150" y="5429250"/>
            <a:ext cx="3048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Battery</a:t>
            </a:r>
          </a:p>
        </p:txBody>
      </p:sp>
      <p:sp>
        <p:nvSpPr>
          <p:cNvPr id="8" name="TextBox 7"/>
          <p:cNvSpPr txBox="1"/>
          <p:nvPr/>
        </p:nvSpPr>
        <p:spPr>
          <a:xfrm>
            <a:off x="2343150" y="6000750"/>
            <a:ext cx="30480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12 volts</a:t>
            </a:r>
          </a:p>
        </p:txBody>
      </p:sp>
      <p:sp>
        <p:nvSpPr>
          <p:cNvPr id="9" name="Rounded Rectangle 8"/>
          <p:cNvSpPr/>
          <p:nvPr/>
        </p:nvSpPr>
        <p:spPr>
          <a:xfrm>
            <a:off x="6819900" y="4953000"/>
            <a:ext cx="4648200" cy="2095500"/>
          </a:xfrm>
          <a:prstGeom prst="roundRect">
            <a:avLst>
              <a:gd name="adj" fmla="val 727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plug-fill.png"/>
          <p:cNvPicPr>
            <a:picLocks noChangeAspect="1"/>
          </p:cNvPicPr>
          <p:nvPr/>
        </p:nvPicPr>
        <p:blipFill>
          <a:blip r:embed="rId4"/>
          <a:stretch>
            <a:fillRect/>
          </a:stretch>
        </p:blipFill>
        <p:spPr>
          <a:xfrm>
            <a:off x="7284244" y="5524500"/>
            <a:ext cx="595312" cy="952500"/>
          </a:xfrm>
          <a:prstGeom prst="rect">
            <a:avLst/>
          </a:prstGeom>
        </p:spPr>
      </p:pic>
      <p:sp>
        <p:nvSpPr>
          <p:cNvPr id="11" name="TextBox 10"/>
          <p:cNvSpPr txBox="1"/>
          <p:nvPr/>
        </p:nvSpPr>
        <p:spPr>
          <a:xfrm>
            <a:off x="8248650" y="5429250"/>
            <a:ext cx="3048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Motor controller</a:t>
            </a:r>
          </a:p>
        </p:txBody>
      </p:sp>
      <p:sp>
        <p:nvSpPr>
          <p:cNvPr id="12" name="TextBox 11"/>
          <p:cNvSpPr txBox="1"/>
          <p:nvPr/>
        </p:nvSpPr>
        <p:spPr>
          <a:xfrm>
            <a:off x="8248650" y="6000750"/>
            <a:ext cx="30480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How much to let through</a:t>
            </a:r>
          </a:p>
        </p:txBody>
      </p:sp>
      <p:sp>
        <p:nvSpPr>
          <p:cNvPr id="13" name="Rounded Rectangle 12"/>
          <p:cNvSpPr/>
          <p:nvPr/>
        </p:nvSpPr>
        <p:spPr>
          <a:xfrm>
            <a:off x="12725400" y="4953000"/>
            <a:ext cx="4648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gear.png"/>
          <p:cNvPicPr>
            <a:picLocks noChangeAspect="1"/>
          </p:cNvPicPr>
          <p:nvPr/>
        </p:nvPicPr>
        <p:blipFill>
          <a:blip r:embed="rId5"/>
          <a:stretch>
            <a:fillRect/>
          </a:stretch>
        </p:blipFill>
        <p:spPr>
          <a:xfrm>
            <a:off x="13106400" y="5619750"/>
            <a:ext cx="762000" cy="762000"/>
          </a:xfrm>
          <a:prstGeom prst="rect">
            <a:avLst/>
          </a:prstGeom>
        </p:spPr>
      </p:pic>
      <p:sp>
        <p:nvSpPr>
          <p:cNvPr id="15" name="TextBox 14"/>
          <p:cNvSpPr txBox="1"/>
          <p:nvPr/>
        </p:nvSpPr>
        <p:spPr>
          <a:xfrm>
            <a:off x="14154150" y="5429250"/>
            <a:ext cx="3048000" cy="47625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Motor</a:t>
            </a:r>
          </a:p>
        </p:txBody>
      </p:sp>
      <p:sp>
        <p:nvSpPr>
          <p:cNvPr id="16" name="TextBox 15"/>
          <p:cNvSpPr txBox="1"/>
          <p:nvPr/>
        </p:nvSpPr>
        <p:spPr>
          <a:xfrm>
            <a:off x="14154150" y="6000750"/>
            <a:ext cx="3048000" cy="47625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Spins the wheel</a:t>
            </a:r>
          </a:p>
        </p:txBody>
      </p:sp>
      <p:sp>
        <p:nvSpPr>
          <p:cNvPr id="17" name="Rectangle 16"/>
          <p:cNvSpPr/>
          <p:nvPr/>
        </p:nvSpPr>
        <p:spPr>
          <a:xfrm>
            <a:off x="5619750" y="5981700"/>
            <a:ext cx="1005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6591300" y="5924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25250" y="5981700"/>
            <a:ext cx="1005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12496800" y="59245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62600" y="5524500"/>
            <a:ext cx="133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power</a:t>
            </a:r>
          </a:p>
        </p:txBody>
      </p:sp>
      <p:sp>
        <p:nvSpPr>
          <p:cNvPr id="22" name="TextBox 21"/>
          <p:cNvSpPr txBox="1"/>
          <p:nvPr/>
        </p:nvSpPr>
        <p:spPr>
          <a:xfrm>
            <a:off x="11468100" y="5524500"/>
            <a:ext cx="133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power</a:t>
            </a:r>
          </a:p>
        </p:txBody>
      </p:sp>
      <p:sp>
        <p:nvSpPr>
          <p:cNvPr id="23" name="Rounded Rectangle 22"/>
          <p:cNvSpPr/>
          <p:nvPr/>
        </p:nvSpPr>
        <p:spPr>
          <a:xfrm>
            <a:off x="7239000" y="2857500"/>
            <a:ext cx="3810000" cy="1047750"/>
          </a:xfrm>
          <a:prstGeom prst="roundRect">
            <a:avLst>
              <a:gd name="adj" fmla="val 1454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239000" y="2857500"/>
            <a:ext cx="3810000" cy="1047750"/>
          </a:xfrm>
          <a:prstGeom prst="rect">
            <a:avLst/>
          </a:prstGeom>
          <a:noFill/>
        </p:spPr>
        <p:txBody>
          <a:bodyPr wrap="square" lIns="0" rIns="0" tIns="0" bIns="0" anchor="ctr">
            <a:spAutoFit/>
          </a:bodyPr>
          <a:lstStyle/>
          <a:p>
            <a:pPr algn="ctr"/>
            <a:r>
              <a:rPr sz="2400" b="1" i="0">
                <a:solidFill>
                  <a:srgbClr val="F0E8E8"/>
                </a:solidFill>
                <a:latin typeface="Geist"/>
                <a:ea typeface="Geist"/>
                <a:cs typeface="Geist"/>
              </a:rPr>
              <a:t>roboRIO</a:t>
            </a:r>
          </a:p>
        </p:txBody>
      </p:sp>
      <p:sp>
        <p:nvSpPr>
          <p:cNvPr id="25" name="Rectangle 24"/>
          <p:cNvSpPr/>
          <p:nvPr/>
        </p:nvSpPr>
        <p:spPr>
          <a:xfrm>
            <a:off x="9124950" y="3962400"/>
            <a:ext cx="38100" cy="77724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10800000">
            <a:off x="9067800" y="4705350"/>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29750" y="4191000"/>
            <a:ext cx="38100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CAN:  </a:t>
            </a:r>
            <a:r>
              <a:rPr sz="1800" b="1" i="0">
                <a:solidFill>
                  <a:srgbClr val="E8C27A"/>
                </a:solidFill>
                <a:latin typeface="Geist Mono"/>
                <a:ea typeface="Geist Mono"/>
                <a:cs typeface="Geist Mono"/>
              </a:rPr>
              <a:t>0.5</a:t>
            </a:r>
          </a:p>
        </p:txBody>
      </p:sp>
      <p:sp>
        <p:nvSpPr>
          <p:cNvPr id="28" name="TextBox 27"/>
          <p:cNvSpPr txBox="1"/>
          <p:nvPr/>
        </p:nvSpPr>
        <p:spPr>
          <a:xfrm>
            <a:off x="914400" y="7620000"/>
            <a:ext cx="16459200" cy="476250"/>
          </a:xfrm>
          <a:prstGeom prst="rect">
            <a:avLst/>
          </a:prstGeom>
          <a:noFill/>
        </p:spPr>
        <p:txBody>
          <a:bodyPr wrap="square" lIns="0" rIns="0" tIns="0" bIns="0" anchor="t">
            <a:spAutoFit/>
          </a:bodyPr>
          <a:lstStyle/>
          <a:p>
            <a:pPr algn="ctr"/>
            <a:r>
              <a:rPr sz="2100" b="0" i="0">
                <a:solidFill>
                  <a:srgbClr val="9A7878"/>
                </a:solidFill>
                <a:latin typeface="Geist"/>
                <a:ea typeface="Geist"/>
                <a:cs typeface="Geist"/>
              </a:rPr>
              <a:t>The controller lets through the share of battery power your number asks for.</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Brushed vs brushless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4476750"/>
          </a:xfrm>
          <a:prstGeom prst="roundRect">
            <a:avLst>
              <a:gd name="adj" fmla="val 340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gear.png"/>
          <p:cNvPicPr>
            <a:picLocks noChangeAspect="1"/>
          </p:cNvPicPr>
          <p:nvPr/>
        </p:nvPicPr>
        <p:blipFill>
          <a:blip r:embed="rId3"/>
          <a:stretch>
            <a:fillRect/>
          </a:stretch>
        </p:blipFill>
        <p:spPr>
          <a:xfrm>
            <a:off x="1295400" y="3238500"/>
            <a:ext cx="685800" cy="685800"/>
          </a:xfrm>
          <a:prstGeom prst="rect">
            <a:avLst/>
          </a:prstGeom>
        </p:spPr>
      </p:pic>
      <p:sp>
        <p:nvSpPr>
          <p:cNvPr id="7" name="TextBox 6"/>
          <p:cNvSpPr txBox="1"/>
          <p:nvPr/>
        </p:nvSpPr>
        <p:spPr>
          <a:xfrm>
            <a:off x="1295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Brushed</a:t>
            </a:r>
          </a:p>
        </p:txBody>
      </p:sp>
      <p:sp>
        <p:nvSpPr>
          <p:cNvPr id="8" name="TextBox 7"/>
          <p:cNvSpPr txBox="1"/>
          <p:nvPr/>
        </p:nvSpPr>
        <p:spPr>
          <a:xfrm>
            <a:off x="1295400" y="4802505"/>
            <a:ext cx="7315200" cy="25717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Carbon brushes switch the current inside the motor. Simple and cheap, but the brushes wear and there's no built-in sensor.
Seen on old robots: CIM, 775pro with Victor SPX or Talon SRX.</a:t>
            </a:r>
          </a:p>
        </p:txBody>
      </p:sp>
      <p:sp>
        <p:nvSpPr>
          <p:cNvPr id="9" name="Rounded Rectangle 8"/>
          <p:cNvSpPr/>
          <p:nvPr/>
        </p:nvSpPr>
        <p:spPr>
          <a:xfrm>
            <a:off x="9296400" y="2857500"/>
            <a:ext cx="8077200" cy="4476750"/>
          </a:xfrm>
          <a:prstGeom prst="roundRect">
            <a:avLst>
              <a:gd name="adj" fmla="val 340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lightning-charge-fill.png"/>
          <p:cNvPicPr>
            <a:picLocks noChangeAspect="1"/>
          </p:cNvPicPr>
          <p:nvPr/>
        </p:nvPicPr>
        <p:blipFill>
          <a:blip r:embed="rId4"/>
          <a:stretch>
            <a:fillRect/>
          </a:stretch>
        </p:blipFill>
        <p:spPr>
          <a:xfrm>
            <a:off x="9677400" y="3238500"/>
            <a:ext cx="476845" cy="685800"/>
          </a:xfrm>
          <a:prstGeom prst="rect">
            <a:avLst/>
          </a:prstGeom>
        </p:spPr>
      </p:pic>
      <p:sp>
        <p:nvSpPr>
          <p:cNvPr id="11" name="TextBox 10"/>
          <p:cNvSpPr txBox="1"/>
          <p:nvPr/>
        </p:nvSpPr>
        <p:spPr>
          <a:xfrm>
            <a:off x="9677400" y="4191000"/>
            <a:ext cx="731520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Brushless</a:t>
            </a:r>
          </a:p>
        </p:txBody>
      </p:sp>
      <p:sp>
        <p:nvSpPr>
          <p:cNvPr id="12" name="TextBox 11"/>
          <p:cNvSpPr txBox="1"/>
          <p:nvPr/>
        </p:nvSpPr>
        <p:spPr>
          <a:xfrm>
            <a:off x="9677400" y="4802505"/>
            <a:ext cx="7315200" cy="2571750"/>
          </a:xfrm>
          <a:prstGeom prst="rect">
            <a:avLst/>
          </a:prstGeom>
          <a:noFill/>
        </p:spPr>
        <p:txBody>
          <a:bodyPr wrap="square" lIns="0" rIns="0" tIns="0" bIns="0" anchor="t">
            <a:spAutoFit/>
          </a:bodyPr>
          <a:lstStyle/>
          <a:p>
            <a:pPr algn="l">
              <a:lnSpc>
                <a:spcPct val="130000"/>
              </a:lnSpc>
            </a:pPr>
            <a:r>
              <a:rPr sz="2100" b="0" i="0">
                <a:solidFill>
                  <a:srgbClr val="9A7878"/>
                </a:solidFill>
                <a:latin typeface="Geist"/>
                <a:ea typeface="Geist"/>
                <a:cs typeface="Geist"/>
              </a:rPr>
              <a:t>The controller's electronics switch the current. Stronger and more efficient, and it measures its own speed and position.
What we use: Kraken X60, NEO, NEO Vortex.</a:t>
            </a:r>
          </a:p>
        </p:txBody>
      </p:sp>
      <p:sp>
        <p:nvSpPr>
          <p:cNvPr id="13" name="Rounded Rectangle 12"/>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33500" y="781050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our robots:  </a:t>
            </a:r>
            <a:r>
              <a:rPr sz="2100" b="0" i="0">
                <a:solidFill>
                  <a:srgbClr val="F0E8E8"/>
                </a:solidFill>
                <a:latin typeface="Geist"/>
                <a:ea typeface="Geist"/>
                <a:cs typeface="Geist"/>
              </a:rPr>
              <a:t>brushless, every time. You'll still meet brushed motors on old robots.</a:t>
            </a:r>
          </a:p>
        </p:txBody>
      </p:sp>
      <p:sp>
        <p:nvSpPr>
          <p:cNvPr id="15" name="TextBox 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6" name="TextBox 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What's on our robots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914775" cy="5715000"/>
          </a:xfrm>
          <a:prstGeom prst="roundRect">
            <a:avLst>
              <a:gd name="adj" fmla="val 389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04900" y="3048000"/>
            <a:ext cx="3533775" cy="28575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talon_fx_kraken.png"/>
          <p:cNvPicPr>
            <a:picLocks noChangeAspect="1"/>
          </p:cNvPicPr>
          <p:nvPr/>
        </p:nvPicPr>
        <p:blipFill>
          <a:blip r:embed="rId3"/>
          <a:stretch>
            <a:fillRect/>
          </a:stretch>
        </p:blipFill>
        <p:spPr>
          <a:xfrm>
            <a:off x="1295400" y="3596068"/>
            <a:ext cx="3152775" cy="1761363"/>
          </a:xfrm>
          <a:prstGeom prst="rect">
            <a:avLst/>
          </a:prstGeom>
        </p:spPr>
      </p:pic>
      <p:sp>
        <p:nvSpPr>
          <p:cNvPr id="8" name="TextBox 7"/>
          <p:cNvSpPr txBox="1"/>
          <p:nvPr/>
        </p:nvSpPr>
        <p:spPr>
          <a:xfrm>
            <a:off x="1219200" y="6134100"/>
            <a:ext cx="3305175"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Kraken X60</a:t>
            </a:r>
          </a:p>
        </p:txBody>
      </p:sp>
      <p:sp>
        <p:nvSpPr>
          <p:cNvPr id="9" name="TextBox 8"/>
          <p:cNvSpPr txBox="1"/>
          <p:nvPr/>
        </p:nvSpPr>
        <p:spPr>
          <a:xfrm>
            <a:off x="1219200" y="6629400"/>
            <a:ext cx="3305175"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Motor with a Talon FX controller built in. Our drive motor.</a:t>
            </a:r>
          </a:p>
        </p:txBody>
      </p:sp>
      <p:sp>
        <p:nvSpPr>
          <p:cNvPr id="10" name="Rounded Rectangle 9"/>
          <p:cNvSpPr/>
          <p:nvPr/>
        </p:nvSpPr>
        <p:spPr>
          <a:xfrm>
            <a:off x="5095875" y="2857500"/>
            <a:ext cx="3914775" cy="57150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286375" y="3048000"/>
            <a:ext cx="3533775" cy="28575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park_max.png"/>
          <p:cNvPicPr>
            <a:picLocks noChangeAspect="1"/>
          </p:cNvPicPr>
          <p:nvPr/>
        </p:nvPicPr>
        <p:blipFill>
          <a:blip r:embed="rId4"/>
          <a:stretch>
            <a:fillRect/>
          </a:stretch>
        </p:blipFill>
        <p:spPr>
          <a:xfrm>
            <a:off x="5776912" y="3200400"/>
            <a:ext cx="2552700" cy="2552700"/>
          </a:xfrm>
          <a:prstGeom prst="rect">
            <a:avLst/>
          </a:prstGeom>
        </p:spPr>
      </p:pic>
      <p:sp>
        <p:nvSpPr>
          <p:cNvPr id="13" name="TextBox 12"/>
          <p:cNvSpPr txBox="1"/>
          <p:nvPr/>
        </p:nvSpPr>
        <p:spPr>
          <a:xfrm>
            <a:off x="5400675" y="6134100"/>
            <a:ext cx="3305175"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Spark MAX</a:t>
            </a:r>
          </a:p>
        </p:txBody>
      </p:sp>
      <p:sp>
        <p:nvSpPr>
          <p:cNvPr id="14" name="TextBox 13"/>
          <p:cNvSpPr txBox="1"/>
          <p:nvPr/>
        </p:nvSpPr>
        <p:spPr>
          <a:xfrm>
            <a:off x="5400675" y="6629400"/>
            <a:ext cx="3305175"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REV's controller, paired with a NEO motor.</a:t>
            </a:r>
          </a:p>
        </p:txBody>
      </p:sp>
      <p:sp>
        <p:nvSpPr>
          <p:cNvPr id="15" name="Rounded Rectangle 14"/>
          <p:cNvSpPr/>
          <p:nvPr/>
        </p:nvSpPr>
        <p:spPr>
          <a:xfrm>
            <a:off x="9277350" y="2857500"/>
            <a:ext cx="3914775" cy="57150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9467850" y="3048000"/>
            <a:ext cx="3533775" cy="28575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spark_flex.png"/>
          <p:cNvPicPr>
            <a:picLocks noChangeAspect="1"/>
          </p:cNvPicPr>
          <p:nvPr/>
        </p:nvPicPr>
        <p:blipFill>
          <a:blip r:embed="rId5"/>
          <a:stretch>
            <a:fillRect/>
          </a:stretch>
        </p:blipFill>
        <p:spPr>
          <a:xfrm>
            <a:off x="9958388" y="3200400"/>
            <a:ext cx="2552700" cy="2552700"/>
          </a:xfrm>
          <a:prstGeom prst="rect">
            <a:avLst/>
          </a:prstGeom>
        </p:spPr>
      </p:pic>
      <p:sp>
        <p:nvSpPr>
          <p:cNvPr id="18" name="TextBox 17"/>
          <p:cNvSpPr txBox="1"/>
          <p:nvPr/>
        </p:nvSpPr>
        <p:spPr>
          <a:xfrm>
            <a:off x="9582150" y="6134100"/>
            <a:ext cx="3305175"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Spark Flex</a:t>
            </a:r>
          </a:p>
        </p:txBody>
      </p:sp>
      <p:sp>
        <p:nvSpPr>
          <p:cNvPr id="19" name="TextBox 18"/>
          <p:cNvSpPr txBox="1"/>
          <p:nvPr/>
        </p:nvSpPr>
        <p:spPr>
          <a:xfrm>
            <a:off x="9582150" y="6629400"/>
            <a:ext cx="3305175"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REV's controller that docks onto a NEO Vortex.</a:t>
            </a:r>
          </a:p>
        </p:txBody>
      </p:sp>
      <p:sp>
        <p:nvSpPr>
          <p:cNvPr id="20" name="Rounded Rectangle 19"/>
          <p:cNvSpPr/>
          <p:nvPr/>
        </p:nvSpPr>
        <p:spPr>
          <a:xfrm>
            <a:off x="13458825" y="2857500"/>
            <a:ext cx="3914775" cy="5715000"/>
          </a:xfrm>
          <a:prstGeom prst="roundRect">
            <a:avLst>
              <a:gd name="adj" fmla="val 389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3649325" y="3048000"/>
            <a:ext cx="3533775" cy="285750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nova.png"/>
          <p:cNvPicPr>
            <a:picLocks noChangeAspect="1"/>
          </p:cNvPicPr>
          <p:nvPr/>
        </p:nvPicPr>
        <p:blipFill>
          <a:blip r:embed="rId6"/>
          <a:stretch>
            <a:fillRect/>
          </a:stretch>
        </p:blipFill>
        <p:spPr>
          <a:xfrm>
            <a:off x="13839825" y="3831996"/>
            <a:ext cx="3152775" cy="1289508"/>
          </a:xfrm>
          <a:prstGeom prst="rect">
            <a:avLst/>
          </a:prstGeom>
        </p:spPr>
      </p:pic>
      <p:sp>
        <p:nvSpPr>
          <p:cNvPr id="23" name="TextBox 22"/>
          <p:cNvSpPr txBox="1"/>
          <p:nvPr/>
        </p:nvSpPr>
        <p:spPr>
          <a:xfrm>
            <a:off x="13763625" y="6134100"/>
            <a:ext cx="3305175"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Thrifty Nova</a:t>
            </a:r>
          </a:p>
        </p:txBody>
      </p:sp>
      <p:sp>
        <p:nvSpPr>
          <p:cNvPr id="24" name="TextBox 23"/>
          <p:cNvSpPr txBox="1"/>
          <p:nvPr/>
        </p:nvSpPr>
        <p:spPr>
          <a:xfrm>
            <a:off x="13763625" y="6629400"/>
            <a:ext cx="3305175" cy="1809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small brushless controller from The Thrifty Bot.</a:t>
            </a:r>
          </a:p>
        </p:txBody>
      </p:sp>
      <p:sp>
        <p:nvSpPr>
          <p:cNvPr id="25" name="TextBox 2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6" name="TextBox 2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Kraken X60 and Kraken X44</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39100" cy="5715000"/>
          </a:xfrm>
          <a:prstGeom prst="roundRect">
            <a:avLst>
              <a:gd name="adj" fmla="val 2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104900" y="3048000"/>
            <a:ext cx="7658100" cy="2819400"/>
          </a:xfrm>
          <a:prstGeom prst="roundRect">
            <a:avLst>
              <a:gd name="adj" fmla="val 405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talon_fx_kraken.png"/>
          <p:cNvPicPr>
            <a:picLocks noChangeAspect="1"/>
          </p:cNvPicPr>
          <p:nvPr/>
        </p:nvPicPr>
        <p:blipFill>
          <a:blip r:embed="rId3"/>
          <a:stretch>
            <a:fillRect/>
          </a:stretch>
        </p:blipFill>
        <p:spPr>
          <a:xfrm>
            <a:off x="2683430" y="3200400"/>
            <a:ext cx="4501041" cy="2514600"/>
          </a:xfrm>
          <a:prstGeom prst="rect">
            <a:avLst/>
          </a:prstGeom>
        </p:spPr>
      </p:pic>
      <p:sp>
        <p:nvSpPr>
          <p:cNvPr id="8" name="TextBox 7"/>
          <p:cNvSpPr txBox="1"/>
          <p:nvPr/>
        </p:nvSpPr>
        <p:spPr>
          <a:xfrm>
            <a:off x="1295400" y="6096000"/>
            <a:ext cx="7239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Kraken X60</a:t>
            </a:r>
          </a:p>
        </p:txBody>
      </p:sp>
      <p:sp>
        <p:nvSpPr>
          <p:cNvPr id="9" name="TextBox 8"/>
          <p:cNvSpPr txBox="1"/>
          <p:nvPr/>
        </p:nvSpPr>
        <p:spPr>
          <a:xfrm>
            <a:off x="1295400" y="6629400"/>
            <a:ext cx="72390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The bigger one, with the most power. Our drive motor.</a:t>
            </a:r>
          </a:p>
        </p:txBody>
      </p:sp>
      <p:sp>
        <p:nvSpPr>
          <p:cNvPr id="10" name="TextBox 9"/>
          <p:cNvSpPr txBox="1"/>
          <p:nvPr/>
        </p:nvSpPr>
        <p:spPr>
          <a:xfrm>
            <a:off x="1295400" y="7620000"/>
            <a:ext cx="72390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motor_type = </a:t>
            </a:r>
            <a:r>
              <a:rPr sz="1800" b="0" i="0">
                <a:solidFill>
                  <a:srgbClr val="E8C27A"/>
                </a:solidFill>
                <a:latin typeface="Geist Mono"/>
                <a:ea typeface="Geist Mono"/>
                <a:cs typeface="Geist Mono"/>
              </a:rPr>
              <a:t>TalonMotorType.X60</a:t>
            </a:r>
          </a:p>
        </p:txBody>
      </p:sp>
      <p:sp>
        <p:nvSpPr>
          <p:cNvPr id="11" name="Rounded Rectangle 10"/>
          <p:cNvSpPr/>
          <p:nvPr/>
        </p:nvSpPr>
        <p:spPr>
          <a:xfrm>
            <a:off x="9334500" y="2857500"/>
            <a:ext cx="8039100" cy="5715000"/>
          </a:xfrm>
          <a:prstGeom prst="roundRect">
            <a:avLst>
              <a:gd name="adj" fmla="val 2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9525000" y="3048000"/>
            <a:ext cx="7658100" cy="2819400"/>
          </a:xfrm>
          <a:prstGeom prst="roundRect">
            <a:avLst>
              <a:gd name="adj" fmla="val 405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715500" y="6096000"/>
            <a:ext cx="72390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Kraken X44</a:t>
            </a:r>
          </a:p>
        </p:txBody>
      </p:sp>
      <p:sp>
        <p:nvSpPr>
          <p:cNvPr id="14" name="TextBox 13"/>
          <p:cNvSpPr txBox="1"/>
          <p:nvPr/>
        </p:nvSpPr>
        <p:spPr>
          <a:xfrm>
            <a:off x="9715500" y="6629400"/>
            <a:ext cx="723900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Smaller and lighter, with the same shaft and length. For shooters, hoods and intakes where space is tight.</a:t>
            </a:r>
          </a:p>
        </p:txBody>
      </p:sp>
      <p:sp>
        <p:nvSpPr>
          <p:cNvPr id="15" name="TextBox 14"/>
          <p:cNvSpPr txBox="1"/>
          <p:nvPr/>
        </p:nvSpPr>
        <p:spPr>
          <a:xfrm>
            <a:off x="9715500" y="7620000"/>
            <a:ext cx="72390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motor_type = </a:t>
            </a:r>
            <a:r>
              <a:rPr sz="1800" b="0" i="0">
                <a:solidFill>
                  <a:srgbClr val="E8C27A"/>
                </a:solidFill>
                <a:latin typeface="Geist Mono"/>
                <a:ea typeface="Geist Mono"/>
                <a:cs typeface="Geist Mono"/>
              </a:rPr>
              <a:t>TalonMotorType.X44</a:t>
            </a:r>
          </a:p>
        </p:txBody>
      </p:sp>
      <p:sp>
        <p:nvSpPr>
          <p:cNvPr id="16" name="TextBox 15"/>
          <p:cNvSpPr txBox="1"/>
          <p:nvPr/>
        </p:nvSpPr>
        <p:spPr>
          <a:xfrm>
            <a:off x="914400" y="876300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Both have a Talon FX built in, so code drives them the same way. Only the motor type changes.</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CAN bus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3619500"/>
          </a:xfrm>
          <a:prstGeom prst="roundRect">
            <a:avLst>
              <a:gd name="adj" fmla="val 421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1428750" y="3143250"/>
            <a:ext cx="2095500" cy="1238250"/>
          </a:xfrm>
          <a:prstGeom prst="roundRect">
            <a:avLst>
              <a:gd name="adj" fmla="val 10769"/>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287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roboRIO</a:t>
            </a:r>
          </a:p>
        </p:txBody>
      </p:sp>
      <p:sp>
        <p:nvSpPr>
          <p:cNvPr id="8" name="TextBox 7"/>
          <p:cNvSpPr txBox="1"/>
          <p:nvPr/>
        </p:nvSpPr>
        <p:spPr>
          <a:xfrm>
            <a:off x="1428750" y="3810000"/>
            <a:ext cx="20955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start of bus</a:t>
            </a:r>
          </a:p>
        </p:txBody>
      </p:sp>
      <p:sp>
        <p:nvSpPr>
          <p:cNvPr id="9" name="Rounded Rectangle 8"/>
          <p:cNvSpPr/>
          <p:nvPr/>
        </p:nvSpPr>
        <p:spPr>
          <a:xfrm>
            <a:off x="4286250" y="3143250"/>
            <a:ext cx="2095500" cy="1238250"/>
          </a:xfrm>
          <a:prstGeom prst="roundRect">
            <a:avLst>
              <a:gd name="adj" fmla="val 1076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2862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Talon FX</a:t>
            </a:r>
          </a:p>
        </p:txBody>
      </p:sp>
      <p:sp>
        <p:nvSpPr>
          <p:cNvPr id="11" name="TextBox 10"/>
          <p:cNvSpPr txBox="1"/>
          <p:nvPr/>
        </p:nvSpPr>
        <p:spPr>
          <a:xfrm>
            <a:off x="4286250" y="3810000"/>
            <a:ext cx="20955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ID 1</a:t>
            </a:r>
          </a:p>
        </p:txBody>
      </p:sp>
      <p:sp>
        <p:nvSpPr>
          <p:cNvPr id="12" name="Rounded Rectangle 11"/>
          <p:cNvSpPr/>
          <p:nvPr/>
        </p:nvSpPr>
        <p:spPr>
          <a:xfrm>
            <a:off x="7143750" y="3143250"/>
            <a:ext cx="2095500" cy="1238250"/>
          </a:xfrm>
          <a:prstGeom prst="roundRect">
            <a:avLst>
              <a:gd name="adj" fmla="val 1076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1437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Talon FX</a:t>
            </a:r>
          </a:p>
        </p:txBody>
      </p:sp>
      <p:sp>
        <p:nvSpPr>
          <p:cNvPr id="14" name="TextBox 13"/>
          <p:cNvSpPr txBox="1"/>
          <p:nvPr/>
        </p:nvSpPr>
        <p:spPr>
          <a:xfrm>
            <a:off x="7143750" y="3810000"/>
            <a:ext cx="20955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ID 2</a:t>
            </a:r>
          </a:p>
        </p:txBody>
      </p:sp>
      <p:sp>
        <p:nvSpPr>
          <p:cNvPr id="15" name="Rounded Rectangle 14"/>
          <p:cNvSpPr/>
          <p:nvPr/>
        </p:nvSpPr>
        <p:spPr>
          <a:xfrm>
            <a:off x="10001250" y="3143250"/>
            <a:ext cx="2095500" cy="1238250"/>
          </a:xfrm>
          <a:prstGeom prst="roundRect">
            <a:avLst>
              <a:gd name="adj" fmla="val 1076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00012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Spark MAX</a:t>
            </a:r>
          </a:p>
        </p:txBody>
      </p:sp>
      <p:sp>
        <p:nvSpPr>
          <p:cNvPr id="17" name="TextBox 16"/>
          <p:cNvSpPr txBox="1"/>
          <p:nvPr/>
        </p:nvSpPr>
        <p:spPr>
          <a:xfrm>
            <a:off x="10001250" y="3810000"/>
            <a:ext cx="20955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ID 3</a:t>
            </a:r>
          </a:p>
        </p:txBody>
      </p:sp>
      <p:sp>
        <p:nvSpPr>
          <p:cNvPr id="18" name="Rounded Rectangle 17"/>
          <p:cNvSpPr/>
          <p:nvPr/>
        </p:nvSpPr>
        <p:spPr>
          <a:xfrm>
            <a:off x="12858750" y="3143250"/>
            <a:ext cx="2095500" cy="1238250"/>
          </a:xfrm>
          <a:prstGeom prst="roundRect">
            <a:avLst>
              <a:gd name="adj" fmla="val 1076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858750" y="3286125"/>
            <a:ext cx="2095500" cy="47625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Gyro</a:t>
            </a:r>
          </a:p>
        </p:txBody>
      </p:sp>
      <p:sp>
        <p:nvSpPr>
          <p:cNvPr id="20" name="TextBox 19"/>
          <p:cNvSpPr txBox="1"/>
          <p:nvPr/>
        </p:nvSpPr>
        <p:spPr>
          <a:xfrm>
            <a:off x="12858750" y="3810000"/>
            <a:ext cx="2095500" cy="3810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ID 4</a:t>
            </a:r>
          </a:p>
        </p:txBody>
      </p:sp>
      <p:cxnSp>
        <p:nvCxnSpPr>
          <p:cNvPr id="21" name="Connector 20"/>
          <p:cNvCxnSpPr/>
          <p:nvPr/>
        </p:nvCxnSpPr>
        <p:spPr>
          <a:xfrm>
            <a:off x="2476500"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547938"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619375"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690812"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762250"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833688"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905125"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976562"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048000"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119438"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190875"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62312"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3333750"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3405188"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76625"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548062"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619500"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0938"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62375"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33812"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05250"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976688"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048125"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19562"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191000"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62438"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333875"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4405312"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4476750"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4548188"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619625"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691062"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762500"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4833938"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4905375"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4976812"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048250"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5119688"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5191125"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5262562"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2476500"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2547938"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2619375"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2690812"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2762250"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2833688"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2905125"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2976562"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048000"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3119438"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3190875"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3262312"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3333750"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3405188"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476625"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548062"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619500"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3690938"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3762375"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3833812"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3905250"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3976688"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4048125"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4119562"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4191000"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4262438"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4333875"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4405312"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4476750"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4548188"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4619625"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4691062"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4762500"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4833938"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4905375"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4976812"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5048250"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119688"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5191125"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262562"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5334000"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5405438"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5476875"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5548312"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619750"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5691188"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5762625"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5834062"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5905500"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5976938"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048375"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119812"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191250"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6262688"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6334125"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6405562"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6477000"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6548438"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619875"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6691312"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762750"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834188"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6905625"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977062"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7048500"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7119938"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191375"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7262812"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7334250"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7405688"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7477125"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548562"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620000"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691438"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7762875"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834312"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905750"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7977188"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8048625"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8120062"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5334000"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405438"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5476875"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5548312"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5619750"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5691188"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5762625"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5834062"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5905500"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5976938"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6048375"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6119812"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6191250"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6262688"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6334125"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6405562"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6477000"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6548438"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6619875"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6691312"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6762750"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6834188"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6905625"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6977062"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7048500"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7119938"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7191375"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7262812"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7334250"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7405688"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7477125"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7548562"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7620000"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7691438"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7762875"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a:off x="7834312"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7905750"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7977188"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8048625"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8120062"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8191500"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8262938"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8334375"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8405812"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8477250"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8548688"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8620125"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8691562"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8763000"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8834438"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8905875"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8977312"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9048750"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9120188"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9191625"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9263062"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9334500"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9405938"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9477375"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9548812"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9620250"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9691688"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9763125"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9834562"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9906000"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9977438"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10048875"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10120312"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10191750"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0263188"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10334625"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10406062"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10477500"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10548938"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flipV="1">
            <a:off x="10620375"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flipV="1">
            <a:off x="10691812"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flipV="1">
            <a:off x="10763250"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10834688"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10906125"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0977562"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flipV="1">
            <a:off x="8191500"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flipV="1">
            <a:off x="8262938"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V="1">
            <a:off x="8334375"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8405812"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8477250"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8548688"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8620125"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8691562"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8763000"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8834438"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V="1">
            <a:off x="8905875"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V="1">
            <a:off x="8977312"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V="1">
            <a:off x="9048750"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V="1">
            <a:off x="9120188"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V="1">
            <a:off x="9191625"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V="1">
            <a:off x="9263062"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V="1">
            <a:off x="9334500"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9405938"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9477375"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9548812"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9620250"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9691688"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9763125"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V="1">
            <a:off x="9834562"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V="1">
            <a:off x="9906000"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V="1">
            <a:off x="9977438"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V="1">
            <a:off x="10048875"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V="1">
            <a:off x="10120312"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V="1">
            <a:off x="10191750"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0263188"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a:off x="10334625"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a:off x="10406062"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a:off x="10477500"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a:off x="10548938"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a:off x="10620375"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a:off x="10691812"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a:off x="10763250"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0834688"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10906125"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0977562"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a:off x="11049000"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a:off x="11120438"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a:off x="11191875"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1263312"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1334750"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11406188"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11477625"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11549062"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11620500"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11691938"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a:off x="11763375" y="493395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a:off x="11834812" y="495679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a:off x="11906250" y="5020330"/>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a:off x="11977688" y="5110719"/>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a:off x="12049125" y="5208255"/>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a:off x="12120562" y="5291674"/>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a:off x="12192000" y="5342794"/>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12263438" y="53130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12334875" y="5238634"/>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12406312" y="5143500"/>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12477750"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12549188"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12620625"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a:off x="12692062"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a:off x="12763500"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12834938"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12906375"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12977812"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13049250"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13120688"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flipV="1">
            <a:off x="13192125" y="5330210"/>
            <a:ext cx="71437" cy="228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flipV="1">
            <a:off x="13263562" y="5266670"/>
            <a:ext cx="71438" cy="635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flipV="1">
            <a:off x="13335000" y="5176281"/>
            <a:ext cx="71438" cy="9038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flipV="1">
            <a:off x="13406438" y="5078745"/>
            <a:ext cx="71437" cy="9753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flipV="1">
            <a:off x="13477875" y="4995326"/>
            <a:ext cx="71437" cy="83419"/>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flipV="1">
            <a:off x="13549312" y="4944206"/>
            <a:ext cx="71438" cy="5112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flipV="1">
            <a:off x="13620750" y="4936530"/>
            <a:ext cx="71438" cy="767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13692188" y="4936530"/>
            <a:ext cx="71437" cy="37440"/>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13763625" y="4973970"/>
            <a:ext cx="71437" cy="74396"/>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13835062" y="5048366"/>
            <a:ext cx="71438" cy="95134"/>
          </a:xfrm>
          <a:prstGeom prst="line">
            <a:avLst/>
          </a:prstGeom>
          <a:ln w="57150" cap="rnd">
            <a:solidFill>
              <a:srgbClr val="E8C93A"/>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flipV="1">
            <a:off x="11049000"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V="1">
            <a:off x="11120438"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V="1">
            <a:off x="11191875"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11263312"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11334750"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11406188"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11477625"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11549062"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11620500"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11691938"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V="1">
            <a:off x="11763375" y="533021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V="1">
            <a:off x="11834812" y="526667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V="1">
            <a:off x="11906250" y="5176281"/>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V="1">
            <a:off x="11977688" y="5078745"/>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12049125" y="4995326"/>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12120562" y="4944206"/>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12192000" y="4936530"/>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12263438" y="49365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12334875" y="4973970"/>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12406312" y="5048366"/>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a:off x="12477750"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a:off x="12549188"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a:off x="12620625"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2692062"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12763500"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12834938"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12906375"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12977812"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13049250"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13120688"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a:off x="13192125" y="4933950"/>
            <a:ext cx="71437" cy="228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a:off x="13263562" y="4956790"/>
            <a:ext cx="71438" cy="635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a:off x="13335000" y="5020330"/>
            <a:ext cx="71438" cy="9038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a:off x="13406438" y="5110719"/>
            <a:ext cx="71437" cy="9753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a:off x="13477875" y="5208255"/>
            <a:ext cx="71437" cy="83419"/>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a:off x="13549312" y="5291674"/>
            <a:ext cx="71438" cy="5112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a:off x="13620750" y="5342794"/>
            <a:ext cx="71438" cy="767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13692188" y="5313030"/>
            <a:ext cx="71437" cy="37440"/>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13763625" y="5238634"/>
            <a:ext cx="71437" cy="74396"/>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13835062" y="5143500"/>
            <a:ext cx="71438" cy="95134"/>
          </a:xfrm>
          <a:prstGeom prst="line">
            <a:avLst/>
          </a:prstGeom>
          <a:ln w="57150" cap="rnd">
            <a:solidFill>
              <a:srgbClr val="2FB36E"/>
            </a:solidFill>
          </a:ln>
        </p:spPr>
        <p:style>
          <a:lnRef idx="2">
            <a:schemeClr val="accent1"/>
          </a:lnRef>
          <a:fillRef idx="0">
            <a:schemeClr val="accent1"/>
          </a:fillRef>
          <a:effectRef idx="1">
            <a:schemeClr val="accent1"/>
          </a:effectRef>
          <a:fontRef idx="minor">
            <a:schemeClr val="tx1"/>
          </a:fontRef>
        </p:style>
      </p:cxnSp>
      <p:sp>
        <p:nvSpPr>
          <p:cNvPr id="341" name="Rectangle 340"/>
          <p:cNvSpPr/>
          <p:nvPr/>
        </p:nvSpPr>
        <p:spPr>
          <a:xfrm>
            <a:off x="24622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2" name="Rectangle 341"/>
          <p:cNvSpPr/>
          <p:nvPr/>
        </p:nvSpPr>
        <p:spPr>
          <a:xfrm>
            <a:off x="53197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3" name="Rectangle 342"/>
          <p:cNvSpPr/>
          <p:nvPr/>
        </p:nvSpPr>
        <p:spPr>
          <a:xfrm>
            <a:off x="81772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4" name="Rectangle 343"/>
          <p:cNvSpPr/>
          <p:nvPr/>
        </p:nvSpPr>
        <p:spPr>
          <a:xfrm>
            <a:off x="110347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5" name="Rectangle 344"/>
          <p:cNvSpPr/>
          <p:nvPr/>
        </p:nvSpPr>
        <p:spPr>
          <a:xfrm>
            <a:off x="13892212" y="4367212"/>
            <a:ext cx="28575" cy="790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6" name="Rounded Rectangle 345"/>
          <p:cNvSpPr/>
          <p:nvPr/>
        </p:nvSpPr>
        <p:spPr>
          <a:xfrm>
            <a:off x="15430500" y="4762500"/>
            <a:ext cx="1143000" cy="762000"/>
          </a:xfrm>
          <a:prstGeom prst="roundRect">
            <a:avLst>
              <a:gd name="adj" fmla="val 12500"/>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7" name="TextBox 346"/>
          <p:cNvSpPr txBox="1"/>
          <p:nvPr/>
        </p:nvSpPr>
        <p:spPr>
          <a:xfrm>
            <a:off x="15430500" y="4762500"/>
            <a:ext cx="1143000" cy="7620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120 Ω</a:t>
            </a:r>
          </a:p>
        </p:txBody>
      </p:sp>
      <p:sp>
        <p:nvSpPr>
          <p:cNvPr id="348" name="Rectangle 347"/>
          <p:cNvSpPr/>
          <p:nvPr/>
        </p:nvSpPr>
        <p:spPr>
          <a:xfrm>
            <a:off x="13892212" y="5129212"/>
            <a:ext cx="1552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9" name="TextBox 348"/>
          <p:cNvSpPr txBox="1"/>
          <p:nvPr/>
        </p:nvSpPr>
        <p:spPr>
          <a:xfrm>
            <a:off x="14859000" y="5638800"/>
            <a:ext cx="2476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end of bus</a:t>
            </a:r>
          </a:p>
        </p:txBody>
      </p:sp>
      <p:sp>
        <p:nvSpPr>
          <p:cNvPr id="350" name="Rectangle 349"/>
          <p:cNvSpPr/>
          <p:nvPr/>
        </p:nvSpPr>
        <p:spPr>
          <a:xfrm>
            <a:off x="1428750" y="5810250"/>
            <a:ext cx="381000" cy="95250"/>
          </a:xfrm>
          <a:prstGeom prst="rect">
            <a:avLst/>
          </a:prstGeom>
          <a:solidFill>
            <a:srgbClr val="E8C9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1" name="TextBox 350"/>
          <p:cNvSpPr txBox="1"/>
          <p:nvPr/>
        </p:nvSpPr>
        <p:spPr>
          <a:xfrm>
            <a:off x="1943100" y="5676900"/>
            <a:ext cx="1905000" cy="342900"/>
          </a:xfrm>
          <a:prstGeom prst="rect">
            <a:avLst/>
          </a:prstGeom>
          <a:noFill/>
        </p:spPr>
        <p:txBody>
          <a:bodyPr wrap="square" lIns="0" rIns="0" tIns="0" bIns="0" anchor="t">
            <a:spAutoFit/>
          </a:bodyPr>
          <a:lstStyle/>
          <a:p>
            <a:pPr algn="l"/>
            <a:r>
              <a:rPr sz="1650" b="0" i="0">
                <a:solidFill>
                  <a:srgbClr val="F0E8E8"/>
                </a:solidFill>
                <a:latin typeface="Geist"/>
                <a:ea typeface="Geist"/>
                <a:cs typeface="Geist"/>
              </a:rPr>
              <a:t>CAN High</a:t>
            </a:r>
          </a:p>
        </p:txBody>
      </p:sp>
      <p:sp>
        <p:nvSpPr>
          <p:cNvPr id="352" name="Rectangle 351"/>
          <p:cNvSpPr/>
          <p:nvPr/>
        </p:nvSpPr>
        <p:spPr>
          <a:xfrm>
            <a:off x="3905250" y="5810250"/>
            <a:ext cx="381000" cy="95250"/>
          </a:xfrm>
          <a:prstGeom prst="rect">
            <a:avLst/>
          </a:prstGeom>
          <a:solidFill>
            <a:srgbClr val="2FB3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3" name="TextBox 352"/>
          <p:cNvSpPr txBox="1"/>
          <p:nvPr/>
        </p:nvSpPr>
        <p:spPr>
          <a:xfrm>
            <a:off x="4419600" y="5676900"/>
            <a:ext cx="1905000" cy="342900"/>
          </a:xfrm>
          <a:prstGeom prst="rect">
            <a:avLst/>
          </a:prstGeom>
          <a:noFill/>
        </p:spPr>
        <p:txBody>
          <a:bodyPr wrap="square" lIns="0" rIns="0" tIns="0" bIns="0" anchor="t">
            <a:spAutoFit/>
          </a:bodyPr>
          <a:lstStyle/>
          <a:p>
            <a:pPr algn="l"/>
            <a:r>
              <a:rPr sz="1650" b="0" i="0">
                <a:solidFill>
                  <a:srgbClr val="F0E8E8"/>
                </a:solidFill>
                <a:latin typeface="Geist"/>
                <a:ea typeface="Geist"/>
                <a:cs typeface="Geist"/>
              </a:rPr>
              <a:t>CAN Low</a:t>
            </a:r>
          </a:p>
        </p:txBody>
      </p:sp>
      <p:sp>
        <p:nvSpPr>
          <p:cNvPr id="354" name="Rounded Rectangle 353"/>
          <p:cNvSpPr/>
          <p:nvPr/>
        </p:nvSpPr>
        <p:spPr>
          <a:xfrm>
            <a:off x="914400" y="6667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5" name="TextBox 354"/>
          <p:cNvSpPr txBox="1"/>
          <p:nvPr/>
        </p:nvSpPr>
        <p:spPr>
          <a:xfrm>
            <a:off x="1295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Daisy chain</a:t>
            </a:r>
          </a:p>
        </p:txBody>
      </p:sp>
      <p:sp>
        <p:nvSpPr>
          <p:cNvPr id="356" name="TextBox 355"/>
          <p:cNvSpPr txBox="1"/>
          <p:nvPr/>
        </p:nvSpPr>
        <p:spPr>
          <a:xfrm>
            <a:off x="1295400" y="7610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Each device connects to the next. A loose plug cuts off everything after it.</a:t>
            </a:r>
          </a:p>
        </p:txBody>
      </p:sp>
      <p:sp>
        <p:nvSpPr>
          <p:cNvPr id="357" name="Rounded Rectangle 356"/>
          <p:cNvSpPr/>
          <p:nvPr/>
        </p:nvSpPr>
        <p:spPr>
          <a:xfrm>
            <a:off x="6502400" y="6667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8" name="TextBox 357"/>
          <p:cNvSpPr txBox="1"/>
          <p:nvPr/>
        </p:nvSpPr>
        <p:spPr>
          <a:xfrm>
            <a:off x="6883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Unique IDs</a:t>
            </a:r>
          </a:p>
        </p:txBody>
      </p:sp>
      <p:sp>
        <p:nvSpPr>
          <p:cNvPr id="359" name="TextBox 358"/>
          <p:cNvSpPr txBox="1"/>
          <p:nvPr/>
        </p:nvSpPr>
        <p:spPr>
          <a:xfrm>
            <a:off x="6883400" y="7610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Every device has its own number. The code finds a motor by its ID.</a:t>
            </a:r>
          </a:p>
        </p:txBody>
      </p:sp>
      <p:sp>
        <p:nvSpPr>
          <p:cNvPr id="360" name="Rounded Rectangle 359"/>
          <p:cNvSpPr/>
          <p:nvPr/>
        </p:nvSpPr>
        <p:spPr>
          <a:xfrm>
            <a:off x="12090400" y="6667500"/>
            <a:ext cx="5283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1" name="TextBox 360"/>
          <p:cNvSpPr txBox="1"/>
          <p:nvPr/>
        </p:nvSpPr>
        <p:spPr>
          <a:xfrm>
            <a:off x="12471400" y="7048500"/>
            <a:ext cx="4521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Terminate both ends</a:t>
            </a:r>
          </a:p>
        </p:txBody>
      </p:sp>
      <p:sp>
        <p:nvSpPr>
          <p:cNvPr id="362" name="TextBox 361"/>
          <p:cNvSpPr txBox="1"/>
          <p:nvPr/>
        </p:nvSpPr>
        <p:spPr>
          <a:xfrm>
            <a:off x="12471400" y="7610475"/>
            <a:ext cx="4521200" cy="11430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120 Ω at each end. The roboRIO has one built in.</a:t>
            </a:r>
          </a:p>
        </p:txBody>
      </p:sp>
      <p:sp>
        <p:nvSpPr>
          <p:cNvPr id="363" name="TextBox 36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4" name="TextBox 36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Setting CAN IDs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4671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gear.png"/>
          <p:cNvPicPr>
            <a:picLocks noChangeAspect="1"/>
          </p:cNvPicPr>
          <p:nvPr/>
        </p:nvPicPr>
        <p:blipFill>
          <a:blip r:embed="rId3"/>
          <a:stretch>
            <a:fillRect/>
          </a:stretch>
        </p:blipFill>
        <p:spPr>
          <a:xfrm>
            <a:off x="1295400" y="3238500"/>
            <a:ext cx="533400" cy="533400"/>
          </a:xfrm>
          <a:prstGeom prst="rect">
            <a:avLst/>
          </a:prstGeom>
        </p:spPr>
      </p:pic>
      <p:sp>
        <p:nvSpPr>
          <p:cNvPr id="7" name="TextBox 6"/>
          <p:cNvSpPr txBox="1"/>
          <p:nvPr/>
        </p:nvSpPr>
        <p:spPr>
          <a:xfrm>
            <a:off x="1295400" y="4038600"/>
            <a:ext cx="2705100" cy="5715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Phoenix Tuner X</a:t>
            </a:r>
          </a:p>
        </p:txBody>
      </p:sp>
      <p:sp>
        <p:nvSpPr>
          <p:cNvPr id="8" name="TextBox 7"/>
          <p:cNvSpPr txBox="1"/>
          <p:nvPr/>
        </p:nvSpPr>
        <p:spPr>
          <a:xfrm>
            <a:off x="1295400" y="4551045"/>
            <a:ext cx="2705100" cy="13906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 CTRE devices: Talon FX, Kraken X60, CANcoder, Pigeon.</a:t>
            </a:r>
          </a:p>
        </p:txBody>
      </p:sp>
      <p:sp>
        <p:nvSpPr>
          <p:cNvPr id="9" name="Rounded Rectangle 8"/>
          <p:cNvSpPr/>
          <p:nvPr/>
        </p:nvSpPr>
        <p:spPr>
          <a:xfrm>
            <a:off x="4686300" y="2857500"/>
            <a:ext cx="3467100" cy="3143250"/>
          </a:xfrm>
          <a:prstGeom prst="roundRect">
            <a:avLst>
              <a:gd name="adj" fmla="val 484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gear.png"/>
          <p:cNvPicPr>
            <a:picLocks noChangeAspect="1"/>
          </p:cNvPicPr>
          <p:nvPr/>
        </p:nvPicPr>
        <p:blipFill>
          <a:blip r:embed="rId3"/>
          <a:stretch>
            <a:fillRect/>
          </a:stretch>
        </p:blipFill>
        <p:spPr>
          <a:xfrm>
            <a:off x="5067300" y="3238500"/>
            <a:ext cx="533400" cy="533400"/>
          </a:xfrm>
          <a:prstGeom prst="rect">
            <a:avLst/>
          </a:prstGeom>
        </p:spPr>
      </p:pic>
      <p:sp>
        <p:nvSpPr>
          <p:cNvPr id="11" name="TextBox 10"/>
          <p:cNvSpPr txBox="1"/>
          <p:nvPr/>
        </p:nvSpPr>
        <p:spPr>
          <a:xfrm>
            <a:off x="5067300" y="4038600"/>
            <a:ext cx="2705100" cy="571500"/>
          </a:xfrm>
          <a:prstGeom prst="rect">
            <a:avLst/>
          </a:prstGeom>
          <a:noFill/>
        </p:spPr>
        <p:txBody>
          <a:bodyPr wrap="square" lIns="0" rIns="0" tIns="0" bIns="0" anchor="t">
            <a:spAutoFit/>
          </a:bodyPr>
          <a:lstStyle/>
          <a:p>
            <a:pPr algn="l">
              <a:lnSpc>
                <a:spcPct val="110000"/>
              </a:lnSpc>
            </a:pPr>
            <a:r>
              <a:rPr sz="1950" b="1" i="0">
                <a:solidFill>
                  <a:srgbClr val="F0E8E8"/>
                </a:solidFill>
                <a:latin typeface="Geist"/>
                <a:ea typeface="Geist"/>
                <a:cs typeface="Geist"/>
              </a:rPr>
              <a:t>REV Hardware Client</a:t>
            </a:r>
          </a:p>
        </p:txBody>
      </p:sp>
      <p:sp>
        <p:nvSpPr>
          <p:cNvPr id="12" name="TextBox 11"/>
          <p:cNvSpPr txBox="1"/>
          <p:nvPr/>
        </p:nvSpPr>
        <p:spPr>
          <a:xfrm>
            <a:off x="5067300" y="4551045"/>
            <a:ext cx="2705100" cy="13906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For REV devices: Spark MAX, Spark Flex.</a:t>
            </a:r>
          </a:p>
        </p:txBody>
      </p:sp>
      <p:sp>
        <p:nvSpPr>
          <p:cNvPr id="13" name="Rounded Rectangle 12"/>
          <p:cNvSpPr/>
          <p:nvPr/>
        </p:nvSpPr>
        <p:spPr>
          <a:xfrm>
            <a:off x="914400" y="6286500"/>
            <a:ext cx="72390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exclamation-circle.png"/>
          <p:cNvPicPr>
            <a:picLocks noChangeAspect="1"/>
          </p:cNvPicPr>
          <p:nvPr/>
        </p:nvPicPr>
        <p:blipFill>
          <a:blip r:embed="rId4"/>
          <a:stretch>
            <a:fillRect/>
          </a:stretch>
        </p:blipFill>
        <p:spPr>
          <a:xfrm>
            <a:off x="1295400" y="6496050"/>
            <a:ext cx="533400" cy="533400"/>
          </a:xfrm>
          <a:prstGeom prst="rect">
            <a:avLst/>
          </a:prstGeom>
        </p:spPr>
      </p:pic>
      <p:sp>
        <p:nvSpPr>
          <p:cNvPr id="15" name="TextBox 14"/>
          <p:cNvSpPr txBox="1"/>
          <p:nvPr/>
        </p:nvSpPr>
        <p:spPr>
          <a:xfrm>
            <a:off x="2152650" y="6286500"/>
            <a:ext cx="5715000" cy="952500"/>
          </a:xfrm>
          <a:prstGeom prst="rect">
            <a:avLst/>
          </a:prstGeom>
          <a:noFill/>
        </p:spPr>
        <p:txBody>
          <a:bodyPr wrap="square" lIns="0" rIns="0" tIns="0" bIns="0" anchor="ctr">
            <a:spAutoFit/>
          </a:bodyPr>
          <a:lstStyle/>
          <a:p>
            <a:pPr algn="l"/>
            <a:r>
              <a:rPr sz="2100" b="1" i="0">
                <a:solidFill>
                  <a:srgbClr val="F0E8E8"/>
                </a:solidFill>
                <a:latin typeface="Geist"/>
                <a:ea typeface="Geist"/>
                <a:cs typeface="Geist"/>
              </a:rPr>
              <a:t>Rule:  </a:t>
            </a:r>
            <a:r>
              <a:rPr sz="2100" b="0" i="0">
                <a:solidFill>
                  <a:srgbClr val="F0E8E8"/>
                </a:solidFill>
                <a:latin typeface="Geist"/>
                <a:ea typeface="Geist"/>
                <a:cs typeface="Geist"/>
              </a:rPr>
              <a:t>no two devices share an ID.</a:t>
            </a:r>
          </a:p>
        </p:txBody>
      </p:sp>
      <p:sp>
        <p:nvSpPr>
          <p:cNvPr id="16" name="TextBox 15"/>
          <p:cNvSpPr txBox="1"/>
          <p:nvPr/>
        </p:nvSpPr>
        <p:spPr>
          <a:xfrm>
            <a:off x="8763000" y="2857500"/>
            <a:ext cx="8610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Constants.java</a:t>
            </a:r>
          </a:p>
        </p:txBody>
      </p:sp>
      <p:sp>
        <p:nvSpPr>
          <p:cNvPr id="17" name="Rounded Rectangle 16"/>
          <p:cNvSpPr/>
          <p:nvPr/>
        </p:nvSpPr>
        <p:spPr>
          <a:xfrm>
            <a:off x="8763000" y="3276600"/>
            <a:ext cx="8610600" cy="1859280"/>
          </a:xfrm>
          <a:prstGeom prst="roundRect">
            <a:avLst>
              <a:gd name="adj" fmla="val 819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8782050" y="4023360"/>
            <a:ext cx="85725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782050" y="402336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782050" y="4389120"/>
            <a:ext cx="8572500" cy="36576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782050" y="4389120"/>
            <a:ext cx="57150" cy="36576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44000" y="3657600"/>
            <a:ext cx="8077200" cy="365760"/>
          </a:xfrm>
          <a:prstGeom prst="rect">
            <a:avLst/>
          </a:prstGeom>
          <a:noFill/>
        </p:spPr>
        <p:txBody>
          <a:bodyPr wrap="square" lIns="0" rIns="0" tIns="0" bIns="0" anchor="ctr">
            <a:spAutoFit/>
          </a:bodyPr>
          <a:lstStyle/>
          <a:p>
            <a:pPr algn="l"/>
            <a:r>
              <a:rPr sz="1800" b="0" i="1">
                <a:solidFill>
                  <a:srgbClr val="9A7878"/>
                </a:solidFill>
                <a:latin typeface="Geist Mono"/>
                <a:ea typeface="Geist Mono"/>
                <a:cs typeface="Geist Mono"/>
              </a:rPr>
              <a:t>// Each side of the drivetrain: one Kraken X60</a:t>
            </a:r>
          </a:p>
        </p:txBody>
      </p:sp>
      <p:sp>
        <p:nvSpPr>
          <p:cNvPr id="23" name="TextBox 22"/>
          <p:cNvSpPr txBox="1"/>
          <p:nvPr/>
        </p:nvSpPr>
        <p:spPr>
          <a:xfrm>
            <a:off x="9144000" y="4023360"/>
            <a:ext cx="80772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LEFT_MOTORS  = List.of(motor(</a:t>
            </a:r>
            <a:r>
              <a:rPr sz="1800" b="0" i="0">
                <a:solidFill>
                  <a:srgbClr val="E8C27A"/>
                </a:solidFill>
                <a:latin typeface="Geist Mono"/>
                <a:ea typeface="Geist Mono"/>
                <a:cs typeface="Geist Mono"/>
              </a:rPr>
              <a:t>1</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false</a:t>
            </a:r>
            <a:r>
              <a:rPr sz="1800" b="0" i="0">
                <a:solidFill>
                  <a:srgbClr val="F0E8E8"/>
                </a:solidFill>
                <a:latin typeface="Geist Mono"/>
                <a:ea typeface="Geist Mono"/>
                <a:cs typeface="Geist Mono"/>
              </a:rPr>
              <a:t>));</a:t>
            </a:r>
          </a:p>
        </p:txBody>
      </p:sp>
      <p:sp>
        <p:nvSpPr>
          <p:cNvPr id="24" name="TextBox 23"/>
          <p:cNvSpPr txBox="1"/>
          <p:nvPr/>
        </p:nvSpPr>
        <p:spPr>
          <a:xfrm>
            <a:off x="9144000" y="4389120"/>
            <a:ext cx="8077200" cy="36576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RIGHT_MOTORS = List.of(motor(</a:t>
            </a:r>
            <a:r>
              <a:rPr sz="1800" b="0" i="0">
                <a:solidFill>
                  <a:srgbClr val="E8C27A"/>
                </a:solidFill>
                <a:latin typeface="Geist Mono"/>
                <a:ea typeface="Geist Mono"/>
                <a:cs typeface="Geist Mono"/>
              </a:rPr>
              <a:t>2</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true</a:t>
            </a:r>
            <a:r>
              <a:rPr sz="1800" b="0" i="0">
                <a:solidFill>
                  <a:srgbClr val="F0E8E8"/>
                </a:solidFill>
                <a:latin typeface="Geist Mono"/>
                <a:ea typeface="Geist Mono"/>
                <a:cs typeface="Geist Mono"/>
              </a:rPr>
              <a:t>));</a:t>
            </a:r>
          </a:p>
        </p:txBody>
      </p:sp>
      <p:sp>
        <p:nvSpPr>
          <p:cNvPr id="25" name="TextBox 24"/>
          <p:cNvSpPr txBox="1"/>
          <p:nvPr/>
        </p:nvSpPr>
        <p:spPr>
          <a:xfrm>
            <a:off x="8763000" y="5334000"/>
            <a:ext cx="8610600" cy="1143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number is the </a:t>
            </a:r>
            <a:r>
              <a:rPr sz="1950" b="1" i="0">
                <a:solidFill>
                  <a:srgbClr val="9A7878"/>
                </a:solidFill>
                <a:latin typeface="Geist"/>
                <a:ea typeface="Geist"/>
                <a:cs typeface="Geist"/>
              </a:rPr>
              <a:t>CAN ID</a:t>
            </a:r>
            <a:r>
              <a:rPr sz="1950" b="0" i="0">
                <a:solidFill>
                  <a:srgbClr val="9A7878"/>
                </a:solidFill>
                <a:latin typeface="Geist"/>
                <a:ea typeface="Geist"/>
                <a:cs typeface="Geist"/>
              </a:rPr>
              <a:t>. The </a:t>
            </a:r>
            <a:r>
              <a:rPr sz="1950" b="0" i="0">
                <a:solidFill>
                  <a:srgbClr val="9A7878"/>
                </a:solidFill>
                <a:latin typeface="Geist Mono"/>
                <a:ea typeface="Geist Mono"/>
                <a:cs typeface="Geist Mono"/>
              </a:rPr>
              <a:t>true</a:t>
            </a:r>
            <a:r>
              <a:rPr sz="1950" b="0" i="0">
                <a:solidFill>
                  <a:srgbClr val="9A7878"/>
                </a:solidFill>
                <a:latin typeface="Geist"/>
                <a:ea typeface="Geist"/>
                <a:cs typeface="Geist"/>
              </a:rPr>
              <a:t> on the right side is </a:t>
            </a:r>
            <a:r>
              <a:rPr sz="1950" b="1" i="0">
                <a:solidFill>
                  <a:srgbClr val="9A7878"/>
                </a:solidFill>
                <a:latin typeface="Geist"/>
                <a:ea typeface="Geist"/>
                <a:cs typeface="Geist"/>
              </a:rPr>
              <a:t>inversion</a:t>
            </a:r>
            <a:r>
              <a:rPr sz="1950" b="0" i="0">
                <a:solidFill>
                  <a:srgbClr val="9A7878"/>
                </a:solidFill>
                <a:latin typeface="Geist"/>
                <a:ea typeface="Geist"/>
                <a:cs typeface="Geist"/>
              </a:rPr>
              <a:t>: more on that soon.</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number: the duty cycle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2400300" y="6057900"/>
            <a:ext cx="13487400" cy="762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144000" y="6057900"/>
            <a:ext cx="670560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2305050" y="59626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859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-1.0</a:t>
            </a:r>
          </a:p>
        </p:txBody>
      </p:sp>
      <p:sp>
        <p:nvSpPr>
          <p:cNvPr id="9" name="Oval 8"/>
          <p:cNvSpPr/>
          <p:nvPr/>
        </p:nvSpPr>
        <p:spPr>
          <a:xfrm>
            <a:off x="5657850" y="59626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387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-0.5</a:t>
            </a:r>
          </a:p>
        </p:txBody>
      </p:sp>
      <p:sp>
        <p:nvSpPr>
          <p:cNvPr id="11" name="Oval 10"/>
          <p:cNvSpPr/>
          <p:nvPr/>
        </p:nvSpPr>
        <p:spPr>
          <a:xfrm>
            <a:off x="9010650" y="5962650"/>
            <a:ext cx="266700" cy="2667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915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0.0</a:t>
            </a:r>
          </a:p>
        </p:txBody>
      </p:sp>
      <p:sp>
        <p:nvSpPr>
          <p:cNvPr id="13" name="Oval 12"/>
          <p:cNvSpPr/>
          <p:nvPr/>
        </p:nvSpPr>
        <p:spPr>
          <a:xfrm>
            <a:off x="12363450" y="5962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443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0.5</a:t>
            </a:r>
          </a:p>
        </p:txBody>
      </p:sp>
      <p:sp>
        <p:nvSpPr>
          <p:cNvPr id="15" name="Oval 14"/>
          <p:cNvSpPr/>
          <p:nvPr/>
        </p:nvSpPr>
        <p:spPr>
          <a:xfrm>
            <a:off x="15716250" y="5962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897100" y="6438900"/>
            <a:ext cx="1905000" cy="476250"/>
          </a:xfrm>
          <a:prstGeom prst="rect">
            <a:avLst/>
          </a:prstGeom>
          <a:noFill/>
        </p:spPr>
        <p:txBody>
          <a:bodyPr wrap="square" lIns="0" rIns="0" tIns="0" bIns="0" anchor="t">
            <a:spAutoFit/>
          </a:bodyPr>
          <a:lstStyle/>
          <a:p>
            <a:pPr algn="ctr"/>
            <a:r>
              <a:rPr sz="2700" b="1" i="0">
                <a:solidFill>
                  <a:srgbClr val="E8C27A"/>
                </a:solidFill>
                <a:latin typeface="Geist Mono"/>
                <a:ea typeface="Geist Mono"/>
                <a:cs typeface="Geist Mono"/>
              </a:rPr>
              <a:t>1.0</a:t>
            </a:r>
          </a:p>
        </p:txBody>
      </p:sp>
      <p:sp>
        <p:nvSpPr>
          <p:cNvPr id="17" name="TextBox 16"/>
          <p:cNvSpPr txBox="1"/>
          <p:nvPr/>
        </p:nvSpPr>
        <p:spPr>
          <a:xfrm>
            <a:off x="1009650" y="7010400"/>
            <a:ext cx="28575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full backward</a:t>
            </a:r>
          </a:p>
        </p:txBody>
      </p:sp>
      <p:sp>
        <p:nvSpPr>
          <p:cNvPr id="18" name="TextBox 17"/>
          <p:cNvSpPr txBox="1"/>
          <p:nvPr/>
        </p:nvSpPr>
        <p:spPr>
          <a:xfrm>
            <a:off x="7715250" y="7010400"/>
            <a:ext cx="28575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stop</a:t>
            </a:r>
          </a:p>
        </p:txBody>
      </p:sp>
      <p:sp>
        <p:nvSpPr>
          <p:cNvPr id="19" name="TextBox 18"/>
          <p:cNvSpPr txBox="1"/>
          <p:nvPr/>
        </p:nvSpPr>
        <p:spPr>
          <a:xfrm>
            <a:off x="14420850" y="7010400"/>
            <a:ext cx="2857500" cy="381000"/>
          </a:xfrm>
          <a:prstGeom prst="rect">
            <a:avLst/>
          </a:prstGeom>
          <a:noFill/>
        </p:spPr>
        <p:txBody>
          <a:bodyPr wrap="square" lIns="0" rIns="0" tIns="0" bIns="0" anchor="t">
            <a:spAutoFit/>
          </a:bodyPr>
          <a:lstStyle/>
          <a:p>
            <a:pPr algn="ctr"/>
            <a:r>
              <a:rPr sz="1950" b="0" i="0">
                <a:solidFill>
                  <a:srgbClr val="9A7878"/>
                </a:solidFill>
                <a:latin typeface="Geist"/>
                <a:ea typeface="Geist"/>
                <a:cs typeface="Geist"/>
              </a:rPr>
              <a:t>full forward</a:t>
            </a:r>
          </a:p>
        </p:txBody>
      </p:sp>
      <p:pic>
        <p:nvPicPr>
          <p:cNvPr id="20" name="Picture 19" descr="dozer_left.png"/>
          <p:cNvPicPr>
            <a:picLocks noChangeAspect="1"/>
          </p:cNvPicPr>
          <p:nvPr/>
        </p:nvPicPr>
        <p:blipFill>
          <a:blip r:embed="rId3"/>
          <a:stretch>
            <a:fillRect/>
          </a:stretch>
        </p:blipFill>
        <p:spPr>
          <a:xfrm>
            <a:off x="1295400" y="4000500"/>
            <a:ext cx="2286000" cy="1405075"/>
          </a:xfrm>
          <a:prstGeom prst="rect">
            <a:avLst/>
          </a:prstGeom>
        </p:spPr>
      </p:pic>
      <p:pic>
        <p:nvPicPr>
          <p:cNvPr id="21" name="Picture 20" descr="dozer_sleep.png"/>
          <p:cNvPicPr>
            <a:picLocks noChangeAspect="1"/>
          </p:cNvPicPr>
          <p:nvPr/>
        </p:nvPicPr>
        <p:blipFill>
          <a:blip r:embed="rId4"/>
          <a:stretch>
            <a:fillRect/>
          </a:stretch>
        </p:blipFill>
        <p:spPr>
          <a:xfrm>
            <a:off x="8096250" y="4191000"/>
            <a:ext cx="2095500" cy="1287986"/>
          </a:xfrm>
          <a:prstGeom prst="rect">
            <a:avLst/>
          </a:prstGeom>
        </p:spPr>
      </p:pic>
      <p:pic>
        <p:nvPicPr>
          <p:cNvPr id="22" name="Picture 21" descr="dozer.png"/>
          <p:cNvPicPr>
            <a:picLocks noChangeAspect="1"/>
          </p:cNvPicPr>
          <p:nvPr/>
        </p:nvPicPr>
        <p:blipFill>
          <a:blip r:embed="rId5"/>
          <a:stretch>
            <a:fillRect/>
          </a:stretch>
        </p:blipFill>
        <p:spPr>
          <a:xfrm>
            <a:off x="14706600" y="4000500"/>
            <a:ext cx="2286000" cy="1405075"/>
          </a:xfrm>
          <a:prstGeom prst="rect">
            <a:avLst/>
          </a:prstGeom>
        </p:spPr>
      </p:pic>
      <p:sp>
        <p:nvSpPr>
          <p:cNvPr id="23" name="Rectangle 22"/>
          <p:cNvSpPr/>
          <p:nvPr/>
        </p:nvSpPr>
        <p:spPr>
          <a:xfrm>
            <a:off x="458343" y="4924425"/>
            <a:ext cx="675132"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6200000">
            <a:off x="342900" y="487299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7154525" y="4924425"/>
            <a:ext cx="675132"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17785080" y="487299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91800" y="5429250"/>
            <a:ext cx="3810000" cy="381000"/>
          </a:xfrm>
          <a:prstGeom prst="rect">
            <a:avLst/>
          </a:prstGeom>
          <a:noFill/>
        </p:spPr>
        <p:txBody>
          <a:bodyPr wrap="square" lIns="0" rIns="0" tIns="0" bIns="0" anchor="t">
            <a:spAutoFit/>
          </a:bodyPr>
          <a:lstStyle/>
          <a:p>
            <a:pPr algn="ctr"/>
            <a:r>
              <a:rPr sz="1800" b="0" i="0">
                <a:solidFill>
                  <a:srgbClr val="F0E8E8"/>
                </a:solidFill>
                <a:latin typeface="Geist"/>
                <a:ea typeface="Geist"/>
                <a:cs typeface="Geist"/>
              </a:rPr>
              <a:t>0.5 = half speed forward</a:t>
            </a:r>
          </a:p>
        </p:txBody>
      </p:sp>
      <p:sp>
        <p:nvSpPr>
          <p:cNvPr id="28" name="Rounded Rectangle 27"/>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33500" y="809625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Past 1.0?  </a:t>
            </a:r>
            <a:r>
              <a:rPr sz="2100" b="0" i="0">
                <a:solidFill>
                  <a:srgbClr val="F0E8E8"/>
                </a:solidFill>
                <a:latin typeface="Geist"/>
                <a:ea typeface="Geist"/>
                <a:cs typeface="Geist"/>
              </a:rPr>
              <a:t>It's clipped: 1.5 acts like 1.0, and -3 acts like -1.0.</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HOW A ROBOT MOVES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Inversion: mirror-image sides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5143500"/>
          </a:xfrm>
          <a:prstGeom prst="roundRect">
            <a:avLst>
              <a:gd name="adj" fmla="val 296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Not inverted</a:t>
            </a:r>
          </a:p>
        </p:txBody>
      </p:sp>
      <p:pic>
        <p:nvPicPr>
          <p:cNvPr id="7" name="Picture 6" descr="dozer_top.png"/>
          <p:cNvPicPr>
            <a:picLocks noChangeAspect="1"/>
          </p:cNvPicPr>
          <p:nvPr/>
        </p:nvPicPr>
        <p:blipFill>
          <a:blip r:embed="rId3"/>
          <a:stretch>
            <a:fillRect/>
          </a:stretch>
        </p:blipFill>
        <p:spPr>
          <a:xfrm rot="16200000">
            <a:off x="4048125" y="4692737"/>
            <a:ext cx="1809750" cy="1663527"/>
          </a:xfrm>
          <a:prstGeom prst="rect">
            <a:avLst/>
          </a:prstGeom>
        </p:spPr>
      </p:pic>
      <p:sp>
        <p:nvSpPr>
          <p:cNvPr id="8" name="Rectangle 7"/>
          <p:cNvSpPr/>
          <p:nvPr/>
        </p:nvSpPr>
        <p:spPr>
          <a:xfrm>
            <a:off x="3486150" y="5059299"/>
            <a:ext cx="76200" cy="112242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a:off x="3417570" y="4905375"/>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43650" y="4867275"/>
            <a:ext cx="76200" cy="1122426"/>
          </a:xfrm>
          <a:prstGeom prst="rect">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10800000">
            <a:off x="6275070" y="5930265"/>
            <a:ext cx="213360" cy="21336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6500" y="5334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0.5</a:t>
            </a:r>
          </a:p>
        </p:txBody>
      </p:sp>
      <p:sp>
        <p:nvSpPr>
          <p:cNvPr id="13" name="TextBox 12"/>
          <p:cNvSpPr txBox="1"/>
          <p:nvPr/>
        </p:nvSpPr>
        <p:spPr>
          <a:xfrm>
            <a:off x="6591300" y="5334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0.5</a:t>
            </a:r>
          </a:p>
        </p:txBody>
      </p:sp>
      <p:pic>
        <p:nvPicPr>
          <p:cNvPr id="14" name="Picture 13" descr="arrow-repeat.png"/>
          <p:cNvPicPr>
            <a:picLocks noChangeAspect="1"/>
          </p:cNvPicPr>
          <p:nvPr/>
        </p:nvPicPr>
        <p:blipFill>
          <a:blip r:embed="rId4"/>
          <a:stretch>
            <a:fillRect/>
          </a:stretch>
        </p:blipFill>
        <p:spPr>
          <a:xfrm>
            <a:off x="4610100" y="3810000"/>
            <a:ext cx="738188" cy="571500"/>
          </a:xfrm>
          <a:prstGeom prst="rect">
            <a:avLst/>
          </a:prstGeom>
        </p:spPr>
      </p:pic>
      <p:pic>
        <p:nvPicPr>
          <p:cNvPr id="15" name="Picture 14" descr="dozer_wide.png"/>
          <p:cNvPicPr>
            <a:picLocks noChangeAspect="1"/>
          </p:cNvPicPr>
          <p:nvPr/>
        </p:nvPicPr>
        <p:blipFill>
          <a:blip r:embed="rId5"/>
          <a:stretch>
            <a:fillRect/>
          </a:stretch>
        </p:blipFill>
        <p:spPr>
          <a:xfrm>
            <a:off x="7010400" y="3048000"/>
            <a:ext cx="1619250" cy="995262"/>
          </a:xfrm>
          <a:prstGeom prst="rect">
            <a:avLst/>
          </a:prstGeom>
        </p:spPr>
      </p:pic>
      <p:sp>
        <p:nvSpPr>
          <p:cNvPr id="16" name="TextBox 15"/>
          <p:cNvSpPr txBox="1"/>
          <p:nvPr/>
        </p:nvSpPr>
        <p:spPr>
          <a:xfrm>
            <a:off x="1295400" y="7239000"/>
            <a:ext cx="72390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get 0.5, but the right side spins backward: the robot turns in place.</a:t>
            </a:r>
          </a:p>
        </p:txBody>
      </p:sp>
      <p:sp>
        <p:nvSpPr>
          <p:cNvPr id="17" name="Rounded Rectangle 16"/>
          <p:cNvSpPr/>
          <p:nvPr/>
        </p:nvSpPr>
        <p:spPr>
          <a:xfrm>
            <a:off x="9296400" y="2857500"/>
            <a:ext cx="8077200" cy="5143500"/>
          </a:xfrm>
          <a:prstGeom prst="roundRect">
            <a:avLst>
              <a:gd name="adj" fmla="val 296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677400" y="3143250"/>
            <a:ext cx="72390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Right side inverted</a:t>
            </a:r>
          </a:p>
        </p:txBody>
      </p:sp>
      <p:pic>
        <p:nvPicPr>
          <p:cNvPr id="19" name="Picture 18" descr="dozer_top.png"/>
          <p:cNvPicPr>
            <a:picLocks noChangeAspect="1"/>
          </p:cNvPicPr>
          <p:nvPr/>
        </p:nvPicPr>
        <p:blipFill>
          <a:blip r:embed="rId3"/>
          <a:stretch>
            <a:fillRect/>
          </a:stretch>
        </p:blipFill>
        <p:spPr>
          <a:xfrm rot="16200000">
            <a:off x="12430125" y="4692737"/>
            <a:ext cx="1809750" cy="1663527"/>
          </a:xfrm>
          <a:prstGeom prst="rect">
            <a:avLst/>
          </a:prstGeom>
        </p:spPr>
      </p:pic>
      <p:sp>
        <p:nvSpPr>
          <p:cNvPr id="20" name="Rectangle 19"/>
          <p:cNvSpPr/>
          <p:nvPr/>
        </p:nvSpPr>
        <p:spPr>
          <a:xfrm>
            <a:off x="11868150" y="5059299"/>
            <a:ext cx="76200" cy="112242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99570" y="4905375"/>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725650" y="5059299"/>
            <a:ext cx="76200" cy="112242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a:off x="14657070" y="4905375"/>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858500" y="5334000"/>
            <a:ext cx="857250" cy="381000"/>
          </a:xfrm>
          <a:prstGeom prst="rect">
            <a:avLst/>
          </a:prstGeom>
          <a:noFill/>
        </p:spPr>
        <p:txBody>
          <a:bodyPr wrap="square" lIns="0" rIns="0" tIns="0" bIns="0" anchor="t">
            <a:spAutoFit/>
          </a:bodyPr>
          <a:lstStyle/>
          <a:p>
            <a:pPr algn="r"/>
            <a:r>
              <a:rPr sz="1950" b="1" i="0">
                <a:solidFill>
                  <a:srgbClr val="E8C27A"/>
                </a:solidFill>
                <a:latin typeface="Geist Mono"/>
                <a:ea typeface="Geist Mono"/>
                <a:cs typeface="Geist Mono"/>
              </a:rPr>
              <a:t>0.5</a:t>
            </a:r>
          </a:p>
        </p:txBody>
      </p:sp>
      <p:sp>
        <p:nvSpPr>
          <p:cNvPr id="25" name="TextBox 24"/>
          <p:cNvSpPr txBox="1"/>
          <p:nvPr/>
        </p:nvSpPr>
        <p:spPr>
          <a:xfrm>
            <a:off x="14973300" y="5334000"/>
            <a:ext cx="8572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0.5</a:t>
            </a:r>
          </a:p>
        </p:txBody>
      </p:sp>
      <p:sp>
        <p:nvSpPr>
          <p:cNvPr id="26" name="Rectangle 25"/>
          <p:cNvSpPr/>
          <p:nvPr/>
        </p:nvSpPr>
        <p:spPr>
          <a:xfrm>
            <a:off x="13306425" y="3877818"/>
            <a:ext cx="57150" cy="246507"/>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a:off x="13254990" y="3762375"/>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77400" y="7239000"/>
            <a:ext cx="72390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get 0.5 and both push forward: the robot drives straight.</a:t>
            </a:r>
          </a:p>
        </p:txBody>
      </p:sp>
      <p:sp>
        <p:nvSpPr>
          <p:cNvPr id="29" name="TextBox 28"/>
          <p:cNvSpPr txBox="1"/>
          <p:nvPr/>
        </p:nvSpPr>
        <p:spPr>
          <a:xfrm>
            <a:off x="914400" y="8286750"/>
            <a:ext cx="16459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our code, </a:t>
            </a:r>
            <a:r>
              <a:rPr sz="1800" b="0" i="0">
                <a:solidFill>
                  <a:srgbClr val="9A7878"/>
                </a:solidFill>
                <a:latin typeface="Geist Mono"/>
                <a:ea typeface="Geist Mono"/>
                <a:cs typeface="Geist Mono"/>
              </a:rPr>
              <a:t>Constants.java</a:t>
            </a:r>
            <a:r>
              <a:rPr sz="1800" b="0" i="0">
                <a:solidFill>
                  <a:srgbClr val="9A7878"/>
                </a:solidFill>
                <a:latin typeface="Geist"/>
                <a:ea typeface="Geist"/>
                <a:cs typeface="Geist"/>
              </a:rPr>
              <a:t> inverts the right side, so positive always means forward. A second motor on a side is a </a:t>
            </a:r>
            <a:r>
              <a:rPr sz="1800" b="1" i="0">
                <a:solidFill>
                  <a:srgbClr val="9A7878"/>
                </a:solidFill>
                <a:latin typeface="Geist"/>
                <a:ea typeface="Geist"/>
                <a:cs typeface="Geist"/>
              </a:rPr>
              <a:t>follower</a:t>
            </a:r>
            <a:r>
              <a:rPr sz="1800" b="0" i="0">
                <a:solidFill>
                  <a:srgbClr val="9A7878"/>
                </a:solidFill>
                <a:latin typeface="Geist"/>
                <a:ea typeface="Geist"/>
                <a:cs typeface="Geist"/>
              </a:rPr>
              <a:t>: it copies the first.</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Driver Station and modes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Turning the robot on safely, and when your code runs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Say “ENABLING!” out loud before you press Enable. Every time.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The FRC Driver Station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077200" cy="2894602"/>
          </a:xfrm>
          <a:prstGeom prst="roundRect">
            <a:avLst>
              <a:gd name="adj" fmla="val 526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driver-station-short-modes.png"/>
          <p:cNvPicPr>
            <a:picLocks noChangeAspect="1"/>
          </p:cNvPicPr>
          <p:nvPr/>
        </p:nvPicPr>
        <p:blipFill>
          <a:blip r:embed="rId3"/>
          <a:stretch>
            <a:fillRect/>
          </a:stretch>
        </p:blipFill>
        <p:spPr>
          <a:xfrm>
            <a:off x="1143000" y="3086100"/>
            <a:ext cx="7620000" cy="2437402"/>
          </a:xfrm>
          <a:prstGeom prst="rect">
            <a:avLst/>
          </a:prstGeom>
        </p:spPr>
      </p:pic>
      <p:sp>
        <p:nvSpPr>
          <p:cNvPr id="7" name="Oval 6"/>
          <p:cNvSpPr/>
          <p:nvPr/>
        </p:nvSpPr>
        <p:spPr>
          <a:xfrm>
            <a:off x="914400" y="28575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8575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914400" y="5905500"/>
            <a:ext cx="80772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Pick a mode</a:t>
            </a:r>
          </a:p>
        </p:txBody>
      </p:sp>
      <p:sp>
        <p:nvSpPr>
          <p:cNvPr id="10" name="TextBox 9"/>
          <p:cNvSpPr txBox="1"/>
          <p:nvPr/>
        </p:nvSpPr>
        <p:spPr>
          <a:xfrm>
            <a:off x="914400" y="6381750"/>
            <a:ext cx="8077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TeleOperated, Autonomous, Practice or Test</a:t>
            </a:r>
          </a:p>
        </p:txBody>
      </p:sp>
      <p:sp>
        <p:nvSpPr>
          <p:cNvPr id="11" name="Rounded Rectangle 10"/>
          <p:cNvSpPr/>
          <p:nvPr/>
        </p:nvSpPr>
        <p:spPr>
          <a:xfrm>
            <a:off x="9296400" y="2857500"/>
            <a:ext cx="8077200" cy="2886645"/>
          </a:xfrm>
          <a:prstGeom prst="roundRect">
            <a:avLst>
              <a:gd name="adj" fmla="val 5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river-station-short-enable.png"/>
          <p:cNvPicPr>
            <a:picLocks noChangeAspect="1"/>
          </p:cNvPicPr>
          <p:nvPr/>
        </p:nvPicPr>
        <p:blipFill>
          <a:blip r:embed="rId4"/>
          <a:stretch>
            <a:fillRect/>
          </a:stretch>
        </p:blipFill>
        <p:spPr>
          <a:xfrm>
            <a:off x="9525000" y="3086100"/>
            <a:ext cx="7620000" cy="2429445"/>
          </a:xfrm>
          <a:prstGeom prst="rect">
            <a:avLst/>
          </a:prstGeom>
        </p:spPr>
      </p:pic>
      <p:sp>
        <p:nvSpPr>
          <p:cNvPr id="13" name="Oval 12"/>
          <p:cNvSpPr/>
          <p:nvPr/>
        </p:nvSpPr>
        <p:spPr>
          <a:xfrm>
            <a:off x="9296400" y="28575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96400" y="28575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9296400" y="5905500"/>
            <a:ext cx="8077200" cy="419100"/>
          </a:xfrm>
          <a:prstGeom prst="rect">
            <a:avLst/>
          </a:prstGeom>
          <a:noFill/>
        </p:spPr>
        <p:txBody>
          <a:bodyPr wrap="square" lIns="0" rIns="0" tIns="0" bIns="0" anchor="t">
            <a:spAutoFit/>
          </a:bodyPr>
          <a:lstStyle/>
          <a:p>
            <a:pPr algn="l"/>
            <a:r>
              <a:rPr sz="2400" b="1" i="0">
                <a:solidFill>
                  <a:srgbClr val="F0E8E8"/>
                </a:solidFill>
                <a:latin typeface="Geist"/>
                <a:ea typeface="Geist"/>
                <a:cs typeface="Geist"/>
              </a:rPr>
              <a:t>Enable and Disable</a:t>
            </a:r>
          </a:p>
        </p:txBody>
      </p:sp>
      <p:sp>
        <p:nvSpPr>
          <p:cNvPr id="16" name="TextBox 15"/>
          <p:cNvSpPr txBox="1"/>
          <p:nvPr/>
        </p:nvSpPr>
        <p:spPr>
          <a:xfrm>
            <a:off x="9296400" y="6381750"/>
            <a:ext cx="8077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Only after the lights on the right are all green</a:t>
            </a:r>
          </a:p>
        </p:txBody>
      </p:sp>
      <p:sp>
        <p:nvSpPr>
          <p:cNvPr id="17" name="Rounded Rectangle 16"/>
          <p:cNvSpPr/>
          <p:nvPr/>
        </p:nvSpPr>
        <p:spPr>
          <a:xfrm>
            <a:off x="914400" y="7239000"/>
            <a:ext cx="16459200" cy="1428750"/>
          </a:xfrm>
          <a:prstGeom prst="roundRect">
            <a:avLst>
              <a:gd name="adj" fmla="val 10666"/>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keyboard.png"/>
          <p:cNvPicPr>
            <a:picLocks noChangeAspect="1"/>
          </p:cNvPicPr>
          <p:nvPr/>
        </p:nvPicPr>
        <p:blipFill>
          <a:blip r:embed="rId5"/>
          <a:stretch>
            <a:fillRect/>
          </a:stretch>
        </p:blipFill>
        <p:spPr>
          <a:xfrm>
            <a:off x="1333500" y="7667625"/>
            <a:ext cx="1016000" cy="571500"/>
          </a:xfrm>
          <a:prstGeom prst="rect">
            <a:avLst/>
          </a:prstGeom>
        </p:spPr>
      </p:pic>
      <p:sp>
        <p:nvSpPr>
          <p:cNvPr id="19" name="Rounded Rectangle 18"/>
          <p:cNvSpPr/>
          <p:nvPr/>
        </p:nvSpPr>
        <p:spPr>
          <a:xfrm>
            <a:off x="2476500" y="7572375"/>
            <a:ext cx="1714500" cy="666750"/>
          </a:xfrm>
          <a:prstGeom prst="roundRect">
            <a:avLst>
              <a:gd name="adj" fmla="val 1428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476500" y="7572375"/>
            <a:ext cx="1714500" cy="66675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  ]  \</a:t>
            </a:r>
          </a:p>
        </p:txBody>
      </p:sp>
      <p:sp>
        <p:nvSpPr>
          <p:cNvPr id="21" name="TextBox 20"/>
          <p:cNvSpPr txBox="1"/>
          <p:nvPr/>
        </p:nvSpPr>
        <p:spPr>
          <a:xfrm>
            <a:off x="4381500" y="7572375"/>
            <a:ext cx="2857500" cy="6667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Enable</a:t>
            </a:r>
          </a:p>
        </p:txBody>
      </p:sp>
      <p:sp>
        <p:nvSpPr>
          <p:cNvPr id="22" name="Rounded Rectangle 21"/>
          <p:cNvSpPr/>
          <p:nvPr/>
        </p:nvSpPr>
        <p:spPr>
          <a:xfrm>
            <a:off x="7429500" y="7572375"/>
            <a:ext cx="1714500" cy="666750"/>
          </a:xfrm>
          <a:prstGeom prst="roundRect">
            <a:avLst>
              <a:gd name="adj" fmla="val 1428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429500" y="7572375"/>
            <a:ext cx="1714500" cy="66675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Enter</a:t>
            </a:r>
          </a:p>
        </p:txBody>
      </p:sp>
      <p:sp>
        <p:nvSpPr>
          <p:cNvPr id="24" name="TextBox 23"/>
          <p:cNvSpPr txBox="1"/>
          <p:nvPr/>
        </p:nvSpPr>
        <p:spPr>
          <a:xfrm>
            <a:off x="9334500" y="7572375"/>
            <a:ext cx="2857500" cy="66675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Disable</a:t>
            </a:r>
          </a:p>
        </p:txBody>
      </p:sp>
      <p:sp>
        <p:nvSpPr>
          <p:cNvPr id="25" name="Rounded Rectangle 24"/>
          <p:cNvSpPr/>
          <p:nvPr/>
        </p:nvSpPr>
        <p:spPr>
          <a:xfrm>
            <a:off x="12382500" y="7572375"/>
            <a:ext cx="1714500" cy="666750"/>
          </a:xfrm>
          <a:prstGeom prst="roundRect">
            <a:avLst>
              <a:gd name="adj" fmla="val 14285"/>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2382500" y="7572375"/>
            <a:ext cx="1714500" cy="66675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Space</a:t>
            </a:r>
          </a:p>
        </p:txBody>
      </p:sp>
      <p:sp>
        <p:nvSpPr>
          <p:cNvPr id="27" name="TextBox 26"/>
          <p:cNvSpPr txBox="1"/>
          <p:nvPr/>
        </p:nvSpPr>
        <p:spPr>
          <a:xfrm>
            <a:off x="14287500" y="7572375"/>
            <a:ext cx="2857500" cy="666750"/>
          </a:xfrm>
          <a:prstGeom prst="rect">
            <a:avLst/>
          </a:prstGeom>
          <a:noFill/>
        </p:spPr>
        <p:txBody>
          <a:bodyPr wrap="square" lIns="0" rIns="0" tIns="0" bIns="0" anchor="ctr">
            <a:spAutoFit/>
          </a:bodyPr>
          <a:lstStyle/>
          <a:p>
            <a:pPr algn="l"/>
            <a:r>
              <a:rPr sz="2100" b="1" i="0">
                <a:solidFill>
                  <a:srgbClr val="D5000E"/>
                </a:solidFill>
                <a:latin typeface="Geist"/>
                <a:ea typeface="Geist"/>
                <a:cs typeface="Geist"/>
              </a:rPr>
              <a:t>Emergency stop</a:t>
            </a:r>
          </a:p>
        </p:txBody>
      </p:sp>
      <p:sp>
        <p:nvSpPr>
          <p:cNvPr id="28" name="TextBox 2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9" name="TextBox 2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Safety first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476750"/>
          </a:xfrm>
          <a:prstGeom prst="roundRect">
            <a:avLst>
              <a:gd name="adj" fmla="val 392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hat-left-text.png"/>
          <p:cNvPicPr>
            <a:picLocks noChangeAspect="1"/>
          </p:cNvPicPr>
          <p:nvPr/>
        </p:nvPicPr>
        <p:blipFill>
          <a:blip r:embed="rId3"/>
          <a:stretch>
            <a:fillRect/>
          </a:stretch>
        </p:blipFill>
        <p:spPr>
          <a:xfrm>
            <a:off x="1295400" y="3238500"/>
            <a:ext cx="636970" cy="609600"/>
          </a:xfrm>
          <a:prstGeom prst="rect">
            <a:avLst/>
          </a:prstGeom>
        </p:spPr>
      </p:pic>
      <p:sp>
        <p:nvSpPr>
          <p:cNvPr id="7" name="TextBox 6"/>
          <p:cNvSpPr txBox="1"/>
          <p:nvPr/>
        </p:nvSpPr>
        <p:spPr>
          <a:xfrm>
            <a:off x="1295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Say “ENABLING!”</a:t>
            </a:r>
          </a:p>
        </p:txBody>
      </p:sp>
      <p:sp>
        <p:nvSpPr>
          <p:cNvPr id="8" name="TextBox 7"/>
          <p:cNvSpPr txBox="1"/>
          <p:nvPr/>
        </p:nvSpPr>
        <p:spPr>
          <a:xfrm>
            <a:off x="1295400" y="4676775"/>
            <a:ext cx="3124200" cy="26479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Out loud, before every enable, so everyone near the robot hears it.</a:t>
            </a:r>
          </a:p>
        </p:txBody>
      </p:sp>
      <p:sp>
        <p:nvSpPr>
          <p:cNvPr id="9" name="Rounded Rectangle 8"/>
          <p:cNvSpPr/>
          <p:nvPr/>
        </p:nvSpPr>
        <p:spPr>
          <a:xfrm>
            <a:off x="5105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triangle-fill.png"/>
          <p:cNvPicPr>
            <a:picLocks noChangeAspect="1"/>
          </p:cNvPicPr>
          <p:nvPr/>
        </p:nvPicPr>
        <p:blipFill>
          <a:blip r:embed="rId4"/>
          <a:stretch>
            <a:fillRect/>
          </a:stretch>
        </p:blipFill>
        <p:spPr>
          <a:xfrm>
            <a:off x="5486400" y="3238500"/>
            <a:ext cx="696686" cy="609600"/>
          </a:xfrm>
          <a:prstGeom prst="rect">
            <a:avLst/>
          </a:prstGeom>
        </p:spPr>
      </p:pic>
      <p:sp>
        <p:nvSpPr>
          <p:cNvPr id="11" name="TextBox 10"/>
          <p:cNvSpPr txBox="1"/>
          <p:nvPr/>
        </p:nvSpPr>
        <p:spPr>
          <a:xfrm>
            <a:off x="5486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Hands clear</a:t>
            </a:r>
          </a:p>
        </p:txBody>
      </p:sp>
      <p:sp>
        <p:nvSpPr>
          <p:cNvPr id="12" name="TextBox 11"/>
          <p:cNvSpPr txBox="1"/>
          <p:nvPr/>
        </p:nvSpPr>
        <p:spPr>
          <a:xfrm>
            <a:off x="5486400" y="4676775"/>
            <a:ext cx="3124200" cy="26479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Nobody touching the robot. Wheels up on a cart when testing on a bench.</a:t>
            </a:r>
          </a:p>
        </p:txBody>
      </p:sp>
      <p:sp>
        <p:nvSpPr>
          <p:cNvPr id="13" name="Rounded Rectangle 12"/>
          <p:cNvSpPr/>
          <p:nvPr/>
        </p:nvSpPr>
        <p:spPr>
          <a:xfrm>
            <a:off x="9296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keyboard.png"/>
          <p:cNvPicPr>
            <a:picLocks noChangeAspect="1"/>
          </p:cNvPicPr>
          <p:nvPr/>
        </p:nvPicPr>
        <p:blipFill>
          <a:blip r:embed="rId5"/>
          <a:stretch>
            <a:fillRect/>
          </a:stretch>
        </p:blipFill>
        <p:spPr>
          <a:xfrm>
            <a:off x="9677400" y="3238500"/>
            <a:ext cx="1083733" cy="609600"/>
          </a:xfrm>
          <a:prstGeom prst="rect">
            <a:avLst/>
          </a:prstGeom>
        </p:spPr>
      </p:pic>
      <p:sp>
        <p:nvSpPr>
          <p:cNvPr id="15" name="TextBox 14"/>
          <p:cNvSpPr txBox="1"/>
          <p:nvPr/>
        </p:nvSpPr>
        <p:spPr>
          <a:xfrm>
            <a:off x="9677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Know the stops</a:t>
            </a:r>
          </a:p>
        </p:txBody>
      </p:sp>
      <p:sp>
        <p:nvSpPr>
          <p:cNvPr id="16" name="TextBox 15"/>
          <p:cNvSpPr txBox="1"/>
          <p:nvPr/>
        </p:nvSpPr>
        <p:spPr>
          <a:xfrm>
            <a:off x="9677400" y="4676775"/>
            <a:ext cx="3124200" cy="26479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Enter disables. Space is an emergency stop, then the robot needs a reboot.</a:t>
            </a:r>
          </a:p>
        </p:txBody>
      </p:sp>
      <p:sp>
        <p:nvSpPr>
          <p:cNvPr id="17" name="Rounded Rectangle 16"/>
          <p:cNvSpPr/>
          <p:nvPr/>
        </p:nvSpPr>
        <p:spPr>
          <a:xfrm>
            <a:off x="13487400" y="2857500"/>
            <a:ext cx="3886200" cy="447675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ghtbulb.png"/>
          <p:cNvPicPr>
            <a:picLocks noChangeAspect="1"/>
          </p:cNvPicPr>
          <p:nvPr/>
        </p:nvPicPr>
        <p:blipFill>
          <a:blip r:embed="rId6"/>
          <a:stretch>
            <a:fillRect/>
          </a:stretch>
        </p:blipFill>
        <p:spPr>
          <a:xfrm>
            <a:off x="13868400" y="3238500"/>
            <a:ext cx="457200" cy="609600"/>
          </a:xfrm>
          <a:prstGeom prst="rect">
            <a:avLst/>
          </a:prstGeom>
        </p:spPr>
      </p:pic>
      <p:sp>
        <p:nvSpPr>
          <p:cNvPr id="19" name="TextBox 18"/>
          <p:cNvSpPr txBox="1"/>
          <p:nvPr/>
        </p:nvSpPr>
        <p:spPr>
          <a:xfrm>
            <a:off x="13868400" y="41148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Watch the light</a:t>
            </a:r>
          </a:p>
        </p:txBody>
      </p:sp>
      <p:sp>
        <p:nvSpPr>
          <p:cNvPr id="20" name="TextBox 19"/>
          <p:cNvSpPr txBox="1"/>
          <p:nvPr/>
        </p:nvSpPr>
        <p:spPr>
          <a:xfrm>
            <a:off x="13868400" y="4676775"/>
            <a:ext cx="3124200" cy="26479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 robot signal light is solid when on and flashing when enabled.</a:t>
            </a:r>
          </a:p>
        </p:txBody>
      </p:sp>
      <p:pic>
        <p:nvPicPr>
          <p:cNvPr id="21" name="Picture 20" descr="dozer_wide_left.png"/>
          <p:cNvPicPr>
            <a:picLocks noChangeAspect="1"/>
          </p:cNvPicPr>
          <p:nvPr/>
        </p:nvPicPr>
        <p:blipFill>
          <a:blip r:embed="rId7"/>
          <a:stretch>
            <a:fillRect/>
          </a:stretch>
        </p:blipFill>
        <p:spPr>
          <a:xfrm>
            <a:off x="14859000" y="7524750"/>
            <a:ext cx="2381250" cy="1463620"/>
          </a:xfrm>
          <a:prstGeom prst="rect">
            <a:avLst/>
          </a:prstGeom>
        </p:spPr>
      </p:pic>
      <p:sp>
        <p:nvSpPr>
          <p:cNvPr id="22" name="TextBox 21"/>
          <p:cNvSpPr txBox="1"/>
          <p:nvPr/>
        </p:nvSpPr>
        <p:spPr>
          <a:xfrm>
            <a:off x="914400" y="7905750"/>
            <a:ext cx="13335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If you're not sure the robot is safe to enable, it isn't.</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 modes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4015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724400" y="2857500"/>
            <a:ext cx="4210050" cy="6096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Init</a:t>
            </a:r>
          </a:p>
        </p:txBody>
      </p:sp>
      <p:sp>
        <p:nvSpPr>
          <p:cNvPr id="7" name="TextBox 6"/>
          <p:cNvSpPr txBox="1"/>
          <p:nvPr/>
        </p:nvSpPr>
        <p:spPr>
          <a:xfrm>
            <a:off x="8934450" y="2857500"/>
            <a:ext cx="4210050" cy="6096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Periodic</a:t>
            </a:r>
          </a:p>
        </p:txBody>
      </p:sp>
      <p:sp>
        <p:nvSpPr>
          <p:cNvPr id="8" name="TextBox 7"/>
          <p:cNvSpPr txBox="1"/>
          <p:nvPr/>
        </p:nvSpPr>
        <p:spPr>
          <a:xfrm>
            <a:off x="13144500" y="2857500"/>
            <a:ext cx="4210050" cy="609600"/>
          </a:xfrm>
          <a:prstGeom prst="rect">
            <a:avLst/>
          </a:prstGeom>
          <a:noFill/>
        </p:spPr>
        <p:txBody>
          <a:bodyPr wrap="square" lIns="0" rIns="0" tIns="0" bIns="0" anchor="ctr">
            <a:spAutoFit/>
          </a:bodyPr>
          <a:lstStyle/>
          <a:p>
            <a:pPr algn="ctr"/>
            <a:r>
              <a:rPr sz="1950" b="1" i="0">
                <a:solidFill>
                  <a:srgbClr val="F0E8E8"/>
                </a:solidFill>
                <a:latin typeface="Geist"/>
                <a:ea typeface="Geist"/>
                <a:cs typeface="Geist"/>
              </a:rPr>
              <a:t>Exit</a:t>
            </a:r>
          </a:p>
        </p:txBody>
      </p:sp>
      <p:sp>
        <p:nvSpPr>
          <p:cNvPr id="9" name="TextBox 8"/>
          <p:cNvSpPr txBox="1"/>
          <p:nvPr/>
        </p:nvSpPr>
        <p:spPr>
          <a:xfrm>
            <a:off x="1200150" y="2857500"/>
            <a:ext cx="38100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Mode</a:t>
            </a:r>
          </a:p>
        </p:txBody>
      </p:sp>
      <p:sp>
        <p:nvSpPr>
          <p:cNvPr id="10" name="Rectangle 9"/>
          <p:cNvSpPr/>
          <p:nvPr/>
        </p:nvSpPr>
        <p:spPr>
          <a:xfrm>
            <a:off x="904875" y="45243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00150" y="36385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a:t>
            </a:r>
          </a:p>
        </p:txBody>
      </p:sp>
      <p:sp>
        <p:nvSpPr>
          <p:cNvPr id="12" name="TextBox 11"/>
          <p:cNvSpPr txBox="1"/>
          <p:nvPr/>
        </p:nvSpPr>
        <p:spPr>
          <a:xfrm>
            <a:off x="1200150" y="40576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Always</a:t>
            </a:r>
          </a:p>
        </p:txBody>
      </p:sp>
      <p:sp>
        <p:nvSpPr>
          <p:cNvPr id="13" name="TextBox 12"/>
          <p:cNvSpPr txBox="1"/>
          <p:nvPr/>
        </p:nvSpPr>
        <p:spPr>
          <a:xfrm>
            <a:off x="4724400" y="35814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robotInit()</a:t>
            </a:r>
          </a:p>
        </p:txBody>
      </p:sp>
      <p:sp>
        <p:nvSpPr>
          <p:cNvPr id="14" name="TextBox 13"/>
          <p:cNvSpPr txBox="1"/>
          <p:nvPr/>
        </p:nvSpPr>
        <p:spPr>
          <a:xfrm>
            <a:off x="8934450" y="3581400"/>
            <a:ext cx="4210050" cy="895350"/>
          </a:xfrm>
          <a:prstGeom prst="rect">
            <a:avLst/>
          </a:prstGeom>
          <a:noFill/>
        </p:spPr>
        <p:txBody>
          <a:bodyPr wrap="square" lIns="0" rIns="0" tIns="0" bIns="0" anchor="ctr">
            <a:spAutoFit/>
          </a:bodyPr>
          <a:lstStyle/>
          <a:p>
            <a:pPr algn="ctr"/>
            <a:r>
              <a:rPr sz="1875" b="0" i="0">
                <a:solidFill>
                  <a:srgbClr val="F0E8E8"/>
                </a:solidFill>
                <a:latin typeface="Geist Mono"/>
                <a:ea typeface="Geist Mono"/>
                <a:cs typeface="Geist Mono"/>
              </a:rPr>
              <a:t>robotPeriodic()</a:t>
            </a:r>
          </a:p>
        </p:txBody>
      </p:sp>
      <p:sp>
        <p:nvSpPr>
          <p:cNvPr id="15" name="Rectangle 14"/>
          <p:cNvSpPr/>
          <p:nvPr/>
        </p:nvSpPr>
        <p:spPr>
          <a:xfrm>
            <a:off x="904875" y="55149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00150" y="46291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Disabled</a:t>
            </a:r>
          </a:p>
        </p:txBody>
      </p:sp>
      <p:sp>
        <p:nvSpPr>
          <p:cNvPr id="17" name="TextBox 16"/>
          <p:cNvSpPr txBox="1"/>
          <p:nvPr/>
        </p:nvSpPr>
        <p:spPr>
          <a:xfrm>
            <a:off x="1200150" y="50482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Nothing moves</a:t>
            </a:r>
          </a:p>
        </p:txBody>
      </p:sp>
      <p:sp>
        <p:nvSpPr>
          <p:cNvPr id="18" name="TextBox 17"/>
          <p:cNvSpPr txBox="1"/>
          <p:nvPr/>
        </p:nvSpPr>
        <p:spPr>
          <a:xfrm>
            <a:off x="4724400" y="45720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disabledInit()</a:t>
            </a:r>
          </a:p>
        </p:txBody>
      </p:sp>
      <p:sp>
        <p:nvSpPr>
          <p:cNvPr id="19" name="TextBox 18"/>
          <p:cNvSpPr txBox="1"/>
          <p:nvPr/>
        </p:nvSpPr>
        <p:spPr>
          <a:xfrm>
            <a:off x="8934450" y="4572000"/>
            <a:ext cx="4210050" cy="895350"/>
          </a:xfrm>
          <a:prstGeom prst="rect">
            <a:avLst/>
          </a:prstGeom>
          <a:noFill/>
        </p:spPr>
        <p:txBody>
          <a:bodyPr wrap="square" lIns="0" rIns="0" tIns="0" bIns="0" anchor="ctr">
            <a:spAutoFit/>
          </a:bodyPr>
          <a:lstStyle/>
          <a:p>
            <a:pPr algn="ctr"/>
            <a:r>
              <a:rPr sz="1875" b="0" i="0">
                <a:solidFill>
                  <a:srgbClr val="F0E8E8"/>
                </a:solidFill>
                <a:latin typeface="Geist Mono"/>
                <a:ea typeface="Geist Mono"/>
                <a:cs typeface="Geist Mono"/>
              </a:rPr>
              <a:t>disabledPeriodic()</a:t>
            </a:r>
          </a:p>
        </p:txBody>
      </p:sp>
      <p:sp>
        <p:nvSpPr>
          <p:cNvPr id="20" name="TextBox 19"/>
          <p:cNvSpPr txBox="1"/>
          <p:nvPr/>
        </p:nvSpPr>
        <p:spPr>
          <a:xfrm>
            <a:off x="13144500" y="45720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disabledExit()</a:t>
            </a:r>
          </a:p>
        </p:txBody>
      </p:sp>
      <p:sp>
        <p:nvSpPr>
          <p:cNvPr id="21" name="Rectangle 20"/>
          <p:cNvSpPr/>
          <p:nvPr/>
        </p:nvSpPr>
        <p:spPr>
          <a:xfrm>
            <a:off x="904875" y="65055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00150" y="56197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Autonomous</a:t>
            </a:r>
          </a:p>
        </p:txBody>
      </p:sp>
      <p:sp>
        <p:nvSpPr>
          <p:cNvPr id="23" name="TextBox 22"/>
          <p:cNvSpPr txBox="1"/>
          <p:nvPr/>
        </p:nvSpPr>
        <p:spPr>
          <a:xfrm>
            <a:off x="1200150" y="60388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Robot drives itself</a:t>
            </a:r>
          </a:p>
        </p:txBody>
      </p:sp>
      <p:sp>
        <p:nvSpPr>
          <p:cNvPr id="24" name="TextBox 23"/>
          <p:cNvSpPr txBox="1"/>
          <p:nvPr/>
        </p:nvSpPr>
        <p:spPr>
          <a:xfrm>
            <a:off x="4724400" y="55626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autonomousInit()</a:t>
            </a:r>
          </a:p>
        </p:txBody>
      </p:sp>
      <p:sp>
        <p:nvSpPr>
          <p:cNvPr id="25" name="TextBox 24"/>
          <p:cNvSpPr txBox="1"/>
          <p:nvPr/>
        </p:nvSpPr>
        <p:spPr>
          <a:xfrm>
            <a:off x="8934450" y="5562600"/>
            <a:ext cx="4210050" cy="895350"/>
          </a:xfrm>
          <a:prstGeom prst="rect">
            <a:avLst/>
          </a:prstGeom>
          <a:noFill/>
        </p:spPr>
        <p:txBody>
          <a:bodyPr wrap="square" lIns="0" rIns="0" tIns="0" bIns="0" anchor="ctr">
            <a:spAutoFit/>
          </a:bodyPr>
          <a:lstStyle/>
          <a:p>
            <a:pPr algn="ctr"/>
            <a:r>
              <a:rPr sz="1875" b="0" i="0">
                <a:solidFill>
                  <a:srgbClr val="F0E8E8"/>
                </a:solidFill>
                <a:latin typeface="Geist Mono"/>
                <a:ea typeface="Geist Mono"/>
                <a:cs typeface="Geist Mono"/>
              </a:rPr>
              <a:t>autonomousPeriodic()</a:t>
            </a:r>
          </a:p>
        </p:txBody>
      </p:sp>
      <p:sp>
        <p:nvSpPr>
          <p:cNvPr id="26" name="TextBox 25"/>
          <p:cNvSpPr txBox="1"/>
          <p:nvPr/>
        </p:nvSpPr>
        <p:spPr>
          <a:xfrm>
            <a:off x="13144500" y="55626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autonomousExit()</a:t>
            </a:r>
          </a:p>
        </p:txBody>
      </p:sp>
      <p:sp>
        <p:nvSpPr>
          <p:cNvPr id="27" name="Rectangle 26"/>
          <p:cNvSpPr/>
          <p:nvPr/>
        </p:nvSpPr>
        <p:spPr>
          <a:xfrm>
            <a:off x="904875" y="74961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00150" y="66103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Teleop</a:t>
            </a:r>
          </a:p>
        </p:txBody>
      </p:sp>
      <p:sp>
        <p:nvSpPr>
          <p:cNvPr id="29" name="TextBox 28"/>
          <p:cNvSpPr txBox="1"/>
          <p:nvPr/>
        </p:nvSpPr>
        <p:spPr>
          <a:xfrm>
            <a:off x="1200150" y="70294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Drivers control it</a:t>
            </a:r>
          </a:p>
        </p:txBody>
      </p:sp>
      <p:sp>
        <p:nvSpPr>
          <p:cNvPr id="30" name="TextBox 29"/>
          <p:cNvSpPr txBox="1"/>
          <p:nvPr/>
        </p:nvSpPr>
        <p:spPr>
          <a:xfrm>
            <a:off x="4724400" y="65532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teleopInit()</a:t>
            </a:r>
          </a:p>
        </p:txBody>
      </p:sp>
      <p:sp>
        <p:nvSpPr>
          <p:cNvPr id="31" name="Rounded Rectangle 30"/>
          <p:cNvSpPr/>
          <p:nvPr/>
        </p:nvSpPr>
        <p:spPr>
          <a:xfrm>
            <a:off x="9048750" y="6648450"/>
            <a:ext cx="3981450" cy="704850"/>
          </a:xfrm>
          <a:prstGeom prst="roundRect">
            <a:avLst>
              <a:gd name="adj" fmla="val 1621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8934450" y="6553200"/>
            <a:ext cx="4210050" cy="895350"/>
          </a:xfrm>
          <a:prstGeom prst="rect">
            <a:avLst/>
          </a:prstGeom>
          <a:noFill/>
        </p:spPr>
        <p:txBody>
          <a:bodyPr wrap="square" lIns="0" rIns="0" tIns="0" bIns="0" anchor="ctr">
            <a:spAutoFit/>
          </a:bodyPr>
          <a:lstStyle/>
          <a:p>
            <a:pPr algn="ctr"/>
            <a:r>
              <a:rPr sz="1875" b="1" i="0">
                <a:solidFill>
                  <a:srgbClr val="D5000E"/>
                </a:solidFill>
                <a:latin typeface="Geist Mono"/>
                <a:ea typeface="Geist Mono"/>
                <a:cs typeface="Geist Mono"/>
              </a:rPr>
              <a:t>teleopPeriodic()</a:t>
            </a:r>
          </a:p>
        </p:txBody>
      </p:sp>
      <p:sp>
        <p:nvSpPr>
          <p:cNvPr id="33" name="TextBox 32"/>
          <p:cNvSpPr txBox="1"/>
          <p:nvPr/>
        </p:nvSpPr>
        <p:spPr>
          <a:xfrm>
            <a:off x="13144500" y="65532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teleopExit()</a:t>
            </a:r>
          </a:p>
        </p:txBody>
      </p:sp>
      <p:sp>
        <p:nvSpPr>
          <p:cNvPr id="34" name="Rectangle 33"/>
          <p:cNvSpPr/>
          <p:nvPr/>
        </p:nvSpPr>
        <p:spPr>
          <a:xfrm>
            <a:off x="904875" y="8486775"/>
            <a:ext cx="1645920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200150" y="7600950"/>
            <a:ext cx="3429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Test</a:t>
            </a:r>
          </a:p>
        </p:txBody>
      </p:sp>
      <p:sp>
        <p:nvSpPr>
          <p:cNvPr id="36" name="TextBox 35"/>
          <p:cNvSpPr txBox="1"/>
          <p:nvPr/>
        </p:nvSpPr>
        <p:spPr>
          <a:xfrm>
            <a:off x="1200150" y="8020050"/>
            <a:ext cx="34290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Checking mechanisms</a:t>
            </a:r>
          </a:p>
        </p:txBody>
      </p:sp>
      <p:sp>
        <p:nvSpPr>
          <p:cNvPr id="37" name="TextBox 36"/>
          <p:cNvSpPr txBox="1"/>
          <p:nvPr/>
        </p:nvSpPr>
        <p:spPr>
          <a:xfrm>
            <a:off x="4724400" y="75438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testInit()</a:t>
            </a:r>
          </a:p>
        </p:txBody>
      </p:sp>
      <p:sp>
        <p:nvSpPr>
          <p:cNvPr id="38" name="TextBox 37"/>
          <p:cNvSpPr txBox="1"/>
          <p:nvPr/>
        </p:nvSpPr>
        <p:spPr>
          <a:xfrm>
            <a:off x="8934450" y="7543800"/>
            <a:ext cx="4210050" cy="895350"/>
          </a:xfrm>
          <a:prstGeom prst="rect">
            <a:avLst/>
          </a:prstGeom>
          <a:noFill/>
        </p:spPr>
        <p:txBody>
          <a:bodyPr wrap="square" lIns="0" rIns="0" tIns="0" bIns="0" anchor="ctr">
            <a:spAutoFit/>
          </a:bodyPr>
          <a:lstStyle/>
          <a:p>
            <a:pPr algn="ctr"/>
            <a:r>
              <a:rPr sz="1875" b="0" i="0">
                <a:solidFill>
                  <a:srgbClr val="F0E8E8"/>
                </a:solidFill>
                <a:latin typeface="Geist Mono"/>
                <a:ea typeface="Geist Mono"/>
                <a:cs typeface="Geist Mono"/>
              </a:rPr>
              <a:t>testPeriodic()</a:t>
            </a:r>
          </a:p>
        </p:txBody>
      </p:sp>
      <p:sp>
        <p:nvSpPr>
          <p:cNvPr id="39" name="TextBox 38"/>
          <p:cNvSpPr txBox="1"/>
          <p:nvPr/>
        </p:nvSpPr>
        <p:spPr>
          <a:xfrm>
            <a:off x="13144500" y="7543800"/>
            <a:ext cx="4210050" cy="895350"/>
          </a:xfrm>
          <a:prstGeom prst="rect">
            <a:avLst/>
          </a:prstGeom>
          <a:noFill/>
        </p:spPr>
        <p:txBody>
          <a:bodyPr wrap="square" lIns="0" rIns="0" tIns="0" bIns="0" anchor="ctr">
            <a:spAutoFit/>
          </a:bodyPr>
          <a:lstStyle/>
          <a:p>
            <a:pPr algn="ctr"/>
            <a:r>
              <a:rPr sz="1875" b="0" i="0">
                <a:solidFill>
                  <a:srgbClr val="9A7878"/>
                </a:solidFill>
                <a:latin typeface="Geist Mono"/>
                <a:ea typeface="Geist Mono"/>
                <a:cs typeface="Geist Mono"/>
              </a:rPr>
              <a:t>testExit()</a:t>
            </a:r>
          </a:p>
        </p:txBody>
      </p:sp>
      <p:sp>
        <p:nvSpPr>
          <p:cNvPr id="40" name="TextBox 39"/>
          <p:cNvSpPr txBox="1"/>
          <p:nvPr/>
        </p:nvSpPr>
        <p:spPr>
          <a:xfrm>
            <a:off x="914400" y="8763000"/>
            <a:ext cx="164592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Your drive code goes in </a:t>
            </a:r>
            <a:r>
              <a:rPr sz="1950" b="1" i="0">
                <a:solidFill>
                  <a:srgbClr val="D5000E"/>
                </a:solidFill>
                <a:latin typeface="Geist Mono"/>
                <a:ea typeface="Geist Mono"/>
                <a:cs typeface="Geist Mono"/>
              </a:rPr>
              <a:t>teleopPeriodic()</a:t>
            </a:r>
            <a:r>
              <a:rPr sz="1950" b="0" i="0">
                <a:solidFill>
                  <a:srgbClr val="9A7878"/>
                </a:solidFill>
                <a:latin typeface="Geist"/>
                <a:ea typeface="Geist"/>
                <a:cs typeface="Geist"/>
              </a:rPr>
              <a:t>: it runs over and over while you drive.</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teleopPeriodic runs 50 times a second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952750"/>
            <a:ext cx="3556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333750"/>
            <a:ext cx="33655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Read</a:t>
            </a:r>
          </a:p>
        </p:txBody>
      </p:sp>
      <p:sp>
        <p:nvSpPr>
          <p:cNvPr id="7" name="TextBox 6"/>
          <p:cNvSpPr txBox="1"/>
          <p:nvPr/>
        </p:nvSpPr>
        <p:spPr>
          <a:xfrm>
            <a:off x="1066800" y="3924300"/>
            <a:ext cx="325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sticks</a:t>
            </a:r>
          </a:p>
        </p:txBody>
      </p:sp>
      <p:sp>
        <p:nvSpPr>
          <p:cNvPr id="8" name="Rectangle 7"/>
          <p:cNvSpPr/>
          <p:nvPr/>
        </p:nvSpPr>
        <p:spPr>
          <a:xfrm>
            <a:off x="4532312" y="3795712"/>
            <a:ext cx="596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5099050" y="3733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27650" y="2952750"/>
            <a:ext cx="3556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422900" y="3333750"/>
            <a:ext cx="33655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Compute</a:t>
            </a:r>
          </a:p>
        </p:txBody>
      </p:sp>
      <p:sp>
        <p:nvSpPr>
          <p:cNvPr id="12" name="TextBox 11"/>
          <p:cNvSpPr txBox="1"/>
          <p:nvPr/>
        </p:nvSpPr>
        <p:spPr>
          <a:xfrm>
            <a:off x="5480050" y="3924300"/>
            <a:ext cx="325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left and right speeds</a:t>
            </a:r>
          </a:p>
        </p:txBody>
      </p:sp>
      <p:sp>
        <p:nvSpPr>
          <p:cNvPr id="13" name="Rectangle 12"/>
          <p:cNvSpPr/>
          <p:nvPr/>
        </p:nvSpPr>
        <p:spPr>
          <a:xfrm>
            <a:off x="8945562" y="3795712"/>
            <a:ext cx="59626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9512300" y="3733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40900" y="2952750"/>
            <a:ext cx="3556000" cy="1714500"/>
          </a:xfrm>
          <a:prstGeom prst="roundRect">
            <a:avLst>
              <a:gd name="adj" fmla="val 888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836150" y="3333750"/>
            <a:ext cx="3365500" cy="533400"/>
          </a:xfrm>
          <a:prstGeom prst="rect">
            <a:avLst/>
          </a:prstGeom>
          <a:noFill/>
        </p:spPr>
        <p:txBody>
          <a:bodyPr wrap="square" lIns="0" rIns="0" tIns="0" bIns="0" anchor="t">
            <a:spAutoFit/>
          </a:bodyPr>
          <a:lstStyle/>
          <a:p>
            <a:pPr algn="ctr"/>
            <a:r>
              <a:rPr sz="2550" b="1" i="0">
                <a:solidFill>
                  <a:srgbClr val="F0E8E8"/>
                </a:solidFill>
                <a:latin typeface="Geist"/>
                <a:ea typeface="Geist"/>
                <a:cs typeface="Geist"/>
              </a:rPr>
              <a:t>Set</a:t>
            </a:r>
          </a:p>
        </p:txBody>
      </p:sp>
      <p:sp>
        <p:nvSpPr>
          <p:cNvPr id="17" name="TextBox 16"/>
          <p:cNvSpPr txBox="1"/>
          <p:nvPr/>
        </p:nvSpPr>
        <p:spPr>
          <a:xfrm>
            <a:off x="9893300" y="3924300"/>
            <a:ext cx="3251200" cy="571500"/>
          </a:xfrm>
          <a:prstGeom prst="rect">
            <a:avLst/>
          </a:prstGeom>
          <a:noFill/>
        </p:spPr>
        <p:txBody>
          <a:bodyPr wrap="square" lIns="0" rIns="0" tIns="0" bIns="0" anchor="t">
            <a:spAutoFit/>
          </a:bodyPr>
          <a:lstStyle/>
          <a:p>
            <a:pPr algn="ctr">
              <a:lnSpc>
                <a:spcPct val="120000"/>
              </a:lnSpc>
            </a:pPr>
            <a:r>
              <a:rPr sz="1650" b="0" i="0">
                <a:solidFill>
                  <a:srgbClr val="9A7878"/>
                </a:solidFill>
                <a:latin typeface="Geist"/>
                <a:ea typeface="Geist"/>
                <a:cs typeface="Geist"/>
              </a:rPr>
              <a:t>the motors</a:t>
            </a:r>
          </a:p>
        </p:txBody>
      </p:sp>
      <p:pic>
        <p:nvPicPr>
          <p:cNvPr id="18" name="Picture 17" descr="repeat.png"/>
          <p:cNvPicPr>
            <a:picLocks noChangeAspect="1"/>
          </p:cNvPicPr>
          <p:nvPr/>
        </p:nvPicPr>
        <p:blipFill>
          <a:blip r:embed="rId3"/>
          <a:stretch>
            <a:fillRect/>
          </a:stretch>
        </p:blipFill>
        <p:spPr>
          <a:xfrm>
            <a:off x="13906500" y="3429000"/>
            <a:ext cx="903111" cy="762000"/>
          </a:xfrm>
          <a:prstGeom prst="rect">
            <a:avLst/>
          </a:prstGeom>
        </p:spPr>
      </p:pic>
      <p:sp>
        <p:nvSpPr>
          <p:cNvPr id="19" name="TextBox 18"/>
          <p:cNvSpPr txBox="1"/>
          <p:nvPr/>
        </p:nvSpPr>
        <p:spPr>
          <a:xfrm>
            <a:off x="14954250" y="3333750"/>
            <a:ext cx="2476500" cy="952500"/>
          </a:xfrm>
          <a:prstGeom prst="rect">
            <a:avLst/>
          </a:prstGeom>
          <a:noFill/>
        </p:spPr>
        <p:txBody>
          <a:bodyPr wrap="square" lIns="0" rIns="0" tIns="0" bIns="0" anchor="ctr">
            <a:spAutoFit/>
          </a:bodyPr>
          <a:lstStyle/>
          <a:p>
            <a:pPr algn="l"/>
            <a:r>
              <a:rPr sz="2400" b="1" i="0">
                <a:solidFill>
                  <a:srgbClr val="D5000E"/>
                </a:solidFill>
                <a:latin typeface="Geist"/>
                <a:ea typeface="Geist"/>
                <a:cs typeface="Geist"/>
              </a:rPr>
              <a:t>every 20 ms</a:t>
            </a:r>
          </a:p>
        </p:txBody>
      </p:sp>
      <p:sp>
        <p:nvSpPr>
          <p:cNvPr id="20" name="Rectangle 19"/>
          <p:cNvSpPr/>
          <p:nvPr/>
        </p:nvSpPr>
        <p:spPr>
          <a:xfrm>
            <a:off x="1466850" y="6457950"/>
            <a:ext cx="153543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1352550" y="6343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0 ms</a:t>
            </a:r>
          </a:p>
        </p:txBody>
      </p:sp>
      <p:sp>
        <p:nvSpPr>
          <p:cNvPr id="23" name="Rounded Rectangle 22"/>
          <p:cNvSpPr/>
          <p:nvPr/>
        </p:nvSpPr>
        <p:spPr>
          <a:xfrm>
            <a:off x="1657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657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25" name="Oval 24"/>
          <p:cNvSpPr/>
          <p:nvPr/>
        </p:nvSpPr>
        <p:spPr>
          <a:xfrm>
            <a:off x="3257550" y="6343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28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20 ms</a:t>
            </a:r>
          </a:p>
        </p:txBody>
      </p:sp>
      <p:sp>
        <p:nvSpPr>
          <p:cNvPr id="27" name="Rounded Rectangle 26"/>
          <p:cNvSpPr/>
          <p:nvPr/>
        </p:nvSpPr>
        <p:spPr>
          <a:xfrm>
            <a:off x="3562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62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29" name="Oval 28"/>
          <p:cNvSpPr/>
          <p:nvPr/>
        </p:nvSpPr>
        <p:spPr>
          <a:xfrm>
            <a:off x="5162550" y="6343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3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40 ms</a:t>
            </a:r>
          </a:p>
        </p:txBody>
      </p:sp>
      <p:sp>
        <p:nvSpPr>
          <p:cNvPr id="31" name="Rounded Rectangle 30"/>
          <p:cNvSpPr/>
          <p:nvPr/>
        </p:nvSpPr>
        <p:spPr>
          <a:xfrm>
            <a:off x="5467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467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33" name="Oval 32"/>
          <p:cNvSpPr/>
          <p:nvPr/>
        </p:nvSpPr>
        <p:spPr>
          <a:xfrm>
            <a:off x="7067550" y="6343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8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60 ms</a:t>
            </a:r>
          </a:p>
        </p:txBody>
      </p:sp>
      <p:sp>
        <p:nvSpPr>
          <p:cNvPr id="35" name="Rounded Rectangle 34"/>
          <p:cNvSpPr/>
          <p:nvPr/>
        </p:nvSpPr>
        <p:spPr>
          <a:xfrm>
            <a:off x="7372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372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37" name="Oval 36"/>
          <p:cNvSpPr/>
          <p:nvPr/>
        </p:nvSpPr>
        <p:spPr>
          <a:xfrm>
            <a:off x="8972550" y="6343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4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80 ms</a:t>
            </a:r>
          </a:p>
        </p:txBody>
      </p:sp>
      <p:sp>
        <p:nvSpPr>
          <p:cNvPr id="39" name="Rounded Rectangle 38"/>
          <p:cNvSpPr/>
          <p:nvPr/>
        </p:nvSpPr>
        <p:spPr>
          <a:xfrm>
            <a:off x="9277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77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41" name="Oval 40"/>
          <p:cNvSpPr/>
          <p:nvPr/>
        </p:nvSpPr>
        <p:spPr>
          <a:xfrm>
            <a:off x="10877550" y="6343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248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100 ms</a:t>
            </a:r>
          </a:p>
        </p:txBody>
      </p:sp>
      <p:sp>
        <p:nvSpPr>
          <p:cNvPr id="43" name="Rounded Rectangle 42"/>
          <p:cNvSpPr/>
          <p:nvPr/>
        </p:nvSpPr>
        <p:spPr>
          <a:xfrm>
            <a:off x="11182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1182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45" name="Oval 44"/>
          <p:cNvSpPr/>
          <p:nvPr/>
        </p:nvSpPr>
        <p:spPr>
          <a:xfrm>
            <a:off x="12782550" y="6343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15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120 ms</a:t>
            </a:r>
          </a:p>
        </p:txBody>
      </p:sp>
      <p:sp>
        <p:nvSpPr>
          <p:cNvPr id="47" name="Rounded Rectangle 46"/>
          <p:cNvSpPr/>
          <p:nvPr/>
        </p:nvSpPr>
        <p:spPr>
          <a:xfrm>
            <a:off x="13087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3087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49" name="Oval 48"/>
          <p:cNvSpPr/>
          <p:nvPr/>
        </p:nvSpPr>
        <p:spPr>
          <a:xfrm>
            <a:off x="14687550" y="6343650"/>
            <a:ext cx="266700" cy="2667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4058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140 ms</a:t>
            </a:r>
          </a:p>
        </p:txBody>
      </p:sp>
      <p:sp>
        <p:nvSpPr>
          <p:cNvPr id="51" name="Rounded Rectangle 50"/>
          <p:cNvSpPr/>
          <p:nvPr/>
        </p:nvSpPr>
        <p:spPr>
          <a:xfrm>
            <a:off x="14992350" y="5772150"/>
            <a:ext cx="1562100" cy="476250"/>
          </a:xfrm>
          <a:prstGeom prst="roundRect">
            <a:avLst>
              <a:gd name="adj" fmla="val 20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14992350" y="5772150"/>
            <a:ext cx="1562100" cy="476250"/>
          </a:xfrm>
          <a:prstGeom prst="rect">
            <a:avLst/>
          </a:prstGeom>
          <a:noFill/>
        </p:spPr>
        <p:txBody>
          <a:bodyPr wrap="square" lIns="0" rIns="0" tIns="0" bIns="0" anchor="ctr">
            <a:spAutoFit/>
          </a:bodyPr>
          <a:lstStyle/>
          <a:p>
            <a:pPr algn="ctr"/>
            <a:r>
              <a:rPr sz="1650" b="0" i="0">
                <a:solidFill>
                  <a:srgbClr val="F0E8E8"/>
                </a:solidFill>
                <a:latin typeface="Geist"/>
                <a:ea typeface="Geist"/>
                <a:cs typeface="Geist"/>
              </a:rPr>
              <a:t>run</a:t>
            </a:r>
          </a:p>
        </p:txBody>
      </p:sp>
      <p:sp>
        <p:nvSpPr>
          <p:cNvPr id="53" name="Oval 52"/>
          <p:cNvSpPr/>
          <p:nvPr/>
        </p:nvSpPr>
        <p:spPr>
          <a:xfrm>
            <a:off x="16592550" y="6343650"/>
            <a:ext cx="266700" cy="2667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5963900" y="6762750"/>
            <a:ext cx="1524000" cy="323850"/>
          </a:xfrm>
          <a:prstGeom prst="rect">
            <a:avLst/>
          </a:prstGeom>
          <a:noFill/>
        </p:spPr>
        <p:txBody>
          <a:bodyPr wrap="square" lIns="0" rIns="0" tIns="0" bIns="0" anchor="t">
            <a:spAutoFit/>
          </a:bodyPr>
          <a:lstStyle/>
          <a:p>
            <a:pPr algn="ctr"/>
            <a:r>
              <a:rPr sz="1650" b="0" i="0">
                <a:solidFill>
                  <a:srgbClr val="9A7878"/>
                </a:solidFill>
                <a:latin typeface="Geist Mono"/>
                <a:ea typeface="Geist Mono"/>
                <a:cs typeface="Geist Mono"/>
              </a:rPr>
              <a:t>160 ms</a:t>
            </a:r>
          </a:p>
        </p:txBody>
      </p:sp>
      <p:sp>
        <p:nvSpPr>
          <p:cNvPr id="55" name="Rounded Rectangle 54"/>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6" name="Picture 55" descr="stopwatch.png"/>
          <p:cNvPicPr>
            <a:picLocks noChangeAspect="1"/>
          </p:cNvPicPr>
          <p:nvPr/>
        </p:nvPicPr>
        <p:blipFill>
          <a:blip r:embed="rId4"/>
          <a:stretch>
            <a:fillRect/>
          </a:stretch>
        </p:blipFill>
        <p:spPr>
          <a:xfrm>
            <a:off x="1333500" y="8067675"/>
            <a:ext cx="481781" cy="533400"/>
          </a:xfrm>
          <a:prstGeom prst="rect">
            <a:avLst/>
          </a:prstGeom>
        </p:spPr>
      </p:pic>
      <p:sp>
        <p:nvSpPr>
          <p:cNvPr id="57" name="TextBox 56"/>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Keep it quick.  </a:t>
            </a:r>
            <a:r>
              <a:rPr sz="2100" b="0" i="0">
                <a:solidFill>
                  <a:srgbClr val="F0E8E8"/>
                </a:solidFill>
                <a:latin typeface="Geist"/>
                <a:ea typeface="Geist"/>
                <a:cs typeface="Geist"/>
              </a:rPr>
              <a:t>No long loops or waits inside: the next run can't start until this one ends.</a:t>
            </a:r>
          </a:p>
        </p:txBody>
      </p:sp>
      <p:sp>
        <p:nvSpPr>
          <p:cNvPr id="58" name="TextBox 5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9" name="TextBox 5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DRIVER STATION AND MODES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Driving in training</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7696200" cy="3352800"/>
          </a:xfrm>
          <a:prstGeom prst="roundRect">
            <a:avLst>
              <a:gd name="adj" fmla="val 454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criptum-ds.png"/>
          <p:cNvPicPr>
            <a:picLocks noChangeAspect="1"/>
          </p:cNvPicPr>
          <p:nvPr/>
        </p:nvPicPr>
        <p:blipFill>
          <a:blip r:embed="rId3"/>
          <a:stretch>
            <a:fillRect/>
          </a:stretch>
        </p:blipFill>
        <p:spPr>
          <a:xfrm>
            <a:off x="1143000" y="3086100"/>
            <a:ext cx="7239000" cy="2895600"/>
          </a:xfrm>
          <a:prstGeom prst="rect">
            <a:avLst/>
          </a:prstGeom>
        </p:spPr>
      </p:pic>
      <p:sp>
        <p:nvSpPr>
          <p:cNvPr id="7" name="Oval 6"/>
          <p:cNvSpPr/>
          <p:nvPr/>
        </p:nvSpPr>
        <p:spPr>
          <a:xfrm>
            <a:off x="914400" y="64770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4770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9" name="TextBox 8"/>
          <p:cNvSpPr txBox="1"/>
          <p:nvPr/>
        </p:nvSpPr>
        <p:spPr>
          <a:xfrm>
            <a:off x="1581150" y="6477000"/>
            <a:ext cx="7239000" cy="4572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Start builds and runs your code</a:t>
            </a:r>
          </a:p>
        </p:txBody>
      </p:sp>
      <p:sp>
        <p:nvSpPr>
          <p:cNvPr id="10" name="Oval 9"/>
          <p:cNvSpPr/>
          <p:nvPr/>
        </p:nvSpPr>
        <p:spPr>
          <a:xfrm>
            <a:off x="914400" y="72009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72009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2" name="TextBox 11"/>
          <p:cNvSpPr txBox="1"/>
          <p:nvPr/>
        </p:nvSpPr>
        <p:spPr>
          <a:xfrm>
            <a:off x="1581150" y="7200900"/>
            <a:ext cx="7239000" cy="4572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Pick Teleop</a:t>
            </a:r>
          </a:p>
        </p:txBody>
      </p:sp>
      <p:sp>
        <p:nvSpPr>
          <p:cNvPr id="13" name="Oval 12"/>
          <p:cNvSpPr/>
          <p:nvPr/>
        </p:nvSpPr>
        <p:spPr>
          <a:xfrm>
            <a:off x="914400" y="7924800"/>
            <a:ext cx="457200" cy="4572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7924800"/>
            <a:ext cx="457200" cy="4572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15" name="TextBox 14"/>
          <p:cNvSpPr txBox="1"/>
          <p:nvPr/>
        </p:nvSpPr>
        <p:spPr>
          <a:xfrm>
            <a:off x="1581150" y="7924800"/>
            <a:ext cx="7239000" cy="457200"/>
          </a:xfrm>
          <a:prstGeom prst="rect">
            <a:avLst/>
          </a:prstGeom>
          <a:noFill/>
        </p:spPr>
        <p:txBody>
          <a:bodyPr wrap="square" lIns="0" rIns="0" tIns="0" bIns="0" anchor="ctr">
            <a:spAutoFit/>
          </a:bodyPr>
          <a:lstStyle/>
          <a:p>
            <a:pPr algn="l"/>
            <a:r>
              <a:rPr sz="2250" b="0" i="0">
                <a:solidFill>
                  <a:srgbClr val="F0E8E8"/>
                </a:solidFill>
                <a:latin typeface="Geist"/>
                <a:ea typeface="Geist"/>
                <a:cs typeface="Geist"/>
              </a:rPr>
              <a:t>Enable</a:t>
            </a:r>
          </a:p>
        </p:txBody>
      </p:sp>
      <p:sp>
        <p:nvSpPr>
          <p:cNvPr id="16" name="Rounded Rectangle 15"/>
          <p:cNvSpPr/>
          <p:nvPr/>
        </p:nvSpPr>
        <p:spPr>
          <a:xfrm>
            <a:off x="9334500" y="2857500"/>
            <a:ext cx="80391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715500" y="3200400"/>
            <a:ext cx="723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NO GAMEPAD? USE THE KEYBOARD</a:t>
            </a:r>
          </a:p>
        </p:txBody>
      </p:sp>
      <p:sp>
        <p:nvSpPr>
          <p:cNvPr id="18" name="Rounded Rectangle 17"/>
          <p:cNvSpPr/>
          <p:nvPr/>
        </p:nvSpPr>
        <p:spPr>
          <a:xfrm>
            <a:off x="9715500" y="3810000"/>
            <a:ext cx="17145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715500" y="3810000"/>
            <a:ext cx="1714500" cy="104775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W  S</a:t>
            </a:r>
          </a:p>
        </p:txBody>
      </p:sp>
      <p:sp>
        <p:nvSpPr>
          <p:cNvPr id="20" name="TextBox 19"/>
          <p:cNvSpPr txBox="1"/>
          <p:nvPr/>
        </p:nvSpPr>
        <p:spPr>
          <a:xfrm>
            <a:off x="11715750" y="3905250"/>
            <a:ext cx="53340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Left stick up / down</a:t>
            </a:r>
          </a:p>
        </p:txBody>
      </p:sp>
      <p:sp>
        <p:nvSpPr>
          <p:cNvPr id="21" name="TextBox 20"/>
          <p:cNvSpPr txBox="1"/>
          <p:nvPr/>
        </p:nvSpPr>
        <p:spPr>
          <a:xfrm>
            <a:off x="11715750" y="4381500"/>
            <a:ext cx="53340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getLeftY()</a:t>
            </a:r>
          </a:p>
        </p:txBody>
      </p:sp>
      <p:sp>
        <p:nvSpPr>
          <p:cNvPr id="22" name="Rounded Rectangle 21"/>
          <p:cNvSpPr/>
          <p:nvPr/>
        </p:nvSpPr>
        <p:spPr>
          <a:xfrm>
            <a:off x="9715500" y="5238750"/>
            <a:ext cx="17145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15500" y="5238750"/>
            <a:ext cx="1714500" cy="104775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A  D</a:t>
            </a:r>
          </a:p>
        </p:txBody>
      </p:sp>
      <p:sp>
        <p:nvSpPr>
          <p:cNvPr id="24" name="TextBox 23"/>
          <p:cNvSpPr txBox="1"/>
          <p:nvPr/>
        </p:nvSpPr>
        <p:spPr>
          <a:xfrm>
            <a:off x="11715750" y="5334000"/>
            <a:ext cx="53340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Left stick left / right</a:t>
            </a:r>
          </a:p>
        </p:txBody>
      </p:sp>
      <p:sp>
        <p:nvSpPr>
          <p:cNvPr id="25" name="TextBox 24"/>
          <p:cNvSpPr txBox="1"/>
          <p:nvPr/>
        </p:nvSpPr>
        <p:spPr>
          <a:xfrm>
            <a:off x="11715750" y="5810250"/>
            <a:ext cx="53340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getLeftX()</a:t>
            </a:r>
          </a:p>
        </p:txBody>
      </p:sp>
      <p:sp>
        <p:nvSpPr>
          <p:cNvPr id="26" name="Rounded Rectangle 25"/>
          <p:cNvSpPr/>
          <p:nvPr/>
        </p:nvSpPr>
        <p:spPr>
          <a:xfrm>
            <a:off x="9715500" y="6667500"/>
            <a:ext cx="1714500" cy="1047750"/>
          </a:xfrm>
          <a:prstGeom prst="roundRect">
            <a:avLst>
              <a:gd name="adj" fmla="val 10909"/>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715500" y="6667500"/>
            <a:ext cx="1714500" cy="104775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  ↓</a:t>
            </a:r>
          </a:p>
        </p:txBody>
      </p:sp>
      <p:sp>
        <p:nvSpPr>
          <p:cNvPr id="28" name="TextBox 27"/>
          <p:cNvSpPr txBox="1"/>
          <p:nvPr/>
        </p:nvSpPr>
        <p:spPr>
          <a:xfrm>
            <a:off x="11715750" y="6762750"/>
            <a:ext cx="53340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Right stick up / down</a:t>
            </a:r>
          </a:p>
        </p:txBody>
      </p:sp>
      <p:sp>
        <p:nvSpPr>
          <p:cNvPr id="29" name="TextBox 28"/>
          <p:cNvSpPr txBox="1"/>
          <p:nvPr/>
        </p:nvSpPr>
        <p:spPr>
          <a:xfrm>
            <a:off x="11715750" y="7239000"/>
            <a:ext cx="5334000" cy="381000"/>
          </a:xfrm>
          <a:prstGeom prst="rect">
            <a:avLst/>
          </a:prstGeom>
          <a:noFill/>
        </p:spPr>
        <p:txBody>
          <a:bodyPr wrap="square" lIns="0" rIns="0" tIns="0" bIns="0" anchor="t">
            <a:spAutoFit/>
          </a:bodyPr>
          <a:lstStyle/>
          <a:p>
            <a:pPr algn="l"/>
            <a:r>
              <a:rPr sz="1800" b="0" i="0">
                <a:solidFill>
                  <a:srgbClr val="E8C27A"/>
                </a:solidFill>
                <a:latin typeface="Geist Mono"/>
                <a:ea typeface="Geist Mono"/>
                <a:cs typeface="Geist Mono"/>
              </a:rPr>
              <a:t>getRightY()</a:t>
            </a:r>
          </a:p>
        </p:txBody>
      </p:sp>
      <p:sp>
        <p:nvSpPr>
          <p:cNvPr id="30" name="TextBox 29"/>
          <p:cNvSpPr txBox="1"/>
          <p:nvPr/>
        </p:nvSpPr>
        <p:spPr>
          <a:xfrm>
            <a:off x="9715500" y="8191500"/>
            <a:ext cx="723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On the real robot: an Xbox controller.</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Your first Java</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Just enough to write drive code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I do exactly what your code says. Even when it's wrong!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your code goes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43840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2857500"/>
            <a:ext cx="10096500" cy="4848225"/>
          </a:xfrm>
          <a:prstGeom prst="roundRect">
            <a:avLst>
              <a:gd name="adj" fmla="val 314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6210300"/>
            <a:ext cx="100584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6210300"/>
            <a:ext cx="57150" cy="3714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95400" y="3238500"/>
            <a:ext cx="95631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class</a:t>
            </a:r>
            <a:r>
              <a:rPr sz="1950" b="0" i="0">
                <a:solidFill>
                  <a:srgbClr val="F0E8E8"/>
                </a:solidFill>
                <a:latin typeface="Geist Mono"/>
                <a:ea typeface="Geist Mono"/>
                <a:cs typeface="Geist Mono"/>
              </a:rPr>
              <a:t> Robot </a:t>
            </a:r>
            <a:r>
              <a:rPr sz="1950" b="0" i="0">
                <a:solidFill>
                  <a:srgbClr val="E0785F"/>
                </a:solidFill>
                <a:latin typeface="Geist Mono"/>
                <a:ea typeface="Geist Mono"/>
                <a:cs typeface="Geist Mono"/>
              </a:rPr>
              <a:t>extends</a:t>
            </a:r>
            <a:r>
              <a:rPr sz="1950" b="0" i="0">
                <a:solidFill>
                  <a:srgbClr val="F0E8E8"/>
                </a:solidFill>
                <a:latin typeface="Geist Mono"/>
                <a:ea typeface="Geist Mono"/>
                <a:cs typeface="Geist Mono"/>
              </a:rPr>
              <a:t> LoggedRobot {</a:t>
            </a:r>
          </a:p>
        </p:txBody>
      </p:sp>
      <p:sp>
        <p:nvSpPr>
          <p:cNvPr id="10" name="TextBox 9"/>
          <p:cNvSpPr txBox="1"/>
          <p:nvPr/>
        </p:nvSpPr>
        <p:spPr>
          <a:xfrm>
            <a:off x="1295400" y="36099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XboxController controller_ =</a:t>
            </a:r>
          </a:p>
        </p:txBody>
      </p:sp>
      <p:sp>
        <p:nvSpPr>
          <p:cNvPr id="11" name="TextBox 10"/>
          <p:cNvSpPr txBox="1"/>
          <p:nvPr/>
        </p:nvSpPr>
        <p:spPr>
          <a:xfrm>
            <a:off x="1295400" y="39814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new</a:t>
            </a:r>
            <a:r>
              <a:rPr sz="1950" b="0" i="0">
                <a:solidFill>
                  <a:srgbClr val="F0E8E8"/>
                </a:solidFill>
                <a:latin typeface="Geist Mono"/>
                <a:ea typeface="Geist Mono"/>
                <a:cs typeface="Geist Mono"/>
              </a:rPr>
              <a:t> XboxController(</a:t>
            </a:r>
            <a:r>
              <a:rPr sz="1950" b="0" i="0">
                <a:solidFill>
                  <a:srgbClr val="E8C27A"/>
                </a:solidFill>
                <a:latin typeface="Geist Mono"/>
                <a:ea typeface="Geist Mono"/>
                <a:cs typeface="Geist Mono"/>
              </a:rPr>
              <a:t>0</a:t>
            </a:r>
            <a:r>
              <a:rPr sz="1950" b="0" i="0">
                <a:solidFill>
                  <a:srgbClr val="F0E8E8"/>
                </a:solidFill>
                <a:latin typeface="Geist Mono"/>
                <a:ea typeface="Geist Mono"/>
                <a:cs typeface="Geist Mono"/>
              </a:rPr>
              <a:t>);</a:t>
            </a:r>
          </a:p>
        </p:txBody>
      </p:sp>
      <p:sp>
        <p:nvSpPr>
          <p:cNvPr id="12" name="TextBox 11"/>
          <p:cNvSpPr txBox="1"/>
          <p:nvPr/>
        </p:nvSpPr>
        <p:spPr>
          <a:xfrm>
            <a:off x="1295400" y="43529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DifferentialDriveMech drive_ =</a:t>
            </a:r>
          </a:p>
        </p:txBody>
      </p:sp>
      <p:sp>
        <p:nvSpPr>
          <p:cNvPr id="13" name="TextBox 12"/>
          <p:cNvSpPr txBox="1"/>
          <p:nvPr/>
        </p:nvSpPr>
        <p:spPr>
          <a:xfrm>
            <a:off x="1295400" y="472440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new</a:t>
            </a:r>
            <a:r>
              <a:rPr sz="1950" b="0" i="0">
                <a:solidFill>
                  <a:srgbClr val="F0E8E8"/>
                </a:solidFill>
                <a:latin typeface="Geist Mono"/>
                <a:ea typeface="Geist Mono"/>
                <a:cs typeface="Geist Mono"/>
              </a:rPr>
              <a:t> DifferentialDriveMech(/* ... */);</a:t>
            </a:r>
          </a:p>
        </p:txBody>
      </p:sp>
      <p:sp>
        <p:nvSpPr>
          <p:cNvPr id="14" name="TextBox 13"/>
          <p:cNvSpPr txBox="1"/>
          <p:nvPr/>
        </p:nvSpPr>
        <p:spPr>
          <a:xfrm>
            <a:off x="1295400" y="50958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15" name="TextBox 14"/>
          <p:cNvSpPr txBox="1"/>
          <p:nvPr/>
        </p:nvSpPr>
        <p:spPr>
          <a:xfrm>
            <a:off x="1295400" y="54673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@Override</a:t>
            </a:r>
          </a:p>
        </p:txBody>
      </p:sp>
      <p:sp>
        <p:nvSpPr>
          <p:cNvPr id="16" name="TextBox 15"/>
          <p:cNvSpPr txBox="1"/>
          <p:nvPr/>
        </p:nvSpPr>
        <p:spPr>
          <a:xfrm>
            <a:off x="1295400" y="58388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teleopPeriodic() {</a:t>
            </a:r>
          </a:p>
        </p:txBody>
      </p:sp>
      <p:sp>
        <p:nvSpPr>
          <p:cNvPr id="17" name="TextBox 16"/>
          <p:cNvSpPr txBox="1"/>
          <p:nvPr/>
        </p:nvSpPr>
        <p:spPr>
          <a:xfrm>
            <a:off x="1295400" y="621030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1">
                <a:solidFill>
                  <a:srgbClr val="9A7878"/>
                </a:solidFill>
                <a:latin typeface="Geist Mono"/>
                <a:ea typeface="Geist Mono"/>
                <a:cs typeface="Geist Mono"/>
              </a:rPr>
              <a:t>// Your drive code goes here</a:t>
            </a:r>
          </a:p>
        </p:txBody>
      </p:sp>
      <p:sp>
        <p:nvSpPr>
          <p:cNvPr id="18" name="TextBox 17"/>
          <p:cNvSpPr txBox="1"/>
          <p:nvPr/>
        </p:nvSpPr>
        <p:spPr>
          <a:xfrm>
            <a:off x="1295400" y="65817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p>
        </p:txBody>
      </p:sp>
      <p:sp>
        <p:nvSpPr>
          <p:cNvPr id="19" name="TextBox 18"/>
          <p:cNvSpPr txBox="1"/>
          <p:nvPr/>
        </p:nvSpPr>
        <p:spPr>
          <a:xfrm>
            <a:off x="1295400" y="69532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0" name="Oval 19"/>
          <p:cNvSpPr/>
          <p:nvPr/>
        </p:nvSpPr>
        <p:spPr>
          <a:xfrm>
            <a:off x="10401300" y="360521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01300" y="360521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2" name="Oval 21"/>
          <p:cNvSpPr/>
          <p:nvPr/>
        </p:nvSpPr>
        <p:spPr>
          <a:xfrm>
            <a:off x="10401300" y="434816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01300" y="434816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 name="Oval 23"/>
          <p:cNvSpPr/>
          <p:nvPr/>
        </p:nvSpPr>
        <p:spPr>
          <a:xfrm>
            <a:off x="10401300" y="583406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01300" y="583406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 name="Oval 25"/>
          <p:cNvSpPr/>
          <p:nvPr/>
        </p:nvSpPr>
        <p:spPr>
          <a:xfrm>
            <a:off x="116776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controller_</a:t>
            </a:r>
          </a:p>
        </p:txBody>
      </p:sp>
      <p:sp>
        <p:nvSpPr>
          <p:cNvPr id="29" name="TextBox 28"/>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gamepad, port 0</a:t>
            </a:r>
          </a:p>
        </p:txBody>
      </p:sp>
      <p:sp>
        <p:nvSpPr>
          <p:cNvPr id="30" name="Oval 29"/>
          <p:cNvSpPr/>
          <p:nvPr/>
        </p:nvSpPr>
        <p:spPr>
          <a:xfrm>
            <a:off x="11677650" y="4476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drive_</a:t>
            </a:r>
          </a:p>
        </p:txBody>
      </p:sp>
      <p:sp>
        <p:nvSpPr>
          <p:cNvPr id="33" name="TextBox 32"/>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drivetrain: left and right motors</a:t>
            </a:r>
          </a:p>
        </p:txBody>
      </p:sp>
      <p:sp>
        <p:nvSpPr>
          <p:cNvPr id="34" name="Oval 33"/>
          <p:cNvSpPr/>
          <p:nvPr/>
        </p:nvSpPr>
        <p:spPr>
          <a:xfrm>
            <a:off x="11677650" y="6096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teleopPeriodic()</a:t>
            </a:r>
          </a:p>
        </p:txBody>
      </p:sp>
      <p:sp>
        <p:nvSpPr>
          <p:cNvPr id="37" name="TextBox 36"/>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Your code. Runs every 20 ms in teleop</a:t>
            </a:r>
          </a:p>
        </p:txBody>
      </p:sp>
      <p:pic>
        <p:nvPicPr>
          <p:cNvPr id="38" name="Picture 37" descr="code-slash.png"/>
          <p:cNvPicPr>
            <a:picLocks noChangeAspect="1"/>
          </p:cNvPicPr>
          <p:nvPr/>
        </p:nvPicPr>
        <p:blipFill>
          <a:blip r:embed="rId3"/>
          <a:stretch>
            <a:fillRect/>
          </a:stretch>
        </p:blipFill>
        <p:spPr>
          <a:xfrm>
            <a:off x="914400" y="8610600"/>
            <a:ext cx="224518" cy="209550"/>
          </a:xfrm>
          <a:prstGeom prst="rect">
            <a:avLst/>
          </a:prstGeom>
        </p:spPr>
      </p:pic>
      <p:sp>
        <p:nvSpPr>
          <p:cNvPr id="39" name="TextBox 38"/>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Hello, World</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Objects and methods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16459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428750" y="3429000"/>
            <a:ext cx="1836420" cy="666750"/>
          </a:xfrm>
          <a:prstGeom prst="rect">
            <a:avLst/>
          </a:prstGeom>
          <a:noFill/>
        </p:spPr>
        <p:txBody>
          <a:bodyPr wrap="square" lIns="0" rIns="0" tIns="0" bIns="0" anchor="t">
            <a:spAutoFit/>
          </a:bodyPr>
          <a:lstStyle/>
          <a:p>
            <a:pPr algn="l"/>
            <a:r>
              <a:rPr sz="3600" b="1" i="0">
                <a:solidFill>
                  <a:srgbClr val="F0E8E8"/>
                </a:solidFill>
                <a:latin typeface="Geist Mono"/>
                <a:ea typeface="Geist Mono"/>
                <a:cs typeface="Geist Mono"/>
              </a:rPr>
              <a:t>drive_</a:t>
            </a:r>
          </a:p>
        </p:txBody>
      </p:sp>
      <p:sp>
        <p:nvSpPr>
          <p:cNvPr id="7" name="Rectangle 6"/>
          <p:cNvSpPr/>
          <p:nvPr/>
        </p:nvSpPr>
        <p:spPr>
          <a:xfrm>
            <a:off x="1452562" y="4233862"/>
            <a:ext cx="15982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94460" y="4381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object</a:t>
            </a:r>
          </a:p>
        </p:txBody>
      </p:sp>
      <p:sp>
        <p:nvSpPr>
          <p:cNvPr id="9" name="TextBox 8"/>
          <p:cNvSpPr txBox="1"/>
          <p:nvPr/>
        </p:nvSpPr>
        <p:spPr>
          <a:xfrm>
            <a:off x="3074670" y="3429000"/>
            <a:ext cx="4030980" cy="666750"/>
          </a:xfrm>
          <a:prstGeom prst="rect">
            <a:avLst/>
          </a:prstGeom>
          <a:noFill/>
        </p:spPr>
        <p:txBody>
          <a:bodyPr wrap="square" lIns="0" rIns="0" tIns="0" bIns="0" anchor="t">
            <a:spAutoFit/>
          </a:bodyPr>
          <a:lstStyle/>
          <a:p>
            <a:pPr algn="l"/>
            <a:r>
              <a:rPr sz="3600" b="1" i="0">
                <a:solidFill>
                  <a:srgbClr val="E0404B"/>
                </a:solidFill>
                <a:latin typeface="Geist Mono"/>
                <a:ea typeface="Geist Mono"/>
                <a:cs typeface="Geist Mono"/>
              </a:rPr>
              <a:t>.setDutyCycles</a:t>
            </a:r>
          </a:p>
        </p:txBody>
      </p:sp>
      <p:sp>
        <p:nvSpPr>
          <p:cNvPr id="10" name="Rectangle 9"/>
          <p:cNvSpPr/>
          <p:nvPr/>
        </p:nvSpPr>
        <p:spPr>
          <a:xfrm>
            <a:off x="3098482" y="4233862"/>
            <a:ext cx="379285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37660" y="4381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method</a:t>
            </a:r>
          </a:p>
        </p:txBody>
      </p:sp>
      <p:sp>
        <p:nvSpPr>
          <p:cNvPr id="12" name="TextBox 11"/>
          <p:cNvSpPr txBox="1"/>
          <p:nvPr/>
        </p:nvSpPr>
        <p:spPr>
          <a:xfrm>
            <a:off x="6915150" y="3429000"/>
            <a:ext cx="2933700" cy="66675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(0.5, 0.5)</a:t>
            </a:r>
          </a:p>
        </p:txBody>
      </p:sp>
      <p:sp>
        <p:nvSpPr>
          <p:cNvPr id="13" name="Rectangle 12"/>
          <p:cNvSpPr/>
          <p:nvPr/>
        </p:nvSpPr>
        <p:spPr>
          <a:xfrm>
            <a:off x="6938962" y="4233862"/>
            <a:ext cx="269557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29500" y="43815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inputs</a:t>
            </a:r>
          </a:p>
        </p:txBody>
      </p:sp>
      <p:sp>
        <p:nvSpPr>
          <p:cNvPr id="15" name="TextBox 14"/>
          <p:cNvSpPr txBox="1"/>
          <p:nvPr/>
        </p:nvSpPr>
        <p:spPr>
          <a:xfrm>
            <a:off x="9658350" y="3429000"/>
            <a:ext cx="464820" cy="666750"/>
          </a:xfrm>
          <a:prstGeom prst="rect">
            <a:avLst/>
          </a:prstGeom>
          <a:noFill/>
        </p:spPr>
        <p:txBody>
          <a:bodyPr wrap="square" lIns="0" rIns="0" tIns="0" bIns="0" anchor="t">
            <a:spAutoFit/>
          </a:bodyPr>
          <a:lstStyle/>
          <a:p>
            <a:pPr algn="l"/>
            <a:r>
              <a:rPr sz="3600" b="1" i="0">
                <a:solidFill>
                  <a:srgbClr val="F0E8E8"/>
                </a:solidFill>
                <a:latin typeface="Geist Mono"/>
                <a:ea typeface="Geist Mono"/>
                <a:cs typeface="Geist Mono"/>
              </a:rPr>
              <a:t>;</a:t>
            </a:r>
          </a:p>
        </p:txBody>
      </p:sp>
      <p:sp>
        <p:nvSpPr>
          <p:cNvPr id="16" name="TextBox 15"/>
          <p:cNvSpPr txBox="1"/>
          <p:nvPr/>
        </p:nvSpPr>
        <p:spPr>
          <a:xfrm>
            <a:off x="10953750" y="3429000"/>
            <a:ext cx="6096000" cy="161925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Does something: the motors move</a:t>
            </a:r>
          </a:p>
        </p:txBody>
      </p:sp>
      <p:sp>
        <p:nvSpPr>
          <p:cNvPr id="17" name="Rounded Rectangle 16"/>
          <p:cNvSpPr/>
          <p:nvPr/>
        </p:nvSpPr>
        <p:spPr>
          <a:xfrm>
            <a:off x="914400" y="5905500"/>
            <a:ext cx="16459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428750" y="6286500"/>
            <a:ext cx="3208020" cy="666750"/>
          </a:xfrm>
          <a:prstGeom prst="rect">
            <a:avLst/>
          </a:prstGeom>
          <a:noFill/>
        </p:spPr>
        <p:txBody>
          <a:bodyPr wrap="square" lIns="0" rIns="0" tIns="0" bIns="0" anchor="t">
            <a:spAutoFit/>
          </a:bodyPr>
          <a:lstStyle/>
          <a:p>
            <a:pPr algn="l"/>
            <a:r>
              <a:rPr sz="3600" b="1" i="0">
                <a:solidFill>
                  <a:srgbClr val="F0E8E8"/>
                </a:solidFill>
                <a:latin typeface="Geist Mono"/>
                <a:ea typeface="Geist Mono"/>
                <a:cs typeface="Geist Mono"/>
              </a:rPr>
              <a:t>controller_</a:t>
            </a:r>
          </a:p>
        </p:txBody>
      </p:sp>
      <p:sp>
        <p:nvSpPr>
          <p:cNvPr id="19" name="Rectangle 18"/>
          <p:cNvSpPr/>
          <p:nvPr/>
        </p:nvSpPr>
        <p:spPr>
          <a:xfrm>
            <a:off x="1452562" y="7091362"/>
            <a:ext cx="29698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080260" y="72390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object</a:t>
            </a:r>
          </a:p>
        </p:txBody>
      </p:sp>
      <p:sp>
        <p:nvSpPr>
          <p:cNvPr id="21" name="TextBox 20"/>
          <p:cNvSpPr txBox="1"/>
          <p:nvPr/>
        </p:nvSpPr>
        <p:spPr>
          <a:xfrm>
            <a:off x="4446270" y="6286500"/>
            <a:ext cx="2659380" cy="666750"/>
          </a:xfrm>
          <a:prstGeom prst="rect">
            <a:avLst/>
          </a:prstGeom>
          <a:noFill/>
        </p:spPr>
        <p:txBody>
          <a:bodyPr wrap="square" lIns="0" rIns="0" tIns="0" bIns="0" anchor="t">
            <a:spAutoFit/>
          </a:bodyPr>
          <a:lstStyle/>
          <a:p>
            <a:pPr algn="l"/>
            <a:r>
              <a:rPr sz="3600" b="1" i="0">
                <a:solidFill>
                  <a:srgbClr val="E0404B"/>
                </a:solidFill>
                <a:latin typeface="Geist Mono"/>
                <a:ea typeface="Geist Mono"/>
                <a:cs typeface="Geist Mono"/>
              </a:rPr>
              <a:t>.getLeftY</a:t>
            </a:r>
          </a:p>
        </p:txBody>
      </p:sp>
      <p:sp>
        <p:nvSpPr>
          <p:cNvPr id="22" name="Rectangle 21"/>
          <p:cNvSpPr/>
          <p:nvPr/>
        </p:nvSpPr>
        <p:spPr>
          <a:xfrm>
            <a:off x="4470082" y="7091362"/>
            <a:ext cx="242125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823460" y="72390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method</a:t>
            </a:r>
          </a:p>
        </p:txBody>
      </p:sp>
      <p:sp>
        <p:nvSpPr>
          <p:cNvPr id="24" name="TextBox 23"/>
          <p:cNvSpPr txBox="1"/>
          <p:nvPr/>
        </p:nvSpPr>
        <p:spPr>
          <a:xfrm>
            <a:off x="6915150" y="6286500"/>
            <a:ext cx="739140" cy="666750"/>
          </a:xfrm>
          <a:prstGeom prst="rect">
            <a:avLst/>
          </a:prstGeom>
          <a:noFill/>
        </p:spPr>
        <p:txBody>
          <a:bodyPr wrap="square" lIns="0" rIns="0" tIns="0" bIns="0" anchor="t">
            <a:spAutoFit/>
          </a:bodyPr>
          <a:lstStyle/>
          <a:p>
            <a:pPr algn="l"/>
            <a:r>
              <a:rPr sz="3600" b="1" i="0">
                <a:solidFill>
                  <a:srgbClr val="E8C27A"/>
                </a:solidFill>
                <a:latin typeface="Geist Mono"/>
                <a:ea typeface="Geist Mono"/>
                <a:cs typeface="Geist Mono"/>
              </a:rPr>
              <a:t>()</a:t>
            </a:r>
          </a:p>
        </p:txBody>
      </p:sp>
      <p:sp>
        <p:nvSpPr>
          <p:cNvPr id="25" name="Rectangle 24"/>
          <p:cNvSpPr/>
          <p:nvPr/>
        </p:nvSpPr>
        <p:spPr>
          <a:xfrm>
            <a:off x="6938962" y="7091362"/>
            <a:ext cx="501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332220" y="7239000"/>
            <a:ext cx="1714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no inputs</a:t>
            </a:r>
          </a:p>
        </p:txBody>
      </p:sp>
      <p:sp>
        <p:nvSpPr>
          <p:cNvPr id="27" name="TextBox 26"/>
          <p:cNvSpPr txBox="1"/>
          <p:nvPr/>
        </p:nvSpPr>
        <p:spPr>
          <a:xfrm>
            <a:off x="7463790" y="6286500"/>
            <a:ext cx="464820" cy="666750"/>
          </a:xfrm>
          <a:prstGeom prst="rect">
            <a:avLst/>
          </a:prstGeom>
          <a:noFill/>
        </p:spPr>
        <p:txBody>
          <a:bodyPr wrap="square" lIns="0" rIns="0" tIns="0" bIns="0" anchor="t">
            <a:spAutoFit/>
          </a:bodyPr>
          <a:lstStyle/>
          <a:p>
            <a:pPr algn="l"/>
            <a:r>
              <a:rPr sz="3600" b="1" i="0">
                <a:solidFill>
                  <a:srgbClr val="F0E8E8"/>
                </a:solidFill>
                <a:latin typeface="Geist Mono"/>
                <a:ea typeface="Geist Mono"/>
                <a:cs typeface="Geist Mono"/>
              </a:rPr>
              <a:t>;</a:t>
            </a:r>
          </a:p>
        </p:txBody>
      </p:sp>
      <p:sp>
        <p:nvSpPr>
          <p:cNvPr id="28" name="TextBox 27"/>
          <p:cNvSpPr txBox="1"/>
          <p:nvPr/>
        </p:nvSpPr>
        <p:spPr>
          <a:xfrm>
            <a:off x="10953750" y="6286500"/>
            <a:ext cx="6096000" cy="1619250"/>
          </a:xfrm>
          <a:prstGeom prst="rect">
            <a:avLst/>
          </a:prstGeom>
          <a:noFill/>
        </p:spPr>
        <p:txBody>
          <a:bodyPr wrap="square" lIns="0" rIns="0" tIns="0" bIns="0" anchor="ctr">
            <a:spAutoFit/>
          </a:bodyPr>
          <a:lstStyle/>
          <a:p>
            <a:pPr algn="l">
              <a:lnSpc>
                <a:spcPct val="130000"/>
              </a:lnSpc>
            </a:pPr>
            <a:r>
              <a:rPr sz="2100" b="0" i="0">
                <a:solidFill>
                  <a:srgbClr val="F0E8E8"/>
                </a:solidFill>
                <a:latin typeface="Geist"/>
                <a:ea typeface="Geist"/>
                <a:cs typeface="Geist"/>
              </a:rPr>
              <a:t>Gives back a number: how far the stick is pushed</a:t>
            </a:r>
          </a:p>
        </p:txBody>
      </p:sp>
      <p:pic>
        <p:nvPicPr>
          <p:cNvPr id="29" name="Picture 28" descr="code-slash.png"/>
          <p:cNvPicPr>
            <a:picLocks noChangeAspect="1"/>
          </p:cNvPicPr>
          <p:nvPr/>
        </p:nvPicPr>
        <p:blipFill>
          <a:blip r:embed="rId3"/>
          <a:stretch>
            <a:fillRect/>
          </a:stretch>
        </p:blipFill>
        <p:spPr>
          <a:xfrm>
            <a:off x="914400" y="8801100"/>
            <a:ext cx="224518" cy="209550"/>
          </a:xfrm>
          <a:prstGeom prst="rect">
            <a:avLst/>
          </a:prstGeom>
        </p:spPr>
      </p:pic>
      <p:sp>
        <p:nvSpPr>
          <p:cNvPr id="30" name="TextBox 29"/>
          <p:cNvSpPr txBox="1"/>
          <p:nvPr/>
        </p:nvSpPr>
        <p:spPr>
          <a:xfrm>
            <a:off x="1295400" y="8763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Methods</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Variables: named boxes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1280160"/>
          </a:xfrm>
          <a:prstGeom prst="roundRect">
            <a:avLst>
              <a:gd name="adj" fmla="val 119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925800" cy="518160"/>
          </a:xfrm>
          <a:prstGeom prst="rect">
            <a:avLst/>
          </a:prstGeom>
          <a:noFill/>
        </p:spPr>
        <p:txBody>
          <a:bodyPr wrap="square" lIns="0" rIns="0" tIns="0" bIns="0" anchor="ctr">
            <a:spAutoFit/>
          </a:bodyPr>
          <a:lstStyle/>
          <a:p>
            <a:pPr algn="l"/>
            <a:r>
              <a:rPr sz="2550" b="0" i="0">
                <a:solidFill>
                  <a:srgbClr val="E0785F"/>
                </a:solidFill>
                <a:latin typeface="Geist Mono"/>
                <a:ea typeface="Geist Mono"/>
                <a:cs typeface="Geist Mono"/>
              </a:rPr>
              <a:t>double</a:t>
            </a:r>
            <a:r>
              <a:rPr sz="2550" b="0" i="0">
                <a:solidFill>
                  <a:srgbClr val="F0E8E8"/>
                </a:solidFill>
                <a:latin typeface="Geist Mono"/>
                <a:ea typeface="Geist Mono"/>
                <a:cs typeface="Geist Mono"/>
              </a:rPr>
              <a:t> forward = -controller_.getLeftY();</a:t>
            </a:r>
          </a:p>
        </p:txBody>
      </p:sp>
      <p:sp>
        <p:nvSpPr>
          <p:cNvPr id="7" name="Rectangle 6"/>
          <p:cNvSpPr/>
          <p:nvPr/>
        </p:nvSpPr>
        <p:spPr>
          <a:xfrm>
            <a:off x="1281112" y="3910012"/>
            <a:ext cx="119443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14400" y="4038600"/>
            <a:ext cx="192786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type</a:t>
            </a:r>
          </a:p>
        </p:txBody>
      </p:sp>
      <p:sp>
        <p:nvSpPr>
          <p:cNvPr id="9" name="Rectangle 8"/>
          <p:cNvSpPr/>
          <p:nvPr/>
        </p:nvSpPr>
        <p:spPr>
          <a:xfrm>
            <a:off x="2641282" y="3910012"/>
            <a:ext cx="138874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2274570" y="4038600"/>
            <a:ext cx="212217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name</a:t>
            </a:r>
          </a:p>
        </p:txBody>
      </p:sp>
      <p:sp>
        <p:nvSpPr>
          <p:cNvPr id="11" name="Rectangle 10"/>
          <p:cNvSpPr/>
          <p:nvPr/>
        </p:nvSpPr>
        <p:spPr>
          <a:xfrm>
            <a:off x="4195762" y="3910012"/>
            <a:ext cx="22288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829050" y="4038600"/>
            <a:ext cx="95631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store</a:t>
            </a:r>
          </a:p>
        </p:txBody>
      </p:sp>
      <p:sp>
        <p:nvSpPr>
          <p:cNvPr id="13" name="Rectangle 12"/>
          <p:cNvSpPr/>
          <p:nvPr/>
        </p:nvSpPr>
        <p:spPr>
          <a:xfrm>
            <a:off x="4584382" y="3910012"/>
            <a:ext cx="469201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217670" y="4038600"/>
            <a:ext cx="542544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value</a:t>
            </a:r>
          </a:p>
        </p:txBody>
      </p:sp>
      <p:sp>
        <p:nvSpPr>
          <p:cNvPr id="15" name="Rounded Rectangle 14"/>
          <p:cNvSpPr/>
          <p:nvPr/>
        </p:nvSpPr>
        <p:spPr>
          <a:xfrm>
            <a:off x="914400" y="4953000"/>
            <a:ext cx="4953000" cy="3429000"/>
          </a:xfrm>
          <a:prstGeom prst="roundRect">
            <a:avLst>
              <a:gd name="adj" fmla="val 444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95400" y="5200650"/>
            <a:ext cx="4191000" cy="381000"/>
          </a:xfrm>
          <a:prstGeom prst="rect">
            <a:avLst/>
          </a:prstGeom>
          <a:noFill/>
        </p:spPr>
        <p:txBody>
          <a:bodyPr wrap="square" lIns="0" rIns="0" tIns="0" bIns="0" anchor="t">
            <a:spAutoFit/>
          </a:bodyPr>
          <a:lstStyle/>
          <a:p>
            <a:pPr algn="l"/>
            <a:r>
              <a:rPr sz="2250" b="1" i="0">
                <a:solidFill>
                  <a:srgbClr val="F0E8E8"/>
                </a:solidFill>
                <a:latin typeface="Geist Mono"/>
                <a:ea typeface="Geist Mono"/>
                <a:cs typeface="Geist Mono"/>
              </a:rPr>
              <a:t>forward</a:t>
            </a:r>
          </a:p>
        </p:txBody>
      </p:sp>
      <p:sp>
        <p:nvSpPr>
          <p:cNvPr id="17" name="Rounded Rectangle 16"/>
          <p:cNvSpPr/>
          <p:nvPr/>
        </p:nvSpPr>
        <p:spPr>
          <a:xfrm>
            <a:off x="1676400" y="5810250"/>
            <a:ext cx="3429000" cy="1524000"/>
          </a:xfrm>
          <a:prstGeom prst="roundRect">
            <a:avLst>
              <a:gd name="adj" fmla="val 75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676400" y="5810250"/>
            <a:ext cx="3429000" cy="1524000"/>
          </a:xfrm>
          <a:prstGeom prst="rect">
            <a:avLst/>
          </a:prstGeom>
          <a:noFill/>
        </p:spPr>
        <p:txBody>
          <a:bodyPr wrap="square" lIns="0" rIns="0" tIns="0" bIns="0" anchor="ctr">
            <a:spAutoFit/>
          </a:bodyPr>
          <a:lstStyle/>
          <a:p>
            <a:pPr algn="ctr"/>
            <a:r>
              <a:rPr sz="5400" b="1" i="0">
                <a:solidFill>
                  <a:srgbClr val="E8C27A"/>
                </a:solidFill>
                <a:latin typeface="Geist Mono"/>
                <a:ea typeface="Geist Mono"/>
                <a:cs typeface="Geist Mono"/>
              </a:rPr>
              <a:t>0.8</a:t>
            </a:r>
          </a:p>
        </p:txBody>
      </p:sp>
      <p:sp>
        <p:nvSpPr>
          <p:cNvPr id="19" name="TextBox 18"/>
          <p:cNvSpPr txBox="1"/>
          <p:nvPr/>
        </p:nvSpPr>
        <p:spPr>
          <a:xfrm>
            <a:off x="1295400" y="7620000"/>
            <a:ext cx="4191000" cy="381000"/>
          </a:xfrm>
          <a:prstGeom prst="rect">
            <a:avLst/>
          </a:prstGeom>
          <a:noFill/>
        </p:spPr>
        <p:txBody>
          <a:bodyPr wrap="square" lIns="0" rIns="0" tIns="0" bIns="0" anchor="t">
            <a:spAutoFit/>
          </a:bodyPr>
          <a:lstStyle/>
          <a:p>
            <a:pPr algn="ctr"/>
            <a:r>
              <a:rPr sz="1800" b="0" i="0">
                <a:solidFill>
                  <a:srgbClr val="9A7878"/>
                </a:solidFill>
                <a:latin typeface="Geist Mono"/>
                <a:ea typeface="Geist Mono"/>
                <a:cs typeface="Geist Mono"/>
              </a:rPr>
              <a:t>double</a:t>
            </a:r>
          </a:p>
        </p:txBody>
      </p:sp>
      <p:sp>
        <p:nvSpPr>
          <p:cNvPr id="20" name="TextBox 19"/>
          <p:cNvSpPr txBox="1"/>
          <p:nvPr/>
        </p:nvSpPr>
        <p:spPr>
          <a:xfrm>
            <a:off x="6667500" y="5143500"/>
            <a:ext cx="104775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double</a:t>
            </a:r>
            <a:r>
              <a:rPr sz="2250" b="0" i="0">
                <a:solidFill>
                  <a:srgbClr val="F0E8E8"/>
                </a:solidFill>
                <a:latin typeface="Geist"/>
                <a:ea typeface="Geist"/>
                <a:cs typeface="Geist"/>
              </a:rPr>
              <a:t>: a number with a decimal point</a:t>
            </a:r>
          </a:p>
        </p:txBody>
      </p:sp>
      <p:sp>
        <p:nvSpPr>
          <p:cNvPr id="21" name="TextBox 20"/>
          <p:cNvSpPr txBox="1"/>
          <p:nvPr/>
        </p:nvSpPr>
        <p:spPr>
          <a:xfrm>
            <a:off x="6667500" y="5800725"/>
            <a:ext cx="104775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forward</a:t>
            </a:r>
            <a:r>
              <a:rPr sz="2250" b="0" i="0">
                <a:solidFill>
                  <a:srgbClr val="F0E8E8"/>
                </a:solidFill>
                <a:latin typeface="Geist"/>
                <a:ea typeface="Geist"/>
                <a:cs typeface="Geist"/>
              </a:rPr>
              <a:t>: the name you pick</a:t>
            </a:r>
          </a:p>
        </p:txBody>
      </p:sp>
      <p:sp>
        <p:nvSpPr>
          <p:cNvPr id="22" name="TextBox 21"/>
          <p:cNvSpPr txBox="1"/>
          <p:nvPr/>
        </p:nvSpPr>
        <p:spPr>
          <a:xfrm>
            <a:off x="6667500" y="6457950"/>
            <a:ext cx="104775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Mono"/>
                <a:ea typeface="Geist Mono"/>
                <a:cs typeface="Geist Mono"/>
              </a:rPr>
              <a:t>=</a:t>
            </a:r>
            <a:r>
              <a:rPr sz="2250" b="0" i="0">
                <a:solidFill>
                  <a:srgbClr val="F0E8E8"/>
                </a:solidFill>
                <a:latin typeface="Geist"/>
                <a:ea typeface="Geist"/>
                <a:cs typeface="Geist"/>
              </a:rPr>
              <a:t> means </a:t>
            </a:r>
            <a:r>
              <a:rPr sz="2250" b="1" i="0">
                <a:solidFill>
                  <a:srgbClr val="F0E8E8"/>
                </a:solidFill>
                <a:latin typeface="Geist"/>
                <a:ea typeface="Geist"/>
                <a:cs typeface="Geist"/>
              </a:rPr>
              <a:t>store</a:t>
            </a:r>
            <a:r>
              <a:rPr sz="2250" b="0" i="0">
                <a:solidFill>
                  <a:srgbClr val="F0E8E8"/>
                </a:solidFill>
                <a:latin typeface="Geist"/>
                <a:ea typeface="Geist"/>
                <a:cs typeface="Geist"/>
              </a:rPr>
              <a:t>, not “is equal”</a:t>
            </a:r>
          </a:p>
        </p:txBody>
      </p:sp>
      <p:sp>
        <p:nvSpPr>
          <p:cNvPr id="23" name="TextBox 22"/>
          <p:cNvSpPr txBox="1"/>
          <p:nvPr/>
        </p:nvSpPr>
        <p:spPr>
          <a:xfrm>
            <a:off x="6667500" y="7115175"/>
            <a:ext cx="104775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Use the name later instead of the number</a:t>
            </a:r>
          </a:p>
        </p:txBody>
      </p:sp>
      <p:pic>
        <p:nvPicPr>
          <p:cNvPr id="24" name="Picture 23" descr="code-slash.png"/>
          <p:cNvPicPr>
            <a:picLocks noChangeAspect="1"/>
          </p:cNvPicPr>
          <p:nvPr/>
        </p:nvPicPr>
        <p:blipFill>
          <a:blip r:embed="rId3"/>
          <a:stretch>
            <a:fillRect/>
          </a:stretch>
        </p:blipFill>
        <p:spPr>
          <a:xfrm>
            <a:off x="914400" y="8801100"/>
            <a:ext cx="224518" cy="209550"/>
          </a:xfrm>
          <a:prstGeom prst="rect">
            <a:avLst/>
          </a:prstGeom>
        </p:spPr>
      </p:pic>
      <p:sp>
        <p:nvSpPr>
          <p:cNvPr id="25" name="TextBox 24"/>
          <p:cNvSpPr txBox="1"/>
          <p:nvPr/>
        </p:nvSpPr>
        <p:spPr>
          <a:xfrm>
            <a:off x="1295400" y="8763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a:t>
            </a:r>
          </a:p>
        </p:txBody>
      </p:sp>
      <p:sp>
        <p:nvSpPr>
          <p:cNvPr id="26" name="TextBox 2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 name="TextBox 2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Comments: notes for people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2895600"/>
          </a:xfrm>
          <a:prstGeom prst="roundRect">
            <a:avLst>
              <a:gd name="adj" fmla="val 526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38500"/>
            <a:ext cx="15925800" cy="426720"/>
          </a:xfrm>
          <a:prstGeom prst="rect">
            <a:avLst/>
          </a:prstGeom>
          <a:noFill/>
        </p:spPr>
        <p:txBody>
          <a:bodyPr wrap="square" lIns="0" rIns="0" tIns="0" bIns="0" anchor="ctr">
            <a:spAutoFit/>
          </a:bodyPr>
          <a:lstStyle/>
          <a:p>
            <a:pPr algn="l"/>
            <a:r>
              <a:rPr sz="2100" b="0" i="1">
                <a:solidFill>
                  <a:srgbClr val="9A7878"/>
                </a:solidFill>
                <a:latin typeface="Geist Mono"/>
                <a:ea typeface="Geist Mono"/>
                <a:cs typeface="Geist Mono"/>
              </a:rPr>
              <a:t>// One line: Java ignores everything after the slashes</a:t>
            </a:r>
          </a:p>
        </p:txBody>
      </p:sp>
      <p:sp>
        <p:nvSpPr>
          <p:cNvPr id="7" name="TextBox 6"/>
          <p:cNvSpPr txBox="1"/>
          <p:nvPr/>
        </p:nvSpPr>
        <p:spPr>
          <a:xfrm>
            <a:off x="1295400" y="3665220"/>
            <a:ext cx="159258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forward = -controller_.getLeftY(); </a:t>
            </a:r>
            <a:r>
              <a:rPr sz="2100" b="0" i="1">
                <a:solidFill>
                  <a:srgbClr val="9A7878"/>
                </a:solidFill>
                <a:latin typeface="Geist Mono"/>
                <a:ea typeface="Geist Mono"/>
                <a:cs typeface="Geist Mono"/>
              </a:rPr>
              <a:t>// flip it: up is negative</a:t>
            </a:r>
          </a:p>
        </p:txBody>
      </p:sp>
      <p:sp>
        <p:nvSpPr>
          <p:cNvPr id="8" name="TextBox 7"/>
          <p:cNvSpPr txBox="1"/>
          <p:nvPr/>
        </p:nvSpPr>
        <p:spPr>
          <a:xfrm>
            <a:off x="1295400" y="4091940"/>
            <a:ext cx="159258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p>
        </p:txBody>
      </p:sp>
      <p:sp>
        <p:nvSpPr>
          <p:cNvPr id="9" name="TextBox 8"/>
          <p:cNvSpPr txBox="1"/>
          <p:nvPr/>
        </p:nvSpPr>
        <p:spPr>
          <a:xfrm>
            <a:off x="1295400" y="4518660"/>
            <a:ext cx="159258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 longer note can span</a:t>
            </a:r>
          </a:p>
        </p:txBody>
      </p:sp>
      <p:sp>
        <p:nvSpPr>
          <p:cNvPr id="10" name="TextBox 9"/>
          <p:cNvSpPr txBox="1"/>
          <p:nvPr/>
        </p:nvSpPr>
        <p:spPr>
          <a:xfrm>
            <a:off x="1295400" y="4945380"/>
            <a:ext cx="159258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several lines like this. */</a:t>
            </a:r>
          </a:p>
        </p:txBody>
      </p:sp>
      <p:sp>
        <p:nvSpPr>
          <p:cNvPr id="11" name="Rounded Rectangle 10"/>
          <p:cNvSpPr/>
          <p:nvPr/>
        </p:nvSpPr>
        <p:spPr>
          <a:xfrm>
            <a:off x="914400" y="6096000"/>
            <a:ext cx="8077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647700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For people, not the robot</a:t>
            </a:r>
          </a:p>
        </p:txBody>
      </p:sp>
      <p:sp>
        <p:nvSpPr>
          <p:cNvPr id="13" name="TextBox 12"/>
          <p:cNvSpPr txBox="1"/>
          <p:nvPr/>
        </p:nvSpPr>
        <p:spPr>
          <a:xfrm>
            <a:off x="1295400" y="7038975"/>
            <a:ext cx="7315200" cy="1143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Java skips comments completely.</a:t>
            </a:r>
          </a:p>
        </p:txBody>
      </p:sp>
      <p:sp>
        <p:nvSpPr>
          <p:cNvPr id="14" name="Rounded Rectangle 13"/>
          <p:cNvSpPr/>
          <p:nvPr/>
        </p:nvSpPr>
        <p:spPr>
          <a:xfrm>
            <a:off x="9296400" y="6096000"/>
            <a:ext cx="8077200" cy="2095500"/>
          </a:xfrm>
          <a:prstGeom prst="roundRect">
            <a:avLst>
              <a:gd name="adj" fmla="val 727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677400" y="647700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Say why, not what</a:t>
            </a:r>
          </a:p>
        </p:txBody>
      </p:sp>
      <p:sp>
        <p:nvSpPr>
          <p:cNvPr id="16" name="TextBox 15"/>
          <p:cNvSpPr txBox="1"/>
          <p:nvPr/>
        </p:nvSpPr>
        <p:spPr>
          <a:xfrm>
            <a:off x="9677400" y="7038975"/>
            <a:ext cx="7315200" cy="11430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“Flip it: up is negative” beats “make it negative”.</a:t>
            </a:r>
          </a:p>
        </p:txBody>
      </p:sp>
      <p:sp>
        <p:nvSpPr>
          <p:cNvPr id="17" name="TextBox 1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8" name="TextBox 1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Operators: the math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04775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143000" cy="990600"/>
          </a:xfrm>
          <a:prstGeom prst="rect">
            <a:avLst/>
          </a:prstGeom>
          <a:noFill/>
        </p:spPr>
        <p:txBody>
          <a:bodyPr wrap="square" lIns="0" rIns="0" tIns="0" bIns="0" anchor="ctr">
            <a:spAutoFit/>
          </a:bodyPr>
          <a:lstStyle/>
          <a:p>
            <a:pPr algn="ctr"/>
            <a:r>
              <a:rPr sz="3900" b="1" i="0">
                <a:solidFill>
                  <a:srgbClr val="D5000E"/>
                </a:solidFill>
                <a:latin typeface="Geist Mono"/>
                <a:ea typeface="Geist Mono"/>
                <a:cs typeface="Geist Mono"/>
              </a:rPr>
              <a:t>+</a:t>
            </a:r>
          </a:p>
        </p:txBody>
      </p:sp>
      <p:sp>
        <p:nvSpPr>
          <p:cNvPr id="7" name="TextBox 6"/>
          <p:cNvSpPr txBox="1"/>
          <p:nvPr/>
        </p:nvSpPr>
        <p:spPr>
          <a:xfrm>
            <a:off x="2190750" y="2857500"/>
            <a:ext cx="3619500" cy="9906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add</a:t>
            </a:r>
          </a:p>
        </p:txBody>
      </p:sp>
      <p:sp>
        <p:nvSpPr>
          <p:cNvPr id="8" name="TextBox 7"/>
          <p:cNvSpPr txBox="1"/>
          <p:nvPr/>
        </p:nvSpPr>
        <p:spPr>
          <a:xfrm>
            <a:off x="6096000" y="2857500"/>
            <a:ext cx="5143500" cy="9906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forward + turn</a:t>
            </a:r>
          </a:p>
        </p:txBody>
      </p:sp>
      <p:sp>
        <p:nvSpPr>
          <p:cNvPr id="9" name="Rounded Rectangle 8"/>
          <p:cNvSpPr/>
          <p:nvPr/>
        </p:nvSpPr>
        <p:spPr>
          <a:xfrm>
            <a:off x="914400" y="4000500"/>
            <a:ext cx="104775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14400" y="4000500"/>
            <a:ext cx="1143000" cy="990600"/>
          </a:xfrm>
          <a:prstGeom prst="rect">
            <a:avLst/>
          </a:prstGeom>
          <a:noFill/>
        </p:spPr>
        <p:txBody>
          <a:bodyPr wrap="square" lIns="0" rIns="0" tIns="0" bIns="0" anchor="ctr">
            <a:spAutoFit/>
          </a:bodyPr>
          <a:lstStyle/>
          <a:p>
            <a:pPr algn="ctr"/>
            <a:r>
              <a:rPr sz="3900" b="1" i="0">
                <a:solidFill>
                  <a:srgbClr val="D5000E"/>
                </a:solidFill>
                <a:latin typeface="Geist Mono"/>
                <a:ea typeface="Geist Mono"/>
                <a:cs typeface="Geist Mono"/>
              </a:rPr>
              <a:t>-</a:t>
            </a:r>
          </a:p>
        </p:txBody>
      </p:sp>
      <p:sp>
        <p:nvSpPr>
          <p:cNvPr id="11" name="TextBox 10"/>
          <p:cNvSpPr txBox="1"/>
          <p:nvPr/>
        </p:nvSpPr>
        <p:spPr>
          <a:xfrm>
            <a:off x="2190750" y="4000500"/>
            <a:ext cx="3619500" cy="9906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subtract, or flip the sign</a:t>
            </a:r>
          </a:p>
        </p:txBody>
      </p:sp>
      <p:sp>
        <p:nvSpPr>
          <p:cNvPr id="12" name="TextBox 11"/>
          <p:cNvSpPr txBox="1"/>
          <p:nvPr/>
        </p:nvSpPr>
        <p:spPr>
          <a:xfrm>
            <a:off x="6096000" y="4000500"/>
            <a:ext cx="5143500" cy="9906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-controller_.getLeftY()</a:t>
            </a:r>
          </a:p>
        </p:txBody>
      </p:sp>
      <p:sp>
        <p:nvSpPr>
          <p:cNvPr id="13" name="Rounded Rectangle 12"/>
          <p:cNvSpPr/>
          <p:nvPr/>
        </p:nvSpPr>
        <p:spPr>
          <a:xfrm>
            <a:off x="914400" y="5143500"/>
            <a:ext cx="104775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14400" y="5143500"/>
            <a:ext cx="1143000" cy="990600"/>
          </a:xfrm>
          <a:prstGeom prst="rect">
            <a:avLst/>
          </a:prstGeom>
          <a:noFill/>
        </p:spPr>
        <p:txBody>
          <a:bodyPr wrap="square" lIns="0" rIns="0" tIns="0" bIns="0" anchor="ctr">
            <a:spAutoFit/>
          </a:bodyPr>
          <a:lstStyle/>
          <a:p>
            <a:pPr algn="ctr"/>
            <a:r>
              <a:rPr sz="3900" b="1" i="0">
                <a:solidFill>
                  <a:srgbClr val="D5000E"/>
                </a:solidFill>
                <a:latin typeface="Geist Mono"/>
                <a:ea typeface="Geist Mono"/>
                <a:cs typeface="Geist Mono"/>
              </a:rPr>
              <a:t>*</a:t>
            </a:r>
          </a:p>
        </p:txBody>
      </p:sp>
      <p:sp>
        <p:nvSpPr>
          <p:cNvPr id="15" name="TextBox 14"/>
          <p:cNvSpPr txBox="1"/>
          <p:nvPr/>
        </p:nvSpPr>
        <p:spPr>
          <a:xfrm>
            <a:off x="2190750" y="5143500"/>
            <a:ext cx="3619500" cy="9906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multiply</a:t>
            </a:r>
          </a:p>
        </p:txBody>
      </p:sp>
      <p:sp>
        <p:nvSpPr>
          <p:cNvPr id="16" name="TextBox 15"/>
          <p:cNvSpPr txBox="1"/>
          <p:nvPr/>
        </p:nvSpPr>
        <p:spPr>
          <a:xfrm>
            <a:off x="6096000" y="5143500"/>
            <a:ext cx="5143500" cy="9906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forward * </a:t>
            </a:r>
            <a:r>
              <a:rPr sz="1950" b="0" i="0">
                <a:solidFill>
                  <a:srgbClr val="E8C27A"/>
                </a:solidFill>
                <a:latin typeface="Geist Mono"/>
                <a:ea typeface="Geist Mono"/>
                <a:cs typeface="Geist Mono"/>
              </a:rPr>
              <a:t>0.5</a:t>
            </a:r>
          </a:p>
        </p:txBody>
      </p:sp>
      <p:sp>
        <p:nvSpPr>
          <p:cNvPr id="17" name="Rounded Rectangle 16"/>
          <p:cNvSpPr/>
          <p:nvPr/>
        </p:nvSpPr>
        <p:spPr>
          <a:xfrm>
            <a:off x="914400" y="6286500"/>
            <a:ext cx="10477500" cy="990600"/>
          </a:xfrm>
          <a:prstGeom prst="roundRect">
            <a:avLst>
              <a:gd name="adj" fmla="val 1346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4400" y="6286500"/>
            <a:ext cx="1143000" cy="990600"/>
          </a:xfrm>
          <a:prstGeom prst="rect">
            <a:avLst/>
          </a:prstGeom>
          <a:noFill/>
        </p:spPr>
        <p:txBody>
          <a:bodyPr wrap="square" lIns="0" rIns="0" tIns="0" bIns="0" anchor="ctr">
            <a:spAutoFit/>
          </a:bodyPr>
          <a:lstStyle/>
          <a:p>
            <a:pPr algn="ctr"/>
            <a:r>
              <a:rPr sz="3900" b="1" i="0">
                <a:solidFill>
                  <a:srgbClr val="D5000E"/>
                </a:solidFill>
                <a:latin typeface="Geist Mono"/>
                <a:ea typeface="Geist Mono"/>
                <a:cs typeface="Geist Mono"/>
              </a:rPr>
              <a:t>/</a:t>
            </a:r>
          </a:p>
        </p:txBody>
      </p:sp>
      <p:sp>
        <p:nvSpPr>
          <p:cNvPr id="19" name="TextBox 18"/>
          <p:cNvSpPr txBox="1"/>
          <p:nvPr/>
        </p:nvSpPr>
        <p:spPr>
          <a:xfrm>
            <a:off x="2190750" y="6286500"/>
            <a:ext cx="3619500" cy="990600"/>
          </a:xfrm>
          <a:prstGeom prst="rect">
            <a:avLst/>
          </a:prstGeom>
          <a:noFill/>
        </p:spPr>
        <p:txBody>
          <a:bodyPr wrap="square" lIns="0" rIns="0" tIns="0" bIns="0" anchor="ctr">
            <a:spAutoFit/>
          </a:bodyPr>
          <a:lstStyle/>
          <a:p>
            <a:pPr algn="l"/>
            <a:r>
              <a:rPr sz="2100" b="0" i="0">
                <a:solidFill>
                  <a:srgbClr val="F0E8E8"/>
                </a:solidFill>
                <a:latin typeface="Geist"/>
                <a:ea typeface="Geist"/>
                <a:cs typeface="Geist"/>
              </a:rPr>
              <a:t>divide</a:t>
            </a:r>
          </a:p>
        </p:txBody>
      </p:sp>
      <p:sp>
        <p:nvSpPr>
          <p:cNvPr id="20" name="TextBox 19"/>
          <p:cNvSpPr txBox="1"/>
          <p:nvPr/>
        </p:nvSpPr>
        <p:spPr>
          <a:xfrm>
            <a:off x="6096000" y="6286500"/>
            <a:ext cx="5143500" cy="99060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speed / </a:t>
            </a:r>
            <a:r>
              <a:rPr sz="1950" b="0" i="0">
                <a:solidFill>
                  <a:srgbClr val="E8C27A"/>
                </a:solidFill>
                <a:latin typeface="Geist Mono"/>
                <a:ea typeface="Geist Mono"/>
                <a:cs typeface="Geist Mono"/>
              </a:rPr>
              <a:t>2.0</a:t>
            </a:r>
          </a:p>
        </p:txBody>
      </p:sp>
      <p:sp>
        <p:nvSpPr>
          <p:cNvPr id="21" name="Rounded Rectangle 20"/>
          <p:cNvSpPr/>
          <p:nvPr/>
        </p:nvSpPr>
        <p:spPr>
          <a:xfrm>
            <a:off x="11811000" y="2857500"/>
            <a:ext cx="5562600" cy="4419600"/>
          </a:xfrm>
          <a:prstGeom prst="roundRect">
            <a:avLst>
              <a:gd name="adj" fmla="val 3448"/>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192000" y="3200400"/>
            <a:ext cx="4762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GOTCHA</a:t>
            </a:r>
          </a:p>
        </p:txBody>
      </p:sp>
      <p:sp>
        <p:nvSpPr>
          <p:cNvPr id="23" name="TextBox 22"/>
          <p:cNvSpPr txBox="1"/>
          <p:nvPr/>
        </p:nvSpPr>
        <p:spPr>
          <a:xfrm>
            <a:off x="12192000" y="3714750"/>
            <a:ext cx="4953000" cy="571500"/>
          </a:xfrm>
          <a:prstGeom prst="rect">
            <a:avLst/>
          </a:prstGeom>
          <a:noFill/>
        </p:spPr>
        <p:txBody>
          <a:bodyPr wrap="square" lIns="0" rIns="0" tIns="0" bIns="0" anchor="t">
            <a:spAutoFit/>
          </a:bodyPr>
          <a:lstStyle/>
          <a:p>
            <a:pPr algn="l"/>
            <a:r>
              <a:rPr sz="3300" b="1" i="0">
                <a:solidFill>
                  <a:srgbClr val="E8C27A"/>
                </a:solidFill>
                <a:latin typeface="Geist Mono"/>
                <a:ea typeface="Geist Mono"/>
                <a:cs typeface="Geist Mono"/>
              </a:rPr>
              <a:t>1 / 2</a:t>
            </a:r>
            <a:r>
              <a:rPr sz="3300" b="0" i="0">
                <a:solidFill>
                  <a:srgbClr val="F0E8E8"/>
                </a:solidFill>
                <a:latin typeface="Geist"/>
                <a:ea typeface="Geist"/>
                <a:cs typeface="Geist"/>
              </a:rPr>
              <a:t>  is  </a:t>
            </a:r>
            <a:r>
              <a:rPr sz="3300" b="1" i="0">
                <a:solidFill>
                  <a:srgbClr val="D5000E"/>
                </a:solidFill>
                <a:latin typeface="Geist Mono"/>
                <a:ea typeface="Geist Mono"/>
                <a:cs typeface="Geist Mono"/>
              </a:rPr>
              <a:t>0</a:t>
            </a:r>
          </a:p>
        </p:txBody>
      </p:sp>
      <p:sp>
        <p:nvSpPr>
          <p:cNvPr id="24" name="TextBox 23"/>
          <p:cNvSpPr txBox="1"/>
          <p:nvPr/>
        </p:nvSpPr>
        <p:spPr>
          <a:xfrm>
            <a:off x="12192000" y="4476750"/>
            <a:ext cx="4762500" cy="1333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Two whole numbers give a whole number. The .5 is dropped.</a:t>
            </a:r>
          </a:p>
        </p:txBody>
      </p:sp>
      <p:sp>
        <p:nvSpPr>
          <p:cNvPr id="25" name="TextBox 24"/>
          <p:cNvSpPr txBox="1"/>
          <p:nvPr/>
        </p:nvSpPr>
        <p:spPr>
          <a:xfrm>
            <a:off x="12192000" y="5810250"/>
            <a:ext cx="4953000" cy="476250"/>
          </a:xfrm>
          <a:prstGeom prst="rect">
            <a:avLst/>
          </a:prstGeom>
          <a:noFill/>
        </p:spPr>
        <p:txBody>
          <a:bodyPr wrap="square" lIns="0" rIns="0" tIns="0" bIns="0" anchor="t">
            <a:spAutoFit/>
          </a:bodyPr>
          <a:lstStyle/>
          <a:p>
            <a:pPr algn="l"/>
            <a:r>
              <a:rPr sz="2700" b="1" i="0">
                <a:solidFill>
                  <a:srgbClr val="E8C27A"/>
                </a:solidFill>
                <a:latin typeface="Geist Mono"/>
                <a:ea typeface="Geist Mono"/>
                <a:cs typeface="Geist Mono"/>
              </a:rPr>
              <a:t>1.0 / 2</a:t>
            </a:r>
            <a:r>
              <a:rPr sz="2700" b="0" i="0">
                <a:solidFill>
                  <a:srgbClr val="F0E8E8"/>
                </a:solidFill>
                <a:latin typeface="Geist"/>
                <a:ea typeface="Geist"/>
                <a:cs typeface="Geist"/>
              </a:rPr>
              <a:t>  is  </a:t>
            </a:r>
            <a:r>
              <a:rPr sz="2700" b="1" i="0">
                <a:solidFill>
                  <a:srgbClr val="198754"/>
                </a:solidFill>
                <a:latin typeface="Geist Mono"/>
                <a:ea typeface="Geist Mono"/>
                <a:cs typeface="Geist Mono"/>
              </a:rPr>
              <a:t>0.5</a:t>
            </a:r>
          </a:p>
        </p:txBody>
      </p:sp>
      <p:pic>
        <p:nvPicPr>
          <p:cNvPr id="26" name="Picture 25" descr="dozer_wide_left.png"/>
          <p:cNvPicPr>
            <a:picLocks noChangeAspect="1"/>
          </p:cNvPicPr>
          <p:nvPr/>
        </p:nvPicPr>
        <p:blipFill>
          <a:blip r:embed="rId3"/>
          <a:stretch>
            <a:fillRect/>
          </a:stretch>
        </p:blipFill>
        <p:spPr>
          <a:xfrm>
            <a:off x="15144750" y="7620000"/>
            <a:ext cx="2190750" cy="1346530"/>
          </a:xfrm>
          <a:prstGeom prst="rect">
            <a:avLst/>
          </a:prstGeom>
        </p:spPr>
      </p:pic>
      <p:pic>
        <p:nvPicPr>
          <p:cNvPr id="27" name="Picture 26" descr="code-slash.png"/>
          <p:cNvPicPr>
            <a:picLocks noChangeAspect="1"/>
          </p:cNvPicPr>
          <p:nvPr/>
        </p:nvPicPr>
        <p:blipFill>
          <a:blip r:embed="rId4"/>
          <a:stretch>
            <a:fillRect/>
          </a:stretch>
        </p:blipFill>
        <p:spPr>
          <a:xfrm>
            <a:off x="914400" y="7658100"/>
            <a:ext cx="224518" cy="209550"/>
          </a:xfrm>
          <a:prstGeom prst="rect">
            <a:avLst/>
          </a:prstGeom>
        </p:spPr>
      </p:pic>
      <p:sp>
        <p:nvSpPr>
          <p:cNvPr id="28" name="TextBox 27"/>
          <p:cNvSpPr txBox="1"/>
          <p:nvPr/>
        </p:nvSpPr>
        <p:spPr>
          <a:xfrm>
            <a:off x="1295400" y="7620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Operators</a:t>
            </a:r>
          </a:p>
        </p:txBody>
      </p:sp>
      <p:sp>
        <p:nvSpPr>
          <p:cNvPr id="29" name="TextBox 2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0" name="TextBox 2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FIRST JAVA</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Reading the stick: up is negative!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381250" y="3714750"/>
            <a:ext cx="4762500" cy="47625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381250" y="3714750"/>
            <a:ext cx="4762500" cy="4762500"/>
          </a:xfrm>
          <a:prstGeom prst="ellipse">
            <a:avLst/>
          </a:prstGeom>
          <a:noFill/>
          <a:ln w="2857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371725" y="6086475"/>
            <a:ext cx="4781550" cy="190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4752975" y="3705225"/>
            <a:ext cx="19050" cy="4781550"/>
          </a:xfrm>
          <a:prstGeom prst="rect">
            <a:avLst/>
          </a:prstGeom>
          <a:solidFill>
            <a:srgbClr val="9A7878"/>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286250" y="4095750"/>
            <a:ext cx="952500" cy="9525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33925" y="5258943"/>
            <a:ext cx="57150" cy="86563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a:off x="4682490" y="514350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33750" y="3181350"/>
            <a:ext cx="2857500" cy="419100"/>
          </a:xfrm>
          <a:prstGeom prst="rect">
            <a:avLst/>
          </a:prstGeom>
          <a:noFill/>
        </p:spPr>
        <p:txBody>
          <a:bodyPr wrap="square" lIns="0" rIns="0" tIns="0" bIns="0" anchor="t">
            <a:spAutoFit/>
          </a:bodyPr>
          <a:lstStyle/>
          <a:p>
            <a:pPr algn="ctr"/>
            <a:r>
              <a:rPr sz="2250" b="1" i="0">
                <a:solidFill>
                  <a:srgbClr val="D5000E"/>
                </a:solidFill>
                <a:latin typeface="Geist Mono"/>
                <a:ea typeface="Geist Mono"/>
                <a:cs typeface="Geist Mono"/>
              </a:rPr>
              <a:t>up = -1.0</a:t>
            </a:r>
          </a:p>
        </p:txBody>
      </p:sp>
      <p:sp>
        <p:nvSpPr>
          <p:cNvPr id="13" name="TextBox 12"/>
          <p:cNvSpPr txBox="1"/>
          <p:nvPr/>
        </p:nvSpPr>
        <p:spPr>
          <a:xfrm>
            <a:off x="3333750" y="8591550"/>
            <a:ext cx="2857500" cy="419100"/>
          </a:xfrm>
          <a:prstGeom prst="rect">
            <a:avLst/>
          </a:prstGeom>
          <a:noFill/>
        </p:spPr>
        <p:txBody>
          <a:bodyPr wrap="square" lIns="0" rIns="0" tIns="0" bIns="0" anchor="t">
            <a:spAutoFit/>
          </a:bodyPr>
          <a:lstStyle/>
          <a:p>
            <a:pPr algn="ctr"/>
            <a:r>
              <a:rPr sz="1950" b="0" i="0">
                <a:solidFill>
                  <a:srgbClr val="9A7878"/>
                </a:solidFill>
                <a:latin typeface="Geist Mono"/>
                <a:ea typeface="Geist Mono"/>
                <a:cs typeface="Geist Mono"/>
              </a:rPr>
              <a:t>down = 1.0</a:t>
            </a:r>
          </a:p>
        </p:txBody>
      </p:sp>
      <p:sp>
        <p:nvSpPr>
          <p:cNvPr id="14" name="TextBox 13"/>
          <p:cNvSpPr txBox="1"/>
          <p:nvPr/>
        </p:nvSpPr>
        <p:spPr>
          <a:xfrm>
            <a:off x="285750" y="5886450"/>
            <a:ext cx="1905000" cy="419100"/>
          </a:xfrm>
          <a:prstGeom prst="rect">
            <a:avLst/>
          </a:prstGeom>
          <a:noFill/>
        </p:spPr>
        <p:txBody>
          <a:bodyPr wrap="square" lIns="0" rIns="0" tIns="0" bIns="0" anchor="t">
            <a:spAutoFit/>
          </a:bodyPr>
          <a:lstStyle/>
          <a:p>
            <a:pPr algn="r"/>
            <a:r>
              <a:rPr sz="1800" b="0" i="0">
                <a:solidFill>
                  <a:srgbClr val="9A7878"/>
                </a:solidFill>
                <a:latin typeface="Geist Mono"/>
                <a:ea typeface="Geist Mono"/>
                <a:cs typeface="Geist Mono"/>
              </a:rPr>
              <a:t>left = -1.0</a:t>
            </a:r>
          </a:p>
        </p:txBody>
      </p:sp>
      <p:sp>
        <p:nvSpPr>
          <p:cNvPr id="15" name="TextBox 14"/>
          <p:cNvSpPr txBox="1"/>
          <p:nvPr/>
        </p:nvSpPr>
        <p:spPr>
          <a:xfrm>
            <a:off x="7334250" y="5886450"/>
            <a:ext cx="2095500" cy="419100"/>
          </a:xfrm>
          <a:prstGeom prst="rect">
            <a:avLst/>
          </a:prstGeom>
          <a:noFill/>
        </p:spPr>
        <p:txBody>
          <a:bodyPr wrap="square" lIns="0" rIns="0" tIns="0" bIns="0" anchor="t">
            <a:spAutoFit/>
          </a:bodyPr>
          <a:lstStyle/>
          <a:p>
            <a:pPr algn="l"/>
            <a:r>
              <a:rPr sz="1800" b="0" i="0">
                <a:solidFill>
                  <a:srgbClr val="9A7878"/>
                </a:solidFill>
                <a:latin typeface="Geist Mono"/>
                <a:ea typeface="Geist Mono"/>
                <a:cs typeface="Geist Mono"/>
              </a:rPr>
              <a:t>right = 1.0</a:t>
            </a:r>
          </a:p>
        </p:txBody>
      </p:sp>
      <p:sp>
        <p:nvSpPr>
          <p:cNvPr id="16" name="TextBox 15"/>
          <p:cNvSpPr txBox="1"/>
          <p:nvPr/>
        </p:nvSpPr>
        <p:spPr>
          <a:xfrm>
            <a:off x="4895850" y="7620000"/>
            <a:ext cx="1905000" cy="3238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getLeftY()</a:t>
            </a:r>
          </a:p>
        </p:txBody>
      </p:sp>
      <p:sp>
        <p:nvSpPr>
          <p:cNvPr id="17" name="TextBox 16"/>
          <p:cNvSpPr txBox="1"/>
          <p:nvPr/>
        </p:nvSpPr>
        <p:spPr>
          <a:xfrm>
            <a:off x="5715000" y="6191250"/>
            <a:ext cx="1905000" cy="323850"/>
          </a:xfrm>
          <a:prstGeom prst="rect">
            <a:avLst/>
          </a:prstGeom>
          <a:noFill/>
        </p:spPr>
        <p:txBody>
          <a:bodyPr wrap="square" lIns="0" rIns="0" tIns="0" bIns="0" anchor="t">
            <a:spAutoFit/>
          </a:bodyPr>
          <a:lstStyle/>
          <a:p>
            <a:pPr algn="l"/>
            <a:r>
              <a:rPr sz="1500" b="0" i="0">
                <a:solidFill>
                  <a:srgbClr val="E8C27A"/>
                </a:solidFill>
                <a:latin typeface="Geist Mono"/>
                <a:ea typeface="Geist Mono"/>
                <a:cs typeface="Geist Mono"/>
              </a:rPr>
              <a:t>getLeftX()</a:t>
            </a:r>
          </a:p>
        </p:txBody>
      </p:sp>
      <p:sp>
        <p:nvSpPr>
          <p:cNvPr id="18" name="Rounded Rectangle 17"/>
          <p:cNvSpPr/>
          <p:nvPr/>
        </p:nvSpPr>
        <p:spPr>
          <a:xfrm>
            <a:off x="8953500" y="3143250"/>
            <a:ext cx="8420100" cy="1158240"/>
          </a:xfrm>
          <a:prstGeom prst="roundRect">
            <a:avLst>
              <a:gd name="adj" fmla="val 1315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34500" y="3524250"/>
            <a:ext cx="78867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forward = -controller_.getLeftY();</a:t>
            </a:r>
          </a:p>
        </p:txBody>
      </p:sp>
      <p:sp>
        <p:nvSpPr>
          <p:cNvPr id="20" name="TextBox 19"/>
          <p:cNvSpPr txBox="1"/>
          <p:nvPr/>
        </p:nvSpPr>
        <p:spPr>
          <a:xfrm>
            <a:off x="8953500" y="4476750"/>
            <a:ext cx="8420100" cy="11430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The minus sign flips it, so pushing up means </a:t>
            </a:r>
            <a:r>
              <a:rPr sz="2250" b="1" i="0">
                <a:solidFill>
                  <a:srgbClr val="F0E8E8"/>
                </a:solidFill>
                <a:latin typeface="Geist"/>
                <a:ea typeface="Geist"/>
                <a:cs typeface="Geist"/>
              </a:rPr>
              <a:t>forward</a:t>
            </a:r>
            <a:r>
              <a:rPr sz="2250" b="0" i="0">
                <a:solidFill>
                  <a:srgbClr val="F0E8E8"/>
                </a:solidFill>
                <a:latin typeface="Geist"/>
                <a:ea typeface="Geist"/>
                <a:cs typeface="Geist"/>
              </a:rPr>
              <a:t>.</a:t>
            </a:r>
          </a:p>
        </p:txBody>
      </p:sp>
      <p:sp>
        <p:nvSpPr>
          <p:cNvPr id="21" name="Rounded Rectangle 20"/>
          <p:cNvSpPr/>
          <p:nvPr/>
        </p:nvSpPr>
        <p:spPr>
          <a:xfrm>
            <a:off x="8953500" y="5905500"/>
            <a:ext cx="8420100" cy="1905000"/>
          </a:xfrm>
          <a:prstGeom prst="roundRect">
            <a:avLst>
              <a:gd name="adj" fmla="val 8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34500" y="6191250"/>
            <a:ext cx="5334000" cy="1333500"/>
          </a:xfrm>
          <a:prstGeom prst="rect">
            <a:avLst/>
          </a:prstGeom>
          <a:noFill/>
        </p:spPr>
        <p:txBody>
          <a:bodyPr wrap="square" lIns="0" rIns="0" tIns="0" bIns="0" anchor="t">
            <a:spAutoFit/>
          </a:bodyPr>
          <a:lstStyle/>
          <a:p>
            <a:pPr algn="l">
              <a:lnSpc>
                <a:spcPct val="130000"/>
              </a:lnSpc>
            </a:pPr>
            <a:r>
              <a:rPr sz="1950" b="1" i="0">
                <a:solidFill>
                  <a:srgbClr val="F0E8E8"/>
                </a:solidFill>
                <a:latin typeface="Geist"/>
                <a:ea typeface="Geist"/>
                <a:cs typeface="Geist"/>
              </a:rPr>
              <a:t>Forgot the minus?  </a:t>
            </a:r>
            <a:r>
              <a:rPr sz="1950" b="0" i="0">
                <a:solidFill>
                  <a:srgbClr val="F0E8E8"/>
                </a:solidFill>
                <a:latin typeface="Geist"/>
                <a:ea typeface="Geist"/>
                <a:cs typeface="Geist"/>
              </a:rPr>
              <a:t>The robot drives backward when you push up. It's the most common bug in this lesson.</a:t>
            </a:r>
          </a:p>
        </p:txBody>
      </p:sp>
      <p:pic>
        <p:nvPicPr>
          <p:cNvPr id="23" name="Picture 22" descr="dozer_wide_left.png"/>
          <p:cNvPicPr>
            <a:picLocks noChangeAspect="1"/>
          </p:cNvPicPr>
          <p:nvPr/>
        </p:nvPicPr>
        <p:blipFill>
          <a:blip r:embed="rId3"/>
          <a:stretch>
            <a:fillRect/>
          </a:stretch>
        </p:blipFill>
        <p:spPr>
          <a:xfrm>
            <a:off x="15049500" y="6286500"/>
            <a:ext cx="2095500" cy="1287986"/>
          </a:xfrm>
          <a:prstGeom prst="rect">
            <a:avLst/>
          </a:prstGeom>
        </p:spPr>
      </p:pic>
      <p:sp>
        <p:nvSpPr>
          <p:cNvPr id="24" name="TextBox 2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5" name="TextBox 2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Drivetrains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How the wheels are arranged decides how the robot moves</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Turn without a steering wheel? Spin one side faster!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DRIVETRAINS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ways to arrange wheels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181600" cy="5715000"/>
          </a:xfrm>
          <a:prstGeom prst="roundRect">
            <a:avLst>
              <a:gd name="adj" fmla="val 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ounded Rectangle 5"/>
          <p:cNvSpPr/>
          <p:nvPr/>
        </p:nvSpPr>
        <p:spPr>
          <a:xfrm>
            <a:off x="2362200" y="3333750"/>
            <a:ext cx="2286000" cy="2667000"/>
          </a:xfrm>
          <a:prstGeom prst="roundRect">
            <a:avLst>
              <a:gd name="adj" fmla="val 75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1885950" y="34480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1885950" y="43243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1885950" y="52006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ounded Rectangle 9"/>
          <p:cNvSpPr/>
          <p:nvPr/>
        </p:nvSpPr>
        <p:spPr>
          <a:xfrm>
            <a:off x="4705350" y="34480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705350" y="43243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705350" y="5200650"/>
            <a:ext cx="419100" cy="685800"/>
          </a:xfrm>
          <a:prstGeom prst="roundRect">
            <a:avLst>
              <a:gd name="adj" fmla="val 18181"/>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486150" y="4213860"/>
            <a:ext cx="38100" cy="853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a:off x="3429000" y="40957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95400" y="6477000"/>
            <a:ext cx="44196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Tank</a:t>
            </a:r>
          </a:p>
        </p:txBody>
      </p:sp>
      <p:sp>
        <p:nvSpPr>
          <p:cNvPr id="16" name="TextBox 15"/>
          <p:cNvSpPr txBox="1"/>
          <p:nvPr/>
        </p:nvSpPr>
        <p:spPr>
          <a:xfrm>
            <a:off x="1295400" y="7048500"/>
            <a:ext cx="4419600" cy="1333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Two fixed sides. Turns by running them at different speeds. What we learn on.</a:t>
            </a:r>
          </a:p>
        </p:txBody>
      </p:sp>
      <p:sp>
        <p:nvSpPr>
          <p:cNvPr id="17" name="Rounded Rectangle 16"/>
          <p:cNvSpPr/>
          <p:nvPr/>
        </p:nvSpPr>
        <p:spPr>
          <a:xfrm>
            <a:off x="6553200" y="2857500"/>
            <a:ext cx="5181600" cy="5715000"/>
          </a:xfrm>
          <a:prstGeom prst="roundRect">
            <a:avLst>
              <a:gd name="adj" fmla="val 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8001000" y="3333750"/>
            <a:ext cx="2286000" cy="2667000"/>
          </a:xfrm>
          <a:prstGeom prst="roundRect">
            <a:avLst>
              <a:gd name="adj" fmla="val 75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7467600" y="3381375"/>
            <a:ext cx="476250" cy="857250"/>
          </a:xfrm>
          <a:prstGeom prst="roundRect">
            <a:avLst>
              <a:gd name="adj" fmla="val 16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0" name="Connector 19"/>
          <p:cNvCxnSpPr/>
          <p:nvPr/>
        </p:nvCxnSpPr>
        <p:spPr>
          <a:xfrm flipV="1">
            <a:off x="7524750" y="34480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524750" y="36766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524750" y="39052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467600" y="5095875"/>
            <a:ext cx="476250" cy="857250"/>
          </a:xfrm>
          <a:prstGeom prst="roundRect">
            <a:avLst>
              <a:gd name="adj" fmla="val 16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4" name="Connector 23"/>
          <p:cNvCxnSpPr/>
          <p:nvPr/>
        </p:nvCxnSpPr>
        <p:spPr>
          <a:xfrm>
            <a:off x="7524750" y="51625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524750" y="53911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24750" y="56197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0344150" y="3381375"/>
            <a:ext cx="476250" cy="857250"/>
          </a:xfrm>
          <a:prstGeom prst="roundRect">
            <a:avLst>
              <a:gd name="adj" fmla="val 16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8" name="Connector 27"/>
          <p:cNvCxnSpPr/>
          <p:nvPr/>
        </p:nvCxnSpPr>
        <p:spPr>
          <a:xfrm>
            <a:off x="10401300" y="34480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0401300" y="36766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0401300" y="39052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344150" y="5095875"/>
            <a:ext cx="476250" cy="857250"/>
          </a:xfrm>
          <a:prstGeom prst="roundRect">
            <a:avLst>
              <a:gd name="adj" fmla="val 16000"/>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V="1">
            <a:off x="10401300" y="51625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0401300" y="53911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10401300" y="5619750"/>
            <a:ext cx="361950" cy="266700"/>
          </a:xfrm>
          <a:prstGeom prst="line">
            <a:avLst/>
          </a:prstGeom>
          <a:ln w="38100">
            <a:solidFill>
              <a:srgbClr val="0A0A0A"/>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9124950" y="4213860"/>
            <a:ext cx="38100" cy="853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sosceles Triangle 35"/>
          <p:cNvSpPr/>
          <p:nvPr/>
        </p:nvSpPr>
        <p:spPr>
          <a:xfrm>
            <a:off x="9067800" y="40957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34200" y="6477000"/>
            <a:ext cx="44196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Mecanum</a:t>
            </a:r>
          </a:p>
        </p:txBody>
      </p:sp>
      <p:sp>
        <p:nvSpPr>
          <p:cNvPr id="38" name="TextBox 37"/>
          <p:cNvSpPr txBox="1"/>
          <p:nvPr/>
        </p:nvSpPr>
        <p:spPr>
          <a:xfrm>
            <a:off x="6934200" y="7048500"/>
            <a:ext cx="4419600" cy="1333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Angled rollers let it slide sideways too.</a:t>
            </a:r>
          </a:p>
        </p:txBody>
      </p:sp>
      <p:sp>
        <p:nvSpPr>
          <p:cNvPr id="39" name="Rounded Rectangle 38"/>
          <p:cNvSpPr/>
          <p:nvPr/>
        </p:nvSpPr>
        <p:spPr>
          <a:xfrm>
            <a:off x="12192000" y="2857500"/>
            <a:ext cx="5181600" cy="5715000"/>
          </a:xfrm>
          <a:prstGeom prst="roundRect">
            <a:avLst>
              <a:gd name="adj" fmla="val 2941"/>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13639800" y="3333750"/>
            <a:ext cx="2286000" cy="2667000"/>
          </a:xfrm>
          <a:prstGeom prst="roundRect">
            <a:avLst>
              <a:gd name="adj" fmla="val 7500"/>
            </a:avLst>
          </a:prstGeom>
          <a:solidFill>
            <a:srgbClr val="0A0A0A"/>
          </a:solidFill>
          <a:ln w="28575">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13754100" y="3448050"/>
            <a:ext cx="762000" cy="762000"/>
          </a:xfrm>
          <a:prstGeom prst="roundRect">
            <a:avLst>
              <a:gd name="adj" fmla="val 15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rot="2100000">
            <a:off x="13982700" y="3505200"/>
            <a:ext cx="304800" cy="647700"/>
          </a:xfrm>
          <a:prstGeom prst="roundRect">
            <a:avLst>
              <a:gd name="adj" fmla="val 25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13754100" y="5124450"/>
            <a:ext cx="762000" cy="762000"/>
          </a:xfrm>
          <a:prstGeom prst="roundRect">
            <a:avLst>
              <a:gd name="adj" fmla="val 15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rot="2100000">
            <a:off x="13982700" y="5181600"/>
            <a:ext cx="304800" cy="647700"/>
          </a:xfrm>
          <a:prstGeom prst="roundRect">
            <a:avLst>
              <a:gd name="adj" fmla="val 25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15049500" y="3448050"/>
            <a:ext cx="762000" cy="762000"/>
          </a:xfrm>
          <a:prstGeom prst="roundRect">
            <a:avLst>
              <a:gd name="adj" fmla="val 15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rot="2100000">
            <a:off x="15278100" y="3505200"/>
            <a:ext cx="304800" cy="647700"/>
          </a:xfrm>
          <a:prstGeom prst="roundRect">
            <a:avLst>
              <a:gd name="adj" fmla="val 25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15049500" y="5124450"/>
            <a:ext cx="762000" cy="762000"/>
          </a:xfrm>
          <a:prstGeom prst="roundRect">
            <a:avLst>
              <a:gd name="adj" fmla="val 15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rot="2100000">
            <a:off x="15278100" y="5181600"/>
            <a:ext cx="304800" cy="647700"/>
          </a:xfrm>
          <a:prstGeom prst="roundRect">
            <a:avLst>
              <a:gd name="adj" fmla="val 25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4763750" y="4213860"/>
            <a:ext cx="38100" cy="8534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Isosceles Triangle 49"/>
          <p:cNvSpPr/>
          <p:nvPr/>
        </p:nvSpPr>
        <p:spPr>
          <a:xfrm>
            <a:off x="14706600" y="40957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573000" y="6477000"/>
            <a:ext cx="4419600" cy="476250"/>
          </a:xfrm>
          <a:prstGeom prst="rect">
            <a:avLst/>
          </a:prstGeom>
          <a:noFill/>
        </p:spPr>
        <p:txBody>
          <a:bodyPr wrap="square" lIns="0" rIns="0" tIns="0" bIns="0" anchor="t">
            <a:spAutoFit/>
          </a:bodyPr>
          <a:lstStyle/>
          <a:p>
            <a:pPr algn="l"/>
            <a:r>
              <a:rPr sz="2700" b="1" i="0">
                <a:solidFill>
                  <a:srgbClr val="F0E8E8"/>
                </a:solidFill>
                <a:latin typeface="Geist"/>
                <a:ea typeface="Geist"/>
                <a:cs typeface="Geist"/>
              </a:rPr>
              <a:t>Swerve</a:t>
            </a:r>
          </a:p>
        </p:txBody>
      </p:sp>
      <p:sp>
        <p:nvSpPr>
          <p:cNvPr id="52" name="TextBox 51"/>
          <p:cNvSpPr txBox="1"/>
          <p:nvPr/>
        </p:nvSpPr>
        <p:spPr>
          <a:xfrm>
            <a:off x="12573000" y="7048500"/>
            <a:ext cx="4419600" cy="13335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Every wheel steers. Drives any direction, facing any direction.</a:t>
            </a:r>
          </a:p>
        </p:txBody>
      </p:sp>
      <p:sp>
        <p:nvSpPr>
          <p:cNvPr id="53" name="Rounded Rectangle 52"/>
          <p:cNvSpPr/>
          <p:nvPr/>
        </p:nvSpPr>
        <p:spPr>
          <a:xfrm>
            <a:off x="15049500" y="6477000"/>
            <a:ext cx="1943100" cy="41910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15049500" y="6477000"/>
            <a:ext cx="1943100" cy="419100"/>
          </a:xfrm>
          <a:prstGeom prst="rect">
            <a:avLst/>
          </a:prstGeom>
          <a:noFill/>
        </p:spPr>
        <p:txBody>
          <a:bodyPr wrap="square" lIns="0" rIns="0" tIns="0" bIns="0" anchor="ctr">
            <a:spAutoFit/>
          </a:bodyPr>
          <a:lstStyle/>
          <a:p>
            <a:pPr algn="ctr"/>
            <a:r>
              <a:rPr sz="1500" b="1" i="0">
                <a:solidFill>
                  <a:srgbClr val="FFFFFF"/>
                </a:solidFill>
                <a:latin typeface="Geist"/>
                <a:ea typeface="Geist"/>
                <a:cs typeface="Geist"/>
              </a:rPr>
              <a:t>Ours since 2014</a:t>
            </a:r>
          </a:p>
        </p:txBody>
      </p:sp>
      <p:sp>
        <p:nvSpPr>
          <p:cNvPr id="55" name="TextBox 5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6" name="TextBox 5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DRIVETRAINS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Steering by speed</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3527425" y="3734943"/>
            <a:ext cx="57150" cy="770382"/>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475990" y="3619500"/>
            <a:ext cx="160020" cy="16002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dozer_top.png"/>
          <p:cNvPicPr>
            <a:picLocks noChangeAspect="1"/>
          </p:cNvPicPr>
          <p:nvPr/>
        </p:nvPicPr>
        <p:blipFill>
          <a:blip r:embed="rId3"/>
          <a:stretch>
            <a:fillRect/>
          </a:stretch>
        </p:blipFill>
        <p:spPr>
          <a:xfrm rot="16200000">
            <a:off x="2746375" y="4970791"/>
            <a:ext cx="1619250" cy="1488419"/>
          </a:xfrm>
          <a:prstGeom prst="rect">
            <a:avLst/>
          </a:prstGeom>
        </p:spPr>
      </p:pic>
      <p:sp>
        <p:nvSpPr>
          <p:cNvPr id="9" name="Rectangle 8"/>
          <p:cNvSpPr/>
          <p:nvPr/>
        </p:nvSpPr>
        <p:spPr>
          <a:xfrm>
            <a:off x="2184400" y="5297424"/>
            <a:ext cx="76200" cy="10271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a:off x="2115820" y="514350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851400" y="5297424"/>
            <a:ext cx="76200" cy="10271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Isosceles Triangle 11"/>
          <p:cNvSpPr/>
          <p:nvPr/>
        </p:nvSpPr>
        <p:spPr>
          <a:xfrm>
            <a:off x="4782820" y="514350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70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L +0.5</a:t>
            </a:r>
          </a:p>
        </p:txBody>
      </p:sp>
      <p:sp>
        <p:nvSpPr>
          <p:cNvPr id="14" name="TextBox 13"/>
          <p:cNvSpPr txBox="1"/>
          <p:nvPr/>
        </p:nvSpPr>
        <p:spPr>
          <a:xfrm>
            <a:off x="3937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R +0.5</a:t>
            </a:r>
          </a:p>
        </p:txBody>
      </p:sp>
      <p:sp>
        <p:nvSpPr>
          <p:cNvPr id="15" name="TextBox 14"/>
          <p:cNvSpPr txBox="1"/>
          <p:nvPr/>
        </p:nvSpPr>
        <p:spPr>
          <a:xfrm>
            <a:off x="1295400" y="76200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Straight</a:t>
            </a:r>
          </a:p>
        </p:txBody>
      </p:sp>
      <p:sp>
        <p:nvSpPr>
          <p:cNvPr id="16" name="TextBox 15"/>
          <p:cNvSpPr txBox="1"/>
          <p:nvPr/>
        </p:nvSpPr>
        <p:spPr>
          <a:xfrm>
            <a:off x="1295400" y="8077200"/>
            <a:ext cx="4521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Same speed both sides</a:t>
            </a:r>
          </a:p>
        </p:txBody>
      </p:sp>
      <p:sp>
        <p:nvSpPr>
          <p:cNvPr id="17" name="Rounded Rectangle 16"/>
          <p:cNvSpPr/>
          <p:nvPr/>
        </p:nvSpPr>
        <p:spPr>
          <a:xfrm>
            <a:off x="6502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rrow-repeat.png"/>
          <p:cNvPicPr>
            <a:picLocks noChangeAspect="1"/>
          </p:cNvPicPr>
          <p:nvPr/>
        </p:nvPicPr>
        <p:blipFill>
          <a:blip r:embed="rId4"/>
          <a:stretch>
            <a:fillRect/>
          </a:stretch>
        </p:blipFill>
        <p:spPr>
          <a:xfrm>
            <a:off x="8763000" y="3714750"/>
            <a:ext cx="885825" cy="685800"/>
          </a:xfrm>
          <a:prstGeom prst="rect">
            <a:avLst/>
          </a:prstGeom>
        </p:spPr>
      </p:pic>
      <p:pic>
        <p:nvPicPr>
          <p:cNvPr id="19" name="Picture 18" descr="dozer_top.png"/>
          <p:cNvPicPr>
            <a:picLocks noChangeAspect="1"/>
          </p:cNvPicPr>
          <p:nvPr/>
        </p:nvPicPr>
        <p:blipFill>
          <a:blip r:embed="rId3"/>
          <a:stretch>
            <a:fillRect/>
          </a:stretch>
        </p:blipFill>
        <p:spPr>
          <a:xfrm rot="16200000">
            <a:off x="8334375" y="4970791"/>
            <a:ext cx="1619250" cy="1488419"/>
          </a:xfrm>
          <a:prstGeom prst="rect">
            <a:avLst/>
          </a:prstGeom>
        </p:spPr>
      </p:pic>
      <p:sp>
        <p:nvSpPr>
          <p:cNvPr id="20" name="Rectangle 19"/>
          <p:cNvSpPr/>
          <p:nvPr/>
        </p:nvSpPr>
        <p:spPr>
          <a:xfrm>
            <a:off x="7772400" y="5297424"/>
            <a:ext cx="76200" cy="10271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7703820" y="514350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439400" y="5105400"/>
            <a:ext cx="76200" cy="1027176"/>
          </a:xfrm>
          <a:prstGeom prst="rect">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0800000">
            <a:off x="10370820" y="6073140"/>
            <a:ext cx="213360" cy="21336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L +0.5</a:t>
            </a:r>
          </a:p>
        </p:txBody>
      </p:sp>
      <p:sp>
        <p:nvSpPr>
          <p:cNvPr id="25" name="TextBox 24"/>
          <p:cNvSpPr txBox="1"/>
          <p:nvPr/>
        </p:nvSpPr>
        <p:spPr>
          <a:xfrm>
            <a:off x="9525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R -0.5</a:t>
            </a:r>
          </a:p>
        </p:txBody>
      </p:sp>
      <p:sp>
        <p:nvSpPr>
          <p:cNvPr id="26" name="TextBox 25"/>
          <p:cNvSpPr txBox="1"/>
          <p:nvPr/>
        </p:nvSpPr>
        <p:spPr>
          <a:xfrm>
            <a:off x="6883400" y="76200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Spin</a:t>
            </a:r>
          </a:p>
        </p:txBody>
      </p:sp>
      <p:sp>
        <p:nvSpPr>
          <p:cNvPr id="27" name="TextBox 26"/>
          <p:cNvSpPr txBox="1"/>
          <p:nvPr/>
        </p:nvSpPr>
        <p:spPr>
          <a:xfrm>
            <a:off x="6883400" y="8077200"/>
            <a:ext cx="4521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Opposite speeds</a:t>
            </a:r>
          </a:p>
        </p:txBody>
      </p:sp>
      <p:sp>
        <p:nvSpPr>
          <p:cNvPr id="28" name="Rounded Rectangle 27"/>
          <p:cNvSpPr/>
          <p:nvPr/>
        </p:nvSpPr>
        <p:spPr>
          <a:xfrm>
            <a:off x="12090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14674850" y="4514850"/>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4685810" y="4378019"/>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4718531" y="4243156"/>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4772543" y="4112201"/>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4847070" y="3987036"/>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4941039" y="3869464"/>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5053098" y="3761173"/>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5181637" y="3663723"/>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5324806" y="3578514"/>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5480546" y="3506772"/>
            <a:ext cx="114300" cy="1143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flipV="1">
            <a:off x="15537696" y="3544779"/>
            <a:ext cx="261321" cy="19143"/>
          </a:xfrm>
          <a:prstGeom prst="line">
            <a:avLst/>
          </a:prstGeom>
          <a:ln w="57150">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pic>
        <p:nvPicPr>
          <p:cNvPr id="40" name="Picture 39" descr="dozer_top.png"/>
          <p:cNvPicPr>
            <a:picLocks noChangeAspect="1"/>
          </p:cNvPicPr>
          <p:nvPr/>
        </p:nvPicPr>
        <p:blipFill>
          <a:blip r:embed="rId3"/>
          <a:stretch>
            <a:fillRect/>
          </a:stretch>
        </p:blipFill>
        <p:spPr>
          <a:xfrm rot="16200000">
            <a:off x="13922375" y="4970791"/>
            <a:ext cx="1619250" cy="1488419"/>
          </a:xfrm>
          <a:prstGeom prst="rect">
            <a:avLst/>
          </a:prstGeom>
        </p:spPr>
      </p:pic>
      <p:sp>
        <p:nvSpPr>
          <p:cNvPr id="41" name="Rectangle 40"/>
          <p:cNvSpPr/>
          <p:nvPr/>
        </p:nvSpPr>
        <p:spPr>
          <a:xfrm>
            <a:off x="13360400" y="5183124"/>
            <a:ext cx="76200" cy="12557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a:off x="13291820" y="502920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6027400" y="5526024"/>
            <a:ext cx="76200" cy="56997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Isosceles Triangle 43"/>
          <p:cNvSpPr/>
          <p:nvPr/>
        </p:nvSpPr>
        <p:spPr>
          <a:xfrm>
            <a:off x="15958820" y="5372100"/>
            <a:ext cx="213360" cy="21336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446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L +0.6</a:t>
            </a:r>
          </a:p>
        </p:txBody>
      </p:sp>
      <p:sp>
        <p:nvSpPr>
          <p:cNvPr id="46" name="TextBox 45"/>
          <p:cNvSpPr txBox="1"/>
          <p:nvPr/>
        </p:nvSpPr>
        <p:spPr>
          <a:xfrm>
            <a:off x="15113000" y="7143750"/>
            <a:ext cx="1905000" cy="323850"/>
          </a:xfrm>
          <a:prstGeom prst="rect">
            <a:avLst/>
          </a:prstGeom>
          <a:noFill/>
        </p:spPr>
        <p:txBody>
          <a:bodyPr wrap="square" lIns="0" rIns="0" tIns="0" bIns="0" anchor="t">
            <a:spAutoFit/>
          </a:bodyPr>
          <a:lstStyle/>
          <a:p>
            <a:pPr algn="ctr"/>
            <a:r>
              <a:rPr sz="1800" b="1" i="0">
                <a:solidFill>
                  <a:srgbClr val="E8C27A"/>
                </a:solidFill>
                <a:latin typeface="Geist Mono"/>
                <a:ea typeface="Geist Mono"/>
                <a:cs typeface="Geist Mono"/>
              </a:rPr>
              <a:t>R +0.3</a:t>
            </a:r>
          </a:p>
        </p:txBody>
      </p:sp>
      <p:sp>
        <p:nvSpPr>
          <p:cNvPr id="47" name="TextBox 46"/>
          <p:cNvSpPr txBox="1"/>
          <p:nvPr/>
        </p:nvSpPr>
        <p:spPr>
          <a:xfrm>
            <a:off x="12471400" y="7620000"/>
            <a:ext cx="4521200" cy="419100"/>
          </a:xfrm>
          <a:prstGeom prst="rect">
            <a:avLst/>
          </a:prstGeom>
          <a:noFill/>
        </p:spPr>
        <p:txBody>
          <a:bodyPr wrap="square" lIns="0" rIns="0" tIns="0" bIns="0" anchor="t">
            <a:spAutoFit/>
          </a:bodyPr>
          <a:lstStyle/>
          <a:p>
            <a:pPr algn="l"/>
            <a:r>
              <a:rPr sz="2550" b="1" i="0">
                <a:solidFill>
                  <a:srgbClr val="F0E8E8"/>
                </a:solidFill>
                <a:latin typeface="Geist"/>
                <a:ea typeface="Geist"/>
                <a:cs typeface="Geist"/>
              </a:rPr>
              <a:t>Curve</a:t>
            </a:r>
          </a:p>
        </p:txBody>
      </p:sp>
      <p:sp>
        <p:nvSpPr>
          <p:cNvPr id="48" name="TextBox 47"/>
          <p:cNvSpPr txBox="1"/>
          <p:nvPr/>
        </p:nvSpPr>
        <p:spPr>
          <a:xfrm>
            <a:off x="12471400" y="8077200"/>
            <a:ext cx="45212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Left faster: curves right</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Tank and arcade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Writing the drive code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Tank uses two sticks. Arcade uses one. Try both!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Tank drive: one stick per side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096500" cy="2895600"/>
          </a:xfrm>
          <a:prstGeom prst="roundRect">
            <a:avLst>
              <a:gd name="adj" fmla="val 526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50970"/>
            <a:ext cx="10058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50970"/>
            <a:ext cx="57150" cy="42672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377690"/>
            <a:ext cx="10058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377690"/>
            <a:ext cx="57150" cy="42672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804410"/>
            <a:ext cx="10058400" cy="42672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804410"/>
            <a:ext cx="57150" cy="42672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9563100" cy="426720"/>
          </a:xfrm>
          <a:prstGeom prst="rect">
            <a:avLst/>
          </a:prstGeom>
          <a:noFill/>
        </p:spPr>
        <p:txBody>
          <a:bodyPr wrap="square" lIns="0" rIns="0" tIns="0" bIns="0" anchor="ctr">
            <a:spAutoFit/>
          </a:bodyPr>
          <a:lstStyle/>
          <a:p>
            <a:pPr algn="l"/>
            <a:r>
              <a:rPr sz="2100" b="0" i="0">
                <a:solidFill>
                  <a:srgbClr val="E0785F"/>
                </a:solidFill>
                <a:latin typeface="Geist Mono"/>
                <a:ea typeface="Geist Mono"/>
                <a:cs typeface="Geist Mono"/>
              </a:rPr>
              <a:t>public</a:t>
            </a:r>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void</a:t>
            </a:r>
            <a:r>
              <a:rPr sz="2100" b="0" i="0">
                <a:solidFill>
                  <a:srgbClr val="F0E8E8"/>
                </a:solidFill>
                <a:latin typeface="Geist Mono"/>
                <a:ea typeface="Geist Mono"/>
                <a:cs typeface="Geist Mono"/>
              </a:rPr>
              <a:t> teleopPeriodic() {</a:t>
            </a:r>
          </a:p>
        </p:txBody>
      </p:sp>
      <p:sp>
        <p:nvSpPr>
          <p:cNvPr id="14" name="TextBox 13"/>
          <p:cNvSpPr txBox="1"/>
          <p:nvPr/>
        </p:nvSpPr>
        <p:spPr>
          <a:xfrm>
            <a:off x="1295400" y="3950970"/>
            <a:ext cx="9563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left = -controller_.getLeftY();</a:t>
            </a:r>
          </a:p>
        </p:txBody>
      </p:sp>
      <p:sp>
        <p:nvSpPr>
          <p:cNvPr id="15" name="TextBox 14"/>
          <p:cNvSpPr txBox="1"/>
          <p:nvPr/>
        </p:nvSpPr>
        <p:spPr>
          <a:xfrm>
            <a:off x="1295400" y="4377690"/>
            <a:ext cx="9563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a:t>
            </a:r>
            <a:r>
              <a:rPr sz="2100" b="0" i="0">
                <a:solidFill>
                  <a:srgbClr val="E0785F"/>
                </a:solidFill>
                <a:latin typeface="Geist Mono"/>
                <a:ea typeface="Geist Mono"/>
                <a:cs typeface="Geist Mono"/>
              </a:rPr>
              <a:t>double</a:t>
            </a:r>
            <a:r>
              <a:rPr sz="2100" b="0" i="0">
                <a:solidFill>
                  <a:srgbClr val="F0E8E8"/>
                </a:solidFill>
                <a:latin typeface="Geist Mono"/>
                <a:ea typeface="Geist Mono"/>
                <a:cs typeface="Geist Mono"/>
              </a:rPr>
              <a:t> right = -controller_.getRightY();</a:t>
            </a:r>
          </a:p>
        </p:txBody>
      </p:sp>
      <p:sp>
        <p:nvSpPr>
          <p:cNvPr id="16" name="TextBox 15"/>
          <p:cNvSpPr txBox="1"/>
          <p:nvPr/>
        </p:nvSpPr>
        <p:spPr>
          <a:xfrm>
            <a:off x="1295400" y="4804410"/>
            <a:ext cx="9563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  drive_.setDutyCycles(left, right);</a:t>
            </a:r>
          </a:p>
        </p:txBody>
      </p:sp>
      <p:sp>
        <p:nvSpPr>
          <p:cNvPr id="17" name="TextBox 16"/>
          <p:cNvSpPr txBox="1"/>
          <p:nvPr/>
        </p:nvSpPr>
        <p:spPr>
          <a:xfrm>
            <a:off x="1295400" y="5231130"/>
            <a:ext cx="9563100" cy="42672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a:t>
            </a:r>
          </a:p>
        </p:txBody>
      </p:sp>
      <p:sp>
        <p:nvSpPr>
          <p:cNvPr id="18" name="Oval 17"/>
          <p:cNvSpPr/>
          <p:nvPr/>
        </p:nvSpPr>
        <p:spPr>
          <a:xfrm>
            <a:off x="10401300" y="39738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01300" y="39738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401300" y="44005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401300" y="44005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Oval 21"/>
          <p:cNvSpPr/>
          <p:nvPr/>
        </p:nvSpPr>
        <p:spPr>
          <a:xfrm>
            <a:off x="10401300" y="482727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01300" y="482727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 name="Oval 23"/>
          <p:cNvSpPr/>
          <p:nvPr/>
        </p:nvSpPr>
        <p:spPr>
          <a:xfrm>
            <a:off x="116776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TextBox 25"/>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Left stick</a:t>
            </a:r>
          </a:p>
        </p:txBody>
      </p:sp>
      <p:sp>
        <p:nvSpPr>
          <p:cNvPr id="27" name="TextBox 26"/>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Up and down, flipped: the left side</a:t>
            </a:r>
          </a:p>
        </p:txBody>
      </p:sp>
      <p:sp>
        <p:nvSpPr>
          <p:cNvPr id="28" name="Oval 27"/>
          <p:cNvSpPr/>
          <p:nvPr/>
        </p:nvSpPr>
        <p:spPr>
          <a:xfrm>
            <a:off x="11677650" y="4476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0" name="TextBox 29"/>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stick</a:t>
            </a:r>
          </a:p>
        </p:txBody>
      </p:sp>
      <p:sp>
        <p:nvSpPr>
          <p:cNvPr id="31" name="TextBox 30"/>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Up and down, flipped: the right side</a:t>
            </a:r>
          </a:p>
        </p:txBody>
      </p:sp>
      <p:sp>
        <p:nvSpPr>
          <p:cNvPr id="32" name="Oval 31"/>
          <p:cNvSpPr/>
          <p:nvPr/>
        </p:nvSpPr>
        <p:spPr>
          <a:xfrm>
            <a:off x="11677650" y="6096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4" name="TextBox 33"/>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Send it</a:t>
            </a:r>
          </a:p>
        </p:txBody>
      </p:sp>
      <p:sp>
        <p:nvSpPr>
          <p:cNvPr id="35" name="TextBox 34"/>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Both numbers go to the motors</a:t>
            </a:r>
          </a:p>
        </p:txBody>
      </p:sp>
      <p:sp>
        <p:nvSpPr>
          <p:cNvPr id="36" name="TextBox 35"/>
          <p:cNvSpPr txBox="1"/>
          <p:nvPr/>
        </p:nvSpPr>
        <p:spPr>
          <a:xfrm>
            <a:off x="914400" y="6667500"/>
            <a:ext cx="10096500" cy="38100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Push both sticks up to drive straight. One up and one down to spin.</a:t>
            </a:r>
          </a:p>
        </p:txBody>
      </p:sp>
      <p:pic>
        <p:nvPicPr>
          <p:cNvPr id="37" name="Picture 36" descr="code-slash.png"/>
          <p:cNvPicPr>
            <a:picLocks noChangeAspect="1"/>
          </p:cNvPicPr>
          <p:nvPr/>
        </p:nvPicPr>
        <p:blipFill>
          <a:blip r:embed="rId3"/>
          <a:stretch>
            <a:fillRect/>
          </a:stretch>
        </p:blipFill>
        <p:spPr>
          <a:xfrm>
            <a:off x="914400" y="7277100"/>
            <a:ext cx="224518" cy="209550"/>
          </a:xfrm>
          <a:prstGeom prst="rect">
            <a:avLst/>
          </a:prstGeom>
        </p:spPr>
      </p:pic>
      <p:sp>
        <p:nvSpPr>
          <p:cNvPr id="38" name="TextBox 37"/>
          <p:cNvSpPr txBox="1"/>
          <p:nvPr/>
        </p:nvSpPr>
        <p:spPr>
          <a:xfrm>
            <a:off x="1295400" y="7239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a:t>
            </a:r>
          </a:p>
        </p:txBody>
      </p:sp>
      <p:sp>
        <p:nvSpPr>
          <p:cNvPr id="39" name="TextBox 3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0" name="TextBox 3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Arcade drive: one stick does it all</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287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Robot.java</a:t>
            </a:r>
          </a:p>
        </p:txBody>
      </p:sp>
      <p:sp>
        <p:nvSpPr>
          <p:cNvPr id="6" name="Rounded Rectangle 5"/>
          <p:cNvSpPr/>
          <p:nvPr/>
        </p:nvSpPr>
        <p:spPr>
          <a:xfrm>
            <a:off x="914400" y="3143250"/>
            <a:ext cx="10287000" cy="3535680"/>
          </a:xfrm>
          <a:prstGeom prst="roundRect">
            <a:avLst>
              <a:gd name="adj" fmla="val 431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712970"/>
            <a:ext cx="1024890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712970"/>
            <a:ext cx="57150" cy="39624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109210"/>
            <a:ext cx="10248900" cy="39624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109210"/>
            <a:ext cx="57150" cy="39624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9753600" cy="396240"/>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void</a:t>
            </a:r>
            <a:r>
              <a:rPr sz="1950" b="0" i="0">
                <a:solidFill>
                  <a:srgbClr val="F0E8E8"/>
                </a:solidFill>
                <a:latin typeface="Geist Mono"/>
                <a:ea typeface="Geist Mono"/>
                <a:cs typeface="Geist Mono"/>
              </a:rPr>
              <a:t> teleopPeriodic() {</a:t>
            </a:r>
          </a:p>
        </p:txBody>
      </p:sp>
      <p:sp>
        <p:nvSpPr>
          <p:cNvPr id="12" name="TextBox 11"/>
          <p:cNvSpPr txBox="1"/>
          <p:nvPr/>
        </p:nvSpPr>
        <p:spPr>
          <a:xfrm>
            <a:off x="1295400" y="3920490"/>
            <a:ext cx="9753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forward = -controller_.getLeftY();</a:t>
            </a:r>
          </a:p>
        </p:txBody>
      </p:sp>
      <p:sp>
        <p:nvSpPr>
          <p:cNvPr id="13" name="TextBox 12"/>
          <p:cNvSpPr txBox="1"/>
          <p:nvPr/>
        </p:nvSpPr>
        <p:spPr>
          <a:xfrm>
            <a:off x="1295400" y="4316730"/>
            <a:ext cx="9753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turn = controller_.getLeftX();</a:t>
            </a:r>
          </a:p>
        </p:txBody>
      </p:sp>
      <p:sp>
        <p:nvSpPr>
          <p:cNvPr id="14" name="TextBox 13"/>
          <p:cNvSpPr txBox="1"/>
          <p:nvPr/>
        </p:nvSpPr>
        <p:spPr>
          <a:xfrm>
            <a:off x="1295400" y="4712970"/>
            <a:ext cx="9753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left_speed = forward + turn;</a:t>
            </a:r>
          </a:p>
        </p:txBody>
      </p:sp>
      <p:sp>
        <p:nvSpPr>
          <p:cNvPr id="15" name="TextBox 14"/>
          <p:cNvSpPr txBox="1"/>
          <p:nvPr/>
        </p:nvSpPr>
        <p:spPr>
          <a:xfrm>
            <a:off x="1295400" y="5109210"/>
            <a:ext cx="9753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double</a:t>
            </a:r>
            <a:r>
              <a:rPr sz="1950" b="0" i="0">
                <a:solidFill>
                  <a:srgbClr val="F0E8E8"/>
                </a:solidFill>
                <a:latin typeface="Geist Mono"/>
                <a:ea typeface="Geist Mono"/>
                <a:cs typeface="Geist Mono"/>
              </a:rPr>
              <a:t> right_speed = forward - turn;</a:t>
            </a:r>
          </a:p>
        </p:txBody>
      </p:sp>
      <p:sp>
        <p:nvSpPr>
          <p:cNvPr id="16" name="TextBox 15"/>
          <p:cNvSpPr txBox="1"/>
          <p:nvPr/>
        </p:nvSpPr>
        <p:spPr>
          <a:xfrm>
            <a:off x="1295400" y="5505450"/>
            <a:ext cx="9753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drive_.setDutyCycles(left_speed, right_speed);</a:t>
            </a:r>
          </a:p>
        </p:txBody>
      </p:sp>
      <p:sp>
        <p:nvSpPr>
          <p:cNvPr id="17" name="TextBox 16"/>
          <p:cNvSpPr txBox="1"/>
          <p:nvPr/>
        </p:nvSpPr>
        <p:spPr>
          <a:xfrm>
            <a:off x="1295400" y="5901690"/>
            <a:ext cx="9753600" cy="39624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Oval 17"/>
          <p:cNvSpPr/>
          <p:nvPr/>
        </p:nvSpPr>
        <p:spPr>
          <a:xfrm>
            <a:off x="10591800" y="392811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91800" y="392811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Oval 19"/>
          <p:cNvSpPr/>
          <p:nvPr/>
        </p:nvSpPr>
        <p:spPr>
          <a:xfrm>
            <a:off x="10591800" y="432435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91800" y="432435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2" name="Oval 21"/>
          <p:cNvSpPr/>
          <p:nvPr/>
        </p:nvSpPr>
        <p:spPr>
          <a:xfrm>
            <a:off x="10591800" y="47205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91800" y="47205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 name="Oval 23"/>
          <p:cNvSpPr/>
          <p:nvPr/>
        </p:nvSpPr>
        <p:spPr>
          <a:xfrm>
            <a:off x="10591800" y="551307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591800" y="551307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6" name="Oval 25"/>
          <p:cNvSpPr/>
          <p:nvPr/>
        </p:nvSpPr>
        <p:spPr>
          <a:xfrm>
            <a:off x="118681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8681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8" name="TextBox 27"/>
          <p:cNvSpPr txBox="1"/>
          <p:nvPr/>
        </p:nvSpPr>
        <p:spPr>
          <a:xfrm>
            <a:off x="12477750" y="281940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Forward</a:t>
            </a:r>
          </a:p>
        </p:txBody>
      </p:sp>
      <p:sp>
        <p:nvSpPr>
          <p:cNvPr id="29" name="TextBox 28"/>
          <p:cNvSpPr txBox="1"/>
          <p:nvPr/>
        </p:nvSpPr>
        <p:spPr>
          <a:xfrm>
            <a:off x="12477750" y="323850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stick up and down, flipped</a:t>
            </a:r>
          </a:p>
        </p:txBody>
      </p:sp>
      <p:sp>
        <p:nvSpPr>
          <p:cNvPr id="30" name="Oval 29"/>
          <p:cNvSpPr/>
          <p:nvPr/>
        </p:nvSpPr>
        <p:spPr>
          <a:xfrm>
            <a:off x="118681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8681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2" name="TextBox 31"/>
          <p:cNvSpPr txBox="1"/>
          <p:nvPr/>
        </p:nvSpPr>
        <p:spPr>
          <a:xfrm>
            <a:off x="12477750" y="424815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Turn</a:t>
            </a:r>
          </a:p>
        </p:txBody>
      </p:sp>
      <p:sp>
        <p:nvSpPr>
          <p:cNvPr id="33" name="TextBox 32"/>
          <p:cNvSpPr txBox="1"/>
          <p:nvPr/>
        </p:nvSpPr>
        <p:spPr>
          <a:xfrm>
            <a:off x="12477750" y="466725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stick left and right. Not flipped</a:t>
            </a:r>
          </a:p>
        </p:txBody>
      </p:sp>
      <p:sp>
        <p:nvSpPr>
          <p:cNvPr id="34" name="Oval 33"/>
          <p:cNvSpPr/>
          <p:nvPr/>
        </p:nvSpPr>
        <p:spPr>
          <a:xfrm>
            <a:off x="118681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8681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6" name="TextBox 35"/>
          <p:cNvSpPr txBox="1"/>
          <p:nvPr/>
        </p:nvSpPr>
        <p:spPr>
          <a:xfrm>
            <a:off x="12477750" y="567690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Mix</a:t>
            </a:r>
          </a:p>
        </p:txBody>
      </p:sp>
      <p:sp>
        <p:nvSpPr>
          <p:cNvPr id="37" name="TextBox 36"/>
          <p:cNvSpPr txBox="1"/>
          <p:nvPr/>
        </p:nvSpPr>
        <p:spPr>
          <a:xfrm>
            <a:off x="12477750" y="609600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Left gets forward + turn; right gets forward - turn</a:t>
            </a:r>
          </a:p>
        </p:txBody>
      </p:sp>
      <p:sp>
        <p:nvSpPr>
          <p:cNvPr id="38" name="Oval 37"/>
          <p:cNvSpPr/>
          <p:nvPr/>
        </p:nvSpPr>
        <p:spPr>
          <a:xfrm>
            <a:off x="118681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8681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0" name="TextBox 39"/>
          <p:cNvSpPr txBox="1"/>
          <p:nvPr/>
        </p:nvSpPr>
        <p:spPr>
          <a:xfrm>
            <a:off x="12477750" y="7105650"/>
            <a:ext cx="48958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Send it</a:t>
            </a:r>
          </a:p>
        </p:txBody>
      </p:sp>
      <p:sp>
        <p:nvSpPr>
          <p:cNvPr id="41" name="TextBox 40"/>
          <p:cNvSpPr txBox="1"/>
          <p:nvPr/>
        </p:nvSpPr>
        <p:spPr>
          <a:xfrm>
            <a:off x="12477750" y="7524750"/>
            <a:ext cx="48958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Same method as tank</a:t>
            </a:r>
          </a:p>
        </p:txBody>
      </p:sp>
      <p:pic>
        <p:nvPicPr>
          <p:cNvPr id="42" name="Picture 41" descr="code-slash.png"/>
          <p:cNvPicPr>
            <a:picLocks noChangeAspect="1"/>
          </p:cNvPicPr>
          <p:nvPr/>
        </p:nvPicPr>
        <p:blipFill>
          <a:blip r:embed="rId3"/>
          <a:stretch>
            <a:fillRect/>
          </a:stretch>
        </p:blipFill>
        <p:spPr>
          <a:xfrm>
            <a:off x="914400" y="8039100"/>
            <a:ext cx="224518" cy="209550"/>
          </a:xfrm>
          <a:prstGeom prst="rect">
            <a:avLst/>
          </a:prstGeom>
        </p:spPr>
      </p:pic>
      <p:sp>
        <p:nvSpPr>
          <p:cNvPr id="43" name="TextBox 42"/>
          <p:cNvSpPr txBox="1"/>
          <p:nvPr/>
        </p:nvSpPr>
        <p:spPr>
          <a:xfrm>
            <a:off x="1295400" y="8001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Operators</a:t>
            </a:r>
          </a:p>
        </p:txBody>
      </p:sp>
      <p:sp>
        <p:nvSpPr>
          <p:cNvPr id="44" name="TextBox 43"/>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5" name="TextBox 44"/>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Working the arcade math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16459200" cy="666750"/>
          </a:xfrm>
          <a:prstGeom prst="roundRect">
            <a:avLst>
              <a:gd name="adj" fmla="val 17142"/>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857500"/>
            <a:ext cx="2209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forward</a:t>
            </a:r>
          </a:p>
        </p:txBody>
      </p:sp>
      <p:sp>
        <p:nvSpPr>
          <p:cNvPr id="7" name="TextBox 6"/>
          <p:cNvSpPr txBox="1"/>
          <p:nvPr/>
        </p:nvSpPr>
        <p:spPr>
          <a:xfrm>
            <a:off x="3657600" y="2857500"/>
            <a:ext cx="220980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turn</a:t>
            </a:r>
          </a:p>
        </p:txBody>
      </p:sp>
      <p:sp>
        <p:nvSpPr>
          <p:cNvPr id="8" name="TextBox 7"/>
          <p:cNvSpPr txBox="1"/>
          <p:nvPr/>
        </p:nvSpPr>
        <p:spPr>
          <a:xfrm>
            <a:off x="6134100" y="2857500"/>
            <a:ext cx="2876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left = f + t</a:t>
            </a:r>
          </a:p>
        </p:txBody>
      </p:sp>
      <p:sp>
        <p:nvSpPr>
          <p:cNvPr id="9" name="TextBox 8"/>
          <p:cNvSpPr txBox="1"/>
          <p:nvPr/>
        </p:nvSpPr>
        <p:spPr>
          <a:xfrm>
            <a:off x="9277350" y="2857500"/>
            <a:ext cx="2876550" cy="6667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right = f - t</a:t>
            </a:r>
          </a:p>
        </p:txBody>
      </p:sp>
      <p:sp>
        <p:nvSpPr>
          <p:cNvPr id="10" name="TextBox 9"/>
          <p:cNvSpPr txBox="1"/>
          <p:nvPr/>
        </p:nvSpPr>
        <p:spPr>
          <a:xfrm>
            <a:off x="12420600" y="2857500"/>
            <a:ext cx="4953000" cy="66675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Robot</a:t>
            </a:r>
          </a:p>
        </p:txBody>
      </p:sp>
      <p:sp>
        <p:nvSpPr>
          <p:cNvPr id="11" name="Rectangle 10"/>
          <p:cNvSpPr/>
          <p:nvPr/>
        </p:nvSpPr>
        <p:spPr>
          <a:xfrm>
            <a:off x="904875" y="46005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361950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13" name="TextBox 12"/>
          <p:cNvSpPr txBox="1"/>
          <p:nvPr/>
        </p:nvSpPr>
        <p:spPr>
          <a:xfrm>
            <a:off x="3657600" y="361950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a:t>
            </a:r>
          </a:p>
        </p:txBody>
      </p:sp>
      <p:sp>
        <p:nvSpPr>
          <p:cNvPr id="14" name="TextBox 13"/>
          <p:cNvSpPr txBox="1"/>
          <p:nvPr/>
        </p:nvSpPr>
        <p:spPr>
          <a:xfrm>
            <a:off x="6134100" y="361950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15" name="TextBox 14"/>
          <p:cNvSpPr txBox="1"/>
          <p:nvPr/>
        </p:nvSpPr>
        <p:spPr>
          <a:xfrm>
            <a:off x="9277350" y="361950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16" name="TextBox 15"/>
          <p:cNvSpPr txBox="1"/>
          <p:nvPr/>
        </p:nvSpPr>
        <p:spPr>
          <a:xfrm>
            <a:off x="12420600" y="3619500"/>
            <a:ext cx="49530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Straight, half speed</a:t>
            </a:r>
          </a:p>
        </p:txBody>
      </p:sp>
      <p:sp>
        <p:nvSpPr>
          <p:cNvPr id="17" name="Rectangle 16"/>
          <p:cNvSpPr/>
          <p:nvPr/>
        </p:nvSpPr>
        <p:spPr>
          <a:xfrm>
            <a:off x="904875" y="56483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181100" y="466725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0.0</a:t>
            </a:r>
          </a:p>
        </p:txBody>
      </p:sp>
      <p:sp>
        <p:nvSpPr>
          <p:cNvPr id="19" name="TextBox 18"/>
          <p:cNvSpPr txBox="1"/>
          <p:nvPr/>
        </p:nvSpPr>
        <p:spPr>
          <a:xfrm>
            <a:off x="3657600" y="466725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20" name="TextBox 19"/>
          <p:cNvSpPr txBox="1"/>
          <p:nvPr/>
        </p:nvSpPr>
        <p:spPr>
          <a:xfrm>
            <a:off x="6134100" y="466725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21" name="TextBox 20"/>
          <p:cNvSpPr txBox="1"/>
          <p:nvPr/>
        </p:nvSpPr>
        <p:spPr>
          <a:xfrm>
            <a:off x="9277350" y="466725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22" name="TextBox 21"/>
          <p:cNvSpPr txBox="1"/>
          <p:nvPr/>
        </p:nvSpPr>
        <p:spPr>
          <a:xfrm>
            <a:off x="12420600" y="4667250"/>
            <a:ext cx="49530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Spins right in place</a:t>
            </a:r>
          </a:p>
        </p:txBody>
      </p:sp>
      <p:sp>
        <p:nvSpPr>
          <p:cNvPr id="23" name="Rectangle 22"/>
          <p:cNvSpPr/>
          <p:nvPr/>
        </p:nvSpPr>
        <p:spPr>
          <a:xfrm>
            <a:off x="904875" y="66960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81100" y="571500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25" name="TextBox 24"/>
          <p:cNvSpPr txBox="1"/>
          <p:nvPr/>
        </p:nvSpPr>
        <p:spPr>
          <a:xfrm>
            <a:off x="3657600" y="571500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26" name="TextBox 25"/>
          <p:cNvSpPr txBox="1"/>
          <p:nvPr/>
        </p:nvSpPr>
        <p:spPr>
          <a:xfrm>
            <a:off x="6134100" y="571500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1.0</a:t>
            </a:r>
          </a:p>
        </p:txBody>
      </p:sp>
      <p:sp>
        <p:nvSpPr>
          <p:cNvPr id="27" name="TextBox 26"/>
          <p:cNvSpPr txBox="1"/>
          <p:nvPr/>
        </p:nvSpPr>
        <p:spPr>
          <a:xfrm>
            <a:off x="9277350" y="571500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0.0</a:t>
            </a:r>
          </a:p>
        </p:txBody>
      </p:sp>
      <p:sp>
        <p:nvSpPr>
          <p:cNvPr id="28" name="TextBox 27"/>
          <p:cNvSpPr txBox="1"/>
          <p:nvPr/>
        </p:nvSpPr>
        <p:spPr>
          <a:xfrm>
            <a:off x="12420600" y="5715000"/>
            <a:ext cx="49530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Curves right</a:t>
            </a:r>
          </a:p>
        </p:txBody>
      </p:sp>
      <p:sp>
        <p:nvSpPr>
          <p:cNvPr id="29" name="Rounded Rectangle 28"/>
          <p:cNvSpPr/>
          <p:nvPr/>
        </p:nvSpPr>
        <p:spPr>
          <a:xfrm>
            <a:off x="914400" y="6762750"/>
            <a:ext cx="16459200" cy="952500"/>
          </a:xfrm>
          <a:prstGeom prst="roundRect">
            <a:avLst>
              <a:gd name="adj" fmla="val 12000"/>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904875" y="774382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1100" y="676275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1.0</a:t>
            </a:r>
          </a:p>
        </p:txBody>
      </p:sp>
      <p:sp>
        <p:nvSpPr>
          <p:cNvPr id="32" name="TextBox 31"/>
          <p:cNvSpPr txBox="1"/>
          <p:nvPr/>
        </p:nvSpPr>
        <p:spPr>
          <a:xfrm>
            <a:off x="3657600" y="6762750"/>
            <a:ext cx="2209800" cy="9525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0.5</a:t>
            </a:r>
          </a:p>
        </p:txBody>
      </p:sp>
      <p:sp>
        <p:nvSpPr>
          <p:cNvPr id="33" name="TextBox 32"/>
          <p:cNvSpPr txBox="1"/>
          <p:nvPr/>
        </p:nvSpPr>
        <p:spPr>
          <a:xfrm>
            <a:off x="6134100" y="676275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1.5 → 1.0</a:t>
            </a:r>
          </a:p>
        </p:txBody>
      </p:sp>
      <p:sp>
        <p:nvSpPr>
          <p:cNvPr id="34" name="TextBox 33"/>
          <p:cNvSpPr txBox="1"/>
          <p:nvPr/>
        </p:nvSpPr>
        <p:spPr>
          <a:xfrm>
            <a:off x="9277350" y="6762750"/>
            <a:ext cx="2876550" cy="952500"/>
          </a:xfrm>
          <a:prstGeom prst="rect">
            <a:avLst/>
          </a:prstGeom>
          <a:noFill/>
        </p:spPr>
        <p:txBody>
          <a:bodyPr wrap="square" lIns="0" rIns="0" tIns="0" bIns="0" anchor="ctr">
            <a:spAutoFit/>
          </a:bodyPr>
          <a:lstStyle/>
          <a:p>
            <a:pPr algn="l"/>
            <a:r>
              <a:rPr sz="2250" b="1" i="0">
                <a:solidFill>
                  <a:srgbClr val="E8C27A"/>
                </a:solidFill>
                <a:latin typeface="Geist Mono"/>
                <a:ea typeface="Geist Mono"/>
                <a:cs typeface="Geist Mono"/>
              </a:rPr>
              <a:t>0.5</a:t>
            </a:r>
          </a:p>
        </p:txBody>
      </p:sp>
      <p:sp>
        <p:nvSpPr>
          <p:cNvPr id="35" name="TextBox 34"/>
          <p:cNvSpPr txBox="1"/>
          <p:nvPr/>
        </p:nvSpPr>
        <p:spPr>
          <a:xfrm>
            <a:off x="12420600" y="6762750"/>
            <a:ext cx="4953000" cy="9525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Curves right, left side clipped</a:t>
            </a:r>
          </a:p>
        </p:txBody>
      </p:sp>
      <p:sp>
        <p:nvSpPr>
          <p:cNvPr id="36" name="Rounded Rectangle 35"/>
          <p:cNvSpPr/>
          <p:nvPr/>
        </p:nvSpPr>
        <p:spPr>
          <a:xfrm>
            <a:off x="914400" y="8001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333500" y="8001000"/>
            <a:ext cx="1565910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Past 1.0?  </a:t>
            </a:r>
            <a:r>
              <a:rPr sz="2100" b="0" i="0">
                <a:solidFill>
                  <a:srgbClr val="F0E8E8"/>
                </a:solidFill>
                <a:latin typeface="Geist"/>
                <a:ea typeface="Geist"/>
                <a:cs typeface="Geist"/>
              </a:rPr>
              <a:t>The motor clips it to 1.0, so the turn is gentler than the math says.</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Bonus: making it drive nicer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62865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419225" y="5610225"/>
            <a:ext cx="51625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3990975" y="3038475"/>
            <a:ext cx="19050" cy="51625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8" name="Connector 7"/>
          <p:cNvCxnSpPr/>
          <p:nvPr/>
        </p:nvCxnSpPr>
        <p:spPr>
          <a:xfrm flipV="1">
            <a:off x="1428750" y="3048000"/>
            <a:ext cx="5143500" cy="5143500"/>
          </a:xfrm>
          <a:prstGeom prst="line">
            <a:avLst/>
          </a:prstGeom>
          <a:ln w="28575">
            <a:solidFill>
              <a:srgbClr val="9A787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428750" y="7940754"/>
            <a:ext cx="128588" cy="2507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557338" y="7702868"/>
            <a:ext cx="128587" cy="23788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685925" y="7477839"/>
            <a:ext cx="128587" cy="22502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814512" y="7265670"/>
            <a:ext cx="128588" cy="21216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943100" y="7066359"/>
            <a:ext cx="128588" cy="1993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71688" y="6879908"/>
            <a:ext cx="128587" cy="1864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2200275" y="6706314"/>
            <a:ext cx="128587" cy="1735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328862" y="6545580"/>
            <a:ext cx="128588" cy="1607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457450" y="6397704"/>
            <a:ext cx="128588" cy="14787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586038" y="6262688"/>
            <a:ext cx="128587" cy="1350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714625" y="6140529"/>
            <a:ext cx="128587" cy="12215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843212" y="6031230"/>
            <a:ext cx="128588" cy="10929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971800" y="5934789"/>
            <a:ext cx="128588" cy="9644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100388" y="5851208"/>
            <a:ext cx="128587" cy="835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3228975" y="5780484"/>
            <a:ext cx="128587" cy="707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3357562" y="5722620"/>
            <a:ext cx="128588" cy="5786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486150" y="5677614"/>
            <a:ext cx="128588" cy="450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614738" y="5645468"/>
            <a:ext cx="128587" cy="321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43325" y="5626179"/>
            <a:ext cx="128587" cy="192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871912" y="5619750"/>
            <a:ext cx="128588" cy="642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4000500" y="5613321"/>
            <a:ext cx="128588" cy="642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4129088" y="5594032"/>
            <a:ext cx="128587" cy="1928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4257675" y="5561886"/>
            <a:ext cx="128587" cy="321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4386262" y="5516880"/>
            <a:ext cx="128588" cy="4500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4514850" y="5459016"/>
            <a:ext cx="128588" cy="5786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643438" y="5388292"/>
            <a:ext cx="128587" cy="707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4772025" y="5304711"/>
            <a:ext cx="128587" cy="835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4900612" y="5208270"/>
            <a:ext cx="128588" cy="9644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5029200" y="5098971"/>
            <a:ext cx="128588" cy="10929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157788" y="4976812"/>
            <a:ext cx="128587" cy="12215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5286375" y="4841796"/>
            <a:ext cx="128587" cy="1350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5414962" y="4693920"/>
            <a:ext cx="128588" cy="14787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5543550" y="4533186"/>
            <a:ext cx="128588" cy="1607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672138" y="4359592"/>
            <a:ext cx="128587" cy="1735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5800725" y="4173141"/>
            <a:ext cx="128587" cy="18645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5929312" y="3973830"/>
            <a:ext cx="128588" cy="19931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6057900" y="3761661"/>
            <a:ext cx="128588" cy="21216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6186488" y="3536632"/>
            <a:ext cx="128587" cy="22502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6315075" y="3298746"/>
            <a:ext cx="128587" cy="23788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443662" y="3048000"/>
            <a:ext cx="128588" cy="2507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5200650" y="4891088"/>
            <a:ext cx="171450" cy="17145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343525" y="5053012"/>
            <a:ext cx="1524000" cy="285750"/>
          </a:xfrm>
          <a:prstGeom prst="rect">
            <a:avLst/>
          </a:prstGeom>
          <a:noFill/>
        </p:spPr>
        <p:txBody>
          <a:bodyPr wrap="square" lIns="0" rIns="0" tIns="0" bIns="0" anchor="t">
            <a:spAutoFit/>
          </a:bodyPr>
          <a:lstStyle/>
          <a:p>
            <a:pPr algn="l"/>
            <a:r>
              <a:rPr sz="1500" b="0" i="0">
                <a:solidFill>
                  <a:srgbClr val="F0E8E8"/>
                </a:solidFill>
                <a:latin typeface="Geist Mono"/>
                <a:ea typeface="Geist Mono"/>
                <a:cs typeface="Geist Mono"/>
              </a:rPr>
              <a:t>0.5 → 0.25</a:t>
            </a:r>
          </a:p>
        </p:txBody>
      </p:sp>
      <p:sp>
        <p:nvSpPr>
          <p:cNvPr id="51" name="TextBox 50"/>
          <p:cNvSpPr txBox="1"/>
          <p:nvPr/>
        </p:nvSpPr>
        <p:spPr>
          <a:xfrm>
            <a:off x="1428750" y="8382000"/>
            <a:ext cx="51435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stick</a:t>
            </a:r>
          </a:p>
        </p:txBody>
      </p:sp>
      <p:sp>
        <p:nvSpPr>
          <p:cNvPr id="52" name="TextBox 51"/>
          <p:cNvSpPr txBox="1"/>
          <p:nvPr/>
        </p:nvSpPr>
        <p:spPr>
          <a:xfrm>
            <a:off x="1524000" y="30861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motor</a:t>
            </a:r>
          </a:p>
        </p:txBody>
      </p:sp>
      <p:sp>
        <p:nvSpPr>
          <p:cNvPr id="53" name="Rectangle 52"/>
          <p:cNvSpPr/>
          <p:nvPr/>
        </p:nvSpPr>
        <p:spPr>
          <a:xfrm>
            <a:off x="4095750" y="7524750"/>
            <a:ext cx="228600" cy="571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4400550" y="7391400"/>
            <a:ext cx="190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plain</a:t>
            </a:r>
          </a:p>
        </p:txBody>
      </p:sp>
      <p:sp>
        <p:nvSpPr>
          <p:cNvPr id="55" name="Rectangle 54"/>
          <p:cNvSpPr/>
          <p:nvPr/>
        </p:nvSpPr>
        <p:spPr>
          <a:xfrm>
            <a:off x="5238750" y="7524750"/>
            <a:ext cx="2286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5543550" y="7391400"/>
            <a:ext cx="1905000" cy="285750"/>
          </a:xfrm>
          <a:prstGeom prst="rect">
            <a:avLst/>
          </a:prstGeom>
          <a:noFill/>
        </p:spPr>
        <p:txBody>
          <a:bodyPr wrap="square" lIns="0" rIns="0" tIns="0" bIns="0" anchor="t">
            <a:spAutoFit/>
          </a:bodyPr>
          <a:lstStyle/>
          <a:p>
            <a:pPr algn="l"/>
            <a:r>
              <a:rPr sz="1500" b="0" i="0">
                <a:solidFill>
                  <a:srgbClr val="D5000E"/>
                </a:solidFill>
                <a:latin typeface="Geist"/>
                <a:ea typeface="Geist"/>
                <a:cs typeface="Geist"/>
              </a:rPr>
              <a:t>squared</a:t>
            </a:r>
          </a:p>
        </p:txBody>
      </p:sp>
      <p:sp>
        <p:nvSpPr>
          <p:cNvPr id="57" name="Rounded Rectangle 56"/>
          <p:cNvSpPr/>
          <p:nvPr/>
        </p:nvSpPr>
        <p:spPr>
          <a:xfrm>
            <a:off x="7620000" y="2857500"/>
            <a:ext cx="9753600" cy="1771650"/>
          </a:xfrm>
          <a:prstGeom prst="roundRect">
            <a:avLst>
              <a:gd name="adj" fmla="val 8602"/>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001000" y="308610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Squared sticks</a:t>
            </a:r>
          </a:p>
        </p:txBody>
      </p:sp>
      <p:sp>
        <p:nvSpPr>
          <p:cNvPr id="59" name="TextBox 58"/>
          <p:cNvSpPr txBox="1"/>
          <p:nvPr/>
        </p:nvSpPr>
        <p:spPr>
          <a:xfrm>
            <a:off x="8001000" y="3581400"/>
            <a:ext cx="8953500" cy="381000"/>
          </a:xfrm>
          <a:prstGeom prst="rect">
            <a:avLst/>
          </a:prstGeom>
          <a:noFill/>
        </p:spPr>
        <p:txBody>
          <a:bodyPr wrap="square" lIns="0" rIns="0" tIns="0" bIns="0" anchor="t">
            <a:spAutoFit/>
          </a:bodyPr>
          <a:lstStyle/>
          <a:p>
            <a:pPr algn="l"/>
            <a:r>
              <a:rPr sz="1950" b="0" i="0">
                <a:solidFill>
                  <a:srgbClr val="F0E8E8"/>
                </a:solidFill>
                <a:latin typeface="Geist Mono"/>
                <a:ea typeface="Geist Mono"/>
                <a:cs typeface="Geist Mono"/>
              </a:rPr>
              <a:t>forward * Math.abs(forward)</a:t>
            </a:r>
          </a:p>
        </p:txBody>
      </p:sp>
      <p:sp>
        <p:nvSpPr>
          <p:cNvPr id="60" name="TextBox 59"/>
          <p:cNvSpPr txBox="1"/>
          <p:nvPr/>
        </p:nvSpPr>
        <p:spPr>
          <a:xfrm>
            <a:off x="8001000" y="4057650"/>
            <a:ext cx="895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Small pushes get gentler. Full push stays full.</a:t>
            </a:r>
          </a:p>
        </p:txBody>
      </p:sp>
      <p:sp>
        <p:nvSpPr>
          <p:cNvPr id="61" name="Rounded Rectangle 60"/>
          <p:cNvSpPr/>
          <p:nvPr/>
        </p:nvSpPr>
        <p:spPr>
          <a:xfrm>
            <a:off x="7620000" y="4857750"/>
            <a:ext cx="9753600" cy="1771650"/>
          </a:xfrm>
          <a:prstGeom prst="roundRect">
            <a:avLst>
              <a:gd name="adj" fmla="val 860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001000" y="508635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Speed limit</a:t>
            </a:r>
          </a:p>
        </p:txBody>
      </p:sp>
      <p:sp>
        <p:nvSpPr>
          <p:cNvPr id="63" name="TextBox 62"/>
          <p:cNvSpPr txBox="1"/>
          <p:nvPr/>
        </p:nvSpPr>
        <p:spPr>
          <a:xfrm>
            <a:off x="8001000" y="5581650"/>
            <a:ext cx="8953500" cy="381000"/>
          </a:xfrm>
          <a:prstGeom prst="rect">
            <a:avLst/>
          </a:prstGeom>
          <a:noFill/>
        </p:spPr>
        <p:txBody>
          <a:bodyPr wrap="square" lIns="0" rIns="0" tIns="0" bIns="0" anchor="t">
            <a:spAutoFit/>
          </a:bodyPr>
          <a:lstStyle/>
          <a:p>
            <a:pPr algn="l"/>
            <a:r>
              <a:rPr sz="1950" b="0" i="0">
                <a:solidFill>
                  <a:srgbClr val="F0E8E8"/>
                </a:solidFill>
                <a:latin typeface="Geist Mono"/>
                <a:ea typeface="Geist Mono"/>
                <a:cs typeface="Geist Mono"/>
              </a:rPr>
              <a:t>left_speed * </a:t>
            </a:r>
            <a:r>
              <a:rPr sz="1950" b="0" i="0">
                <a:solidFill>
                  <a:srgbClr val="E8C27A"/>
                </a:solidFill>
                <a:latin typeface="Geist Mono"/>
                <a:ea typeface="Geist Mono"/>
                <a:cs typeface="Geist Mono"/>
              </a:rPr>
              <a:t>0.5</a:t>
            </a:r>
          </a:p>
        </p:txBody>
      </p:sp>
      <p:sp>
        <p:nvSpPr>
          <p:cNvPr id="64" name="TextBox 63"/>
          <p:cNvSpPr txBox="1"/>
          <p:nvPr/>
        </p:nvSpPr>
        <p:spPr>
          <a:xfrm>
            <a:off x="8001000" y="6057900"/>
            <a:ext cx="895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Half speed for new drivers.</a:t>
            </a:r>
          </a:p>
        </p:txBody>
      </p:sp>
      <p:sp>
        <p:nvSpPr>
          <p:cNvPr id="65" name="Rounded Rectangle 64"/>
          <p:cNvSpPr/>
          <p:nvPr/>
        </p:nvSpPr>
        <p:spPr>
          <a:xfrm>
            <a:off x="7620000" y="6858000"/>
            <a:ext cx="9753600" cy="1771650"/>
          </a:xfrm>
          <a:prstGeom prst="roundRect">
            <a:avLst>
              <a:gd name="adj" fmla="val 8602"/>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8001000" y="7086600"/>
            <a:ext cx="8953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Backwards robot</a:t>
            </a:r>
          </a:p>
        </p:txBody>
      </p:sp>
      <p:sp>
        <p:nvSpPr>
          <p:cNvPr id="67" name="TextBox 66"/>
          <p:cNvSpPr txBox="1"/>
          <p:nvPr/>
        </p:nvSpPr>
        <p:spPr>
          <a:xfrm>
            <a:off x="8001000" y="7581900"/>
            <a:ext cx="8953500" cy="381000"/>
          </a:xfrm>
          <a:prstGeom prst="rect">
            <a:avLst/>
          </a:prstGeom>
          <a:noFill/>
        </p:spPr>
        <p:txBody>
          <a:bodyPr wrap="square" lIns="0" rIns="0" tIns="0" bIns="0" anchor="t">
            <a:spAutoFit/>
          </a:bodyPr>
          <a:lstStyle/>
          <a:p>
            <a:pPr algn="l"/>
            <a:r>
              <a:rPr sz="1950" b="0" i="0">
                <a:solidFill>
                  <a:srgbClr val="F0E8E8"/>
                </a:solidFill>
                <a:latin typeface="Geist Mono"/>
                <a:ea typeface="Geist Mono"/>
                <a:cs typeface="Geist Mono"/>
              </a:rPr>
              <a:t>-forward</a:t>
            </a:r>
          </a:p>
        </p:txBody>
      </p:sp>
      <p:sp>
        <p:nvSpPr>
          <p:cNvPr id="68" name="TextBox 67"/>
          <p:cNvSpPr txBox="1"/>
          <p:nvPr/>
        </p:nvSpPr>
        <p:spPr>
          <a:xfrm>
            <a:off x="8001000" y="8058150"/>
            <a:ext cx="8953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The back becomes the front.</a:t>
            </a:r>
          </a:p>
        </p:txBody>
      </p:sp>
      <p:sp>
        <p:nvSpPr>
          <p:cNvPr id="69" name="TextBox 6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70" name="TextBox 6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TANK AND ARCADE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Checking it in AdvantageScope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095375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57375" y="78962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09650" y="775335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8" name="Rectangle 7"/>
          <p:cNvSpPr/>
          <p:nvPr/>
        </p:nvSpPr>
        <p:spPr>
          <a:xfrm>
            <a:off x="1857375" y="6705600"/>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9650" y="6562725"/>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0" name="Rectangle 9"/>
          <p:cNvSpPr/>
          <p:nvPr/>
        </p:nvSpPr>
        <p:spPr>
          <a:xfrm>
            <a:off x="1857375" y="5514975"/>
            <a:ext cx="9544050" cy="190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9650" y="537210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12" name="Rectangle 11"/>
          <p:cNvSpPr/>
          <p:nvPr/>
        </p:nvSpPr>
        <p:spPr>
          <a:xfrm>
            <a:off x="1857375" y="4324350"/>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9650" y="4181475"/>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0.5</a:t>
            </a:r>
          </a:p>
        </p:txBody>
      </p:sp>
      <p:sp>
        <p:nvSpPr>
          <p:cNvPr id="14" name="Rectangle 13"/>
          <p:cNvSpPr/>
          <p:nvPr/>
        </p:nvSpPr>
        <p:spPr>
          <a:xfrm>
            <a:off x="1857375" y="3133725"/>
            <a:ext cx="9544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9650" y="299085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a:t>
            </a:r>
          </a:p>
        </p:txBody>
      </p:sp>
      <p:sp>
        <p:nvSpPr>
          <p:cNvPr id="16" name="Rectangle 15"/>
          <p:cNvSpPr/>
          <p:nvPr/>
        </p:nvSpPr>
        <p:spPr>
          <a:xfrm>
            <a:off x="1847850" y="5505450"/>
            <a:ext cx="162560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3435350" y="4314825"/>
            <a:ext cx="38100" cy="12287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3435350" y="4314825"/>
            <a:ext cx="241935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816600" y="4314825"/>
            <a:ext cx="38100" cy="241935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5816600" y="6696075"/>
            <a:ext cx="241935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8197850" y="4791075"/>
            <a:ext cx="38100" cy="1943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197850" y="4791075"/>
            <a:ext cx="241935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0579100" y="4791075"/>
            <a:ext cx="38100" cy="75247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0579100" y="5505450"/>
            <a:ext cx="831850" cy="38100"/>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1828800" y="5486400"/>
            <a:ext cx="1663700" cy="762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3416300" y="4295775"/>
            <a:ext cx="76200" cy="12668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3416300" y="4295775"/>
            <a:ext cx="2457450" cy="762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5797550" y="4295775"/>
            <a:ext cx="76200" cy="762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797550" y="4295775"/>
            <a:ext cx="2457450" cy="762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8178800" y="4057650"/>
            <a:ext cx="76200" cy="314325"/>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8178800" y="4057650"/>
            <a:ext cx="2457450" cy="762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10560050" y="4057650"/>
            <a:ext cx="76200" cy="15049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10560050" y="5486400"/>
            <a:ext cx="869950" cy="7620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454400" y="8039100"/>
            <a:ext cx="238125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straight</a:t>
            </a:r>
          </a:p>
        </p:txBody>
      </p:sp>
      <p:sp>
        <p:nvSpPr>
          <p:cNvPr id="35" name="TextBox 34"/>
          <p:cNvSpPr txBox="1"/>
          <p:nvPr/>
        </p:nvSpPr>
        <p:spPr>
          <a:xfrm>
            <a:off x="5835650" y="8039100"/>
            <a:ext cx="238125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spin</a:t>
            </a:r>
          </a:p>
        </p:txBody>
      </p:sp>
      <p:sp>
        <p:nvSpPr>
          <p:cNvPr id="36" name="Rectangle 35"/>
          <p:cNvSpPr/>
          <p:nvPr/>
        </p:nvSpPr>
        <p:spPr>
          <a:xfrm>
            <a:off x="5826125" y="3133725"/>
            <a:ext cx="19050" cy="4781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8216900" y="8039100"/>
            <a:ext cx="238125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curve</a:t>
            </a:r>
          </a:p>
        </p:txBody>
      </p:sp>
      <p:sp>
        <p:nvSpPr>
          <p:cNvPr id="38" name="Rectangle 37"/>
          <p:cNvSpPr/>
          <p:nvPr/>
        </p:nvSpPr>
        <p:spPr>
          <a:xfrm>
            <a:off x="8207375" y="3133725"/>
            <a:ext cx="19050" cy="4781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866900" y="8562975"/>
            <a:ext cx="38100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2381250" y="8420100"/>
            <a:ext cx="28575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Drive/LeftOutput</a:t>
            </a:r>
          </a:p>
        </p:txBody>
      </p:sp>
      <p:sp>
        <p:nvSpPr>
          <p:cNvPr id="41" name="Rectangle 40"/>
          <p:cNvSpPr/>
          <p:nvPr/>
        </p:nvSpPr>
        <p:spPr>
          <a:xfrm>
            <a:off x="5295900" y="8562975"/>
            <a:ext cx="381000" cy="76200"/>
          </a:xfrm>
          <a:prstGeom prst="rect">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5810250" y="8420100"/>
            <a:ext cx="2857500" cy="323850"/>
          </a:xfrm>
          <a:prstGeom prst="rect">
            <a:avLst/>
          </a:prstGeom>
          <a:noFill/>
        </p:spPr>
        <p:txBody>
          <a:bodyPr wrap="square" lIns="0" rIns="0" tIns="0" bIns="0" anchor="t">
            <a:spAutoFit/>
          </a:bodyPr>
          <a:lstStyle/>
          <a:p>
            <a:pPr algn="l"/>
            <a:r>
              <a:rPr sz="1650" b="0" i="0">
                <a:solidFill>
                  <a:srgbClr val="F0E8E8"/>
                </a:solidFill>
                <a:latin typeface="Geist Mono"/>
                <a:ea typeface="Geist Mono"/>
                <a:cs typeface="Geist Mono"/>
              </a:rPr>
              <a:t>Drive/RightOutput</a:t>
            </a:r>
          </a:p>
        </p:txBody>
      </p:sp>
      <p:sp>
        <p:nvSpPr>
          <p:cNvPr id="43" name="Oval 42"/>
          <p:cNvSpPr/>
          <p:nvPr/>
        </p:nvSpPr>
        <p:spPr>
          <a:xfrm>
            <a:off x="12287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287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5" name="TextBox 44"/>
          <p:cNvSpPr txBox="1"/>
          <p:nvPr/>
        </p:nvSpPr>
        <p:spPr>
          <a:xfrm>
            <a:off x="12896850" y="28194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Straight</a:t>
            </a:r>
          </a:p>
        </p:txBody>
      </p:sp>
      <p:sp>
        <p:nvSpPr>
          <p:cNvPr id="46" name="TextBox 45"/>
          <p:cNvSpPr txBox="1"/>
          <p:nvPr/>
        </p:nvSpPr>
        <p:spPr>
          <a:xfrm>
            <a:off x="12896850" y="32385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two lines sit on top of each other</a:t>
            </a:r>
          </a:p>
        </p:txBody>
      </p:sp>
      <p:sp>
        <p:nvSpPr>
          <p:cNvPr id="47" name="Oval 46"/>
          <p:cNvSpPr/>
          <p:nvPr/>
        </p:nvSpPr>
        <p:spPr>
          <a:xfrm>
            <a:off x="12287250" y="4286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2287250" y="4286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9" name="TextBox 48"/>
          <p:cNvSpPr txBox="1"/>
          <p:nvPr/>
        </p:nvSpPr>
        <p:spPr>
          <a:xfrm>
            <a:off x="12896850" y="42481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a:t>
            </a:r>
          </a:p>
        </p:txBody>
      </p:sp>
      <p:sp>
        <p:nvSpPr>
          <p:cNvPr id="50" name="TextBox 49"/>
          <p:cNvSpPr txBox="1"/>
          <p:nvPr/>
        </p:nvSpPr>
        <p:spPr>
          <a:xfrm>
            <a:off x="12896850" y="46672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Mirror images around zero</a:t>
            </a:r>
          </a:p>
        </p:txBody>
      </p:sp>
      <p:sp>
        <p:nvSpPr>
          <p:cNvPr id="51" name="Oval 50"/>
          <p:cNvSpPr/>
          <p:nvPr/>
        </p:nvSpPr>
        <p:spPr>
          <a:xfrm>
            <a:off x="12287250" y="5715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287250" y="5715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3" name="TextBox 52"/>
          <p:cNvSpPr txBox="1"/>
          <p:nvPr/>
        </p:nvSpPr>
        <p:spPr>
          <a:xfrm>
            <a:off x="12896850" y="567690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Curve</a:t>
            </a:r>
          </a:p>
        </p:txBody>
      </p:sp>
      <p:sp>
        <p:nvSpPr>
          <p:cNvPr id="54" name="TextBox 53"/>
          <p:cNvSpPr txBox="1"/>
          <p:nvPr/>
        </p:nvSpPr>
        <p:spPr>
          <a:xfrm>
            <a:off x="12896850" y="609600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higher than the other</a:t>
            </a:r>
          </a:p>
        </p:txBody>
      </p:sp>
      <p:sp>
        <p:nvSpPr>
          <p:cNvPr id="55" name="Oval 54"/>
          <p:cNvSpPr/>
          <p:nvPr/>
        </p:nvSpPr>
        <p:spPr>
          <a:xfrm>
            <a:off x="12287250" y="7143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287250" y="7143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7" name="TextBox 56"/>
          <p:cNvSpPr txBox="1"/>
          <p:nvPr/>
        </p:nvSpPr>
        <p:spPr>
          <a:xfrm>
            <a:off x="12896850" y="7105650"/>
            <a:ext cx="4476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Wrong way?</a:t>
            </a:r>
          </a:p>
        </p:txBody>
      </p:sp>
      <p:sp>
        <p:nvSpPr>
          <p:cNvPr id="58" name="TextBox 57"/>
          <p:cNvSpPr txBox="1"/>
          <p:nvPr/>
        </p:nvSpPr>
        <p:spPr>
          <a:xfrm>
            <a:off x="12896850" y="7524750"/>
            <a:ext cx="4476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sign is flipped somewhere</a:t>
            </a:r>
          </a:p>
        </p:txBody>
      </p:sp>
      <p:sp>
        <p:nvSpPr>
          <p:cNvPr id="59" name="TextBox 5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0" name="TextBox 5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Motors and Drivetrains</a:t>
            </a:r>
          </a:p>
        </p:txBody>
      </p:sp>
      <p:sp>
        <p:nvSpPr>
          <p:cNvPr id="5" name="TextBox 4"/>
          <p:cNvSpPr txBox="1"/>
          <p:nvPr/>
        </p:nvSpPr>
        <p:spPr>
          <a:xfrm>
            <a:off x="1524000" y="2762250"/>
            <a:ext cx="1143000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Write tank drive, then arcade drive, in teleopPeriodic. Drive the robot and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4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Your drive code</a:t>
            </a:r>
          </a:p>
        </p:txBody>
      </p:sp>
      <p:sp>
        <p:nvSpPr>
          <p:cNvPr id="9" name="TextBox 8"/>
          <p:cNvSpPr txBox="1"/>
          <p:nvPr/>
        </p:nvSpPr>
        <p:spPr>
          <a:xfrm>
            <a:off x="5905500" y="4572000"/>
            <a:ext cx="6667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teleopPeriodic sends speeds to the motors</a:t>
            </a:r>
          </a:p>
        </p:txBody>
      </p:sp>
      <p:pic>
        <p:nvPicPr>
          <p:cNvPr id="10" name="Picture 9" descr="check-circle-fill.png"/>
          <p:cNvPicPr>
            <a:picLocks noChangeAspect="1"/>
          </p:cNvPicPr>
          <p:nvPr/>
        </p:nvPicPr>
        <p:blipFill>
          <a:blip r:embed="rId3"/>
          <a:stretch>
            <a:fillRect/>
          </a:stretch>
        </p:blipFill>
        <p:spPr>
          <a:xfrm>
            <a:off x="1524000" y="5429250"/>
            <a:ext cx="323850" cy="323850"/>
          </a:xfrm>
          <a:prstGeom prst="rect">
            <a:avLst/>
          </a:prstGeom>
        </p:spPr>
      </p:pic>
      <p:sp>
        <p:nvSpPr>
          <p:cNvPr id="11" name="TextBox 10"/>
          <p:cNvSpPr txBox="1"/>
          <p:nvPr/>
        </p:nvSpPr>
        <p:spPr>
          <a:xfrm>
            <a:off x="2038350" y="53721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Drives forward</a:t>
            </a:r>
          </a:p>
        </p:txBody>
      </p:sp>
      <p:sp>
        <p:nvSpPr>
          <p:cNvPr id="12" name="TextBox 11"/>
          <p:cNvSpPr txBox="1"/>
          <p:nvPr/>
        </p:nvSpPr>
        <p:spPr>
          <a:xfrm>
            <a:off x="5905500" y="5410200"/>
            <a:ext cx="6667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Push up and the robot goes forward</a:t>
            </a:r>
          </a:p>
        </p:txBody>
      </p:sp>
      <p:pic>
        <p:nvPicPr>
          <p:cNvPr id="13" name="Picture 12" descr="check-circle-fill.png"/>
          <p:cNvPicPr>
            <a:picLocks noChangeAspect="1"/>
          </p:cNvPicPr>
          <p:nvPr/>
        </p:nvPicPr>
        <p:blipFill>
          <a:blip r:embed="rId3"/>
          <a:stretch>
            <a:fillRect/>
          </a:stretch>
        </p:blipFill>
        <p:spPr>
          <a:xfrm>
            <a:off x="1524000" y="6267450"/>
            <a:ext cx="323850" cy="323850"/>
          </a:xfrm>
          <a:prstGeom prst="rect">
            <a:avLst/>
          </a:prstGeom>
        </p:spPr>
      </p:pic>
      <p:sp>
        <p:nvSpPr>
          <p:cNvPr id="14" name="TextBox 13"/>
          <p:cNvSpPr txBox="1"/>
          <p:nvPr/>
        </p:nvSpPr>
        <p:spPr>
          <a:xfrm>
            <a:off x="2038350" y="62103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Drives backward</a:t>
            </a:r>
          </a:p>
        </p:txBody>
      </p:sp>
      <p:sp>
        <p:nvSpPr>
          <p:cNvPr id="15" name="TextBox 14"/>
          <p:cNvSpPr txBox="1"/>
          <p:nvPr/>
        </p:nvSpPr>
        <p:spPr>
          <a:xfrm>
            <a:off x="5905500" y="6248400"/>
            <a:ext cx="6667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Pull down and it goes backward</a:t>
            </a:r>
          </a:p>
        </p:txBody>
      </p:sp>
      <p:pic>
        <p:nvPicPr>
          <p:cNvPr id="16" name="Picture 15" descr="check-circle-fill.png"/>
          <p:cNvPicPr>
            <a:picLocks noChangeAspect="1"/>
          </p:cNvPicPr>
          <p:nvPr/>
        </p:nvPicPr>
        <p:blipFill>
          <a:blip r:embed="rId3"/>
          <a:stretch>
            <a:fillRect/>
          </a:stretch>
        </p:blipFill>
        <p:spPr>
          <a:xfrm>
            <a:off x="1524000" y="7105650"/>
            <a:ext cx="323850" cy="323850"/>
          </a:xfrm>
          <a:prstGeom prst="rect">
            <a:avLst/>
          </a:prstGeom>
        </p:spPr>
      </p:pic>
      <p:sp>
        <p:nvSpPr>
          <p:cNvPr id="17" name="TextBox 16"/>
          <p:cNvSpPr txBox="1"/>
          <p:nvPr/>
        </p:nvSpPr>
        <p:spPr>
          <a:xfrm>
            <a:off x="2038350" y="70485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Turns in place</a:t>
            </a:r>
          </a:p>
        </p:txBody>
      </p:sp>
      <p:sp>
        <p:nvSpPr>
          <p:cNvPr id="18" name="TextBox 17"/>
          <p:cNvSpPr txBox="1"/>
          <p:nvPr/>
        </p:nvSpPr>
        <p:spPr>
          <a:xfrm>
            <a:off x="5905500" y="7086600"/>
            <a:ext cx="6667500" cy="4191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Opposite speeds spin it around</a:t>
            </a:r>
          </a:p>
        </p:txBody>
      </p:sp>
      <p:sp>
        <p:nvSpPr>
          <p:cNvPr id="19" name="TextBox 18"/>
          <p:cNvSpPr txBox="1"/>
          <p:nvPr/>
        </p:nvSpPr>
        <p:spPr>
          <a:xfrm>
            <a:off x="1524000" y="8001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speed limit, backwards robot, squared sticks</a:t>
            </a:r>
          </a:p>
        </p:txBody>
      </p:sp>
      <p:sp>
        <p:nvSpPr>
          <p:cNvPr id="20" name="TextBox 19"/>
          <p:cNvSpPr txBox="1"/>
          <p:nvPr/>
        </p:nvSpPr>
        <p:spPr>
          <a:xfrm>
            <a:off x="1524000" y="84391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Motors and Drivetrains</a:t>
            </a:r>
          </a:p>
        </p:txBody>
      </p:sp>
      <p:pic>
        <p:nvPicPr>
          <p:cNvPr id="21" name="Picture 20" descr="dozer.png"/>
          <p:cNvPicPr>
            <a:picLocks noChangeAspect="1"/>
          </p:cNvPicPr>
          <p:nvPr/>
        </p:nvPicPr>
        <p:blipFill>
          <a:blip r:embed="rId4"/>
          <a:stretch>
            <a:fillRect/>
          </a:stretch>
        </p:blipFill>
        <p:spPr>
          <a:xfrm>
            <a:off x="14287500" y="6096000"/>
            <a:ext cx="2667000" cy="1639254"/>
          </a:xfrm>
          <a:prstGeom prst="rect">
            <a:avLst/>
          </a:prstGeom>
        </p:spPr>
      </p:pic>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Follow a command from stick to motor</a:t>
            </a:r>
          </a:p>
        </p:txBody>
      </p:sp>
      <p:pic>
        <p:nvPicPr>
          <p:cNvPr id="7" name="Picture 6" descr="check-circle-fill.png"/>
          <p:cNvPicPr>
            <a:picLocks noChangeAspect="1"/>
          </p:cNvPicPr>
          <p:nvPr/>
        </p:nvPicPr>
        <p:blipFill>
          <a:blip r:embed="rId3"/>
          <a:stretch>
            <a:fillRect/>
          </a:stretch>
        </p:blipFill>
        <p:spPr>
          <a:xfrm>
            <a:off x="914400" y="3771900"/>
            <a:ext cx="381000" cy="381000"/>
          </a:xfrm>
          <a:prstGeom prst="rect">
            <a:avLst/>
          </a:prstGeom>
        </p:spPr>
      </p:pic>
      <p:sp>
        <p:nvSpPr>
          <p:cNvPr id="8" name="TextBox 7"/>
          <p:cNvSpPr txBox="1"/>
          <p:nvPr/>
        </p:nvSpPr>
        <p:spPr>
          <a:xfrm>
            <a:off x="1524000" y="37338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Explain CAN IDs and inversion</a:t>
            </a:r>
          </a:p>
        </p:txBody>
      </p:sp>
      <p:pic>
        <p:nvPicPr>
          <p:cNvPr id="9" name="Picture 8" descr="check-circle-fill.png"/>
          <p:cNvPicPr>
            <a:picLocks noChangeAspect="1"/>
          </p:cNvPicPr>
          <p:nvPr/>
        </p:nvPicPr>
        <p:blipFill>
          <a:blip r:embed="rId3"/>
          <a:stretch>
            <a:fillRect/>
          </a:stretch>
        </p:blipFill>
        <p:spPr>
          <a:xfrm>
            <a:off x="914400" y="4648200"/>
            <a:ext cx="381000" cy="381000"/>
          </a:xfrm>
          <a:prstGeom prst="rect">
            <a:avLst/>
          </a:prstGeom>
        </p:spPr>
      </p:pic>
      <p:sp>
        <p:nvSpPr>
          <p:cNvPr id="10" name="TextBox 9"/>
          <p:cNvSpPr txBox="1"/>
          <p:nvPr/>
        </p:nvSpPr>
        <p:spPr>
          <a:xfrm>
            <a:off x="1524000" y="46101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Enable a robot safely</a:t>
            </a:r>
          </a:p>
        </p:txBody>
      </p:sp>
      <p:pic>
        <p:nvPicPr>
          <p:cNvPr id="11" name="Picture 10" descr="check-circle-fill.png"/>
          <p:cNvPicPr>
            <a:picLocks noChangeAspect="1"/>
          </p:cNvPicPr>
          <p:nvPr/>
        </p:nvPicPr>
        <p:blipFill>
          <a:blip r:embed="rId3"/>
          <a:stretch>
            <a:fillRect/>
          </a:stretch>
        </p:blipFill>
        <p:spPr>
          <a:xfrm>
            <a:off x="914400" y="5524500"/>
            <a:ext cx="381000" cy="381000"/>
          </a:xfrm>
          <a:prstGeom prst="rect">
            <a:avLst/>
          </a:prstGeom>
        </p:spPr>
      </p:pic>
      <p:sp>
        <p:nvSpPr>
          <p:cNvPr id="12" name="TextBox 11"/>
          <p:cNvSpPr txBox="1"/>
          <p:nvPr/>
        </p:nvSpPr>
        <p:spPr>
          <a:xfrm>
            <a:off x="1524000" y="54864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Know when teleopPeriodic runs</a:t>
            </a:r>
          </a:p>
        </p:txBody>
      </p:sp>
      <p:pic>
        <p:nvPicPr>
          <p:cNvPr id="13" name="Picture 12" descr="check-circle-fill.png"/>
          <p:cNvPicPr>
            <a:picLocks noChangeAspect="1"/>
          </p:cNvPicPr>
          <p:nvPr/>
        </p:nvPicPr>
        <p:blipFill>
          <a:blip r:embed="rId3"/>
          <a:stretch>
            <a:fillRect/>
          </a:stretch>
        </p:blipFill>
        <p:spPr>
          <a:xfrm>
            <a:off x="914400" y="6400800"/>
            <a:ext cx="381000" cy="381000"/>
          </a:xfrm>
          <a:prstGeom prst="rect">
            <a:avLst/>
          </a:prstGeom>
        </p:spPr>
      </p:pic>
      <p:sp>
        <p:nvSpPr>
          <p:cNvPr id="14" name="TextBox 13"/>
          <p:cNvSpPr txBox="1"/>
          <p:nvPr/>
        </p:nvSpPr>
        <p:spPr>
          <a:xfrm>
            <a:off x="1524000" y="63627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Read the sticks into variables</a:t>
            </a:r>
          </a:p>
        </p:txBody>
      </p:sp>
      <p:pic>
        <p:nvPicPr>
          <p:cNvPr id="15" name="Picture 14" descr="check-circle-fill.png"/>
          <p:cNvPicPr>
            <a:picLocks noChangeAspect="1"/>
          </p:cNvPicPr>
          <p:nvPr/>
        </p:nvPicPr>
        <p:blipFill>
          <a:blip r:embed="rId3"/>
          <a:stretch>
            <a:fillRect/>
          </a:stretch>
        </p:blipFill>
        <p:spPr>
          <a:xfrm>
            <a:off x="914400" y="7277100"/>
            <a:ext cx="381000" cy="381000"/>
          </a:xfrm>
          <a:prstGeom prst="rect">
            <a:avLst/>
          </a:prstGeom>
        </p:spPr>
      </p:pic>
      <p:sp>
        <p:nvSpPr>
          <p:cNvPr id="16" name="TextBox 15"/>
          <p:cNvSpPr txBox="1"/>
          <p:nvPr/>
        </p:nvSpPr>
        <p:spPr>
          <a:xfrm>
            <a:off x="1524000" y="7239000"/>
            <a:ext cx="7239000" cy="476250"/>
          </a:xfrm>
          <a:prstGeom prst="rect">
            <a:avLst/>
          </a:prstGeom>
          <a:noFill/>
        </p:spPr>
        <p:txBody>
          <a:bodyPr wrap="square" lIns="0" rIns="0" tIns="0" bIns="0" anchor="t">
            <a:spAutoFit/>
          </a:bodyPr>
          <a:lstStyle/>
          <a:p>
            <a:pPr algn="l"/>
            <a:r>
              <a:rPr sz="2400" b="0" i="0">
                <a:solidFill>
                  <a:srgbClr val="F0E8E8"/>
                </a:solidFill>
                <a:latin typeface="Geist"/>
                <a:ea typeface="Geist"/>
                <a:cs typeface="Geist"/>
              </a:rPr>
              <a:t>Write tank and arcade drive</a:t>
            </a:r>
          </a:p>
        </p:txBody>
      </p:sp>
      <p:sp>
        <p:nvSpPr>
          <p:cNvPr id="17" name="Rounded Rectangle 16"/>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19" name="Picture 18" descr="code-slash.png"/>
          <p:cNvPicPr>
            <a:picLocks noChangeAspect="1"/>
          </p:cNvPicPr>
          <p:nvPr/>
        </p:nvPicPr>
        <p:blipFill>
          <a:blip r:embed="rId4"/>
          <a:stretch>
            <a:fillRect/>
          </a:stretch>
        </p:blipFill>
        <p:spPr>
          <a:xfrm>
            <a:off x="9334500" y="3962400"/>
            <a:ext cx="326571" cy="304800"/>
          </a:xfrm>
          <a:prstGeom prst="rect">
            <a:avLst/>
          </a:prstGeom>
        </p:spPr>
      </p:pic>
      <p:sp>
        <p:nvSpPr>
          <p:cNvPr id="20" name="TextBox 19"/>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Hello, World</a:t>
            </a:r>
          </a:p>
        </p:txBody>
      </p:sp>
      <p:pic>
        <p:nvPicPr>
          <p:cNvPr id="21" name="Picture 20" descr="code-slash.png"/>
          <p:cNvPicPr>
            <a:picLocks noChangeAspect="1"/>
          </p:cNvPicPr>
          <p:nvPr/>
        </p:nvPicPr>
        <p:blipFill>
          <a:blip r:embed="rId4"/>
          <a:stretch>
            <a:fillRect/>
          </a:stretch>
        </p:blipFill>
        <p:spPr>
          <a:xfrm>
            <a:off x="9334500" y="4724400"/>
            <a:ext cx="326571" cy="304800"/>
          </a:xfrm>
          <a:prstGeom prst="rect">
            <a:avLst/>
          </a:prstGeom>
        </p:spPr>
      </p:pic>
      <p:sp>
        <p:nvSpPr>
          <p:cNvPr id="22" name="TextBox 21"/>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Variables</a:t>
            </a:r>
          </a:p>
        </p:txBody>
      </p:sp>
      <p:pic>
        <p:nvPicPr>
          <p:cNvPr id="23" name="Picture 22" descr="code-slash.png"/>
          <p:cNvPicPr>
            <a:picLocks noChangeAspect="1"/>
          </p:cNvPicPr>
          <p:nvPr/>
        </p:nvPicPr>
        <p:blipFill>
          <a:blip r:embed="rId4"/>
          <a:stretch>
            <a:fillRect/>
          </a:stretch>
        </p:blipFill>
        <p:spPr>
          <a:xfrm>
            <a:off x="9334500" y="5486400"/>
            <a:ext cx="326571" cy="304800"/>
          </a:xfrm>
          <a:prstGeom prst="rect">
            <a:avLst/>
          </a:prstGeom>
        </p:spPr>
      </p:pic>
      <p:sp>
        <p:nvSpPr>
          <p:cNvPr id="24" name="TextBox 23"/>
          <p:cNvSpPr txBox="1"/>
          <p:nvPr/>
        </p:nvSpPr>
        <p:spPr>
          <a:xfrm>
            <a:off x="9867900" y="5429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Operators</a:t>
            </a:r>
          </a:p>
        </p:txBody>
      </p:sp>
      <p:pic>
        <p:nvPicPr>
          <p:cNvPr id="25" name="Picture 24" descr="code-slash.png"/>
          <p:cNvPicPr>
            <a:picLocks noChangeAspect="1"/>
          </p:cNvPicPr>
          <p:nvPr/>
        </p:nvPicPr>
        <p:blipFill>
          <a:blip r:embed="rId4"/>
          <a:stretch>
            <a:fillRect/>
          </a:stretch>
        </p:blipFill>
        <p:spPr>
          <a:xfrm>
            <a:off x="9334500" y="6248400"/>
            <a:ext cx="326571" cy="304800"/>
          </a:xfrm>
          <a:prstGeom prst="rect">
            <a:avLst/>
          </a:prstGeom>
        </p:spPr>
      </p:pic>
      <p:sp>
        <p:nvSpPr>
          <p:cNvPr id="26" name="TextBox 25"/>
          <p:cNvSpPr txBox="1"/>
          <p:nvPr/>
        </p:nvSpPr>
        <p:spPr>
          <a:xfrm>
            <a:off x="9867900" y="6191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Methods</a:t>
            </a:r>
          </a:p>
        </p:txBody>
      </p:sp>
      <p:sp>
        <p:nvSpPr>
          <p:cNvPr id="27" name="TextBox 26"/>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8" name="Rounded Rectangle 27"/>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sp>
        <p:nvSpPr>
          <p:cNvPr id="30" name="TextBox 29"/>
          <p:cNvSpPr txBox="1"/>
          <p:nvPr/>
        </p:nvSpPr>
        <p:spPr>
          <a:xfrm>
            <a:off x="13716000" y="3810000"/>
            <a:ext cx="3333750" cy="11430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Sensors and Feedback</a:t>
            </a:r>
          </a:p>
        </p:txBody>
      </p:sp>
      <p:sp>
        <p:nvSpPr>
          <p:cNvPr id="31" name="TextBox 30"/>
          <p:cNvSpPr txBox="1"/>
          <p:nvPr/>
        </p:nvSpPr>
        <p:spPr>
          <a:xfrm>
            <a:off x="13716000" y="5048250"/>
            <a:ext cx="3333750" cy="1428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Encoders, deadbands and if statements: driving exactly 2 meters.</a:t>
            </a:r>
          </a:p>
        </p:txBody>
      </p:sp>
      <p:pic>
        <p:nvPicPr>
          <p:cNvPr id="32" name="Picture 31" descr="dozer.png"/>
          <p:cNvPicPr>
            <a:picLocks noChangeAspect="1"/>
          </p:cNvPicPr>
          <p:nvPr/>
        </p:nvPicPr>
        <p:blipFill>
          <a:blip r:embed="rId5"/>
          <a:stretch>
            <a:fillRect/>
          </a:stretch>
        </p:blipFill>
        <p:spPr>
          <a:xfrm>
            <a:off x="14287500" y="6858000"/>
            <a:ext cx="2476500" cy="1522165"/>
          </a:xfrm>
          <a:prstGeom prst="rect">
            <a:avLst/>
          </a:prstGeom>
        </p:spPr>
      </p:pic>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