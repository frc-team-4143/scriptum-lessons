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last FRC Robot deck. Everything so far gets used here: the drivetrain, the pose estimate from the Computer Vision lesson, your aim command, and the Choreo app from the Tools deck. Today the robot drives itself: it follows two paths you draw, aims at the goal and shoots, with nobody touching a controller. The routine is a behavior tree, built in Arbor. The hands-on part is the Autonomous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what autonomous is and the plan for this lesson's field. Then how robot code follows a trajectory. Then behavior trees, the new idea today, and how our robot uses one to run the routine. Last, running it and reading the graphs. Ask: what's the difference between a path and a trajectory? (A trajectory adds timing. Answer comes in part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autonomous is, why it has to be repeatable, and the plan for this lesson's field.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autonomous: about 15 seconds where the drivers stand behind the line and can't touch the controllers. The robot runs a routine that was planned ahead of time. Whatever it does, it has to do the same way every match, because nobody can fix a mistake. Points in auto are often worth more than the same action in teleop, so a good auto can decide a match. Ask: what could go wrong if the robot just drove at full speed for 2 seconds and hoped? (Battery level, wheel slip and carpet change how far it goes.)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old Autonomous training: what's the difference between accuracy and precision? Accurate means on average you hit the spot, even if each try lands somewhere different. Precise means every try lands in the same place, even if that place is wrong. Ask: which do we want for auto? (Both: hit the spot, the same way every match.) A robot that drives on wheel counts alone drifts a bit differently each time. The fix is to know where the robot really is and correct every loop, which is exactly what the path follower does with the pose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builds every autonomous routine in two jobs. First draw the paths in Choreo: where the robot drives and how fast. Choreo saves each one as a .traj file. Then build the routine in Arbor, as a behavior tree: which path to drive, when to wait, when to aim, when to shoot, and what to do if a step fails. The paths say where; the tree says in what order. In today's lesson you do both. On the real robot it's the same: Choreo and Arbor on a laptop, and the .traj and .xml files deploy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recap of the Tools deck, no need to re-teach the app. Waypoints are the points the path goes through: pose waypoints pin position and heading, translation waypoints pin only position. Constraints are rules like a Max Velocity. Generate solves the fastest trajectory the robot can really drive and saves it as a .traj file in src/main/deploy/choreo, which deploys with the code. One new setting today: this lesson's robot is a Differential drive (tank), so Document Settings, Robot Config must say Differential, not Swerve.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field, drawn from the real solution paths. The project already has four named poses. The robot starts on Start. ToPickup drives to Pickup, where the game piece is. ToScore carries on to ScoreSpot, finishing pointed up the field. Goal is what the robot aims at; it isn't on a path. Each path has a pose waypoint at each end and a translation waypoint in the middle. Activity: have students read the coordinates off the grid and match them to the 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the checks look for. Names: the tree names each path, so ToPickup and ToScore must be spelled exactly, capitals too; rename it in Choreo, not by renaming the file. Join: when ToScore begins the robot is standing on Pickup, so ToScore's first waypoint must be exactly where ToPickup ended. Three waypoints each: pose, translation, pose. Differential: set the Drive Type first, or Choreo makes swerve paths this robot can't follow. Ask: what happens if ToScore starts half a meter away from Pickup? (The robot lurches to catch up, or the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 you don't write but should understand: how the robot plays a path back. It's provided and tuned in DifferentialPathFollower.java, and it's worth reading.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Generate, Choreo doesn't just save a line. It saves a list of samples, each a moment in time: where the robot should be, which way it faces, and how fast each wheel should turn. These dots are the real samples of the lesson's ToPickup path, about 0.05 seconds apart. Where the dots bunch up the robot is slow (starting and stopping); where they spread out it's fast. Ask: where on this path is the robot fastest? (The straight middle part.) This is the difference between a path (the route) and a trajectory (the route plus timing).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FollowPath step plays the trajectory back. Every 20 ms it does four things. Where should I be? It looks up the sample for this moment on the path's clock, blending the two samples around it. Where am I? It reads the pose estimate. Close the gap: a path-following controller (LTV unicycle, built for tank drives) nudges the speeds so the robot drifts back onto the line. Speed to power: wheel speeds in meters per second become duty cycles. All of this is DifferentialPathFollower.java, provided and tuned. Activity: one student is the path's clock calling out times, another walks the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is never exactly where the path says. DesiredPose is where the path says the robot should be right now; Pose is where the robot thinks it is. The controller compares them and changes the left and right speeds a little: a bit more on one side steers the robot back toward the line, a bit more on both catches it up. It does this every loop, so small errors never get big. You can watch both in AdvantageScope: Subsystem/Drivetrain/Choreo/DesiredPose and the Localization pose. Ask: why can't a tank drive just slide sideways back onto the line? (Its wheels only roll forward and back, so it has to steer.)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turns wheel speed into motor power. This is feedforward: power you know you'll need before any error shows up. kS is a small push just to break the wheels loose, 0.25 volts out of 12. kV is power per meter per second: twice the speed, twice the power, so full power (1.0) is the robot's top speed of about 5.7 m/s (a Kraken at 6000 RPM through an 8.45 to 1 gearbox on 3 inch wheels). At the lesson's suggested 1.8 m/s cap that's about a third of full power. Turning adds a little extra because the wheels scrub sideways. Ask: why cap the speed at 1.8 if the robot can do 5.7? (A gentler robot is easier to keep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details that make following reliable. Waiting: the path's clock keeps running, so if the robot falls more than half a meter behind the sample, the clock pauses until it catches up, instead of running away without it. Settling: when the clock runs out, the robot may be a little short. A tank drive can't slide sideways, so it turns to face the end point and drives at it, slowly. FollowPath finishes when the robot is within 15 cm of the end and slower than 0.15 m/s; that's isAtChoreoSetpoint. And if it gets stuck, FollowPath gives up after 10 seconds so the routine carries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follower steers by the pose estimate from your Localization subsystem: the wheels give the movement and the AprilTag cameras correct the drift. It's close but never exact. In the simulator we also know the true pose, Drive/TruePose. While driving they're about 1 to 9 centimeters apart, and about 1 centimeter once the robot stops. The gap in the drawing is exaggerated so you can see it. The lesson's checks use the true pose, so a small error in the estimate can't fool them. Ask: on the real robot, which pose do we have? (Only the estimate.)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autos are behavior trees, built in Arbor. Before building one, learn exactly how the robot runs one. The Arbor lesson's Dozer guides step through the same examples tick by tick.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behavior tree is a tree of small steps. About fifty times a second, every robot loop, the robot ticks the tree: it starts at the root and goes down. Every node answers with one of three things. RUNNING: not done yet, ask me again next tick. SUCCESS: done, it worked. FAILURE: done, it didn't. The answers travel back up, and each control node (Sequence, Fallback, Timeout) uses its children's answers to decide what to do next. Activity: one student is the tree, the class calls out 'tick' and the student answers running, success or failure.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Sequence does its children one after another. Tick 1: Drive path starts, it takes a while, so it answers RUNNING and so does the Sequence. Next tick the Sequence goes straight back to the child that was running, not to the start. Tick 3: Drive path succeeds, and in the same tick the Sequence moves on and starts Aim. Tick 5: every child succeeded, so the Sequence succeeds. Yellow lines show where each tick went. Ask: on tick 4, which node does the Sequence tick first? (Aim, the one that was running.)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tree, but this time Aim fails: no target in view. Tick 1: Drive path is running. Tick 2: Drive path succeeds, Aim answers FAILURE, and the Sequence stops right there and answers FAILURE too. Shoot was never ticked. That's the point: a Sequence gives up at the first failure, so Shoot can rely on Aim having worked. A Sequence is an AND: every step must work. Ask: is it good that Shoot never ran? (Yes: shooting without aiming wastes the game piece.)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Fallback is the mirror image of a Sequence. It tries its children in order and stops at the first one that succeeds. It only fails if every child failed. Here: aim with vision; that fails, so try aiming by hand; that works, so the Fallback succeeds and Skip the shot is never tried. A Sequence is an AND, all must work. A Fallback is an OR, any one is enough. Put them together and you can say 'do A, then B, and if B doesn't work out, do C'. Ask: when does this Fallback fail? (Only if all three fail.)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Timeout wraps one step and gives it a time limit in milliseconds. If the step is still RUNNING when time is up, the Timeout halts it and answers FAILURE. That turns 'might never finish' into 'fails after 3 seconds', and a Fallback turns that into plan B. Read the clock: at 0 s Aim starts. At 1.5 s it's still running. At 3 s time is up: Aim is halted, the Timeout fails, and the Fallback starts Backup path. At 5 s the backup path succeeds, so the Fallback succeeds. Timeout plus Fallback is the most useful pattern in an auto.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ParallelDeadline ticks all its children together. The first child is the deadline: when it finishes, the others are halted and the node answers with the deadline's result. 'Drive this path, and drop the intake when the robot passes the Intake Out marker' is exactly this: the path is the deadline, the intake step waits for the marker. If the marker never comes, the intake step is simply halted when the path ends. The competition robot uses this in nearly every auto. There's also a ReactiveSequence, which re-checks earlier steps every tick, for 'keep driving only while we hold a game piece'.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thing: how our robot uses a tree to run an auto, and the PickupAndScore tree you build in Arbor.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super state machine from Deck 7: buttons ask RobotContainer for a robot state. The autonomous tree does exactly the same, with the SetWantedState node. SetWantedState AIM calls setWantedState(AIM) on RobotContainer, then answers with the robot's getStateResult: RUNNING while the robot works on it, SUCCESS once it's in AIM, FAILURE if the robot gave up. So the tree adds the auto-only parts, Timeouts and plan Bs, around the same AIM and SHOOT the driver uses. FollowPath asks for FOLLOW_PATH and plays a Choreo path. AUTO is the hands-off state between steps.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PickupAndScore tree you build in Arbor. The lesson's starting tree already drives ToPickup; you add the rest, in order. Sleep half a second, standing in for picking up the game piece. FollowPath ToScore. A Timeout of 3 seconds around SetWantedState AIM, so a bad aim can't stall the auto. Then SetWantedState SHOOT, a Sleep of 2 seconds while it shoots, and SetWantedState AUTO to hand the robot back to the tree. Ask: what happens if AIM takes 4 seconds? (The Timeout fails, so the Sequence fails, and the robot never shoots. A Fallback could add a plan 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in Arbor and this is the file it writes, in deploy/autos/trees. Open it in the editor and read it once: one tag per node, ports as attributes, and the nesting is the tree. The file name, main_tree_to_execute and the BehaviorTree ID are all the auto's name, and that's the name in the Auto Chooser. No Java to compile: the robot reads the XML when you pick the auto. Ask: how would you make the pickup wait tunable? (Declare an input port, then write {pickup_wait_msec} in the Sleep.)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bit of Java in this lesson. Run the tree first and watch: it shoots without turning. Why? The robot reaches AIM the moment it's asked, so SetWantedState AIM succeeds at once. The fix is a step state. In RobotContainer's handleStateTransition, the AIM case puts the robot in AIMING while it turns, and in AIM only once the drivetrain isAimed(). Now SetWantedState AIM stays RUNNING until the robot is really aimed. The left bumper asks for the same AIM, so teleop gets the fix too. This is a sketch of the idea; the lesson's comments give the exact names.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tree on a clock. The Sequence starts each step when the one before succeeds, and each one has its own way of finishing: arriving, a time, a condition. These times are roughly what the lesson's solution does in the simulator: each path takes about 2.5 to 3 seconds including the settle, aiming takes a second or so. The whole thing is about 9 seconds, well inside the 15 second autonomous period. Ask: where could you save time? (Spin the shooter up while driving ToScore, with a ParallelDeadline.)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five steps on the field, using the real solution paths. 1: ToPickup from Start to Pickup. 2: wait on Pickup. 3: ToScore up to ScoreSpot, arriving pointed up the field (90 degrees). 4: aim: the goal is behind and to the left, so the robot turns about 110 degrees in place. 5: shoot at the goal. Ask: why does the robot need to turn so far? (ScoreSpot's heading is 90 degrees, but the goal is down and to the left of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the robot pick and run a tree? Every file in deploy/autos/trees is an option in Elastic's Auto Chooser, named after the file. When the drive team picks one, the robot reads the XML and loads its Choreo paths in the background, so picking never slows the robot loop. When Auto is enabled, the robot goes to AUTO and the tree starts. Every loop, AutoManager ticks the tree once, just before RobotContainer and the subsystems run, so a state the tree asks for is acted on in the same loop. Ask: you changed a Sleep in the XML. What do you need to do? (Deploy the file and pick the auto again. No rebuild of the Java.)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2026 competition robot the trees are bigger but read the same way. This is part of a real auto. 1: ParallelDeadline drives the first path, and the IntakeOnEvent sub-tree drops the intake when the path passes the Intake Out marker drawn in Choreo. 2: Delay waits a tunable time, middle_wait_msec, which the drive team can change on the dashboard to stay out of a partner's way. 3: ShootFor is a shared sub-tree from common.xml: SHOOT for a time, then back to AUTO. The swerve node there is FollowTrajectory, and paths are drawn once and flipped for the red alliance automatically. Details on docs.marswars.org, Software, Autonomous.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four checkpoints read a running simulation, so you have to run the routine in Auto before Verify.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routine in training: press Start and wait for Running. In Elastic, pick PickupAndScore in the Auto Chooser. In the Driver Station panel pick Auto and press Enable, then hands off. On the real robot it's the same steps with real tools: deploy from VS Code, pick the routine in Elastic on the drive laptop, and the FRC Driver Station (or the field, in a match) enables Auto. Remember to yell ENABLING before you enable a real robot.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 auto runs, open the Arbor pane and connect: the tree lights up node by node, orange while running, green for success, red for failure. If the auto stops somewhere unexpected, look for the red node, or the one that stayed orange. Every run is also recorded as a .btlog file, in logs/bt in simulation and /U/logs/bt on the robot's USB stick, so you can replay it in Arbor after a match. AdvantageScope has the tree too: BehaviorTree/Active is the running auto and BehaviorTree/PickupAndScore/Transitions lists every status change. Ask: the robot never shot. Where do you look first? (Arbor: which node went red.)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Drive/DistanceToPickup and Drive/DistanceToScoreSpot in AdvantageScope. These are true distances in meters. This graph was worked out from the lesson's real solution paths, so yours will look very close. The pickup line falls to nearly zero first: that's Reaches the pickup (under 0.4 m). Then it rises as the robot leaves, and the scoring spot line falls to nearly zero: Reaches the scoring spot. After that both are flat while the robot aims and shoots. Also plot Drive/TrueAimErrorDegrees: it should swing to about zero before the shot. Activity: before showing the graph, have students sketch what they expect.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run check fails, read it as a clue about which step broke. The run checks remember the best the robot did since you pressed Start, so after a fix press Start again for a clean run. Arbor's live view usually points straight at the broken step. Activity: read out a symptom (the robot shoots facing the wrong way) and have students name the cause (the AIM step isn't finished in RobotContainer, or AIM comes after SHOOT in the tree).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Autonomous lesson in Scriptum's FRC Robot track. It needs the Choreo and Arbor lessons first. Draw the two paths in the Choreo pane, build the tree in the Arbor pane, finish the AIM step in RobotContainer, then run it. Some checkpoints read a running simulation, so run PickupAndScore in Auto before you press Verify. Press the Dozer button for his guides, including 'Teach me, step by step'.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and the end of the FRC Robot track. Today: a trajectory is a schedule, the follower checks it every 20 ms and closes the gap, a behavior tree is ticked every loop and answers running, success or failure, and our trees ask RobotContainer for the same states the buttons do. What's next is build season: join a subsystem team and write real robot code with the same tools and the same patterns.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7.png"/><Relationship Id="rId6"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9</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Autonomous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Draw the paths in Choreo, then build the routine as a behavior tree in Arbor: drive, aim and shoot.</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Hands off the controller. I've got this 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drawn path to a scored shot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obot.png"/>
          <p:cNvPicPr>
            <a:picLocks noChangeAspect="1"/>
          </p:cNvPicPr>
          <p:nvPr/>
        </p:nvPicPr>
        <p:blipFill>
          <a:blip r:embed="rId3"/>
          <a:stretch>
            <a:fillRect/>
          </a:stretch>
        </p:blipFill>
        <p:spPr>
          <a:xfrm>
            <a:off x="1272540" y="3238500"/>
            <a:ext cx="73152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Autonomous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15 seconds, no driver, and the plan for the field</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ezier2.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Following a path</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How a trajectory becomes wheel speeds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iagram-3.png"/>
          <p:cNvPicPr>
            <a:picLocks noChangeAspect="1"/>
          </p:cNvPicPr>
          <p:nvPr/>
        </p:nvPicPr>
        <p:blipFill>
          <a:blip r:embed="rId5"/>
          <a:stretch>
            <a:fillRect/>
          </a:stretch>
        </p:blipFill>
        <p:spPr>
          <a:xfrm>
            <a:off x="7943850" y="3295650"/>
            <a:ext cx="762000" cy="5715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Behavior trees</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Ticks, Sequence, Fallback, Timeout</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bor-logo.png"/>
          <p:cNvPicPr>
            <a:picLocks noChangeAspect="1"/>
          </p:cNvPicPr>
          <p:nvPr/>
        </p:nvPicPr>
        <p:blipFill>
          <a:blip r:embed="rId6"/>
          <a:stretch>
            <a:fillRect/>
          </a:stretch>
        </p:blipFill>
        <p:spPr>
          <a:xfrm>
            <a:off x="11321558" y="3238500"/>
            <a:ext cx="693135"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Trees on our robot</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tree asks the robot for states</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raph-up.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Run and check</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Watch it in AdvantageScope, read a failure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3"/>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robot drives to a game piece, drives to a scoring spot, aims and shoots, all on its own.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Autonomous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Fifteen seconds with nobody driving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can grab the controller to fix my mistakes. So plan well!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first 15 seconds of every match</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Drivers stand behind the line, hands off</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robot runs a routine planned ahead</a:t>
            </a:r>
          </a:p>
        </p:txBody>
      </p:sp>
      <p:sp>
        <p:nvSpPr>
          <p:cNvPr id="8" name="TextBox 7"/>
          <p:cNvSpPr txBox="1"/>
          <p:nvPr/>
        </p:nvSpPr>
        <p:spPr>
          <a:xfrm>
            <a:off x="914400" y="490347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It must do the same thing every match</a:t>
            </a:r>
          </a:p>
        </p:txBody>
      </p:sp>
      <p:sp>
        <p:nvSpPr>
          <p:cNvPr id="9" name="TextBox 8"/>
          <p:cNvSpPr txBox="1"/>
          <p:nvPr/>
        </p:nvSpPr>
        <p:spPr>
          <a:xfrm>
            <a:off x="914400" y="558546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Auto points often decide matches</a:t>
            </a:r>
          </a:p>
        </p:txBody>
      </p:sp>
      <p:sp>
        <p:nvSpPr>
          <p:cNvPr id="10" name="Rounded Rectangle 9"/>
          <p:cNvSpPr/>
          <p:nvPr/>
        </p:nvSpPr>
        <p:spPr>
          <a:xfrm>
            <a:off x="9525000" y="2857500"/>
            <a:ext cx="7848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06000" y="3143250"/>
            <a:ext cx="3810000" cy="1809750"/>
          </a:xfrm>
          <a:prstGeom prst="rect">
            <a:avLst/>
          </a:prstGeom>
          <a:noFill/>
        </p:spPr>
        <p:txBody>
          <a:bodyPr wrap="square" lIns="0" rIns="0" tIns="0" bIns="0" anchor="t">
            <a:spAutoFit/>
          </a:bodyPr>
          <a:lstStyle/>
          <a:p>
            <a:pPr algn="l"/>
            <a:r>
              <a:rPr sz="12750" b="1" i="0">
                <a:solidFill>
                  <a:srgbClr val="CC2200"/>
                </a:solidFill>
                <a:latin typeface="Geist"/>
                <a:ea typeface="Geist"/>
                <a:cs typeface="Geist"/>
              </a:rPr>
              <a:t>15</a:t>
            </a:r>
          </a:p>
        </p:txBody>
      </p:sp>
      <p:sp>
        <p:nvSpPr>
          <p:cNvPr id="12" name="TextBox 11"/>
          <p:cNvSpPr txBox="1"/>
          <p:nvPr/>
        </p:nvSpPr>
        <p:spPr>
          <a:xfrm>
            <a:off x="12382500" y="3810000"/>
            <a:ext cx="4572000" cy="47625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seconds</a:t>
            </a:r>
          </a:p>
        </p:txBody>
      </p:sp>
      <p:sp>
        <p:nvSpPr>
          <p:cNvPr id="13" name="TextBox 12"/>
          <p:cNvSpPr txBox="1"/>
          <p:nvPr/>
        </p:nvSpPr>
        <p:spPr>
          <a:xfrm>
            <a:off x="12382500" y="4343400"/>
            <a:ext cx="4572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with nobody driving</a:t>
            </a:r>
          </a:p>
        </p:txBody>
      </p:sp>
      <p:sp>
        <p:nvSpPr>
          <p:cNvPr id="14" name="Rounded Rectangle 13"/>
          <p:cNvSpPr/>
          <p:nvPr/>
        </p:nvSpPr>
        <p:spPr>
          <a:xfrm>
            <a:off x="9906000" y="6096000"/>
            <a:ext cx="7086600" cy="533400"/>
          </a:xfrm>
          <a:prstGeom prst="roundRect">
            <a:avLst>
              <a:gd name="adj" fmla="val 1785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906000" y="6096000"/>
            <a:ext cx="708660" cy="533400"/>
          </a:xfrm>
          <a:prstGeom prst="roundRect">
            <a:avLst>
              <a:gd name="adj" fmla="val 17857"/>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5676900"/>
            <a:ext cx="1905000" cy="32385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Auto</a:t>
            </a:r>
          </a:p>
        </p:txBody>
      </p:sp>
      <p:sp>
        <p:nvSpPr>
          <p:cNvPr id="17" name="TextBox 16"/>
          <p:cNvSpPr txBox="1"/>
          <p:nvPr/>
        </p:nvSpPr>
        <p:spPr>
          <a:xfrm>
            <a:off x="10805160" y="6096000"/>
            <a:ext cx="4762500" cy="5334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Teleop: drivers in control</a:t>
            </a:r>
          </a:p>
        </p:txBody>
      </p:sp>
      <p:sp>
        <p:nvSpPr>
          <p:cNvPr id="18" name="TextBox 17"/>
          <p:cNvSpPr txBox="1"/>
          <p:nvPr/>
        </p:nvSpPr>
        <p:spPr>
          <a:xfrm>
            <a:off x="10043160" y="67246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0:15</a:t>
            </a:r>
          </a:p>
        </p:txBody>
      </p:sp>
      <p:sp>
        <p:nvSpPr>
          <p:cNvPr id="19" name="TextBox 18"/>
          <p:cNvSpPr txBox="1"/>
          <p:nvPr/>
        </p:nvSpPr>
        <p:spPr>
          <a:xfrm>
            <a:off x="15849600" y="6724650"/>
            <a:ext cx="1143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2:30</a:t>
            </a:r>
          </a:p>
        </p:txBody>
      </p:sp>
      <p:sp>
        <p:nvSpPr>
          <p:cNvPr id="20" name="TextBox 19"/>
          <p:cNvSpPr txBox="1"/>
          <p:nvPr/>
        </p:nvSpPr>
        <p:spPr>
          <a:xfrm>
            <a:off x="9906000" y="7334250"/>
            <a:ext cx="70866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match: 15 s of auto, then 2 min 15 s of teleop.</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Accuracy vs precision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812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3812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7813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1623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099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95482" y="4888249"/>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25423" y="558112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606227" y="419213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65292" y="3560011"/>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26965" y="4334433"/>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63391" y="47579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54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Accurate, not precise</a:t>
            </a:r>
          </a:p>
        </p:txBody>
      </p:sp>
      <p:sp>
        <p:nvSpPr>
          <p:cNvPr id="18" name="TextBox 17"/>
          <p:cNvSpPr txBox="1"/>
          <p:nvPr/>
        </p:nvSpPr>
        <p:spPr>
          <a:xfrm>
            <a:off x="12954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around the spot, but all over the place.</a:t>
            </a:r>
          </a:p>
        </p:txBody>
      </p:sp>
      <p:sp>
        <p:nvSpPr>
          <p:cNvPr id="19" name="Rounded Rectangle 18"/>
          <p:cNvSpPr/>
          <p:nvPr/>
        </p:nvSpPr>
        <p:spPr>
          <a:xfrm>
            <a:off x="6553200" y="2857500"/>
            <a:ext cx="5181600" cy="5048250"/>
          </a:xfrm>
          <a:prstGeom prst="roundRect">
            <a:avLst>
              <a:gd name="adj" fmla="val 301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6200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0200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201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011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487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15525" y="374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67925" y="38385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01225" y="3876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991725" y="3590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82175" y="3667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086975" y="37052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342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Precise, not accurate</a:t>
            </a:r>
          </a:p>
        </p:txBody>
      </p:sp>
      <p:sp>
        <p:nvSpPr>
          <p:cNvPr id="32" name="TextBox 31"/>
          <p:cNvSpPr txBox="1"/>
          <p:nvPr/>
        </p:nvSpPr>
        <p:spPr>
          <a:xfrm>
            <a:off x="69342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Lands in the same place every time. The wrong place.</a:t>
            </a:r>
          </a:p>
        </p:txBody>
      </p:sp>
      <p:sp>
        <p:nvSpPr>
          <p:cNvPr id="33" name="Rounded Rectangle 32"/>
          <p:cNvSpPr/>
          <p:nvPr/>
        </p:nvSpPr>
        <p:spPr>
          <a:xfrm>
            <a:off x="12192000" y="2857500"/>
            <a:ext cx="5181600" cy="5048250"/>
          </a:xfrm>
          <a:prstGeom prst="roundRect">
            <a:avLst>
              <a:gd name="adj" fmla="val 301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3258800" y="3143250"/>
            <a:ext cx="3048000" cy="30480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658850" y="3543300"/>
            <a:ext cx="2247900" cy="22479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4058900" y="3943350"/>
            <a:ext cx="1447800" cy="14478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4439900" y="4324350"/>
            <a:ext cx="685800" cy="68580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4687550" y="4572000"/>
            <a:ext cx="190500" cy="190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4678025" y="45624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4811375" y="46386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4563725" y="46577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4735175" y="44291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4582775" y="448627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792325" y="4505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6438900"/>
            <a:ext cx="44196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Both: what auto needs</a:t>
            </a:r>
          </a:p>
        </p:txBody>
      </p:sp>
      <p:sp>
        <p:nvSpPr>
          <p:cNvPr id="46" name="TextBox 45"/>
          <p:cNvSpPr txBox="1"/>
          <p:nvPr/>
        </p:nvSpPr>
        <p:spPr>
          <a:xfrm>
            <a:off x="12573000" y="6915150"/>
            <a:ext cx="44196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 the spot, the same way every match.</a:t>
            </a:r>
          </a:p>
        </p:txBody>
      </p:sp>
      <p:sp>
        <p:nvSpPr>
          <p:cNvPr id="47" name="Rounded Rectangle 46"/>
          <p:cNvSpPr/>
          <p:nvPr/>
        </p:nvSpPr>
        <p:spPr>
          <a:xfrm>
            <a:off x="914400" y="82105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crosshair.png"/>
          <p:cNvPicPr>
            <a:picLocks noChangeAspect="1"/>
          </p:cNvPicPr>
          <p:nvPr/>
        </p:nvPicPr>
        <p:blipFill>
          <a:blip r:embed="rId3"/>
          <a:stretch>
            <a:fillRect/>
          </a:stretch>
        </p:blipFill>
        <p:spPr>
          <a:xfrm>
            <a:off x="1333500" y="8372475"/>
            <a:ext cx="533400" cy="533400"/>
          </a:xfrm>
          <a:prstGeom prst="rect">
            <a:avLst/>
          </a:prstGeom>
        </p:spPr>
      </p:pic>
      <p:sp>
        <p:nvSpPr>
          <p:cNvPr id="49" name="TextBox 48"/>
          <p:cNvSpPr txBox="1"/>
          <p:nvPr/>
        </p:nvSpPr>
        <p:spPr>
          <a:xfrm>
            <a:off x="2190750" y="82105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fix:  </a:t>
            </a:r>
            <a:r>
              <a:rPr sz="2100" b="0" i="0">
                <a:solidFill>
                  <a:srgbClr val="F0E8E8"/>
                </a:solidFill>
                <a:latin typeface="Geist"/>
                <a:ea typeface="Geist"/>
                <a:cs typeface="Geist"/>
              </a:rPr>
              <a:t>know where the robot really is, and correct every loop. That's what a path follower does.</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jobs: paths, then a tree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333500" y="3276600"/>
            <a:ext cx="685800" cy="685800"/>
          </a:xfrm>
          <a:prstGeom prst="rect">
            <a:avLst/>
          </a:prstGeom>
        </p:spPr>
      </p:pic>
      <p:sp>
        <p:nvSpPr>
          <p:cNvPr id="7" name="TextBox 6"/>
          <p:cNvSpPr txBox="1"/>
          <p:nvPr/>
        </p:nvSpPr>
        <p:spPr>
          <a:xfrm>
            <a:off x="13335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1   Draw the paths</a:t>
            </a:r>
          </a:p>
        </p:txBody>
      </p:sp>
      <p:sp>
        <p:nvSpPr>
          <p:cNvPr id="8" name="TextBox 7"/>
          <p:cNvSpPr txBox="1"/>
          <p:nvPr/>
        </p:nvSpPr>
        <p:spPr>
          <a:xfrm>
            <a:off x="13335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Choreo. Where the robot drives, and how fast.</a:t>
            </a:r>
          </a:p>
        </p:txBody>
      </p:sp>
      <p:sp>
        <p:nvSpPr>
          <p:cNvPr id="9" name="Rounded Rectangle 8"/>
          <p:cNvSpPr/>
          <p:nvPr/>
        </p:nvSpPr>
        <p:spPr>
          <a:xfrm>
            <a:off x="13335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ToPickup.traj   ToScore.traj</a:t>
            </a:r>
          </a:p>
        </p:txBody>
      </p:sp>
      <p:sp>
        <p:nvSpPr>
          <p:cNvPr id="11" name="Rounded Rectangle 10"/>
          <p:cNvSpPr/>
          <p:nvPr/>
        </p:nvSpPr>
        <p:spPr>
          <a:xfrm>
            <a:off x="9944100" y="2857500"/>
            <a:ext cx="74295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iagram-3.png"/>
          <p:cNvPicPr>
            <a:picLocks noChangeAspect="1"/>
          </p:cNvPicPr>
          <p:nvPr/>
        </p:nvPicPr>
        <p:blipFill>
          <a:blip r:embed="rId4"/>
          <a:stretch>
            <a:fillRect/>
          </a:stretch>
        </p:blipFill>
        <p:spPr>
          <a:xfrm>
            <a:off x="10363200" y="3276600"/>
            <a:ext cx="914400" cy="685800"/>
          </a:xfrm>
          <a:prstGeom prst="rect">
            <a:avLst/>
          </a:prstGeom>
        </p:spPr>
      </p:pic>
      <p:sp>
        <p:nvSpPr>
          <p:cNvPr id="13" name="TextBox 12"/>
          <p:cNvSpPr txBox="1"/>
          <p:nvPr/>
        </p:nvSpPr>
        <p:spPr>
          <a:xfrm>
            <a:off x="10363200" y="4248150"/>
            <a:ext cx="6667500" cy="5334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2   Build the tree</a:t>
            </a:r>
          </a:p>
        </p:txBody>
      </p:sp>
      <p:sp>
        <p:nvSpPr>
          <p:cNvPr id="14" name="TextBox 13"/>
          <p:cNvSpPr txBox="1"/>
          <p:nvPr/>
        </p:nvSpPr>
        <p:spPr>
          <a:xfrm>
            <a:off x="10363200" y="4914900"/>
            <a:ext cx="6667500" cy="8572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In Arbor. In what order: drive, wait, drive, aim, shoot.</a:t>
            </a:r>
          </a:p>
        </p:txBody>
      </p:sp>
      <p:sp>
        <p:nvSpPr>
          <p:cNvPr id="15" name="Rounded Rectangle 14"/>
          <p:cNvSpPr/>
          <p:nvPr/>
        </p:nvSpPr>
        <p:spPr>
          <a:xfrm>
            <a:off x="10363200" y="5962650"/>
            <a:ext cx="6591300" cy="571500"/>
          </a:xfrm>
          <a:prstGeom prst="roundRect">
            <a:avLst>
              <a:gd name="adj" fmla="val 1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610850" y="5962650"/>
            <a:ext cx="6286500" cy="571500"/>
          </a:xfrm>
          <a:prstGeom prst="rect">
            <a:avLst/>
          </a:prstGeom>
          <a:noFill/>
        </p:spPr>
        <p:txBody>
          <a:bodyPr wrap="square" lIns="0" rIns="0" tIns="0" bIns="0" anchor="ctr">
            <a:spAutoFit/>
          </a:bodyPr>
          <a:lstStyle/>
          <a:p>
            <a:pPr algn="l"/>
            <a:r>
              <a:rPr sz="1800" b="0" i="0">
                <a:solidFill>
                  <a:srgbClr val="E8C27A"/>
                </a:solidFill>
                <a:latin typeface="Geist Mono"/>
                <a:ea typeface="Geist Mono"/>
                <a:cs typeface="Geist Mono"/>
              </a:rPr>
              <a:t>trees/PickupAndScore.xml</a:t>
            </a:r>
          </a:p>
        </p:txBody>
      </p:sp>
      <p:sp>
        <p:nvSpPr>
          <p:cNvPr id="17" name="Rectangle 16"/>
          <p:cNvSpPr/>
          <p:nvPr/>
        </p:nvSpPr>
        <p:spPr>
          <a:xfrm>
            <a:off x="8505825" y="4829175"/>
            <a:ext cx="113233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593580" y="477774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ignpost-split.png"/>
          <p:cNvPicPr>
            <a:picLocks noChangeAspect="1"/>
          </p:cNvPicPr>
          <p:nvPr/>
        </p:nvPicPr>
        <p:blipFill>
          <a:blip r:embed="rId5"/>
          <a:stretch>
            <a:fillRect/>
          </a:stretch>
        </p:blipFill>
        <p:spPr>
          <a:xfrm>
            <a:off x="1333500" y="7686675"/>
            <a:ext cx="541934" cy="533400"/>
          </a:xfrm>
          <a:prstGeom prst="rect">
            <a:avLst/>
          </a:prstGeom>
        </p:spPr>
      </p:pic>
      <p:sp>
        <p:nvSpPr>
          <p:cNvPr id="21" name="TextBox 20"/>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paths say where.  </a:t>
            </a:r>
            <a:r>
              <a:rPr sz="2100" b="0" i="0">
                <a:solidFill>
                  <a:srgbClr val="F0E8E8"/>
                </a:solidFill>
                <a:latin typeface="Geist"/>
                <a:ea typeface="Geist"/>
                <a:cs typeface="Geist"/>
              </a:rPr>
              <a:t>The tree says in what order, and what to do if a step fails.</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 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Choreo makes the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0096500" cy="584409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path_gradient_velocity.jpg"/>
          <p:cNvPicPr>
            <a:picLocks noChangeAspect="1"/>
          </p:cNvPicPr>
          <p:nvPr/>
        </p:nvPicPr>
        <p:blipFill>
          <a:blip r:embed="rId3"/>
          <a:stretch>
            <a:fillRect/>
          </a:stretch>
        </p:blipFill>
        <p:spPr>
          <a:xfrm>
            <a:off x="914400" y="2857500"/>
            <a:ext cx="10096500" cy="5844092"/>
          </a:xfrm>
          <a:prstGeom prst="rect">
            <a:avLst/>
          </a:prstGeom>
        </p:spPr>
      </p:pic>
      <p:sp>
        <p:nvSpPr>
          <p:cNvPr id="7" name="Rectangle 6"/>
          <p:cNvSpPr/>
          <p:nvPr/>
        </p:nvSpPr>
        <p:spPr>
          <a:xfrm>
            <a:off x="914400" y="2857500"/>
            <a:ext cx="10096500" cy="584409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Waypoints</a:t>
            </a:r>
          </a:p>
        </p:txBody>
      </p:sp>
      <p:sp>
        <p:nvSpPr>
          <p:cNvPr id="11" name="TextBox 10"/>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Pose pins place and heading. Translation pins only place.</a:t>
            </a:r>
          </a:p>
        </p:txBody>
      </p:sp>
      <p:sp>
        <p:nvSpPr>
          <p:cNvPr id="12" name="Oval 11"/>
          <p:cNvSpPr/>
          <p:nvPr/>
        </p:nvSpPr>
        <p:spPr>
          <a:xfrm>
            <a:off x="116776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776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2287250" y="42481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Constraints</a:t>
            </a:r>
          </a:p>
        </p:txBody>
      </p:sp>
      <p:sp>
        <p:nvSpPr>
          <p:cNvPr id="15" name="TextBox 14"/>
          <p:cNvSpPr txBox="1"/>
          <p:nvPr/>
        </p:nvSpPr>
        <p:spPr>
          <a:xfrm>
            <a:off x="12287250" y="46672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Rules the path obeys, like Max Velocity 1.8 m/s</a:t>
            </a:r>
          </a:p>
        </p:txBody>
      </p:sp>
      <p:sp>
        <p:nvSpPr>
          <p:cNvPr id="16" name="Oval 15"/>
          <p:cNvSpPr/>
          <p:nvPr/>
        </p:nvSpPr>
        <p:spPr>
          <a:xfrm>
            <a:off x="116776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776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2287250" y="5676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Generate</a:t>
            </a:r>
          </a:p>
        </p:txBody>
      </p:sp>
      <p:sp>
        <p:nvSpPr>
          <p:cNvPr id="19" name="TextBox 18"/>
          <p:cNvSpPr txBox="1"/>
          <p:nvPr/>
        </p:nvSpPr>
        <p:spPr>
          <a:xfrm>
            <a:off x="12287250" y="6096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Solves the fastest path the robot can really drive</a:t>
            </a:r>
          </a:p>
        </p:txBody>
      </p:sp>
      <p:sp>
        <p:nvSpPr>
          <p:cNvPr id="20" name="Oval 19"/>
          <p:cNvSpPr/>
          <p:nvPr/>
        </p:nvSpPr>
        <p:spPr>
          <a:xfrm>
            <a:off x="116776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776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2287250" y="7105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 Type</a:t>
            </a:r>
          </a:p>
        </p:txBody>
      </p:sp>
      <p:sp>
        <p:nvSpPr>
          <p:cNvPr id="23" name="TextBox 22"/>
          <p:cNvSpPr txBox="1"/>
          <p:nvPr/>
        </p:nvSpPr>
        <p:spPr>
          <a:xfrm>
            <a:off x="12287250" y="7524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Differential for this robot, not the default Swerve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plan for this lesson's field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Oval 140"/>
          <p:cNvSpPr/>
          <p:nvPr/>
        </p:nvSpPr>
        <p:spPr>
          <a:xfrm>
            <a:off x="2628900" y="7478840"/>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038600" y="712641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086225" y="717404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448300" y="6773990"/>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800725" y="5857684"/>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848350" y="590531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153150" y="5011865"/>
            <a:ext cx="209550" cy="2095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5324475" y="6650165"/>
            <a:ext cx="457200" cy="457200"/>
          </a:xfrm>
          <a:prstGeom prst="roundRect">
            <a:avLst>
              <a:gd name="adj" fmla="val 50000"/>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9" name="Picture 148" descr="bullseye.png"/>
          <p:cNvPicPr>
            <a:picLocks noChangeAspect="1"/>
          </p:cNvPicPr>
          <p:nvPr/>
        </p:nvPicPr>
        <p:blipFill>
          <a:blip r:embed="rId3"/>
          <a:stretch>
            <a:fillRect/>
          </a:stretch>
        </p:blipFill>
        <p:spPr>
          <a:xfrm>
            <a:off x="4276725" y="5602415"/>
            <a:ext cx="438150" cy="438150"/>
          </a:xfrm>
          <a:prstGeom prst="rect">
            <a:avLst/>
          </a:prstGeom>
        </p:spPr>
      </p:pic>
      <p:sp>
        <p:nvSpPr>
          <p:cNvPr id="150" name="TextBox 149"/>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pic>
        <p:nvPicPr>
          <p:cNvPr id="151" name="Picture 150" descr="dozer_top.png"/>
          <p:cNvPicPr>
            <a:picLocks noChangeAspect="1"/>
          </p:cNvPicPr>
          <p:nvPr/>
        </p:nvPicPr>
        <p:blipFill>
          <a:blip r:embed="rId4"/>
          <a:stretch>
            <a:fillRect/>
          </a:stretch>
        </p:blipFill>
        <p:spPr>
          <a:xfrm>
            <a:off x="2333625" y="7215888"/>
            <a:ext cx="800100" cy="735454"/>
          </a:xfrm>
          <a:prstGeom prst="rect">
            <a:avLst/>
          </a:prstGeom>
        </p:spPr>
      </p:pic>
      <p:sp>
        <p:nvSpPr>
          <p:cNvPr id="152" name="TextBox 151"/>
          <p:cNvSpPr txBox="1"/>
          <p:nvPr/>
        </p:nvSpPr>
        <p:spPr>
          <a:xfrm>
            <a:off x="1971675" y="8002715"/>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Start</a:t>
            </a:r>
          </a:p>
        </p:txBody>
      </p:sp>
      <p:sp>
        <p:nvSpPr>
          <p:cNvPr id="153" name="TextBox 152"/>
          <p:cNvSpPr txBox="1"/>
          <p:nvPr/>
        </p:nvSpPr>
        <p:spPr>
          <a:xfrm>
            <a:off x="4981575" y="7164515"/>
            <a:ext cx="1905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Pickup</a:t>
            </a:r>
          </a:p>
        </p:txBody>
      </p:sp>
      <p:sp>
        <p:nvSpPr>
          <p:cNvPr id="154" name="TextBox 153"/>
          <p:cNvSpPr txBox="1"/>
          <p:nvPr/>
        </p:nvSpPr>
        <p:spPr>
          <a:xfrm>
            <a:off x="4733925" y="4449890"/>
            <a:ext cx="3048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ScoreSpot</a:t>
            </a:r>
          </a:p>
        </p:txBody>
      </p:sp>
      <p:sp>
        <p:nvSpPr>
          <p:cNvPr id="155" name="TextBox 154"/>
          <p:cNvSpPr txBox="1"/>
          <p:nvPr/>
        </p:nvSpPr>
        <p:spPr>
          <a:xfrm>
            <a:off x="3509010" y="7936040"/>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ToPickup</a:t>
            </a:r>
          </a:p>
        </p:txBody>
      </p:sp>
      <p:sp>
        <p:nvSpPr>
          <p:cNvPr id="156" name="TextBox 155"/>
          <p:cNvSpPr txBox="1"/>
          <p:nvPr/>
        </p:nvSpPr>
        <p:spPr>
          <a:xfrm>
            <a:off x="6187440" y="6314884"/>
            <a:ext cx="19050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ToScore</a:t>
            </a:r>
          </a:p>
        </p:txBody>
      </p:sp>
      <p:sp>
        <p:nvSpPr>
          <p:cNvPr id="157" name="Rounded Rectangle 156"/>
          <p:cNvSpPr/>
          <p:nvPr/>
        </p:nvSpPr>
        <p:spPr>
          <a:xfrm>
            <a:off x="8572500" y="2857500"/>
            <a:ext cx="88011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8839200" y="2857500"/>
            <a:ext cx="27622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Named pose</a:t>
            </a:r>
          </a:p>
        </p:txBody>
      </p:sp>
      <p:sp>
        <p:nvSpPr>
          <p:cNvPr id="159" name="TextBox 158"/>
          <p:cNvSpPr txBox="1"/>
          <p:nvPr/>
        </p:nvSpPr>
        <p:spPr>
          <a:xfrm>
            <a:off x="1198245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x</a:t>
            </a:r>
          </a:p>
        </p:txBody>
      </p:sp>
      <p:sp>
        <p:nvSpPr>
          <p:cNvPr id="160" name="TextBox 159"/>
          <p:cNvSpPr txBox="1"/>
          <p:nvPr/>
        </p:nvSpPr>
        <p:spPr>
          <a:xfrm>
            <a:off x="13411200" y="2857500"/>
            <a:ext cx="10477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y</a:t>
            </a:r>
          </a:p>
        </p:txBody>
      </p:sp>
      <p:sp>
        <p:nvSpPr>
          <p:cNvPr id="161" name="TextBox 160"/>
          <p:cNvSpPr txBox="1"/>
          <p:nvPr/>
        </p:nvSpPr>
        <p:spPr>
          <a:xfrm>
            <a:off x="14839950" y="2857500"/>
            <a:ext cx="241935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heading</a:t>
            </a:r>
          </a:p>
        </p:txBody>
      </p:sp>
      <p:sp>
        <p:nvSpPr>
          <p:cNvPr id="162" name="Rectangle 161"/>
          <p:cNvSpPr/>
          <p:nvPr/>
        </p:nvSpPr>
        <p:spPr>
          <a:xfrm>
            <a:off x="8562975" y="4267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8839200" y="3562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Start</a:t>
            </a:r>
          </a:p>
        </p:txBody>
      </p:sp>
      <p:sp>
        <p:nvSpPr>
          <p:cNvPr id="164" name="TextBox 163"/>
          <p:cNvSpPr txBox="1"/>
          <p:nvPr/>
        </p:nvSpPr>
        <p:spPr>
          <a:xfrm>
            <a:off x="1198245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5" name="TextBox 164"/>
          <p:cNvSpPr txBox="1"/>
          <p:nvPr/>
        </p:nvSpPr>
        <p:spPr>
          <a:xfrm>
            <a:off x="13411200" y="3562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1.5</a:t>
            </a:r>
          </a:p>
        </p:txBody>
      </p:sp>
      <p:sp>
        <p:nvSpPr>
          <p:cNvPr id="166" name="TextBox 165"/>
          <p:cNvSpPr txBox="1"/>
          <p:nvPr/>
        </p:nvSpPr>
        <p:spPr>
          <a:xfrm>
            <a:off x="14839950" y="3562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a:t>
            </a:r>
          </a:p>
        </p:txBody>
      </p:sp>
      <p:sp>
        <p:nvSpPr>
          <p:cNvPr id="167" name="Rectangle 166"/>
          <p:cNvSpPr/>
          <p:nvPr/>
        </p:nvSpPr>
        <p:spPr>
          <a:xfrm>
            <a:off x="8562975" y="5029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8839200" y="4324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Pickup</a:t>
            </a:r>
          </a:p>
        </p:txBody>
      </p:sp>
      <p:sp>
        <p:nvSpPr>
          <p:cNvPr id="169" name="TextBox 168"/>
          <p:cNvSpPr txBox="1"/>
          <p:nvPr/>
        </p:nvSpPr>
        <p:spPr>
          <a:xfrm>
            <a:off x="1198245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5.5</a:t>
            </a:r>
          </a:p>
        </p:txBody>
      </p:sp>
      <p:sp>
        <p:nvSpPr>
          <p:cNvPr id="170" name="TextBox 169"/>
          <p:cNvSpPr txBox="1"/>
          <p:nvPr/>
        </p:nvSpPr>
        <p:spPr>
          <a:xfrm>
            <a:off x="13411200" y="4324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2.5</a:t>
            </a:r>
          </a:p>
        </p:txBody>
      </p:sp>
      <p:sp>
        <p:nvSpPr>
          <p:cNvPr id="171" name="TextBox 170"/>
          <p:cNvSpPr txBox="1"/>
          <p:nvPr/>
        </p:nvSpPr>
        <p:spPr>
          <a:xfrm>
            <a:off x="14839950" y="4324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0°</a:t>
            </a:r>
          </a:p>
        </p:txBody>
      </p:sp>
      <p:sp>
        <p:nvSpPr>
          <p:cNvPr id="172" name="Rectangle 171"/>
          <p:cNvSpPr/>
          <p:nvPr/>
        </p:nvSpPr>
        <p:spPr>
          <a:xfrm>
            <a:off x="8562975" y="5791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8839200" y="5086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ScoreSpot</a:t>
            </a:r>
          </a:p>
        </p:txBody>
      </p:sp>
      <p:sp>
        <p:nvSpPr>
          <p:cNvPr id="174" name="TextBox 173"/>
          <p:cNvSpPr txBox="1"/>
          <p:nvPr/>
        </p:nvSpPr>
        <p:spPr>
          <a:xfrm>
            <a:off x="1198245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6.5</a:t>
            </a:r>
          </a:p>
        </p:txBody>
      </p:sp>
      <p:sp>
        <p:nvSpPr>
          <p:cNvPr id="175" name="TextBox 174"/>
          <p:cNvSpPr txBox="1"/>
          <p:nvPr/>
        </p:nvSpPr>
        <p:spPr>
          <a:xfrm>
            <a:off x="13411200" y="5086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5.0</a:t>
            </a:r>
          </a:p>
        </p:txBody>
      </p:sp>
      <p:sp>
        <p:nvSpPr>
          <p:cNvPr id="176" name="TextBox 175"/>
          <p:cNvSpPr txBox="1"/>
          <p:nvPr/>
        </p:nvSpPr>
        <p:spPr>
          <a:xfrm>
            <a:off x="14839950" y="5086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90°</a:t>
            </a:r>
          </a:p>
        </p:txBody>
      </p:sp>
      <p:sp>
        <p:nvSpPr>
          <p:cNvPr id="177" name="Rectangle 176"/>
          <p:cNvSpPr/>
          <p:nvPr/>
        </p:nvSpPr>
        <p:spPr>
          <a:xfrm>
            <a:off x="8562975" y="6553200"/>
            <a:ext cx="88201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8839200" y="5848350"/>
            <a:ext cx="2724150" cy="666750"/>
          </a:xfrm>
          <a:prstGeom prst="rect">
            <a:avLst/>
          </a:prstGeom>
          <a:noFill/>
        </p:spPr>
        <p:txBody>
          <a:bodyPr wrap="square" lIns="0" rIns="0" tIns="0" bIns="0" anchor="ctr">
            <a:spAutoFit/>
          </a:bodyPr>
          <a:lstStyle/>
          <a:p>
            <a:pPr algn="l">
              <a:lnSpc>
                <a:spcPct val="120000"/>
              </a:lnSpc>
            </a:pPr>
            <a:r>
              <a:rPr sz="1800" b="1" i="0">
                <a:solidFill>
                  <a:srgbClr val="F0E8E8"/>
                </a:solidFill>
                <a:latin typeface="Geist"/>
                <a:ea typeface="Geist"/>
                <a:cs typeface="Geist"/>
              </a:rPr>
              <a:t>Goal</a:t>
            </a:r>
          </a:p>
        </p:txBody>
      </p:sp>
      <p:sp>
        <p:nvSpPr>
          <p:cNvPr id="179" name="TextBox 178"/>
          <p:cNvSpPr txBox="1"/>
          <p:nvPr/>
        </p:nvSpPr>
        <p:spPr>
          <a:xfrm>
            <a:off x="1198245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0" name="TextBox 179"/>
          <p:cNvSpPr txBox="1"/>
          <p:nvPr/>
        </p:nvSpPr>
        <p:spPr>
          <a:xfrm>
            <a:off x="13411200" y="5848350"/>
            <a:ext cx="10096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4.0</a:t>
            </a:r>
          </a:p>
        </p:txBody>
      </p:sp>
      <p:sp>
        <p:nvSpPr>
          <p:cNvPr id="181" name="TextBox 180"/>
          <p:cNvSpPr txBox="1"/>
          <p:nvPr/>
        </p:nvSpPr>
        <p:spPr>
          <a:xfrm>
            <a:off x="14839950" y="5848350"/>
            <a:ext cx="2381250" cy="666750"/>
          </a:xfrm>
          <a:prstGeom prst="rect">
            <a:avLst/>
          </a:prstGeom>
          <a:noFill/>
        </p:spPr>
        <p:txBody>
          <a:bodyPr wrap="square" lIns="0" rIns="0" tIns="0" bIns="0" anchor="ctr">
            <a:spAutoFit/>
          </a:bodyPr>
          <a:lstStyle/>
          <a:p>
            <a:pPr algn="l">
              <a:lnSpc>
                <a:spcPct val="120000"/>
              </a:lnSpc>
            </a:pPr>
            <a:r>
              <a:rPr sz="1800" b="0" i="0">
                <a:solidFill>
                  <a:srgbClr val="E8C27A"/>
                </a:solidFill>
                <a:latin typeface="Geist Mono"/>
                <a:ea typeface="Geist Mono"/>
                <a:cs typeface="Geist Mono"/>
              </a:rPr>
              <a:t>aim here</a:t>
            </a:r>
          </a:p>
        </p:txBody>
      </p:sp>
      <p:sp>
        <p:nvSpPr>
          <p:cNvPr id="182" name="Oval 181"/>
          <p:cNvSpPr/>
          <p:nvPr/>
        </p:nvSpPr>
        <p:spPr>
          <a:xfrm>
            <a:off x="8753475" y="70199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201150" y="69532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Pose waypoint</a:t>
            </a:r>
          </a:p>
        </p:txBody>
      </p:sp>
      <p:sp>
        <p:nvSpPr>
          <p:cNvPr id="184" name="Oval 183"/>
          <p:cNvSpPr/>
          <p:nvPr/>
        </p:nvSpPr>
        <p:spPr>
          <a:xfrm>
            <a:off x="8753475" y="7553325"/>
            <a:ext cx="209550" cy="20955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8801100" y="7600950"/>
            <a:ext cx="114300" cy="114300"/>
          </a:xfrm>
          <a:prstGeom prst="ellipse">
            <a:avLst/>
          </a:prstGeom>
          <a:solidFill>
            <a:srgbClr val="0E14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201150" y="7486650"/>
            <a:ext cx="3810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Translation waypoint</a:t>
            </a:r>
          </a:p>
        </p:txBody>
      </p:sp>
      <p:sp>
        <p:nvSpPr>
          <p:cNvPr id="187" name="Rounded Rectangle 186"/>
          <p:cNvSpPr/>
          <p:nvPr/>
        </p:nvSpPr>
        <p:spPr>
          <a:xfrm>
            <a:off x="12382500" y="6953250"/>
            <a:ext cx="457200" cy="457200"/>
          </a:xfrm>
          <a:prstGeom prst="roundRect">
            <a:avLst>
              <a:gd name="adj" fmla="val 50000"/>
            </a:avLst>
          </a:prstGeom>
          <a:no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TextBox 187"/>
          <p:cNvSpPr txBox="1"/>
          <p:nvPr/>
        </p:nvSpPr>
        <p:spPr>
          <a:xfrm>
            <a:off x="13011150" y="7010400"/>
            <a:ext cx="428625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The join: both paths meet here</a:t>
            </a:r>
          </a:p>
        </p:txBody>
      </p:sp>
      <p:sp>
        <p:nvSpPr>
          <p:cNvPr id="189" name="TextBox 188"/>
          <p:cNvSpPr txBox="1"/>
          <p:nvPr/>
        </p:nvSpPr>
        <p:spPr>
          <a:xfrm>
            <a:off x="8572500" y="8286750"/>
            <a:ext cx="8801100" cy="7620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Meters from the blue wall (x) and the side of the field (y). Heading 0° points down the field.</a:t>
            </a:r>
          </a:p>
        </p:txBody>
      </p:sp>
      <p:sp>
        <p:nvSpPr>
          <p:cNvPr id="190" name="TextBox 18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1" name="TextBox 19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AUTONOMOUS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rules for the two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keyboard.png"/>
          <p:cNvPicPr>
            <a:picLocks noChangeAspect="1"/>
          </p:cNvPicPr>
          <p:nvPr/>
        </p:nvPicPr>
        <p:blipFill>
          <a:blip r:embed="rId3"/>
          <a:stretch>
            <a:fillRect/>
          </a:stretch>
        </p:blipFill>
        <p:spPr>
          <a:xfrm>
            <a:off x="1295400" y="3238500"/>
            <a:ext cx="1083733"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Exact names</a:t>
            </a:r>
          </a:p>
        </p:txBody>
      </p:sp>
      <p:sp>
        <p:nvSpPr>
          <p:cNvPr id="8" name="TextBox 7"/>
          <p:cNvSpPr txBox="1"/>
          <p:nvPr/>
        </p:nvSpPr>
        <p:spPr>
          <a:xfrm>
            <a:off x="1295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ToPickup and ToScore. The tree names them, and capitals count.</a:t>
            </a:r>
          </a:p>
        </p:txBody>
      </p:sp>
      <p:sp>
        <p:nvSpPr>
          <p:cNvPr id="9" name="Rounded Rectangle 8"/>
          <p:cNvSpPr/>
          <p:nvPr/>
        </p:nvSpPr>
        <p:spPr>
          <a:xfrm>
            <a:off x="5105400" y="2857500"/>
            <a:ext cx="3886200" cy="4000500"/>
          </a:xfrm>
          <a:prstGeom prst="roundRect">
            <a:avLst>
              <a:gd name="adj" fmla="val 39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o-alt-fill.png"/>
          <p:cNvPicPr>
            <a:picLocks noChangeAspect="1"/>
          </p:cNvPicPr>
          <p:nvPr/>
        </p:nvPicPr>
        <p:blipFill>
          <a:blip r:embed="rId4"/>
          <a:stretch>
            <a:fillRect/>
          </a:stretch>
        </p:blipFill>
        <p:spPr>
          <a:xfrm>
            <a:off x="5486400" y="3238500"/>
            <a:ext cx="457200"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They join up</a:t>
            </a:r>
          </a:p>
        </p:txBody>
      </p:sp>
      <p:sp>
        <p:nvSpPr>
          <p:cNvPr id="12" name="TextBox 11"/>
          <p:cNvSpPr txBox="1"/>
          <p:nvPr/>
        </p:nvSpPr>
        <p:spPr>
          <a:xfrm>
            <a:off x="5486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ToScore starts where ToPickup ended: on Pickup, within 15 cm.</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in-map.png"/>
          <p:cNvPicPr>
            <a:picLocks noChangeAspect="1"/>
          </p:cNvPicPr>
          <p:nvPr/>
        </p:nvPicPr>
        <p:blipFill>
          <a:blip r:embed="rId5"/>
          <a:stretch>
            <a:fillRect/>
          </a:stretch>
        </p:blipFill>
        <p:spPr>
          <a:xfrm>
            <a:off x="9677400" y="3238500"/>
            <a:ext cx="6096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Three waypoints</a:t>
            </a:r>
          </a:p>
        </p:txBody>
      </p:sp>
      <p:sp>
        <p:nvSpPr>
          <p:cNvPr id="16" name="TextBox 15"/>
          <p:cNvSpPr txBox="1"/>
          <p:nvPr/>
        </p:nvSpPr>
        <p:spPr>
          <a:xfrm>
            <a:off x="9677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Pose at the start, translation in the middle, pose at the end.</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ear.png"/>
          <p:cNvPicPr>
            <a:picLocks noChangeAspect="1"/>
          </p:cNvPicPr>
          <p:nvPr/>
        </p:nvPicPr>
        <p:blipFill>
          <a:blip r:embed="rId6"/>
          <a:stretch>
            <a:fillRect/>
          </a:stretch>
        </p:blipFill>
        <p:spPr>
          <a:xfrm>
            <a:off x="13868400" y="3238500"/>
            <a:ext cx="6096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Differential first</a:t>
            </a:r>
          </a:p>
        </p:txBody>
      </p:sp>
      <p:sp>
        <p:nvSpPr>
          <p:cNvPr id="20" name="TextBox 19"/>
          <p:cNvSpPr txBox="1"/>
          <p:nvPr/>
        </p:nvSpPr>
        <p:spPr>
          <a:xfrm>
            <a:off x="13868400" y="4676775"/>
            <a:ext cx="3124200" cy="21717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Drive Type and the robot's numbers before you draw.</a:t>
            </a:r>
          </a:p>
        </p:txBody>
      </p:sp>
      <p:sp>
        <p:nvSpPr>
          <p:cNvPr id="21" name="Rounded Rectangle 20"/>
          <p:cNvSpPr/>
          <p:nvPr/>
        </p:nvSpPr>
        <p:spPr>
          <a:xfrm>
            <a:off x="914400" y="7429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circle-fill.png"/>
          <p:cNvPicPr>
            <a:picLocks noChangeAspect="1"/>
          </p:cNvPicPr>
          <p:nvPr/>
        </p:nvPicPr>
        <p:blipFill>
          <a:blip r:embed="rId7"/>
          <a:stretch>
            <a:fillRect/>
          </a:stretch>
        </p:blipFill>
        <p:spPr>
          <a:xfrm>
            <a:off x="1333500" y="7639050"/>
            <a:ext cx="533400" cy="533400"/>
          </a:xfrm>
          <a:prstGeom prst="rect">
            <a:avLst/>
          </a:prstGeom>
        </p:spPr>
      </p:pic>
      <p:sp>
        <p:nvSpPr>
          <p:cNvPr id="23" name="TextBox 22"/>
          <p:cNvSpPr txBox="1"/>
          <p:nvPr/>
        </p:nvSpPr>
        <p:spPr>
          <a:xfrm>
            <a:off x="2190750" y="7429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Verify checks:  </a:t>
            </a:r>
            <a:r>
              <a:rPr sz="2100" b="0" i="0">
                <a:solidFill>
                  <a:srgbClr val="F0E8E8"/>
                </a:solidFill>
                <a:latin typeface="Geist"/>
                <a:ea typeface="Geist"/>
                <a:cs typeface="Geist"/>
              </a:rPr>
              <a:t>the names, each end within about 30 cm, and the join within 15 cm.</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Following a path</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a trajectory turns into wheel speeds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path is my schedule. I check it 50 times a second.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trajectory is a schedule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14525" y="59531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926641" y="59531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960969" y="59531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017509" y="59531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98281" y="59531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201266" y="59531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326462" y="59531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73871" y="59531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643492" y="5953125"/>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825229" y="5951106"/>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V="1">
            <a:off x="3028036" y="5951982"/>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11792" y="5925731"/>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93529" y="5885345"/>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73247" y="5832843"/>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48926" y="5772264"/>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22586" y="5703608"/>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2207" y="563495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1828" y="5564276"/>
            <a:ext cx="171640"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33468" y="5495620"/>
            <a:ext cx="169622"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03090" y="542898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74730" y="5362346"/>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44351" y="5295710"/>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15992" y="5229073"/>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287632" y="5162436"/>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459273" y="5095799"/>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28894" y="5029162"/>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00534" y="4962525"/>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972175" y="4895888"/>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143816" y="4829251"/>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13437" y="4762614"/>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485077" y="4695977"/>
            <a:ext cx="17164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656718" y="462934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828358" y="4562704"/>
            <a:ext cx="171641" cy="6663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999999" y="4496067"/>
            <a:ext cx="169621"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169620" y="4429430"/>
            <a:ext cx="171640" cy="66637"/>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341260" y="4360774"/>
            <a:ext cx="17164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512901" y="4290098"/>
            <a:ext cx="169621" cy="7067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682522" y="4221442"/>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852143" y="4152786"/>
            <a:ext cx="169621" cy="6865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021764" y="4092207"/>
            <a:ext cx="173660" cy="60579"/>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195424" y="4039705"/>
            <a:ext cx="175679" cy="52502"/>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371103" y="3999319"/>
            <a:ext cx="179718" cy="40386"/>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550821" y="3973068"/>
            <a:ext cx="181737" cy="26251"/>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732558" y="3958933"/>
            <a:ext cx="183756" cy="14135"/>
          </a:xfrm>
          <a:prstGeom prst="line">
            <a:avLst/>
          </a:prstGeom>
          <a:ln w="38100" cap="rnd">
            <a:solidFill>
              <a:srgbClr val="2A1A1A"/>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897264" y="3939883"/>
            <a:ext cx="22185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81021" y="3935844"/>
            <a:ext cx="21983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262758" y="3933825"/>
            <a:ext cx="207721"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432379" y="3933825"/>
            <a:ext cx="185509"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579788" y="3933825"/>
            <a:ext cx="163297"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704984" y="3933825"/>
            <a:ext cx="141084"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9807969" y="3933825"/>
            <a:ext cx="118872"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9888741" y="3933825"/>
            <a:ext cx="94640"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9945281" y="3933825"/>
            <a:ext cx="72428"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9979609" y="3933825"/>
            <a:ext cx="50216" cy="38100"/>
          </a:xfrm>
          <a:prstGeom prst="rect">
            <a:avLst/>
          </a:prstGeom>
          <a:solidFill>
            <a:srgbClr val="2A1A1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1876425"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88854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92286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979409"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06018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163166"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28836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435771"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605392" y="59150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787129" y="591300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904211" y="5842292"/>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70786" y="5394617"/>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0.51 s</a:t>
            </a:r>
          </a:p>
        </p:txBody>
      </p:sp>
      <p:sp>
        <p:nvSpPr>
          <p:cNvPr id="72" name="Oval 71"/>
          <p:cNvSpPr/>
          <p:nvPr/>
        </p:nvSpPr>
        <p:spPr>
          <a:xfrm>
            <a:off x="3154642" y="589483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36379" y="586858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516097" y="582819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691776" y="577569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865436" y="571511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4035057" y="564645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204678" y="557780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376318" y="550712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545940" y="543847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4717580" y="537183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887201" y="530519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5058842" y="523856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5230482" y="517192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5402123" y="510528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571744" y="503864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743384" y="497201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915025" y="490537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086666" y="483873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256287" y="4772101"/>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61252" y="4638789"/>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627827" y="4191114"/>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1.52 s</a:t>
            </a:r>
          </a:p>
        </p:txBody>
      </p:sp>
      <p:sp>
        <p:nvSpPr>
          <p:cNvPr id="93" name="Oval 92"/>
          <p:cNvSpPr/>
          <p:nvPr/>
        </p:nvSpPr>
        <p:spPr>
          <a:xfrm>
            <a:off x="6599568" y="463882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771208" y="457219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942849" y="450555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112470" y="443891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284110" y="4372280"/>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455751" y="430362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625372" y="423294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794993" y="4164292"/>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964614" y="4095636"/>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138274" y="4035057"/>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13953" y="398255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493671" y="3942169"/>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675408" y="3915918"/>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859164" y="3901783"/>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042921" y="3897744"/>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22465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39427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541688"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600209" y="3829050"/>
            <a:ext cx="247650" cy="2476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866784" y="3381375"/>
            <a:ext cx="1714500" cy="285750"/>
          </a:xfrm>
          <a:prstGeom prst="rect">
            <a:avLst/>
          </a:prstGeom>
          <a:noFill/>
        </p:spPr>
        <p:txBody>
          <a:bodyPr wrap="square" lIns="0" rIns="0" tIns="0" bIns="0" anchor="t">
            <a:spAutoFit/>
          </a:bodyPr>
          <a:lstStyle/>
          <a:p>
            <a:pPr algn="ctr"/>
            <a:r>
              <a:rPr sz="1500" b="1" i="0">
                <a:solidFill>
                  <a:srgbClr val="CC2200"/>
                </a:solidFill>
                <a:latin typeface="Geist Mono"/>
                <a:ea typeface="Geist Mono"/>
                <a:cs typeface="Geist Mono"/>
              </a:rPr>
              <a:t>t = 2.48 s</a:t>
            </a:r>
          </a:p>
        </p:txBody>
      </p:sp>
      <p:sp>
        <p:nvSpPr>
          <p:cNvPr id="113" name="Oval 112"/>
          <p:cNvSpPr/>
          <p:nvPr/>
        </p:nvSpPr>
        <p:spPr>
          <a:xfrm>
            <a:off x="976986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85064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9907181"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9941509"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953625" y="3895725"/>
            <a:ext cx="114300" cy="114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743075" y="6124575"/>
            <a:ext cx="1524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Start</a:t>
            </a:r>
          </a:p>
        </p:txBody>
      </p:sp>
      <p:sp>
        <p:nvSpPr>
          <p:cNvPr id="119" name="TextBox 118"/>
          <p:cNvSpPr txBox="1"/>
          <p:nvPr/>
        </p:nvSpPr>
        <p:spPr>
          <a:xfrm>
            <a:off x="8677275" y="4105275"/>
            <a:ext cx="1524000" cy="285750"/>
          </a:xfrm>
          <a:prstGeom prst="rect">
            <a:avLst/>
          </a:prstGeom>
          <a:noFill/>
        </p:spPr>
        <p:txBody>
          <a:bodyPr wrap="square" lIns="0" rIns="0" tIns="0" bIns="0" anchor="t">
            <a:spAutoFit/>
          </a:bodyPr>
          <a:lstStyle/>
          <a:p>
            <a:pPr algn="r"/>
            <a:r>
              <a:rPr sz="1650" b="0" i="0">
                <a:solidFill>
                  <a:srgbClr val="9A7878"/>
                </a:solidFill>
                <a:latin typeface="Geist"/>
                <a:ea typeface="Geist"/>
                <a:cs typeface="Geist"/>
              </a:rPr>
              <a:t>Pickup</a:t>
            </a:r>
          </a:p>
        </p:txBody>
      </p:sp>
      <p:sp>
        <p:nvSpPr>
          <p:cNvPr id="120" name="Rounded Rectangle 119"/>
          <p:cNvSpPr/>
          <p:nvPr/>
        </p:nvSpPr>
        <p:spPr>
          <a:xfrm>
            <a:off x="11811000" y="2762250"/>
            <a:ext cx="5562600" cy="4095750"/>
          </a:xfrm>
          <a:prstGeom prst="roundRect">
            <a:avLst>
              <a:gd name="adj" fmla="val 372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2192000" y="306705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ONE SAMPLE</a:t>
            </a:r>
          </a:p>
        </p:txBody>
      </p:sp>
      <p:sp>
        <p:nvSpPr>
          <p:cNvPr id="122" name="TextBox 121"/>
          <p:cNvSpPr txBox="1"/>
          <p:nvPr/>
        </p:nvSpPr>
        <p:spPr>
          <a:xfrm>
            <a:off x="12192000" y="35433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a:t>
            </a:r>
          </a:p>
        </p:txBody>
      </p:sp>
      <p:sp>
        <p:nvSpPr>
          <p:cNvPr id="123" name="TextBox 122"/>
          <p:cNvSpPr txBox="1"/>
          <p:nvPr/>
        </p:nvSpPr>
        <p:spPr>
          <a:xfrm>
            <a:off x="14668500" y="35433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1.52 s</a:t>
            </a:r>
          </a:p>
        </p:txBody>
      </p:sp>
      <p:sp>
        <p:nvSpPr>
          <p:cNvPr id="124" name="TextBox 123"/>
          <p:cNvSpPr txBox="1"/>
          <p:nvPr/>
        </p:nvSpPr>
        <p:spPr>
          <a:xfrm>
            <a:off x="12192000" y="40576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x</a:t>
            </a:r>
          </a:p>
        </p:txBody>
      </p:sp>
      <p:sp>
        <p:nvSpPr>
          <p:cNvPr id="125" name="TextBox 124"/>
          <p:cNvSpPr txBox="1"/>
          <p:nvPr/>
        </p:nvSpPr>
        <p:spPr>
          <a:xfrm>
            <a:off x="14668500" y="40576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3.75 m</a:t>
            </a:r>
          </a:p>
        </p:txBody>
      </p:sp>
      <p:sp>
        <p:nvSpPr>
          <p:cNvPr id="126" name="TextBox 125"/>
          <p:cNvSpPr txBox="1"/>
          <p:nvPr/>
        </p:nvSpPr>
        <p:spPr>
          <a:xfrm>
            <a:off x="12192000" y="45720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y</a:t>
            </a:r>
          </a:p>
        </p:txBody>
      </p:sp>
      <p:sp>
        <p:nvSpPr>
          <p:cNvPr id="127" name="TextBox 126"/>
          <p:cNvSpPr txBox="1"/>
          <p:nvPr/>
        </p:nvSpPr>
        <p:spPr>
          <a:xfrm>
            <a:off x="14668500" y="45720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2.10 m</a:t>
            </a:r>
          </a:p>
        </p:txBody>
      </p:sp>
      <p:sp>
        <p:nvSpPr>
          <p:cNvPr id="128" name="TextBox 127"/>
          <p:cNvSpPr txBox="1"/>
          <p:nvPr/>
        </p:nvSpPr>
        <p:spPr>
          <a:xfrm>
            <a:off x="12192000" y="50863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heading</a:t>
            </a:r>
          </a:p>
        </p:txBody>
      </p:sp>
      <p:sp>
        <p:nvSpPr>
          <p:cNvPr id="129" name="TextBox 128"/>
          <p:cNvSpPr txBox="1"/>
          <p:nvPr/>
        </p:nvSpPr>
        <p:spPr>
          <a:xfrm>
            <a:off x="14668500" y="50863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21°</a:t>
            </a:r>
          </a:p>
        </p:txBody>
      </p:sp>
      <p:sp>
        <p:nvSpPr>
          <p:cNvPr id="130" name="TextBox 129"/>
          <p:cNvSpPr txBox="1"/>
          <p:nvPr/>
        </p:nvSpPr>
        <p:spPr>
          <a:xfrm>
            <a:off x="12192000" y="560070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left wheel</a:t>
            </a:r>
          </a:p>
        </p:txBody>
      </p:sp>
      <p:sp>
        <p:nvSpPr>
          <p:cNvPr id="131" name="TextBox 130"/>
          <p:cNvSpPr txBox="1"/>
          <p:nvPr/>
        </p:nvSpPr>
        <p:spPr>
          <a:xfrm>
            <a:off x="14668500" y="560070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1.81 m/s</a:t>
            </a:r>
          </a:p>
        </p:txBody>
      </p:sp>
      <p:sp>
        <p:nvSpPr>
          <p:cNvPr id="132" name="TextBox 131"/>
          <p:cNvSpPr txBox="1"/>
          <p:nvPr/>
        </p:nvSpPr>
        <p:spPr>
          <a:xfrm>
            <a:off x="12192000" y="6115050"/>
            <a:ext cx="2476500" cy="4191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right wheel</a:t>
            </a:r>
          </a:p>
        </p:txBody>
      </p:sp>
      <p:sp>
        <p:nvSpPr>
          <p:cNvPr id="133" name="TextBox 132"/>
          <p:cNvSpPr txBox="1"/>
          <p:nvPr/>
        </p:nvSpPr>
        <p:spPr>
          <a:xfrm>
            <a:off x="14668500" y="6115050"/>
            <a:ext cx="2476500" cy="41910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1.79 m/s</a:t>
            </a:r>
          </a:p>
        </p:txBody>
      </p:sp>
      <p:sp>
        <p:nvSpPr>
          <p:cNvPr id="134" name="Rounded Rectangle 133"/>
          <p:cNvSpPr/>
          <p:nvPr/>
        </p:nvSpPr>
        <p:spPr>
          <a:xfrm>
            <a:off x="914400" y="7334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5" name="Picture 134" descr="stopwatch.png"/>
          <p:cNvPicPr>
            <a:picLocks noChangeAspect="1"/>
          </p:cNvPicPr>
          <p:nvPr/>
        </p:nvPicPr>
        <p:blipFill>
          <a:blip r:embed="rId3"/>
          <a:stretch>
            <a:fillRect/>
          </a:stretch>
        </p:blipFill>
        <p:spPr>
          <a:xfrm>
            <a:off x="1333500" y="7591425"/>
            <a:ext cx="481781" cy="533400"/>
          </a:xfrm>
          <a:prstGeom prst="rect">
            <a:avLst/>
          </a:prstGeom>
        </p:spPr>
      </p:pic>
      <p:sp>
        <p:nvSpPr>
          <p:cNvPr id="136" name="TextBox 135"/>
          <p:cNvSpPr txBox="1"/>
          <p:nvPr/>
        </p:nvSpPr>
        <p:spPr>
          <a:xfrm>
            <a:off x="2190750" y="7334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Read the dots:  </a:t>
            </a:r>
            <a:r>
              <a:rPr sz="2100" b="0" i="0">
                <a:solidFill>
                  <a:srgbClr val="F0E8E8"/>
                </a:solidFill>
                <a:latin typeface="Geist"/>
                <a:ea typeface="Geist"/>
                <a:cs typeface="Geist"/>
              </a:rPr>
              <a:t>bunched up where the robot is slow, spread out where it's fast. Samples are about 0.05 s apart.</a:t>
            </a:r>
          </a:p>
        </p:txBody>
      </p:sp>
      <p:sp>
        <p:nvSpPr>
          <p:cNvPr id="137" name="TextBox 1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8" name="TextBox 1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follower, every 20 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066800"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should I be?</a:t>
            </a:r>
          </a:p>
        </p:txBody>
      </p:sp>
      <p:sp>
        <p:nvSpPr>
          <p:cNvPr id="9" name="TextBox 8"/>
          <p:cNvSpPr txBox="1"/>
          <p:nvPr/>
        </p:nvSpPr>
        <p:spPr>
          <a:xfrm>
            <a:off x="1104900"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path's sample for right now</a:t>
            </a:r>
          </a:p>
        </p:txBody>
      </p:sp>
      <p:sp>
        <p:nvSpPr>
          <p:cNvPr id="10" name="Rectangle 9"/>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967288"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424488"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4488"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5348288"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Where am I?</a:t>
            </a:r>
          </a:p>
        </p:txBody>
      </p:sp>
      <p:sp>
        <p:nvSpPr>
          <p:cNvPr id="16" name="TextBox 15"/>
          <p:cNvSpPr txBox="1"/>
          <p:nvPr/>
        </p:nvSpPr>
        <p:spPr>
          <a:xfrm>
            <a:off x="5386388"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pose estimate</a:t>
            </a:r>
          </a:p>
        </p:txBody>
      </p:sp>
      <p:sp>
        <p:nvSpPr>
          <p:cNvPr id="17" name="Rectangle 16"/>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9248775"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77375" y="304800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05975"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5975"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9629775"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Close the gap</a:t>
            </a:r>
          </a:p>
        </p:txBody>
      </p:sp>
      <p:sp>
        <p:nvSpPr>
          <p:cNvPr id="23" name="TextBox 22"/>
          <p:cNvSpPr txBox="1"/>
          <p:nvPr/>
        </p:nvSpPr>
        <p:spPr>
          <a:xfrm>
            <a:off x="9667875"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Feedback nudges the speeds</a:t>
            </a:r>
          </a:p>
        </p:txBody>
      </p:sp>
      <p:sp>
        <p:nvSpPr>
          <p:cNvPr id="24" name="Rectangle 23"/>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3530262"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3758862"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3987462" y="3238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987462" y="3238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3911262" y="3810000"/>
            <a:ext cx="3309938" cy="5334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Speed to power</a:t>
            </a:r>
          </a:p>
        </p:txBody>
      </p:sp>
      <p:sp>
        <p:nvSpPr>
          <p:cNvPr id="30" name="TextBox 29"/>
          <p:cNvSpPr txBox="1"/>
          <p:nvPr/>
        </p:nvSpPr>
        <p:spPr>
          <a:xfrm>
            <a:off x="13949362" y="4419600"/>
            <a:ext cx="32337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Feedforward: kS + kV × speed</a:t>
            </a:r>
          </a:p>
        </p:txBody>
      </p:sp>
      <p:sp>
        <p:nvSpPr>
          <p:cNvPr id="31" name="Rectangle 30"/>
          <p:cNvSpPr/>
          <p:nvPr/>
        </p:nvSpPr>
        <p:spPr>
          <a:xfrm>
            <a:off x="15551944" y="5205412"/>
            <a:ext cx="28575" cy="714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707481" y="5891212"/>
            <a:ext cx="12873038"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7481" y="5361622"/>
            <a:ext cx="28575" cy="5581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a:off x="2645569" y="5238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91500" y="5676900"/>
            <a:ext cx="1905000" cy="45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91500" y="5676900"/>
            <a:ext cx="1905000" cy="457200"/>
          </a:xfrm>
          <a:prstGeom prst="rect">
            <a:avLst/>
          </a:prstGeom>
          <a:noFill/>
        </p:spPr>
        <p:txBody>
          <a:bodyPr wrap="square" lIns="0" rIns="0" tIns="0" bIns="0" anchor="ctr">
            <a:spAutoFit/>
          </a:bodyPr>
          <a:lstStyle/>
          <a:p>
            <a:pPr algn="ctr"/>
            <a:r>
              <a:rPr sz="1950" b="1" i="0">
                <a:solidFill>
                  <a:srgbClr val="CC2200"/>
                </a:solidFill>
                <a:latin typeface="Geist"/>
                <a:ea typeface="Geist"/>
                <a:cs typeface="Geist"/>
              </a:rPr>
              <a:t>every 20 ms</a:t>
            </a:r>
          </a:p>
        </p:txBody>
      </p:sp>
      <p:sp>
        <p:nvSpPr>
          <p:cNvPr id="37" name="Rounded Rectangle 36"/>
          <p:cNvSpPr/>
          <p:nvPr/>
        </p:nvSpPr>
        <p:spPr>
          <a:xfrm>
            <a:off x="914400" y="7239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journal-code.png"/>
          <p:cNvPicPr>
            <a:picLocks noChangeAspect="1"/>
          </p:cNvPicPr>
          <p:nvPr/>
        </p:nvPicPr>
        <p:blipFill>
          <a:blip r:embed="rId3"/>
          <a:stretch>
            <a:fillRect/>
          </a:stretch>
        </p:blipFill>
        <p:spPr>
          <a:xfrm>
            <a:off x="1333500" y="7496175"/>
            <a:ext cx="500062" cy="533400"/>
          </a:xfrm>
          <a:prstGeom prst="rect">
            <a:avLst/>
          </a:prstGeom>
        </p:spPr>
      </p:pic>
      <p:sp>
        <p:nvSpPr>
          <p:cNvPr id="39" name="TextBox 38"/>
          <p:cNvSpPr txBox="1"/>
          <p:nvPr/>
        </p:nvSpPr>
        <p:spPr>
          <a:xfrm>
            <a:off x="2190750" y="7239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Provided:  </a:t>
            </a:r>
            <a:r>
              <a:rPr sz="2100" b="0" i="0">
                <a:solidFill>
                  <a:srgbClr val="F0E8E8"/>
                </a:solidFill>
                <a:latin typeface="Geist"/>
                <a:ea typeface="Geist"/>
                <a:cs typeface="Geist"/>
              </a:rPr>
              <a:t>DifferentialPathFollower.java does this, already tuned. Read it, don't change it.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Should be here, is there: close the gap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428750" y="7993798"/>
            <a:ext cx="260994" cy="7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89744" y="7972675"/>
            <a:ext cx="254618" cy="211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944362" y="7938354"/>
            <a:ext cx="248653" cy="343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193015" y="7891558"/>
            <a:ext cx="243099" cy="467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436114" y="7833010"/>
            <a:ext cx="237955" cy="585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74069" y="7763435"/>
            <a:ext cx="233223" cy="695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7292" y="7683554"/>
            <a:ext cx="228901" cy="798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136193" y="7594092"/>
            <a:ext cx="224989" cy="89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61182" y="7495772"/>
            <a:ext cx="221489" cy="983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582671" y="7389316"/>
            <a:ext cx="218399" cy="106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801070" y="7275449"/>
            <a:ext cx="215721" cy="113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4016791" y="7154894"/>
            <a:ext cx="213452" cy="1205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230243" y="7028374"/>
            <a:ext cx="211595" cy="1265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441838" y="6896612"/>
            <a:ext cx="210148" cy="1317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651986" y="6760332"/>
            <a:ext cx="209113" cy="1362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861099" y="6620256"/>
            <a:ext cx="208487" cy="1400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5069586" y="6477109"/>
            <a:ext cx="208273" cy="1431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277859" y="6331613"/>
            <a:ext cx="208470" cy="1454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486329" y="6184492"/>
            <a:ext cx="209076" cy="147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95405" y="6036469"/>
            <a:ext cx="210095" cy="1480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905500" y="5888267"/>
            <a:ext cx="211523" cy="1482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117023" y="5740610"/>
            <a:ext cx="213363" cy="1476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30386" y="5594222"/>
            <a:ext cx="215614" cy="1463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46000" y="5449824"/>
            <a:ext cx="218274" cy="1443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764274" y="5308141"/>
            <a:ext cx="221346" cy="1416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985620" y="5169896"/>
            <a:ext cx="224829" cy="1382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210449" y="5035812"/>
            <a:ext cx="228722" cy="13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439171" y="4906613"/>
            <a:ext cx="233026" cy="1291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72197" y="4783022"/>
            <a:ext cx="237741" cy="123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909938" y="4665762"/>
            <a:ext cx="242867" cy="1172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152805" y="4555556"/>
            <a:ext cx="248403" cy="1102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401208" y="4453128"/>
            <a:ext cx="254350" cy="1024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55558" y="4359201"/>
            <a:ext cx="260708" cy="939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916266" y="4274499"/>
            <a:ext cx="267477" cy="84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183743" y="4199744"/>
            <a:ext cx="274656" cy="747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458399" y="4135660"/>
            <a:ext cx="282247" cy="640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740646" y="4082970"/>
            <a:ext cx="290248" cy="5269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030894" y="4042398"/>
            <a:ext cx="298659" cy="405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329553" y="4014667"/>
            <a:ext cx="307482" cy="277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637035" y="4000500"/>
            <a:ext cx="316715" cy="141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rot="19616770">
            <a:off x="6240399" y="4925949"/>
            <a:ext cx="1047750" cy="1047750"/>
          </a:xfrm>
          <a:prstGeom prst="roundRect">
            <a:avLst>
              <a:gd name="adj" fmla="val 9090"/>
            </a:avLst>
          </a:prstGeom>
          <a:noFill/>
          <a:ln w="28575">
            <a:solidFill>
              <a:srgbClr val="E055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ozer_top.png"/>
          <p:cNvPicPr>
            <a:picLocks noChangeAspect="1"/>
          </p:cNvPicPr>
          <p:nvPr/>
        </p:nvPicPr>
        <p:blipFill>
          <a:blip r:embed="rId3"/>
          <a:stretch>
            <a:fillRect/>
          </a:stretch>
        </p:blipFill>
        <p:spPr>
          <a:xfrm rot="20096770">
            <a:off x="6393468" y="6310118"/>
            <a:ext cx="1238250" cy="1138203"/>
          </a:xfrm>
          <a:prstGeom prst="rect">
            <a:avLst/>
          </a:prstGeom>
        </p:spPr>
      </p:pic>
      <p:cxnSp>
        <p:nvCxnSpPr>
          <p:cNvPr id="48" name="Connector 47"/>
          <p:cNvCxnSpPr/>
          <p:nvPr/>
        </p:nvCxnSpPr>
        <p:spPr>
          <a:xfrm flipH="1" flipV="1">
            <a:off x="6764274" y="5449824"/>
            <a:ext cx="248319" cy="1429396"/>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491601" y="4331318"/>
            <a:ext cx="1292879" cy="223619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2954274" y="449732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54274" y="449732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Oval 51"/>
          <p:cNvSpPr/>
          <p:nvPr/>
        </p:nvSpPr>
        <p:spPr>
          <a:xfrm>
            <a:off x="5488593" y="666967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8593" y="666967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4" name="Oval 53"/>
          <p:cNvSpPr/>
          <p:nvPr/>
        </p:nvSpPr>
        <p:spPr>
          <a:xfrm>
            <a:off x="8250180" y="571446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50180" y="571446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6" name="TextBox 55"/>
          <p:cNvSpPr txBox="1"/>
          <p:nvPr/>
        </p:nvSpPr>
        <p:spPr>
          <a:xfrm>
            <a:off x="3525774" y="4516374"/>
            <a:ext cx="2286000" cy="323850"/>
          </a:xfrm>
          <a:prstGeom prst="rect">
            <a:avLst/>
          </a:prstGeom>
          <a:noFill/>
        </p:spPr>
        <p:txBody>
          <a:bodyPr wrap="square" lIns="0" rIns="0" tIns="0" bIns="0" anchor="t">
            <a:spAutoFit/>
          </a:bodyPr>
          <a:lstStyle/>
          <a:p>
            <a:pPr algn="r"/>
            <a:r>
              <a:rPr sz="1800" b="1" i="0">
                <a:solidFill>
                  <a:srgbClr val="E05540"/>
                </a:solidFill>
                <a:latin typeface="Geist Mono"/>
                <a:ea typeface="Geist Mono"/>
                <a:cs typeface="Geist Mono"/>
              </a:rPr>
              <a:t>DesiredPose</a:t>
            </a:r>
          </a:p>
        </p:txBody>
      </p:sp>
      <p:sp>
        <p:nvSpPr>
          <p:cNvPr id="57" name="TextBox 56"/>
          <p:cNvSpPr txBox="1"/>
          <p:nvPr/>
        </p:nvSpPr>
        <p:spPr>
          <a:xfrm>
            <a:off x="7869843" y="6717295"/>
            <a:ext cx="1905000" cy="32385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Pose</a:t>
            </a:r>
          </a:p>
        </p:txBody>
      </p:sp>
      <p:sp>
        <p:nvSpPr>
          <p:cNvPr id="58" name="Oval 57"/>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0" name="TextBox 59"/>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Path says</a:t>
            </a:r>
          </a:p>
        </p:txBody>
      </p:sp>
      <p:sp>
        <p:nvSpPr>
          <p:cNvPr id="61" name="TextBox 60"/>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 here now, at these wheel speeds</a:t>
            </a:r>
          </a:p>
        </p:txBody>
      </p:sp>
      <p:sp>
        <p:nvSpPr>
          <p:cNvPr id="62" name="Oval 61"/>
          <p:cNvSpPr/>
          <p:nvPr/>
        </p:nvSpPr>
        <p:spPr>
          <a:xfrm>
            <a:off x="11906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64" name="TextBox 63"/>
          <p:cNvSpPr txBox="1"/>
          <p:nvPr/>
        </p:nvSpPr>
        <p:spPr>
          <a:xfrm>
            <a:off x="12515850" y="4724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 is</a:t>
            </a:r>
          </a:p>
        </p:txBody>
      </p:sp>
      <p:sp>
        <p:nvSpPr>
          <p:cNvPr id="65" name="TextBox 64"/>
          <p:cNvSpPr txBox="1"/>
          <p:nvPr/>
        </p:nvSpPr>
        <p:spPr>
          <a:xfrm>
            <a:off x="12515850" y="5143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behind, and off to the side</a:t>
            </a:r>
          </a:p>
        </p:txBody>
      </p:sp>
      <p:sp>
        <p:nvSpPr>
          <p:cNvPr id="66" name="Oval 65"/>
          <p:cNvSpPr/>
          <p:nvPr/>
        </p:nvSpPr>
        <p:spPr>
          <a:xfrm>
            <a:off x="119062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062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8" name="TextBox 67"/>
          <p:cNvSpPr txBox="1"/>
          <p:nvPr/>
        </p:nvSpPr>
        <p:spPr>
          <a:xfrm>
            <a:off x="12515850" y="6438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Nudge</a:t>
            </a:r>
          </a:p>
        </p:txBody>
      </p:sp>
      <p:sp>
        <p:nvSpPr>
          <p:cNvPr id="69" name="TextBox 68"/>
          <p:cNvSpPr txBox="1"/>
          <p:nvPr/>
        </p:nvSpPr>
        <p:spPr>
          <a:xfrm>
            <a:off x="12515850" y="6858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Change the left and right speeds to steer back on the line</a:t>
            </a:r>
          </a:p>
        </p:txBody>
      </p:sp>
      <p:sp>
        <p:nvSpPr>
          <p:cNvPr id="70" name="TextBox 6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1" name="TextBox 7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Speed to power: feedforward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28700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991475"/>
            <a:ext cx="82486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5900" y="78581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238375" y="680085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485900" y="666750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0.25</a:t>
            </a:r>
          </a:p>
        </p:txBody>
      </p:sp>
      <p:sp>
        <p:nvSpPr>
          <p:cNvPr id="10" name="Rectangle 9"/>
          <p:cNvSpPr/>
          <p:nvPr/>
        </p:nvSpPr>
        <p:spPr>
          <a:xfrm>
            <a:off x="2238375" y="561022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85900" y="547687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2" name="Rectangle 11"/>
          <p:cNvSpPr/>
          <p:nvPr/>
        </p:nvSpPr>
        <p:spPr>
          <a:xfrm>
            <a:off x="2238375" y="4419600"/>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85900" y="4286250"/>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0.75</a:t>
            </a:r>
          </a:p>
        </p:txBody>
      </p:sp>
      <p:sp>
        <p:nvSpPr>
          <p:cNvPr id="14" name="Rectangle 13"/>
          <p:cNvSpPr/>
          <p:nvPr/>
        </p:nvSpPr>
        <p:spPr>
          <a:xfrm>
            <a:off x="2238375" y="3228975"/>
            <a:ext cx="8248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485900" y="3095625"/>
            <a:ext cx="6286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6" name="Rectangle 15"/>
          <p:cNvSpPr/>
          <p:nvPr/>
        </p:nvSpPr>
        <p:spPr>
          <a:xfrm>
            <a:off x="2238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962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8" name="Rectangle 17"/>
          <p:cNvSpPr/>
          <p:nvPr/>
        </p:nvSpPr>
        <p:spPr>
          <a:xfrm>
            <a:off x="3609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33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0" name="Rectangle 19"/>
          <p:cNvSpPr/>
          <p:nvPr/>
        </p:nvSpPr>
        <p:spPr>
          <a:xfrm>
            <a:off x="49815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053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Rectangle 21"/>
          <p:cNvSpPr/>
          <p:nvPr/>
        </p:nvSpPr>
        <p:spPr>
          <a:xfrm>
            <a:off x="63531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0769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4" name="Rectangle 23"/>
          <p:cNvSpPr/>
          <p:nvPr/>
        </p:nvSpPr>
        <p:spPr>
          <a:xfrm>
            <a:off x="77247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485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6" name="Rectangle 25"/>
          <p:cNvSpPr/>
          <p:nvPr/>
        </p:nvSpPr>
        <p:spPr>
          <a:xfrm>
            <a:off x="90963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8201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8" name="Rectangle 27"/>
          <p:cNvSpPr/>
          <p:nvPr/>
        </p:nvSpPr>
        <p:spPr>
          <a:xfrm>
            <a:off x="10467975" y="799147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91750" y="81534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a:t>
            </a:r>
          </a:p>
        </p:txBody>
      </p:sp>
      <p:sp>
        <p:nvSpPr>
          <p:cNvPr id="30" name="Rectangle 29"/>
          <p:cNvSpPr/>
          <p:nvPr/>
        </p:nvSpPr>
        <p:spPr>
          <a:xfrm>
            <a:off x="2238375" y="3228975"/>
            <a:ext cx="19050" cy="4781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247900" y="8477250"/>
            <a:ext cx="8229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wheel speed (m/s)</a:t>
            </a:r>
          </a:p>
        </p:txBody>
      </p:sp>
      <p:sp>
        <p:nvSpPr>
          <p:cNvPr id="32" name="TextBox 31"/>
          <p:cNvSpPr txBox="1"/>
          <p:nvPr/>
        </p:nvSpPr>
        <p:spPr>
          <a:xfrm>
            <a:off x="2381250" y="28575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duty cycle</a:t>
            </a:r>
          </a:p>
        </p:txBody>
      </p:sp>
      <p:sp>
        <p:nvSpPr>
          <p:cNvPr id="33" name="Rectangle 32"/>
          <p:cNvSpPr/>
          <p:nvPr/>
        </p:nvSpPr>
        <p:spPr>
          <a:xfrm>
            <a:off x="2219325" y="7873206"/>
            <a:ext cx="57150" cy="156369"/>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4" name="Connector 33"/>
          <p:cNvCxnSpPr/>
          <p:nvPr/>
        </p:nvCxnSpPr>
        <p:spPr>
          <a:xfrm flipV="1">
            <a:off x="2249272" y="7893376"/>
            <a:ext cx="12344" cy="84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261616" y="3238500"/>
            <a:ext cx="7595891" cy="46548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828932" y="3209925"/>
            <a:ext cx="677143"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707255" y="6379290"/>
            <a:ext cx="19050" cy="163123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238375" y="6379290"/>
            <a:ext cx="248793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4612005" y="6284040"/>
            <a:ext cx="209550" cy="2095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07280" y="6445965"/>
            <a:ext cx="2476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1.8 m/s → 0.34</a:t>
            </a:r>
          </a:p>
        </p:txBody>
      </p:sp>
      <p:sp>
        <p:nvSpPr>
          <p:cNvPr id="41" name="Rectangle 40"/>
          <p:cNvSpPr/>
          <p:nvPr/>
        </p:nvSpPr>
        <p:spPr>
          <a:xfrm>
            <a:off x="10009889" y="322897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2400300" y="7334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00300" y="7334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4" name="Oval 43"/>
          <p:cNvSpPr/>
          <p:nvPr/>
        </p:nvSpPr>
        <p:spPr>
          <a:xfrm>
            <a:off x="6720840" y="428195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0840" y="428195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Oval 45"/>
          <p:cNvSpPr/>
          <p:nvPr/>
        </p:nvSpPr>
        <p:spPr>
          <a:xfrm>
            <a:off x="4526280" y="57220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26280" y="57220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Oval 47"/>
          <p:cNvSpPr/>
          <p:nvPr/>
        </p:nvSpPr>
        <p:spPr>
          <a:xfrm>
            <a:off x="9505064" y="3333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505064" y="3333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Oval 49"/>
          <p:cNvSpPr/>
          <p:nvPr/>
        </p:nvSpPr>
        <p:spPr>
          <a:xfrm>
            <a:off x="11715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15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2" name="TextBox 51"/>
          <p:cNvSpPr txBox="1"/>
          <p:nvPr/>
        </p:nvSpPr>
        <p:spPr>
          <a:xfrm>
            <a:off x="12325350" y="28194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kS: break loose</a:t>
            </a:r>
          </a:p>
        </p:txBody>
      </p:sp>
      <p:sp>
        <p:nvSpPr>
          <p:cNvPr id="53" name="TextBox 52"/>
          <p:cNvSpPr txBox="1"/>
          <p:nvPr/>
        </p:nvSpPr>
        <p:spPr>
          <a:xfrm>
            <a:off x="12325350" y="32385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little power just to start the wheels: 0.25 V of 12</a:t>
            </a:r>
          </a:p>
        </p:txBody>
      </p:sp>
      <p:sp>
        <p:nvSpPr>
          <p:cNvPr id="54" name="Oval 53"/>
          <p:cNvSpPr/>
          <p:nvPr/>
        </p:nvSpPr>
        <p:spPr>
          <a:xfrm>
            <a:off x="11715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15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6" name="TextBox 55"/>
          <p:cNvSpPr txBox="1"/>
          <p:nvPr/>
        </p:nvSpPr>
        <p:spPr>
          <a:xfrm>
            <a:off x="12325350" y="42481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power per speed</a:t>
            </a:r>
          </a:p>
        </p:txBody>
      </p:sp>
      <p:sp>
        <p:nvSpPr>
          <p:cNvPr id="57" name="TextBox 56"/>
          <p:cNvSpPr txBox="1"/>
          <p:nvPr/>
        </p:nvSpPr>
        <p:spPr>
          <a:xfrm>
            <a:off x="12325350" y="46672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Twice the speed, twice the power</a:t>
            </a:r>
          </a:p>
        </p:txBody>
      </p:sp>
      <p:sp>
        <p:nvSpPr>
          <p:cNvPr id="58" name="Oval 57"/>
          <p:cNvSpPr/>
          <p:nvPr/>
        </p:nvSpPr>
        <p:spPr>
          <a:xfrm>
            <a:off x="11715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715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0" name="TextBox 59"/>
          <p:cNvSpPr txBox="1"/>
          <p:nvPr/>
        </p:nvSpPr>
        <p:spPr>
          <a:xfrm>
            <a:off x="12325350" y="567690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1.8 m/s</a:t>
            </a:r>
          </a:p>
        </p:txBody>
      </p:sp>
      <p:sp>
        <p:nvSpPr>
          <p:cNvPr id="61" name="TextBox 60"/>
          <p:cNvSpPr txBox="1"/>
          <p:nvPr/>
        </p:nvSpPr>
        <p:spPr>
          <a:xfrm>
            <a:off x="12325350" y="609600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0.34: a third of full power</a:t>
            </a:r>
          </a:p>
        </p:txBody>
      </p:sp>
      <p:sp>
        <p:nvSpPr>
          <p:cNvPr id="62" name="Oval 61"/>
          <p:cNvSpPr/>
          <p:nvPr/>
        </p:nvSpPr>
        <p:spPr>
          <a:xfrm>
            <a:off x="11715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715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64" name="TextBox 63"/>
          <p:cNvSpPr txBox="1"/>
          <p:nvPr/>
        </p:nvSpPr>
        <p:spPr>
          <a:xfrm>
            <a:off x="12325350" y="7105650"/>
            <a:ext cx="5048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Top speed</a:t>
            </a:r>
          </a:p>
        </p:txBody>
      </p:sp>
      <p:sp>
        <p:nvSpPr>
          <p:cNvPr id="65" name="TextBox 64"/>
          <p:cNvSpPr txBox="1"/>
          <p:nvPr/>
        </p:nvSpPr>
        <p:spPr>
          <a:xfrm>
            <a:off x="12325350" y="7524750"/>
            <a:ext cx="5048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5.7 m/s at full power (1.0)</a:t>
            </a:r>
          </a:p>
        </p:txBody>
      </p:sp>
      <p:sp>
        <p:nvSpPr>
          <p:cNvPr id="66" name="TextBox 6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7" name="TextBox 6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Wait, settle, arrive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6800"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Follow</a:t>
            </a:r>
          </a:p>
        </p:txBody>
      </p:sp>
      <p:sp>
        <p:nvSpPr>
          <p:cNvPr id="7" name="TextBox 6"/>
          <p:cNvSpPr txBox="1"/>
          <p:nvPr/>
        </p:nvSpPr>
        <p:spPr>
          <a:xfrm>
            <a:off x="1181100"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The clock runs. Drive the sample for now.</a:t>
            </a:r>
          </a:p>
        </p:txBody>
      </p:sp>
      <p:sp>
        <p:nvSpPr>
          <p:cNvPr id="8" name="Rectangle 7"/>
          <p:cNvSpPr/>
          <p:nvPr/>
        </p:nvSpPr>
        <p:spPr>
          <a:xfrm>
            <a:off x="4591050"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48288"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Wait</a:t>
            </a:r>
          </a:p>
        </p:txBody>
      </p:sp>
      <p:sp>
        <p:nvSpPr>
          <p:cNvPr id="12" name="TextBox 11"/>
          <p:cNvSpPr txBox="1"/>
          <p:nvPr/>
        </p:nvSpPr>
        <p:spPr>
          <a:xfrm>
            <a:off x="5462588"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More than 0.5 m behind? The clock pauses.</a:t>
            </a:r>
          </a:p>
        </p:txBody>
      </p:sp>
      <p:sp>
        <p:nvSpPr>
          <p:cNvPr id="13" name="Rectangle 12"/>
          <p:cNvSpPr/>
          <p:nvPr/>
        </p:nvSpPr>
        <p:spPr>
          <a:xfrm>
            <a:off x="8872538"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304800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629775"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Settle</a:t>
            </a:r>
          </a:p>
        </p:txBody>
      </p:sp>
      <p:sp>
        <p:nvSpPr>
          <p:cNvPr id="17" name="TextBox 16"/>
          <p:cNvSpPr txBox="1"/>
          <p:nvPr/>
        </p:nvSpPr>
        <p:spPr>
          <a:xfrm>
            <a:off x="9744075"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Clock done. Face the end point, drive at it.</a:t>
            </a:r>
          </a:p>
        </p:txBody>
      </p:sp>
      <p:sp>
        <p:nvSpPr>
          <p:cNvPr id="18" name="Rectangle 17"/>
          <p:cNvSpPr/>
          <p:nvPr/>
        </p:nvSpPr>
        <p:spPr>
          <a:xfrm>
            <a:off x="13154025" y="408146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4019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304800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911262" y="3429000"/>
            <a:ext cx="33099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Arrived</a:t>
            </a:r>
          </a:p>
        </p:txBody>
      </p:sp>
      <p:sp>
        <p:nvSpPr>
          <p:cNvPr id="22" name="TextBox 21"/>
          <p:cNvSpPr txBox="1"/>
          <p:nvPr/>
        </p:nvSpPr>
        <p:spPr>
          <a:xfrm>
            <a:off x="14025562" y="4095750"/>
            <a:ext cx="3081338" cy="857250"/>
          </a:xfrm>
          <a:prstGeom prst="rect">
            <a:avLst/>
          </a:prstGeom>
          <a:noFill/>
        </p:spPr>
        <p:txBody>
          <a:bodyPr wrap="square" lIns="0" rIns="0" tIns="0" bIns="0" anchor="t">
            <a:spAutoFit/>
          </a:bodyPr>
          <a:lstStyle/>
          <a:p>
            <a:pPr algn="ctr">
              <a:lnSpc>
                <a:spcPct val="125000"/>
              </a:lnSpc>
            </a:pPr>
            <a:r>
              <a:rPr sz="1725" b="0" i="0">
                <a:solidFill>
                  <a:srgbClr val="9A7878"/>
                </a:solidFill>
                <a:latin typeface="Geist"/>
                <a:ea typeface="Geist"/>
                <a:cs typeface="Geist"/>
              </a:rPr>
              <a:t>Within 0.15 m and slower than 0.15 m/s.</a:t>
            </a:r>
          </a:p>
        </p:txBody>
      </p:sp>
      <p:sp>
        <p:nvSpPr>
          <p:cNvPr id="23" name="Rounded Rectangle 22"/>
          <p:cNvSpPr/>
          <p:nvPr/>
        </p:nvSpPr>
        <p:spPr>
          <a:xfrm>
            <a:off x="914400" y="5905500"/>
            <a:ext cx="4953000" cy="1047750"/>
          </a:xfrm>
          <a:prstGeom prst="roundRect">
            <a:avLst>
              <a:gd name="adj" fmla="val 10909"/>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52500" y="600075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43000" y="6019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FollowPath</a:t>
            </a:r>
          </a:p>
        </p:txBody>
      </p:sp>
      <p:sp>
        <p:nvSpPr>
          <p:cNvPr id="26" name="TextBox 25"/>
          <p:cNvSpPr txBox="1"/>
          <p:nvPr/>
        </p:nvSpPr>
        <p:spPr>
          <a:xfrm>
            <a:off x="1143000" y="6398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trajectory = ToPickup</a:t>
            </a:r>
          </a:p>
        </p:txBody>
      </p:sp>
      <p:sp>
        <p:nvSpPr>
          <p:cNvPr id="27" name="Rounded Rectangle 26"/>
          <p:cNvSpPr/>
          <p:nvPr/>
        </p:nvSpPr>
        <p:spPr>
          <a:xfrm>
            <a:off x="4791075" y="5753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791075" y="5753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9" name="TextBox 28"/>
          <p:cNvSpPr txBox="1"/>
          <p:nvPr/>
        </p:nvSpPr>
        <p:spPr>
          <a:xfrm>
            <a:off x="6477000" y="5905500"/>
            <a:ext cx="10896600" cy="1905000"/>
          </a:xfrm>
          <a:prstGeom prst="rect">
            <a:avLst/>
          </a:prstGeom>
          <a:noFill/>
        </p:spPr>
        <p:txBody>
          <a:bodyPr wrap="square" lIns="0" rIns="0" tIns="0" bIns="0" anchor="t">
            <a:spAutoFit/>
          </a:bodyPr>
          <a:lstStyle/>
          <a:p>
            <a:pPr algn="l">
              <a:lnSpc>
                <a:spcPct val="135000"/>
              </a:lnSpc>
            </a:pPr>
            <a:r>
              <a:rPr sz="2100" b="0" i="0">
                <a:solidFill>
                  <a:srgbClr val="9A7878"/>
                </a:solidFill>
                <a:latin typeface="Geist"/>
                <a:ea typeface="Geist"/>
                <a:cs typeface="Geist"/>
              </a:rPr>
              <a:t>FollowPath answers </a:t>
            </a:r>
            <a:r>
              <a:rPr sz="2100" b="1" i="0">
                <a:solidFill>
                  <a:srgbClr val="9A7878"/>
                </a:solidFill>
                <a:latin typeface="Geist"/>
                <a:ea typeface="Geist"/>
                <a:cs typeface="Geist"/>
              </a:rPr>
              <a:t>SUCCESS</a:t>
            </a:r>
            <a:r>
              <a:rPr sz="2100" b="0" i="0">
                <a:solidFill>
                  <a:srgbClr val="9A7878"/>
                </a:solidFill>
                <a:latin typeface="Geist"/>
                <a:ea typeface="Geist"/>
                <a:cs typeface="Geist"/>
              </a:rPr>
              <a:t> once the robot has arrived (isAtChoreoSetpoint). A robot stuck for </a:t>
            </a:r>
            <a:r>
              <a:rPr sz="2100" b="1" i="0">
                <a:solidFill>
                  <a:srgbClr val="9A7878"/>
                </a:solidFill>
                <a:latin typeface="Geist"/>
                <a:ea typeface="Geist"/>
                <a:cs typeface="Geist"/>
              </a:rPr>
              <a:t>10 s</a:t>
            </a:r>
            <a:r>
              <a:rPr sz="2100" b="0" i="0">
                <a:solidFill>
                  <a:srgbClr val="9A7878"/>
                </a:solidFill>
                <a:latin typeface="Geist"/>
                <a:ea typeface="Geist"/>
                <a:cs typeface="Geist"/>
              </a:rPr>
              <a:t> gives up, so it can't hold up the auto.</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FOLLOWING A PATH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robot only estimates where it is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8191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333500" y="7612535"/>
            <a:ext cx="262375" cy="746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95875" y="7590762"/>
            <a:ext cx="254205" cy="2177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850080" y="7555611"/>
            <a:ext cx="246754" cy="351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2096834" y="7508014"/>
            <a:ext cx="240022" cy="4759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336856" y="7448903"/>
            <a:ext cx="234012" cy="5911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70868" y="7379208"/>
            <a:ext cx="228720" cy="696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799588" y="7299861"/>
            <a:ext cx="224148" cy="7934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023736" y="7211794"/>
            <a:ext cx="220296" cy="880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244032" y="7115937"/>
            <a:ext cx="217162" cy="9585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461194" y="7013222"/>
            <a:ext cx="214750" cy="10271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75944" y="6904581"/>
            <a:ext cx="213057" cy="10864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889001" y="6790944"/>
            <a:ext cx="212083" cy="1136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4101084" y="6673243"/>
            <a:ext cx="211829" cy="1177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312913" y="6552410"/>
            <a:ext cx="212295" cy="12083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25208" y="6429375"/>
            <a:ext cx="213480" cy="12303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738688" y="6305070"/>
            <a:ext cx="215384" cy="12430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954072" y="6180427"/>
            <a:ext cx="218010" cy="12464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172082" y="6056376"/>
            <a:ext cx="221354" cy="12405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393436" y="5933849"/>
            <a:ext cx="225418" cy="12252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5618854" y="5813778"/>
            <a:ext cx="230202" cy="12007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849056" y="5697093"/>
            <a:ext cx="235704" cy="11668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084760" y="5584726"/>
            <a:ext cx="241928" cy="11236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326688" y="5477609"/>
            <a:ext cx="248871" cy="10711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75559" y="5376672"/>
            <a:ext cx="256533" cy="10093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832092" y="5282847"/>
            <a:ext cx="264915" cy="9382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097007" y="5197066"/>
            <a:ext cx="274017" cy="8578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371024" y="5120259"/>
            <a:ext cx="283838" cy="76807"/>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654862" y="5053358"/>
            <a:ext cx="294378" cy="66901"/>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949240" y="4997295"/>
            <a:ext cx="305640" cy="56063"/>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254880" y="4953000"/>
            <a:ext cx="317620" cy="44295"/>
          </a:xfrm>
          <a:prstGeom prst="line">
            <a:avLst/>
          </a:prstGeom>
          <a:ln w="47625" cap="rnd">
            <a:solidFill>
              <a:srgbClr val="2A1A1A"/>
            </a:solidFill>
          </a:ln>
        </p:spPr>
        <p:style>
          <a:lnRef idx="2">
            <a:schemeClr val="accent1"/>
          </a:lnRef>
          <a:fillRef idx="0">
            <a:schemeClr val="accent1"/>
          </a:fillRef>
          <a:effectRef idx="1">
            <a:schemeClr val="accent1"/>
          </a:effectRef>
          <a:fontRef idx="minor">
            <a:schemeClr val="tx1"/>
          </a:fontRef>
        </p:style>
      </p:cxnSp>
      <p:pic>
        <p:nvPicPr>
          <p:cNvPr id="36" name="Picture 35" descr="dozer_top.png"/>
          <p:cNvPicPr>
            <a:picLocks noChangeAspect="1"/>
          </p:cNvPicPr>
          <p:nvPr/>
        </p:nvPicPr>
        <p:blipFill>
          <a:blip r:embed="rId3"/>
          <a:stretch>
            <a:fillRect/>
          </a:stretch>
        </p:blipFill>
        <p:spPr>
          <a:xfrm rot="19920000">
            <a:off x="4048125" y="5359487"/>
            <a:ext cx="1809750" cy="1663527"/>
          </a:xfrm>
          <a:prstGeom prst="rect">
            <a:avLst/>
          </a:prstGeom>
        </p:spPr>
      </p:pic>
      <p:sp>
        <p:nvSpPr>
          <p:cNvPr id="37" name="Rounded Rectangle 36"/>
          <p:cNvSpPr/>
          <p:nvPr/>
        </p:nvSpPr>
        <p:spPr>
          <a:xfrm rot="19920000">
            <a:off x="4371975" y="5038725"/>
            <a:ext cx="1809750" cy="1809750"/>
          </a:xfrm>
          <a:prstGeom prst="roundRect">
            <a:avLst>
              <a:gd name="adj" fmla="val 5263"/>
            </a:avLst>
          </a:prstGeom>
          <a:no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810500" y="3143250"/>
            <a:ext cx="876300" cy="876300"/>
          </a:xfrm>
          <a:prstGeom prst="roundRect">
            <a:avLst>
              <a:gd name="adj" fmla="val 652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001000" y="3333750"/>
            <a:ext cx="495300" cy="4953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115300" y="3448050"/>
            <a:ext cx="171450" cy="1714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239000" y="40957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AprilTag</a:t>
            </a:r>
          </a:p>
        </p:txBody>
      </p:sp>
      <p:cxnSp>
        <p:nvCxnSpPr>
          <p:cNvPr id="42" name="Connector 41"/>
          <p:cNvCxnSpPr/>
          <p:nvPr/>
        </p:nvCxnSpPr>
        <p:spPr>
          <a:xfrm flipV="1">
            <a:off x="5619750" y="4000500"/>
            <a:ext cx="228600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333500" y="3143250"/>
            <a:ext cx="36195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estimate (dashed)</a:t>
            </a:r>
          </a:p>
        </p:txBody>
      </p:sp>
      <p:sp>
        <p:nvSpPr>
          <p:cNvPr id="44" name="TextBox 43"/>
          <p:cNvSpPr txBox="1"/>
          <p:nvPr/>
        </p:nvSpPr>
        <p:spPr>
          <a:xfrm>
            <a:off x="1333500" y="3505200"/>
            <a:ext cx="3619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true pose (Dozer)</a:t>
            </a:r>
          </a:p>
        </p:txBody>
      </p:sp>
      <p:sp>
        <p:nvSpPr>
          <p:cNvPr id="45" name="TextBox 44"/>
          <p:cNvSpPr txBox="1"/>
          <p:nvPr/>
        </p:nvSpPr>
        <p:spPr>
          <a:xfrm>
            <a:off x="1333500" y="8382000"/>
            <a:ext cx="7239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Gap exaggerated: really a few centimeters.</a:t>
            </a:r>
          </a:p>
        </p:txBody>
      </p:sp>
      <p:sp>
        <p:nvSpPr>
          <p:cNvPr id="46" name="Rounded Rectangle 45"/>
          <p:cNvSpPr/>
          <p:nvPr/>
        </p:nvSpPr>
        <p:spPr>
          <a:xfrm>
            <a:off x="9525000" y="2857500"/>
            <a:ext cx="7848600" cy="2286000"/>
          </a:xfrm>
          <a:prstGeom prst="roundRect">
            <a:avLst>
              <a:gd name="adj" fmla="val 6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906000" y="310515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 estimate</a:t>
            </a:r>
          </a:p>
        </p:txBody>
      </p:sp>
      <p:sp>
        <p:nvSpPr>
          <p:cNvPr id="48" name="TextBox 47"/>
          <p:cNvSpPr txBox="1"/>
          <p:nvPr/>
        </p:nvSpPr>
        <p:spPr>
          <a:xfrm>
            <a:off x="9906000" y="361950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Subsystem/Localization/Pose</a:t>
            </a:r>
          </a:p>
        </p:txBody>
      </p:sp>
      <p:sp>
        <p:nvSpPr>
          <p:cNvPr id="49" name="TextBox 48"/>
          <p:cNvSpPr txBox="1"/>
          <p:nvPr/>
        </p:nvSpPr>
        <p:spPr>
          <a:xfrm>
            <a:off x="9906000" y="409575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Wheels plus AprilTag cameras. The follower, the aim and isAimed() use it.</a:t>
            </a:r>
          </a:p>
        </p:txBody>
      </p:sp>
      <p:sp>
        <p:nvSpPr>
          <p:cNvPr id="50" name="Rounded Rectangle 49"/>
          <p:cNvSpPr/>
          <p:nvPr/>
        </p:nvSpPr>
        <p:spPr>
          <a:xfrm>
            <a:off x="9525000" y="5429250"/>
            <a:ext cx="78486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906000" y="5676900"/>
            <a:ext cx="7048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True pose</a:t>
            </a:r>
          </a:p>
        </p:txBody>
      </p:sp>
      <p:sp>
        <p:nvSpPr>
          <p:cNvPr id="52" name="TextBox 51"/>
          <p:cNvSpPr txBox="1"/>
          <p:nvPr/>
        </p:nvSpPr>
        <p:spPr>
          <a:xfrm>
            <a:off x="9906000" y="6191250"/>
            <a:ext cx="7048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Drive/TruePose</a:t>
            </a:r>
          </a:p>
        </p:txBody>
      </p:sp>
      <p:sp>
        <p:nvSpPr>
          <p:cNvPr id="53" name="TextBox 52"/>
          <p:cNvSpPr txBox="1"/>
          <p:nvPr/>
        </p:nvSpPr>
        <p:spPr>
          <a:xfrm>
            <a:off x="9906000" y="6667500"/>
            <a:ext cx="7048500" cy="8572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the simulator knows it. The Verify checks use it.</a:t>
            </a:r>
          </a:p>
        </p:txBody>
      </p:sp>
      <p:sp>
        <p:nvSpPr>
          <p:cNvPr id="54" name="TextBox 53"/>
          <p:cNvSpPr txBox="1"/>
          <p:nvPr/>
        </p:nvSpPr>
        <p:spPr>
          <a:xfrm>
            <a:off x="9525000" y="8191500"/>
            <a:ext cx="7848600" cy="666750"/>
          </a:xfrm>
          <a:prstGeom prst="rect">
            <a:avLst/>
          </a:prstGeom>
          <a:noFill/>
        </p:spPr>
        <p:txBody>
          <a:bodyPr wrap="square" lIns="0" rIns="0" tIns="0" bIns="0" anchor="t">
            <a:spAutoFit/>
          </a:bodyPr>
          <a:lstStyle/>
          <a:p>
            <a:pPr algn="l">
              <a:lnSpc>
                <a:spcPct val="130000"/>
              </a:lnSpc>
            </a:pPr>
            <a:r>
              <a:rPr sz="1800" b="0" i="0">
                <a:solidFill>
                  <a:srgbClr val="F0E8E8"/>
                </a:solidFill>
                <a:latin typeface="Geist"/>
                <a:ea typeface="Geist"/>
                <a:cs typeface="Geist"/>
              </a:rPr>
              <a:t>About 1 to 9 cm apart while driving, about 1 cm once stopped.</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Behavior trees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the robot works through a routine, one tick at a time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tick I ask each step: still going, done, or failed?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Ticks, and three answers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Tick</a:t>
            </a:r>
          </a:p>
        </p:txBody>
      </p:sp>
      <p:sp>
        <p:nvSpPr>
          <p:cNvPr id="7" name="TextBox 6"/>
          <p:cNvSpPr txBox="1"/>
          <p:nvPr/>
        </p:nvSpPr>
        <p:spPr>
          <a:xfrm>
            <a:off x="1066800"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 about 50 times a second</a:t>
            </a:r>
          </a:p>
        </p:txBody>
      </p:sp>
      <p:sp>
        <p:nvSpPr>
          <p:cNvPr id="8" name="Rectangle 7"/>
          <p:cNvSpPr/>
          <p:nvPr/>
        </p:nvSpPr>
        <p:spPr>
          <a:xfrm>
            <a:off x="4662488"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43475" y="363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72075"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67325"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Go down</a:t>
            </a:r>
          </a:p>
        </p:txBody>
      </p:sp>
      <p:sp>
        <p:nvSpPr>
          <p:cNvPr id="12" name="TextBox 11"/>
          <p:cNvSpPr txBox="1"/>
          <p:nvPr/>
        </p:nvSpPr>
        <p:spPr>
          <a:xfrm>
            <a:off x="5324475"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From the root, to the step that's active</a:t>
            </a:r>
          </a:p>
        </p:txBody>
      </p:sp>
      <p:sp>
        <p:nvSpPr>
          <p:cNvPr id="13" name="Rectangle 12"/>
          <p:cNvSpPr/>
          <p:nvPr/>
        </p:nvSpPr>
        <p:spPr>
          <a:xfrm>
            <a:off x="8920162"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01150" y="363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29750"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25000"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Answer</a:t>
            </a:r>
          </a:p>
        </p:txBody>
      </p:sp>
      <p:sp>
        <p:nvSpPr>
          <p:cNvPr id="17" name="TextBox 16"/>
          <p:cNvSpPr txBox="1"/>
          <p:nvPr/>
        </p:nvSpPr>
        <p:spPr>
          <a:xfrm>
            <a:off x="9582150"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Each node says how it's doing</a:t>
            </a:r>
          </a:p>
        </p:txBody>
      </p:sp>
      <p:sp>
        <p:nvSpPr>
          <p:cNvPr id="18" name="Rectangle 17"/>
          <p:cNvSpPr/>
          <p:nvPr/>
        </p:nvSpPr>
        <p:spPr>
          <a:xfrm>
            <a:off x="13177838" y="3700462"/>
            <a:ext cx="310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458825" y="363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687425" y="2857500"/>
            <a:ext cx="3686175"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782675" y="3238500"/>
            <a:ext cx="3495675"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Go back up</a:t>
            </a:r>
          </a:p>
        </p:txBody>
      </p:sp>
      <p:sp>
        <p:nvSpPr>
          <p:cNvPr id="22" name="TextBox 21"/>
          <p:cNvSpPr txBox="1"/>
          <p:nvPr/>
        </p:nvSpPr>
        <p:spPr>
          <a:xfrm>
            <a:off x="13839825" y="3829050"/>
            <a:ext cx="3381375"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Parents decide what's next</a:t>
            </a:r>
          </a:p>
        </p:txBody>
      </p:sp>
      <p:sp>
        <p:nvSpPr>
          <p:cNvPr id="23" name="Rounded Rectangle 22"/>
          <p:cNvSpPr/>
          <p:nvPr/>
        </p:nvSpPr>
        <p:spPr>
          <a:xfrm>
            <a:off x="914400" y="5143500"/>
            <a:ext cx="5181600" cy="2857500"/>
          </a:xfrm>
          <a:prstGeom prst="roundRect">
            <a:avLst>
              <a:gd name="adj" fmla="val 5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295400" y="5524500"/>
            <a:ext cx="1905000" cy="4572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905000" cy="457200"/>
          </a:xfrm>
          <a:prstGeom prst="rect">
            <a:avLst/>
          </a:prstGeom>
          <a:noFill/>
        </p:spPr>
        <p:txBody>
          <a:bodyPr wrap="square" lIns="0" rIns="0" tIns="0" bIns="0" anchor="ctr">
            <a:spAutoFit/>
          </a:bodyPr>
          <a:lstStyle/>
          <a:p>
            <a:pPr algn="ctr"/>
            <a:r>
              <a:rPr sz="1650" b="1" i="0" spc="80">
                <a:solidFill>
                  <a:srgbClr val="111111"/>
                </a:solidFill>
                <a:latin typeface="Geist"/>
                <a:ea typeface="Geist"/>
                <a:cs typeface="Geist"/>
              </a:rPr>
              <a:t>RUNNING</a:t>
            </a:r>
          </a:p>
        </p:txBody>
      </p:sp>
      <p:sp>
        <p:nvSpPr>
          <p:cNvPr id="26" name="TextBox 25"/>
          <p:cNvSpPr txBox="1"/>
          <p:nvPr/>
        </p:nvSpPr>
        <p:spPr>
          <a:xfrm>
            <a:off x="12954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Not done yet. Ask me again next tick.</a:t>
            </a:r>
          </a:p>
        </p:txBody>
      </p:sp>
      <p:sp>
        <p:nvSpPr>
          <p:cNvPr id="27" name="Rounded Rectangle 26"/>
          <p:cNvSpPr/>
          <p:nvPr/>
        </p:nvSpPr>
        <p:spPr>
          <a:xfrm>
            <a:off x="6553200" y="5143500"/>
            <a:ext cx="5181600" cy="2857500"/>
          </a:xfrm>
          <a:prstGeom prst="roundRect">
            <a:avLst>
              <a:gd name="adj" fmla="val 5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6934200" y="5524500"/>
            <a:ext cx="1905000" cy="4572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934200" y="5524500"/>
            <a:ext cx="1905000" cy="457200"/>
          </a:xfrm>
          <a:prstGeom prst="rect">
            <a:avLst/>
          </a:prstGeom>
          <a:noFill/>
        </p:spPr>
        <p:txBody>
          <a:bodyPr wrap="square" lIns="0" rIns="0" tIns="0" bIns="0" anchor="ctr">
            <a:spAutoFit/>
          </a:bodyPr>
          <a:lstStyle/>
          <a:p>
            <a:pPr algn="ctr"/>
            <a:r>
              <a:rPr sz="1650" b="1" i="0" spc="80">
                <a:solidFill>
                  <a:srgbClr val="FFFFFF"/>
                </a:solidFill>
                <a:latin typeface="Geist"/>
                <a:ea typeface="Geist"/>
                <a:cs typeface="Geist"/>
              </a:rPr>
              <a:t>SUCCESS</a:t>
            </a:r>
          </a:p>
        </p:txBody>
      </p:sp>
      <p:sp>
        <p:nvSpPr>
          <p:cNvPr id="30" name="TextBox 29"/>
          <p:cNvSpPr txBox="1"/>
          <p:nvPr/>
        </p:nvSpPr>
        <p:spPr>
          <a:xfrm>
            <a:off x="69342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Done, and it worked.</a:t>
            </a:r>
          </a:p>
        </p:txBody>
      </p:sp>
      <p:sp>
        <p:nvSpPr>
          <p:cNvPr id="31" name="Rounded Rectangle 30"/>
          <p:cNvSpPr/>
          <p:nvPr/>
        </p:nvSpPr>
        <p:spPr>
          <a:xfrm>
            <a:off x="12192000" y="5143500"/>
            <a:ext cx="5181600" cy="2857500"/>
          </a:xfrm>
          <a:prstGeom prst="roundRect">
            <a:avLst>
              <a:gd name="adj" fmla="val 5333"/>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12573000" y="5524500"/>
            <a:ext cx="1905000" cy="4572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2573000" y="5524500"/>
            <a:ext cx="1905000" cy="457200"/>
          </a:xfrm>
          <a:prstGeom prst="rect">
            <a:avLst/>
          </a:prstGeom>
          <a:noFill/>
        </p:spPr>
        <p:txBody>
          <a:bodyPr wrap="square" lIns="0" rIns="0" tIns="0" bIns="0" anchor="ctr">
            <a:spAutoFit/>
          </a:bodyPr>
          <a:lstStyle/>
          <a:p>
            <a:pPr algn="ctr"/>
            <a:r>
              <a:rPr sz="1650" b="1" i="0" spc="80">
                <a:solidFill>
                  <a:srgbClr val="FFFFFF"/>
                </a:solidFill>
                <a:latin typeface="Geist"/>
                <a:ea typeface="Geist"/>
                <a:cs typeface="Geist"/>
              </a:rPr>
              <a:t>FAILURE</a:t>
            </a:r>
          </a:p>
        </p:txBody>
      </p:sp>
      <p:sp>
        <p:nvSpPr>
          <p:cNvPr id="34" name="TextBox 33"/>
          <p:cNvSpPr txBox="1"/>
          <p:nvPr/>
        </p:nvSpPr>
        <p:spPr>
          <a:xfrm>
            <a:off x="12573000" y="6286500"/>
            <a:ext cx="4419600" cy="1333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Done, and it didn't work.</a:t>
            </a:r>
          </a:p>
        </p:txBody>
      </p:sp>
      <p:sp>
        <p:nvSpPr>
          <p:cNvPr id="35" name="TextBox 34"/>
          <p:cNvSpPr txBox="1"/>
          <p:nvPr/>
        </p:nvSpPr>
        <p:spPr>
          <a:xfrm>
            <a:off x="914400" y="8382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Colours as Arbor shows them: orange running, green success, red failure.</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Sequence: do these in order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1</a:t>
            </a:r>
          </a:p>
        </p:txBody>
      </p:sp>
      <p:sp>
        <p:nvSpPr>
          <p:cNvPr id="7" name="Rectangle 6"/>
          <p:cNvSpPr/>
          <p:nvPr/>
        </p:nvSpPr>
        <p:spPr>
          <a:xfrm>
            <a:off x="35623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8224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8129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623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3022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085850" y="6286500"/>
            <a:ext cx="15113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1239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144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15" name="Rounded Rectangle 14"/>
          <p:cNvSpPr/>
          <p:nvPr/>
        </p:nvSpPr>
        <p:spPr>
          <a:xfrm>
            <a:off x="1520825" y="6134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20825" y="6134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17" name="Rounded Rectangle 16"/>
          <p:cNvSpPr/>
          <p:nvPr/>
        </p:nvSpPr>
        <p:spPr>
          <a:xfrm>
            <a:off x="28257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8638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543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20" name="Rounded Rectangle 19"/>
          <p:cNvSpPr/>
          <p:nvPr/>
        </p:nvSpPr>
        <p:spPr>
          <a:xfrm>
            <a:off x="45656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46037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942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23" name="Rounded Rectangle 22"/>
          <p:cNvSpPr/>
          <p:nvPr/>
        </p:nvSpPr>
        <p:spPr>
          <a:xfrm>
            <a:off x="2438400" y="3905250"/>
            <a:ext cx="2286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24765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6670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26" name="Rounded Rectangle 25"/>
          <p:cNvSpPr/>
          <p:nvPr/>
        </p:nvSpPr>
        <p:spPr>
          <a:xfrm>
            <a:off x="3648075" y="3752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648075" y="3752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8" name="Rounded Rectangle 27"/>
          <p:cNvSpPr/>
          <p:nvPr/>
        </p:nvSpPr>
        <p:spPr>
          <a:xfrm>
            <a:off x="65532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389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3</a:t>
            </a:r>
          </a:p>
        </p:txBody>
      </p:sp>
      <p:sp>
        <p:nvSpPr>
          <p:cNvPr id="30" name="Rectangle 29"/>
          <p:cNvSpPr/>
          <p:nvPr/>
        </p:nvSpPr>
        <p:spPr>
          <a:xfrm>
            <a:off x="92011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74612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4517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1916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09410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7246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7627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9532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38" name="Rounded Rectangle 37"/>
          <p:cNvSpPr/>
          <p:nvPr/>
        </p:nvSpPr>
        <p:spPr>
          <a:xfrm>
            <a:off x="71596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596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40" name="Rounded Rectangle 39"/>
          <p:cNvSpPr/>
          <p:nvPr/>
        </p:nvSpPr>
        <p:spPr>
          <a:xfrm>
            <a:off x="8464550" y="6286500"/>
            <a:ext cx="15113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5026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6931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43" name="Rounded Rectangle 42"/>
          <p:cNvSpPr/>
          <p:nvPr/>
        </p:nvSpPr>
        <p:spPr>
          <a:xfrm>
            <a:off x="8899525" y="61341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899525" y="61341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5" name="Rounded Rectangle 44"/>
          <p:cNvSpPr/>
          <p:nvPr/>
        </p:nvSpPr>
        <p:spPr>
          <a:xfrm>
            <a:off x="10204450" y="6286500"/>
            <a:ext cx="15113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102425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04330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48" name="Rounded Rectangle 47"/>
          <p:cNvSpPr/>
          <p:nvPr/>
        </p:nvSpPr>
        <p:spPr>
          <a:xfrm>
            <a:off x="8077200" y="3905250"/>
            <a:ext cx="2286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81153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3058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51" name="Rounded Rectangle 50"/>
          <p:cNvSpPr/>
          <p:nvPr/>
        </p:nvSpPr>
        <p:spPr>
          <a:xfrm>
            <a:off x="9286875" y="3752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286875" y="3752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53" name="Rounded Rectangle 52"/>
          <p:cNvSpPr/>
          <p:nvPr/>
        </p:nvSpPr>
        <p:spPr>
          <a:xfrm>
            <a:off x="12192000" y="2762250"/>
            <a:ext cx="53340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77750" y="2952750"/>
            <a:ext cx="28575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5</a:t>
            </a:r>
          </a:p>
        </p:txBody>
      </p:sp>
      <p:sp>
        <p:nvSpPr>
          <p:cNvPr id="55" name="Rectangle 54"/>
          <p:cNvSpPr/>
          <p:nvPr/>
        </p:nvSpPr>
        <p:spPr>
          <a:xfrm>
            <a:off x="14839950" y="4743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100050" y="5505450"/>
            <a:ext cx="35179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1000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4839950" y="55054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6570325" y="54959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123634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unded Rectangle 60"/>
          <p:cNvSpPr/>
          <p:nvPr/>
        </p:nvSpPr>
        <p:spPr>
          <a:xfrm>
            <a:off x="124015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5920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Drive</a:t>
            </a:r>
          </a:p>
        </p:txBody>
      </p:sp>
      <p:sp>
        <p:nvSpPr>
          <p:cNvPr id="63" name="Rounded Rectangle 62"/>
          <p:cNvSpPr/>
          <p:nvPr/>
        </p:nvSpPr>
        <p:spPr>
          <a:xfrm>
            <a:off x="127984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27984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65" name="Rounded Rectangle 64"/>
          <p:cNvSpPr/>
          <p:nvPr/>
        </p:nvSpPr>
        <p:spPr>
          <a:xfrm>
            <a:off x="141033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ounded Rectangle 65"/>
          <p:cNvSpPr/>
          <p:nvPr/>
        </p:nvSpPr>
        <p:spPr>
          <a:xfrm>
            <a:off x="141414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43319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Aim</a:t>
            </a:r>
          </a:p>
        </p:txBody>
      </p:sp>
      <p:sp>
        <p:nvSpPr>
          <p:cNvPr id="68" name="Rounded Rectangle 67"/>
          <p:cNvSpPr/>
          <p:nvPr/>
        </p:nvSpPr>
        <p:spPr>
          <a:xfrm>
            <a:off x="145383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145383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70" name="Rounded Rectangle 69"/>
          <p:cNvSpPr/>
          <p:nvPr/>
        </p:nvSpPr>
        <p:spPr>
          <a:xfrm>
            <a:off x="15843250" y="6286500"/>
            <a:ext cx="15113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unded Rectangle 70"/>
          <p:cNvSpPr/>
          <p:nvPr/>
        </p:nvSpPr>
        <p:spPr>
          <a:xfrm>
            <a:off x="15881350"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6071850" y="6575108"/>
            <a:ext cx="11684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Shoot</a:t>
            </a:r>
          </a:p>
        </p:txBody>
      </p:sp>
      <p:sp>
        <p:nvSpPr>
          <p:cNvPr id="73" name="Rounded Rectangle 72"/>
          <p:cNvSpPr/>
          <p:nvPr/>
        </p:nvSpPr>
        <p:spPr>
          <a:xfrm>
            <a:off x="16278225" y="6134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6278225" y="6134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75" name="Rounded Rectangle 74"/>
          <p:cNvSpPr/>
          <p:nvPr/>
        </p:nvSpPr>
        <p:spPr>
          <a:xfrm>
            <a:off x="13716000" y="3905250"/>
            <a:ext cx="2286000" cy="857250"/>
          </a:xfrm>
          <a:prstGeom prst="roundRect">
            <a:avLst>
              <a:gd name="adj" fmla="val 13333"/>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13754100" y="4000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3944600" y="4193858"/>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78" name="Rounded Rectangle 77"/>
          <p:cNvSpPr/>
          <p:nvPr/>
        </p:nvSpPr>
        <p:spPr>
          <a:xfrm>
            <a:off x="14925675" y="37528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4925675" y="37528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80" name="Rounded Rectangle 79"/>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1" name="Picture 80" descr="list-ol.png"/>
          <p:cNvPicPr>
            <a:picLocks noChangeAspect="1"/>
          </p:cNvPicPr>
          <p:nvPr/>
        </p:nvPicPr>
        <p:blipFill>
          <a:blip r:embed="rId3"/>
          <a:stretch>
            <a:fillRect/>
          </a:stretch>
        </p:blipFill>
        <p:spPr>
          <a:xfrm>
            <a:off x="1333500" y="8496300"/>
            <a:ext cx="694660" cy="533400"/>
          </a:xfrm>
          <a:prstGeom prst="rect">
            <a:avLst/>
          </a:prstGeom>
        </p:spPr>
      </p:pic>
      <p:sp>
        <p:nvSpPr>
          <p:cNvPr id="82" name="TextBox 81"/>
          <p:cNvSpPr txBox="1"/>
          <p:nvPr/>
        </p:nvSpPr>
        <p:spPr>
          <a:xfrm>
            <a:off x="2190750" y="83820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Remembers its place:  </a:t>
            </a:r>
            <a:r>
              <a:rPr sz="2100" b="0" i="0">
                <a:solidFill>
                  <a:srgbClr val="F0E8E8"/>
                </a:solidFill>
                <a:latin typeface="Geist"/>
                <a:ea typeface="Geist"/>
                <a:cs typeface="Geist"/>
              </a:rPr>
              <a:t>a RUNNING child is resumed next tick. SUCCESS moves on in the same tick.</a:t>
            </a:r>
          </a:p>
        </p:txBody>
      </p:sp>
      <p:sp>
        <p:nvSpPr>
          <p:cNvPr id="83" name="TextBox 8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4" name="TextBox 8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Sequence: stops at the first failure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2</a:t>
            </a:r>
          </a:p>
        </p:txBody>
      </p:sp>
      <p:sp>
        <p:nvSpPr>
          <p:cNvPr id="7" name="Rectangle 6"/>
          <p:cNvSpPr/>
          <p:nvPr/>
        </p:nvSpPr>
        <p:spPr>
          <a:xfrm>
            <a:off x="6134100" y="4933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68600" y="5695950"/>
            <a:ext cx="6769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590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245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499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358900" y="64770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397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7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Drive path</a:t>
            </a:r>
          </a:p>
        </p:txBody>
      </p:sp>
      <p:sp>
        <p:nvSpPr>
          <p:cNvPr id="15" name="Rounded Rectangle 14"/>
          <p:cNvSpPr/>
          <p:nvPr/>
        </p:nvSpPr>
        <p:spPr>
          <a:xfrm>
            <a:off x="3140075" y="6324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400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17" name="Rounded Rectangle 16"/>
          <p:cNvSpPr/>
          <p:nvPr/>
        </p:nvSpPr>
        <p:spPr>
          <a:xfrm>
            <a:off x="4724400" y="64770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7625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530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a:t>
            </a:r>
          </a:p>
        </p:txBody>
      </p:sp>
      <p:sp>
        <p:nvSpPr>
          <p:cNvPr id="20" name="Rounded Rectangle 19"/>
          <p:cNvSpPr/>
          <p:nvPr/>
        </p:nvSpPr>
        <p:spPr>
          <a:xfrm>
            <a:off x="6505575" y="6324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055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22" name="Rounded Rectangle 21"/>
          <p:cNvSpPr/>
          <p:nvPr/>
        </p:nvSpPr>
        <p:spPr>
          <a:xfrm>
            <a:off x="8089900" y="6477000"/>
            <a:ext cx="28575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28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18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Shoot</a:t>
            </a:r>
          </a:p>
        </p:txBody>
      </p:sp>
      <p:sp>
        <p:nvSpPr>
          <p:cNvPr id="25" name="Rounded Rectangle 24"/>
          <p:cNvSpPr/>
          <p:nvPr/>
        </p:nvSpPr>
        <p:spPr>
          <a:xfrm>
            <a:off x="4724400" y="40005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762500" y="40957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3000" y="4303395"/>
            <a:ext cx="2514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Sequence</a:t>
            </a:r>
          </a:p>
        </p:txBody>
      </p:sp>
      <p:sp>
        <p:nvSpPr>
          <p:cNvPr id="28" name="Rounded Rectangle 27"/>
          <p:cNvSpPr/>
          <p:nvPr/>
        </p:nvSpPr>
        <p:spPr>
          <a:xfrm>
            <a:off x="6505575" y="38481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05575" y="3848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30" name="TextBox 29"/>
          <p:cNvSpPr txBox="1"/>
          <p:nvPr/>
        </p:nvSpPr>
        <p:spPr>
          <a:xfrm>
            <a:off x="1295400" y="8001000"/>
            <a:ext cx="952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Shoot: never ticked</a:t>
            </a:r>
          </a:p>
        </p:txBody>
      </p:sp>
      <p:sp>
        <p:nvSpPr>
          <p:cNvPr id="31" name="Rounded Rectangle 30"/>
          <p:cNvSpPr/>
          <p:nvPr/>
        </p:nvSpPr>
        <p:spPr>
          <a:xfrm>
            <a:off x="11811000" y="2762250"/>
            <a:ext cx="5562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192000" y="3143250"/>
            <a:ext cx="480060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AND</a:t>
            </a:r>
          </a:p>
        </p:txBody>
      </p:sp>
      <p:sp>
        <p:nvSpPr>
          <p:cNvPr id="33" name="TextBox 32"/>
          <p:cNvSpPr txBox="1"/>
          <p:nvPr/>
        </p:nvSpPr>
        <p:spPr>
          <a:xfrm>
            <a:off x="12192000" y="3829050"/>
            <a:ext cx="48006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Every child must succeed. The first FAILURE stops the Sequence.</a:t>
            </a:r>
          </a:p>
        </p:txBody>
      </p:sp>
      <p:pic>
        <p:nvPicPr>
          <p:cNvPr id="34" name="Picture 33" descr="dozer_wide_left.png"/>
          <p:cNvPicPr>
            <a:picLocks noChangeAspect="1"/>
          </p:cNvPicPr>
          <p:nvPr/>
        </p:nvPicPr>
        <p:blipFill>
          <a:blip r:embed="rId3"/>
          <a:stretch>
            <a:fillRect/>
          </a:stretch>
        </p:blipFill>
        <p:spPr>
          <a:xfrm>
            <a:off x="13906500" y="6191250"/>
            <a:ext cx="2857500" cy="1756344"/>
          </a:xfrm>
          <a:prstGeom prst="rect">
            <a:avLst/>
          </a:prstGeom>
        </p:spPr>
      </p:pic>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Fallback: plan B</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Tick 3</a:t>
            </a:r>
          </a:p>
        </p:txBody>
      </p:sp>
      <p:sp>
        <p:nvSpPr>
          <p:cNvPr id="7" name="Rectangle 6"/>
          <p:cNvSpPr/>
          <p:nvPr/>
        </p:nvSpPr>
        <p:spPr>
          <a:xfrm>
            <a:off x="6134100" y="4933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68600" y="5695950"/>
            <a:ext cx="6769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68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24575" y="5686425"/>
            <a:ext cx="57150" cy="81915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499600" y="5695950"/>
            <a:ext cx="38100" cy="800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358900" y="6477000"/>
            <a:ext cx="2857500" cy="952500"/>
          </a:xfrm>
          <a:prstGeom prst="roundRect">
            <a:avLst>
              <a:gd name="adj" fmla="val 12000"/>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397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7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 vision</a:t>
            </a:r>
          </a:p>
        </p:txBody>
      </p:sp>
      <p:sp>
        <p:nvSpPr>
          <p:cNvPr id="15" name="Rounded Rectangle 14"/>
          <p:cNvSpPr/>
          <p:nvPr/>
        </p:nvSpPr>
        <p:spPr>
          <a:xfrm>
            <a:off x="3140075" y="6324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400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17" name="Rounded Rectangle 16"/>
          <p:cNvSpPr/>
          <p:nvPr/>
        </p:nvSpPr>
        <p:spPr>
          <a:xfrm>
            <a:off x="4724400" y="64770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7625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530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Aim: manual</a:t>
            </a:r>
          </a:p>
        </p:txBody>
      </p:sp>
      <p:sp>
        <p:nvSpPr>
          <p:cNvPr id="20" name="Rounded Rectangle 19"/>
          <p:cNvSpPr/>
          <p:nvPr/>
        </p:nvSpPr>
        <p:spPr>
          <a:xfrm>
            <a:off x="6505575" y="63246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05575" y="6324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2" name="Rounded Rectangle 21"/>
          <p:cNvSpPr/>
          <p:nvPr/>
        </p:nvSpPr>
        <p:spPr>
          <a:xfrm>
            <a:off x="8089900" y="6477000"/>
            <a:ext cx="2857500" cy="952500"/>
          </a:xfrm>
          <a:prstGeom prst="roundRect">
            <a:avLst>
              <a:gd name="adj" fmla="val 12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28000" y="657225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18500" y="6779895"/>
            <a:ext cx="2514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Skip the shot</a:t>
            </a:r>
          </a:p>
        </p:txBody>
      </p:sp>
      <p:sp>
        <p:nvSpPr>
          <p:cNvPr id="25" name="Rounded Rectangle 24"/>
          <p:cNvSpPr/>
          <p:nvPr/>
        </p:nvSpPr>
        <p:spPr>
          <a:xfrm>
            <a:off x="4724400" y="4000500"/>
            <a:ext cx="28575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762500" y="40957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3000" y="4303395"/>
            <a:ext cx="2514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Fallback</a:t>
            </a:r>
          </a:p>
        </p:txBody>
      </p:sp>
      <p:sp>
        <p:nvSpPr>
          <p:cNvPr id="28" name="Rounded Rectangle 27"/>
          <p:cNvSpPr/>
          <p:nvPr/>
        </p:nvSpPr>
        <p:spPr>
          <a:xfrm>
            <a:off x="6505575" y="384810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05575" y="38481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30" name="TextBox 29"/>
          <p:cNvSpPr txBox="1"/>
          <p:nvPr/>
        </p:nvSpPr>
        <p:spPr>
          <a:xfrm>
            <a:off x="1295400" y="8001000"/>
            <a:ext cx="9525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Skip the shot: never tried</a:t>
            </a:r>
          </a:p>
        </p:txBody>
      </p:sp>
      <p:sp>
        <p:nvSpPr>
          <p:cNvPr id="31" name="Rounded Rectangle 30"/>
          <p:cNvSpPr/>
          <p:nvPr/>
        </p:nvSpPr>
        <p:spPr>
          <a:xfrm>
            <a:off x="11811000" y="2762250"/>
            <a:ext cx="5562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192000" y="3048000"/>
            <a:ext cx="4762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  Sequence</a:t>
            </a:r>
          </a:p>
        </p:txBody>
      </p:sp>
      <p:sp>
        <p:nvSpPr>
          <p:cNvPr id="33" name="TextBox 32"/>
          <p:cNvSpPr txBox="1"/>
          <p:nvPr/>
        </p:nvSpPr>
        <p:spPr>
          <a:xfrm>
            <a:off x="12192000" y="3676650"/>
            <a:ext cx="4762500" cy="857250"/>
          </a:xfrm>
          <a:prstGeom prst="rect">
            <a:avLst/>
          </a:prstGeom>
          <a:noFill/>
        </p:spPr>
        <p:txBody>
          <a:bodyPr wrap="square" lIns="0" rIns="0" tIns="0" bIns="0" anchor="t">
            <a:spAutoFit/>
          </a:bodyPr>
          <a:lstStyle/>
          <a:p>
            <a:pPr algn="l"/>
            <a:r>
              <a:rPr sz="4800" b="1" i="0">
                <a:solidFill>
                  <a:srgbClr val="9A7878"/>
                </a:solidFill>
                <a:latin typeface="Geist"/>
                <a:ea typeface="Geist"/>
                <a:cs typeface="Geist"/>
              </a:rPr>
              <a:t>AND</a:t>
            </a:r>
          </a:p>
        </p:txBody>
      </p:sp>
      <p:sp>
        <p:nvSpPr>
          <p:cNvPr id="34" name="TextBox 33"/>
          <p:cNvSpPr txBox="1"/>
          <p:nvPr/>
        </p:nvSpPr>
        <p:spPr>
          <a:xfrm>
            <a:off x="12192000" y="4667250"/>
            <a:ext cx="4762500" cy="571500"/>
          </a:xfrm>
          <a:prstGeom prst="rect">
            <a:avLst/>
          </a:prstGeom>
          <a:noFill/>
        </p:spPr>
        <p:txBody>
          <a:bodyPr wrap="square" lIns="0" rIns="0" tIns="0" bIns="0" anchor="t">
            <a:spAutoFit/>
          </a:bodyPr>
          <a:lstStyle/>
          <a:p>
            <a:pPr algn="l"/>
            <a:r>
              <a:rPr sz="1875" b="0" i="0">
                <a:solidFill>
                  <a:srgbClr val="9A7878"/>
                </a:solidFill>
                <a:latin typeface="Geist"/>
                <a:ea typeface="Geist"/>
                <a:cs typeface="Geist"/>
              </a:rPr>
              <a:t>Stops at the first FAILURE</a:t>
            </a:r>
          </a:p>
        </p:txBody>
      </p:sp>
      <p:sp>
        <p:nvSpPr>
          <p:cNvPr id="35" name="Rounded Rectangle 34"/>
          <p:cNvSpPr/>
          <p:nvPr/>
        </p:nvSpPr>
        <p:spPr>
          <a:xfrm>
            <a:off x="11811000" y="5810250"/>
            <a:ext cx="5562600" cy="2762250"/>
          </a:xfrm>
          <a:prstGeom prst="roundRect">
            <a:avLst>
              <a:gd name="adj" fmla="val 551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192000" y="6096000"/>
            <a:ext cx="4762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  Fallback</a:t>
            </a:r>
          </a:p>
        </p:txBody>
      </p:sp>
      <p:sp>
        <p:nvSpPr>
          <p:cNvPr id="37" name="TextBox 36"/>
          <p:cNvSpPr txBox="1"/>
          <p:nvPr/>
        </p:nvSpPr>
        <p:spPr>
          <a:xfrm>
            <a:off x="12192000" y="6724650"/>
            <a:ext cx="4762500" cy="857250"/>
          </a:xfrm>
          <a:prstGeom prst="rect">
            <a:avLst/>
          </a:prstGeom>
          <a:noFill/>
        </p:spPr>
        <p:txBody>
          <a:bodyPr wrap="square" lIns="0" rIns="0" tIns="0" bIns="0" anchor="t">
            <a:spAutoFit/>
          </a:bodyPr>
          <a:lstStyle/>
          <a:p>
            <a:pPr algn="l"/>
            <a:r>
              <a:rPr sz="4800" b="1" i="0">
                <a:solidFill>
                  <a:srgbClr val="CC2200"/>
                </a:solidFill>
                <a:latin typeface="Geist"/>
                <a:ea typeface="Geist"/>
                <a:cs typeface="Geist"/>
              </a:rPr>
              <a:t>OR</a:t>
            </a:r>
          </a:p>
        </p:txBody>
      </p:sp>
      <p:sp>
        <p:nvSpPr>
          <p:cNvPr id="38" name="TextBox 37"/>
          <p:cNvSpPr txBox="1"/>
          <p:nvPr/>
        </p:nvSpPr>
        <p:spPr>
          <a:xfrm>
            <a:off x="12192000" y="7715250"/>
            <a:ext cx="4762500" cy="571500"/>
          </a:xfrm>
          <a:prstGeom prst="rect">
            <a:avLst/>
          </a:prstGeom>
          <a:noFill/>
        </p:spPr>
        <p:txBody>
          <a:bodyPr wrap="square" lIns="0" rIns="0" tIns="0" bIns="0" anchor="t">
            <a:spAutoFit/>
          </a:bodyPr>
          <a:lstStyle/>
          <a:p>
            <a:pPr algn="l"/>
            <a:r>
              <a:rPr sz="1875" b="0" i="0">
                <a:solidFill>
                  <a:srgbClr val="9A7878"/>
                </a:solidFill>
                <a:latin typeface="Geist"/>
                <a:ea typeface="Geist"/>
                <a:cs typeface="Geist"/>
              </a:rPr>
              <a:t>Stops at the first SUCCESS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Timeout: don't hang forever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5715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At 3.0 s</a:t>
            </a:r>
          </a:p>
        </p:txBody>
      </p:sp>
      <p:sp>
        <p:nvSpPr>
          <p:cNvPr id="7" name="Rectangle 6"/>
          <p:cNvSpPr/>
          <p:nvPr/>
        </p:nvSpPr>
        <p:spPr>
          <a:xfrm>
            <a:off x="3419475" y="5743575"/>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419475" y="6005512"/>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19475" y="6005512"/>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57850" y="4362450"/>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419475" y="4624388"/>
            <a:ext cx="451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19475" y="4624388"/>
            <a:ext cx="38100" cy="300038"/>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86700" y="4614862"/>
            <a:ext cx="57150" cy="319088"/>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914525" y="6286500"/>
            <a:ext cx="3048000" cy="857250"/>
          </a:xfrm>
          <a:prstGeom prst="roundRect">
            <a:avLst>
              <a:gd name="adj" fmla="val 1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952625" y="6381750"/>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143125" y="6548438"/>
            <a:ext cx="27051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Aim</a:t>
            </a:r>
          </a:p>
        </p:txBody>
      </p:sp>
      <p:sp>
        <p:nvSpPr>
          <p:cNvPr id="17" name="Rounded Rectangle 16"/>
          <p:cNvSpPr/>
          <p:nvPr/>
        </p:nvSpPr>
        <p:spPr>
          <a:xfrm>
            <a:off x="1914525" y="4905375"/>
            <a:ext cx="3048000" cy="857250"/>
          </a:xfrm>
          <a:prstGeom prst="roundRect">
            <a:avLst>
              <a:gd name="adj" fmla="val 13333"/>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952625" y="5000625"/>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143125" y="5019675"/>
            <a:ext cx="2705100" cy="321469"/>
          </a:xfrm>
          <a:prstGeom prst="rect">
            <a:avLst/>
          </a:prstGeom>
          <a:noFill/>
        </p:spPr>
        <p:txBody>
          <a:bodyPr wrap="square" lIns="0" rIns="0" tIns="0" bIns="0" anchor="t">
            <a:spAutoFit/>
          </a:bodyPr>
          <a:lstStyle/>
          <a:p>
            <a:pPr algn="l"/>
            <a:r>
              <a:rPr sz="1875" b="1" i="0">
                <a:solidFill>
                  <a:srgbClr val="7C93C3"/>
                </a:solidFill>
                <a:latin typeface="Geist"/>
                <a:ea typeface="Geist"/>
                <a:cs typeface="Geist"/>
              </a:rPr>
              <a:t>⏱  </a:t>
            </a:r>
            <a:r>
              <a:rPr sz="1875" b="1" i="0">
                <a:solidFill>
                  <a:srgbClr val="F0E8E8"/>
                </a:solidFill>
                <a:latin typeface="Geist"/>
                <a:ea typeface="Geist"/>
                <a:cs typeface="Geist"/>
              </a:rPr>
              <a:t>Timeout</a:t>
            </a:r>
          </a:p>
        </p:txBody>
      </p:sp>
      <p:sp>
        <p:nvSpPr>
          <p:cNvPr id="20" name="TextBox 19"/>
          <p:cNvSpPr txBox="1"/>
          <p:nvPr/>
        </p:nvSpPr>
        <p:spPr>
          <a:xfrm>
            <a:off x="2143125" y="5360194"/>
            <a:ext cx="2705100" cy="285750"/>
          </a:xfrm>
          <a:prstGeom prst="rect">
            <a:avLst/>
          </a:prstGeom>
          <a:noFill/>
        </p:spPr>
        <p:txBody>
          <a:bodyPr wrap="square" lIns="0" rIns="0" tIns="0" bIns="0" anchor="t">
            <a:spAutoFit/>
          </a:bodyPr>
          <a:lstStyle/>
          <a:p>
            <a:pPr algn="l"/>
            <a:r>
              <a:rPr sz="1462" b="0" i="0">
                <a:solidFill>
                  <a:srgbClr val="E8C27A"/>
                </a:solidFill>
                <a:latin typeface="Geist Mono"/>
                <a:ea typeface="Geist Mono"/>
                <a:cs typeface="Geist Mono"/>
              </a:rPr>
              <a:t>3000 ms</a:t>
            </a:r>
          </a:p>
        </p:txBody>
      </p:sp>
      <p:sp>
        <p:nvSpPr>
          <p:cNvPr id="21" name="Rounded Rectangle 20"/>
          <p:cNvSpPr/>
          <p:nvPr/>
        </p:nvSpPr>
        <p:spPr>
          <a:xfrm>
            <a:off x="3886200" y="4752975"/>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86200" y="4752975"/>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23" name="Rounded Rectangle 22"/>
          <p:cNvSpPr/>
          <p:nvPr/>
        </p:nvSpPr>
        <p:spPr>
          <a:xfrm>
            <a:off x="6391275" y="4905375"/>
            <a:ext cx="3048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429375" y="5000625"/>
            <a:ext cx="66675" cy="6667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19875" y="5167312"/>
            <a:ext cx="27051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Backup path</a:t>
            </a:r>
          </a:p>
        </p:txBody>
      </p:sp>
      <p:sp>
        <p:nvSpPr>
          <p:cNvPr id="26" name="Rounded Rectangle 25"/>
          <p:cNvSpPr/>
          <p:nvPr/>
        </p:nvSpPr>
        <p:spPr>
          <a:xfrm>
            <a:off x="8362950" y="4752975"/>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62950" y="4752975"/>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8" name="Rounded Rectangle 27"/>
          <p:cNvSpPr/>
          <p:nvPr/>
        </p:nvSpPr>
        <p:spPr>
          <a:xfrm>
            <a:off x="4152900" y="3524250"/>
            <a:ext cx="3048000" cy="857250"/>
          </a:xfrm>
          <a:prstGeom prst="roundRect">
            <a:avLst>
              <a:gd name="adj" fmla="val 13333"/>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191000" y="3619500"/>
            <a:ext cx="66675" cy="6667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381500" y="3786188"/>
            <a:ext cx="2705100" cy="321469"/>
          </a:xfrm>
          <a:prstGeom prst="rect">
            <a:avLst/>
          </a:prstGeom>
          <a:noFill/>
        </p:spPr>
        <p:txBody>
          <a:bodyPr wrap="square" lIns="0" rIns="0" tIns="0" bIns="0" anchor="t">
            <a:spAutoFit/>
          </a:bodyPr>
          <a:lstStyle/>
          <a:p>
            <a:pPr algn="l"/>
            <a:r>
              <a:rPr sz="1875" b="1" i="0">
                <a:solidFill>
                  <a:srgbClr val="7C93C3"/>
                </a:solidFill>
                <a:latin typeface="Geist"/>
                <a:ea typeface="Geist"/>
                <a:cs typeface="Geist"/>
              </a:rPr>
              <a:t>?  </a:t>
            </a:r>
            <a:r>
              <a:rPr sz="1875" b="1" i="0">
                <a:solidFill>
                  <a:srgbClr val="F0E8E8"/>
                </a:solidFill>
                <a:latin typeface="Geist"/>
                <a:ea typeface="Geist"/>
                <a:cs typeface="Geist"/>
              </a:rPr>
              <a:t>Fallback</a:t>
            </a:r>
          </a:p>
        </p:txBody>
      </p:sp>
      <p:sp>
        <p:nvSpPr>
          <p:cNvPr id="31" name="Rounded Rectangle 30"/>
          <p:cNvSpPr/>
          <p:nvPr/>
        </p:nvSpPr>
        <p:spPr>
          <a:xfrm>
            <a:off x="6124575" y="33718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124575" y="33718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33" name="TextBox 32"/>
          <p:cNvSpPr txBox="1"/>
          <p:nvPr/>
        </p:nvSpPr>
        <p:spPr>
          <a:xfrm>
            <a:off x="11049000" y="285750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CLOCK</a:t>
            </a:r>
          </a:p>
        </p:txBody>
      </p:sp>
      <p:sp>
        <p:nvSpPr>
          <p:cNvPr id="34" name="TextBox 33"/>
          <p:cNvSpPr txBox="1"/>
          <p:nvPr/>
        </p:nvSpPr>
        <p:spPr>
          <a:xfrm>
            <a:off x="11049000" y="3619500"/>
            <a:ext cx="3810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Aim</a:t>
            </a:r>
          </a:p>
        </p:txBody>
      </p:sp>
      <p:sp>
        <p:nvSpPr>
          <p:cNvPr id="35" name="Rounded Rectangle 34"/>
          <p:cNvSpPr/>
          <p:nvPr/>
        </p:nvSpPr>
        <p:spPr>
          <a:xfrm>
            <a:off x="11049000" y="4095750"/>
            <a:ext cx="3657600" cy="476250"/>
          </a:xfrm>
          <a:prstGeom prst="roundRect">
            <a:avLst>
              <a:gd name="adj" fmla="val 2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049000" y="4857750"/>
            <a:ext cx="38100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Backup path</a:t>
            </a:r>
          </a:p>
        </p:txBody>
      </p:sp>
      <p:sp>
        <p:nvSpPr>
          <p:cNvPr id="37" name="Rounded Rectangle 36"/>
          <p:cNvSpPr/>
          <p:nvPr/>
        </p:nvSpPr>
        <p:spPr>
          <a:xfrm>
            <a:off x="14706600" y="5334000"/>
            <a:ext cx="2438400" cy="476250"/>
          </a:xfrm>
          <a:prstGeom prst="roundRect">
            <a:avLst>
              <a:gd name="adj" fmla="val 2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039475" y="6276975"/>
            <a:ext cx="6115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0394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6680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41" name="Rectangle 40"/>
          <p:cNvSpPr/>
          <p:nvPr/>
        </p:nvSpPr>
        <p:spPr>
          <a:xfrm>
            <a:off x="122586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8872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43" name="Rectangle 42"/>
          <p:cNvSpPr/>
          <p:nvPr/>
        </p:nvSpPr>
        <p:spPr>
          <a:xfrm>
            <a:off x="134778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1064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45" name="Rectangle 44"/>
          <p:cNvSpPr/>
          <p:nvPr/>
        </p:nvSpPr>
        <p:spPr>
          <a:xfrm>
            <a:off x="146970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3256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47" name="Rectangle 46"/>
          <p:cNvSpPr/>
          <p:nvPr/>
        </p:nvSpPr>
        <p:spPr>
          <a:xfrm>
            <a:off x="159162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55448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49" name="Rectangle 48"/>
          <p:cNvSpPr/>
          <p:nvPr/>
        </p:nvSpPr>
        <p:spPr>
          <a:xfrm>
            <a:off x="17135475" y="6276975"/>
            <a:ext cx="19050" cy="133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6764000" y="64770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 s</a:t>
            </a:r>
          </a:p>
        </p:txBody>
      </p:sp>
      <p:sp>
        <p:nvSpPr>
          <p:cNvPr id="51" name="Rectangle 50"/>
          <p:cNvSpPr/>
          <p:nvPr/>
        </p:nvSpPr>
        <p:spPr>
          <a:xfrm>
            <a:off x="14692312" y="3414712"/>
            <a:ext cx="28575" cy="2886075"/>
          </a:xfrm>
          <a:prstGeom prst="rect">
            <a:avLst/>
          </a:prstGeom>
          <a:solidFill>
            <a:srgbClr val="EF4444"/>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3277850" y="6858000"/>
            <a:ext cx="2857500" cy="571500"/>
          </a:xfrm>
          <a:prstGeom prst="rect">
            <a:avLst/>
          </a:prstGeom>
          <a:noFill/>
        </p:spPr>
        <p:txBody>
          <a:bodyPr wrap="square" lIns="0" rIns="0" tIns="0" bIns="0" anchor="t">
            <a:spAutoFit/>
          </a:bodyPr>
          <a:lstStyle/>
          <a:p>
            <a:pPr algn="ctr">
              <a:lnSpc>
                <a:spcPct val="120000"/>
              </a:lnSpc>
            </a:pPr>
            <a:r>
              <a:rPr sz="1575" b="1" i="0">
                <a:solidFill>
                  <a:srgbClr val="EF4444"/>
                </a:solidFill>
                <a:latin typeface="Geist"/>
                <a:ea typeface="Geist"/>
                <a:cs typeface="Geist"/>
              </a:rPr>
              <a:t>Time's up: Aim halted, Timeout FAILURE</a:t>
            </a:r>
          </a:p>
        </p:txBody>
      </p:sp>
      <p:sp>
        <p:nvSpPr>
          <p:cNvPr id="53" name="Rounded Rectangle 52"/>
          <p:cNvSpPr/>
          <p:nvPr/>
        </p:nvSpPr>
        <p:spPr>
          <a:xfrm>
            <a:off x="914400" y="8001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stopwatch.png"/>
          <p:cNvPicPr>
            <a:picLocks noChangeAspect="1"/>
          </p:cNvPicPr>
          <p:nvPr/>
        </p:nvPicPr>
        <p:blipFill>
          <a:blip r:embed="rId3"/>
          <a:stretch>
            <a:fillRect/>
          </a:stretch>
        </p:blipFill>
        <p:spPr>
          <a:xfrm>
            <a:off x="1333500" y="8162925"/>
            <a:ext cx="481781" cy="533400"/>
          </a:xfrm>
          <a:prstGeom prst="rect">
            <a:avLst/>
          </a:prstGeom>
        </p:spPr>
      </p:pic>
      <p:sp>
        <p:nvSpPr>
          <p:cNvPr id="55" name="TextBox 54"/>
          <p:cNvSpPr txBox="1"/>
          <p:nvPr/>
        </p:nvSpPr>
        <p:spPr>
          <a:xfrm>
            <a:off x="2190750" y="8001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Timeout + Fallback:  </a:t>
            </a:r>
            <a:r>
              <a:rPr sz="2100" b="0" i="0">
                <a:solidFill>
                  <a:srgbClr val="F0E8E8"/>
                </a:solidFill>
                <a:latin typeface="Geist"/>
                <a:ea typeface="Geist"/>
                <a:cs typeface="Geist"/>
              </a:rPr>
              <a:t>a step that hangs can no longer stall the whole auto.</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BEHAVIOR TREES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ParallelDeadline: two things at once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7850" y="4362450"/>
            <a:ext cx="38100" cy="6572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419475" y="4981575"/>
            <a:ext cx="451485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409950" y="4972050"/>
            <a:ext cx="57150" cy="676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886700" y="4972050"/>
            <a:ext cx="57150" cy="676275"/>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628775" y="561975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666875"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857375" y="5734050"/>
            <a:ext cx="3276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FollowPath</a:t>
            </a:r>
          </a:p>
        </p:txBody>
      </p:sp>
      <p:sp>
        <p:nvSpPr>
          <p:cNvPr id="13" name="TextBox 12"/>
          <p:cNvSpPr txBox="1"/>
          <p:nvPr/>
        </p:nvSpPr>
        <p:spPr>
          <a:xfrm>
            <a:off x="1857375" y="6087428"/>
            <a:ext cx="32766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the deadline</a:t>
            </a:r>
          </a:p>
        </p:txBody>
      </p:sp>
      <p:sp>
        <p:nvSpPr>
          <p:cNvPr id="14" name="Rounded Rectangle 13"/>
          <p:cNvSpPr/>
          <p:nvPr/>
        </p:nvSpPr>
        <p:spPr>
          <a:xfrm>
            <a:off x="4171950" y="5467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71950" y="5467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16" name="Rounded Rectangle 15"/>
          <p:cNvSpPr/>
          <p:nvPr/>
        </p:nvSpPr>
        <p:spPr>
          <a:xfrm>
            <a:off x="6105525" y="561975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143625"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4125" y="5734050"/>
            <a:ext cx="3276600" cy="334328"/>
          </a:xfrm>
          <a:prstGeom prst="rect">
            <a:avLst/>
          </a:prstGeom>
          <a:noFill/>
        </p:spPr>
        <p:txBody>
          <a:bodyPr wrap="square" lIns="0" rIns="0" tIns="0" bIns="0" anchor="t">
            <a:spAutoFit/>
          </a:bodyPr>
          <a:lstStyle/>
          <a:p>
            <a:pPr algn="l"/>
            <a:r>
              <a:rPr sz="1950" b="1" i="0">
                <a:solidFill>
                  <a:srgbClr val="2DD4BF"/>
                </a:solidFill>
                <a:latin typeface="Geist"/>
                <a:ea typeface="Geist"/>
                <a:cs typeface="Geist"/>
              </a:rPr>
              <a:t>▶  </a:t>
            </a:r>
            <a:r>
              <a:rPr sz="1950" b="1" i="0">
                <a:solidFill>
                  <a:srgbClr val="F0E8E8"/>
                </a:solidFill>
                <a:latin typeface="Geist"/>
                <a:ea typeface="Geist"/>
                <a:cs typeface="Geist"/>
              </a:rPr>
              <a:t>Intake on event</a:t>
            </a:r>
          </a:p>
        </p:txBody>
      </p:sp>
      <p:sp>
        <p:nvSpPr>
          <p:cNvPr id="19" name="TextBox 18"/>
          <p:cNvSpPr txBox="1"/>
          <p:nvPr/>
        </p:nvSpPr>
        <p:spPr>
          <a:xfrm>
            <a:off x="6334125" y="6087428"/>
            <a:ext cx="3276600" cy="297180"/>
          </a:xfrm>
          <a:prstGeom prst="rect">
            <a:avLst/>
          </a:prstGeom>
          <a:noFill/>
        </p:spPr>
        <p:txBody>
          <a:bodyPr wrap="square" lIns="0" rIns="0" tIns="0" bIns="0" anchor="t">
            <a:spAutoFit/>
          </a:bodyPr>
          <a:lstStyle/>
          <a:p>
            <a:pPr algn="l"/>
            <a:r>
              <a:rPr sz="1521" b="0" i="0">
                <a:solidFill>
                  <a:srgbClr val="E8C27A"/>
                </a:solidFill>
                <a:latin typeface="Geist Mono"/>
                <a:ea typeface="Geist Mono"/>
                <a:cs typeface="Geist Mono"/>
              </a:rPr>
              <a:t>Intake Out</a:t>
            </a:r>
          </a:p>
        </p:txBody>
      </p:sp>
      <p:sp>
        <p:nvSpPr>
          <p:cNvPr id="20" name="Rounded Rectangle 19"/>
          <p:cNvSpPr/>
          <p:nvPr/>
        </p:nvSpPr>
        <p:spPr>
          <a:xfrm>
            <a:off x="8648700" y="5467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48700" y="5467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2" name="Rounded Rectangle 21"/>
          <p:cNvSpPr/>
          <p:nvPr/>
        </p:nvSpPr>
        <p:spPr>
          <a:xfrm>
            <a:off x="3867150" y="3429000"/>
            <a:ext cx="36195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905250" y="352425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095750" y="3731895"/>
            <a:ext cx="3276600" cy="334328"/>
          </a:xfrm>
          <a:prstGeom prst="rect">
            <a:avLst/>
          </a:prstGeom>
          <a:noFill/>
        </p:spPr>
        <p:txBody>
          <a:bodyPr wrap="square" lIns="0" rIns="0" tIns="0" bIns="0" anchor="t">
            <a:spAutoFit/>
          </a:bodyPr>
          <a:lstStyle/>
          <a:p>
            <a:pPr algn="l"/>
            <a:r>
              <a:rPr sz="1950" b="1" i="0">
                <a:solidFill>
                  <a:srgbClr val="7C93C3"/>
                </a:solidFill>
                <a:latin typeface="Geist"/>
                <a:ea typeface="Geist"/>
                <a:cs typeface="Geist"/>
              </a:rPr>
              <a:t>⇉  </a:t>
            </a:r>
            <a:r>
              <a:rPr sz="1950" b="1" i="0">
                <a:solidFill>
                  <a:srgbClr val="F0E8E8"/>
                </a:solidFill>
                <a:latin typeface="Geist"/>
                <a:ea typeface="Geist"/>
                <a:cs typeface="Geist"/>
              </a:rPr>
              <a:t>ParallelDeadline</a:t>
            </a:r>
          </a:p>
        </p:txBody>
      </p:sp>
      <p:sp>
        <p:nvSpPr>
          <p:cNvPr id="25" name="Rounded Rectangle 24"/>
          <p:cNvSpPr/>
          <p:nvPr/>
        </p:nvSpPr>
        <p:spPr>
          <a:xfrm>
            <a:off x="6410325" y="327660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10325" y="327660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27" name="TextBox 26"/>
          <p:cNvSpPr txBox="1"/>
          <p:nvPr/>
        </p:nvSpPr>
        <p:spPr>
          <a:xfrm>
            <a:off x="1295400" y="7620000"/>
            <a:ext cx="8763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Both tick together. When FollowPath finishes, Intake on event is halted.</a:t>
            </a:r>
          </a:p>
        </p:txBody>
      </p:sp>
      <p:sp>
        <p:nvSpPr>
          <p:cNvPr id="28" name="Oval 27"/>
          <p:cNvSpPr/>
          <p:nvPr/>
        </p:nvSpPr>
        <p:spPr>
          <a:xfrm>
            <a:off x="10953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All children together</a:t>
            </a:r>
          </a:p>
        </p:txBody>
      </p:sp>
      <p:sp>
        <p:nvSpPr>
          <p:cNvPr id="31" name="TextBox 3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tick, every child</a:t>
            </a:r>
          </a:p>
        </p:txBody>
      </p:sp>
      <p:sp>
        <p:nvSpPr>
          <p:cNvPr id="32" name="Oval 31"/>
          <p:cNvSpPr/>
          <p:nvPr/>
        </p:nvSpPr>
        <p:spPr>
          <a:xfrm>
            <a:off x="109537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537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1563350" y="44386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first is the deadline</a:t>
            </a:r>
          </a:p>
        </p:txBody>
      </p:sp>
      <p:sp>
        <p:nvSpPr>
          <p:cNvPr id="35" name="TextBox 34"/>
          <p:cNvSpPr txBox="1"/>
          <p:nvPr/>
        </p:nvSpPr>
        <p:spPr>
          <a:xfrm>
            <a:off x="11563350" y="48577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it ends, the rest are halted</a:t>
            </a:r>
          </a:p>
        </p:txBody>
      </p:sp>
      <p:sp>
        <p:nvSpPr>
          <p:cNvPr id="36" name="Oval 35"/>
          <p:cNvSpPr/>
          <p:nvPr/>
        </p:nvSpPr>
        <p:spPr>
          <a:xfrm>
            <a:off x="109537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9537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1563350" y="60579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Its answer counts</a:t>
            </a:r>
          </a:p>
        </p:txBody>
      </p:sp>
      <p:sp>
        <p:nvSpPr>
          <p:cNvPr id="39" name="TextBox 38"/>
          <p:cNvSpPr txBox="1"/>
          <p:nvPr/>
        </p:nvSpPr>
        <p:spPr>
          <a:xfrm>
            <a:off x="11563350" y="64770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node answers with the deadline's result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Trees on our robot</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tree asks RobotContainer for states, and drives the paths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tree asks. RobotContainer does the work. Teamwork!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asks the robot, like a button does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3815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52500" y="32385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43000" y="3257550"/>
            <a:ext cx="40386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SetWantedState</a:t>
            </a:r>
          </a:p>
        </p:txBody>
      </p:sp>
      <p:sp>
        <p:nvSpPr>
          <p:cNvPr id="8" name="TextBox 7"/>
          <p:cNvSpPr txBox="1"/>
          <p:nvPr/>
        </p:nvSpPr>
        <p:spPr>
          <a:xfrm>
            <a:off x="1143000" y="3636645"/>
            <a:ext cx="40386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state = AIM</a:t>
            </a:r>
          </a:p>
        </p:txBody>
      </p:sp>
      <p:sp>
        <p:nvSpPr>
          <p:cNvPr id="9" name="Rounded Rectangle 8"/>
          <p:cNvSpPr/>
          <p:nvPr/>
        </p:nvSpPr>
        <p:spPr>
          <a:xfrm>
            <a:off x="914400" y="4953000"/>
            <a:ext cx="43815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952500" y="504825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43000" y="5067300"/>
            <a:ext cx="40386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FollowPath</a:t>
            </a:r>
          </a:p>
        </p:txBody>
      </p:sp>
      <p:sp>
        <p:nvSpPr>
          <p:cNvPr id="12" name="TextBox 11"/>
          <p:cNvSpPr txBox="1"/>
          <p:nvPr/>
        </p:nvSpPr>
        <p:spPr>
          <a:xfrm>
            <a:off x="1143000" y="5446395"/>
            <a:ext cx="40386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trajectory = ToScore</a:t>
            </a:r>
          </a:p>
        </p:txBody>
      </p:sp>
      <p:cxnSp>
        <p:nvCxnSpPr>
          <p:cNvPr id="13" name="Connector 12"/>
          <p:cNvCxnSpPr/>
          <p:nvPr/>
        </p:nvCxnSpPr>
        <p:spPr>
          <a:xfrm>
            <a:off x="5391150" y="3667125"/>
            <a:ext cx="1847850" cy="809625"/>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391150" y="4762500"/>
            <a:ext cx="1847850" cy="714375"/>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14925" y="2695575"/>
            <a:ext cx="2400300" cy="323850"/>
          </a:xfrm>
          <a:prstGeom prst="roundRect">
            <a:avLst>
              <a:gd name="adj" fmla="val 23529"/>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14925" y="2695575"/>
            <a:ext cx="2400300" cy="32385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setWantedState(AIM)</a:t>
            </a:r>
          </a:p>
        </p:txBody>
      </p:sp>
      <p:sp>
        <p:nvSpPr>
          <p:cNvPr id="17" name="Rounded Rectangle 16"/>
          <p:cNvSpPr/>
          <p:nvPr/>
        </p:nvSpPr>
        <p:spPr>
          <a:xfrm>
            <a:off x="7334250" y="3810000"/>
            <a:ext cx="4762500" cy="1524000"/>
          </a:xfrm>
          <a:prstGeom prst="roundRect">
            <a:avLst>
              <a:gd name="adj" fmla="val 11250"/>
            </a:avLst>
          </a:prstGeom>
          <a:solidFill>
            <a:srgbClr val="1A0F0F"/>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34250" y="4000500"/>
            <a:ext cx="4762500" cy="571500"/>
          </a:xfrm>
          <a:prstGeom prst="rect">
            <a:avLst/>
          </a:prstGeom>
          <a:noFill/>
        </p:spPr>
        <p:txBody>
          <a:bodyPr wrap="square" lIns="0" rIns="0" tIns="0" bIns="0" anchor="t">
            <a:spAutoFit/>
          </a:bodyPr>
          <a:lstStyle/>
          <a:p>
            <a:pPr algn="ctr"/>
            <a:r>
              <a:rPr sz="2850" b="1" i="0">
                <a:solidFill>
                  <a:srgbClr val="F0E8E8"/>
                </a:solidFill>
                <a:latin typeface="Geist Mono"/>
                <a:ea typeface="Geist Mono"/>
                <a:cs typeface="Geist Mono"/>
              </a:rPr>
              <a:t>RobotContainer</a:t>
            </a:r>
          </a:p>
        </p:txBody>
      </p:sp>
      <p:sp>
        <p:nvSpPr>
          <p:cNvPr id="19" name="TextBox 18"/>
          <p:cNvSpPr txBox="1"/>
          <p:nvPr/>
        </p:nvSpPr>
        <p:spPr>
          <a:xfrm>
            <a:off x="7334250" y="4629150"/>
            <a:ext cx="4762500" cy="47625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the super state machine</a:t>
            </a:r>
          </a:p>
        </p:txBody>
      </p:sp>
      <p:sp>
        <p:nvSpPr>
          <p:cNvPr id="20" name="Rectangle 19"/>
          <p:cNvSpPr/>
          <p:nvPr/>
        </p:nvSpPr>
        <p:spPr>
          <a:xfrm>
            <a:off x="9696450" y="5353050"/>
            <a:ext cx="38100" cy="7200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10800000">
            <a:off x="9639300" y="60388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4250" y="6286500"/>
            <a:ext cx="4762500" cy="3810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getStateResult()</a:t>
            </a:r>
          </a:p>
        </p:txBody>
      </p:sp>
      <p:sp>
        <p:nvSpPr>
          <p:cNvPr id="23" name="Rounded Rectangle 22"/>
          <p:cNvSpPr/>
          <p:nvPr/>
        </p:nvSpPr>
        <p:spPr>
          <a:xfrm>
            <a:off x="7524750" y="6819900"/>
            <a:ext cx="1333500" cy="4191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24750" y="6819900"/>
            <a:ext cx="1333500" cy="419100"/>
          </a:xfrm>
          <a:prstGeom prst="rect">
            <a:avLst/>
          </a:prstGeom>
          <a:noFill/>
        </p:spPr>
        <p:txBody>
          <a:bodyPr wrap="square" lIns="0" rIns="0" tIns="0" bIns="0" anchor="ctr">
            <a:spAutoFit/>
          </a:bodyPr>
          <a:lstStyle/>
          <a:p>
            <a:pPr algn="ctr"/>
            <a:r>
              <a:rPr sz="1275" b="1" i="0">
                <a:solidFill>
                  <a:srgbClr val="111111"/>
                </a:solidFill>
                <a:latin typeface="Geist"/>
                <a:ea typeface="Geist"/>
                <a:cs typeface="Geist"/>
              </a:rPr>
              <a:t>RUNNING</a:t>
            </a:r>
          </a:p>
        </p:txBody>
      </p:sp>
      <p:sp>
        <p:nvSpPr>
          <p:cNvPr id="25" name="Rounded Rectangle 24"/>
          <p:cNvSpPr/>
          <p:nvPr/>
        </p:nvSpPr>
        <p:spPr>
          <a:xfrm>
            <a:off x="9048750" y="6819900"/>
            <a:ext cx="1333500" cy="4191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48750" y="6819900"/>
            <a:ext cx="133350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SUCCESS</a:t>
            </a:r>
          </a:p>
        </p:txBody>
      </p:sp>
      <p:sp>
        <p:nvSpPr>
          <p:cNvPr id="27" name="Rounded Rectangle 26"/>
          <p:cNvSpPr/>
          <p:nvPr/>
        </p:nvSpPr>
        <p:spPr>
          <a:xfrm>
            <a:off x="10572750" y="6819900"/>
            <a:ext cx="1333500" cy="41910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572750" y="6819900"/>
            <a:ext cx="133350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FAILURE</a:t>
            </a:r>
          </a:p>
        </p:txBody>
      </p:sp>
      <p:sp>
        <p:nvSpPr>
          <p:cNvPr id="29" name="TextBox 28"/>
          <p:cNvSpPr txBox="1"/>
          <p:nvPr/>
        </p:nvSpPr>
        <p:spPr>
          <a:xfrm>
            <a:off x="7334250" y="7429500"/>
            <a:ext cx="4762500" cy="762000"/>
          </a:xfrm>
          <a:prstGeom prst="rect">
            <a:avLst/>
          </a:prstGeom>
          <a:noFill/>
        </p:spPr>
        <p:txBody>
          <a:bodyPr wrap="square" lIns="0" rIns="0" tIns="0" bIns="0" anchor="t">
            <a:spAutoFit/>
          </a:bodyPr>
          <a:lstStyle/>
          <a:p>
            <a:pPr algn="ctr">
              <a:lnSpc>
                <a:spcPct val="130000"/>
              </a:lnSpc>
            </a:pPr>
            <a:r>
              <a:rPr sz="1650" b="0" i="0">
                <a:solidFill>
                  <a:srgbClr val="9A7878"/>
                </a:solidFill>
                <a:latin typeface="Geist"/>
                <a:ea typeface="Geist"/>
                <a:cs typeface="Geist"/>
              </a:rPr>
              <a:t>SetWantedState answers with the robot's result.</a:t>
            </a:r>
          </a:p>
        </p:txBody>
      </p:sp>
      <p:sp>
        <p:nvSpPr>
          <p:cNvPr id="30" name="Oval 29"/>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277850" y="3105150"/>
            <a:ext cx="40957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Same states as the buttons</a:t>
            </a:r>
          </a:p>
        </p:txBody>
      </p:sp>
      <p:sp>
        <p:nvSpPr>
          <p:cNvPr id="33" name="TextBox 32"/>
          <p:cNvSpPr txBox="1"/>
          <p:nvPr/>
        </p:nvSpPr>
        <p:spPr>
          <a:xfrm>
            <a:off x="13277850" y="35433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DRIVE, AIM, SHOOT, FOLLOW_PATH, AUTO</a:t>
            </a:r>
          </a:p>
        </p:txBody>
      </p:sp>
      <p:sp>
        <p:nvSpPr>
          <p:cNvPr id="34" name="Oval 33"/>
          <p:cNvSpPr/>
          <p:nvPr/>
        </p:nvSpPr>
        <p:spPr>
          <a:xfrm>
            <a:off x="126682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6682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277850" y="4819650"/>
            <a:ext cx="40957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Written once</a:t>
            </a:r>
          </a:p>
        </p:txBody>
      </p:sp>
      <p:sp>
        <p:nvSpPr>
          <p:cNvPr id="37" name="TextBox 36"/>
          <p:cNvSpPr txBox="1"/>
          <p:nvPr/>
        </p:nvSpPr>
        <p:spPr>
          <a:xfrm>
            <a:off x="13277850" y="52578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AIM and one SHOOT, for teleop and auto</a:t>
            </a:r>
          </a:p>
        </p:txBody>
      </p:sp>
      <p:sp>
        <p:nvSpPr>
          <p:cNvPr id="38" name="Oval 37"/>
          <p:cNvSpPr/>
          <p:nvPr/>
        </p:nvSpPr>
        <p:spPr>
          <a:xfrm>
            <a:off x="1266825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6682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277850" y="6534150"/>
            <a:ext cx="40957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AUTO is hands-off</a:t>
            </a:r>
          </a:p>
        </p:txBody>
      </p:sp>
      <p:sp>
        <p:nvSpPr>
          <p:cNvPr id="41" name="TextBox 40"/>
          <p:cNvSpPr txBox="1"/>
          <p:nvPr/>
        </p:nvSpPr>
        <p:spPr>
          <a:xfrm>
            <a:off x="13277850" y="69723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Between steps the tree is in charge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lesson's tree: PickupAndScore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24950" y="5886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24950" y="6362700"/>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24950" y="636270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124950" y="388620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940379" y="4362450"/>
            <a:ext cx="14407243"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940379"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35236"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730093"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124950"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519807"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3914664"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309521" y="4362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76300"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14400"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04900"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FollowPath</a:t>
            </a:r>
          </a:p>
        </p:txBody>
      </p:sp>
      <p:sp>
        <p:nvSpPr>
          <p:cNvPr id="20" name="TextBox 19"/>
          <p:cNvSpPr txBox="1"/>
          <p:nvPr/>
        </p:nvSpPr>
        <p:spPr>
          <a:xfrm>
            <a:off x="1104900"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ToPickup</a:t>
            </a:r>
          </a:p>
        </p:txBody>
      </p:sp>
      <p:sp>
        <p:nvSpPr>
          <p:cNvPr id="21" name="Rounded Rectangle 20"/>
          <p:cNvSpPr/>
          <p:nvPr/>
        </p:nvSpPr>
        <p:spPr>
          <a:xfrm>
            <a:off x="3271157"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309257"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99757"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Sleep</a:t>
            </a:r>
          </a:p>
        </p:txBody>
      </p:sp>
      <p:sp>
        <p:nvSpPr>
          <p:cNvPr id="24" name="TextBox 23"/>
          <p:cNvSpPr txBox="1"/>
          <p:nvPr/>
        </p:nvSpPr>
        <p:spPr>
          <a:xfrm>
            <a:off x="3499757"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500</a:t>
            </a:r>
          </a:p>
        </p:txBody>
      </p:sp>
      <p:sp>
        <p:nvSpPr>
          <p:cNvPr id="25" name="Rounded Rectangle 24"/>
          <p:cNvSpPr/>
          <p:nvPr/>
        </p:nvSpPr>
        <p:spPr>
          <a:xfrm>
            <a:off x="5666014"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704114"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894614"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FollowPath</a:t>
            </a:r>
          </a:p>
        </p:txBody>
      </p:sp>
      <p:sp>
        <p:nvSpPr>
          <p:cNvPr id="28" name="TextBox 27"/>
          <p:cNvSpPr txBox="1"/>
          <p:nvPr/>
        </p:nvSpPr>
        <p:spPr>
          <a:xfrm>
            <a:off x="5894614"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ToScore</a:t>
            </a:r>
          </a:p>
        </p:txBody>
      </p:sp>
      <p:sp>
        <p:nvSpPr>
          <p:cNvPr id="29" name="Rounded Rectangle 28"/>
          <p:cNvSpPr/>
          <p:nvPr/>
        </p:nvSpPr>
        <p:spPr>
          <a:xfrm>
            <a:off x="8060871" y="685800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098971" y="695325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89471" y="697230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SetWantedState</a:t>
            </a:r>
          </a:p>
        </p:txBody>
      </p:sp>
      <p:sp>
        <p:nvSpPr>
          <p:cNvPr id="32" name="TextBox 31"/>
          <p:cNvSpPr txBox="1"/>
          <p:nvPr/>
        </p:nvSpPr>
        <p:spPr>
          <a:xfrm>
            <a:off x="8289471" y="723566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AIM</a:t>
            </a:r>
          </a:p>
        </p:txBody>
      </p:sp>
      <p:sp>
        <p:nvSpPr>
          <p:cNvPr id="33" name="Rounded Rectangle 32"/>
          <p:cNvSpPr/>
          <p:nvPr/>
        </p:nvSpPr>
        <p:spPr>
          <a:xfrm>
            <a:off x="7620000" y="4857750"/>
            <a:ext cx="30480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7658100" y="4953000"/>
            <a:ext cx="66675" cy="8572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848600" y="4972050"/>
            <a:ext cx="2705100" cy="244316"/>
          </a:xfrm>
          <a:prstGeom prst="rect">
            <a:avLst/>
          </a:prstGeom>
          <a:noFill/>
        </p:spPr>
        <p:txBody>
          <a:bodyPr wrap="square" lIns="0" rIns="0" tIns="0" bIns="0" anchor="t">
            <a:spAutoFit/>
          </a:bodyPr>
          <a:lstStyle/>
          <a:p>
            <a:pPr algn="l"/>
            <a:r>
              <a:rPr sz="1425" b="1" i="0">
                <a:solidFill>
                  <a:srgbClr val="7C93C3"/>
                </a:solidFill>
                <a:latin typeface="Geist"/>
                <a:ea typeface="Geist"/>
                <a:cs typeface="Geist"/>
              </a:rPr>
              <a:t>⏱  </a:t>
            </a:r>
            <a:r>
              <a:rPr sz="1425" b="1" i="0">
                <a:solidFill>
                  <a:srgbClr val="F0E8E8"/>
                </a:solidFill>
                <a:latin typeface="Geist"/>
                <a:ea typeface="Geist"/>
                <a:cs typeface="Geist"/>
              </a:rPr>
              <a:t>Timeout</a:t>
            </a:r>
          </a:p>
        </p:txBody>
      </p:sp>
      <p:sp>
        <p:nvSpPr>
          <p:cNvPr id="36" name="TextBox 35"/>
          <p:cNvSpPr txBox="1"/>
          <p:nvPr/>
        </p:nvSpPr>
        <p:spPr>
          <a:xfrm>
            <a:off x="7848600" y="5235416"/>
            <a:ext cx="2705100"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3000</a:t>
            </a:r>
          </a:p>
        </p:txBody>
      </p:sp>
      <p:sp>
        <p:nvSpPr>
          <p:cNvPr id="37" name="Rounded Rectangle 36"/>
          <p:cNvSpPr/>
          <p:nvPr/>
        </p:nvSpPr>
        <p:spPr>
          <a:xfrm>
            <a:off x="10455729"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10493829"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684329"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SetWantedState</a:t>
            </a:r>
          </a:p>
        </p:txBody>
      </p:sp>
      <p:sp>
        <p:nvSpPr>
          <p:cNvPr id="40" name="TextBox 39"/>
          <p:cNvSpPr txBox="1"/>
          <p:nvPr/>
        </p:nvSpPr>
        <p:spPr>
          <a:xfrm>
            <a:off x="10684329"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SHOOT</a:t>
            </a:r>
          </a:p>
        </p:txBody>
      </p:sp>
      <p:sp>
        <p:nvSpPr>
          <p:cNvPr id="41" name="Rounded Rectangle 40"/>
          <p:cNvSpPr/>
          <p:nvPr/>
        </p:nvSpPr>
        <p:spPr>
          <a:xfrm>
            <a:off x="12850586"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12888686"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079186"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Sleep</a:t>
            </a:r>
          </a:p>
        </p:txBody>
      </p:sp>
      <p:sp>
        <p:nvSpPr>
          <p:cNvPr id="44" name="TextBox 43"/>
          <p:cNvSpPr txBox="1"/>
          <p:nvPr/>
        </p:nvSpPr>
        <p:spPr>
          <a:xfrm>
            <a:off x="13079186"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2000</a:t>
            </a:r>
          </a:p>
        </p:txBody>
      </p:sp>
      <p:sp>
        <p:nvSpPr>
          <p:cNvPr id="45" name="Rounded Rectangle 44"/>
          <p:cNvSpPr/>
          <p:nvPr/>
        </p:nvSpPr>
        <p:spPr>
          <a:xfrm>
            <a:off x="15245443" y="4857750"/>
            <a:ext cx="2166257"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15283543" y="4953000"/>
            <a:ext cx="66675" cy="85725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5474043" y="4972050"/>
            <a:ext cx="1823357" cy="244316"/>
          </a:xfrm>
          <a:prstGeom prst="rect">
            <a:avLst/>
          </a:prstGeom>
          <a:noFill/>
        </p:spPr>
        <p:txBody>
          <a:bodyPr wrap="square" lIns="0" rIns="0" tIns="0" bIns="0" anchor="t">
            <a:spAutoFit/>
          </a:bodyPr>
          <a:lstStyle/>
          <a:p>
            <a:pPr algn="l"/>
            <a:r>
              <a:rPr sz="1425" b="1" i="0">
                <a:solidFill>
                  <a:srgbClr val="2DD4BF"/>
                </a:solidFill>
                <a:latin typeface="Geist"/>
                <a:ea typeface="Geist"/>
                <a:cs typeface="Geist"/>
              </a:rPr>
              <a:t>▶  </a:t>
            </a:r>
            <a:r>
              <a:rPr sz="1425" b="1" i="0">
                <a:solidFill>
                  <a:srgbClr val="F0E8E8"/>
                </a:solidFill>
                <a:latin typeface="Geist"/>
                <a:ea typeface="Geist"/>
                <a:cs typeface="Geist"/>
              </a:rPr>
              <a:t>SetWantedState</a:t>
            </a:r>
          </a:p>
        </p:txBody>
      </p:sp>
      <p:sp>
        <p:nvSpPr>
          <p:cNvPr id="48" name="TextBox 47"/>
          <p:cNvSpPr txBox="1"/>
          <p:nvPr/>
        </p:nvSpPr>
        <p:spPr>
          <a:xfrm>
            <a:off x="15474043" y="5235416"/>
            <a:ext cx="1823357"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AUTO</a:t>
            </a:r>
          </a:p>
        </p:txBody>
      </p:sp>
      <p:sp>
        <p:nvSpPr>
          <p:cNvPr id="49" name="Rounded Rectangle 48"/>
          <p:cNvSpPr/>
          <p:nvPr/>
        </p:nvSpPr>
        <p:spPr>
          <a:xfrm>
            <a:off x="7620000" y="2857500"/>
            <a:ext cx="3048000" cy="1047750"/>
          </a:xfrm>
          <a:prstGeom prst="roundRect">
            <a:avLst>
              <a:gd name="adj" fmla="val 109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7658100" y="2952750"/>
            <a:ext cx="66675" cy="85725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848600" y="2971800"/>
            <a:ext cx="2705100" cy="244316"/>
          </a:xfrm>
          <a:prstGeom prst="rect">
            <a:avLst/>
          </a:prstGeom>
          <a:noFill/>
        </p:spPr>
        <p:txBody>
          <a:bodyPr wrap="square" lIns="0" rIns="0" tIns="0" bIns="0" anchor="t">
            <a:spAutoFit/>
          </a:bodyPr>
          <a:lstStyle/>
          <a:p>
            <a:pPr algn="l"/>
            <a:r>
              <a:rPr sz="1425" b="1" i="0">
                <a:solidFill>
                  <a:srgbClr val="7C93C3"/>
                </a:solidFill>
                <a:latin typeface="Geist"/>
                <a:ea typeface="Geist"/>
                <a:cs typeface="Geist"/>
              </a:rPr>
              <a:t>→  </a:t>
            </a:r>
            <a:r>
              <a:rPr sz="1425" b="1" i="0">
                <a:solidFill>
                  <a:srgbClr val="F0E8E8"/>
                </a:solidFill>
                <a:latin typeface="Geist"/>
                <a:ea typeface="Geist"/>
                <a:cs typeface="Geist"/>
              </a:rPr>
              <a:t>Sequence</a:t>
            </a:r>
          </a:p>
        </p:txBody>
      </p:sp>
      <p:sp>
        <p:nvSpPr>
          <p:cNvPr id="52" name="TextBox 51"/>
          <p:cNvSpPr txBox="1"/>
          <p:nvPr/>
        </p:nvSpPr>
        <p:spPr>
          <a:xfrm>
            <a:off x="7848600" y="3235166"/>
            <a:ext cx="2705100" cy="217170"/>
          </a:xfrm>
          <a:prstGeom prst="rect">
            <a:avLst/>
          </a:prstGeom>
          <a:noFill/>
        </p:spPr>
        <p:txBody>
          <a:bodyPr wrap="square" lIns="0" rIns="0" tIns="0" bIns="0" anchor="t">
            <a:spAutoFit/>
          </a:bodyPr>
          <a:lstStyle/>
          <a:p>
            <a:pPr algn="l"/>
            <a:r>
              <a:rPr sz="1111" b="0" i="0">
                <a:solidFill>
                  <a:srgbClr val="E8C27A"/>
                </a:solidFill>
                <a:latin typeface="Geist Mono"/>
                <a:ea typeface="Geist Mono"/>
                <a:cs typeface="Geist Mono"/>
              </a:rPr>
              <a:t>PickupAndScore</a:t>
            </a:r>
          </a:p>
        </p:txBody>
      </p:sp>
      <p:sp>
        <p:nvSpPr>
          <p:cNvPr id="53" name="Oval 52"/>
          <p:cNvSpPr/>
          <p:nvPr/>
        </p:nvSpPr>
        <p:spPr>
          <a:xfrm>
            <a:off x="914400" y="838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4400" y="838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5" name="TextBox 54"/>
          <p:cNvSpPr txBox="1"/>
          <p:nvPr/>
        </p:nvSpPr>
        <p:spPr>
          <a:xfrm>
            <a:off x="1524000" y="8343900"/>
            <a:ext cx="4953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Drive, wait, drive</a:t>
            </a:r>
          </a:p>
        </p:txBody>
      </p:sp>
      <p:sp>
        <p:nvSpPr>
          <p:cNvPr id="56" name="Oval 55"/>
          <p:cNvSpPr/>
          <p:nvPr/>
        </p:nvSpPr>
        <p:spPr>
          <a:xfrm>
            <a:off x="7524750" y="838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24750" y="838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8" name="TextBox 57"/>
          <p:cNvSpPr txBox="1"/>
          <p:nvPr/>
        </p:nvSpPr>
        <p:spPr>
          <a:xfrm>
            <a:off x="8134350" y="8343900"/>
            <a:ext cx="4953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Aim, with a 3 s limit</a:t>
            </a:r>
          </a:p>
        </p:txBody>
      </p:sp>
      <p:sp>
        <p:nvSpPr>
          <p:cNvPr id="59" name="Oval 58"/>
          <p:cNvSpPr/>
          <p:nvPr/>
        </p:nvSpPr>
        <p:spPr>
          <a:xfrm>
            <a:off x="11906250" y="8382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906250" y="838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1" name="TextBox 60"/>
          <p:cNvSpPr txBox="1"/>
          <p:nvPr/>
        </p:nvSpPr>
        <p:spPr>
          <a:xfrm>
            <a:off x="12515850" y="8343900"/>
            <a:ext cx="4953000" cy="4762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Shoot for 2 s, then hand back</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Arbor writes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deploy/autos/trees/PickupAndScore.xml</a:t>
            </a:r>
          </a:p>
        </p:txBody>
      </p:sp>
      <p:sp>
        <p:nvSpPr>
          <p:cNvPr id="6" name="Rounded Rectangle 5"/>
          <p:cNvSpPr/>
          <p:nvPr/>
        </p:nvSpPr>
        <p:spPr>
          <a:xfrm>
            <a:off x="914400" y="3238500"/>
            <a:ext cx="11239500" cy="4659630"/>
          </a:xfrm>
          <a:prstGeom prst="roundRect">
            <a:avLst>
              <a:gd name="adj" fmla="val 327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568315"/>
            <a:ext cx="1120140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568315"/>
            <a:ext cx="57150" cy="32480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893118"/>
            <a:ext cx="1120140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893118"/>
            <a:ext cx="57150" cy="32480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217920"/>
            <a:ext cx="11201400" cy="32480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217920"/>
            <a:ext cx="57150" cy="32480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619500"/>
            <a:ext cx="10706100" cy="324802"/>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&lt;root</a:t>
            </a:r>
            <a:r>
              <a:rPr sz="1650" b="0" i="0">
                <a:solidFill>
                  <a:srgbClr val="F0E8E8"/>
                </a:solidFill>
                <a:latin typeface="Geist Mono"/>
                <a:ea typeface="Geist Mono"/>
                <a:cs typeface="Geist Mono"/>
              </a:rPr>
              <a:t> BTCPP_format=</a:t>
            </a:r>
            <a:r>
              <a:rPr sz="1650" b="0" i="0">
                <a:solidFill>
                  <a:srgbClr val="9FD29A"/>
                </a:solidFill>
                <a:latin typeface="Geist Mono"/>
                <a:ea typeface="Geist Mono"/>
                <a:cs typeface="Geist Mono"/>
              </a:rPr>
              <a:t>"4"</a:t>
            </a:r>
            <a:r>
              <a:rPr sz="1650" b="0" i="0">
                <a:solidFill>
                  <a:srgbClr val="F0E8E8"/>
                </a:solidFill>
                <a:latin typeface="Geist Mono"/>
                <a:ea typeface="Geist Mono"/>
                <a:cs typeface="Geist Mono"/>
              </a:rPr>
              <a:t> main_tree_to_execute=</a:t>
            </a:r>
            <a:r>
              <a:rPr sz="1650" b="0" i="0">
                <a:solidFill>
                  <a:srgbClr val="9FD29A"/>
                </a:solidFill>
                <a:latin typeface="Geist Mono"/>
                <a:ea typeface="Geist Mono"/>
                <a:cs typeface="Geist Mono"/>
              </a:rPr>
              <a:t>"PickupAndScore"</a:t>
            </a:r>
            <a:r>
              <a:rPr sz="1650" b="0" i="0">
                <a:solidFill>
                  <a:srgbClr val="E0785F"/>
                </a:solidFill>
                <a:latin typeface="Geist Mono"/>
                <a:ea typeface="Geist Mono"/>
                <a:cs typeface="Geist Mono"/>
              </a:rPr>
              <a:t>&gt;</a:t>
            </a:r>
          </a:p>
        </p:txBody>
      </p:sp>
      <p:sp>
        <p:nvSpPr>
          <p:cNvPr id="14" name="TextBox 13"/>
          <p:cNvSpPr txBox="1"/>
          <p:nvPr/>
        </p:nvSpPr>
        <p:spPr>
          <a:xfrm>
            <a:off x="1295400" y="3944302"/>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&lt;BehaviorTree</a:t>
            </a:r>
            <a:r>
              <a:rPr sz="1650" b="0" i="0">
                <a:solidFill>
                  <a:srgbClr val="F0E8E8"/>
                </a:solidFill>
                <a:latin typeface="Geist Mono"/>
                <a:ea typeface="Geist Mono"/>
                <a:cs typeface="Geist Mono"/>
              </a:rPr>
              <a:t> ID=</a:t>
            </a:r>
            <a:r>
              <a:rPr sz="1650" b="0" i="0">
                <a:solidFill>
                  <a:srgbClr val="9FD29A"/>
                </a:solidFill>
                <a:latin typeface="Geist Mono"/>
                <a:ea typeface="Geist Mono"/>
                <a:cs typeface="Geist Mono"/>
              </a:rPr>
              <a:t>"PickupAndScore"</a:t>
            </a:r>
            <a:r>
              <a:rPr sz="1650" b="0" i="0">
                <a:solidFill>
                  <a:srgbClr val="E0785F"/>
                </a:solidFill>
                <a:latin typeface="Geist Mono"/>
                <a:ea typeface="Geist Mono"/>
                <a:cs typeface="Geist Mono"/>
              </a:rPr>
              <a:t>&gt;</a:t>
            </a:r>
          </a:p>
        </p:txBody>
      </p:sp>
      <p:sp>
        <p:nvSpPr>
          <p:cNvPr id="15" name="TextBox 14"/>
          <p:cNvSpPr txBox="1"/>
          <p:nvPr/>
        </p:nvSpPr>
        <p:spPr>
          <a:xfrm>
            <a:off x="1295400" y="4269105"/>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&lt;Sequence&gt;</a:t>
            </a:r>
          </a:p>
        </p:txBody>
      </p:sp>
      <p:sp>
        <p:nvSpPr>
          <p:cNvPr id="16" name="TextBox 15"/>
          <p:cNvSpPr txBox="1"/>
          <p:nvPr/>
        </p:nvSpPr>
        <p:spPr>
          <a:xfrm>
            <a:off x="1295400" y="4593908"/>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&lt;FollowPath</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"ToPickup"</a:t>
            </a:r>
            <a:r>
              <a:rPr sz="1650" b="0" i="0">
                <a:solidFill>
                  <a:srgbClr val="E0785F"/>
                </a:solidFill>
                <a:latin typeface="Geist Mono"/>
                <a:ea typeface="Geist Mono"/>
                <a:cs typeface="Geist Mono"/>
              </a:rPr>
              <a:t>/&gt;</a:t>
            </a:r>
          </a:p>
        </p:txBody>
      </p:sp>
      <p:sp>
        <p:nvSpPr>
          <p:cNvPr id="17" name="TextBox 16"/>
          <p:cNvSpPr txBox="1"/>
          <p:nvPr/>
        </p:nvSpPr>
        <p:spPr>
          <a:xfrm>
            <a:off x="1295400" y="4918710"/>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&lt;Sleep</a:t>
            </a:r>
            <a:r>
              <a:rPr sz="1650" b="0" i="0">
                <a:solidFill>
                  <a:srgbClr val="F0E8E8"/>
                </a:solidFill>
                <a:latin typeface="Geist Mono"/>
                <a:ea typeface="Geist Mono"/>
                <a:cs typeface="Geist Mono"/>
              </a:rPr>
              <a:t> msec=</a:t>
            </a:r>
            <a:r>
              <a:rPr sz="1650" b="0" i="0">
                <a:solidFill>
                  <a:srgbClr val="9FD29A"/>
                </a:solidFill>
                <a:latin typeface="Geist Mono"/>
                <a:ea typeface="Geist Mono"/>
                <a:cs typeface="Geist Mono"/>
              </a:rPr>
              <a:t>"500"</a:t>
            </a:r>
            <a:r>
              <a:rPr sz="1650" b="0" i="0">
                <a:solidFill>
                  <a:srgbClr val="E0785F"/>
                </a:solidFill>
                <a:latin typeface="Geist Mono"/>
                <a:ea typeface="Geist Mono"/>
                <a:cs typeface="Geist Mono"/>
              </a:rPr>
              <a:t>/&gt;</a:t>
            </a:r>
          </a:p>
        </p:txBody>
      </p:sp>
      <p:sp>
        <p:nvSpPr>
          <p:cNvPr id="18" name="TextBox 17"/>
          <p:cNvSpPr txBox="1"/>
          <p:nvPr/>
        </p:nvSpPr>
        <p:spPr>
          <a:xfrm>
            <a:off x="1295400" y="5243512"/>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&lt;FollowPath</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"ToScore"</a:t>
            </a:r>
            <a:r>
              <a:rPr sz="1650" b="0" i="0">
                <a:solidFill>
                  <a:srgbClr val="E0785F"/>
                </a:solidFill>
                <a:latin typeface="Geist Mono"/>
                <a:ea typeface="Geist Mono"/>
                <a:cs typeface="Geist Mono"/>
              </a:rPr>
              <a:t>/&gt;</a:t>
            </a:r>
          </a:p>
        </p:txBody>
      </p:sp>
      <p:sp>
        <p:nvSpPr>
          <p:cNvPr id="19" name="TextBox 18"/>
          <p:cNvSpPr txBox="1"/>
          <p:nvPr/>
        </p:nvSpPr>
        <p:spPr>
          <a:xfrm>
            <a:off x="1295400" y="5568315"/>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&lt;Timeout</a:t>
            </a:r>
            <a:r>
              <a:rPr sz="1650" b="0" i="0">
                <a:solidFill>
                  <a:srgbClr val="F0E8E8"/>
                </a:solidFill>
                <a:latin typeface="Geist Mono"/>
                <a:ea typeface="Geist Mono"/>
                <a:cs typeface="Geist Mono"/>
              </a:rPr>
              <a:t> msec=</a:t>
            </a:r>
            <a:r>
              <a:rPr sz="1650" b="0" i="0">
                <a:solidFill>
                  <a:srgbClr val="9FD29A"/>
                </a:solidFill>
                <a:latin typeface="Geist Mono"/>
                <a:ea typeface="Geist Mono"/>
                <a:cs typeface="Geist Mono"/>
              </a:rPr>
              <a:t>"3000"</a:t>
            </a:r>
            <a:r>
              <a:rPr sz="1650" b="0" i="0">
                <a:solidFill>
                  <a:srgbClr val="E0785F"/>
                </a:solidFill>
                <a:latin typeface="Geist Mono"/>
                <a:ea typeface="Geist Mono"/>
                <a:cs typeface="Geist Mono"/>
              </a:rPr>
              <a:t>&gt;</a:t>
            </a:r>
          </a:p>
        </p:txBody>
      </p:sp>
      <p:sp>
        <p:nvSpPr>
          <p:cNvPr id="20" name="TextBox 19"/>
          <p:cNvSpPr txBox="1"/>
          <p:nvPr/>
        </p:nvSpPr>
        <p:spPr>
          <a:xfrm>
            <a:off x="1295400" y="5893118"/>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&lt;SetWantedState</a:t>
            </a:r>
            <a:r>
              <a:rPr sz="1650" b="0" i="0">
                <a:solidFill>
                  <a:srgbClr val="F0E8E8"/>
                </a:solidFill>
                <a:latin typeface="Geist Mono"/>
                <a:ea typeface="Geist Mono"/>
                <a:cs typeface="Geist Mono"/>
              </a:rPr>
              <a:t> state=</a:t>
            </a:r>
            <a:r>
              <a:rPr sz="1650" b="0" i="0">
                <a:solidFill>
                  <a:srgbClr val="9FD29A"/>
                </a:solidFill>
                <a:latin typeface="Geist Mono"/>
                <a:ea typeface="Geist Mono"/>
                <a:cs typeface="Geist Mono"/>
              </a:rPr>
              <a:t>"AIM"</a:t>
            </a:r>
            <a:r>
              <a:rPr sz="1650" b="0" i="0">
                <a:solidFill>
                  <a:srgbClr val="E0785F"/>
                </a:solidFill>
                <a:latin typeface="Geist Mono"/>
                <a:ea typeface="Geist Mono"/>
                <a:cs typeface="Geist Mono"/>
              </a:rPr>
              <a:t>/&gt;</a:t>
            </a:r>
          </a:p>
        </p:txBody>
      </p:sp>
      <p:sp>
        <p:nvSpPr>
          <p:cNvPr id="21" name="TextBox 20"/>
          <p:cNvSpPr txBox="1"/>
          <p:nvPr/>
        </p:nvSpPr>
        <p:spPr>
          <a:xfrm>
            <a:off x="1295400" y="6217920"/>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&lt;/Timeout&gt;</a:t>
            </a:r>
          </a:p>
        </p:txBody>
      </p:sp>
      <p:sp>
        <p:nvSpPr>
          <p:cNvPr id="22" name="TextBox 21"/>
          <p:cNvSpPr txBox="1"/>
          <p:nvPr/>
        </p:nvSpPr>
        <p:spPr>
          <a:xfrm>
            <a:off x="1295400" y="6542723"/>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&lt;SetWantedState</a:t>
            </a:r>
            <a:r>
              <a:rPr sz="1650" b="0" i="0">
                <a:solidFill>
                  <a:srgbClr val="F0E8E8"/>
                </a:solidFill>
                <a:latin typeface="Geist Mono"/>
                <a:ea typeface="Geist Mono"/>
                <a:cs typeface="Geist Mono"/>
              </a:rPr>
              <a:t> state=</a:t>
            </a:r>
            <a:r>
              <a:rPr sz="1650" b="0" i="0">
                <a:solidFill>
                  <a:srgbClr val="9FD29A"/>
                </a:solidFill>
                <a:latin typeface="Geist Mono"/>
                <a:ea typeface="Geist Mono"/>
                <a:cs typeface="Geist Mono"/>
              </a:rPr>
              <a:t>"SHOOT"</a:t>
            </a:r>
            <a:r>
              <a:rPr sz="1650" b="0" i="0">
                <a:solidFill>
                  <a:srgbClr val="E0785F"/>
                </a:solidFill>
                <a:latin typeface="Geist Mono"/>
                <a:ea typeface="Geist Mono"/>
                <a:cs typeface="Geist Mono"/>
              </a:rPr>
              <a:t>/&gt;</a:t>
            </a:r>
          </a:p>
        </p:txBody>
      </p:sp>
      <p:sp>
        <p:nvSpPr>
          <p:cNvPr id="23" name="TextBox 22"/>
          <p:cNvSpPr txBox="1"/>
          <p:nvPr/>
        </p:nvSpPr>
        <p:spPr>
          <a:xfrm>
            <a:off x="1295400" y="6867525"/>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&lt;Sleep</a:t>
            </a:r>
            <a:r>
              <a:rPr sz="1650" b="0" i="0">
                <a:solidFill>
                  <a:srgbClr val="F0E8E8"/>
                </a:solidFill>
                <a:latin typeface="Geist Mono"/>
                <a:ea typeface="Geist Mono"/>
                <a:cs typeface="Geist Mono"/>
              </a:rPr>
              <a:t> msec=</a:t>
            </a:r>
            <a:r>
              <a:rPr sz="1650" b="0" i="0">
                <a:solidFill>
                  <a:srgbClr val="9FD29A"/>
                </a:solidFill>
                <a:latin typeface="Geist Mono"/>
                <a:ea typeface="Geist Mono"/>
                <a:cs typeface="Geist Mono"/>
              </a:rPr>
              <a:t>"2000"</a:t>
            </a:r>
            <a:r>
              <a:rPr sz="1650" b="0" i="0">
                <a:solidFill>
                  <a:srgbClr val="E0785F"/>
                </a:solidFill>
                <a:latin typeface="Geist Mono"/>
                <a:ea typeface="Geist Mono"/>
                <a:cs typeface="Geist Mono"/>
              </a:rPr>
              <a:t>/&gt;</a:t>
            </a:r>
          </a:p>
        </p:txBody>
      </p:sp>
      <p:sp>
        <p:nvSpPr>
          <p:cNvPr id="24" name="TextBox 23"/>
          <p:cNvSpPr txBox="1"/>
          <p:nvPr/>
        </p:nvSpPr>
        <p:spPr>
          <a:xfrm>
            <a:off x="1295400" y="7192328"/>
            <a:ext cx="107061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&lt;SetWantedState</a:t>
            </a:r>
            <a:r>
              <a:rPr sz="1650" b="0" i="0">
                <a:solidFill>
                  <a:srgbClr val="F0E8E8"/>
                </a:solidFill>
                <a:latin typeface="Geist Mono"/>
                <a:ea typeface="Geist Mono"/>
                <a:cs typeface="Geist Mono"/>
              </a:rPr>
              <a:t> state=</a:t>
            </a:r>
            <a:r>
              <a:rPr sz="1650" b="0" i="0">
                <a:solidFill>
                  <a:srgbClr val="9FD29A"/>
                </a:solidFill>
                <a:latin typeface="Geist Mono"/>
                <a:ea typeface="Geist Mono"/>
                <a:cs typeface="Geist Mono"/>
              </a:rPr>
              <a:t>"AUTO"</a:t>
            </a:r>
            <a:r>
              <a:rPr sz="1650" b="0" i="0">
                <a:solidFill>
                  <a:srgbClr val="E0785F"/>
                </a:solidFill>
                <a:latin typeface="Geist Mono"/>
                <a:ea typeface="Geist Mono"/>
                <a:cs typeface="Geist Mono"/>
              </a:rPr>
              <a:t>/&gt;</a:t>
            </a:r>
          </a:p>
        </p:txBody>
      </p:sp>
      <p:sp>
        <p:nvSpPr>
          <p:cNvPr id="25" name="Oval 24"/>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Names match</a:t>
            </a:r>
          </a:p>
        </p:txBody>
      </p:sp>
      <p:sp>
        <p:nvSpPr>
          <p:cNvPr id="28" name="TextBox 27"/>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File, main_tree_to_execute and ID</a:t>
            </a:r>
          </a:p>
        </p:txBody>
      </p:sp>
      <p:sp>
        <p:nvSpPr>
          <p:cNvPr id="29" name="Oval 28"/>
          <p:cNvSpPr/>
          <p:nvPr/>
        </p:nvSpPr>
        <p:spPr>
          <a:xfrm>
            <a:off x="12668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Nesting is the tree</a:t>
            </a:r>
          </a:p>
        </p:txBody>
      </p:sp>
      <p:sp>
        <p:nvSpPr>
          <p:cNvPr id="32" name="TextBox 31"/>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Timeout holds AIM</a:t>
            </a:r>
          </a:p>
        </p:txBody>
      </p:sp>
      <p:sp>
        <p:nvSpPr>
          <p:cNvPr id="33" name="Oval 32"/>
          <p:cNvSpPr/>
          <p:nvPr/>
        </p:nvSpPr>
        <p:spPr>
          <a:xfrm>
            <a:off x="1266825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 Java</a:t>
            </a:r>
          </a:p>
        </p:txBody>
      </p:sp>
      <p:sp>
        <p:nvSpPr>
          <p:cNvPr id="36" name="TextBox 35"/>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robot reads it when you pick the auto</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Finish the aim step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  ·  handleStateTransition (sketch)</a:t>
            </a:r>
          </a:p>
        </p:txBody>
      </p:sp>
      <p:sp>
        <p:nvSpPr>
          <p:cNvPr id="6" name="Rounded Rectangle 5"/>
          <p:cNvSpPr/>
          <p:nvPr/>
        </p:nvSpPr>
        <p:spPr>
          <a:xfrm>
            <a:off x="914400" y="3238500"/>
            <a:ext cx="10477500" cy="3709035"/>
          </a:xfrm>
          <a:prstGeom prst="roundRect">
            <a:avLst>
              <a:gd name="adj" fmla="val 410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40505"/>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40505"/>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46151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46151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82515"/>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82515"/>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30352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30352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61950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case AIM:</a:t>
            </a:r>
          </a:p>
        </p:txBody>
      </p:sp>
      <p:sp>
        <p:nvSpPr>
          <p:cNvPr id="16" name="TextBox 15"/>
          <p:cNvSpPr txBox="1"/>
          <p:nvPr/>
        </p:nvSpPr>
        <p:spPr>
          <a:xfrm>
            <a:off x="1295400" y="404050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if</a:t>
            </a:r>
            <a:r>
              <a:rPr sz="1950" b="0" i="0">
                <a:solidFill>
                  <a:srgbClr val="F0E8E8"/>
                </a:solidFill>
                <a:latin typeface="Geist Mono"/>
                <a:ea typeface="Geist Mono"/>
                <a:cs typeface="Geist Mono"/>
              </a:rPr>
              <a:t> (drive_.isAimed()) {</a:t>
            </a:r>
          </a:p>
        </p:txBody>
      </p:sp>
      <p:sp>
        <p:nvSpPr>
          <p:cNvPr id="17" name="TextBox 16"/>
          <p:cNvSpPr txBox="1"/>
          <p:nvPr/>
        </p:nvSpPr>
        <p:spPr>
          <a:xfrm>
            <a:off x="1295400" y="446151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system_state_ = RobotStates.AIM;     </a:t>
            </a:r>
            <a:r>
              <a:rPr sz="1950" b="0" i="1">
                <a:solidFill>
                  <a:srgbClr val="9A7878"/>
                </a:solidFill>
                <a:latin typeface="Geist Mono"/>
                <a:ea typeface="Geist Mono"/>
                <a:cs typeface="Geist Mono"/>
              </a:rPr>
              <a:t>// aimed: done</a:t>
            </a:r>
          </a:p>
        </p:txBody>
      </p:sp>
      <p:sp>
        <p:nvSpPr>
          <p:cNvPr id="18" name="TextBox 17"/>
          <p:cNvSpPr txBox="1"/>
          <p:nvPr/>
        </p:nvSpPr>
        <p:spPr>
          <a:xfrm>
            <a:off x="1295400" y="488251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a:r>
            <a:r>
              <a:rPr sz="1950" b="0" i="0">
                <a:solidFill>
                  <a:srgbClr val="E0785F"/>
                </a:solidFill>
                <a:latin typeface="Geist Mono"/>
                <a:ea typeface="Geist Mono"/>
                <a:cs typeface="Geist Mono"/>
              </a:rPr>
              <a:t>else</a:t>
            </a:r>
            <a:r>
              <a:rPr sz="1950" b="0" i="0">
                <a:solidFill>
                  <a:srgbClr val="F0E8E8"/>
                </a:solidFill>
                <a:latin typeface="Geist Mono"/>
                <a:ea typeface="Geist Mono"/>
                <a:cs typeface="Geist Mono"/>
              </a:rPr>
              <a:t> {</a:t>
            </a:r>
          </a:p>
        </p:txBody>
      </p:sp>
      <p:sp>
        <p:nvSpPr>
          <p:cNvPr id="19" name="TextBox 18"/>
          <p:cNvSpPr txBox="1"/>
          <p:nvPr/>
        </p:nvSpPr>
        <p:spPr>
          <a:xfrm>
            <a:off x="1295400" y="530352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system_state_ = RobotStates.AIMING;  </a:t>
            </a:r>
            <a:r>
              <a:rPr sz="1950" b="0" i="1">
                <a:solidFill>
                  <a:srgbClr val="9A7878"/>
                </a:solidFill>
                <a:latin typeface="Geist Mono"/>
                <a:ea typeface="Geist Mono"/>
                <a:cs typeface="Geist Mono"/>
              </a:rPr>
              <a:t>// still turning</a:t>
            </a:r>
          </a:p>
        </p:txBody>
      </p:sp>
      <p:sp>
        <p:nvSpPr>
          <p:cNvPr id="20" name="TextBox 19"/>
          <p:cNvSpPr txBox="1"/>
          <p:nvPr/>
        </p:nvSpPr>
        <p:spPr>
          <a:xfrm>
            <a:off x="1295400" y="572452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1" name="TextBox 20"/>
          <p:cNvSpPr txBox="1"/>
          <p:nvPr/>
        </p:nvSpPr>
        <p:spPr>
          <a:xfrm>
            <a:off x="1295400" y="614553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break;</a:t>
            </a:r>
          </a:p>
        </p:txBody>
      </p:sp>
      <p:sp>
        <p:nvSpPr>
          <p:cNvPr id="22" name="Oval 21"/>
          <p:cNvSpPr/>
          <p:nvPr/>
        </p:nvSpPr>
        <p:spPr>
          <a:xfrm>
            <a:off x="10782300" y="406050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2300" y="406050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782300" y="532352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2300" y="532352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pic>
        <p:nvPicPr>
          <p:cNvPr id="26" name="Picture 25" descr="code-slash.png"/>
          <p:cNvPicPr>
            <a:picLocks noChangeAspect="1"/>
          </p:cNvPicPr>
          <p:nvPr/>
        </p:nvPicPr>
        <p:blipFill>
          <a:blip r:embed="rId3"/>
          <a:stretch>
            <a:fillRect/>
          </a:stretch>
        </p:blipFill>
        <p:spPr>
          <a:xfrm>
            <a:off x="914400" y="7848600"/>
            <a:ext cx="224518" cy="209550"/>
          </a:xfrm>
          <a:prstGeom prst="rect">
            <a:avLst/>
          </a:prstGeom>
        </p:spPr>
      </p:pic>
      <p:sp>
        <p:nvSpPr>
          <p:cNvPr id="27" name="TextBox 26"/>
          <p:cNvSpPr txBox="1"/>
          <p:nvPr/>
        </p:nvSpPr>
        <p:spPr>
          <a:xfrm>
            <a:off x="1295400" y="7810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28" name="Rounded Rectangle 27"/>
          <p:cNvSpPr/>
          <p:nvPr/>
        </p:nvSpPr>
        <p:spPr>
          <a:xfrm>
            <a:off x="11906250" y="2857500"/>
            <a:ext cx="5467350" cy="5905500"/>
          </a:xfrm>
          <a:prstGeom prst="roundRect">
            <a:avLst>
              <a:gd name="adj" fmla="val 278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8725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THE TREE SEES</a:t>
            </a:r>
          </a:p>
        </p:txBody>
      </p:sp>
      <p:sp>
        <p:nvSpPr>
          <p:cNvPr id="30" name="TextBox 29"/>
          <p:cNvSpPr txBox="1"/>
          <p:nvPr/>
        </p:nvSpPr>
        <p:spPr>
          <a:xfrm>
            <a:off x="12287250" y="381000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1</a:t>
            </a:r>
          </a:p>
        </p:txBody>
      </p:sp>
      <p:sp>
        <p:nvSpPr>
          <p:cNvPr id="31" name="TextBox 30"/>
          <p:cNvSpPr txBox="1"/>
          <p:nvPr/>
        </p:nvSpPr>
        <p:spPr>
          <a:xfrm>
            <a:off x="13525500" y="381000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AIMING</a:t>
            </a:r>
          </a:p>
        </p:txBody>
      </p:sp>
      <p:sp>
        <p:nvSpPr>
          <p:cNvPr id="32" name="Rounded Rectangle 31"/>
          <p:cNvSpPr/>
          <p:nvPr/>
        </p:nvSpPr>
        <p:spPr>
          <a:xfrm>
            <a:off x="15430500" y="4038600"/>
            <a:ext cx="1619250" cy="4191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430500" y="4038600"/>
            <a:ext cx="1619250" cy="419100"/>
          </a:xfrm>
          <a:prstGeom prst="rect">
            <a:avLst/>
          </a:prstGeom>
          <a:noFill/>
        </p:spPr>
        <p:txBody>
          <a:bodyPr wrap="square" lIns="0" rIns="0" tIns="0" bIns="0" anchor="ctr">
            <a:spAutoFit/>
          </a:bodyPr>
          <a:lstStyle/>
          <a:p>
            <a:pPr algn="ctr"/>
            <a:r>
              <a:rPr sz="1275" b="1" i="0">
                <a:solidFill>
                  <a:srgbClr val="111111"/>
                </a:solidFill>
                <a:latin typeface="Geist"/>
                <a:ea typeface="Geist"/>
                <a:cs typeface="Geist"/>
              </a:rPr>
              <a:t>RUNNING</a:t>
            </a:r>
          </a:p>
        </p:txBody>
      </p:sp>
      <p:sp>
        <p:nvSpPr>
          <p:cNvPr id="34" name="TextBox 33"/>
          <p:cNvSpPr txBox="1"/>
          <p:nvPr/>
        </p:nvSpPr>
        <p:spPr>
          <a:xfrm>
            <a:off x="12287250" y="504825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2</a:t>
            </a:r>
          </a:p>
        </p:txBody>
      </p:sp>
      <p:sp>
        <p:nvSpPr>
          <p:cNvPr id="35" name="TextBox 34"/>
          <p:cNvSpPr txBox="1"/>
          <p:nvPr/>
        </p:nvSpPr>
        <p:spPr>
          <a:xfrm>
            <a:off x="13525500" y="504825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AIMING</a:t>
            </a:r>
          </a:p>
        </p:txBody>
      </p:sp>
      <p:sp>
        <p:nvSpPr>
          <p:cNvPr id="36" name="Rounded Rectangle 35"/>
          <p:cNvSpPr/>
          <p:nvPr/>
        </p:nvSpPr>
        <p:spPr>
          <a:xfrm>
            <a:off x="15430500" y="5276850"/>
            <a:ext cx="1619250" cy="41910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5430500" y="5276850"/>
            <a:ext cx="1619250" cy="419100"/>
          </a:xfrm>
          <a:prstGeom prst="rect">
            <a:avLst/>
          </a:prstGeom>
          <a:noFill/>
        </p:spPr>
        <p:txBody>
          <a:bodyPr wrap="square" lIns="0" rIns="0" tIns="0" bIns="0" anchor="ctr">
            <a:spAutoFit/>
          </a:bodyPr>
          <a:lstStyle/>
          <a:p>
            <a:pPr algn="ctr"/>
            <a:r>
              <a:rPr sz="1275" b="1" i="0">
                <a:solidFill>
                  <a:srgbClr val="111111"/>
                </a:solidFill>
                <a:latin typeface="Geist"/>
                <a:ea typeface="Geist"/>
                <a:cs typeface="Geist"/>
              </a:rPr>
              <a:t>RUNNING</a:t>
            </a:r>
          </a:p>
        </p:txBody>
      </p:sp>
      <p:sp>
        <p:nvSpPr>
          <p:cNvPr id="38" name="TextBox 37"/>
          <p:cNvSpPr txBox="1"/>
          <p:nvPr/>
        </p:nvSpPr>
        <p:spPr>
          <a:xfrm>
            <a:off x="12287250" y="6286500"/>
            <a:ext cx="1905000" cy="85725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loop n</a:t>
            </a:r>
          </a:p>
        </p:txBody>
      </p:sp>
      <p:sp>
        <p:nvSpPr>
          <p:cNvPr id="39" name="TextBox 38"/>
          <p:cNvSpPr txBox="1"/>
          <p:nvPr/>
        </p:nvSpPr>
        <p:spPr>
          <a:xfrm>
            <a:off x="13525500" y="6286500"/>
            <a:ext cx="1905000" cy="857250"/>
          </a:xfrm>
          <a:prstGeom prst="rect">
            <a:avLst/>
          </a:prstGeom>
          <a:noFill/>
        </p:spPr>
        <p:txBody>
          <a:bodyPr wrap="square" lIns="0" rIns="0" tIns="0" bIns="0" anchor="ctr">
            <a:spAutoFit/>
          </a:bodyPr>
          <a:lstStyle/>
          <a:p>
            <a:pPr algn="l"/>
            <a:r>
              <a:rPr sz="1950" b="1" i="0">
                <a:solidFill>
                  <a:srgbClr val="E8C27A"/>
                </a:solidFill>
                <a:latin typeface="Geist Mono"/>
                <a:ea typeface="Geist Mono"/>
                <a:cs typeface="Geist Mono"/>
              </a:rPr>
              <a:t>AIM</a:t>
            </a:r>
          </a:p>
        </p:txBody>
      </p:sp>
      <p:sp>
        <p:nvSpPr>
          <p:cNvPr id="40" name="Rounded Rectangle 39"/>
          <p:cNvSpPr/>
          <p:nvPr/>
        </p:nvSpPr>
        <p:spPr>
          <a:xfrm>
            <a:off x="15430500" y="6515100"/>
            <a:ext cx="1619250" cy="41910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430500" y="6515100"/>
            <a:ext cx="1619250" cy="419100"/>
          </a:xfrm>
          <a:prstGeom prst="rect">
            <a:avLst/>
          </a:prstGeom>
          <a:noFill/>
        </p:spPr>
        <p:txBody>
          <a:bodyPr wrap="square" lIns="0" rIns="0" tIns="0" bIns="0" anchor="ctr">
            <a:spAutoFit/>
          </a:bodyPr>
          <a:lstStyle/>
          <a:p>
            <a:pPr algn="ctr"/>
            <a:r>
              <a:rPr sz="1275" b="1" i="0">
                <a:solidFill>
                  <a:srgbClr val="FFFFFF"/>
                </a:solidFill>
                <a:latin typeface="Geist"/>
                <a:ea typeface="Geist"/>
                <a:cs typeface="Geist"/>
              </a:rPr>
              <a:t>SUCCESS</a:t>
            </a:r>
          </a:p>
        </p:txBody>
      </p:sp>
      <p:sp>
        <p:nvSpPr>
          <p:cNvPr id="42" name="TextBox 41"/>
          <p:cNvSpPr txBox="1"/>
          <p:nvPr/>
        </p:nvSpPr>
        <p:spPr>
          <a:xfrm>
            <a:off x="12287250" y="7524750"/>
            <a:ext cx="4762500" cy="1047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SetWantedState AIM now waits until the robot is really aimed.</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on a clock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44672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0957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7" name="Rectangle 6"/>
          <p:cNvSpPr/>
          <p:nvPr/>
        </p:nvSpPr>
        <p:spPr>
          <a:xfrm>
            <a:off x="52863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055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9246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532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1" name="Rectangle 10"/>
          <p:cNvSpPr/>
          <p:nvPr/>
        </p:nvSpPr>
        <p:spPr>
          <a:xfrm>
            <a:off x="77438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85629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821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106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15" name="Rectangle 14"/>
          <p:cNvSpPr/>
          <p:nvPr/>
        </p:nvSpPr>
        <p:spPr>
          <a:xfrm>
            <a:off x="102012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0204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8395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4681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9 s</a:t>
            </a:r>
          </a:p>
        </p:txBody>
      </p:sp>
      <p:sp>
        <p:nvSpPr>
          <p:cNvPr id="19" name="Rectangle 18"/>
          <p:cNvSpPr/>
          <p:nvPr/>
        </p:nvSpPr>
        <p:spPr>
          <a:xfrm>
            <a:off x="126587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34778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42970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392555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 s</a:t>
            </a:r>
          </a:p>
        </p:txBody>
      </p:sp>
      <p:sp>
        <p:nvSpPr>
          <p:cNvPr id="23" name="Rectangle 22"/>
          <p:cNvSpPr/>
          <p:nvPr/>
        </p:nvSpPr>
        <p:spPr>
          <a:xfrm>
            <a:off x="151161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593532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6754475" y="7515225"/>
            <a:ext cx="19050" cy="1143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6383000" y="76962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 s</a:t>
            </a:r>
          </a:p>
        </p:txBody>
      </p:sp>
      <p:sp>
        <p:nvSpPr>
          <p:cNvPr id="27" name="Rectangle 26"/>
          <p:cNvSpPr/>
          <p:nvPr/>
        </p:nvSpPr>
        <p:spPr>
          <a:xfrm>
            <a:off x="4467225" y="7515225"/>
            <a:ext cx="123063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4400" y="3048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048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485900" y="29527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ToPickup</a:t>
            </a:r>
          </a:p>
        </p:txBody>
      </p:sp>
      <p:sp>
        <p:nvSpPr>
          <p:cNvPr id="31" name="Rounded Rectangle 30"/>
          <p:cNvSpPr/>
          <p:nvPr/>
        </p:nvSpPr>
        <p:spPr>
          <a:xfrm>
            <a:off x="4476750" y="2952750"/>
            <a:ext cx="245745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6600" y="29527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33" name="Oval 32"/>
          <p:cNvSpPr/>
          <p:nvPr/>
        </p:nvSpPr>
        <p:spPr>
          <a:xfrm>
            <a:off x="914400" y="39433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943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485900" y="38481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Sleep</a:t>
            </a:r>
          </a:p>
        </p:txBody>
      </p:sp>
      <p:sp>
        <p:nvSpPr>
          <p:cNvPr id="36" name="Rounded Rectangle 35"/>
          <p:cNvSpPr/>
          <p:nvPr/>
        </p:nvSpPr>
        <p:spPr>
          <a:xfrm>
            <a:off x="6934200" y="3848100"/>
            <a:ext cx="409575" cy="571500"/>
          </a:xfrm>
          <a:prstGeom prst="roundRect">
            <a:avLst>
              <a:gd name="adj" fmla="val 23255"/>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924675" y="35147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496175" y="38481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0.5 s</a:t>
            </a:r>
          </a:p>
        </p:txBody>
      </p:sp>
      <p:sp>
        <p:nvSpPr>
          <p:cNvPr id="39" name="Oval 38"/>
          <p:cNvSpPr/>
          <p:nvPr/>
        </p:nvSpPr>
        <p:spPr>
          <a:xfrm>
            <a:off x="914400" y="4838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838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485900" y="47434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ToScore</a:t>
            </a:r>
          </a:p>
        </p:txBody>
      </p:sp>
      <p:sp>
        <p:nvSpPr>
          <p:cNvPr id="42" name="Rounded Rectangle 41"/>
          <p:cNvSpPr/>
          <p:nvPr/>
        </p:nvSpPr>
        <p:spPr>
          <a:xfrm>
            <a:off x="7343775" y="4743450"/>
            <a:ext cx="2047875"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334250" y="44100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544050" y="47434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arrived</a:t>
            </a:r>
          </a:p>
        </p:txBody>
      </p:sp>
      <p:sp>
        <p:nvSpPr>
          <p:cNvPr id="45" name="Oval 44"/>
          <p:cNvSpPr/>
          <p:nvPr/>
        </p:nvSpPr>
        <p:spPr>
          <a:xfrm>
            <a:off x="914400" y="57340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7340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485900" y="563880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AIM</a:t>
            </a:r>
          </a:p>
        </p:txBody>
      </p:sp>
      <p:sp>
        <p:nvSpPr>
          <p:cNvPr id="48" name="Rounded Rectangle 47"/>
          <p:cNvSpPr/>
          <p:nvPr/>
        </p:nvSpPr>
        <p:spPr>
          <a:xfrm>
            <a:off x="9391650" y="5638800"/>
            <a:ext cx="982980" cy="571500"/>
          </a:xfrm>
          <a:prstGeom prst="roundRect">
            <a:avLst>
              <a:gd name="adj" fmla="val 16666"/>
            </a:avLst>
          </a:prstGeom>
          <a:solidFill>
            <a:srgbClr val="2A1A1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382125" y="530542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0527030" y="563880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aimed (Timeout 3 s)</a:t>
            </a:r>
          </a:p>
        </p:txBody>
      </p:sp>
      <p:sp>
        <p:nvSpPr>
          <p:cNvPr id="51" name="Oval 50"/>
          <p:cNvSpPr/>
          <p:nvPr/>
        </p:nvSpPr>
        <p:spPr>
          <a:xfrm>
            <a:off x="914400" y="662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662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53" name="TextBox 52"/>
          <p:cNvSpPr txBox="1"/>
          <p:nvPr/>
        </p:nvSpPr>
        <p:spPr>
          <a:xfrm>
            <a:off x="1485900" y="6534150"/>
            <a:ext cx="3048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SHOOT</a:t>
            </a:r>
          </a:p>
        </p:txBody>
      </p:sp>
      <p:sp>
        <p:nvSpPr>
          <p:cNvPr id="54" name="Rounded Rectangle 53"/>
          <p:cNvSpPr/>
          <p:nvPr/>
        </p:nvSpPr>
        <p:spPr>
          <a:xfrm>
            <a:off x="10374630" y="6534150"/>
            <a:ext cx="1638300" cy="571500"/>
          </a:xfrm>
          <a:prstGeom prst="roundRect">
            <a:avLst>
              <a:gd name="adj" fmla="val 16666"/>
            </a:avLst>
          </a:prstGeom>
          <a:solidFill>
            <a:srgbClr val="2A1A1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365105" y="6200775"/>
            <a:ext cx="19050" cy="3429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165330" y="6534150"/>
            <a:ext cx="3619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Sleep 2 s, then AUTO</a:t>
            </a:r>
          </a:p>
        </p:txBody>
      </p:sp>
      <p:sp>
        <p:nvSpPr>
          <p:cNvPr id="57" name="Rectangle 56"/>
          <p:cNvSpPr/>
          <p:nvPr/>
        </p:nvSpPr>
        <p:spPr>
          <a:xfrm>
            <a:off x="16749712" y="2747962"/>
            <a:ext cx="28575" cy="47910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4287500" y="7048500"/>
            <a:ext cx="2324100" cy="323850"/>
          </a:xfrm>
          <a:prstGeom prst="rect">
            <a:avLst/>
          </a:prstGeom>
          <a:noFill/>
        </p:spPr>
        <p:txBody>
          <a:bodyPr wrap="square" lIns="0" rIns="0" tIns="0" bIns="0" anchor="t">
            <a:spAutoFit/>
          </a:bodyPr>
          <a:lstStyle/>
          <a:p>
            <a:pPr algn="r"/>
            <a:r>
              <a:rPr sz="1650" b="1" i="0">
                <a:solidFill>
                  <a:srgbClr val="CC2200"/>
                </a:solidFill>
                <a:latin typeface="Geist"/>
                <a:ea typeface="Geist"/>
                <a:cs typeface="Geist"/>
              </a:rPr>
              <a:t>auto ends at 15 s</a:t>
            </a:r>
          </a:p>
        </p:txBody>
      </p:sp>
      <p:sp>
        <p:nvSpPr>
          <p:cNvPr id="59" name="Rounded Rectangle 58"/>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0" name="Picture 59" descr="stopwatch.png"/>
          <p:cNvPicPr>
            <a:picLocks noChangeAspect="1"/>
          </p:cNvPicPr>
          <p:nvPr/>
        </p:nvPicPr>
        <p:blipFill>
          <a:blip r:embed="rId3"/>
          <a:stretch>
            <a:fillRect/>
          </a:stretch>
        </p:blipFill>
        <p:spPr>
          <a:xfrm>
            <a:off x="1333500" y="8448675"/>
            <a:ext cx="481781" cy="533400"/>
          </a:xfrm>
          <a:prstGeom prst="rect">
            <a:avLst/>
          </a:prstGeom>
        </p:spPr>
      </p:pic>
      <p:sp>
        <p:nvSpPr>
          <p:cNvPr id="61" name="TextBox 60"/>
          <p:cNvSpPr txBox="1"/>
          <p:nvPr/>
        </p:nvSpPr>
        <p:spPr>
          <a:xfrm>
            <a:off x="2190750" y="82867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About 9 seconds  </a:t>
            </a:r>
            <a:r>
              <a:rPr sz="2100" b="0" i="0">
                <a:solidFill>
                  <a:srgbClr val="F0E8E8"/>
                </a:solidFill>
                <a:latin typeface="Geist"/>
                <a:ea typeface="Geist"/>
                <a:cs typeface="Geist"/>
              </a:rPr>
              <a:t>in the simulator: room to spare in a 15 second auto.</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tree on the field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676400" y="2952750"/>
            <a:ext cx="5829110" cy="5688140"/>
          </a:xfrm>
          <a:prstGeom prst="roundRect">
            <a:avLst>
              <a:gd name="adj" fmla="val 1004"/>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3717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695450" y="79265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765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695450" y="72216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814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695450" y="65168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62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695450" y="58119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911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695450" y="51071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8959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695450" y="440226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60082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695450" y="3697415"/>
            <a:ext cx="5791010" cy="1905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05675" y="2971800"/>
            <a:ext cx="19050" cy="5650040"/>
          </a:xfrm>
          <a:prstGeom prst="rect">
            <a:avLst/>
          </a:prstGeom>
          <a:solidFill>
            <a:srgbClr val="18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676400" y="2952750"/>
            <a:ext cx="95250" cy="568814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3906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24" name="TextBox 23"/>
          <p:cNvSpPr txBox="1"/>
          <p:nvPr/>
        </p:nvSpPr>
        <p:spPr>
          <a:xfrm>
            <a:off x="28003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25" name="TextBox 24"/>
          <p:cNvSpPr txBox="1"/>
          <p:nvPr/>
        </p:nvSpPr>
        <p:spPr>
          <a:xfrm>
            <a:off x="1238250" y="71073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26" name="TextBox 25"/>
          <p:cNvSpPr txBox="1"/>
          <p:nvPr/>
        </p:nvSpPr>
        <p:spPr>
          <a:xfrm>
            <a:off x="42100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7" name="TextBox 26"/>
          <p:cNvSpPr txBox="1"/>
          <p:nvPr/>
        </p:nvSpPr>
        <p:spPr>
          <a:xfrm>
            <a:off x="1238250" y="56976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8" name="TextBox 27"/>
          <p:cNvSpPr txBox="1"/>
          <p:nvPr/>
        </p:nvSpPr>
        <p:spPr>
          <a:xfrm>
            <a:off x="56197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6</a:t>
            </a:r>
          </a:p>
        </p:txBody>
      </p:sp>
      <p:sp>
        <p:nvSpPr>
          <p:cNvPr id="29" name="TextBox 28"/>
          <p:cNvSpPr txBox="1"/>
          <p:nvPr/>
        </p:nvSpPr>
        <p:spPr>
          <a:xfrm>
            <a:off x="1238250" y="42879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6</a:t>
            </a:r>
          </a:p>
        </p:txBody>
      </p:sp>
      <p:sp>
        <p:nvSpPr>
          <p:cNvPr id="30" name="TextBox 29"/>
          <p:cNvSpPr txBox="1"/>
          <p:nvPr/>
        </p:nvSpPr>
        <p:spPr>
          <a:xfrm>
            <a:off x="7029450" y="871709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8</a:t>
            </a:r>
          </a:p>
        </p:txBody>
      </p:sp>
      <p:sp>
        <p:nvSpPr>
          <p:cNvPr id="31" name="TextBox 30"/>
          <p:cNvSpPr txBox="1"/>
          <p:nvPr/>
        </p:nvSpPr>
        <p:spPr>
          <a:xfrm>
            <a:off x="1238250" y="287826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8</a:t>
            </a:r>
          </a:p>
        </p:txBody>
      </p:sp>
      <p:sp>
        <p:nvSpPr>
          <p:cNvPr id="32" name="Rectangle 31"/>
          <p:cNvSpPr/>
          <p:nvPr/>
        </p:nvSpPr>
        <p:spPr>
          <a:xfrm>
            <a:off x="2705100" y="755504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709329" y="755504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721312" y="755504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741047" y="755504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69241" y="755504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805189" y="755504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848889" y="755504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900343" y="755504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959551" y="7555040"/>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022987" y="7554335"/>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3115704" y="7576566"/>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79845" y="756740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43282" y="755330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06013" y="7534980"/>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367335" y="7513834"/>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27952" y="7489869"/>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487160" y="7465905"/>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46367" y="7441235"/>
            <a:ext cx="59912"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06279" y="7417270"/>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65487" y="739401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25399" y="737075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784606" y="734749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844519" y="732423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04431" y="730097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964343" y="7277710"/>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23550" y="7254450"/>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083463" y="7231190"/>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43375" y="7207929"/>
            <a:ext cx="59912" cy="23261"/>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03287" y="7184669"/>
            <a:ext cx="59208"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62495" y="71614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322407" y="713814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382319" y="711488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442231" y="7091629"/>
            <a:ext cx="59913"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02144" y="7068369"/>
            <a:ext cx="59207"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1" y="7045109"/>
            <a:ext cx="59912" cy="2326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621263" y="7021144"/>
            <a:ext cx="59913"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681176" y="6996474"/>
            <a:ext cx="59207" cy="24670"/>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740383" y="6972510"/>
            <a:ext cx="59207" cy="2396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799590" y="6948545"/>
            <a:ext cx="59208" cy="23965"/>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858798" y="6927399"/>
            <a:ext cx="60617" cy="2114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919415" y="6909073"/>
            <a:ext cx="61322" cy="18326"/>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980737" y="6894976"/>
            <a:ext cx="62731" cy="14097"/>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043468" y="6885813"/>
            <a:ext cx="63437" cy="9163"/>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106905" y="6880879"/>
            <a:ext cx="64141" cy="4934"/>
          </a:xfrm>
          <a:prstGeom prst="line">
            <a:avLst/>
          </a:prstGeom>
          <a:ln w="571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5142471" y="6852304"/>
            <a:ext cx="12129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5206613" y="6850894"/>
            <a:ext cx="12058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5270049" y="6850190"/>
            <a:ext cx="11635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5329257" y="6850190"/>
            <a:ext cx="10860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5380711" y="6850190"/>
            <a:ext cx="100851"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5424411" y="6850190"/>
            <a:ext cx="93097"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5460359" y="6850190"/>
            <a:ext cx="85344"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488553" y="6850190"/>
            <a:ext cx="76886"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508288" y="6850190"/>
            <a:ext cx="69132"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5520271" y="6850190"/>
            <a:ext cx="61379" cy="571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524500" y="6850190"/>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524500" y="6850190"/>
            <a:ext cx="57855"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525205" y="6850190"/>
            <a:ext cx="59969"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28024" y="6849485"/>
            <a:ext cx="65608"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3" name="Connector 92"/>
          <p:cNvCxnSpPr/>
          <p:nvPr/>
        </p:nvCxnSpPr>
        <p:spPr>
          <a:xfrm flipV="1">
            <a:off x="5565057" y="6868192"/>
            <a:ext cx="13393" cy="634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78450" y="6858324"/>
            <a:ext cx="17621" cy="986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071" y="6842817"/>
            <a:ext cx="21850" cy="1550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17921" y="6820967"/>
            <a:ext cx="25375" cy="2185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43296" y="6793478"/>
            <a:ext cx="27489" cy="2748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670785" y="6758940"/>
            <a:ext cx="28194" cy="3453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698979" y="6716649"/>
            <a:ext cx="28899"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727878" y="6668719"/>
            <a:ext cx="26784" cy="4793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754662" y="6617970"/>
            <a:ext cx="22555" cy="5074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777217" y="6564401"/>
            <a:ext cx="17622"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94839" y="6510128"/>
            <a:ext cx="12687"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07526" y="6455150"/>
            <a:ext cx="9868" cy="5497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817394" y="6400171"/>
            <a:ext cx="7048"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824442" y="6344488"/>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830081" y="6288805"/>
            <a:ext cx="5639"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5720" y="6233122"/>
            <a:ext cx="4934"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840654" y="6177439"/>
            <a:ext cx="7048" cy="5568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847702" y="6122460"/>
            <a:ext cx="9163" cy="5497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56865" y="6068187"/>
            <a:ext cx="11983" cy="5427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868848" y="6014618"/>
            <a:ext cx="16211" cy="53569"/>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885059" y="5962460"/>
            <a:ext cx="20441" cy="52158"/>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05500" y="5920169"/>
            <a:ext cx="20441" cy="4229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925941" y="5878582"/>
            <a:ext cx="22555" cy="41587"/>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948496" y="5838406"/>
            <a:ext cx="23965" cy="4017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72461" y="5798934"/>
            <a:ext cx="25374"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997835" y="5760168"/>
            <a:ext cx="26080" cy="3876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023915" y="5720696"/>
            <a:ext cx="26079"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049994" y="5681224"/>
            <a:ext cx="26080" cy="3947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076074" y="5641753"/>
            <a:ext cx="24669" cy="3947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100743" y="5600871"/>
            <a:ext cx="23965" cy="4088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124708" y="5559285"/>
            <a:ext cx="21146" cy="4158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145854" y="5516289"/>
            <a:ext cx="19736" cy="4299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165590" y="5472589"/>
            <a:ext cx="16916" cy="4370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182506" y="5428183"/>
            <a:ext cx="14097" cy="44406"/>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196603" y="5383073"/>
            <a:ext cx="13392" cy="45110"/>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209995" y="5339372"/>
            <a:ext cx="11278" cy="4370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221273" y="5298491"/>
            <a:ext cx="9163" cy="40881"/>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230436" y="5261839"/>
            <a:ext cx="7753" cy="36652"/>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238189" y="5229416"/>
            <a:ext cx="6344" cy="32423"/>
          </a:xfrm>
          <a:prstGeom prst="line">
            <a:avLst/>
          </a:prstGeom>
          <a:ln w="5715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6215958" y="5171942"/>
            <a:ext cx="57150" cy="86049"/>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6220187" y="5147977"/>
            <a:ext cx="57150" cy="8111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6223711" y="5127536"/>
            <a:ext cx="57150" cy="77591"/>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6226531" y="5111325"/>
            <a:ext cx="57150" cy="73362"/>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6227940" y="5100047"/>
            <a:ext cx="57150" cy="68428"/>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6228645" y="5092294"/>
            <a:ext cx="57150" cy="64903"/>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6229350" y="5092294"/>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6229350" y="5088769"/>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6229350" y="5088065"/>
            <a:ext cx="57150" cy="57150"/>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ounded Rectangle 140"/>
          <p:cNvSpPr/>
          <p:nvPr/>
        </p:nvSpPr>
        <p:spPr>
          <a:xfrm>
            <a:off x="2428875" y="7278815"/>
            <a:ext cx="609600" cy="609600"/>
          </a:xfrm>
          <a:prstGeom prst="roundRect">
            <a:avLst>
              <a:gd name="adj" fmla="val 15625"/>
            </a:avLst>
          </a:prstGeom>
          <a:noFill/>
          <a:ln w="28575">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2" name="Picture 141" descr="bullseye.png"/>
          <p:cNvPicPr>
            <a:picLocks noChangeAspect="1"/>
          </p:cNvPicPr>
          <p:nvPr/>
        </p:nvPicPr>
        <p:blipFill>
          <a:blip r:embed="rId3"/>
          <a:stretch>
            <a:fillRect/>
          </a:stretch>
        </p:blipFill>
        <p:spPr>
          <a:xfrm>
            <a:off x="4276725" y="5602415"/>
            <a:ext cx="438150" cy="438150"/>
          </a:xfrm>
          <a:prstGeom prst="rect">
            <a:avLst/>
          </a:prstGeom>
        </p:spPr>
      </p:pic>
      <p:cxnSp>
        <p:nvCxnSpPr>
          <p:cNvPr id="143" name="Connector 142"/>
          <p:cNvCxnSpPr/>
          <p:nvPr/>
        </p:nvCxnSpPr>
        <p:spPr>
          <a:xfrm flipH="1">
            <a:off x="4743450" y="4964240"/>
            <a:ext cx="1133475" cy="952500"/>
          </a:xfrm>
          <a:prstGeom prst="line">
            <a:avLst/>
          </a:prstGeom>
          <a:ln w="38100">
            <a:solidFill>
              <a:srgbClr val="CC2200"/>
            </a:solidFill>
            <a:prstDash val="dash"/>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6176812" y="4449890"/>
            <a:ext cx="81113" cy="495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6096904" y="4454842"/>
            <a:ext cx="79908" cy="147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6019388" y="4469625"/>
            <a:ext cx="77516" cy="243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5945415" y="4494020"/>
            <a:ext cx="73973" cy="33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5876085" y="4527663"/>
            <a:ext cx="69330" cy="423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5812427" y="4570056"/>
            <a:ext cx="63658" cy="505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5755386" y="4620568"/>
            <a:ext cx="57041" cy="578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a:off x="5705811" y="4678450"/>
            <a:ext cx="49575" cy="643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5664438" y="4742840"/>
            <a:ext cx="41373" cy="699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5631880" y="4812784"/>
            <a:ext cx="32558" cy="7445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5608623" y="4887241"/>
            <a:ext cx="23257" cy="778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5595011" y="4965106"/>
            <a:ext cx="13612" cy="801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5571198" y="5021409"/>
            <a:ext cx="47625" cy="128802"/>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7" name="Connector 156"/>
          <p:cNvCxnSpPr/>
          <p:nvPr/>
        </p:nvCxnSpPr>
        <p:spPr>
          <a:xfrm>
            <a:off x="5591246" y="5126398"/>
            <a:ext cx="6139" cy="8103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597385" y="5207430"/>
            <a:ext cx="15952" cy="796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597385" y="5207430"/>
            <a:ext cx="41478" cy="156834"/>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0" name="Picture 159" descr="dozer_top.png"/>
          <p:cNvPicPr>
            <a:picLocks noChangeAspect="1"/>
          </p:cNvPicPr>
          <p:nvPr/>
        </p:nvPicPr>
        <p:blipFill>
          <a:blip r:embed="rId4"/>
          <a:stretch>
            <a:fillRect/>
          </a:stretch>
        </p:blipFill>
        <p:spPr>
          <a:xfrm rot="9491915">
            <a:off x="5857875" y="4748913"/>
            <a:ext cx="800100" cy="735454"/>
          </a:xfrm>
          <a:prstGeom prst="rect">
            <a:avLst/>
          </a:prstGeom>
        </p:spPr>
      </p:pic>
      <p:sp>
        <p:nvSpPr>
          <p:cNvPr id="161" name="Oval 160"/>
          <p:cNvSpPr/>
          <p:nvPr/>
        </p:nvSpPr>
        <p:spPr>
          <a:xfrm>
            <a:off x="3773843" y="66723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773843" y="66723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Oval 162"/>
          <p:cNvSpPr/>
          <p:nvPr/>
        </p:nvSpPr>
        <p:spPr>
          <a:xfrm>
            <a:off x="5648325" y="70121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648325" y="70121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5" name="Oval 164"/>
          <p:cNvSpPr/>
          <p:nvPr/>
        </p:nvSpPr>
        <p:spPr>
          <a:xfrm>
            <a:off x="6196146" y="578333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196146" y="57833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67" name="Oval 166"/>
          <p:cNvSpPr/>
          <p:nvPr/>
        </p:nvSpPr>
        <p:spPr>
          <a:xfrm>
            <a:off x="6734175" y="41641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6734175" y="41641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9" name="Oval 168"/>
          <p:cNvSpPr/>
          <p:nvPr/>
        </p:nvSpPr>
        <p:spPr>
          <a:xfrm>
            <a:off x="5186362" y="55643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186362" y="55643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71" name="TextBox 170"/>
          <p:cNvSpPr txBox="1"/>
          <p:nvPr/>
        </p:nvSpPr>
        <p:spPr>
          <a:xfrm>
            <a:off x="1971675" y="7964615"/>
            <a:ext cx="1524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a:t>
            </a:r>
          </a:p>
        </p:txBody>
      </p:sp>
      <p:sp>
        <p:nvSpPr>
          <p:cNvPr id="172" name="TextBox 171"/>
          <p:cNvSpPr txBox="1"/>
          <p:nvPr/>
        </p:nvSpPr>
        <p:spPr>
          <a:xfrm>
            <a:off x="3733800" y="5230940"/>
            <a:ext cx="1524000" cy="2857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Goal</a:t>
            </a:r>
          </a:p>
        </p:txBody>
      </p:sp>
      <p:sp>
        <p:nvSpPr>
          <p:cNvPr id="173" name="Oval 172"/>
          <p:cNvSpPr/>
          <p:nvPr/>
        </p:nvSpPr>
        <p:spPr>
          <a:xfrm>
            <a:off x="8763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76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5" name="TextBox 174"/>
          <p:cNvSpPr txBox="1"/>
          <p:nvPr/>
        </p:nvSpPr>
        <p:spPr>
          <a:xfrm>
            <a:off x="9372600" y="28194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FollowPath ToPickup</a:t>
            </a:r>
          </a:p>
        </p:txBody>
      </p:sp>
      <p:sp>
        <p:nvSpPr>
          <p:cNvPr id="176" name="TextBox 175"/>
          <p:cNvSpPr txBox="1"/>
          <p:nvPr/>
        </p:nvSpPr>
        <p:spPr>
          <a:xfrm>
            <a:off x="9372600" y="32385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From Start to the game piece</a:t>
            </a:r>
          </a:p>
        </p:txBody>
      </p:sp>
      <p:sp>
        <p:nvSpPr>
          <p:cNvPr id="177" name="Oval 176"/>
          <p:cNvSpPr/>
          <p:nvPr/>
        </p:nvSpPr>
        <p:spPr>
          <a:xfrm>
            <a:off x="8763000" y="4038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876300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9" name="TextBox 178"/>
          <p:cNvSpPr txBox="1"/>
          <p:nvPr/>
        </p:nvSpPr>
        <p:spPr>
          <a:xfrm>
            <a:off x="9372600" y="40005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Sleep on Pickup</a:t>
            </a:r>
          </a:p>
        </p:txBody>
      </p:sp>
      <p:sp>
        <p:nvSpPr>
          <p:cNvPr id="180" name="TextBox 179"/>
          <p:cNvSpPr txBox="1"/>
          <p:nvPr/>
        </p:nvSpPr>
        <p:spPr>
          <a:xfrm>
            <a:off x="9372600" y="44196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Half a second to pick it up</a:t>
            </a:r>
          </a:p>
        </p:txBody>
      </p:sp>
      <p:sp>
        <p:nvSpPr>
          <p:cNvPr id="181" name="Oval 180"/>
          <p:cNvSpPr/>
          <p:nvPr/>
        </p:nvSpPr>
        <p:spPr>
          <a:xfrm>
            <a:off x="8763000"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876300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3" name="TextBox 182"/>
          <p:cNvSpPr txBox="1"/>
          <p:nvPr/>
        </p:nvSpPr>
        <p:spPr>
          <a:xfrm>
            <a:off x="9372600" y="51816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FollowPath ToScore</a:t>
            </a:r>
          </a:p>
        </p:txBody>
      </p:sp>
      <p:sp>
        <p:nvSpPr>
          <p:cNvPr id="184" name="TextBox 183"/>
          <p:cNvSpPr txBox="1"/>
          <p:nvPr/>
        </p:nvSpPr>
        <p:spPr>
          <a:xfrm>
            <a:off x="9372600" y="56007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Arrives facing up the field</a:t>
            </a:r>
          </a:p>
        </p:txBody>
      </p:sp>
      <p:sp>
        <p:nvSpPr>
          <p:cNvPr id="185" name="Oval 184"/>
          <p:cNvSpPr/>
          <p:nvPr/>
        </p:nvSpPr>
        <p:spPr>
          <a:xfrm>
            <a:off x="8763000" y="64008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876300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87" name="TextBox 186"/>
          <p:cNvSpPr txBox="1"/>
          <p:nvPr/>
        </p:nvSpPr>
        <p:spPr>
          <a:xfrm>
            <a:off x="9372600" y="63627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SetWantedState AIM</a:t>
            </a:r>
          </a:p>
        </p:txBody>
      </p:sp>
      <p:sp>
        <p:nvSpPr>
          <p:cNvPr id="188" name="TextBox 187"/>
          <p:cNvSpPr txBox="1"/>
          <p:nvPr/>
        </p:nvSpPr>
        <p:spPr>
          <a:xfrm>
            <a:off x="9372600" y="67818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Turns about 110° left to face the goal</a:t>
            </a:r>
          </a:p>
        </p:txBody>
      </p:sp>
      <p:sp>
        <p:nvSpPr>
          <p:cNvPr id="189" name="Oval 188"/>
          <p:cNvSpPr/>
          <p:nvPr/>
        </p:nvSpPr>
        <p:spPr>
          <a:xfrm>
            <a:off x="8763000" y="75819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76300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91" name="TextBox 190"/>
          <p:cNvSpPr txBox="1"/>
          <p:nvPr/>
        </p:nvSpPr>
        <p:spPr>
          <a:xfrm>
            <a:off x="9372600" y="7543800"/>
            <a:ext cx="7962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SetWantedState SHOOT</a:t>
            </a:r>
          </a:p>
        </p:txBody>
      </p:sp>
      <p:sp>
        <p:nvSpPr>
          <p:cNvPr id="192" name="TextBox 191"/>
          <p:cNvSpPr txBox="1"/>
          <p:nvPr/>
        </p:nvSpPr>
        <p:spPr>
          <a:xfrm>
            <a:off x="9372600" y="7962900"/>
            <a:ext cx="7962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Only once it's aimed</a:t>
            </a:r>
          </a:p>
        </p:txBody>
      </p:sp>
      <p:sp>
        <p:nvSpPr>
          <p:cNvPr id="193" name="TextBox 19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4" name="TextBox 19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Picking and running the auto</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67050"/>
            <a:ext cx="4572000" cy="32385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Auto Chooser</a:t>
            </a:r>
          </a:p>
        </p:txBody>
      </p:sp>
      <p:sp>
        <p:nvSpPr>
          <p:cNvPr id="7" name="Rounded Rectangle 6"/>
          <p:cNvSpPr/>
          <p:nvPr/>
        </p:nvSpPr>
        <p:spPr>
          <a:xfrm>
            <a:off x="1295400" y="3524250"/>
            <a:ext cx="4572000" cy="571500"/>
          </a:xfrm>
          <a:prstGeom prst="roundRect">
            <a:avLst>
              <a:gd name="adj" fmla="val 16666"/>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24000" y="3524250"/>
            <a:ext cx="3810000" cy="5715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PickupAndScore</a:t>
            </a:r>
          </a:p>
        </p:txBody>
      </p:sp>
      <p:sp>
        <p:nvSpPr>
          <p:cNvPr id="9" name="TextBox 8"/>
          <p:cNvSpPr txBox="1"/>
          <p:nvPr/>
        </p:nvSpPr>
        <p:spPr>
          <a:xfrm>
            <a:off x="5429250" y="3524250"/>
            <a:ext cx="381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a:t>
            </a:r>
          </a:p>
        </p:txBody>
      </p:sp>
      <p:sp>
        <p:nvSpPr>
          <p:cNvPr id="10" name="Rounded Rectangle 9"/>
          <p:cNvSpPr/>
          <p:nvPr/>
        </p:nvSpPr>
        <p:spPr>
          <a:xfrm>
            <a:off x="1295400" y="4229100"/>
            <a:ext cx="4572000" cy="533400"/>
          </a:xfrm>
          <a:prstGeom prst="roundRect">
            <a:avLst>
              <a:gd name="adj" fmla="val 14285"/>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24000" y="4229100"/>
            <a:ext cx="4191000" cy="5334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Do Nothing</a:t>
            </a:r>
          </a:p>
        </p:txBody>
      </p:sp>
      <p:sp>
        <p:nvSpPr>
          <p:cNvPr id="12" name="Rounded Rectangle 11"/>
          <p:cNvSpPr/>
          <p:nvPr/>
        </p:nvSpPr>
        <p:spPr>
          <a:xfrm>
            <a:off x="1295400" y="4838700"/>
            <a:ext cx="4572000" cy="533400"/>
          </a:xfrm>
          <a:prstGeom prst="roundRect">
            <a:avLst>
              <a:gd name="adj" fmla="val 1428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524000" y="4838700"/>
            <a:ext cx="4191000" cy="53340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PickupAndScore</a:t>
            </a:r>
          </a:p>
        </p:txBody>
      </p:sp>
      <p:sp>
        <p:nvSpPr>
          <p:cNvPr id="14" name="TextBox 13"/>
          <p:cNvSpPr txBox="1"/>
          <p:nvPr/>
        </p:nvSpPr>
        <p:spPr>
          <a:xfrm>
            <a:off x="914400" y="6096000"/>
            <a:ext cx="5334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Elastic: one option per file in trees/</a:t>
            </a:r>
          </a:p>
        </p:txBody>
      </p:sp>
      <p:sp>
        <p:nvSpPr>
          <p:cNvPr id="15" name="Rounded Rectangle 14"/>
          <p:cNvSpPr/>
          <p:nvPr/>
        </p:nvSpPr>
        <p:spPr>
          <a:xfrm>
            <a:off x="6667500" y="2857500"/>
            <a:ext cx="32512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2750" y="333375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17" name="TextBox 16"/>
          <p:cNvSpPr txBox="1"/>
          <p:nvPr/>
        </p:nvSpPr>
        <p:spPr>
          <a:xfrm>
            <a:off x="6819900" y="392430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Read the XML, load the paths</a:t>
            </a:r>
          </a:p>
        </p:txBody>
      </p:sp>
      <p:sp>
        <p:nvSpPr>
          <p:cNvPr id="18" name="Rectangle 17"/>
          <p:cNvSpPr/>
          <p:nvPr/>
        </p:nvSpPr>
        <p:spPr>
          <a:xfrm>
            <a:off x="9980612" y="3795712"/>
            <a:ext cx="215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0166350" y="3733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394950" y="2857500"/>
            <a:ext cx="32512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490200" y="333375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 Auto</a:t>
            </a:r>
          </a:p>
        </p:txBody>
      </p:sp>
      <p:sp>
        <p:nvSpPr>
          <p:cNvPr id="22" name="TextBox 21"/>
          <p:cNvSpPr txBox="1"/>
          <p:nvPr/>
        </p:nvSpPr>
        <p:spPr>
          <a:xfrm>
            <a:off x="10547350" y="392430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Robot goes to AUTO</a:t>
            </a:r>
          </a:p>
        </p:txBody>
      </p:sp>
      <p:sp>
        <p:nvSpPr>
          <p:cNvPr id="23" name="Rectangle 22"/>
          <p:cNvSpPr/>
          <p:nvPr/>
        </p:nvSpPr>
        <p:spPr>
          <a:xfrm>
            <a:off x="13708062" y="3795712"/>
            <a:ext cx="215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3893800" y="3733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122400" y="2857500"/>
            <a:ext cx="32512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217650" y="3333750"/>
            <a:ext cx="30607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Tick</a:t>
            </a:r>
          </a:p>
        </p:txBody>
      </p:sp>
      <p:sp>
        <p:nvSpPr>
          <p:cNvPr id="27" name="TextBox 26"/>
          <p:cNvSpPr txBox="1"/>
          <p:nvPr/>
        </p:nvSpPr>
        <p:spPr>
          <a:xfrm>
            <a:off x="14274800" y="3924300"/>
            <a:ext cx="29464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Once per loop, before the robot runs</a:t>
            </a:r>
          </a:p>
        </p:txBody>
      </p:sp>
      <p:sp>
        <p:nvSpPr>
          <p:cNvPr id="28" name="TextBox 27"/>
          <p:cNvSpPr txBox="1"/>
          <p:nvPr/>
        </p:nvSpPr>
        <p:spPr>
          <a:xfrm>
            <a:off x="6667500" y="5105400"/>
            <a:ext cx="10706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  robotPeriodic()</a:t>
            </a:r>
          </a:p>
        </p:txBody>
      </p:sp>
      <p:sp>
        <p:nvSpPr>
          <p:cNvPr id="29" name="Rounded Rectangle 28"/>
          <p:cNvSpPr/>
          <p:nvPr/>
        </p:nvSpPr>
        <p:spPr>
          <a:xfrm>
            <a:off x="6667500" y="5524500"/>
            <a:ext cx="10706100" cy="1390650"/>
          </a:xfrm>
          <a:prstGeom prst="roundRect">
            <a:avLst>
              <a:gd name="adj" fmla="val 1095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48500" y="5905500"/>
            <a:ext cx="101727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AutoManager.getInstance().periodic();  </a:t>
            </a:r>
            <a:r>
              <a:rPr sz="1650" b="0" i="1">
                <a:solidFill>
                  <a:srgbClr val="9A7878"/>
                </a:solidFill>
                <a:latin typeface="Geist Mono"/>
                <a:ea typeface="Geist Mono"/>
                <a:cs typeface="Geist Mono"/>
              </a:rPr>
              <a:t>// tick the tree</a:t>
            </a:r>
          </a:p>
        </p:txBody>
      </p:sp>
      <p:sp>
        <p:nvSpPr>
          <p:cNvPr id="31" name="TextBox 30"/>
          <p:cNvSpPr txBox="1"/>
          <p:nvPr/>
        </p:nvSpPr>
        <p:spPr>
          <a:xfrm>
            <a:off x="7048500" y="6219825"/>
            <a:ext cx="101727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robot_container_.doControlLoop();        </a:t>
            </a:r>
            <a:r>
              <a:rPr sz="1650" b="0" i="1">
                <a:solidFill>
                  <a:srgbClr val="9A7878"/>
                </a:solidFill>
                <a:latin typeface="Geist Mono"/>
                <a:ea typeface="Geist Mono"/>
                <a:cs typeface="Geist Mono"/>
              </a:rPr>
              <a:t>// then the robot</a:t>
            </a:r>
          </a:p>
        </p:txBody>
      </p:sp>
      <p:sp>
        <p:nvSpPr>
          <p:cNvPr id="32" name="Rounded Rectangle 31"/>
          <p:cNvSpPr/>
          <p:nvPr/>
        </p:nvSpPr>
        <p:spPr>
          <a:xfrm>
            <a:off x="914400" y="79057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ile-earmark-code.png"/>
          <p:cNvPicPr>
            <a:picLocks noChangeAspect="1"/>
          </p:cNvPicPr>
          <p:nvPr/>
        </p:nvPicPr>
        <p:blipFill>
          <a:blip r:embed="rId3"/>
          <a:stretch>
            <a:fillRect/>
          </a:stretch>
        </p:blipFill>
        <p:spPr>
          <a:xfrm>
            <a:off x="1333500" y="8115300"/>
            <a:ext cx="400050" cy="533400"/>
          </a:xfrm>
          <a:prstGeom prst="rect">
            <a:avLst/>
          </a:prstGeom>
        </p:spPr>
      </p:pic>
      <p:sp>
        <p:nvSpPr>
          <p:cNvPr id="34" name="TextBox 33"/>
          <p:cNvSpPr txBox="1"/>
          <p:nvPr/>
        </p:nvSpPr>
        <p:spPr>
          <a:xfrm>
            <a:off x="2190750" y="79057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rebuild:  </a:t>
            </a:r>
            <a:r>
              <a:rPr sz="2100" b="0" i="0">
                <a:solidFill>
                  <a:srgbClr val="F0E8E8"/>
                </a:solidFill>
                <a:latin typeface="Geist"/>
                <a:ea typeface="Geist"/>
                <a:cs typeface="Geist"/>
              </a:rPr>
              <a:t>changing a tree is a file save. Deploy it and pick the auto again.</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TREES ON OUR ROBOT</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the competition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trees/CitrusSynergy.xml  (2026 robot, trimmed)</a:t>
            </a:r>
          </a:p>
        </p:txBody>
      </p:sp>
      <p:sp>
        <p:nvSpPr>
          <p:cNvPr id="6" name="Rounded Rectangle 5"/>
          <p:cNvSpPr/>
          <p:nvPr/>
        </p:nvSpPr>
        <p:spPr>
          <a:xfrm>
            <a:off x="914400" y="3238500"/>
            <a:ext cx="11239500" cy="4114800"/>
          </a:xfrm>
          <a:prstGeom prst="roundRect">
            <a:avLst>
              <a:gd name="adj" fmla="val 37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619500"/>
            <a:ext cx="107061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&lt;Sequence&gt;</a:t>
            </a:r>
          </a:p>
        </p:txBody>
      </p:sp>
      <p:sp>
        <p:nvSpPr>
          <p:cNvPr id="8" name="TextBox 7"/>
          <p:cNvSpPr txBox="1"/>
          <p:nvPr/>
        </p:nvSpPr>
        <p:spPr>
          <a:xfrm>
            <a:off x="1295400" y="395478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&lt;ParallelDeadline&gt;</a:t>
            </a:r>
          </a:p>
        </p:txBody>
      </p:sp>
      <p:sp>
        <p:nvSpPr>
          <p:cNvPr id="9" name="TextBox 8"/>
          <p:cNvSpPr txBox="1"/>
          <p:nvPr/>
        </p:nvSpPr>
        <p:spPr>
          <a:xfrm>
            <a:off x="1295400" y="429006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&lt;FollowTrajectory</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"SynergyP1"</a:t>
            </a:r>
            <a:r>
              <a:rPr sz="1650" b="0" i="0">
                <a:solidFill>
                  <a:srgbClr val="E0785F"/>
                </a:solidFill>
                <a:latin typeface="Geist Mono"/>
                <a:ea typeface="Geist Mono"/>
                <a:cs typeface="Geist Mono"/>
              </a:rPr>
              <a:t>/&gt;</a:t>
            </a:r>
          </a:p>
        </p:txBody>
      </p:sp>
      <p:sp>
        <p:nvSpPr>
          <p:cNvPr id="10" name="TextBox 9"/>
          <p:cNvSpPr txBox="1"/>
          <p:nvPr/>
        </p:nvSpPr>
        <p:spPr>
          <a:xfrm>
            <a:off x="1295400" y="462534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&lt;SubTree</a:t>
            </a:r>
            <a:r>
              <a:rPr sz="1650" b="0" i="0">
                <a:solidFill>
                  <a:srgbClr val="F0E8E8"/>
                </a:solidFill>
                <a:latin typeface="Geist Mono"/>
                <a:ea typeface="Geist Mono"/>
                <a:cs typeface="Geist Mono"/>
              </a:rPr>
              <a:t> ID=</a:t>
            </a:r>
            <a:r>
              <a:rPr sz="1650" b="0" i="0">
                <a:solidFill>
                  <a:srgbClr val="9FD29A"/>
                </a:solidFill>
                <a:latin typeface="Geist Mono"/>
                <a:ea typeface="Geist Mono"/>
                <a:cs typeface="Geist Mono"/>
              </a:rPr>
              <a:t>"IntakeOnEvent"</a:t>
            </a:r>
            <a:r>
              <a:rPr sz="1650" b="0" i="0">
                <a:solidFill>
                  <a:srgbClr val="F0E8E8"/>
                </a:solidFill>
                <a:latin typeface="Geist Mono"/>
                <a:ea typeface="Geist Mono"/>
                <a:cs typeface="Geist Mono"/>
              </a:rPr>
              <a:t> event=</a:t>
            </a:r>
            <a:r>
              <a:rPr sz="1650" b="0" i="0">
                <a:solidFill>
                  <a:srgbClr val="9FD29A"/>
                </a:solidFill>
                <a:latin typeface="Geist Mono"/>
                <a:ea typeface="Geist Mono"/>
                <a:cs typeface="Geist Mono"/>
              </a:rPr>
              <a:t>"Intake Out"</a:t>
            </a:r>
            <a:r>
              <a:rPr sz="1650" b="0" i="0">
                <a:solidFill>
                  <a:srgbClr val="E0785F"/>
                </a:solidFill>
                <a:latin typeface="Geist Mono"/>
                <a:ea typeface="Geist Mono"/>
                <a:cs typeface="Geist Mono"/>
              </a:rPr>
              <a:t>/&gt;</a:t>
            </a:r>
          </a:p>
        </p:txBody>
      </p:sp>
      <p:sp>
        <p:nvSpPr>
          <p:cNvPr id="11" name="TextBox 10"/>
          <p:cNvSpPr txBox="1"/>
          <p:nvPr/>
        </p:nvSpPr>
        <p:spPr>
          <a:xfrm>
            <a:off x="1295400" y="496062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&lt;/ParallelDeadline&gt;</a:t>
            </a:r>
          </a:p>
        </p:txBody>
      </p:sp>
      <p:sp>
        <p:nvSpPr>
          <p:cNvPr id="12" name="TextBox 11"/>
          <p:cNvSpPr txBox="1"/>
          <p:nvPr/>
        </p:nvSpPr>
        <p:spPr>
          <a:xfrm>
            <a:off x="1295400" y="529590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&lt;Delay</a:t>
            </a:r>
            <a:r>
              <a:rPr sz="1650" b="0" i="0">
                <a:solidFill>
                  <a:srgbClr val="F0E8E8"/>
                </a:solidFill>
                <a:latin typeface="Geist Mono"/>
                <a:ea typeface="Geist Mono"/>
                <a:cs typeface="Geist Mono"/>
              </a:rPr>
              <a:t> delay_msec=</a:t>
            </a:r>
            <a:r>
              <a:rPr sz="1650" b="0" i="0">
                <a:solidFill>
                  <a:srgbClr val="9FD29A"/>
                </a:solidFill>
                <a:latin typeface="Geist Mono"/>
                <a:ea typeface="Geist Mono"/>
                <a:cs typeface="Geist Mono"/>
              </a:rPr>
              <a:t>"{middle_wait_msec}"</a:t>
            </a:r>
            <a:r>
              <a:rPr sz="1650" b="0" i="0">
                <a:solidFill>
                  <a:srgbClr val="E0785F"/>
                </a:solidFill>
                <a:latin typeface="Geist Mono"/>
                <a:ea typeface="Geist Mono"/>
                <a:cs typeface="Geist Mono"/>
              </a:rPr>
              <a:t>&gt;</a:t>
            </a:r>
          </a:p>
        </p:txBody>
      </p:sp>
      <p:sp>
        <p:nvSpPr>
          <p:cNvPr id="13" name="TextBox 12"/>
          <p:cNvSpPr txBox="1"/>
          <p:nvPr/>
        </p:nvSpPr>
        <p:spPr>
          <a:xfrm>
            <a:off x="1295400" y="563118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&lt;FollowTrajectory</a:t>
            </a:r>
            <a:r>
              <a:rPr sz="1650" b="0" i="0">
                <a:solidFill>
                  <a:srgbClr val="F0E8E8"/>
                </a:solidFill>
                <a:latin typeface="Geist Mono"/>
                <a:ea typeface="Geist Mono"/>
                <a:cs typeface="Geist Mono"/>
              </a:rPr>
              <a:t> trajectory=</a:t>
            </a:r>
            <a:r>
              <a:rPr sz="1650" b="0" i="0">
                <a:solidFill>
                  <a:srgbClr val="9FD29A"/>
                </a:solidFill>
                <a:latin typeface="Geist Mono"/>
                <a:ea typeface="Geist Mono"/>
                <a:cs typeface="Geist Mono"/>
              </a:rPr>
              <a:t>"SynergyP2"</a:t>
            </a:r>
            <a:r>
              <a:rPr sz="1650" b="0" i="0">
                <a:solidFill>
                  <a:srgbClr val="E0785F"/>
                </a:solidFill>
                <a:latin typeface="Geist Mono"/>
                <a:ea typeface="Geist Mono"/>
                <a:cs typeface="Geist Mono"/>
              </a:rPr>
              <a:t>/&gt;</a:t>
            </a:r>
          </a:p>
        </p:txBody>
      </p:sp>
      <p:sp>
        <p:nvSpPr>
          <p:cNvPr id="14" name="TextBox 13"/>
          <p:cNvSpPr txBox="1"/>
          <p:nvPr/>
        </p:nvSpPr>
        <p:spPr>
          <a:xfrm>
            <a:off x="1295400" y="596646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&lt;/Delay&gt;</a:t>
            </a:r>
          </a:p>
        </p:txBody>
      </p:sp>
      <p:sp>
        <p:nvSpPr>
          <p:cNvPr id="15" name="TextBox 14"/>
          <p:cNvSpPr txBox="1"/>
          <p:nvPr/>
        </p:nvSpPr>
        <p:spPr>
          <a:xfrm>
            <a:off x="1295400" y="6301740"/>
            <a:ext cx="10706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&lt;SubTree</a:t>
            </a:r>
            <a:r>
              <a:rPr sz="1650" b="0" i="0">
                <a:solidFill>
                  <a:srgbClr val="F0E8E8"/>
                </a:solidFill>
                <a:latin typeface="Geist Mono"/>
                <a:ea typeface="Geist Mono"/>
                <a:cs typeface="Geist Mono"/>
              </a:rPr>
              <a:t> ID=</a:t>
            </a:r>
            <a:r>
              <a:rPr sz="1650" b="0" i="0">
                <a:solidFill>
                  <a:srgbClr val="9FD29A"/>
                </a:solidFill>
                <a:latin typeface="Geist Mono"/>
                <a:ea typeface="Geist Mono"/>
                <a:cs typeface="Geist Mono"/>
              </a:rPr>
              <a:t>"ShootFor"</a:t>
            </a:r>
            <a:r>
              <a:rPr sz="1650" b="0" i="0">
                <a:solidFill>
                  <a:srgbClr val="F0E8E8"/>
                </a:solidFill>
                <a:latin typeface="Geist Mono"/>
                <a:ea typeface="Geist Mono"/>
                <a:cs typeface="Geist Mono"/>
              </a:rPr>
              <a:t> duration_msec=</a:t>
            </a:r>
            <a:r>
              <a:rPr sz="1650" b="0" i="0">
                <a:solidFill>
                  <a:srgbClr val="9FD29A"/>
                </a:solidFill>
                <a:latin typeface="Geist Mono"/>
                <a:ea typeface="Geist Mono"/>
                <a:cs typeface="Geist Mono"/>
              </a:rPr>
              <a:t>"2000"</a:t>
            </a:r>
            <a:r>
              <a:rPr sz="1650" b="0" i="0">
                <a:solidFill>
                  <a:srgbClr val="E0785F"/>
                </a:solidFill>
                <a:latin typeface="Geist Mono"/>
                <a:ea typeface="Geist Mono"/>
                <a:cs typeface="Geist Mono"/>
              </a:rPr>
              <a:t>/&gt;</a:t>
            </a:r>
          </a:p>
        </p:txBody>
      </p:sp>
      <p:sp>
        <p:nvSpPr>
          <p:cNvPr id="16" name="TextBox 15"/>
          <p:cNvSpPr txBox="1"/>
          <p:nvPr/>
        </p:nvSpPr>
        <p:spPr>
          <a:xfrm>
            <a:off x="1295400" y="6637020"/>
            <a:ext cx="107061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&lt;/Sequence&gt;</a:t>
            </a:r>
          </a:p>
        </p:txBody>
      </p:sp>
      <p:sp>
        <p:nvSpPr>
          <p:cNvPr id="17" name="Oval 16"/>
          <p:cNvSpPr/>
          <p:nvPr/>
        </p:nvSpPr>
        <p:spPr>
          <a:xfrm>
            <a:off x="11544300" y="39319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544300" y="39319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11544300" y="52730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44300" y="52730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11544300" y="627888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44300" y="627888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Path + event</a:t>
            </a:r>
          </a:p>
        </p:txBody>
      </p:sp>
      <p:sp>
        <p:nvSpPr>
          <p:cNvPr id="26" name="TextBox 25"/>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Intake drops as the path passes a marker</a:t>
            </a:r>
          </a:p>
        </p:txBody>
      </p:sp>
      <p:sp>
        <p:nvSpPr>
          <p:cNvPr id="27" name="Oval 26"/>
          <p:cNvSpPr/>
          <p:nvPr/>
        </p:nvSpPr>
        <p:spPr>
          <a:xfrm>
            <a:off x="12668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Tunable wait</a:t>
            </a:r>
          </a:p>
        </p:txBody>
      </p:sp>
      <p:sp>
        <p:nvSpPr>
          <p:cNvPr id="30" name="TextBox 29"/>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{middle_wait_msec}, changed on the dashboard</a:t>
            </a:r>
          </a:p>
        </p:txBody>
      </p:sp>
      <p:sp>
        <p:nvSpPr>
          <p:cNvPr id="31" name="Oval 30"/>
          <p:cNvSpPr/>
          <p:nvPr/>
        </p:nvSpPr>
        <p:spPr>
          <a:xfrm>
            <a:off x="1266825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Shared sub-tree</a:t>
            </a:r>
          </a:p>
        </p:txBody>
      </p:sp>
      <p:sp>
        <p:nvSpPr>
          <p:cNvPr id="34" name="TextBox 33"/>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ShootFor lives in common.xml</a:t>
            </a:r>
          </a:p>
        </p:txBody>
      </p:sp>
      <p:sp>
        <p:nvSpPr>
          <p:cNvPr id="35" name="Rounded Rectangle 34"/>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arrow-left-right.png"/>
          <p:cNvPicPr>
            <a:picLocks noChangeAspect="1"/>
          </p:cNvPicPr>
          <p:nvPr/>
        </p:nvPicPr>
        <p:blipFill>
          <a:blip r:embed="rId3"/>
          <a:stretch>
            <a:fillRect/>
          </a:stretch>
        </p:blipFill>
        <p:spPr>
          <a:xfrm>
            <a:off x="1333500" y="8353425"/>
            <a:ext cx="466725" cy="533400"/>
          </a:xfrm>
          <a:prstGeom prst="rect">
            <a:avLst/>
          </a:prstGeom>
        </p:spPr>
      </p:pic>
      <p:sp>
        <p:nvSpPr>
          <p:cNvPr id="37" name="TextBox 36"/>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Drawn once:  </a:t>
            </a:r>
            <a:r>
              <a:rPr sz="2100" b="0" i="0">
                <a:solidFill>
                  <a:srgbClr val="F0E8E8"/>
                </a:solidFill>
                <a:latin typeface="Geist"/>
                <a:ea typeface="Geist"/>
                <a:cs typeface="Geist"/>
              </a:rPr>
              <a:t>paths are drawn for one alliance and flipped for the other automatically.</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Run and check</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Watch it drive, read what the checks say</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Watch me on the 2D field. Am I on the 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Running the routine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Start</a:t>
            </a:r>
          </a:p>
        </p:txBody>
      </p:sp>
      <p:sp>
        <p:nvSpPr>
          <p:cNvPr id="7" name="TextBox 6"/>
          <p:cNvSpPr txBox="1"/>
          <p:nvPr/>
        </p:nvSpPr>
        <p:spPr>
          <a:xfrm>
            <a:off x="1066800"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Wait for Running</a:t>
            </a:r>
          </a:p>
        </p:txBody>
      </p:sp>
      <p:sp>
        <p:nvSpPr>
          <p:cNvPr id="8" name="Rectangle 7"/>
          <p:cNvSpPr/>
          <p:nvPr/>
        </p:nvSpPr>
        <p:spPr>
          <a:xfrm>
            <a:off x="4591050"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Pick</a:t>
            </a:r>
          </a:p>
        </p:txBody>
      </p:sp>
      <p:sp>
        <p:nvSpPr>
          <p:cNvPr id="12" name="TextBox 11"/>
          <p:cNvSpPr txBox="1"/>
          <p:nvPr/>
        </p:nvSpPr>
        <p:spPr>
          <a:xfrm>
            <a:off x="5348288"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Elastic: Auto Chooser, PickupAndScore</a:t>
            </a:r>
          </a:p>
        </p:txBody>
      </p:sp>
      <p:sp>
        <p:nvSpPr>
          <p:cNvPr id="13" name="Rectangle 12"/>
          <p:cNvSpPr/>
          <p:nvPr/>
        </p:nvSpPr>
        <p:spPr>
          <a:xfrm>
            <a:off x="8872538"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952750"/>
            <a:ext cx="3614738"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Enable</a:t>
            </a:r>
          </a:p>
        </p:txBody>
      </p:sp>
      <p:sp>
        <p:nvSpPr>
          <p:cNvPr id="17" name="TextBox 16"/>
          <p:cNvSpPr txBox="1"/>
          <p:nvPr/>
        </p:nvSpPr>
        <p:spPr>
          <a:xfrm>
            <a:off x="9629775"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Driver Station: Auto, then Enable</a:t>
            </a:r>
          </a:p>
        </p:txBody>
      </p:sp>
      <p:sp>
        <p:nvSpPr>
          <p:cNvPr id="18" name="Rectangle 17"/>
          <p:cNvSpPr/>
          <p:nvPr/>
        </p:nvSpPr>
        <p:spPr>
          <a:xfrm>
            <a:off x="13154025" y="3986212"/>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952750"/>
            <a:ext cx="3614738"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524250"/>
            <a:ext cx="3424238"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Hands off</a:t>
            </a:r>
          </a:p>
        </p:txBody>
      </p:sp>
      <p:sp>
        <p:nvSpPr>
          <p:cNvPr id="22" name="TextBox 21"/>
          <p:cNvSpPr txBox="1"/>
          <p:nvPr/>
        </p:nvSpPr>
        <p:spPr>
          <a:xfrm>
            <a:off x="13911262" y="4114800"/>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It drives itself, about 10 s</a:t>
            </a:r>
          </a:p>
        </p:txBody>
      </p:sp>
      <p:sp>
        <p:nvSpPr>
          <p:cNvPr id="23" name="Rounded Rectangle 22"/>
          <p:cNvSpPr/>
          <p:nvPr/>
        </p:nvSpPr>
        <p:spPr>
          <a:xfrm>
            <a:off x="914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display.png"/>
          <p:cNvPicPr>
            <a:picLocks noChangeAspect="1"/>
          </p:cNvPicPr>
          <p:nvPr/>
        </p:nvPicPr>
        <p:blipFill>
          <a:blip r:embed="rId3"/>
          <a:stretch>
            <a:fillRect/>
          </a:stretch>
        </p:blipFill>
        <p:spPr>
          <a:xfrm>
            <a:off x="1295400" y="6000750"/>
            <a:ext cx="682752" cy="533400"/>
          </a:xfrm>
          <a:prstGeom prst="rect">
            <a:avLst/>
          </a:prstGeom>
        </p:spPr>
      </p:pic>
      <p:sp>
        <p:nvSpPr>
          <p:cNvPr id="25" name="TextBox 24"/>
          <p:cNvSpPr txBox="1"/>
          <p:nvPr/>
        </p:nvSpPr>
        <p:spPr>
          <a:xfrm>
            <a:off x="1295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 training</a:t>
            </a:r>
          </a:p>
        </p:txBody>
      </p:sp>
      <p:sp>
        <p:nvSpPr>
          <p:cNvPr id="26" name="TextBox 25"/>
          <p:cNvSpPr txBox="1"/>
          <p:nvPr/>
        </p:nvSpPr>
        <p:spPr>
          <a:xfrm>
            <a:off x="1295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Scriptum's Start button, its Elastic, Arbor and Driver Station panes. Changed the Java? Press Start again.</a:t>
            </a:r>
          </a:p>
        </p:txBody>
      </p:sp>
      <p:sp>
        <p:nvSpPr>
          <p:cNvPr id="27" name="Rounded Rectangle 26"/>
          <p:cNvSpPr/>
          <p:nvPr/>
        </p:nvSpPr>
        <p:spPr>
          <a:xfrm>
            <a:off x="9296400" y="5619750"/>
            <a:ext cx="80772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bot.png"/>
          <p:cNvPicPr>
            <a:picLocks noChangeAspect="1"/>
          </p:cNvPicPr>
          <p:nvPr/>
        </p:nvPicPr>
        <p:blipFill>
          <a:blip r:embed="rId4"/>
          <a:stretch>
            <a:fillRect/>
          </a:stretch>
        </p:blipFill>
        <p:spPr>
          <a:xfrm>
            <a:off x="9677400" y="6000750"/>
            <a:ext cx="568960" cy="533400"/>
          </a:xfrm>
          <a:prstGeom prst="rect">
            <a:avLst/>
          </a:prstGeom>
        </p:spPr>
      </p:pic>
      <p:sp>
        <p:nvSpPr>
          <p:cNvPr id="29" name="TextBox 28"/>
          <p:cNvSpPr txBox="1"/>
          <p:nvPr/>
        </p:nvSpPr>
        <p:spPr>
          <a:xfrm>
            <a:off x="9677400" y="68008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On the real robot</a:t>
            </a:r>
          </a:p>
        </p:txBody>
      </p:sp>
      <p:sp>
        <p:nvSpPr>
          <p:cNvPr id="30" name="TextBox 29"/>
          <p:cNvSpPr txBox="1"/>
          <p:nvPr/>
        </p:nvSpPr>
        <p:spPr>
          <a:xfrm>
            <a:off x="9677400" y="7362825"/>
            <a:ext cx="7315200" cy="13906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Deploy from VS Code. Pick the auto in Elastic on the drive laptop. The FRC Driver Station, or the field in a match, runs Auto.</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 the tree run in Arbor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857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LIVE VIEW, PARTWAY THROUGH THE AUTO</a:t>
            </a:r>
          </a:p>
        </p:txBody>
      </p:sp>
      <p:sp>
        <p:nvSpPr>
          <p:cNvPr id="7" name="Rectangle 6"/>
          <p:cNvSpPr/>
          <p:nvPr/>
        </p:nvSpPr>
        <p:spPr>
          <a:xfrm>
            <a:off x="9920288" y="655320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20288" y="7029450"/>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910762" y="7019925"/>
            <a:ext cx="57150" cy="53340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134100" y="464820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347912" y="5124450"/>
            <a:ext cx="761047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347912" y="5124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872038" y="5124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396162" y="5124450"/>
            <a:ext cx="38100" cy="5143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910762" y="5114925"/>
            <a:ext cx="57150" cy="533400"/>
          </a:xfrm>
          <a:prstGeom prst="rect">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223962" y="5619750"/>
            <a:ext cx="22860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1262062"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52562" y="5734050"/>
            <a:ext cx="19431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FollowPath</a:t>
            </a:r>
          </a:p>
        </p:txBody>
      </p:sp>
      <p:sp>
        <p:nvSpPr>
          <p:cNvPr id="19" name="TextBox 18"/>
          <p:cNvSpPr txBox="1"/>
          <p:nvPr/>
        </p:nvSpPr>
        <p:spPr>
          <a:xfrm>
            <a:off x="1452562" y="6023134"/>
            <a:ext cx="194310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ToPickup</a:t>
            </a:r>
          </a:p>
        </p:txBody>
      </p:sp>
      <p:sp>
        <p:nvSpPr>
          <p:cNvPr id="20" name="Rounded Rectangle 19"/>
          <p:cNvSpPr/>
          <p:nvPr/>
        </p:nvSpPr>
        <p:spPr>
          <a:xfrm>
            <a:off x="2433638" y="54673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433638" y="54673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2" name="Rounded Rectangle 21"/>
          <p:cNvSpPr/>
          <p:nvPr/>
        </p:nvSpPr>
        <p:spPr>
          <a:xfrm>
            <a:off x="3748088" y="5619750"/>
            <a:ext cx="22860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786188"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976688" y="5734050"/>
            <a:ext cx="19431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Sleep</a:t>
            </a:r>
          </a:p>
        </p:txBody>
      </p:sp>
      <p:sp>
        <p:nvSpPr>
          <p:cNvPr id="25" name="TextBox 24"/>
          <p:cNvSpPr txBox="1"/>
          <p:nvPr/>
        </p:nvSpPr>
        <p:spPr>
          <a:xfrm>
            <a:off x="3976688" y="6023134"/>
            <a:ext cx="194310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500</a:t>
            </a:r>
          </a:p>
        </p:txBody>
      </p:sp>
      <p:sp>
        <p:nvSpPr>
          <p:cNvPr id="26" name="Rounded Rectangle 25"/>
          <p:cNvSpPr/>
          <p:nvPr/>
        </p:nvSpPr>
        <p:spPr>
          <a:xfrm>
            <a:off x="4957762" y="54673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57762" y="54673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28" name="Rounded Rectangle 27"/>
          <p:cNvSpPr/>
          <p:nvPr/>
        </p:nvSpPr>
        <p:spPr>
          <a:xfrm>
            <a:off x="6272212" y="5619750"/>
            <a:ext cx="2286000" cy="952500"/>
          </a:xfrm>
          <a:prstGeom prst="roundRect">
            <a:avLst>
              <a:gd name="adj" fmla="val 12000"/>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310312" y="5715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00812" y="5734050"/>
            <a:ext cx="19431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FollowPath</a:t>
            </a:r>
          </a:p>
        </p:txBody>
      </p:sp>
      <p:sp>
        <p:nvSpPr>
          <p:cNvPr id="31" name="TextBox 30"/>
          <p:cNvSpPr txBox="1"/>
          <p:nvPr/>
        </p:nvSpPr>
        <p:spPr>
          <a:xfrm>
            <a:off x="6500812" y="6023134"/>
            <a:ext cx="194310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ToScore</a:t>
            </a:r>
          </a:p>
        </p:txBody>
      </p:sp>
      <p:sp>
        <p:nvSpPr>
          <p:cNvPr id="32" name="Rounded Rectangle 31"/>
          <p:cNvSpPr/>
          <p:nvPr/>
        </p:nvSpPr>
        <p:spPr>
          <a:xfrm>
            <a:off x="7481888" y="54673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81888" y="54673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34" name="Rounded Rectangle 33"/>
          <p:cNvSpPr/>
          <p:nvPr/>
        </p:nvSpPr>
        <p:spPr>
          <a:xfrm>
            <a:off x="8796338" y="7524750"/>
            <a:ext cx="22860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8834438" y="7620000"/>
            <a:ext cx="66675" cy="7620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24938" y="7639050"/>
            <a:ext cx="1943100" cy="270034"/>
          </a:xfrm>
          <a:prstGeom prst="rect">
            <a:avLst/>
          </a:prstGeom>
          <a:noFill/>
        </p:spPr>
        <p:txBody>
          <a:bodyPr wrap="square" lIns="0" rIns="0" tIns="0" bIns="0" anchor="t">
            <a:spAutoFit/>
          </a:bodyPr>
          <a:lstStyle/>
          <a:p>
            <a:pPr algn="l"/>
            <a:r>
              <a:rPr sz="1575" b="1" i="0">
                <a:solidFill>
                  <a:srgbClr val="2DD4BF"/>
                </a:solidFill>
                <a:latin typeface="Geist"/>
                <a:ea typeface="Geist"/>
                <a:cs typeface="Geist"/>
              </a:rPr>
              <a:t>▶  </a:t>
            </a:r>
            <a:r>
              <a:rPr sz="1575" b="1" i="0">
                <a:solidFill>
                  <a:srgbClr val="F0E8E8"/>
                </a:solidFill>
                <a:latin typeface="Geist"/>
                <a:ea typeface="Geist"/>
                <a:cs typeface="Geist"/>
              </a:rPr>
              <a:t>SetWantedState</a:t>
            </a:r>
          </a:p>
        </p:txBody>
      </p:sp>
      <p:sp>
        <p:nvSpPr>
          <p:cNvPr id="37" name="TextBox 36"/>
          <p:cNvSpPr txBox="1"/>
          <p:nvPr/>
        </p:nvSpPr>
        <p:spPr>
          <a:xfrm>
            <a:off x="9024938" y="7928134"/>
            <a:ext cx="194310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AIM</a:t>
            </a:r>
          </a:p>
        </p:txBody>
      </p:sp>
      <p:sp>
        <p:nvSpPr>
          <p:cNvPr id="38" name="Rounded Rectangle 37"/>
          <p:cNvSpPr/>
          <p:nvPr/>
        </p:nvSpPr>
        <p:spPr>
          <a:xfrm>
            <a:off x="10006012" y="7372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006012" y="7372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0" name="Rounded Rectangle 39"/>
          <p:cNvSpPr/>
          <p:nvPr/>
        </p:nvSpPr>
        <p:spPr>
          <a:xfrm>
            <a:off x="8796338" y="5619750"/>
            <a:ext cx="22860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834438" y="571500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024938" y="5734050"/>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Timeout</a:t>
            </a:r>
          </a:p>
        </p:txBody>
      </p:sp>
      <p:sp>
        <p:nvSpPr>
          <p:cNvPr id="43" name="TextBox 42"/>
          <p:cNvSpPr txBox="1"/>
          <p:nvPr/>
        </p:nvSpPr>
        <p:spPr>
          <a:xfrm>
            <a:off x="9024938" y="6023134"/>
            <a:ext cx="1943100" cy="240030"/>
          </a:xfrm>
          <a:prstGeom prst="rect">
            <a:avLst/>
          </a:prstGeom>
          <a:noFill/>
        </p:spPr>
        <p:txBody>
          <a:bodyPr wrap="square" lIns="0" rIns="0" tIns="0" bIns="0" anchor="t">
            <a:spAutoFit/>
          </a:bodyPr>
          <a:lstStyle/>
          <a:p>
            <a:pPr algn="l"/>
            <a:r>
              <a:rPr sz="1228" b="0" i="0">
                <a:solidFill>
                  <a:srgbClr val="E8C27A"/>
                </a:solidFill>
                <a:latin typeface="Geist Mono"/>
                <a:ea typeface="Geist Mono"/>
                <a:cs typeface="Geist Mono"/>
              </a:rPr>
              <a:t>3000</a:t>
            </a:r>
          </a:p>
        </p:txBody>
      </p:sp>
      <p:sp>
        <p:nvSpPr>
          <p:cNvPr id="44" name="Rounded Rectangle 43"/>
          <p:cNvSpPr/>
          <p:nvPr/>
        </p:nvSpPr>
        <p:spPr>
          <a:xfrm>
            <a:off x="10006012" y="5467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006012" y="5467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46" name="Rounded Rectangle 45"/>
          <p:cNvSpPr/>
          <p:nvPr/>
        </p:nvSpPr>
        <p:spPr>
          <a:xfrm>
            <a:off x="5010150" y="3714750"/>
            <a:ext cx="2286000" cy="952500"/>
          </a:xfrm>
          <a:prstGeom prst="roundRect">
            <a:avLst>
              <a:gd name="adj" fmla="val 12000"/>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5048250" y="3810000"/>
            <a:ext cx="66675" cy="7620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238750" y="4050982"/>
            <a:ext cx="1943100" cy="270034"/>
          </a:xfrm>
          <a:prstGeom prst="rect">
            <a:avLst/>
          </a:prstGeom>
          <a:noFill/>
        </p:spPr>
        <p:txBody>
          <a:bodyPr wrap="square" lIns="0" rIns="0" tIns="0" bIns="0" anchor="t">
            <a:spAutoFit/>
          </a:bodyPr>
          <a:lstStyle/>
          <a:p>
            <a:pPr algn="l"/>
            <a:r>
              <a:rPr sz="1575" b="1" i="0">
                <a:solidFill>
                  <a:srgbClr val="7C93C3"/>
                </a:solidFill>
                <a:latin typeface="Geist"/>
                <a:ea typeface="Geist"/>
                <a:cs typeface="Geist"/>
              </a:rPr>
              <a:t>→  </a:t>
            </a:r>
            <a:r>
              <a:rPr sz="1575" b="1" i="0">
                <a:solidFill>
                  <a:srgbClr val="F0E8E8"/>
                </a:solidFill>
                <a:latin typeface="Geist"/>
                <a:ea typeface="Geist"/>
                <a:cs typeface="Geist"/>
              </a:rPr>
              <a:t>Sequence</a:t>
            </a:r>
          </a:p>
        </p:txBody>
      </p:sp>
      <p:sp>
        <p:nvSpPr>
          <p:cNvPr id="49" name="Rounded Rectangle 48"/>
          <p:cNvSpPr/>
          <p:nvPr/>
        </p:nvSpPr>
        <p:spPr>
          <a:xfrm>
            <a:off x="6219825" y="3562350"/>
            <a:ext cx="981075" cy="28575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219825" y="3562350"/>
            <a:ext cx="981075" cy="285750"/>
          </a:xfrm>
          <a:prstGeom prst="rect">
            <a:avLst/>
          </a:prstGeom>
          <a:noFill/>
        </p:spPr>
        <p:txBody>
          <a:bodyPr wrap="square" lIns="0" rIns="0" tIns="0" bIns="0" anchor="ctr">
            <a:spAutoFit/>
          </a:bodyPr>
          <a:lstStyle/>
          <a:p>
            <a:pPr algn="ctr"/>
            <a:r>
              <a:rPr sz="1125" b="1" i="0" spc="60">
                <a:solidFill>
                  <a:srgbClr val="111111"/>
                </a:solidFill>
                <a:latin typeface="Geist"/>
                <a:ea typeface="Geist"/>
                <a:cs typeface="Geist"/>
              </a:rPr>
              <a:t>RUNNING</a:t>
            </a:r>
          </a:p>
        </p:txBody>
      </p:sp>
      <p:sp>
        <p:nvSpPr>
          <p:cNvPr id="51" name="Rounded Rectangle 50"/>
          <p:cNvSpPr/>
          <p:nvPr/>
        </p:nvSpPr>
        <p:spPr>
          <a:xfrm>
            <a:off x="1524000" y="8229600"/>
            <a:ext cx="323850" cy="323850"/>
          </a:xfrm>
          <a:prstGeom prst="roundRect">
            <a:avLst>
              <a:gd name="adj" fmla="val 23529"/>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981200" y="819150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RUNNING</a:t>
            </a:r>
          </a:p>
        </p:txBody>
      </p:sp>
      <p:sp>
        <p:nvSpPr>
          <p:cNvPr id="53" name="Rounded Rectangle 52"/>
          <p:cNvSpPr/>
          <p:nvPr/>
        </p:nvSpPr>
        <p:spPr>
          <a:xfrm>
            <a:off x="4381500" y="8229600"/>
            <a:ext cx="323850" cy="323850"/>
          </a:xfrm>
          <a:prstGeom prst="roundRect">
            <a:avLst>
              <a:gd name="adj" fmla="val 23529"/>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838700" y="819150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SUCCESS</a:t>
            </a:r>
          </a:p>
        </p:txBody>
      </p:sp>
      <p:sp>
        <p:nvSpPr>
          <p:cNvPr id="55" name="Rounded Rectangle 54"/>
          <p:cNvSpPr/>
          <p:nvPr/>
        </p:nvSpPr>
        <p:spPr>
          <a:xfrm>
            <a:off x="7239000" y="8229600"/>
            <a:ext cx="323850" cy="323850"/>
          </a:xfrm>
          <a:prstGeom prst="roundRect">
            <a:avLst>
              <a:gd name="adj" fmla="val 23529"/>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7696200" y="8191500"/>
            <a:ext cx="238125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FAILURE</a:t>
            </a:r>
          </a:p>
        </p:txBody>
      </p:sp>
      <p:sp>
        <p:nvSpPr>
          <p:cNvPr id="57" name="Oval 56"/>
          <p:cNvSpPr/>
          <p:nvPr/>
        </p:nvSpPr>
        <p:spPr>
          <a:xfrm>
            <a:off x="11906250" y="2952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59" name="TextBox 58"/>
          <p:cNvSpPr txBox="1"/>
          <p:nvPr/>
        </p:nvSpPr>
        <p:spPr>
          <a:xfrm>
            <a:off x="12515850" y="291465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Live</a:t>
            </a:r>
          </a:p>
        </p:txBody>
      </p:sp>
      <p:sp>
        <p:nvSpPr>
          <p:cNvPr id="60" name="TextBox 59"/>
          <p:cNvSpPr txBox="1"/>
          <p:nvPr/>
        </p:nvSpPr>
        <p:spPr>
          <a:xfrm>
            <a:off x="12515850" y="335280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Connect Arbor to the robot or simulator</a:t>
            </a:r>
          </a:p>
        </p:txBody>
      </p:sp>
      <p:sp>
        <p:nvSpPr>
          <p:cNvPr id="61" name="Oval 60"/>
          <p:cNvSpPr/>
          <p:nvPr/>
        </p:nvSpPr>
        <p:spPr>
          <a:xfrm>
            <a:off x="11906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63" name="TextBox 62"/>
          <p:cNvSpPr txBox="1"/>
          <p:nvPr/>
        </p:nvSpPr>
        <p:spPr>
          <a:xfrm>
            <a:off x="12515850" y="472440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Replay</a:t>
            </a:r>
          </a:p>
        </p:txBody>
      </p:sp>
      <p:sp>
        <p:nvSpPr>
          <p:cNvPr id="64" name="TextBox 63"/>
          <p:cNvSpPr txBox="1"/>
          <p:nvPr/>
        </p:nvSpPr>
        <p:spPr>
          <a:xfrm>
            <a:off x="12515850" y="516255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.btlog files in logs/bt, or /U/logs/bt on the robot</a:t>
            </a:r>
          </a:p>
        </p:txBody>
      </p:sp>
      <p:sp>
        <p:nvSpPr>
          <p:cNvPr id="65" name="Oval 64"/>
          <p:cNvSpPr/>
          <p:nvPr/>
        </p:nvSpPr>
        <p:spPr>
          <a:xfrm>
            <a:off x="1190625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9062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67" name="TextBox 66"/>
          <p:cNvSpPr txBox="1"/>
          <p:nvPr/>
        </p:nvSpPr>
        <p:spPr>
          <a:xfrm>
            <a:off x="12515850" y="6534150"/>
            <a:ext cx="485775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AdvantageScope</a:t>
            </a:r>
          </a:p>
        </p:txBody>
      </p:sp>
      <p:sp>
        <p:nvSpPr>
          <p:cNvPr id="68" name="TextBox 67"/>
          <p:cNvSpPr txBox="1"/>
          <p:nvPr/>
        </p:nvSpPr>
        <p:spPr>
          <a:xfrm>
            <a:off x="12515850" y="6972300"/>
            <a:ext cx="485775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BehaviorTree/Active and .../Transitions</a:t>
            </a:r>
          </a:p>
        </p:txBody>
      </p:sp>
      <p:sp>
        <p:nvSpPr>
          <p:cNvPr id="69" name="TextBox 6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0" name="TextBox 6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distances in AdvantageScope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7800975"/>
            <a:ext cx="9544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7667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7134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33500" y="7000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0" name="Rectangle 9"/>
          <p:cNvSpPr/>
          <p:nvPr/>
        </p:nvSpPr>
        <p:spPr>
          <a:xfrm>
            <a:off x="1895475" y="6467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6334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2" name="Rectangle 11"/>
          <p:cNvSpPr/>
          <p:nvPr/>
        </p:nvSpPr>
        <p:spPr>
          <a:xfrm>
            <a:off x="1895475" y="5800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33500" y="5667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4" name="Rectangle 13"/>
          <p:cNvSpPr/>
          <p:nvPr/>
        </p:nvSpPr>
        <p:spPr>
          <a:xfrm>
            <a:off x="1895475" y="51339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50006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6" name="Rectangle 15"/>
          <p:cNvSpPr/>
          <p:nvPr/>
        </p:nvSpPr>
        <p:spPr>
          <a:xfrm>
            <a:off x="1895475" y="4467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33500" y="43338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a:t>
            </a:r>
          </a:p>
        </p:txBody>
      </p:sp>
      <p:sp>
        <p:nvSpPr>
          <p:cNvPr id="18" name="Rectangle 17"/>
          <p:cNvSpPr/>
          <p:nvPr/>
        </p:nvSpPr>
        <p:spPr>
          <a:xfrm>
            <a:off x="1895475" y="380047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333500" y="366712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20" name="Rectangle 19"/>
          <p:cNvSpPr/>
          <p:nvPr/>
        </p:nvSpPr>
        <p:spPr>
          <a:xfrm>
            <a:off x="1895475" y="3133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33500" y="3000375"/>
            <a:ext cx="438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a:t>
            </a:r>
          </a:p>
        </p:txBody>
      </p:sp>
      <p:sp>
        <p:nvSpPr>
          <p:cNvPr id="22" name="TextBox 21"/>
          <p:cNvSpPr txBox="1"/>
          <p:nvPr/>
        </p:nvSpPr>
        <p:spPr>
          <a:xfrm>
            <a:off x="161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52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4" name="TextBox 23"/>
          <p:cNvSpPr txBox="1"/>
          <p:nvPr/>
        </p:nvSpPr>
        <p:spPr>
          <a:xfrm>
            <a:off x="542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5" name="TextBox 24"/>
          <p:cNvSpPr txBox="1"/>
          <p:nvPr/>
        </p:nvSpPr>
        <p:spPr>
          <a:xfrm>
            <a:off x="733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6" name="TextBox 25"/>
          <p:cNvSpPr txBox="1"/>
          <p:nvPr/>
        </p:nvSpPr>
        <p:spPr>
          <a:xfrm>
            <a:off x="9239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7" name="TextBox 26"/>
          <p:cNvSpPr txBox="1"/>
          <p:nvPr/>
        </p:nvSpPr>
        <p:spPr>
          <a:xfrm>
            <a:off x="11144250" y="7962900"/>
            <a:ext cx="571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 s</a:t>
            </a:r>
          </a:p>
        </p:txBody>
      </p:sp>
      <p:sp>
        <p:nvSpPr>
          <p:cNvPr id="28" name="Rectangle 27"/>
          <p:cNvSpPr/>
          <p:nvPr/>
        </p:nvSpPr>
        <p:spPr>
          <a:xfrm>
            <a:off x="1890712" y="7529512"/>
            <a:ext cx="9553575" cy="28575"/>
          </a:xfrm>
          <a:prstGeom prst="rect">
            <a:avLst/>
          </a:prstGeom>
          <a:solidFill>
            <a:srgbClr val="CC2200"/>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096500" y="7200900"/>
            <a:ext cx="1333500" cy="285750"/>
          </a:xfrm>
          <a:prstGeom prst="rect">
            <a:avLst/>
          </a:prstGeom>
          <a:noFill/>
        </p:spPr>
        <p:txBody>
          <a:bodyPr wrap="square" lIns="0" rIns="0" tIns="0" bIns="0" anchor="t">
            <a:spAutoFit/>
          </a:bodyPr>
          <a:lstStyle/>
          <a:p>
            <a:pPr algn="r"/>
            <a:r>
              <a:rPr sz="1500" b="1" i="0">
                <a:solidFill>
                  <a:srgbClr val="CC2200"/>
                </a:solidFill>
                <a:latin typeface="Geist"/>
                <a:ea typeface="Geist"/>
                <a:cs typeface="Geist"/>
              </a:rPr>
              <a:t>0.4 m</a:t>
            </a:r>
          </a:p>
        </p:txBody>
      </p:sp>
      <p:sp>
        <p:nvSpPr>
          <p:cNvPr id="30" name="Rectangle 29"/>
          <p:cNvSpPr/>
          <p:nvPr/>
        </p:nvSpPr>
        <p:spPr>
          <a:xfrm>
            <a:off x="1881188" y="5037607"/>
            <a:ext cx="96202"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a:off x="1953578" y="5065300"/>
            <a:ext cx="47624" cy="109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01202" y="5076294"/>
            <a:ext cx="48578" cy="18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049780" y="5094396"/>
            <a:ext cx="47625" cy="25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97405" y="5120242"/>
            <a:ext cx="48577" cy="329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145982" y="5153172"/>
            <a:ext cx="47626" cy="399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193608" y="5193167"/>
            <a:ext cx="48577" cy="470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242185" y="5240204"/>
            <a:ext cx="47625" cy="540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289810" y="5294252"/>
            <a:ext cx="48578" cy="57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338388" y="5352244"/>
            <a:ext cx="47624" cy="587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386012" y="5410962"/>
            <a:ext cx="48578" cy="595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434590" y="5470522"/>
            <a:ext cx="48578" cy="599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483168" y="5530521"/>
            <a:ext cx="47624" cy="606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30792" y="5591195"/>
            <a:ext cx="48578" cy="605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579370" y="5651737"/>
            <a:ext cx="47625" cy="606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626995" y="5712405"/>
            <a:ext cx="48577" cy="601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75572" y="5772551"/>
            <a:ext cx="47626" cy="601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23198" y="5832679"/>
            <a:ext cx="48577" cy="60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71775" y="5893614"/>
            <a:ext cx="47625" cy="60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819400" y="5953702"/>
            <a:ext cx="48578" cy="605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867978" y="6014229"/>
            <a:ext cx="47624" cy="598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915602" y="6074095"/>
            <a:ext cx="48578" cy="604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964180" y="6134582"/>
            <a:ext cx="48578" cy="604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012758" y="6195045"/>
            <a:ext cx="47624" cy="604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060382" y="6255483"/>
            <a:ext cx="48578" cy="597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108960" y="6315246"/>
            <a:ext cx="47625" cy="603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156585" y="6375621"/>
            <a:ext cx="48577" cy="60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205162" y="6435960"/>
            <a:ext cx="47626" cy="60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252788" y="6496256"/>
            <a:ext cx="48577" cy="59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01365" y="6555855"/>
            <a:ext cx="47625" cy="6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48990" y="6616046"/>
            <a:ext cx="48578" cy="601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97568" y="6676173"/>
            <a:ext cx="47625" cy="600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45193" y="6736225"/>
            <a:ext cx="48577" cy="599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493770" y="6796188"/>
            <a:ext cx="48578" cy="592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542348" y="6855391"/>
            <a:ext cx="47624" cy="597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589972" y="6915122"/>
            <a:ext cx="48578" cy="59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638550" y="6974806"/>
            <a:ext cx="47625" cy="589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686175" y="7033715"/>
            <a:ext cx="48577" cy="585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734752" y="7092249"/>
            <a:ext cx="47626" cy="581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82378" y="7150442"/>
            <a:ext cx="48577" cy="588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30955" y="7209329"/>
            <a:ext cx="47625" cy="590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878580" y="7268340"/>
            <a:ext cx="48578" cy="598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927158" y="7328196"/>
            <a:ext cx="48577" cy="601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975735" y="7388395"/>
            <a:ext cx="47625" cy="607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023360" y="7449116"/>
            <a:ext cx="48578" cy="606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071938" y="7509795"/>
            <a:ext cx="47624" cy="6000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119562" y="7569803"/>
            <a:ext cx="48578" cy="560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168140" y="7625810"/>
            <a:ext cx="47625" cy="4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215765" y="7674483"/>
            <a:ext cx="48577" cy="41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264342" y="7715821"/>
            <a:ext cx="47626" cy="340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311968" y="7749826"/>
            <a:ext cx="48577" cy="266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360545" y="7776496"/>
            <a:ext cx="47625" cy="1866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408170" y="7795165"/>
            <a:ext cx="48578" cy="1133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4432935" y="7782687"/>
            <a:ext cx="96203"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4481512" y="778668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4719638" y="7786688"/>
            <a:ext cx="52387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19588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3779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27970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2161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363528" y="7786688"/>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05438" y="7786021"/>
            <a:ext cx="8953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 name="Connector 91"/>
          <p:cNvCxnSpPr/>
          <p:nvPr/>
        </p:nvCxnSpPr>
        <p:spPr>
          <a:xfrm flipV="1">
            <a:off x="5471160" y="7798480"/>
            <a:ext cx="41910" cy="862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513070" y="7784497"/>
            <a:ext cx="41910" cy="1398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554980" y="7765466"/>
            <a:ext cx="41910" cy="1903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596890" y="7740364"/>
            <a:ext cx="42862" cy="251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639752" y="7709145"/>
            <a:ext cx="41910" cy="31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681662" y="7672997"/>
            <a:ext cx="41911" cy="361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723573" y="7631904"/>
            <a:ext cx="41909" cy="4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765482" y="7584981"/>
            <a:ext cx="41910" cy="4692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807392" y="7535107"/>
            <a:ext cx="41910" cy="498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849302" y="7485208"/>
            <a:ext cx="41910" cy="498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891212" y="7435359"/>
            <a:ext cx="41910" cy="49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933122" y="7386786"/>
            <a:ext cx="41910" cy="48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975032" y="7338176"/>
            <a:ext cx="41910" cy="486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016942" y="7290065"/>
            <a:ext cx="41910" cy="481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6058852" y="7241214"/>
            <a:ext cx="41910" cy="488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100762" y="7191689"/>
            <a:ext cx="41910" cy="4952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142672" y="7141912"/>
            <a:ext cx="41910" cy="49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6184582" y="7090920"/>
            <a:ext cx="41910" cy="50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226492" y="7039520"/>
            <a:ext cx="41910" cy="51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268402" y="6987609"/>
            <a:ext cx="41910" cy="519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310312" y="6934817"/>
            <a:ext cx="41911" cy="527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52223" y="6881825"/>
            <a:ext cx="41909" cy="529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394132" y="6837538"/>
            <a:ext cx="36195" cy="442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430327" y="6793126"/>
            <a:ext cx="35243" cy="444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465570" y="6749424"/>
            <a:ext cx="35242" cy="437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500812" y="6705789"/>
            <a:ext cx="35243" cy="436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536055" y="6662452"/>
            <a:ext cx="35243" cy="43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571298" y="6618439"/>
            <a:ext cx="35242" cy="440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606540" y="6574373"/>
            <a:ext cx="35242" cy="440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641782" y="6530800"/>
            <a:ext cx="35243" cy="435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677025" y="6486252"/>
            <a:ext cx="35242" cy="445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712267" y="6442173"/>
            <a:ext cx="35243" cy="440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747510" y="6397423"/>
            <a:ext cx="35242" cy="447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782752" y="6353156"/>
            <a:ext cx="35243" cy="442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817995" y="6309360"/>
            <a:ext cx="35243" cy="437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853238" y="6265206"/>
            <a:ext cx="35242" cy="44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888480" y="6223052"/>
            <a:ext cx="35243" cy="421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923723" y="6184110"/>
            <a:ext cx="35242" cy="389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958965" y="6149340"/>
            <a:ext cx="35243" cy="347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6994208" y="6118746"/>
            <a:ext cx="35242" cy="3059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029450" y="6091975"/>
            <a:ext cx="35242" cy="267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064692" y="6069748"/>
            <a:ext cx="36196" cy="222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100888" y="6050842"/>
            <a:ext cx="35242" cy="1890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136130" y="6036131"/>
            <a:ext cx="35242" cy="14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171372" y="6025989"/>
            <a:ext cx="35243" cy="1014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206615" y="6018934"/>
            <a:ext cx="35243" cy="705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7218045" y="5995122"/>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253288" y="5992027"/>
            <a:ext cx="8286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7288530" y="5991408"/>
            <a:ext cx="82868"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7323772" y="5991408"/>
            <a:ext cx="28575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7561898" y="5991408"/>
            <a:ext cx="389191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1881188" y="371732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4" name="Connector 143"/>
          <p:cNvCxnSpPr/>
          <p:nvPr/>
        </p:nvCxnSpPr>
        <p:spPr>
          <a:xfrm>
            <a:off x="1953578" y="3744416"/>
            <a:ext cx="47624" cy="92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2001202" y="3753693"/>
            <a:ext cx="48578" cy="152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2049780" y="3768950"/>
            <a:ext cx="47625" cy="2174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2097405" y="3790695"/>
            <a:ext cx="48577" cy="276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2145982" y="3818334"/>
            <a:ext cx="47626" cy="33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2193608" y="3851800"/>
            <a:ext cx="48577" cy="3921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2242185" y="3891012"/>
            <a:ext cx="47625" cy="4485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2289810" y="3935867"/>
            <a:ext cx="48578" cy="481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2338388" y="3984005"/>
            <a:ext cx="47624" cy="487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2386012" y="4032741"/>
            <a:ext cx="48578" cy="504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2434590" y="4083207"/>
            <a:ext cx="48578" cy="5216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2483168" y="4135367"/>
            <a:ext cx="47624" cy="543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2530792" y="4189723"/>
            <a:ext cx="48578" cy="5569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2579370" y="4245416"/>
            <a:ext cx="47625" cy="5674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2626995" y="4302164"/>
            <a:ext cx="48577" cy="573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2675572" y="4359500"/>
            <a:ext cx="47626" cy="5723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2723198" y="4416730"/>
            <a:ext cx="48577" cy="5805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2771775" y="4474787"/>
            <a:ext cx="47625" cy="5699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2819400" y="4531786"/>
            <a:ext cx="48578" cy="5692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2867978" y="4588710"/>
            <a:ext cx="47624" cy="5628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2915602" y="4644997"/>
            <a:ext cx="48578" cy="566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2964180" y="4701628"/>
            <a:ext cx="48578" cy="5647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3012758" y="4758099"/>
            <a:ext cx="47624" cy="563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3060382" y="4814401"/>
            <a:ext cx="48578" cy="556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3108960" y="4870045"/>
            <a:ext cx="47625" cy="559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3156585" y="4925982"/>
            <a:ext cx="48577" cy="5573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3205162" y="4981719"/>
            <a:ext cx="47626" cy="555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3252788" y="5037244"/>
            <a:ext cx="48577" cy="5483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3301365" y="5092079"/>
            <a:ext cx="47625" cy="5506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3348990" y="5147143"/>
            <a:ext cx="48578" cy="5480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3397568" y="5201952"/>
            <a:ext cx="47625" cy="5453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3445193" y="5256491"/>
            <a:ext cx="48577" cy="542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3493770" y="5310740"/>
            <a:ext cx="48578" cy="535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3542348" y="5364244"/>
            <a:ext cx="47624" cy="5361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3589972" y="5417863"/>
            <a:ext cx="48578" cy="537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3638550" y="5471645"/>
            <a:ext cx="47625" cy="5351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3686175" y="5525162"/>
            <a:ext cx="48577" cy="52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3734752" y="5577788"/>
            <a:ext cx="47626" cy="52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3782378" y="5630011"/>
            <a:ext cx="48577" cy="504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3830955" y="5680449"/>
            <a:ext cx="47625" cy="4810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3878580" y="5728553"/>
            <a:ext cx="48578" cy="44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3927158" y="5773444"/>
            <a:ext cx="48577" cy="4050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3975735" y="5813944"/>
            <a:ext cx="47625" cy="364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4023360" y="5850349"/>
            <a:ext cx="48578" cy="322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4071938" y="5882635"/>
            <a:ext cx="47624" cy="299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4119562" y="5912624"/>
            <a:ext cx="48578" cy="261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168140" y="5938757"/>
            <a:ext cx="47625" cy="2163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4215765" y="5960390"/>
            <a:ext cx="48577" cy="175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4264342" y="5977948"/>
            <a:ext cx="47626" cy="1386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4311968" y="5991814"/>
            <a:ext cx="48577" cy="105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4360545" y="6002316"/>
            <a:ext cx="47625" cy="71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4384358" y="5985657"/>
            <a:ext cx="96202"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6" name="Rectangle 195"/>
          <p:cNvSpPr/>
          <p:nvPr/>
        </p:nvSpPr>
        <p:spPr>
          <a:xfrm>
            <a:off x="4432935" y="5989919"/>
            <a:ext cx="96203"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4481512" y="599140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4719638" y="5991408"/>
            <a:ext cx="52387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519588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523779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527970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532161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5363528" y="5991408"/>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5405438" y="5991656"/>
            <a:ext cx="8953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5" name="Connector 204"/>
          <p:cNvCxnSpPr/>
          <p:nvPr/>
        </p:nvCxnSpPr>
        <p:spPr>
          <a:xfrm>
            <a:off x="5471160" y="6017076"/>
            <a:ext cx="41910" cy="60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513070" y="6023122"/>
            <a:ext cx="41910" cy="1020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554980" y="6033324"/>
            <a:ext cx="41910" cy="14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596890" y="6048013"/>
            <a:ext cx="42862" cy="2099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5639752" y="6069010"/>
            <a:ext cx="41910" cy="2765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5681662" y="6096666"/>
            <a:ext cx="41911" cy="3321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5723573" y="6129876"/>
            <a:ext cx="41909" cy="3958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5765482" y="6169462"/>
            <a:ext cx="41910" cy="466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5807392" y="6216088"/>
            <a:ext cx="41910" cy="50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5849302" y="6267064"/>
            <a:ext cx="41910" cy="5223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891212" y="6319300"/>
            <a:ext cx="41910" cy="5334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933122" y="6372642"/>
            <a:ext cx="41910" cy="525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5975032" y="6425191"/>
            <a:ext cx="41910" cy="5233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6016942" y="6477529"/>
            <a:ext cx="41910" cy="5144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6058852" y="6528975"/>
            <a:ext cx="41910" cy="5155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6100762" y="6580529"/>
            <a:ext cx="41910" cy="51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6142672" y="6631960"/>
            <a:ext cx="41910" cy="51058"/>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6184582" y="6683018"/>
            <a:ext cx="41910" cy="5160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6226492" y="6734623"/>
            <a:ext cx="41910" cy="51577"/>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6268402" y="6786200"/>
            <a:ext cx="41910" cy="5184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6310312" y="6838049"/>
            <a:ext cx="41911" cy="5269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352223" y="6890743"/>
            <a:ext cx="41909" cy="5298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394132" y="6943725"/>
            <a:ext cx="36195" cy="4436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6430327" y="6988086"/>
            <a:ext cx="35243" cy="444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6465570" y="7032576"/>
            <a:ext cx="35242" cy="4371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6500812" y="7076287"/>
            <a:ext cx="35243" cy="4349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6536055" y="7119783"/>
            <a:ext cx="35243" cy="4297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6571298" y="7162759"/>
            <a:ext cx="35242" cy="4343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606540" y="7206190"/>
            <a:ext cx="35242" cy="4322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641782" y="7249413"/>
            <a:ext cx="35243" cy="425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677025" y="7291996"/>
            <a:ext cx="35242" cy="4342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6712267" y="7335425"/>
            <a:ext cx="35243" cy="43144"/>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6747510" y="7378569"/>
            <a:ext cx="35242" cy="4392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6782752" y="7422494"/>
            <a:ext cx="35243" cy="43822"/>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6817995" y="7466316"/>
            <a:ext cx="35243" cy="43826"/>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6853238" y="7510142"/>
            <a:ext cx="35242" cy="4428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6888480" y="7554423"/>
            <a:ext cx="35243" cy="4255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6923723" y="7596973"/>
            <a:ext cx="35242" cy="3955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6958965" y="7636524"/>
            <a:ext cx="35243" cy="3536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6994208" y="7671887"/>
            <a:ext cx="35242" cy="3118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7029450" y="7703070"/>
            <a:ext cx="35242" cy="27615"/>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7064692" y="7730685"/>
            <a:ext cx="36196" cy="228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7100888" y="7753576"/>
            <a:ext cx="35242" cy="19491"/>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7136130" y="7773067"/>
            <a:ext cx="35242" cy="15390"/>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7171372" y="7788457"/>
            <a:ext cx="35243" cy="10689"/>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7206615" y="7799146"/>
            <a:ext cx="35243" cy="7353"/>
          </a:xfrm>
          <a:prstGeom prst="line">
            <a:avLst/>
          </a:prstGeom>
          <a:ln w="47625"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251" name="Rectangle 250"/>
          <p:cNvSpPr/>
          <p:nvPr/>
        </p:nvSpPr>
        <p:spPr>
          <a:xfrm>
            <a:off x="7218045" y="7782687"/>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7253288" y="7786021"/>
            <a:ext cx="82867"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7288530" y="7786688"/>
            <a:ext cx="82868"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7323772" y="7786688"/>
            <a:ext cx="285750"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7561898" y="7786688"/>
            <a:ext cx="3891915" cy="47625"/>
          </a:xfrm>
          <a:prstGeom prst="rect">
            <a:avLst/>
          </a:prstGeom>
          <a:solidFill>
            <a:srgbClr val="E8C27A"/>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1905000" y="850582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TextBox 256"/>
          <p:cNvSpPr txBox="1"/>
          <p:nvPr/>
        </p:nvSpPr>
        <p:spPr>
          <a:xfrm>
            <a:off x="241935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Drive/DistanceToPickup</a:t>
            </a:r>
          </a:p>
        </p:txBody>
      </p:sp>
      <p:sp>
        <p:nvSpPr>
          <p:cNvPr id="258" name="Rectangle 257"/>
          <p:cNvSpPr/>
          <p:nvPr/>
        </p:nvSpPr>
        <p:spPr>
          <a:xfrm>
            <a:off x="6381750" y="8505825"/>
            <a:ext cx="381000" cy="7620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TextBox 258"/>
          <p:cNvSpPr txBox="1"/>
          <p:nvPr/>
        </p:nvSpPr>
        <p:spPr>
          <a:xfrm>
            <a:off x="6896100" y="8362950"/>
            <a:ext cx="3810000" cy="3238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Drive/DistanceToScoreSpot</a:t>
            </a:r>
          </a:p>
        </p:txBody>
      </p:sp>
      <p:sp>
        <p:nvSpPr>
          <p:cNvPr id="260" name="Oval 259"/>
          <p:cNvSpPr/>
          <p:nvPr/>
        </p:nvSpPr>
        <p:spPr>
          <a:xfrm>
            <a:off x="4476750" y="6762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47675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2" name="Oval 261"/>
          <p:cNvSpPr/>
          <p:nvPr/>
        </p:nvSpPr>
        <p:spPr>
          <a:xfrm>
            <a:off x="7429500" y="67627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429500" y="67627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4" name="Oval 263"/>
          <p:cNvSpPr/>
          <p:nvPr/>
        </p:nvSpPr>
        <p:spPr>
          <a:xfrm>
            <a:off x="9715500" y="5505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715500" y="5505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6" name="Oval 265"/>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8" name="TextBox 267"/>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Pickup dips</a:t>
            </a:r>
          </a:p>
        </p:txBody>
      </p:sp>
      <p:sp>
        <p:nvSpPr>
          <p:cNvPr id="269" name="TextBox 268"/>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pickup</a:t>
            </a:r>
          </a:p>
        </p:txBody>
      </p:sp>
      <p:sp>
        <p:nvSpPr>
          <p:cNvPr id="270" name="Oval 269"/>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2" name="TextBox 271"/>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ScoreSpot dips</a:t>
            </a:r>
          </a:p>
        </p:txBody>
      </p:sp>
      <p:sp>
        <p:nvSpPr>
          <p:cNvPr id="273" name="TextBox 272"/>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0.4 m: Reaches the scoring spot</a:t>
            </a:r>
          </a:p>
        </p:txBody>
      </p:sp>
      <p:sp>
        <p:nvSpPr>
          <p:cNvPr id="274" name="Oval 273"/>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6" name="TextBox 275"/>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Flat at the end</a:t>
            </a:r>
          </a:p>
        </p:txBody>
      </p:sp>
      <p:sp>
        <p:nvSpPr>
          <p:cNvPr id="277" name="TextBox 276"/>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Standing still: aiming, then shooting</a:t>
            </a:r>
          </a:p>
        </p:txBody>
      </p:sp>
      <p:sp>
        <p:nvSpPr>
          <p:cNvPr id="278" name="Oval 277"/>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80" name="TextBox 279"/>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Also plot</a:t>
            </a:r>
          </a:p>
        </p:txBody>
      </p:sp>
      <p:sp>
        <p:nvSpPr>
          <p:cNvPr id="281" name="TextBox 280"/>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TrueAimErrorDegrees: near 0 before the shot</a:t>
            </a:r>
          </a:p>
        </p:txBody>
      </p:sp>
      <p:sp>
        <p:nvSpPr>
          <p:cNvPr id="282" name="TextBox 2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3" name="TextBox 2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RUN AND CHECK</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When a check fails, it's a clue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39065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45720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What you see</a:t>
            </a:r>
          </a:p>
        </p:txBody>
      </p:sp>
      <p:sp>
        <p:nvSpPr>
          <p:cNvPr id="7" name="TextBox 6"/>
          <p:cNvSpPr txBox="1"/>
          <p:nvPr/>
        </p:nvSpPr>
        <p:spPr>
          <a:xfrm>
            <a:off x="6134100" y="2857500"/>
            <a:ext cx="8572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Look at</a:t>
            </a:r>
          </a:p>
        </p:txBody>
      </p:sp>
      <p:sp>
        <p:nvSpPr>
          <p:cNvPr id="8" name="Rectangle 7"/>
          <p:cNvSpPr/>
          <p:nvPr/>
        </p:nvSpPr>
        <p:spPr>
          <a:xfrm>
            <a:off x="904875" y="45529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1100" y="35623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reaches the pickup</a:t>
            </a:r>
          </a:p>
        </p:txBody>
      </p:sp>
      <p:sp>
        <p:nvSpPr>
          <p:cNvPr id="10" name="TextBox 9"/>
          <p:cNvSpPr txBox="1"/>
          <p:nvPr/>
        </p:nvSpPr>
        <p:spPr>
          <a:xfrm>
            <a:off x="6134100" y="35623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first FollowPath: path name, generated, spelled the same?</a:t>
            </a:r>
          </a:p>
        </p:txBody>
      </p:sp>
      <p:sp>
        <p:nvSpPr>
          <p:cNvPr id="11" name="Rectangle 10"/>
          <p:cNvSpPr/>
          <p:nvPr/>
        </p:nvSpPr>
        <p:spPr>
          <a:xfrm>
            <a:off x="904875" y="56007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46101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reaches the scoring spot</a:t>
            </a:r>
          </a:p>
        </p:txBody>
      </p:sp>
      <p:sp>
        <p:nvSpPr>
          <p:cNvPr id="13" name="TextBox 12"/>
          <p:cNvSpPr txBox="1"/>
          <p:nvPr/>
        </p:nvSpPr>
        <p:spPr>
          <a:xfrm>
            <a:off x="6134100" y="46101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ToScore never ran, or doesn't start where ToPickup ended</a:t>
            </a:r>
          </a:p>
        </p:txBody>
      </p:sp>
      <p:sp>
        <p:nvSpPr>
          <p:cNvPr id="14" name="Rectangle 13"/>
          <p:cNvSpPr/>
          <p:nvPr/>
        </p:nvSpPr>
        <p:spPr>
          <a:xfrm>
            <a:off x="904875" y="664845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565785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Shoots without turning</a:t>
            </a:r>
          </a:p>
        </p:txBody>
      </p:sp>
      <p:sp>
        <p:nvSpPr>
          <p:cNvPr id="16" name="TextBox 15"/>
          <p:cNvSpPr txBox="1"/>
          <p:nvPr/>
        </p:nvSpPr>
        <p:spPr>
          <a:xfrm>
            <a:off x="6134100" y="565785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The AIM step in RobotContainer, or AIM after SHOOT in the tree</a:t>
            </a:r>
          </a:p>
        </p:txBody>
      </p:sp>
      <p:sp>
        <p:nvSpPr>
          <p:cNvPr id="17" name="Rectangle 16"/>
          <p:cNvSpPr/>
          <p:nvPr/>
        </p:nvSpPr>
        <p:spPr>
          <a:xfrm>
            <a:off x="904875" y="7696200"/>
            <a:ext cx="1392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6705600"/>
            <a:ext cx="4533900" cy="952500"/>
          </a:xfrm>
          <a:prstGeom prst="rect">
            <a:avLst/>
          </a:prstGeom>
          <a:noFill/>
        </p:spPr>
        <p:txBody>
          <a:bodyPr wrap="square" lIns="0" rIns="0" tIns="0" bIns="0" anchor="ctr">
            <a:spAutoFit/>
          </a:bodyPr>
          <a:lstStyle/>
          <a:p>
            <a:pPr algn="l">
              <a:lnSpc>
                <a:spcPct val="120000"/>
              </a:lnSpc>
            </a:pPr>
            <a:r>
              <a:rPr sz="1950" b="1" i="0">
                <a:solidFill>
                  <a:srgbClr val="F0E8E8"/>
                </a:solidFill>
                <a:latin typeface="Geist"/>
                <a:ea typeface="Geist"/>
                <a:cs typeface="Geist"/>
              </a:rPr>
              <a:t>Never shoots</a:t>
            </a:r>
          </a:p>
        </p:txBody>
      </p:sp>
      <p:sp>
        <p:nvSpPr>
          <p:cNvPr id="19" name="TextBox 18"/>
          <p:cNvSpPr txBox="1"/>
          <p:nvPr/>
        </p:nvSpPr>
        <p:spPr>
          <a:xfrm>
            <a:off x="6134100" y="6705600"/>
            <a:ext cx="8534400" cy="952500"/>
          </a:xfrm>
          <a:prstGeom prst="rect">
            <a:avLst/>
          </a:prstGeom>
          <a:noFill/>
        </p:spPr>
        <p:txBody>
          <a:bodyPr wrap="square" lIns="0" rIns="0" tIns="0" bIns="0" anchor="ctr">
            <a:spAutoFit/>
          </a:bodyPr>
          <a:lstStyle/>
          <a:p>
            <a:pPr algn="l">
              <a:lnSpc>
                <a:spcPct val="120000"/>
              </a:lnSpc>
            </a:pPr>
            <a:r>
              <a:rPr sz="1875" b="0" i="0">
                <a:solidFill>
                  <a:srgbClr val="9A7878"/>
                </a:solidFill>
                <a:latin typeface="Geist"/>
                <a:ea typeface="Geist"/>
                <a:cs typeface="Geist"/>
              </a:rPr>
              <a:t>A step failed before SHOOT: find the red node in Arbor</a:t>
            </a:r>
          </a:p>
        </p:txBody>
      </p:sp>
      <p:sp>
        <p:nvSpPr>
          <p:cNvPr id="20" name="TextBox 19"/>
          <p:cNvSpPr txBox="1"/>
          <p:nvPr/>
        </p:nvSpPr>
        <p:spPr>
          <a:xfrm>
            <a:off x="914400" y="7905750"/>
            <a:ext cx="13335000" cy="762000"/>
          </a:xfrm>
          <a:prstGeom prst="rect">
            <a:avLst/>
          </a:prstGeom>
          <a:noFill/>
        </p:spPr>
        <p:txBody>
          <a:bodyPr wrap="square" lIns="0" rIns="0" tIns="0" bIns="0" anchor="t">
            <a:spAutoFit/>
          </a:bodyPr>
          <a:lstStyle/>
          <a:p>
            <a:pPr algn="l">
              <a:lnSpc>
                <a:spcPct val="130000"/>
              </a:lnSpc>
            </a:pPr>
            <a:r>
              <a:rPr sz="2100" b="1" i="0">
                <a:solidFill>
                  <a:srgbClr val="F0E8E8"/>
                </a:solidFill>
                <a:latin typeface="Geist"/>
                <a:ea typeface="Geist"/>
                <a:cs typeface="Geist"/>
              </a:rPr>
              <a:t>After a fix, press Start again. </a:t>
            </a:r>
            <a:r>
              <a:rPr sz="2100" b="0" i="0">
                <a:solidFill>
                  <a:srgbClr val="F0E8E8"/>
                </a:solidFill>
                <a:latin typeface="Geist"/>
                <a:ea typeface="Geist"/>
                <a:cs typeface="Geist"/>
              </a:rPr>
              <a:t>The checks remember the best run since Start.</a:t>
            </a:r>
          </a:p>
        </p:txBody>
      </p:sp>
      <p:pic>
        <p:nvPicPr>
          <p:cNvPr id="21" name="Picture 20" descr="dozer_wide_left.png"/>
          <p:cNvPicPr>
            <a:picLocks noChangeAspect="1"/>
          </p:cNvPicPr>
          <p:nvPr/>
        </p:nvPicPr>
        <p:blipFill>
          <a:blip r:embed="rId3"/>
          <a:stretch>
            <a:fillRect/>
          </a:stretch>
        </p:blipFill>
        <p:spPr>
          <a:xfrm>
            <a:off x="15240000" y="6096000"/>
            <a:ext cx="2095500" cy="1287986"/>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Autonomous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Draw two paths, build the tree in Arbor, finish the aim step, then run it in Auto and press Verify.</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FOUR PARTS</a:t>
            </a:r>
          </a:p>
        </p:txBody>
      </p:sp>
      <p:sp>
        <p:nvSpPr>
          <p:cNvPr id="7" name="Oval 6"/>
          <p:cNvSpPr/>
          <p:nvPr/>
        </p:nvSpPr>
        <p:spPr>
          <a:xfrm>
            <a:off x="1524000" y="4457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24000" y="4457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2095500" y="443865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Draw the paths</a:t>
            </a:r>
          </a:p>
        </p:txBody>
      </p:sp>
      <p:sp>
        <p:nvSpPr>
          <p:cNvPr id="10" name="TextBox 9"/>
          <p:cNvSpPr txBox="1"/>
          <p:nvPr/>
        </p:nvSpPr>
        <p:spPr>
          <a:xfrm>
            <a:off x="2095500" y="487680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Choreo: ToPickup and ToScore, Differential</a:t>
            </a:r>
          </a:p>
        </p:txBody>
      </p:sp>
      <p:sp>
        <p:nvSpPr>
          <p:cNvPr id="11" name="Oval 10"/>
          <p:cNvSpPr/>
          <p:nvPr/>
        </p:nvSpPr>
        <p:spPr>
          <a:xfrm>
            <a:off x="1524000" y="56959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0" y="5695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2095500" y="567690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Build the tree</a:t>
            </a:r>
          </a:p>
        </p:txBody>
      </p:sp>
      <p:sp>
        <p:nvSpPr>
          <p:cNvPr id="14" name="TextBox 13"/>
          <p:cNvSpPr txBox="1"/>
          <p:nvPr/>
        </p:nvSpPr>
        <p:spPr>
          <a:xfrm>
            <a:off x="2095500" y="611505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Arbor: PickupAndScore, with a Timeout on AIM</a:t>
            </a:r>
          </a:p>
        </p:txBody>
      </p:sp>
      <p:sp>
        <p:nvSpPr>
          <p:cNvPr id="15" name="Oval 14"/>
          <p:cNvSpPr/>
          <p:nvPr/>
        </p:nvSpPr>
        <p:spPr>
          <a:xfrm>
            <a:off x="7620000" y="4457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0" y="4457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TextBox 16"/>
          <p:cNvSpPr txBox="1"/>
          <p:nvPr/>
        </p:nvSpPr>
        <p:spPr>
          <a:xfrm>
            <a:off x="8191500" y="443865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Finish the aim step</a:t>
            </a:r>
          </a:p>
        </p:txBody>
      </p:sp>
      <p:sp>
        <p:nvSpPr>
          <p:cNvPr id="18" name="TextBox 17"/>
          <p:cNvSpPr txBox="1"/>
          <p:nvPr/>
        </p:nvSpPr>
        <p:spPr>
          <a:xfrm>
            <a:off x="8191500" y="487680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RobotContainer: AIMING until isAimed()</a:t>
            </a:r>
          </a:p>
        </p:txBody>
      </p:sp>
      <p:sp>
        <p:nvSpPr>
          <p:cNvPr id="19" name="Oval 18"/>
          <p:cNvSpPr/>
          <p:nvPr/>
        </p:nvSpPr>
        <p:spPr>
          <a:xfrm>
            <a:off x="7620000" y="56959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0" y="5695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1" name="TextBox 20"/>
          <p:cNvSpPr txBox="1"/>
          <p:nvPr/>
        </p:nvSpPr>
        <p:spPr>
          <a:xfrm>
            <a:off x="8191500" y="5676900"/>
            <a:ext cx="5334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Run it</a:t>
            </a:r>
          </a:p>
        </p:txBody>
      </p:sp>
      <p:sp>
        <p:nvSpPr>
          <p:cNvPr id="22" name="TextBox 21"/>
          <p:cNvSpPr txBox="1"/>
          <p:nvPr/>
        </p:nvSpPr>
        <p:spPr>
          <a:xfrm>
            <a:off x="8191500" y="6115050"/>
            <a:ext cx="5334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Auto Chooser, Auto, watch it in Arbor</a:t>
            </a:r>
          </a:p>
        </p:txBody>
      </p:sp>
      <p:sp>
        <p:nvSpPr>
          <p:cNvPr id="23" name="TextBox 22"/>
          <p:cNvSpPr txBox="1"/>
          <p:nvPr/>
        </p:nvSpPr>
        <p:spPr>
          <a:xfrm>
            <a:off x="1524000" y="802005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replay the run's .btlog in Arbor, make the pickup wait a tunable</a:t>
            </a:r>
          </a:p>
        </p:txBody>
      </p:sp>
      <p:sp>
        <p:nvSpPr>
          <p:cNvPr id="24" name="TextBox 23"/>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Autonomous</a:t>
            </a:r>
          </a:p>
        </p:txBody>
      </p:sp>
      <p:pic>
        <p:nvPicPr>
          <p:cNvPr id="25" name="Picture 24" descr="dozer.png"/>
          <p:cNvPicPr>
            <a:picLocks noChangeAspect="1"/>
          </p:cNvPicPr>
          <p:nvPr/>
        </p:nvPicPr>
        <p:blipFill>
          <a:blip r:embed="rId3"/>
          <a:stretch>
            <a:fillRect/>
          </a:stretch>
        </p:blipFill>
        <p:spPr>
          <a:xfrm>
            <a:off x="14287500" y="5905500"/>
            <a:ext cx="2667000" cy="1639254"/>
          </a:xfrm>
          <a:prstGeom prst="rect">
            <a:avLst/>
          </a:prstGeom>
        </p:spPr>
      </p:pic>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a trajectory as a schedule</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how the follower closes the gap</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Trace a tree tick by tick</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Sequence, Fallback and Timeout</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Build an auto in Arbor from robot states</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Watch it run, and replay it</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WHAT'S NEXT</a:t>
            </a:r>
          </a:p>
        </p:txBody>
      </p:sp>
      <p:sp>
        <p:nvSpPr>
          <p:cNvPr id="26" name="TextBox 25"/>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Build season</a:t>
            </a:r>
          </a:p>
        </p:txBody>
      </p:sp>
      <p:sp>
        <p:nvSpPr>
          <p:cNvPr id="27" name="TextBox 26"/>
          <p:cNvSpPr txBox="1"/>
          <p:nvPr/>
        </p:nvSpPr>
        <p:spPr>
          <a:xfrm>
            <a:off x="13716000" y="4438650"/>
            <a:ext cx="3333750" cy="16192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Join a subsystem team and write real robot code.</a:t>
            </a:r>
          </a:p>
        </p:txBody>
      </p:sp>
      <p:sp>
        <p:nvSpPr>
          <p:cNvPr id="28" name="Rounded Rectangle 27"/>
          <p:cNvSpPr/>
          <p:nvPr/>
        </p:nvSpPr>
        <p:spPr>
          <a:xfrm rot="1200000">
            <a:off x="13830300" y="6286500"/>
            <a:ext cx="247650" cy="1143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rot="19800000">
            <a:off x="14287500" y="600075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rot="2100000">
            <a:off x="16764000" y="6096000"/>
            <a:ext cx="247650" cy="114300"/>
          </a:xfrm>
          <a:prstGeom prst="roundRect">
            <a:avLst>
              <a:gd name="adj" fmla="val 25000"/>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rot="600000">
            <a:off x="17049750" y="6667500"/>
            <a:ext cx="247650" cy="114300"/>
          </a:xfrm>
          <a:prstGeom prst="roundRect">
            <a:avLst>
              <a:gd name="adj" fmla="val 25000"/>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20700000">
            <a:off x="13620750" y="6858000"/>
            <a:ext cx="247650" cy="114300"/>
          </a:xfrm>
          <a:prstGeom prst="roundRect">
            <a:avLst>
              <a:gd name="adj" fmla="val 25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rot="3000000">
            <a:off x="16383000" y="5715000"/>
            <a:ext cx="247650" cy="114300"/>
          </a:xfrm>
          <a:prstGeom prst="roundRect">
            <a:avLst>
              <a:gd name="adj" fmla="val 25000"/>
            </a:avLst>
          </a:prstGeom>
          <a:solidFill>
            <a:srgbClr val="9FD2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rophy-fill.png"/>
          <p:cNvPicPr>
            <a:picLocks noChangeAspect="1"/>
          </p:cNvPicPr>
          <p:nvPr/>
        </p:nvPicPr>
        <p:blipFill>
          <a:blip r:embed="rId5"/>
          <a:stretch>
            <a:fillRect/>
          </a:stretch>
        </p:blipFill>
        <p:spPr>
          <a:xfrm>
            <a:off x="14859000" y="5810250"/>
            <a:ext cx="666750" cy="666750"/>
          </a:xfrm>
          <a:prstGeom prst="rect">
            <a:avLst/>
          </a:prstGeom>
        </p:spPr>
      </p:pic>
      <p:pic>
        <p:nvPicPr>
          <p:cNvPr id="35" name="Picture 34" descr="dozer_look_up.png"/>
          <p:cNvPicPr>
            <a:picLocks noChangeAspect="1"/>
          </p:cNvPicPr>
          <p:nvPr/>
        </p:nvPicPr>
        <p:blipFill>
          <a:blip r:embed="rId6"/>
          <a:stretch>
            <a:fillRect/>
          </a:stretch>
        </p:blipFill>
        <p:spPr>
          <a:xfrm>
            <a:off x="14097000" y="6762750"/>
            <a:ext cx="2667000" cy="1639254"/>
          </a:xfrm>
          <a:prstGeom prst="rect">
            <a:avLst/>
          </a:prstGeom>
        </p:spPr>
      </p:pic>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