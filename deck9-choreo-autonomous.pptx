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last FRC Robot deck. Everything so far gets used here: the drivetrain, the pose estimate from the Computer Vision lesson, your aim command, and the Choreo app from the Tools deck. Today the robot drives itself: it follows two paths you draw, aims at the goal and shoots, with nobody touching a controller. The hands-on part is the Choreo Autonomous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what autonomous is and the plan for this lesson's field. Then how robot code follows a trajectory, which is the new idea today. Then commands, the building blocks of a routine, and the routine itself. Last, running it and reading the graphs. Ask: what's the difference between a path and a trajectory? (A trajectory adds timing. Answer comes in part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autonomous is, why it has to be repeatable, and the plan for this lesson's field.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autonomous: about 15 seconds where the drivers stand behind the line and can't touch the controllers. The robot runs a routine that was planned ahead of time. Whatever it does, it has to do the same way every match, because nobody can fix a mistake. Points in auto are often worth more than the same action in teleop, so a good auto can decide a match. Ask: what could go wrong if the robot just drove at full speed for 2 seconds and hoped? (Battery level, wheel slip and carpet change how far it goes.)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old Autonomous training: what's the difference between accuracy and precision? Accurate means on average you hit the spot, even if each try lands somewhere different. Precise means every try lands in the same place, even if that place is wrong. Ask: which do we want for auto? (Both: hit the spot, the same way every match.) A robot that drives on wheel counts alone drifts a bit differently each time. The fix is to know where the robot really is and correct every loop, which is exactly what the path follower does with the pose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builds every autonomous routine in two jobs. First draw the paths in Choreo: where the robot drives and how fast. Choreo saves each one as a .traj file. Then write the sequence in Java: which path to drive, when to wait, when to aim, when to shoot. The paths say where; the sequence says in what order. In today's lesson you do both. On the real robot it's the same: Choreo on a laptop for the paths, VS Code for the Java, and the .traj files deploy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recap of the Tools deck, no need to re-teach the app. Waypoints are the points the path goes through: pose waypoints pin position and heading, translation waypoints pin only position. Constraints are rules like a Max Velocity. Generate solves the fastest trajectory the robot can really drive and saves it as a .traj file in src/main/deploy/choreo, which deploys with the code. One new setting today: this lesson's robot is a Differential drive (tank), so Document Settings, Robot Config must say Differential, not Swerve.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field, drawn from the real solution paths. The project already has four named poses. The robot starts on Start. ToPickup drives to Pickup, where the game piece is. ToScore carries on to ScoreSpot, finishing pointed up the field. Goal is what the robot aims at; it isn't on a path. Each path has a pose waypoint at each end and a translation waypoint in the middle. Activity: have students read the coordinates off the grid and match them to the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the checks look for. Names: Java loads each path by its name, so ToPickup and ToScore must be spelled exactly, capitals too; rename it in Choreo, not by renaming the file. Join: when ToScore begins the robot is standing on Pickup, so ToScore's first waypoint must be exactly where ToPickup ended. Three waypoints each: pose, translation, pose. Differential: set the Drive Type first, or Choreo makes swerve paths this robot can't follow. Ask: what happens if ToScore starts half a meter away from Pickup? (The robot lurches to catch up, or the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 you don't write but should understand: how the robot plays a path back. It's provided and tuned in DifferentialPathFollower.java, and it's worth reading.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Generate, Choreo doesn't just save a line. It saves a list of samples, each a moment in time: where the robot should be, which way it faces, and how fast each wheel should turn. These dots are the real samples of the lesson's ToPickup path, about 0.05 seconds apart. Where the dots bunch up the robot is slow (starting and stopping); where they spread out it's fast. Ask: where on this path is the robot fastest? (The straight middle part.) This is the difference between a path (the route) and a trajectory (the route plus timing).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followPath plays the trajectory back. Every 20 ms it does four things. Where should I be? It looks up the sample for this moment on the path's clock, blending the two samples around it. Where am I? It reads the pose estimate. Close the gap: a path-following controller (LTV unicycle, built for tank drives) nudges the speeds so the robot drifts back onto the line. Speed to power: wheel speeds in meters per second become duty cycles. All of this is DifferentialPathFollower.java, provided and tuned. Activity: one student is the path's clock calling out times, another walks the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is never exactly where the path says. DesiredPose is where the path says the robot should be right now; Pose is where the robot thinks it is. The controller compares them and changes the left and right speeds a little: a bit more on one side steers the robot back toward the line, a bit more on both catches it up. It does this every loop, so small errors never get big. You can watch both in AdvantageScope: Subsystem/Drivetrain/Choreo/DesiredPose and the Localization pose. Ask: why can't a tank drive just slide sideways back onto the line? (Its wheels only roll forward and back, so it has to steer.)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turns wheel speed into motor power. This is feedforward: power you know you'll need before any error shows up. kS is a small push just to break the wheels loose, 0.25 volts out of 12. kV is power per meter per second: twice the speed, twice the power, so full power (1.0) is the robot's top speed of about 5.7 m/s (a Kraken at 6000 RPM through an 8.45 to 1 gearbox on 3 inch wheels). At the lesson's suggested 1.8 m/s cap that's about a third of full power. Turning adds a little extra because the wheels scrub sideways. Ask: why cap the speed at 1.8 if the robot can do 5.7? (A gentler robot is easier to keep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details that make following reliable. Waiting: the path's clock keeps running, so if the robot falls more than half a meter behind the sample, the clock pauses until it catches up, instead of running away without it. Settling: when the clock runs out, the robot may be a little short. A tank drive can't slide sideways, so it turns to face the end point and drives at it, slowly. followPath finishes when the robot is within 15 cm of the end and slower than 0.15 m/s; that's isAtChoreoSetpoint. And if it gets stuck, followPath gives up after 10 seconds so the routine carries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follower steers by the pose estimate from your Localization subsystem: the wheels give the movement and the AprilTag cameras correct the drift. It's close but never exact. In the simulator we also know the true pose, Drive/TruePose. While driving they're about 1 to 9 centimeters apart, and about 1 centimeter once the robot stops. The gap in the drawing is exaggerated so you can see it. The lesson's checks use the true pose, so a small error in the estimate can't fool them. Ask: on the real robot, which pose do we have? (Only the estimate.)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routine is a list of commands, so it's worth knowing exactly how one starts, runs and stops. The lesson's Dozer guides cover this too: Inside a command, Kinds of commands, Dots that change commands.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command is one action with a clear start and a clear finish: drive 2 meters, turn to 90 degrees, shoot. You don't call it yourself; you hand it to WPILib and it runs it. Read it as a story: initialize once. Then a loop: execute, then ask isFinished. No? execute again. Yes? end(false) once, and the command is finished. If something cuts it off early (a timeout, a button let go, another command), end(true) runs instead. end always runs. Activity: one student is the command, the class is WPILib calling out execute and isFinished every 20 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TurnToAngleCommand, trimmed (the full file computes on_target in isFinished and clamps the turn speed). It's a class that extends Command and fills in the methods WPILib calls. execute runs every loop: work out how far off the heading is and turn by that much. isFinished is the condition: on target and barely spinning. Without the spinning check the robot would coast past. end stops the motors, however the command ended. There's no initialize here because it has nothing to remember at the start; DriveDistanceCommand uses initialize to save its starting pose.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 class is a lot of typing for something small, so WPILib's Commands helpers build common commands in one line. Each is a command class already written, with a different answer to: when is it finished? runOnce is done right away. run never finishes by itself. startEnd runs one note at the start and one at the end and never finishes by itself either: perfect for a held button. waitSeconds finishes after its time. FunctionalCommand takes all four parts inline. Ask: which one would you use to pause between two paths? (waitSeconds.)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aim command from the Computer Vision lesson is a startEnd command. The start note switches the drivetrain into its AIM state; the end note puts it back to driving with the sticks. In between it does nothing itself: the drivetrain's state machine does the aiming every loop. shoot() is built the same way: SHOOT at the start, IDLE at the end. That's great for a held bumper in teleop, but in a routine there's no button to let go. Ask: what happens if you put aim() in a routine with nothing to end it? (The routine sits there aiming forever and never shoots.)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Decorators are methods you add with a dot. They don't change the original; they wrap it in a new command that behaves differently, mostly by changing when it finishes or what runs with it. withTimeout adds a time limit. until adds your own condition. andThen runs one after the other. alongWith runs both at once and ends when both are done (raceWith ends when the first does). Read a chain left to right and ask each time: when does this stop? Activity: show shoot().withTimeout(2.0).andThen(aim()) and have students say when each part stops. (Trick: aim never stops.)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slip. until needs a question it can ask again and again, every loop. The double colon hands over the method itself: DrivetrainSubsystem.getInstance()::isAimed means 'here's how to ask, call it whenever you need'. The lambda version, () -&gt; ...isAimed(), means exactly the same. Writing isAimed() with brackets calls it once, right now, and passes a single true or false; Java won't even accept it here, because until wants a question, not an answer. Ask: why would a single answer be useless? (At the moment the routine is built, the robot isn't aimed, so it would be false forever.)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put it together in Autos.java, the only Java file you edit in this lesson. Two TODOs: load the paths, then list the commands.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routine is a class that extends Auto. Auto comes from MWLib and is a SequentialCommandGroup: a list of commands that run one after another. In the constructor, first name the paths with loadTrajectory, spelled exactly like the path in Choreo. Then addCommands lists the steps. Inside, getTrajectory hands a loaded path to a command. Capital letters count: toPickup is not ToPickup. Ask: what does extends mean here? (PickupAndScore is a kind of Auto, so it gets loadTrajectory, getTrajectory and addCommands for free.)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solution for TODO 2. Five commands, run one after another. 1: drive ToPickup; followPath finishes when the robot has arrived. 2: wait half a second, standing in for picking up the game piece. 3: drive ToScore. 4: aim at the goal, ended as soon as isAimed is true, and give up after 3 seconds so a robot that can't aim can't hold up the routine. 5: shoot for 2 seconds; the timeout ends the routine. Commas separate commands, and there's no comma after the last one. Then add the four imports with the quick fix. Ask: what happens if you swap 4 and 5? (It shoots before aiming and misses; the Aims before it shoots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routine on a clock. Each step starts when the one before finishes, and each one has its own way of finishing: arriving, a time, a condition. These times are roughly what the lesson's solution does in the simulator: each path takes about 2.5 to 3 seconds including the settle, aiming takes a second or so. The whole thing is about 9 seconds, well inside the 15 second autonomous period. Ask: where could you save time? (Spin the shooter up with alongWith while driving ToScore; that's a stretch idea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five steps on the field, using the real solution paths. 1: ToPickup from Start to Pickup. 2: wait on Pickup. 3: ToScore up to ScoreSpot, arriving pointed up the field (90 degrees). 4: aim: the goal is behind and to the left, so the robot turns about 110 degrees in place. 5: shoot at the goal. Ask: why does the robot need to turn so far? (ScoreSpot's heading is 90 degrees, but the goal is down and to the left of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followPath is provided, but it's built from exactly the pieces you just learned. It's a sequence of two commands. First a runOnce that picks the path and restarts its clock. Then a startEnd: the start note switches the drivetrain into its CHOREO_PATH state, where the follower runs every loop; the end note stops the motors. That startEnd would never finish by itself, so until ends it when isAtChoreoSetpoint says the robot has arrived, and withTimeout gives up after 10 seconds. The competition robot's swerve autos use this same shape.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robot know which routine to run? RobotContainer puts every routine in a SendableChooser, a drop-down that Elastic shows as the Auto Choices widget (a ComboBox Chooser). The drive team picks one before the match, no redeploy needed. When Auto is enabled, autonomousInit loads the chosen routine's paths, resets the robot's pose to where the first path starts, and schedules it. Ask: why is the default Do Nothing? (If nobody picks, the robot sits still instead of surprising anyone. In the lesson you must pick Pickup And Score or nothing happens.)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competition robot it's the same idea, bigger. It's swerve, so it uses SwerveSubsystem, but the shape is the same: set the path, switch to CHOREO_PATH, wait until isAtChoreoSetpoint. Two extras. Event markers: named points you put on a path in Choreo, like Intake Out or Shoot. A trigger turns true when the path passes the marker, so actions happen while the robot drives, not only between paths. And paths are drawn once, for the blue alliance; the code flips them for red. This robot has getChoreoEventTimeTrigger too: adding a marker is a stretch idea in the lesson. Details on docs.marswars.org, Software, Autonomous.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four checkpoints read a running simulation, so you have to run the routine in Auto before Verify.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routine in training: press Start and wait for Running. In Elastic, add the Auto Choices widget (under SmartDashboard) as a ComboBox Chooser and pick Pickup And Score. In the Driver Station panel pick Auto and press Enable, then hands off. On the real robot it's the same steps with real tools: deploy from VS Code, pick the routine in Elastic on the drive laptop, and the FRC Driver Station (or the field, in a match) enables Auto. Remember to yell ENABLING before you enable a real robot.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Drive/DistanceToPickup and Drive/DistanceToScoreSpot in AdvantageScope. These are true distances in meters. This graph was worked out from the lesson's real solution paths, so yours will look very close. The pickup line falls to nearly zero first: that's Reaches the pickup (under 0.4 m). Then it rises as the robot leaves, and the scoring spot line falls to nearly zero: Reaches the scoring spot. After that both are flat while the robot aims and shoots. Also plot Drive/TrueAimErrorDegrees: it should swing to about zero before the shot. Activity: before showing the graph, have students sketch what they expect.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run check fails, read it as a clue about which step broke. The run checks remember the best the robot did since you pressed Start, so after a fix press Start again for a clean run. Activity: read out a symptom (the robot shoots facing the wrong way) and have students name the cause (no .until(...isAimed), or aim comes after shoot).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Choreo Autonomous lesson in Scriptum's FRC Robot track. Part 1 draws the two paths in the Choreo pane, part 2 writes Autos.java, part 3 runs it. The first four checkpoints read your paths and code; the last four read a running simulation, so run Pickup And Score in Auto before you press Verify. Press the Dozer button for his guides, including 'Teach me, step by step'.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and the end of the FRC Robot track. Today: a trajectory is a schedule, the follower checks it every 20 ms and closes the gap, commands start, run and finish, decorators decide when, and a routine is a list of commands in order. What's next is build season: join a subsystem team and write real robot code with the same tools and the same patterns.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9</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Choreo Autonomous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Draw the paths, then write the routine that drives them, aims at the goal and shoots.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Hands off the controller. I've got this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drawn path to a scored shot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obot.png"/>
          <p:cNvPicPr>
            <a:picLocks noChangeAspect="1"/>
          </p:cNvPicPr>
          <p:nvPr/>
        </p:nvPicPr>
        <p:blipFill>
          <a:blip r:embed="rId3"/>
          <a:stretch>
            <a:fillRect/>
          </a:stretch>
        </p:blipFill>
        <p:spPr>
          <a:xfrm>
            <a:off x="1272540" y="3238500"/>
            <a:ext cx="73152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Autonomous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15 seconds, no driver, and the plan for the field</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ezier2.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Following a path</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How a trajectory becomes wheel speeds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st-ol.png"/>
          <p:cNvPicPr>
            <a:picLocks noChangeAspect="1"/>
          </p:cNvPicPr>
          <p:nvPr/>
        </p:nvPicPr>
        <p:blipFill>
          <a:blip r:embed="rId5"/>
          <a:stretch>
            <a:fillRect/>
          </a:stretch>
        </p:blipFill>
        <p:spPr>
          <a:xfrm>
            <a:off x="7943850" y="3288846"/>
            <a:ext cx="762000" cy="585107"/>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Commands</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Start, run, finish, and the dots that change them</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ode-slash.png"/>
          <p:cNvPicPr>
            <a:picLocks noChangeAspect="1"/>
          </p:cNvPicPr>
          <p:nvPr/>
        </p:nvPicPr>
        <p:blipFill>
          <a:blip r:embed="rId6"/>
          <a:stretch>
            <a:fillRect/>
          </a:stretch>
        </p:blipFill>
        <p:spPr>
          <a:xfrm>
            <a:off x="11300732" y="3238500"/>
            <a:ext cx="734786"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routine</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Load the paths, list the commands</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raph-up.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Run and check</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Watch it in AdvantageScope, read a failure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3"/>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drives to a game piece, drives to a scoring spot, aims and shoots, all on its own.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Autonomous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Fifteen seconds with nobody driving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can grab the controller to fix my mistakes. So plan well!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first 15 seconds of every match</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Drivers stand behind the line, hands off</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robot runs a routine planned ahead</a:t>
            </a:r>
          </a:p>
        </p:txBody>
      </p:sp>
      <p:sp>
        <p:nvSpPr>
          <p:cNvPr id="8" name="TextBox 7"/>
          <p:cNvSpPr txBox="1"/>
          <p:nvPr/>
        </p:nvSpPr>
        <p:spPr>
          <a:xfrm>
            <a:off x="914400" y="490347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It must do the same thing every match</a:t>
            </a:r>
          </a:p>
        </p:txBody>
      </p:sp>
      <p:sp>
        <p:nvSpPr>
          <p:cNvPr id="9" name="TextBox 8"/>
          <p:cNvSpPr txBox="1"/>
          <p:nvPr/>
        </p:nvSpPr>
        <p:spPr>
          <a:xfrm>
            <a:off x="914400" y="558546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Auto points often decide matches</a:t>
            </a:r>
          </a:p>
        </p:txBody>
      </p:sp>
      <p:sp>
        <p:nvSpPr>
          <p:cNvPr id="10" name="Rounded Rectangle 9"/>
          <p:cNvSpPr/>
          <p:nvPr/>
        </p:nvSpPr>
        <p:spPr>
          <a:xfrm>
            <a:off x="9525000" y="2857500"/>
            <a:ext cx="7848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06000" y="3143250"/>
            <a:ext cx="3810000" cy="1809750"/>
          </a:xfrm>
          <a:prstGeom prst="rect">
            <a:avLst/>
          </a:prstGeom>
          <a:noFill/>
        </p:spPr>
        <p:txBody>
          <a:bodyPr wrap="square" lIns="0" rIns="0" tIns="0" bIns="0" anchor="t">
            <a:spAutoFit/>
          </a:bodyPr>
          <a:lstStyle/>
          <a:p>
            <a:pPr algn="l"/>
            <a:r>
              <a:rPr sz="12750" b="1" i="0">
                <a:solidFill>
                  <a:srgbClr val="CC2200"/>
                </a:solidFill>
                <a:latin typeface="Geist"/>
                <a:ea typeface="Geist"/>
                <a:cs typeface="Geist"/>
              </a:rPr>
              <a:t>15</a:t>
            </a:r>
          </a:p>
        </p:txBody>
      </p:sp>
      <p:sp>
        <p:nvSpPr>
          <p:cNvPr id="12" name="TextBox 11"/>
          <p:cNvSpPr txBox="1"/>
          <p:nvPr/>
        </p:nvSpPr>
        <p:spPr>
          <a:xfrm>
            <a:off x="12382500" y="3810000"/>
            <a:ext cx="4572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seconds</a:t>
            </a:r>
          </a:p>
        </p:txBody>
      </p:sp>
      <p:sp>
        <p:nvSpPr>
          <p:cNvPr id="13" name="TextBox 12"/>
          <p:cNvSpPr txBox="1"/>
          <p:nvPr/>
        </p:nvSpPr>
        <p:spPr>
          <a:xfrm>
            <a:off x="12382500" y="4343400"/>
            <a:ext cx="4572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with nobody driving</a:t>
            </a:r>
          </a:p>
        </p:txBody>
      </p:sp>
      <p:sp>
        <p:nvSpPr>
          <p:cNvPr id="14" name="Rounded Rectangle 13"/>
          <p:cNvSpPr/>
          <p:nvPr/>
        </p:nvSpPr>
        <p:spPr>
          <a:xfrm>
            <a:off x="9906000" y="6096000"/>
            <a:ext cx="7086600" cy="533400"/>
          </a:xfrm>
          <a:prstGeom prst="roundRect">
            <a:avLst>
              <a:gd name="adj" fmla="val 1785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906000" y="6096000"/>
            <a:ext cx="708660" cy="533400"/>
          </a:xfrm>
          <a:prstGeom prst="roundRect">
            <a:avLst>
              <a:gd name="adj" fmla="val 17857"/>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5676900"/>
            <a:ext cx="1905000" cy="32385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Auto</a:t>
            </a:r>
          </a:p>
        </p:txBody>
      </p:sp>
      <p:sp>
        <p:nvSpPr>
          <p:cNvPr id="17" name="TextBox 16"/>
          <p:cNvSpPr txBox="1"/>
          <p:nvPr/>
        </p:nvSpPr>
        <p:spPr>
          <a:xfrm>
            <a:off x="10805160" y="6096000"/>
            <a:ext cx="4762500" cy="5334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Teleop: drivers in control</a:t>
            </a:r>
          </a:p>
        </p:txBody>
      </p:sp>
      <p:sp>
        <p:nvSpPr>
          <p:cNvPr id="18" name="TextBox 17"/>
          <p:cNvSpPr txBox="1"/>
          <p:nvPr/>
        </p:nvSpPr>
        <p:spPr>
          <a:xfrm>
            <a:off x="10043160" y="6724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0:15</a:t>
            </a:r>
          </a:p>
        </p:txBody>
      </p:sp>
      <p:sp>
        <p:nvSpPr>
          <p:cNvPr id="19" name="TextBox 18"/>
          <p:cNvSpPr txBox="1"/>
          <p:nvPr/>
        </p:nvSpPr>
        <p:spPr>
          <a:xfrm>
            <a:off x="15849600" y="6724650"/>
            <a:ext cx="1143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2:30</a:t>
            </a:r>
          </a:p>
        </p:txBody>
      </p:sp>
      <p:sp>
        <p:nvSpPr>
          <p:cNvPr id="20" name="TextBox 19"/>
          <p:cNvSpPr txBox="1"/>
          <p:nvPr/>
        </p:nvSpPr>
        <p:spPr>
          <a:xfrm>
            <a:off x="9906000" y="7334250"/>
            <a:ext cx="70866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match: 15 s of auto, then 2 min 15 s of teleop.</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Accuracy vs precision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812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3812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7813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1623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099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95482" y="4888249"/>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25423" y="558112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06227" y="419213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65292" y="3560011"/>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26965" y="4334433"/>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63391" y="47579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54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Accurate, not precise</a:t>
            </a:r>
          </a:p>
        </p:txBody>
      </p:sp>
      <p:sp>
        <p:nvSpPr>
          <p:cNvPr id="18" name="TextBox 17"/>
          <p:cNvSpPr txBox="1"/>
          <p:nvPr/>
        </p:nvSpPr>
        <p:spPr>
          <a:xfrm>
            <a:off x="12954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around the spot, but all over the place.</a:t>
            </a:r>
          </a:p>
        </p:txBody>
      </p:sp>
      <p:sp>
        <p:nvSpPr>
          <p:cNvPr id="19" name="Rounded Rectangle 18"/>
          <p:cNvSpPr/>
          <p:nvPr/>
        </p:nvSpPr>
        <p:spPr>
          <a:xfrm>
            <a:off x="65532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6200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200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201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011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487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15525" y="374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67925" y="38385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01225" y="3876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91725" y="3590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2175" y="3667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86975" y="37052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42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Precise, not accurate</a:t>
            </a:r>
          </a:p>
        </p:txBody>
      </p:sp>
      <p:sp>
        <p:nvSpPr>
          <p:cNvPr id="32" name="TextBox 31"/>
          <p:cNvSpPr txBox="1"/>
          <p:nvPr/>
        </p:nvSpPr>
        <p:spPr>
          <a:xfrm>
            <a:off x="69342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in the same place every time. The wrong place.</a:t>
            </a:r>
          </a:p>
        </p:txBody>
      </p:sp>
      <p:sp>
        <p:nvSpPr>
          <p:cNvPr id="33" name="Rounded Rectangle 32"/>
          <p:cNvSpPr/>
          <p:nvPr/>
        </p:nvSpPr>
        <p:spPr>
          <a:xfrm>
            <a:off x="12192000" y="2857500"/>
            <a:ext cx="5181600" cy="5048250"/>
          </a:xfrm>
          <a:prstGeom prst="roundRect">
            <a:avLst>
              <a:gd name="adj" fmla="val 301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32588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6588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40589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44399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46875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4678025" y="45624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4811375" y="4638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4563725" y="46577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4735175" y="4429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4582775" y="44862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792325" y="4505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Both: what auto needs</a:t>
            </a:r>
          </a:p>
        </p:txBody>
      </p:sp>
      <p:sp>
        <p:nvSpPr>
          <p:cNvPr id="46" name="TextBox 45"/>
          <p:cNvSpPr txBox="1"/>
          <p:nvPr/>
        </p:nvSpPr>
        <p:spPr>
          <a:xfrm>
            <a:off x="125730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 the spot, the same way every match.</a:t>
            </a:r>
          </a:p>
        </p:txBody>
      </p:sp>
      <p:sp>
        <p:nvSpPr>
          <p:cNvPr id="47" name="Rounded Rectangle 46"/>
          <p:cNvSpPr/>
          <p:nvPr/>
        </p:nvSpPr>
        <p:spPr>
          <a:xfrm>
            <a:off x="914400" y="82105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rosshair.png"/>
          <p:cNvPicPr>
            <a:picLocks noChangeAspect="1"/>
          </p:cNvPicPr>
          <p:nvPr/>
        </p:nvPicPr>
        <p:blipFill>
          <a:blip r:embed="rId3"/>
          <a:stretch>
            <a:fillRect/>
          </a:stretch>
        </p:blipFill>
        <p:spPr>
          <a:xfrm>
            <a:off x="1333500" y="8372475"/>
            <a:ext cx="533400" cy="533400"/>
          </a:xfrm>
          <a:prstGeom prst="rect">
            <a:avLst/>
          </a:prstGeom>
        </p:spPr>
      </p:pic>
      <p:sp>
        <p:nvSpPr>
          <p:cNvPr id="49" name="TextBox 48"/>
          <p:cNvSpPr txBox="1"/>
          <p:nvPr/>
        </p:nvSpPr>
        <p:spPr>
          <a:xfrm>
            <a:off x="2190750" y="82105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fix:  </a:t>
            </a:r>
            <a:r>
              <a:rPr sz="2100" b="0" i="0">
                <a:solidFill>
                  <a:srgbClr val="F0E8E8"/>
                </a:solidFill>
                <a:latin typeface="Geist"/>
                <a:ea typeface="Geist"/>
                <a:cs typeface="Geist"/>
              </a:rPr>
              <a:t>know where the robot really is, and correct every loop. That's what a path follower does.</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jobs: paths, then a sequence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333500" y="3276600"/>
            <a:ext cx="685800" cy="685800"/>
          </a:xfrm>
          <a:prstGeom prst="rect">
            <a:avLst/>
          </a:prstGeom>
        </p:spPr>
      </p:pic>
      <p:sp>
        <p:nvSpPr>
          <p:cNvPr id="7" name="TextBox 6"/>
          <p:cNvSpPr txBox="1"/>
          <p:nvPr/>
        </p:nvSpPr>
        <p:spPr>
          <a:xfrm>
            <a:off x="13335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1   Draw the paths</a:t>
            </a:r>
          </a:p>
        </p:txBody>
      </p:sp>
      <p:sp>
        <p:nvSpPr>
          <p:cNvPr id="8" name="TextBox 7"/>
          <p:cNvSpPr txBox="1"/>
          <p:nvPr/>
        </p:nvSpPr>
        <p:spPr>
          <a:xfrm>
            <a:off x="13335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Choreo. Where the robot drives, and how fast.</a:t>
            </a:r>
          </a:p>
        </p:txBody>
      </p:sp>
      <p:sp>
        <p:nvSpPr>
          <p:cNvPr id="9" name="Rounded Rectangle 8"/>
          <p:cNvSpPr/>
          <p:nvPr/>
        </p:nvSpPr>
        <p:spPr>
          <a:xfrm>
            <a:off x="13335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ToPickup.traj   ToScore.traj</a:t>
            </a:r>
          </a:p>
        </p:txBody>
      </p:sp>
      <p:sp>
        <p:nvSpPr>
          <p:cNvPr id="11" name="Rounded Rectangle 10"/>
          <p:cNvSpPr/>
          <p:nvPr/>
        </p:nvSpPr>
        <p:spPr>
          <a:xfrm>
            <a:off x="99441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slash.png"/>
          <p:cNvPicPr>
            <a:picLocks noChangeAspect="1"/>
          </p:cNvPicPr>
          <p:nvPr/>
        </p:nvPicPr>
        <p:blipFill>
          <a:blip r:embed="rId4"/>
          <a:stretch>
            <a:fillRect/>
          </a:stretch>
        </p:blipFill>
        <p:spPr>
          <a:xfrm>
            <a:off x="10363200" y="3276600"/>
            <a:ext cx="734786" cy="685800"/>
          </a:xfrm>
          <a:prstGeom prst="rect">
            <a:avLst/>
          </a:prstGeom>
        </p:spPr>
      </p:pic>
      <p:sp>
        <p:nvSpPr>
          <p:cNvPr id="13" name="TextBox 12"/>
          <p:cNvSpPr txBox="1"/>
          <p:nvPr/>
        </p:nvSpPr>
        <p:spPr>
          <a:xfrm>
            <a:off x="103632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2   Write the sequence</a:t>
            </a:r>
          </a:p>
        </p:txBody>
      </p:sp>
      <p:sp>
        <p:nvSpPr>
          <p:cNvPr id="14" name="TextBox 13"/>
          <p:cNvSpPr txBox="1"/>
          <p:nvPr/>
        </p:nvSpPr>
        <p:spPr>
          <a:xfrm>
            <a:off x="103632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Java. In what order: drive, wait, drive, aim, shoot.</a:t>
            </a:r>
          </a:p>
        </p:txBody>
      </p:sp>
      <p:sp>
        <p:nvSpPr>
          <p:cNvPr id="15" name="Rounded Rectangle 14"/>
          <p:cNvSpPr/>
          <p:nvPr/>
        </p:nvSpPr>
        <p:spPr>
          <a:xfrm>
            <a:off x="103632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108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Autos.java</a:t>
            </a:r>
          </a:p>
        </p:txBody>
      </p:sp>
      <p:sp>
        <p:nvSpPr>
          <p:cNvPr id="17" name="Rectangle 16"/>
          <p:cNvSpPr/>
          <p:nvPr/>
        </p:nvSpPr>
        <p:spPr>
          <a:xfrm>
            <a:off x="8505825" y="4829175"/>
            <a:ext cx="113233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593580" y="477774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ignpost-split.png"/>
          <p:cNvPicPr>
            <a:picLocks noChangeAspect="1"/>
          </p:cNvPicPr>
          <p:nvPr/>
        </p:nvPicPr>
        <p:blipFill>
          <a:blip r:embed="rId5"/>
          <a:stretch>
            <a:fillRect/>
          </a:stretch>
        </p:blipFill>
        <p:spPr>
          <a:xfrm>
            <a:off x="1333500" y="7686675"/>
            <a:ext cx="541934" cy="533400"/>
          </a:xfrm>
          <a:prstGeom prst="rect">
            <a:avLst/>
          </a:prstGeom>
        </p:spPr>
      </p:pic>
      <p:sp>
        <p:nvSpPr>
          <p:cNvPr id="21" name="TextBox 20"/>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paths say where.  </a:t>
            </a:r>
            <a:r>
              <a:rPr sz="2100" b="0" i="0">
                <a:solidFill>
                  <a:srgbClr val="F0E8E8"/>
                </a:solidFill>
                <a:latin typeface="Geist"/>
                <a:ea typeface="Geist"/>
                <a:cs typeface="Geist"/>
              </a:rPr>
              <a:t>The sequence says in what order.</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 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Choreo makes the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0096500" cy="584409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path_gradient_velocity.jpg"/>
          <p:cNvPicPr>
            <a:picLocks noChangeAspect="1"/>
          </p:cNvPicPr>
          <p:nvPr/>
        </p:nvPicPr>
        <p:blipFill>
          <a:blip r:embed="rId3"/>
          <a:stretch>
            <a:fillRect/>
          </a:stretch>
        </p:blipFill>
        <p:spPr>
          <a:xfrm>
            <a:off x="914400" y="2857500"/>
            <a:ext cx="10096500" cy="5844092"/>
          </a:xfrm>
          <a:prstGeom prst="rect">
            <a:avLst/>
          </a:prstGeom>
        </p:spPr>
      </p:pic>
      <p:sp>
        <p:nvSpPr>
          <p:cNvPr id="7" name="Rectangle 6"/>
          <p:cNvSpPr/>
          <p:nvPr/>
        </p:nvSpPr>
        <p:spPr>
          <a:xfrm>
            <a:off x="914400" y="2857500"/>
            <a:ext cx="10096500" cy="584409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Waypoints</a:t>
            </a:r>
          </a:p>
        </p:txBody>
      </p:sp>
      <p:sp>
        <p:nvSpPr>
          <p:cNvPr id="11" name="TextBox 10"/>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Pose pins place and heading. Translation pins only place.</a:t>
            </a:r>
          </a:p>
        </p:txBody>
      </p:sp>
      <p:sp>
        <p:nvSpPr>
          <p:cNvPr id="12" name="Oval 11"/>
          <p:cNvSpPr/>
          <p:nvPr/>
        </p:nvSpPr>
        <p:spPr>
          <a:xfrm>
            <a:off x="116776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776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2287250" y="42481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Constraints</a:t>
            </a:r>
          </a:p>
        </p:txBody>
      </p:sp>
      <p:sp>
        <p:nvSpPr>
          <p:cNvPr id="15" name="TextBox 14"/>
          <p:cNvSpPr txBox="1"/>
          <p:nvPr/>
        </p:nvSpPr>
        <p:spPr>
          <a:xfrm>
            <a:off x="12287250" y="46672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Rules the path obeys, like Max Velocity 1.8 m/s</a:t>
            </a:r>
          </a:p>
        </p:txBody>
      </p:sp>
      <p:sp>
        <p:nvSpPr>
          <p:cNvPr id="16" name="Oval 15"/>
          <p:cNvSpPr/>
          <p:nvPr/>
        </p:nvSpPr>
        <p:spPr>
          <a:xfrm>
            <a:off x="116776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776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2287250" y="5676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Generate</a:t>
            </a:r>
          </a:p>
        </p:txBody>
      </p:sp>
      <p:sp>
        <p:nvSpPr>
          <p:cNvPr id="19" name="TextBox 18"/>
          <p:cNvSpPr txBox="1"/>
          <p:nvPr/>
        </p:nvSpPr>
        <p:spPr>
          <a:xfrm>
            <a:off x="12287250" y="6096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Solves the fastest path the robot can really drive</a:t>
            </a:r>
          </a:p>
        </p:txBody>
      </p:sp>
      <p:sp>
        <p:nvSpPr>
          <p:cNvPr id="20" name="Oval 19"/>
          <p:cNvSpPr/>
          <p:nvPr/>
        </p:nvSpPr>
        <p:spPr>
          <a:xfrm>
            <a:off x="116776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776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2287250" y="7105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Type</a:t>
            </a:r>
          </a:p>
        </p:txBody>
      </p:sp>
      <p:sp>
        <p:nvSpPr>
          <p:cNvPr id="23" name="TextBox 22"/>
          <p:cNvSpPr txBox="1"/>
          <p:nvPr/>
        </p:nvSpPr>
        <p:spPr>
          <a:xfrm>
            <a:off x="12287250" y="7524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Differential for this robot, not the default Swerve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plan for this lesson's field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2628900" y="74788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038600" y="712641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086225" y="717404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448300" y="6773990"/>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800725" y="5857684"/>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848350" y="590531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153150" y="5011865"/>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5324475" y="6650165"/>
            <a:ext cx="457200" cy="457200"/>
          </a:xfrm>
          <a:prstGeom prst="roundRect">
            <a:avLst>
              <a:gd name="adj" fmla="val 50000"/>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9" name="Picture 148" descr="bullseye.png"/>
          <p:cNvPicPr>
            <a:picLocks noChangeAspect="1"/>
          </p:cNvPicPr>
          <p:nvPr/>
        </p:nvPicPr>
        <p:blipFill>
          <a:blip r:embed="rId3"/>
          <a:stretch>
            <a:fillRect/>
          </a:stretch>
        </p:blipFill>
        <p:spPr>
          <a:xfrm>
            <a:off x="4276725" y="5602415"/>
            <a:ext cx="438150" cy="438150"/>
          </a:xfrm>
          <a:prstGeom prst="rect">
            <a:avLst/>
          </a:prstGeom>
        </p:spPr>
      </p:pic>
      <p:sp>
        <p:nvSpPr>
          <p:cNvPr id="150" name="TextBox 149"/>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pic>
        <p:nvPicPr>
          <p:cNvPr id="151" name="Picture 150" descr="dozer_top.png"/>
          <p:cNvPicPr>
            <a:picLocks noChangeAspect="1"/>
          </p:cNvPicPr>
          <p:nvPr/>
        </p:nvPicPr>
        <p:blipFill>
          <a:blip r:embed="rId4"/>
          <a:stretch>
            <a:fillRect/>
          </a:stretch>
        </p:blipFill>
        <p:spPr>
          <a:xfrm>
            <a:off x="2333625" y="7215888"/>
            <a:ext cx="800100" cy="735454"/>
          </a:xfrm>
          <a:prstGeom prst="rect">
            <a:avLst/>
          </a:prstGeom>
        </p:spPr>
      </p:pic>
      <p:sp>
        <p:nvSpPr>
          <p:cNvPr id="152" name="TextBox 151"/>
          <p:cNvSpPr txBox="1"/>
          <p:nvPr/>
        </p:nvSpPr>
        <p:spPr>
          <a:xfrm>
            <a:off x="1971675" y="8002715"/>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Start</a:t>
            </a:r>
          </a:p>
        </p:txBody>
      </p:sp>
      <p:sp>
        <p:nvSpPr>
          <p:cNvPr id="153" name="TextBox 152"/>
          <p:cNvSpPr txBox="1"/>
          <p:nvPr/>
        </p:nvSpPr>
        <p:spPr>
          <a:xfrm>
            <a:off x="4981575" y="7164515"/>
            <a:ext cx="1905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Pickup</a:t>
            </a:r>
          </a:p>
        </p:txBody>
      </p:sp>
      <p:sp>
        <p:nvSpPr>
          <p:cNvPr id="154" name="TextBox 153"/>
          <p:cNvSpPr txBox="1"/>
          <p:nvPr/>
        </p:nvSpPr>
        <p:spPr>
          <a:xfrm>
            <a:off x="4733925" y="4449890"/>
            <a:ext cx="3048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ScoreSpot</a:t>
            </a:r>
          </a:p>
        </p:txBody>
      </p:sp>
      <p:sp>
        <p:nvSpPr>
          <p:cNvPr id="155" name="TextBox 154"/>
          <p:cNvSpPr txBox="1"/>
          <p:nvPr/>
        </p:nvSpPr>
        <p:spPr>
          <a:xfrm>
            <a:off x="3509010" y="7936040"/>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ToPickup</a:t>
            </a:r>
          </a:p>
        </p:txBody>
      </p:sp>
      <p:sp>
        <p:nvSpPr>
          <p:cNvPr id="156" name="TextBox 155"/>
          <p:cNvSpPr txBox="1"/>
          <p:nvPr/>
        </p:nvSpPr>
        <p:spPr>
          <a:xfrm>
            <a:off x="6187440" y="6314884"/>
            <a:ext cx="19050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ToScore</a:t>
            </a:r>
          </a:p>
        </p:txBody>
      </p:sp>
      <p:sp>
        <p:nvSpPr>
          <p:cNvPr id="157" name="Rounded Rectangle 156"/>
          <p:cNvSpPr/>
          <p:nvPr/>
        </p:nvSpPr>
        <p:spPr>
          <a:xfrm>
            <a:off x="8572500" y="2857500"/>
            <a:ext cx="88011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8839200" y="2857500"/>
            <a:ext cx="27622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Named pose</a:t>
            </a:r>
          </a:p>
        </p:txBody>
      </p:sp>
      <p:sp>
        <p:nvSpPr>
          <p:cNvPr id="159" name="TextBox 158"/>
          <p:cNvSpPr txBox="1"/>
          <p:nvPr/>
        </p:nvSpPr>
        <p:spPr>
          <a:xfrm>
            <a:off x="1198245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x</a:t>
            </a:r>
          </a:p>
        </p:txBody>
      </p:sp>
      <p:sp>
        <p:nvSpPr>
          <p:cNvPr id="160" name="TextBox 159"/>
          <p:cNvSpPr txBox="1"/>
          <p:nvPr/>
        </p:nvSpPr>
        <p:spPr>
          <a:xfrm>
            <a:off x="1341120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y</a:t>
            </a:r>
          </a:p>
        </p:txBody>
      </p:sp>
      <p:sp>
        <p:nvSpPr>
          <p:cNvPr id="161" name="TextBox 160"/>
          <p:cNvSpPr txBox="1"/>
          <p:nvPr/>
        </p:nvSpPr>
        <p:spPr>
          <a:xfrm>
            <a:off x="14839950" y="2857500"/>
            <a:ext cx="24193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heading</a:t>
            </a:r>
          </a:p>
        </p:txBody>
      </p:sp>
      <p:sp>
        <p:nvSpPr>
          <p:cNvPr id="162" name="Rectangle 161"/>
          <p:cNvSpPr/>
          <p:nvPr/>
        </p:nvSpPr>
        <p:spPr>
          <a:xfrm>
            <a:off x="8562975" y="4267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8839200" y="3562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Start</a:t>
            </a:r>
          </a:p>
        </p:txBody>
      </p:sp>
      <p:sp>
        <p:nvSpPr>
          <p:cNvPr id="164" name="TextBox 163"/>
          <p:cNvSpPr txBox="1"/>
          <p:nvPr/>
        </p:nvSpPr>
        <p:spPr>
          <a:xfrm>
            <a:off x="1198245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5" name="TextBox 164"/>
          <p:cNvSpPr txBox="1"/>
          <p:nvPr/>
        </p:nvSpPr>
        <p:spPr>
          <a:xfrm>
            <a:off x="1341120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6" name="TextBox 165"/>
          <p:cNvSpPr txBox="1"/>
          <p:nvPr/>
        </p:nvSpPr>
        <p:spPr>
          <a:xfrm>
            <a:off x="14839950" y="3562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a:t>
            </a:r>
          </a:p>
        </p:txBody>
      </p:sp>
      <p:sp>
        <p:nvSpPr>
          <p:cNvPr id="167" name="Rectangle 166"/>
          <p:cNvSpPr/>
          <p:nvPr/>
        </p:nvSpPr>
        <p:spPr>
          <a:xfrm>
            <a:off x="8562975" y="5029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8839200" y="4324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Pickup</a:t>
            </a:r>
          </a:p>
        </p:txBody>
      </p:sp>
      <p:sp>
        <p:nvSpPr>
          <p:cNvPr id="169" name="TextBox 168"/>
          <p:cNvSpPr txBox="1"/>
          <p:nvPr/>
        </p:nvSpPr>
        <p:spPr>
          <a:xfrm>
            <a:off x="1198245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5.5</a:t>
            </a:r>
          </a:p>
        </p:txBody>
      </p:sp>
      <p:sp>
        <p:nvSpPr>
          <p:cNvPr id="170" name="TextBox 169"/>
          <p:cNvSpPr txBox="1"/>
          <p:nvPr/>
        </p:nvSpPr>
        <p:spPr>
          <a:xfrm>
            <a:off x="1341120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2.5</a:t>
            </a:r>
          </a:p>
        </p:txBody>
      </p:sp>
      <p:sp>
        <p:nvSpPr>
          <p:cNvPr id="171" name="TextBox 170"/>
          <p:cNvSpPr txBox="1"/>
          <p:nvPr/>
        </p:nvSpPr>
        <p:spPr>
          <a:xfrm>
            <a:off x="14839950" y="4324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a:t>
            </a:r>
          </a:p>
        </p:txBody>
      </p:sp>
      <p:sp>
        <p:nvSpPr>
          <p:cNvPr id="172" name="Rectangle 171"/>
          <p:cNvSpPr/>
          <p:nvPr/>
        </p:nvSpPr>
        <p:spPr>
          <a:xfrm>
            <a:off x="8562975" y="5791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8839200" y="5086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ScoreSpot</a:t>
            </a:r>
          </a:p>
        </p:txBody>
      </p:sp>
      <p:sp>
        <p:nvSpPr>
          <p:cNvPr id="174" name="TextBox 173"/>
          <p:cNvSpPr txBox="1"/>
          <p:nvPr/>
        </p:nvSpPr>
        <p:spPr>
          <a:xfrm>
            <a:off x="1198245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6.5</a:t>
            </a:r>
          </a:p>
        </p:txBody>
      </p:sp>
      <p:sp>
        <p:nvSpPr>
          <p:cNvPr id="175" name="TextBox 174"/>
          <p:cNvSpPr txBox="1"/>
          <p:nvPr/>
        </p:nvSpPr>
        <p:spPr>
          <a:xfrm>
            <a:off x="1341120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5.0</a:t>
            </a:r>
          </a:p>
        </p:txBody>
      </p:sp>
      <p:sp>
        <p:nvSpPr>
          <p:cNvPr id="176" name="TextBox 175"/>
          <p:cNvSpPr txBox="1"/>
          <p:nvPr/>
        </p:nvSpPr>
        <p:spPr>
          <a:xfrm>
            <a:off x="14839950" y="5086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90°</a:t>
            </a:r>
          </a:p>
        </p:txBody>
      </p:sp>
      <p:sp>
        <p:nvSpPr>
          <p:cNvPr id="177" name="Rectangle 176"/>
          <p:cNvSpPr/>
          <p:nvPr/>
        </p:nvSpPr>
        <p:spPr>
          <a:xfrm>
            <a:off x="8562975" y="6553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8839200" y="5848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Goal</a:t>
            </a:r>
          </a:p>
        </p:txBody>
      </p:sp>
      <p:sp>
        <p:nvSpPr>
          <p:cNvPr id="179" name="TextBox 178"/>
          <p:cNvSpPr txBox="1"/>
          <p:nvPr/>
        </p:nvSpPr>
        <p:spPr>
          <a:xfrm>
            <a:off x="1198245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0" name="TextBox 179"/>
          <p:cNvSpPr txBox="1"/>
          <p:nvPr/>
        </p:nvSpPr>
        <p:spPr>
          <a:xfrm>
            <a:off x="1341120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1" name="TextBox 180"/>
          <p:cNvSpPr txBox="1"/>
          <p:nvPr/>
        </p:nvSpPr>
        <p:spPr>
          <a:xfrm>
            <a:off x="14839950" y="5848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aim here</a:t>
            </a:r>
          </a:p>
        </p:txBody>
      </p:sp>
      <p:sp>
        <p:nvSpPr>
          <p:cNvPr id="182" name="Oval 181"/>
          <p:cNvSpPr/>
          <p:nvPr/>
        </p:nvSpPr>
        <p:spPr>
          <a:xfrm>
            <a:off x="8753475" y="7019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201150" y="69532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Pose waypoint</a:t>
            </a:r>
          </a:p>
        </p:txBody>
      </p:sp>
      <p:sp>
        <p:nvSpPr>
          <p:cNvPr id="184" name="Oval 183"/>
          <p:cNvSpPr/>
          <p:nvPr/>
        </p:nvSpPr>
        <p:spPr>
          <a:xfrm>
            <a:off x="8753475" y="755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8801100" y="760095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201150" y="74866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Translation waypoint</a:t>
            </a:r>
          </a:p>
        </p:txBody>
      </p:sp>
      <p:sp>
        <p:nvSpPr>
          <p:cNvPr id="187" name="Rounded Rectangle 186"/>
          <p:cNvSpPr/>
          <p:nvPr/>
        </p:nvSpPr>
        <p:spPr>
          <a:xfrm>
            <a:off x="12382500" y="6953250"/>
            <a:ext cx="457200" cy="457200"/>
          </a:xfrm>
          <a:prstGeom prst="roundRect">
            <a:avLst>
              <a:gd name="adj" fmla="val 50000"/>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13011150" y="7010400"/>
            <a:ext cx="428625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The join: both paths meet here</a:t>
            </a:r>
          </a:p>
        </p:txBody>
      </p:sp>
      <p:sp>
        <p:nvSpPr>
          <p:cNvPr id="189" name="TextBox 188"/>
          <p:cNvSpPr txBox="1"/>
          <p:nvPr/>
        </p:nvSpPr>
        <p:spPr>
          <a:xfrm>
            <a:off x="8572500" y="8286750"/>
            <a:ext cx="8801100" cy="7620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Meters from the blue wall (x) and the side of the field (y). Heading 0° points down the field.</a:t>
            </a:r>
          </a:p>
        </p:txBody>
      </p:sp>
      <p:sp>
        <p:nvSpPr>
          <p:cNvPr id="190" name="TextBox 18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1" name="TextBox 19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rules for the two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keyboard.png"/>
          <p:cNvPicPr>
            <a:picLocks noChangeAspect="1"/>
          </p:cNvPicPr>
          <p:nvPr/>
        </p:nvPicPr>
        <p:blipFill>
          <a:blip r:embed="rId3"/>
          <a:stretch>
            <a:fillRect/>
          </a:stretch>
        </p:blipFill>
        <p:spPr>
          <a:xfrm>
            <a:off x="1295400" y="3238500"/>
            <a:ext cx="1083733"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Exact names</a:t>
            </a:r>
          </a:p>
        </p:txBody>
      </p:sp>
      <p:sp>
        <p:nvSpPr>
          <p:cNvPr id="8" name="TextBox 7"/>
          <p:cNvSpPr txBox="1"/>
          <p:nvPr/>
        </p:nvSpPr>
        <p:spPr>
          <a:xfrm>
            <a:off x="1295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ToPickup and ToScore. Java loads them by name, and capitals count.</a:t>
            </a:r>
          </a:p>
        </p:txBody>
      </p:sp>
      <p:sp>
        <p:nvSpPr>
          <p:cNvPr id="9" name="Rounded Rectangle 8"/>
          <p:cNvSpPr/>
          <p:nvPr/>
        </p:nvSpPr>
        <p:spPr>
          <a:xfrm>
            <a:off x="5105400" y="2857500"/>
            <a:ext cx="3886200" cy="4000500"/>
          </a:xfrm>
          <a:prstGeom prst="roundRect">
            <a:avLst>
              <a:gd name="adj" fmla="val 39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o-alt-fill.png"/>
          <p:cNvPicPr>
            <a:picLocks noChangeAspect="1"/>
          </p:cNvPicPr>
          <p:nvPr/>
        </p:nvPicPr>
        <p:blipFill>
          <a:blip r:embed="rId4"/>
          <a:stretch>
            <a:fillRect/>
          </a:stretch>
        </p:blipFill>
        <p:spPr>
          <a:xfrm>
            <a:off x="5486400" y="3238500"/>
            <a:ext cx="457200"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They join up</a:t>
            </a:r>
          </a:p>
        </p:txBody>
      </p:sp>
      <p:sp>
        <p:nvSpPr>
          <p:cNvPr id="12" name="TextBox 11"/>
          <p:cNvSpPr txBox="1"/>
          <p:nvPr/>
        </p:nvSpPr>
        <p:spPr>
          <a:xfrm>
            <a:off x="5486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ToScore starts where ToPickup ended: on Pickup, within 15 cm.</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in-map.png"/>
          <p:cNvPicPr>
            <a:picLocks noChangeAspect="1"/>
          </p:cNvPicPr>
          <p:nvPr/>
        </p:nvPicPr>
        <p:blipFill>
          <a:blip r:embed="rId5"/>
          <a:stretch>
            <a:fillRect/>
          </a:stretch>
        </p:blipFill>
        <p:spPr>
          <a:xfrm>
            <a:off x="9677400" y="3238500"/>
            <a:ext cx="6096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Three waypoints</a:t>
            </a:r>
          </a:p>
        </p:txBody>
      </p:sp>
      <p:sp>
        <p:nvSpPr>
          <p:cNvPr id="16" name="TextBox 15"/>
          <p:cNvSpPr txBox="1"/>
          <p:nvPr/>
        </p:nvSpPr>
        <p:spPr>
          <a:xfrm>
            <a:off x="9677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Pose at the start, translation in the middle, pose at the end.</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ear.png"/>
          <p:cNvPicPr>
            <a:picLocks noChangeAspect="1"/>
          </p:cNvPicPr>
          <p:nvPr/>
        </p:nvPicPr>
        <p:blipFill>
          <a:blip r:embed="rId6"/>
          <a:stretch>
            <a:fillRect/>
          </a:stretch>
        </p:blipFill>
        <p:spPr>
          <a:xfrm>
            <a:off x="13868400" y="3238500"/>
            <a:ext cx="6096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Differential first</a:t>
            </a:r>
          </a:p>
        </p:txBody>
      </p:sp>
      <p:sp>
        <p:nvSpPr>
          <p:cNvPr id="20" name="TextBox 19"/>
          <p:cNvSpPr txBox="1"/>
          <p:nvPr/>
        </p:nvSpPr>
        <p:spPr>
          <a:xfrm>
            <a:off x="13868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Drive Type and the robot's numbers before you draw.</a:t>
            </a:r>
          </a:p>
        </p:txBody>
      </p:sp>
      <p:sp>
        <p:nvSpPr>
          <p:cNvPr id="21" name="Rounded Rectangle 20"/>
          <p:cNvSpPr/>
          <p:nvPr/>
        </p:nvSpPr>
        <p:spPr>
          <a:xfrm>
            <a:off x="914400" y="7429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circle-fill.png"/>
          <p:cNvPicPr>
            <a:picLocks noChangeAspect="1"/>
          </p:cNvPicPr>
          <p:nvPr/>
        </p:nvPicPr>
        <p:blipFill>
          <a:blip r:embed="rId7"/>
          <a:stretch>
            <a:fillRect/>
          </a:stretch>
        </p:blipFill>
        <p:spPr>
          <a:xfrm>
            <a:off x="1333500" y="7639050"/>
            <a:ext cx="533400" cy="533400"/>
          </a:xfrm>
          <a:prstGeom prst="rect">
            <a:avLst/>
          </a:prstGeom>
        </p:spPr>
      </p:pic>
      <p:sp>
        <p:nvSpPr>
          <p:cNvPr id="23" name="TextBox 22"/>
          <p:cNvSpPr txBox="1"/>
          <p:nvPr/>
        </p:nvSpPr>
        <p:spPr>
          <a:xfrm>
            <a:off x="2190750" y="7429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Verify checks:  </a:t>
            </a:r>
            <a:r>
              <a:rPr sz="2100" b="0" i="0">
                <a:solidFill>
                  <a:srgbClr val="F0E8E8"/>
                </a:solidFill>
                <a:latin typeface="Geist"/>
                <a:ea typeface="Geist"/>
                <a:cs typeface="Geist"/>
              </a:rPr>
              <a:t>the names, each end within about 30 cm, and the join within 15 cm.</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Following a path</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a trajectory turns into wheel speeds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path is my schedule. I check it 50 times a second.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trajectory is a schedule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14525" y="59531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926641" y="59531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960969" y="59531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017509" y="59531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98281" y="59531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201266" y="59531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326462" y="59531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73871" y="59531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643492" y="5953125"/>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825229" y="5951106"/>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V="1">
            <a:off x="3028036" y="5951982"/>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11792" y="5925731"/>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93529" y="5885345"/>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73247" y="5832843"/>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48926" y="5772264"/>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22586" y="5703608"/>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2207" y="563495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1828" y="5564276"/>
            <a:ext cx="171640"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33468" y="5495620"/>
            <a:ext cx="169622"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03090" y="542898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74730" y="5362346"/>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44351" y="5295710"/>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15992" y="522907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287632" y="5162436"/>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459273" y="5095799"/>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28894" y="5029162"/>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00534" y="4962525"/>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972175" y="4895888"/>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43816" y="4829251"/>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13437" y="4762614"/>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485077" y="4695977"/>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656718" y="462934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828358" y="4562704"/>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999999" y="4496067"/>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169620" y="442943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341260" y="4360774"/>
            <a:ext cx="17164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512901" y="4290098"/>
            <a:ext cx="169621"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682522" y="422144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852143" y="4152786"/>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021764" y="4092207"/>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195424" y="4039705"/>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371103" y="3999319"/>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550821" y="3973068"/>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732558" y="3958933"/>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897264" y="3939883"/>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81021" y="3935844"/>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262758" y="39338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432379" y="39338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579788" y="39338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704984" y="39338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807969" y="39338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888741" y="39338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9945281" y="39338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9979609" y="39338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1876425"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88854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92286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97940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06018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63166"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28836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43577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60539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787129" y="591300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904211" y="5842292"/>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70786" y="5394617"/>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0.51 s</a:t>
            </a:r>
          </a:p>
        </p:txBody>
      </p:sp>
      <p:sp>
        <p:nvSpPr>
          <p:cNvPr id="72" name="Oval 71"/>
          <p:cNvSpPr/>
          <p:nvPr/>
        </p:nvSpPr>
        <p:spPr>
          <a:xfrm>
            <a:off x="3154642" y="589483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36379" y="586858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516097" y="582819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691776" y="577569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865436" y="571511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035057" y="564645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204678" y="557780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376318" y="550712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545940" y="543847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717580" y="537183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887201" y="530519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5058842" y="523856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5230482" y="517192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402123" y="510528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571744" y="503864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743384" y="497201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915025" y="490537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086666" y="483873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256287" y="477210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61252" y="4638789"/>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627827" y="4191114"/>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1.52 s</a:t>
            </a:r>
          </a:p>
        </p:txBody>
      </p:sp>
      <p:sp>
        <p:nvSpPr>
          <p:cNvPr id="93" name="Oval 92"/>
          <p:cNvSpPr/>
          <p:nvPr/>
        </p:nvSpPr>
        <p:spPr>
          <a:xfrm>
            <a:off x="6599568" y="463882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771208" y="457219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942849" y="450555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112470" y="443891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284110" y="437228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455751" y="430362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625372" y="423294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794993" y="416429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964614" y="409563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138274" y="403505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13953" y="398255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493671" y="394216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675408" y="391591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859164" y="390178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042921" y="389774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22465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39427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54168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600209" y="3829050"/>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866784" y="3381375"/>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2.48 s</a:t>
            </a:r>
          </a:p>
        </p:txBody>
      </p:sp>
      <p:sp>
        <p:nvSpPr>
          <p:cNvPr id="113" name="Oval 112"/>
          <p:cNvSpPr/>
          <p:nvPr/>
        </p:nvSpPr>
        <p:spPr>
          <a:xfrm>
            <a:off x="976986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85064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90718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94150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953625"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743075" y="6124575"/>
            <a:ext cx="1524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Start</a:t>
            </a:r>
          </a:p>
        </p:txBody>
      </p:sp>
      <p:sp>
        <p:nvSpPr>
          <p:cNvPr id="119" name="TextBox 118"/>
          <p:cNvSpPr txBox="1"/>
          <p:nvPr/>
        </p:nvSpPr>
        <p:spPr>
          <a:xfrm>
            <a:off x="8677275" y="4105275"/>
            <a:ext cx="1524000" cy="2857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Pickup</a:t>
            </a:r>
          </a:p>
        </p:txBody>
      </p:sp>
      <p:sp>
        <p:nvSpPr>
          <p:cNvPr id="120" name="Rounded Rectangle 119"/>
          <p:cNvSpPr/>
          <p:nvPr/>
        </p:nvSpPr>
        <p:spPr>
          <a:xfrm>
            <a:off x="11811000" y="2762250"/>
            <a:ext cx="5562600" cy="4095750"/>
          </a:xfrm>
          <a:prstGeom prst="roundRect">
            <a:avLst>
              <a:gd name="adj" fmla="val 372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2192000" y="306705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ONE SAMPLE</a:t>
            </a:r>
          </a:p>
        </p:txBody>
      </p:sp>
      <p:sp>
        <p:nvSpPr>
          <p:cNvPr id="122" name="TextBox 121"/>
          <p:cNvSpPr txBox="1"/>
          <p:nvPr/>
        </p:nvSpPr>
        <p:spPr>
          <a:xfrm>
            <a:off x="12192000" y="35433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a:t>
            </a:r>
          </a:p>
        </p:txBody>
      </p:sp>
      <p:sp>
        <p:nvSpPr>
          <p:cNvPr id="123" name="TextBox 122"/>
          <p:cNvSpPr txBox="1"/>
          <p:nvPr/>
        </p:nvSpPr>
        <p:spPr>
          <a:xfrm>
            <a:off x="14668500" y="35433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1.52 s</a:t>
            </a:r>
          </a:p>
        </p:txBody>
      </p:sp>
      <p:sp>
        <p:nvSpPr>
          <p:cNvPr id="124" name="TextBox 123"/>
          <p:cNvSpPr txBox="1"/>
          <p:nvPr/>
        </p:nvSpPr>
        <p:spPr>
          <a:xfrm>
            <a:off x="12192000" y="40576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x</a:t>
            </a:r>
          </a:p>
        </p:txBody>
      </p:sp>
      <p:sp>
        <p:nvSpPr>
          <p:cNvPr id="125" name="TextBox 124"/>
          <p:cNvSpPr txBox="1"/>
          <p:nvPr/>
        </p:nvSpPr>
        <p:spPr>
          <a:xfrm>
            <a:off x="14668500" y="40576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3.75 m</a:t>
            </a:r>
          </a:p>
        </p:txBody>
      </p:sp>
      <p:sp>
        <p:nvSpPr>
          <p:cNvPr id="126" name="TextBox 125"/>
          <p:cNvSpPr txBox="1"/>
          <p:nvPr/>
        </p:nvSpPr>
        <p:spPr>
          <a:xfrm>
            <a:off x="12192000" y="45720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y</a:t>
            </a:r>
          </a:p>
        </p:txBody>
      </p:sp>
      <p:sp>
        <p:nvSpPr>
          <p:cNvPr id="127" name="TextBox 126"/>
          <p:cNvSpPr txBox="1"/>
          <p:nvPr/>
        </p:nvSpPr>
        <p:spPr>
          <a:xfrm>
            <a:off x="14668500" y="45720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2.10 m</a:t>
            </a:r>
          </a:p>
        </p:txBody>
      </p:sp>
      <p:sp>
        <p:nvSpPr>
          <p:cNvPr id="128" name="TextBox 127"/>
          <p:cNvSpPr txBox="1"/>
          <p:nvPr/>
        </p:nvSpPr>
        <p:spPr>
          <a:xfrm>
            <a:off x="12192000" y="50863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heading</a:t>
            </a:r>
          </a:p>
        </p:txBody>
      </p:sp>
      <p:sp>
        <p:nvSpPr>
          <p:cNvPr id="129" name="TextBox 128"/>
          <p:cNvSpPr txBox="1"/>
          <p:nvPr/>
        </p:nvSpPr>
        <p:spPr>
          <a:xfrm>
            <a:off x="14668500" y="50863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21°</a:t>
            </a:r>
          </a:p>
        </p:txBody>
      </p:sp>
      <p:sp>
        <p:nvSpPr>
          <p:cNvPr id="130" name="TextBox 129"/>
          <p:cNvSpPr txBox="1"/>
          <p:nvPr/>
        </p:nvSpPr>
        <p:spPr>
          <a:xfrm>
            <a:off x="12192000" y="56007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left wheel</a:t>
            </a:r>
          </a:p>
        </p:txBody>
      </p:sp>
      <p:sp>
        <p:nvSpPr>
          <p:cNvPr id="131" name="TextBox 130"/>
          <p:cNvSpPr txBox="1"/>
          <p:nvPr/>
        </p:nvSpPr>
        <p:spPr>
          <a:xfrm>
            <a:off x="14668500" y="56007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1.81 m/s</a:t>
            </a:r>
          </a:p>
        </p:txBody>
      </p:sp>
      <p:sp>
        <p:nvSpPr>
          <p:cNvPr id="132" name="TextBox 131"/>
          <p:cNvSpPr txBox="1"/>
          <p:nvPr/>
        </p:nvSpPr>
        <p:spPr>
          <a:xfrm>
            <a:off x="12192000" y="61150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right wheel</a:t>
            </a:r>
          </a:p>
        </p:txBody>
      </p:sp>
      <p:sp>
        <p:nvSpPr>
          <p:cNvPr id="133" name="TextBox 132"/>
          <p:cNvSpPr txBox="1"/>
          <p:nvPr/>
        </p:nvSpPr>
        <p:spPr>
          <a:xfrm>
            <a:off x="14668500" y="61150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1.79 m/s</a:t>
            </a:r>
          </a:p>
        </p:txBody>
      </p:sp>
      <p:sp>
        <p:nvSpPr>
          <p:cNvPr id="134" name="Rounded Rectangle 133"/>
          <p:cNvSpPr/>
          <p:nvPr/>
        </p:nvSpPr>
        <p:spPr>
          <a:xfrm>
            <a:off x="914400" y="7334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5" name="Picture 134" descr="stopwatch.png"/>
          <p:cNvPicPr>
            <a:picLocks noChangeAspect="1"/>
          </p:cNvPicPr>
          <p:nvPr/>
        </p:nvPicPr>
        <p:blipFill>
          <a:blip r:embed="rId3"/>
          <a:stretch>
            <a:fillRect/>
          </a:stretch>
        </p:blipFill>
        <p:spPr>
          <a:xfrm>
            <a:off x="1333500" y="7591425"/>
            <a:ext cx="481781" cy="533400"/>
          </a:xfrm>
          <a:prstGeom prst="rect">
            <a:avLst/>
          </a:prstGeom>
        </p:spPr>
      </p:pic>
      <p:sp>
        <p:nvSpPr>
          <p:cNvPr id="136" name="TextBox 135"/>
          <p:cNvSpPr txBox="1"/>
          <p:nvPr/>
        </p:nvSpPr>
        <p:spPr>
          <a:xfrm>
            <a:off x="2190750" y="7334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Read the dots:  </a:t>
            </a:r>
            <a:r>
              <a:rPr sz="2100" b="0" i="0">
                <a:solidFill>
                  <a:srgbClr val="F0E8E8"/>
                </a:solidFill>
                <a:latin typeface="Geist"/>
                <a:ea typeface="Geist"/>
                <a:cs typeface="Geist"/>
              </a:rPr>
              <a:t>bunched up where the robot is slow, spread out where it's fast. Samples are about 0.05 s apart.</a:t>
            </a:r>
          </a:p>
        </p:txBody>
      </p:sp>
      <p:sp>
        <p:nvSpPr>
          <p:cNvPr id="137" name="TextBox 1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8" name="TextBox 1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follower, every 20 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066800"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should I be?</a:t>
            </a:r>
          </a:p>
        </p:txBody>
      </p:sp>
      <p:sp>
        <p:nvSpPr>
          <p:cNvPr id="9" name="TextBox 8"/>
          <p:cNvSpPr txBox="1"/>
          <p:nvPr/>
        </p:nvSpPr>
        <p:spPr>
          <a:xfrm>
            <a:off x="1104900"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path's sample for right now</a:t>
            </a:r>
          </a:p>
        </p:txBody>
      </p:sp>
      <p:sp>
        <p:nvSpPr>
          <p:cNvPr id="10" name="Rectangle 9"/>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967288"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424488"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4488"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5348288"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am I?</a:t>
            </a:r>
          </a:p>
        </p:txBody>
      </p:sp>
      <p:sp>
        <p:nvSpPr>
          <p:cNvPr id="16" name="TextBox 15"/>
          <p:cNvSpPr txBox="1"/>
          <p:nvPr/>
        </p:nvSpPr>
        <p:spPr>
          <a:xfrm>
            <a:off x="5386388"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pose estimate</a:t>
            </a:r>
          </a:p>
        </p:txBody>
      </p:sp>
      <p:sp>
        <p:nvSpPr>
          <p:cNvPr id="17" name="Rectangle 16"/>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48775"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77375" y="304800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05975"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5975"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9629775"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Close the gap</a:t>
            </a:r>
          </a:p>
        </p:txBody>
      </p:sp>
      <p:sp>
        <p:nvSpPr>
          <p:cNvPr id="23" name="TextBox 22"/>
          <p:cNvSpPr txBox="1"/>
          <p:nvPr/>
        </p:nvSpPr>
        <p:spPr>
          <a:xfrm>
            <a:off x="9667875"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Feedback nudges the speeds</a:t>
            </a:r>
          </a:p>
        </p:txBody>
      </p:sp>
      <p:sp>
        <p:nvSpPr>
          <p:cNvPr id="24" name="Rectangle 23"/>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3530262"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3758862"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3987462"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987462"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3911262"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Speed to power</a:t>
            </a:r>
          </a:p>
        </p:txBody>
      </p:sp>
      <p:sp>
        <p:nvSpPr>
          <p:cNvPr id="30" name="TextBox 29"/>
          <p:cNvSpPr txBox="1"/>
          <p:nvPr/>
        </p:nvSpPr>
        <p:spPr>
          <a:xfrm>
            <a:off x="13949362"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Feedforward: kS + kV × speed</a:t>
            </a:r>
          </a:p>
        </p:txBody>
      </p:sp>
      <p:sp>
        <p:nvSpPr>
          <p:cNvPr id="31" name="Rectangle 30"/>
          <p:cNvSpPr/>
          <p:nvPr/>
        </p:nvSpPr>
        <p:spPr>
          <a:xfrm>
            <a:off x="15551944" y="5205412"/>
            <a:ext cx="28575" cy="714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707481" y="5891212"/>
            <a:ext cx="12873038"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7481" y="5361622"/>
            <a:ext cx="28575" cy="5581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a:off x="2645569" y="5238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91500" y="5676900"/>
            <a:ext cx="190500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91500" y="5676900"/>
            <a:ext cx="1905000" cy="457200"/>
          </a:xfrm>
          <a:prstGeom prst="rect">
            <a:avLst/>
          </a:prstGeom>
          <a:noFill/>
        </p:spPr>
        <p:txBody>
          <a:bodyPr wrap="square" lIns="0" rIns="0" tIns="0" bIns="0" anchor="ctr">
            <a:spAutoFit/>
          </a:bodyPr>
          <a:lstStyle/>
          <a:p>
            <a:pPr algn="ctr"/>
            <a:r>
              <a:rPr sz="1950" b="1" i="0">
                <a:solidFill>
                  <a:srgbClr val="CC2200"/>
                </a:solidFill>
                <a:latin typeface="Geist"/>
                <a:ea typeface="Geist"/>
                <a:cs typeface="Geist"/>
              </a:rPr>
              <a:t>every 20 ms</a:t>
            </a:r>
          </a:p>
        </p:txBody>
      </p:sp>
      <p:sp>
        <p:nvSpPr>
          <p:cNvPr id="37" name="Rounded Rectangle 36"/>
          <p:cNvSpPr/>
          <p:nvPr/>
        </p:nvSpPr>
        <p:spPr>
          <a:xfrm>
            <a:off x="914400" y="7239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journal-code.png"/>
          <p:cNvPicPr>
            <a:picLocks noChangeAspect="1"/>
          </p:cNvPicPr>
          <p:nvPr/>
        </p:nvPicPr>
        <p:blipFill>
          <a:blip r:embed="rId3"/>
          <a:stretch>
            <a:fillRect/>
          </a:stretch>
        </p:blipFill>
        <p:spPr>
          <a:xfrm>
            <a:off x="1333500" y="7496175"/>
            <a:ext cx="500062" cy="533400"/>
          </a:xfrm>
          <a:prstGeom prst="rect">
            <a:avLst/>
          </a:prstGeom>
        </p:spPr>
      </p:pic>
      <p:sp>
        <p:nvSpPr>
          <p:cNvPr id="39" name="TextBox 38"/>
          <p:cNvSpPr txBox="1"/>
          <p:nvPr/>
        </p:nvSpPr>
        <p:spPr>
          <a:xfrm>
            <a:off x="2190750" y="7239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Provided:  </a:t>
            </a:r>
            <a:r>
              <a:rPr sz="2100" b="0" i="0">
                <a:solidFill>
                  <a:srgbClr val="F0E8E8"/>
                </a:solidFill>
                <a:latin typeface="Geist"/>
                <a:ea typeface="Geist"/>
                <a:cs typeface="Geist"/>
              </a:rPr>
              <a:t>DifferentialPathFollower.java does this, already tuned. Read it, don't change it.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Should be here, is there: close the gap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428750" y="7993798"/>
            <a:ext cx="260994" cy="7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89744" y="7972675"/>
            <a:ext cx="254618" cy="211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944362" y="7938354"/>
            <a:ext cx="248653" cy="343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193015" y="7891558"/>
            <a:ext cx="243099" cy="467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436114" y="7833010"/>
            <a:ext cx="237955" cy="585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74069" y="7763435"/>
            <a:ext cx="233223" cy="695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7292" y="7683554"/>
            <a:ext cx="228901" cy="798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136193" y="7594092"/>
            <a:ext cx="224989" cy="89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61182" y="7495772"/>
            <a:ext cx="221489" cy="983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582671" y="7389316"/>
            <a:ext cx="218399" cy="106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801070" y="7275449"/>
            <a:ext cx="215721" cy="113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016791" y="7154894"/>
            <a:ext cx="213452" cy="1205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230243" y="7028374"/>
            <a:ext cx="211595" cy="1265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441838" y="6896612"/>
            <a:ext cx="210148" cy="1317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651986" y="6760332"/>
            <a:ext cx="209113" cy="1362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861099" y="6620256"/>
            <a:ext cx="208487" cy="1400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069586" y="6477109"/>
            <a:ext cx="208273" cy="1431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277859" y="6331613"/>
            <a:ext cx="208470" cy="1454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486329" y="6184492"/>
            <a:ext cx="209076" cy="147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95405" y="6036469"/>
            <a:ext cx="210095" cy="1480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905500" y="5888267"/>
            <a:ext cx="211523" cy="148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117023" y="5740610"/>
            <a:ext cx="213363" cy="1476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30386" y="5594222"/>
            <a:ext cx="215614" cy="1463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46000" y="5449824"/>
            <a:ext cx="218274" cy="1443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764274" y="5308141"/>
            <a:ext cx="221346" cy="1416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985620" y="5169896"/>
            <a:ext cx="224829" cy="1382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210449" y="5035812"/>
            <a:ext cx="228722" cy="13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439171" y="4906613"/>
            <a:ext cx="233026" cy="1291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72197" y="4783022"/>
            <a:ext cx="237741" cy="123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909938" y="4665762"/>
            <a:ext cx="242867" cy="1172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152805" y="4555556"/>
            <a:ext cx="248403" cy="1102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401208" y="4453128"/>
            <a:ext cx="254350" cy="1024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55558" y="4359201"/>
            <a:ext cx="260708" cy="939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916266" y="4274499"/>
            <a:ext cx="267477" cy="84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183743" y="4199744"/>
            <a:ext cx="274656" cy="747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458399" y="4135660"/>
            <a:ext cx="282247" cy="6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740646" y="4082970"/>
            <a:ext cx="290248" cy="526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030894" y="4042398"/>
            <a:ext cx="298659" cy="405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329553" y="4014667"/>
            <a:ext cx="307482" cy="277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637035" y="4000500"/>
            <a:ext cx="316715" cy="141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rot="19616770">
            <a:off x="6240399" y="4925949"/>
            <a:ext cx="1047750" cy="1047750"/>
          </a:xfrm>
          <a:prstGeom prst="roundRect">
            <a:avLst>
              <a:gd name="adj" fmla="val 9090"/>
            </a:avLst>
          </a:prstGeom>
          <a:noFill/>
          <a:ln w="28575">
            <a:solidFill>
              <a:srgbClr val="E055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ozer_top.png"/>
          <p:cNvPicPr>
            <a:picLocks noChangeAspect="1"/>
          </p:cNvPicPr>
          <p:nvPr/>
        </p:nvPicPr>
        <p:blipFill>
          <a:blip r:embed="rId3"/>
          <a:stretch>
            <a:fillRect/>
          </a:stretch>
        </p:blipFill>
        <p:spPr>
          <a:xfrm rot="20096770">
            <a:off x="6393468" y="6310118"/>
            <a:ext cx="1238250" cy="1138203"/>
          </a:xfrm>
          <a:prstGeom prst="rect">
            <a:avLst/>
          </a:prstGeom>
        </p:spPr>
      </p:pic>
      <p:cxnSp>
        <p:nvCxnSpPr>
          <p:cNvPr id="48" name="Connector 47"/>
          <p:cNvCxnSpPr/>
          <p:nvPr/>
        </p:nvCxnSpPr>
        <p:spPr>
          <a:xfrm flipH="1" flipV="1">
            <a:off x="6764274" y="5449824"/>
            <a:ext cx="248319" cy="1429396"/>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491601" y="4331318"/>
            <a:ext cx="1292879" cy="223619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2954274" y="449732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54274" y="449732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Oval 51"/>
          <p:cNvSpPr/>
          <p:nvPr/>
        </p:nvSpPr>
        <p:spPr>
          <a:xfrm>
            <a:off x="5488593" y="666967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8593" y="666967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4" name="Oval 53"/>
          <p:cNvSpPr/>
          <p:nvPr/>
        </p:nvSpPr>
        <p:spPr>
          <a:xfrm>
            <a:off x="8250180" y="571446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50180" y="571446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6" name="TextBox 55"/>
          <p:cNvSpPr txBox="1"/>
          <p:nvPr/>
        </p:nvSpPr>
        <p:spPr>
          <a:xfrm>
            <a:off x="3525774" y="4516374"/>
            <a:ext cx="2286000" cy="323850"/>
          </a:xfrm>
          <a:prstGeom prst="rect">
            <a:avLst/>
          </a:prstGeom>
          <a:noFill/>
        </p:spPr>
        <p:txBody>
          <a:bodyPr wrap="square" lIns="0" rIns="0" tIns="0" bIns="0" anchor="t">
            <a:spAutoFit/>
          </a:bodyPr>
          <a:lstStyle/>
          <a:p>
            <a:pPr algn="r"/>
            <a:r>
              <a:rPr sz="1800" b="1" i="0">
                <a:solidFill>
                  <a:srgbClr val="E05540"/>
                </a:solidFill>
                <a:latin typeface="Geist Mono"/>
                <a:ea typeface="Geist Mono"/>
                <a:cs typeface="Geist Mono"/>
              </a:rPr>
              <a:t>DesiredPose</a:t>
            </a:r>
          </a:p>
        </p:txBody>
      </p:sp>
      <p:sp>
        <p:nvSpPr>
          <p:cNvPr id="57" name="TextBox 56"/>
          <p:cNvSpPr txBox="1"/>
          <p:nvPr/>
        </p:nvSpPr>
        <p:spPr>
          <a:xfrm>
            <a:off x="7869843" y="6717295"/>
            <a:ext cx="190500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Pose</a:t>
            </a:r>
          </a:p>
        </p:txBody>
      </p:sp>
      <p:sp>
        <p:nvSpPr>
          <p:cNvPr id="58" name="Oval 57"/>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0" name="TextBox 59"/>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Path says</a:t>
            </a:r>
          </a:p>
        </p:txBody>
      </p:sp>
      <p:sp>
        <p:nvSpPr>
          <p:cNvPr id="61" name="TextBox 60"/>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 here now, at these wheel speeds</a:t>
            </a:r>
          </a:p>
        </p:txBody>
      </p:sp>
      <p:sp>
        <p:nvSpPr>
          <p:cNvPr id="62" name="Oval 61"/>
          <p:cNvSpPr/>
          <p:nvPr/>
        </p:nvSpPr>
        <p:spPr>
          <a:xfrm>
            <a:off x="11906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64" name="TextBox 63"/>
          <p:cNvSpPr txBox="1"/>
          <p:nvPr/>
        </p:nvSpPr>
        <p:spPr>
          <a:xfrm>
            <a:off x="12515850" y="4724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 is</a:t>
            </a:r>
          </a:p>
        </p:txBody>
      </p:sp>
      <p:sp>
        <p:nvSpPr>
          <p:cNvPr id="65" name="TextBox 64"/>
          <p:cNvSpPr txBox="1"/>
          <p:nvPr/>
        </p:nvSpPr>
        <p:spPr>
          <a:xfrm>
            <a:off x="12515850" y="5143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behind, and off to the side</a:t>
            </a:r>
          </a:p>
        </p:txBody>
      </p:sp>
      <p:sp>
        <p:nvSpPr>
          <p:cNvPr id="66" name="Oval 65"/>
          <p:cNvSpPr/>
          <p:nvPr/>
        </p:nvSpPr>
        <p:spPr>
          <a:xfrm>
            <a:off x="119062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062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8" name="TextBox 67"/>
          <p:cNvSpPr txBox="1"/>
          <p:nvPr/>
        </p:nvSpPr>
        <p:spPr>
          <a:xfrm>
            <a:off x="12515850" y="6438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Nudge</a:t>
            </a:r>
          </a:p>
        </p:txBody>
      </p:sp>
      <p:sp>
        <p:nvSpPr>
          <p:cNvPr id="69" name="TextBox 68"/>
          <p:cNvSpPr txBox="1"/>
          <p:nvPr/>
        </p:nvSpPr>
        <p:spPr>
          <a:xfrm>
            <a:off x="12515850" y="6858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Change the left and right speeds to steer back on the line</a:t>
            </a:r>
          </a:p>
        </p:txBody>
      </p:sp>
      <p:sp>
        <p:nvSpPr>
          <p:cNvPr id="70" name="TextBox 6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1" name="TextBox 7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Speed to power: feedforward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287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991475"/>
            <a:ext cx="82486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5900" y="78581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238375" y="680085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485900" y="666750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0.25</a:t>
            </a:r>
          </a:p>
        </p:txBody>
      </p:sp>
      <p:sp>
        <p:nvSpPr>
          <p:cNvPr id="10" name="Rectangle 9"/>
          <p:cNvSpPr/>
          <p:nvPr/>
        </p:nvSpPr>
        <p:spPr>
          <a:xfrm>
            <a:off x="2238375" y="561022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85900" y="547687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2" name="Rectangle 11"/>
          <p:cNvSpPr/>
          <p:nvPr/>
        </p:nvSpPr>
        <p:spPr>
          <a:xfrm>
            <a:off x="2238375" y="441960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85900" y="428625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0.75</a:t>
            </a:r>
          </a:p>
        </p:txBody>
      </p:sp>
      <p:sp>
        <p:nvSpPr>
          <p:cNvPr id="14" name="Rectangle 13"/>
          <p:cNvSpPr/>
          <p:nvPr/>
        </p:nvSpPr>
        <p:spPr>
          <a:xfrm>
            <a:off x="2238375" y="322897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5900" y="30956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6" name="Rectangle 15"/>
          <p:cNvSpPr/>
          <p:nvPr/>
        </p:nvSpPr>
        <p:spPr>
          <a:xfrm>
            <a:off x="2238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962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8" name="Rectangle 17"/>
          <p:cNvSpPr/>
          <p:nvPr/>
        </p:nvSpPr>
        <p:spPr>
          <a:xfrm>
            <a:off x="3609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33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0" name="Rectangle 19"/>
          <p:cNvSpPr/>
          <p:nvPr/>
        </p:nvSpPr>
        <p:spPr>
          <a:xfrm>
            <a:off x="49815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053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Rectangle 21"/>
          <p:cNvSpPr/>
          <p:nvPr/>
        </p:nvSpPr>
        <p:spPr>
          <a:xfrm>
            <a:off x="63531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0769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4" name="Rectangle 23"/>
          <p:cNvSpPr/>
          <p:nvPr/>
        </p:nvSpPr>
        <p:spPr>
          <a:xfrm>
            <a:off x="77247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485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6" name="Rectangle 25"/>
          <p:cNvSpPr/>
          <p:nvPr/>
        </p:nvSpPr>
        <p:spPr>
          <a:xfrm>
            <a:off x="9096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820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8" name="Rectangle 27"/>
          <p:cNvSpPr/>
          <p:nvPr/>
        </p:nvSpPr>
        <p:spPr>
          <a:xfrm>
            <a:off x="10467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91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a:t>
            </a:r>
          </a:p>
        </p:txBody>
      </p:sp>
      <p:sp>
        <p:nvSpPr>
          <p:cNvPr id="30" name="Rectangle 29"/>
          <p:cNvSpPr/>
          <p:nvPr/>
        </p:nvSpPr>
        <p:spPr>
          <a:xfrm>
            <a:off x="2238375" y="3228975"/>
            <a:ext cx="19050" cy="4781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247900" y="8477250"/>
            <a:ext cx="8229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wheel speed (m/s)</a:t>
            </a:r>
          </a:p>
        </p:txBody>
      </p:sp>
      <p:sp>
        <p:nvSpPr>
          <p:cNvPr id="32" name="TextBox 31"/>
          <p:cNvSpPr txBox="1"/>
          <p:nvPr/>
        </p:nvSpPr>
        <p:spPr>
          <a:xfrm>
            <a:off x="2381250" y="28575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duty cycle</a:t>
            </a:r>
          </a:p>
        </p:txBody>
      </p:sp>
      <p:sp>
        <p:nvSpPr>
          <p:cNvPr id="33" name="Rectangle 32"/>
          <p:cNvSpPr/>
          <p:nvPr/>
        </p:nvSpPr>
        <p:spPr>
          <a:xfrm>
            <a:off x="2219325" y="7873206"/>
            <a:ext cx="57150" cy="15636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4" name="Connector 33"/>
          <p:cNvCxnSpPr/>
          <p:nvPr/>
        </p:nvCxnSpPr>
        <p:spPr>
          <a:xfrm flipV="1">
            <a:off x="2249272" y="7893376"/>
            <a:ext cx="12344" cy="84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261616" y="3238500"/>
            <a:ext cx="7595891" cy="46548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828932" y="3209925"/>
            <a:ext cx="677143"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07255" y="6379290"/>
            <a:ext cx="19050" cy="163123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238375" y="6379290"/>
            <a:ext cx="248793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4612005" y="6284040"/>
            <a:ext cx="209550" cy="2095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7280" y="6445965"/>
            <a:ext cx="2476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1.8 m/s → 0.34</a:t>
            </a:r>
          </a:p>
        </p:txBody>
      </p:sp>
      <p:sp>
        <p:nvSpPr>
          <p:cNvPr id="41" name="Rectangle 40"/>
          <p:cNvSpPr/>
          <p:nvPr/>
        </p:nvSpPr>
        <p:spPr>
          <a:xfrm>
            <a:off x="10009889" y="322897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400300" y="7334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00300" y="7334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4" name="Oval 43"/>
          <p:cNvSpPr/>
          <p:nvPr/>
        </p:nvSpPr>
        <p:spPr>
          <a:xfrm>
            <a:off x="6720840" y="428195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428195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Oval 45"/>
          <p:cNvSpPr/>
          <p:nvPr/>
        </p:nvSpPr>
        <p:spPr>
          <a:xfrm>
            <a:off x="4526280" y="57220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80" y="57220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Oval 47"/>
          <p:cNvSpPr/>
          <p:nvPr/>
        </p:nvSpPr>
        <p:spPr>
          <a:xfrm>
            <a:off x="9505064" y="3333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05064" y="3333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Oval 49"/>
          <p:cNvSpPr/>
          <p:nvPr/>
        </p:nvSpPr>
        <p:spPr>
          <a:xfrm>
            <a:off x="11715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15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TextBox 51"/>
          <p:cNvSpPr txBox="1"/>
          <p:nvPr/>
        </p:nvSpPr>
        <p:spPr>
          <a:xfrm>
            <a:off x="12325350" y="28194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kS: break loose</a:t>
            </a:r>
          </a:p>
        </p:txBody>
      </p:sp>
      <p:sp>
        <p:nvSpPr>
          <p:cNvPr id="53" name="TextBox 52"/>
          <p:cNvSpPr txBox="1"/>
          <p:nvPr/>
        </p:nvSpPr>
        <p:spPr>
          <a:xfrm>
            <a:off x="12325350" y="32385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power just to start the wheels: 0.25 V of 12</a:t>
            </a:r>
          </a:p>
        </p:txBody>
      </p:sp>
      <p:sp>
        <p:nvSpPr>
          <p:cNvPr id="54" name="Oval 53"/>
          <p:cNvSpPr/>
          <p:nvPr/>
        </p:nvSpPr>
        <p:spPr>
          <a:xfrm>
            <a:off x="11715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15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6" name="TextBox 55"/>
          <p:cNvSpPr txBox="1"/>
          <p:nvPr/>
        </p:nvSpPr>
        <p:spPr>
          <a:xfrm>
            <a:off x="12325350" y="42481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power per speed</a:t>
            </a:r>
          </a:p>
        </p:txBody>
      </p:sp>
      <p:sp>
        <p:nvSpPr>
          <p:cNvPr id="57" name="TextBox 56"/>
          <p:cNvSpPr txBox="1"/>
          <p:nvPr/>
        </p:nvSpPr>
        <p:spPr>
          <a:xfrm>
            <a:off x="12325350" y="46672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Twice the speed, twice the power</a:t>
            </a:r>
          </a:p>
        </p:txBody>
      </p:sp>
      <p:sp>
        <p:nvSpPr>
          <p:cNvPr id="58" name="Oval 57"/>
          <p:cNvSpPr/>
          <p:nvPr/>
        </p:nvSpPr>
        <p:spPr>
          <a:xfrm>
            <a:off x="11715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715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0" name="TextBox 59"/>
          <p:cNvSpPr txBox="1"/>
          <p:nvPr/>
        </p:nvSpPr>
        <p:spPr>
          <a:xfrm>
            <a:off x="12325350" y="56769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1.8 m/s</a:t>
            </a:r>
          </a:p>
        </p:txBody>
      </p:sp>
      <p:sp>
        <p:nvSpPr>
          <p:cNvPr id="61" name="TextBox 60"/>
          <p:cNvSpPr txBox="1"/>
          <p:nvPr/>
        </p:nvSpPr>
        <p:spPr>
          <a:xfrm>
            <a:off x="12325350" y="60960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0.34: a third of full power</a:t>
            </a:r>
          </a:p>
        </p:txBody>
      </p:sp>
      <p:sp>
        <p:nvSpPr>
          <p:cNvPr id="62" name="Oval 61"/>
          <p:cNvSpPr/>
          <p:nvPr/>
        </p:nvSpPr>
        <p:spPr>
          <a:xfrm>
            <a:off x="11715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715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64" name="TextBox 63"/>
          <p:cNvSpPr txBox="1"/>
          <p:nvPr/>
        </p:nvSpPr>
        <p:spPr>
          <a:xfrm>
            <a:off x="12325350" y="71056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Top speed</a:t>
            </a:r>
          </a:p>
        </p:txBody>
      </p:sp>
      <p:sp>
        <p:nvSpPr>
          <p:cNvPr id="65" name="TextBox 64"/>
          <p:cNvSpPr txBox="1"/>
          <p:nvPr/>
        </p:nvSpPr>
        <p:spPr>
          <a:xfrm>
            <a:off x="12325350" y="75247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5.7 m/s at full power (1.0)</a:t>
            </a:r>
          </a:p>
        </p:txBody>
      </p:sp>
      <p:sp>
        <p:nvSpPr>
          <p:cNvPr id="66" name="TextBox 6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7" name="TextBox 6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Wait, settle, arrive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6800"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Follow</a:t>
            </a:r>
          </a:p>
        </p:txBody>
      </p:sp>
      <p:sp>
        <p:nvSpPr>
          <p:cNvPr id="7" name="TextBox 6"/>
          <p:cNvSpPr txBox="1"/>
          <p:nvPr/>
        </p:nvSpPr>
        <p:spPr>
          <a:xfrm>
            <a:off x="1181100"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The clock runs. Drive the sample for now.</a:t>
            </a:r>
          </a:p>
        </p:txBody>
      </p:sp>
      <p:sp>
        <p:nvSpPr>
          <p:cNvPr id="8" name="Rectangle 7"/>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48288"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Wait</a:t>
            </a:r>
          </a:p>
        </p:txBody>
      </p:sp>
      <p:sp>
        <p:nvSpPr>
          <p:cNvPr id="12" name="TextBox 11"/>
          <p:cNvSpPr txBox="1"/>
          <p:nvPr/>
        </p:nvSpPr>
        <p:spPr>
          <a:xfrm>
            <a:off x="5462588"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More than 0.5 m behind? The clock pauses.</a:t>
            </a:r>
          </a:p>
        </p:txBody>
      </p:sp>
      <p:sp>
        <p:nvSpPr>
          <p:cNvPr id="13" name="Rectangle 12"/>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29775"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Settle</a:t>
            </a:r>
          </a:p>
        </p:txBody>
      </p:sp>
      <p:sp>
        <p:nvSpPr>
          <p:cNvPr id="17" name="TextBox 16"/>
          <p:cNvSpPr txBox="1"/>
          <p:nvPr/>
        </p:nvSpPr>
        <p:spPr>
          <a:xfrm>
            <a:off x="9744075"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Clock done. Face the end point, drive at it.</a:t>
            </a:r>
          </a:p>
        </p:txBody>
      </p:sp>
      <p:sp>
        <p:nvSpPr>
          <p:cNvPr id="18" name="Rectangle 17"/>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304800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911262"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Arrived</a:t>
            </a:r>
          </a:p>
        </p:txBody>
      </p:sp>
      <p:sp>
        <p:nvSpPr>
          <p:cNvPr id="22" name="TextBox 21"/>
          <p:cNvSpPr txBox="1"/>
          <p:nvPr/>
        </p:nvSpPr>
        <p:spPr>
          <a:xfrm>
            <a:off x="14025562"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Within 0.15 m and slower than 0.15 m/s.</a:t>
            </a:r>
          </a:p>
        </p:txBody>
      </p:sp>
      <p:sp>
        <p:nvSpPr>
          <p:cNvPr id="23" name="TextBox 22"/>
          <p:cNvSpPr txBox="1"/>
          <p:nvPr/>
        </p:nvSpPr>
        <p:spPr>
          <a:xfrm>
            <a:off x="914400" y="548640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DrivetrainCommands.java  ·  followPath</a:t>
            </a:r>
          </a:p>
        </p:txBody>
      </p:sp>
      <p:sp>
        <p:nvSpPr>
          <p:cNvPr id="24" name="Rounded Rectangle 23"/>
          <p:cNvSpPr/>
          <p:nvPr/>
        </p:nvSpPr>
        <p:spPr>
          <a:xfrm>
            <a:off x="914400" y="5905500"/>
            <a:ext cx="10953750" cy="1554480"/>
          </a:xfrm>
          <a:prstGeom prst="roundRect">
            <a:avLst>
              <a:gd name="adj" fmla="val 98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6286500"/>
            <a:ext cx="104203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.until(drive::isAtChoreoSetpoint)  </a:t>
            </a:r>
            <a:r>
              <a:rPr sz="1950" b="0" i="1">
                <a:solidFill>
                  <a:srgbClr val="9A7878"/>
                </a:solidFill>
                <a:latin typeface="Geist Mono"/>
                <a:ea typeface="Geist Mono"/>
                <a:cs typeface="Geist Mono"/>
              </a:rPr>
              <a:t>// arrived</a:t>
            </a:r>
          </a:p>
        </p:txBody>
      </p:sp>
      <p:sp>
        <p:nvSpPr>
          <p:cNvPr id="26" name="TextBox 25"/>
          <p:cNvSpPr txBox="1"/>
          <p:nvPr/>
        </p:nvSpPr>
        <p:spPr>
          <a:xfrm>
            <a:off x="1295400" y="6682740"/>
            <a:ext cx="104203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.withTimeout(</a:t>
            </a:r>
            <a:r>
              <a:rPr sz="1950" b="0" i="0">
                <a:solidFill>
                  <a:srgbClr val="E8C27A"/>
                </a:solidFill>
                <a:latin typeface="Geist Mono"/>
                <a:ea typeface="Geist Mono"/>
                <a:cs typeface="Geist Mono"/>
              </a:rPr>
              <a:t>10.0</a:t>
            </a:r>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or stuck: give up</a:t>
            </a:r>
          </a:p>
        </p:txBody>
      </p:sp>
      <p:sp>
        <p:nvSpPr>
          <p:cNvPr id="27" name="TextBox 26"/>
          <p:cNvSpPr txBox="1"/>
          <p:nvPr/>
        </p:nvSpPr>
        <p:spPr>
          <a:xfrm>
            <a:off x="12382500" y="5905500"/>
            <a:ext cx="4991100" cy="190500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followPath ends when the robot has </a:t>
            </a:r>
            <a:r>
              <a:rPr sz="1950" b="1" i="0">
                <a:solidFill>
                  <a:srgbClr val="9A7878"/>
                </a:solidFill>
                <a:latin typeface="Geist"/>
                <a:ea typeface="Geist"/>
                <a:cs typeface="Geist"/>
              </a:rPr>
              <a:t>arrived</a:t>
            </a:r>
            <a:r>
              <a:rPr sz="1950" b="0" i="0">
                <a:solidFill>
                  <a:srgbClr val="9A7878"/>
                </a:solidFill>
                <a:latin typeface="Geist"/>
                <a:ea typeface="Geist"/>
                <a:cs typeface="Geist"/>
              </a:rPr>
              <a:t>, or after </a:t>
            </a:r>
            <a:r>
              <a:rPr sz="1950" b="1" i="0">
                <a:solidFill>
                  <a:srgbClr val="9A7878"/>
                </a:solidFill>
                <a:latin typeface="Geist"/>
                <a:ea typeface="Geist"/>
                <a:cs typeface="Geist"/>
              </a:rPr>
              <a:t>10 s</a:t>
            </a:r>
            <a:r>
              <a:rPr sz="1950" b="0" i="0">
                <a:solidFill>
                  <a:srgbClr val="9A7878"/>
                </a:solidFill>
                <a:latin typeface="Geist"/>
                <a:ea typeface="Geist"/>
                <a:cs typeface="Geist"/>
              </a:rPr>
              <a:t> so a stuck robot can't hold up the routine.</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robot only estimates where it is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8191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333500" y="7612535"/>
            <a:ext cx="262375" cy="746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95875" y="7590762"/>
            <a:ext cx="254205" cy="2177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850080" y="7555611"/>
            <a:ext cx="246754" cy="351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096834" y="7508014"/>
            <a:ext cx="240022" cy="4759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336856" y="7448903"/>
            <a:ext cx="234012" cy="5911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70868" y="7379208"/>
            <a:ext cx="228720" cy="696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799588" y="7299861"/>
            <a:ext cx="224148" cy="7934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023736" y="7211794"/>
            <a:ext cx="220296" cy="880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244032" y="7115937"/>
            <a:ext cx="217162" cy="9585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461194" y="7013222"/>
            <a:ext cx="214750" cy="10271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75944" y="6904581"/>
            <a:ext cx="213057" cy="10864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889001" y="6790944"/>
            <a:ext cx="212083" cy="1136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101084" y="6673243"/>
            <a:ext cx="211829" cy="1177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312913" y="6552410"/>
            <a:ext cx="212295" cy="12083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25208" y="6429375"/>
            <a:ext cx="213480" cy="12303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738688" y="6305070"/>
            <a:ext cx="215384" cy="12430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954072" y="6180427"/>
            <a:ext cx="218010" cy="12464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172082" y="6056376"/>
            <a:ext cx="221354" cy="1240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393436" y="5933849"/>
            <a:ext cx="225418" cy="12252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18854" y="5813778"/>
            <a:ext cx="230202" cy="12007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49056" y="5697093"/>
            <a:ext cx="235704" cy="11668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84760" y="5584726"/>
            <a:ext cx="241928" cy="1123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26688" y="5477609"/>
            <a:ext cx="248871" cy="10711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75559" y="5376672"/>
            <a:ext cx="256533" cy="1009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832092" y="5282847"/>
            <a:ext cx="264915" cy="9382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097007" y="5197066"/>
            <a:ext cx="274017" cy="8578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1024" y="5120259"/>
            <a:ext cx="283838" cy="7680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654862" y="5053358"/>
            <a:ext cx="294378" cy="669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49240" y="4997295"/>
            <a:ext cx="305640" cy="5606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254880" y="4953000"/>
            <a:ext cx="317620" cy="442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pic>
        <p:nvPicPr>
          <p:cNvPr id="36" name="Picture 35" descr="dozer_top.png"/>
          <p:cNvPicPr>
            <a:picLocks noChangeAspect="1"/>
          </p:cNvPicPr>
          <p:nvPr/>
        </p:nvPicPr>
        <p:blipFill>
          <a:blip r:embed="rId3"/>
          <a:stretch>
            <a:fillRect/>
          </a:stretch>
        </p:blipFill>
        <p:spPr>
          <a:xfrm rot="19920000">
            <a:off x="4048125" y="5359487"/>
            <a:ext cx="1809750" cy="1663527"/>
          </a:xfrm>
          <a:prstGeom prst="rect">
            <a:avLst/>
          </a:prstGeom>
        </p:spPr>
      </p:pic>
      <p:sp>
        <p:nvSpPr>
          <p:cNvPr id="37" name="Rounded Rectangle 36"/>
          <p:cNvSpPr/>
          <p:nvPr/>
        </p:nvSpPr>
        <p:spPr>
          <a:xfrm rot="19920000">
            <a:off x="4371975" y="5038725"/>
            <a:ext cx="1809750" cy="1809750"/>
          </a:xfrm>
          <a:prstGeom prst="roundRect">
            <a:avLst>
              <a:gd name="adj" fmla="val 5263"/>
            </a:avLst>
          </a:prstGeom>
          <a:no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810500" y="3143250"/>
            <a:ext cx="876300" cy="876300"/>
          </a:xfrm>
          <a:prstGeom prst="roundRect">
            <a:avLst>
              <a:gd name="adj" fmla="val 652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001000" y="3333750"/>
            <a:ext cx="495300" cy="4953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115300" y="3448050"/>
            <a:ext cx="171450" cy="1714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239000" y="40957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AprilTag</a:t>
            </a:r>
          </a:p>
        </p:txBody>
      </p:sp>
      <p:cxnSp>
        <p:nvCxnSpPr>
          <p:cNvPr id="42" name="Connector 41"/>
          <p:cNvCxnSpPr/>
          <p:nvPr/>
        </p:nvCxnSpPr>
        <p:spPr>
          <a:xfrm flipV="1">
            <a:off x="5619750" y="4000500"/>
            <a:ext cx="228600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333500" y="3143250"/>
            <a:ext cx="36195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estimate (dashed)</a:t>
            </a:r>
          </a:p>
        </p:txBody>
      </p:sp>
      <p:sp>
        <p:nvSpPr>
          <p:cNvPr id="44" name="TextBox 43"/>
          <p:cNvSpPr txBox="1"/>
          <p:nvPr/>
        </p:nvSpPr>
        <p:spPr>
          <a:xfrm>
            <a:off x="1333500" y="3505200"/>
            <a:ext cx="3619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true pose (Dozer)</a:t>
            </a:r>
          </a:p>
        </p:txBody>
      </p:sp>
      <p:sp>
        <p:nvSpPr>
          <p:cNvPr id="45" name="TextBox 44"/>
          <p:cNvSpPr txBox="1"/>
          <p:nvPr/>
        </p:nvSpPr>
        <p:spPr>
          <a:xfrm>
            <a:off x="1333500" y="8382000"/>
            <a:ext cx="7239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Gap exaggerated: really a few centimeters.</a:t>
            </a:r>
          </a:p>
        </p:txBody>
      </p:sp>
      <p:sp>
        <p:nvSpPr>
          <p:cNvPr id="46" name="Rounded Rectangle 45"/>
          <p:cNvSpPr/>
          <p:nvPr/>
        </p:nvSpPr>
        <p:spPr>
          <a:xfrm>
            <a:off x="9525000" y="2857500"/>
            <a:ext cx="7848600" cy="2286000"/>
          </a:xfrm>
          <a:prstGeom prst="roundRect">
            <a:avLst>
              <a:gd name="adj" fmla="val 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906000" y="310515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 estimate</a:t>
            </a:r>
          </a:p>
        </p:txBody>
      </p:sp>
      <p:sp>
        <p:nvSpPr>
          <p:cNvPr id="48" name="TextBox 47"/>
          <p:cNvSpPr txBox="1"/>
          <p:nvPr/>
        </p:nvSpPr>
        <p:spPr>
          <a:xfrm>
            <a:off x="9906000" y="361950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Subsystem/Localization/Pose</a:t>
            </a:r>
          </a:p>
        </p:txBody>
      </p:sp>
      <p:sp>
        <p:nvSpPr>
          <p:cNvPr id="49" name="TextBox 48"/>
          <p:cNvSpPr txBox="1"/>
          <p:nvPr/>
        </p:nvSpPr>
        <p:spPr>
          <a:xfrm>
            <a:off x="9906000" y="409575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Wheels plus AprilTag cameras. The follower, aim() and isAimed() use it.</a:t>
            </a:r>
          </a:p>
        </p:txBody>
      </p:sp>
      <p:sp>
        <p:nvSpPr>
          <p:cNvPr id="50" name="Rounded Rectangle 49"/>
          <p:cNvSpPr/>
          <p:nvPr/>
        </p:nvSpPr>
        <p:spPr>
          <a:xfrm>
            <a:off x="9525000" y="5429250"/>
            <a:ext cx="78486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906000" y="567690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True pose</a:t>
            </a:r>
          </a:p>
        </p:txBody>
      </p:sp>
      <p:sp>
        <p:nvSpPr>
          <p:cNvPr id="52" name="TextBox 51"/>
          <p:cNvSpPr txBox="1"/>
          <p:nvPr/>
        </p:nvSpPr>
        <p:spPr>
          <a:xfrm>
            <a:off x="9906000" y="619125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Drive/TruePose</a:t>
            </a:r>
          </a:p>
        </p:txBody>
      </p:sp>
      <p:sp>
        <p:nvSpPr>
          <p:cNvPr id="53" name="TextBox 52"/>
          <p:cNvSpPr txBox="1"/>
          <p:nvPr/>
        </p:nvSpPr>
        <p:spPr>
          <a:xfrm>
            <a:off x="9906000" y="666750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the simulator knows it. The Verify checks use it.</a:t>
            </a:r>
          </a:p>
        </p:txBody>
      </p:sp>
      <p:sp>
        <p:nvSpPr>
          <p:cNvPr id="54" name="TextBox 53"/>
          <p:cNvSpPr txBox="1"/>
          <p:nvPr/>
        </p:nvSpPr>
        <p:spPr>
          <a:xfrm>
            <a:off x="9525000" y="8191500"/>
            <a:ext cx="7848600" cy="666750"/>
          </a:xfrm>
          <a:prstGeom prst="rect">
            <a:avLst/>
          </a:prstGeom>
          <a:noFill/>
        </p:spPr>
        <p:txBody>
          <a:bodyPr wrap="square" lIns="0" rIns="0" tIns="0" bIns="0" anchor="t">
            <a:spAutoFit/>
          </a:bodyPr>
          <a:lstStyle/>
          <a:p>
            <a:pPr algn="l">
              <a:lnSpc>
                <a:spcPct val="130000"/>
              </a:lnSpc>
            </a:pPr>
            <a:r>
              <a:rPr sz="1800" b="0" i="0">
                <a:solidFill>
                  <a:srgbClr val="F0E8E8"/>
                </a:solidFill>
                <a:latin typeface="Geist"/>
                <a:ea typeface="Geist"/>
                <a:cs typeface="Geist"/>
              </a:rPr>
              <a:t>About 1 to 9 cm apart while driving, about 1 cm once stopped.</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Commands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Actions with a start and a finish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command needs a way to finish. Or I'll do it forever!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life of a command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95750"/>
            <a:ext cx="2762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343400"/>
            <a:ext cx="2762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Waiting</a:t>
            </a:r>
          </a:p>
        </p:txBody>
      </p:sp>
      <p:sp>
        <p:nvSpPr>
          <p:cNvPr id="7" name="TextBox 6"/>
          <p:cNvSpPr txBox="1"/>
          <p:nvPr/>
        </p:nvSpPr>
        <p:spPr>
          <a:xfrm>
            <a:off x="914400" y="4876800"/>
            <a:ext cx="276225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not started yet</a:t>
            </a:r>
          </a:p>
        </p:txBody>
      </p:sp>
      <p:sp>
        <p:nvSpPr>
          <p:cNvPr id="8" name="Rectangle 7"/>
          <p:cNvSpPr/>
          <p:nvPr/>
        </p:nvSpPr>
        <p:spPr>
          <a:xfrm>
            <a:off x="3733800" y="4791075"/>
            <a:ext cx="10629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762500" y="4733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6650" y="4229100"/>
            <a:ext cx="1333500" cy="285750"/>
          </a:xfrm>
          <a:prstGeom prst="rect">
            <a:avLst/>
          </a:prstGeom>
          <a:noFill/>
        </p:spPr>
        <p:txBody>
          <a:bodyPr wrap="square" lIns="0" rIns="0" tIns="0" bIns="0" anchor="t">
            <a:spAutoFit/>
          </a:bodyPr>
          <a:lstStyle/>
          <a:p>
            <a:pPr algn="ctr"/>
            <a:r>
              <a:rPr sz="1350" b="0" i="0">
                <a:solidFill>
                  <a:srgbClr val="E8C27A"/>
                </a:solidFill>
                <a:latin typeface="Geist Mono"/>
                <a:ea typeface="Geist Mono"/>
                <a:cs typeface="Geist Mono"/>
              </a:rPr>
              <a:t>initialize()</a:t>
            </a:r>
          </a:p>
        </p:txBody>
      </p:sp>
      <p:sp>
        <p:nvSpPr>
          <p:cNvPr id="11" name="TextBox 10"/>
          <p:cNvSpPr txBox="1"/>
          <p:nvPr/>
        </p:nvSpPr>
        <p:spPr>
          <a:xfrm>
            <a:off x="3619500" y="4991100"/>
            <a:ext cx="1524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once</a:t>
            </a:r>
          </a:p>
        </p:txBody>
      </p:sp>
      <p:sp>
        <p:nvSpPr>
          <p:cNvPr id="12" name="Rounded Rectangle 11"/>
          <p:cNvSpPr/>
          <p:nvPr/>
        </p:nvSpPr>
        <p:spPr>
          <a:xfrm>
            <a:off x="5010150" y="3048000"/>
            <a:ext cx="8572500" cy="4191000"/>
          </a:xfrm>
          <a:prstGeom prst="roundRect">
            <a:avLst>
              <a:gd name="adj" fmla="val 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91150" y="323850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Running</a:t>
            </a:r>
          </a:p>
        </p:txBody>
      </p:sp>
      <p:sp>
        <p:nvSpPr>
          <p:cNvPr id="14" name="Rounded Rectangle 13"/>
          <p:cNvSpPr/>
          <p:nvPr/>
        </p:nvSpPr>
        <p:spPr>
          <a:xfrm>
            <a:off x="5486400" y="4286250"/>
            <a:ext cx="314325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0" y="4286250"/>
            <a:ext cx="3143250" cy="104775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execute()</a:t>
            </a:r>
          </a:p>
        </p:txBody>
      </p:sp>
      <p:sp>
        <p:nvSpPr>
          <p:cNvPr id="16" name="Rounded Rectangle 15"/>
          <p:cNvSpPr/>
          <p:nvPr/>
        </p:nvSpPr>
        <p:spPr>
          <a:xfrm>
            <a:off x="9906000" y="4286250"/>
            <a:ext cx="3143250" cy="1047750"/>
          </a:xfrm>
          <a:prstGeom prst="roundRect">
            <a:avLst>
              <a:gd name="adj" fmla="val 1272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906000" y="4286250"/>
            <a:ext cx="3143250" cy="104775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isFinished()?</a:t>
            </a:r>
          </a:p>
        </p:txBody>
      </p:sp>
      <p:sp>
        <p:nvSpPr>
          <p:cNvPr id="18" name="Rectangle 17"/>
          <p:cNvSpPr/>
          <p:nvPr/>
        </p:nvSpPr>
        <p:spPr>
          <a:xfrm>
            <a:off x="8686800" y="4791075"/>
            <a:ext cx="10248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9677400" y="4733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2500" y="3848100"/>
            <a:ext cx="142875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every 20 ms</a:t>
            </a:r>
          </a:p>
        </p:txBody>
      </p:sp>
      <p:sp>
        <p:nvSpPr>
          <p:cNvPr id="21" name="Rectangle 20"/>
          <p:cNvSpPr/>
          <p:nvPr/>
        </p:nvSpPr>
        <p:spPr>
          <a:xfrm>
            <a:off x="11463338" y="5395912"/>
            <a:ext cx="28575" cy="1095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043738" y="6462712"/>
            <a:ext cx="4448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043738" y="5552122"/>
            <a:ext cx="28575" cy="9391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6981825" y="54292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72500" y="6572250"/>
            <a:ext cx="15240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no</a:t>
            </a:r>
          </a:p>
        </p:txBody>
      </p:sp>
      <p:sp>
        <p:nvSpPr>
          <p:cNvPr id="26" name="Rectangle 25"/>
          <p:cNvSpPr/>
          <p:nvPr/>
        </p:nvSpPr>
        <p:spPr>
          <a:xfrm>
            <a:off x="13106400" y="4791075"/>
            <a:ext cx="106299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4135100" y="47339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430250" y="4248150"/>
            <a:ext cx="9525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yes</a:t>
            </a:r>
          </a:p>
        </p:txBody>
      </p:sp>
      <p:sp>
        <p:nvSpPr>
          <p:cNvPr id="29" name="Rounded Rectangle 28"/>
          <p:cNvSpPr/>
          <p:nvPr/>
        </p:nvSpPr>
        <p:spPr>
          <a:xfrm>
            <a:off x="14363700" y="4095750"/>
            <a:ext cx="30099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4363700" y="4343400"/>
            <a:ext cx="30099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Finished</a:t>
            </a:r>
          </a:p>
        </p:txBody>
      </p:sp>
      <p:sp>
        <p:nvSpPr>
          <p:cNvPr id="31" name="TextBox 30"/>
          <p:cNvSpPr txBox="1"/>
          <p:nvPr/>
        </p:nvSpPr>
        <p:spPr>
          <a:xfrm>
            <a:off x="14363700" y="4876800"/>
            <a:ext cx="30099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end(false), once</a:t>
            </a:r>
          </a:p>
        </p:txBody>
      </p:sp>
      <p:sp>
        <p:nvSpPr>
          <p:cNvPr id="32" name="Rounded Rectangle 31"/>
          <p:cNvSpPr/>
          <p:nvPr/>
        </p:nvSpPr>
        <p:spPr>
          <a:xfrm>
            <a:off x="914400" y="7715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topwatch.png"/>
          <p:cNvPicPr>
            <a:picLocks noChangeAspect="1"/>
          </p:cNvPicPr>
          <p:nvPr/>
        </p:nvPicPr>
        <p:blipFill>
          <a:blip r:embed="rId3"/>
          <a:stretch>
            <a:fillRect/>
          </a:stretch>
        </p:blipFill>
        <p:spPr>
          <a:xfrm>
            <a:off x="1333500" y="7972425"/>
            <a:ext cx="481781" cy="533400"/>
          </a:xfrm>
          <a:prstGeom prst="rect">
            <a:avLst/>
          </a:prstGeom>
        </p:spPr>
      </p:pic>
      <p:sp>
        <p:nvSpPr>
          <p:cNvPr id="34" name="TextBox 33"/>
          <p:cNvSpPr txBox="1"/>
          <p:nvPr/>
        </p:nvSpPr>
        <p:spPr>
          <a:xfrm>
            <a:off x="2190750" y="7715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Cut off early?  </a:t>
            </a:r>
            <a:r>
              <a:rPr sz="2100" b="0" i="0">
                <a:solidFill>
                  <a:srgbClr val="F0E8E8"/>
                </a:solidFill>
                <a:latin typeface="Geist"/>
                <a:ea typeface="Geist"/>
                <a:cs typeface="Geist"/>
              </a:rPr>
              <a:t>A timeout or another command stops it: end(true) runs instead. end always runs.</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command you write as a class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TurnToAngleCommand.java  (trimmed)</a:t>
            </a:r>
          </a:p>
        </p:txBody>
      </p:sp>
      <p:sp>
        <p:nvSpPr>
          <p:cNvPr id="6" name="Rounded Rectangle 5"/>
          <p:cNvSpPr/>
          <p:nvPr/>
        </p:nvSpPr>
        <p:spPr>
          <a:xfrm>
            <a:off x="914400" y="3143250"/>
            <a:ext cx="10572750" cy="5013960"/>
          </a:xfrm>
          <a:prstGeom prst="roundRect">
            <a:avLst>
              <a:gd name="adj" fmla="val 303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650230"/>
            <a:ext cx="10534650" cy="35433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650230"/>
            <a:ext cx="57150" cy="35433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10039350" cy="35433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TurnToAngleCommand </a:t>
            </a:r>
            <a:r>
              <a:rPr sz="1800" b="0" i="0">
                <a:solidFill>
                  <a:srgbClr val="E0785F"/>
                </a:solidFill>
                <a:latin typeface="Geist Mono"/>
                <a:ea typeface="Geist Mono"/>
                <a:cs typeface="Geist Mono"/>
              </a:rPr>
              <a:t>extends</a:t>
            </a:r>
            <a:r>
              <a:rPr sz="1800" b="0" i="0">
                <a:solidFill>
                  <a:srgbClr val="F0E8E8"/>
                </a:solidFill>
                <a:latin typeface="Geist Mono"/>
                <a:ea typeface="Geist Mono"/>
                <a:cs typeface="Geist Mono"/>
              </a:rPr>
              <a:t> Command {</a:t>
            </a:r>
          </a:p>
        </p:txBody>
      </p:sp>
      <p:sp>
        <p:nvSpPr>
          <p:cNvPr id="10" name="TextBox 9"/>
          <p:cNvSpPr txBox="1"/>
          <p:nvPr/>
        </p:nvSpPr>
        <p:spPr>
          <a:xfrm>
            <a:off x="1295400" y="387858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execute() {</a:t>
            </a:r>
          </a:p>
        </p:txBody>
      </p:sp>
      <p:sp>
        <p:nvSpPr>
          <p:cNvPr id="11" name="TextBox 10"/>
          <p:cNvSpPr txBox="1"/>
          <p:nvPr/>
        </p:nvSpPr>
        <p:spPr>
          <a:xfrm>
            <a:off x="1295400" y="423291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turn = -CONSTANTS.TURN_KP * errorRadians();</a:t>
            </a:r>
          </a:p>
        </p:txBody>
      </p:sp>
      <p:sp>
        <p:nvSpPr>
          <p:cNvPr id="12" name="TextBox 11"/>
          <p:cNvSpPr txBox="1"/>
          <p:nvPr/>
        </p:nvSpPr>
        <p:spPr>
          <a:xfrm>
            <a:off x="1295400" y="458724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drive_.setCommandedSpeeds(</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turn);</a:t>
            </a:r>
          </a:p>
        </p:txBody>
      </p:sp>
      <p:sp>
        <p:nvSpPr>
          <p:cNvPr id="13" name="TextBox 12"/>
          <p:cNvSpPr txBox="1"/>
          <p:nvPr/>
        </p:nvSpPr>
        <p:spPr>
          <a:xfrm>
            <a:off x="1295400" y="494157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4" name="TextBox 13"/>
          <p:cNvSpPr txBox="1"/>
          <p:nvPr/>
        </p:nvSpPr>
        <p:spPr>
          <a:xfrm>
            <a:off x="1295400" y="529590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isFinished() {</a:t>
            </a:r>
          </a:p>
        </p:txBody>
      </p:sp>
      <p:sp>
        <p:nvSpPr>
          <p:cNvPr id="15" name="TextBox 14"/>
          <p:cNvSpPr txBox="1"/>
          <p:nvPr/>
        </p:nvSpPr>
        <p:spPr>
          <a:xfrm>
            <a:off x="1295400" y="565023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on_target &amp;&amp; Math.abs(drive_.getAngularSpeed()) &lt; </a:t>
            </a:r>
            <a:r>
              <a:rPr sz="1800" b="0" i="0">
                <a:solidFill>
                  <a:srgbClr val="E8C27A"/>
                </a:solidFill>
                <a:latin typeface="Geist Mono"/>
                <a:ea typeface="Geist Mono"/>
                <a:cs typeface="Geist Mono"/>
              </a:rPr>
              <a:t>0.15</a:t>
            </a:r>
            <a:r>
              <a:rPr sz="1800" b="0" i="0">
                <a:solidFill>
                  <a:srgbClr val="F0E8E8"/>
                </a:solidFill>
                <a:latin typeface="Geist Mono"/>
                <a:ea typeface="Geist Mono"/>
                <a:cs typeface="Geist Mono"/>
              </a:rPr>
              <a:t>;</a:t>
            </a:r>
          </a:p>
        </p:txBody>
      </p:sp>
      <p:sp>
        <p:nvSpPr>
          <p:cNvPr id="16" name="TextBox 15"/>
          <p:cNvSpPr txBox="1"/>
          <p:nvPr/>
        </p:nvSpPr>
        <p:spPr>
          <a:xfrm>
            <a:off x="1295400" y="600456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7" name="TextBox 16"/>
          <p:cNvSpPr txBox="1"/>
          <p:nvPr/>
        </p:nvSpPr>
        <p:spPr>
          <a:xfrm>
            <a:off x="1295400" y="635889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end(</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interrupted) {</a:t>
            </a:r>
          </a:p>
        </p:txBody>
      </p:sp>
      <p:sp>
        <p:nvSpPr>
          <p:cNvPr id="18" name="TextBox 17"/>
          <p:cNvSpPr txBox="1"/>
          <p:nvPr/>
        </p:nvSpPr>
        <p:spPr>
          <a:xfrm>
            <a:off x="1295400" y="671322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drive_.setCommandedSpeeds(</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9" name="TextBox 18"/>
          <p:cNvSpPr txBox="1"/>
          <p:nvPr/>
        </p:nvSpPr>
        <p:spPr>
          <a:xfrm>
            <a:off x="1295400" y="706755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0" name="TextBox 19"/>
          <p:cNvSpPr txBox="1"/>
          <p:nvPr/>
        </p:nvSpPr>
        <p:spPr>
          <a:xfrm>
            <a:off x="1295400" y="7421880"/>
            <a:ext cx="1003935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1" name="Oval 20"/>
          <p:cNvSpPr/>
          <p:nvPr/>
        </p:nvSpPr>
        <p:spPr>
          <a:xfrm>
            <a:off x="10877550" y="35109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77550" y="35109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877550" y="42195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77550" y="42195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877550" y="56368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77550" y="56368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877550" y="669988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77550" y="669988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extends Command</a:t>
            </a:r>
          </a:p>
        </p:txBody>
      </p:sp>
      <p:sp>
        <p:nvSpPr>
          <p:cNvPr id="32" name="TextBox 31"/>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class you write: the most flexible way</a:t>
            </a:r>
          </a:p>
        </p:txBody>
      </p:sp>
      <p:sp>
        <p:nvSpPr>
          <p:cNvPr id="33" name="Oval 32"/>
          <p:cNvSpPr/>
          <p:nvPr/>
        </p:nvSpPr>
        <p:spPr>
          <a:xfrm>
            <a:off x="119062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9062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515850" y="4438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execute()</a:t>
            </a:r>
          </a:p>
        </p:txBody>
      </p:sp>
      <p:sp>
        <p:nvSpPr>
          <p:cNvPr id="36" name="TextBox 35"/>
          <p:cNvSpPr txBox="1"/>
          <p:nvPr/>
        </p:nvSpPr>
        <p:spPr>
          <a:xfrm>
            <a:off x="12515850" y="4857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loop: turn toward the heading</a:t>
            </a:r>
          </a:p>
        </p:txBody>
      </p:sp>
      <p:sp>
        <p:nvSpPr>
          <p:cNvPr id="37" name="Oval 36"/>
          <p:cNvSpPr/>
          <p:nvPr/>
        </p:nvSpPr>
        <p:spPr>
          <a:xfrm>
            <a:off x="11906250" y="5905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906250" y="5905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515850" y="5867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isFinished()</a:t>
            </a:r>
          </a:p>
        </p:txBody>
      </p:sp>
      <p:sp>
        <p:nvSpPr>
          <p:cNvPr id="40" name="TextBox 39"/>
          <p:cNvSpPr txBox="1"/>
          <p:nvPr/>
        </p:nvSpPr>
        <p:spPr>
          <a:xfrm>
            <a:off x="12515850" y="6286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condition: on target and barely spinning</a:t>
            </a:r>
          </a:p>
        </p:txBody>
      </p:sp>
      <p:sp>
        <p:nvSpPr>
          <p:cNvPr id="41" name="Oval 40"/>
          <p:cNvSpPr/>
          <p:nvPr/>
        </p:nvSpPr>
        <p:spPr>
          <a:xfrm>
            <a:off x="11906250" y="7334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906250" y="7334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2515850" y="7296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end(interrupted)</a:t>
            </a:r>
          </a:p>
        </p:txBody>
      </p:sp>
      <p:sp>
        <p:nvSpPr>
          <p:cNvPr id="44" name="TextBox 43"/>
          <p:cNvSpPr txBox="1"/>
          <p:nvPr/>
        </p:nvSpPr>
        <p:spPr>
          <a:xfrm>
            <a:off x="12515850" y="7715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Once: stop the motors, however it ended</a:t>
            </a:r>
          </a:p>
        </p:txBody>
      </p:sp>
      <p:pic>
        <p:nvPicPr>
          <p:cNvPr id="45" name="Picture 44" descr="code-slash.png"/>
          <p:cNvPicPr>
            <a:picLocks noChangeAspect="1"/>
          </p:cNvPicPr>
          <p:nvPr/>
        </p:nvPicPr>
        <p:blipFill>
          <a:blip r:embed="rId3"/>
          <a:stretch>
            <a:fillRect/>
          </a:stretch>
        </p:blipFill>
        <p:spPr>
          <a:xfrm>
            <a:off x="914400" y="8705850"/>
            <a:ext cx="224518" cy="209550"/>
          </a:xfrm>
          <a:prstGeom prst="rect">
            <a:avLst/>
          </a:prstGeom>
        </p:spPr>
      </p:pic>
      <p:sp>
        <p:nvSpPr>
          <p:cNvPr id="46" name="TextBox 45"/>
          <p:cNvSpPr txBox="1"/>
          <p:nvPr/>
        </p:nvSpPr>
        <p:spPr>
          <a:xfrm>
            <a:off x="1295400" y="8667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Commands in one line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5524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Helper</a:t>
            </a:r>
          </a:p>
        </p:txBody>
      </p:sp>
      <p:sp>
        <p:nvSpPr>
          <p:cNvPr id="7" name="TextBox 6"/>
          <p:cNvSpPr txBox="1"/>
          <p:nvPr/>
        </p:nvSpPr>
        <p:spPr>
          <a:xfrm>
            <a:off x="7086600" y="2857500"/>
            <a:ext cx="4381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Finishes when</a:t>
            </a:r>
          </a:p>
        </p:txBody>
      </p:sp>
      <p:sp>
        <p:nvSpPr>
          <p:cNvPr id="8" name="TextBox 7"/>
          <p:cNvSpPr txBox="1"/>
          <p:nvPr/>
        </p:nvSpPr>
        <p:spPr>
          <a:xfrm>
            <a:off x="11849100" y="2857500"/>
            <a:ext cx="54102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Pick it for</a:t>
            </a:r>
          </a:p>
        </p:txBody>
      </p:sp>
      <p:sp>
        <p:nvSpPr>
          <p:cNvPr id="9" name="Rectangle 8"/>
          <p:cNvSpPr/>
          <p:nvPr/>
        </p:nvSpPr>
        <p:spPr>
          <a:xfrm>
            <a:off x="904875" y="4419600"/>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 y="3562350"/>
            <a:ext cx="5486400" cy="8191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Commands.runOnce(...)</a:t>
            </a:r>
          </a:p>
        </p:txBody>
      </p:sp>
      <p:sp>
        <p:nvSpPr>
          <p:cNvPr id="11" name="TextBox 10"/>
          <p:cNvSpPr txBox="1"/>
          <p:nvPr/>
        </p:nvSpPr>
        <p:spPr>
          <a:xfrm>
            <a:off x="7086600" y="3562350"/>
            <a:ext cx="43434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Right away</a:t>
            </a:r>
          </a:p>
        </p:txBody>
      </p:sp>
      <p:sp>
        <p:nvSpPr>
          <p:cNvPr id="12" name="TextBox 11"/>
          <p:cNvSpPr txBox="1"/>
          <p:nvPr/>
        </p:nvSpPr>
        <p:spPr>
          <a:xfrm>
            <a:off x="11849100" y="3562350"/>
            <a:ext cx="53721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One quick action</a:t>
            </a:r>
          </a:p>
        </p:txBody>
      </p:sp>
      <p:sp>
        <p:nvSpPr>
          <p:cNvPr id="13" name="Rectangle 12"/>
          <p:cNvSpPr/>
          <p:nvPr/>
        </p:nvSpPr>
        <p:spPr>
          <a:xfrm>
            <a:off x="904875" y="5334000"/>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81100" y="4476750"/>
            <a:ext cx="5486400" cy="8191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Commands.run(...)</a:t>
            </a:r>
          </a:p>
        </p:txBody>
      </p:sp>
      <p:sp>
        <p:nvSpPr>
          <p:cNvPr id="15" name="TextBox 14"/>
          <p:cNvSpPr txBox="1"/>
          <p:nvPr/>
        </p:nvSpPr>
        <p:spPr>
          <a:xfrm>
            <a:off x="7086600" y="4476750"/>
            <a:ext cx="43434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Never, by itself</a:t>
            </a:r>
          </a:p>
        </p:txBody>
      </p:sp>
      <p:sp>
        <p:nvSpPr>
          <p:cNvPr id="16" name="TextBox 15"/>
          <p:cNvSpPr txBox="1"/>
          <p:nvPr/>
        </p:nvSpPr>
        <p:spPr>
          <a:xfrm>
            <a:off x="11849100" y="4476750"/>
            <a:ext cx="53721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Something that keeps updating</a:t>
            </a:r>
          </a:p>
        </p:txBody>
      </p:sp>
      <p:sp>
        <p:nvSpPr>
          <p:cNvPr id="17" name="Rounded Rectangle 16"/>
          <p:cNvSpPr/>
          <p:nvPr/>
        </p:nvSpPr>
        <p:spPr>
          <a:xfrm>
            <a:off x="914400" y="5391150"/>
            <a:ext cx="16459200" cy="819150"/>
          </a:xfrm>
          <a:prstGeom prst="roundRect">
            <a:avLst>
              <a:gd name="adj" fmla="val 1395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04875" y="6248400"/>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1100" y="5391150"/>
            <a:ext cx="5486400" cy="8191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Commands.startEnd(a, b)</a:t>
            </a:r>
          </a:p>
        </p:txBody>
      </p:sp>
      <p:sp>
        <p:nvSpPr>
          <p:cNvPr id="20" name="TextBox 19"/>
          <p:cNvSpPr txBox="1"/>
          <p:nvPr/>
        </p:nvSpPr>
        <p:spPr>
          <a:xfrm>
            <a:off x="7086600" y="5391150"/>
            <a:ext cx="43434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Never, by itself</a:t>
            </a:r>
          </a:p>
        </p:txBody>
      </p:sp>
      <p:sp>
        <p:nvSpPr>
          <p:cNvPr id="21" name="TextBox 20"/>
          <p:cNvSpPr txBox="1"/>
          <p:nvPr/>
        </p:nvSpPr>
        <p:spPr>
          <a:xfrm>
            <a:off x="11849100" y="5391150"/>
            <a:ext cx="53721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On, then off: aim() and shoot()</a:t>
            </a:r>
          </a:p>
        </p:txBody>
      </p:sp>
      <p:sp>
        <p:nvSpPr>
          <p:cNvPr id="22" name="Rectangle 21"/>
          <p:cNvSpPr/>
          <p:nvPr/>
        </p:nvSpPr>
        <p:spPr>
          <a:xfrm>
            <a:off x="904875" y="7162800"/>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81100" y="6305550"/>
            <a:ext cx="5486400" cy="8191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Commands.waitSeconds(0.5)</a:t>
            </a:r>
          </a:p>
        </p:txBody>
      </p:sp>
      <p:sp>
        <p:nvSpPr>
          <p:cNvPr id="24" name="TextBox 23"/>
          <p:cNvSpPr txBox="1"/>
          <p:nvPr/>
        </p:nvSpPr>
        <p:spPr>
          <a:xfrm>
            <a:off x="7086600" y="6305550"/>
            <a:ext cx="43434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After the time</a:t>
            </a:r>
          </a:p>
        </p:txBody>
      </p:sp>
      <p:sp>
        <p:nvSpPr>
          <p:cNvPr id="25" name="TextBox 24"/>
          <p:cNvSpPr txBox="1"/>
          <p:nvPr/>
        </p:nvSpPr>
        <p:spPr>
          <a:xfrm>
            <a:off x="11849100" y="6305550"/>
            <a:ext cx="53721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A pause in a routine</a:t>
            </a:r>
          </a:p>
        </p:txBody>
      </p:sp>
      <p:sp>
        <p:nvSpPr>
          <p:cNvPr id="26" name="Rectangle 25"/>
          <p:cNvSpPr/>
          <p:nvPr/>
        </p:nvSpPr>
        <p:spPr>
          <a:xfrm>
            <a:off x="904875" y="8077200"/>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81100" y="7219950"/>
            <a:ext cx="5486400" cy="8191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new FunctionalCommand(...)</a:t>
            </a:r>
          </a:p>
        </p:txBody>
      </p:sp>
      <p:sp>
        <p:nvSpPr>
          <p:cNvPr id="28" name="TextBox 27"/>
          <p:cNvSpPr txBox="1"/>
          <p:nvPr/>
        </p:nvSpPr>
        <p:spPr>
          <a:xfrm>
            <a:off x="7086600" y="7219950"/>
            <a:ext cx="43434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Your own isFinished</a:t>
            </a:r>
          </a:p>
        </p:txBody>
      </p:sp>
      <p:sp>
        <p:nvSpPr>
          <p:cNvPr id="29" name="TextBox 28"/>
          <p:cNvSpPr txBox="1"/>
          <p:nvPr/>
        </p:nvSpPr>
        <p:spPr>
          <a:xfrm>
            <a:off x="11849100" y="7219950"/>
            <a:ext cx="5372100" cy="819150"/>
          </a:xfrm>
          <a:prstGeom prst="rect">
            <a:avLst/>
          </a:prstGeom>
          <a:noFill/>
        </p:spPr>
        <p:txBody>
          <a:bodyPr wrap="square" lIns="0" rIns="0" tIns="0" bIns="0" anchor="ctr">
            <a:spAutoFit/>
          </a:bodyPr>
          <a:lstStyle/>
          <a:p>
            <a:pPr algn="l">
              <a:lnSpc>
                <a:spcPct val="120000"/>
              </a:lnSpc>
            </a:pPr>
            <a:r>
              <a:rPr sz="1950" b="0" i="0">
                <a:solidFill>
                  <a:srgbClr val="9A7878"/>
                </a:solidFill>
                <a:latin typeface="Geist"/>
                <a:ea typeface="Geist"/>
                <a:cs typeface="Geist"/>
              </a:rPr>
              <a:t>A small custom command</a:t>
            </a:r>
          </a:p>
        </p:txBody>
      </p:sp>
      <p:sp>
        <p:nvSpPr>
          <p:cNvPr id="30" name="Rounded Rectangle 29"/>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ightbulb.png"/>
          <p:cNvPicPr>
            <a:picLocks noChangeAspect="1"/>
          </p:cNvPicPr>
          <p:nvPr/>
        </p:nvPicPr>
        <p:blipFill>
          <a:blip r:embed="rId3"/>
          <a:stretch>
            <a:fillRect/>
          </a:stretch>
        </p:blipFill>
        <p:spPr>
          <a:xfrm>
            <a:off x="1333500" y="8353425"/>
            <a:ext cx="400050" cy="533400"/>
          </a:xfrm>
          <a:prstGeom prst="rect">
            <a:avLst/>
          </a:prstGeom>
        </p:spPr>
      </p:pic>
      <p:sp>
        <p:nvSpPr>
          <p:cNvPr id="32" name="TextBox 31"/>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aim() and shoot()  </a:t>
            </a:r>
            <a:r>
              <a:rPr sz="2100" b="0" i="0">
                <a:solidFill>
                  <a:srgbClr val="F0E8E8"/>
                </a:solidFill>
                <a:latin typeface="Geist"/>
                <a:ea typeface="Geist"/>
                <a:cs typeface="Geist"/>
              </a:rPr>
              <a:t>are startEnd commands: on while they run, off when stopped.</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aim() and shoot() never finish by themselves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DrivetrainCommands.java</a:t>
            </a:r>
          </a:p>
        </p:txBody>
      </p:sp>
      <p:sp>
        <p:nvSpPr>
          <p:cNvPr id="6" name="Rounded Rectangle 5"/>
          <p:cNvSpPr/>
          <p:nvPr/>
        </p:nvSpPr>
        <p:spPr>
          <a:xfrm>
            <a:off x="914400" y="3143250"/>
            <a:ext cx="10477500" cy="3162300"/>
          </a:xfrm>
          <a:prstGeom prst="roundRect">
            <a:avLst>
              <a:gd name="adj" fmla="val 481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9944100" cy="40005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Command aim() {</a:t>
            </a:r>
          </a:p>
        </p:txBody>
      </p:sp>
      <p:sp>
        <p:nvSpPr>
          <p:cNvPr id="8" name="TextBox 7"/>
          <p:cNvSpPr txBox="1"/>
          <p:nvPr/>
        </p:nvSpPr>
        <p:spPr>
          <a:xfrm>
            <a:off x="1295400" y="3924300"/>
            <a:ext cx="99441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DrivetrainSubsystem drive = DrivetrainSubsystem.getInstance();</a:t>
            </a:r>
          </a:p>
        </p:txBody>
      </p:sp>
      <p:sp>
        <p:nvSpPr>
          <p:cNvPr id="9" name="TextBox 8"/>
          <p:cNvSpPr txBox="1"/>
          <p:nvPr/>
        </p:nvSpPr>
        <p:spPr>
          <a:xfrm>
            <a:off x="1295400" y="4324350"/>
            <a:ext cx="99441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Commands.startEnd(</a:t>
            </a:r>
          </a:p>
        </p:txBody>
      </p:sp>
      <p:sp>
        <p:nvSpPr>
          <p:cNvPr id="10" name="TextBox 9"/>
          <p:cNvSpPr txBox="1"/>
          <p:nvPr/>
        </p:nvSpPr>
        <p:spPr>
          <a:xfrm>
            <a:off x="1295400" y="4724400"/>
            <a:ext cx="99441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-&gt; drive.setWantedState(DriveStates.AIM),</a:t>
            </a:r>
          </a:p>
        </p:txBody>
      </p:sp>
      <p:sp>
        <p:nvSpPr>
          <p:cNvPr id="11" name="TextBox 10"/>
          <p:cNvSpPr txBox="1"/>
          <p:nvPr/>
        </p:nvSpPr>
        <p:spPr>
          <a:xfrm>
            <a:off x="1295400" y="5124450"/>
            <a:ext cx="99441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-&gt; drive.setWantedState(DriveStates.ARCADE));</a:t>
            </a:r>
          </a:p>
        </p:txBody>
      </p:sp>
      <p:sp>
        <p:nvSpPr>
          <p:cNvPr id="12" name="TextBox 11"/>
          <p:cNvSpPr txBox="1"/>
          <p:nvPr/>
        </p:nvSpPr>
        <p:spPr>
          <a:xfrm>
            <a:off x="1295400" y="5524500"/>
            <a:ext cx="99441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3" name="Oval 12"/>
          <p:cNvSpPr/>
          <p:nvPr/>
        </p:nvSpPr>
        <p:spPr>
          <a:xfrm>
            <a:off x="10782300" y="43338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2300" y="43338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0782300" y="47339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2300" y="47339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Oval 16"/>
          <p:cNvSpPr/>
          <p:nvPr/>
        </p:nvSpPr>
        <p:spPr>
          <a:xfrm>
            <a:off x="10782300" y="5133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2300" y="5133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 name="TextBox 18"/>
          <p:cNvSpPr txBox="1"/>
          <p:nvPr/>
        </p:nvSpPr>
        <p:spPr>
          <a:xfrm>
            <a:off x="914400" y="6667500"/>
            <a:ext cx="10477500" cy="381000"/>
          </a:xfrm>
          <a:prstGeom prst="rect">
            <a:avLst/>
          </a:prstGeom>
          <a:noFill/>
        </p:spPr>
        <p:txBody>
          <a:bodyPr wrap="square" lIns="0" rIns="0" tIns="0" bIns="0" anchor="t">
            <a:spAutoFit/>
          </a:bodyPr>
          <a:lstStyle/>
          <a:p>
            <a:pPr algn="l"/>
            <a:r>
              <a:rPr sz="1950" b="0" i="0">
                <a:solidFill>
                  <a:srgbClr val="9A7878"/>
                </a:solidFill>
                <a:latin typeface="Geist Mono"/>
                <a:ea typeface="Geist Mono"/>
                <a:cs typeface="Geist Mono"/>
              </a:rPr>
              <a:t>shoot()</a:t>
            </a:r>
            <a:r>
              <a:rPr sz="1950" b="0" i="0">
                <a:solidFill>
                  <a:srgbClr val="9A7878"/>
                </a:solidFill>
                <a:latin typeface="Geist"/>
                <a:ea typeface="Geist"/>
                <a:cs typeface="Geist"/>
              </a:rPr>
              <a:t> is the same shape: </a:t>
            </a:r>
            <a:r>
              <a:rPr sz="1950" b="0" i="0">
                <a:solidFill>
                  <a:srgbClr val="9A7878"/>
                </a:solidFill>
                <a:latin typeface="Geist Mono"/>
                <a:ea typeface="Geist Mono"/>
                <a:cs typeface="Geist Mono"/>
              </a:rPr>
              <a:t>SHOOT</a:t>
            </a:r>
            <a:r>
              <a:rPr sz="1950" b="0" i="0">
                <a:solidFill>
                  <a:srgbClr val="9A7878"/>
                </a:solidFill>
                <a:latin typeface="Geist"/>
                <a:ea typeface="Geist"/>
                <a:cs typeface="Geist"/>
              </a:rPr>
              <a:t> at the start, </a:t>
            </a:r>
            <a:r>
              <a:rPr sz="1950" b="0" i="0">
                <a:solidFill>
                  <a:srgbClr val="9A7878"/>
                </a:solidFill>
                <a:latin typeface="Geist Mono"/>
                <a:ea typeface="Geist Mono"/>
                <a:cs typeface="Geist Mono"/>
              </a:rPr>
              <a:t>IDLE</a:t>
            </a:r>
            <a:r>
              <a:rPr sz="1950" b="0" i="0">
                <a:solidFill>
                  <a:srgbClr val="9A7878"/>
                </a:solidFill>
                <a:latin typeface="Geist"/>
                <a:ea typeface="Geist"/>
                <a:cs typeface="Geist"/>
              </a:rPr>
              <a:t> at the end.</a:t>
            </a:r>
          </a:p>
        </p:txBody>
      </p:sp>
      <p:pic>
        <p:nvPicPr>
          <p:cNvPr id="20" name="Picture 19" descr="code-slash.png"/>
          <p:cNvPicPr>
            <a:picLocks noChangeAspect="1"/>
          </p:cNvPicPr>
          <p:nvPr/>
        </p:nvPicPr>
        <p:blipFill>
          <a:blip r:embed="rId3"/>
          <a:stretch>
            <a:fillRect/>
          </a:stretch>
        </p:blipFill>
        <p:spPr>
          <a:xfrm>
            <a:off x="914400" y="7239000"/>
            <a:ext cx="224518" cy="209550"/>
          </a:xfrm>
          <a:prstGeom prst="rect">
            <a:avLst/>
          </a:prstGeom>
        </p:spPr>
      </p:pic>
      <p:sp>
        <p:nvSpPr>
          <p:cNvPr id="21" name="TextBox 20"/>
          <p:cNvSpPr txBox="1"/>
          <p:nvPr/>
        </p:nvSpPr>
        <p:spPr>
          <a:xfrm>
            <a:off x="1295400" y="72009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22" name="Oval 21"/>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TextBox 23"/>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startEnd</a:t>
            </a:r>
          </a:p>
        </p:txBody>
      </p:sp>
      <p:sp>
        <p:nvSpPr>
          <p:cNvPr id="25" name="TextBox 24"/>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notes and nothing in between</a:t>
            </a:r>
          </a:p>
        </p:txBody>
      </p:sp>
      <p:sp>
        <p:nvSpPr>
          <p:cNvPr id="26" name="Oval 25"/>
          <p:cNvSpPr/>
          <p:nvPr/>
        </p:nvSpPr>
        <p:spPr>
          <a:xfrm>
            <a:off x="119062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062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TextBox 27"/>
          <p:cNvSpPr txBox="1"/>
          <p:nvPr/>
        </p:nvSpPr>
        <p:spPr>
          <a:xfrm>
            <a:off x="12515850" y="4438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note</a:t>
            </a:r>
          </a:p>
        </p:txBody>
      </p:sp>
      <p:sp>
        <p:nvSpPr>
          <p:cNvPr id="29" name="TextBox 28"/>
          <p:cNvSpPr txBox="1"/>
          <p:nvPr/>
        </p:nvSpPr>
        <p:spPr>
          <a:xfrm>
            <a:off x="12515850" y="4857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Switch the drivetrain to AIM</a:t>
            </a:r>
          </a:p>
        </p:txBody>
      </p:sp>
      <p:sp>
        <p:nvSpPr>
          <p:cNvPr id="30" name="Oval 29"/>
          <p:cNvSpPr/>
          <p:nvPr/>
        </p:nvSpPr>
        <p:spPr>
          <a:xfrm>
            <a:off x="11906250" y="5905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906250" y="5905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TextBox 31"/>
          <p:cNvSpPr txBox="1"/>
          <p:nvPr/>
        </p:nvSpPr>
        <p:spPr>
          <a:xfrm>
            <a:off x="12515850" y="5867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End note</a:t>
            </a:r>
          </a:p>
        </p:txBody>
      </p:sp>
      <p:sp>
        <p:nvSpPr>
          <p:cNvPr id="33" name="TextBox 32"/>
          <p:cNvSpPr txBox="1"/>
          <p:nvPr/>
        </p:nvSpPr>
        <p:spPr>
          <a:xfrm>
            <a:off x="12515850" y="6286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driving with the sticks</a:t>
            </a:r>
          </a:p>
        </p:txBody>
      </p:sp>
      <p:sp>
        <p:nvSpPr>
          <p:cNvPr id="34" name="Rounded Rectangle 33"/>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exclamation-circle.png"/>
          <p:cNvPicPr>
            <a:picLocks noChangeAspect="1"/>
          </p:cNvPicPr>
          <p:nvPr/>
        </p:nvPicPr>
        <p:blipFill>
          <a:blip r:embed="rId4"/>
          <a:stretch>
            <a:fillRect/>
          </a:stretch>
        </p:blipFill>
        <p:spPr>
          <a:xfrm>
            <a:off x="1333500" y="8020050"/>
            <a:ext cx="533400" cy="533400"/>
          </a:xfrm>
          <a:prstGeom prst="rect">
            <a:avLst/>
          </a:prstGeom>
        </p:spPr>
      </p:pic>
      <p:sp>
        <p:nvSpPr>
          <p:cNvPr id="36" name="TextBox 35"/>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a routine:  </a:t>
            </a:r>
            <a:r>
              <a:rPr sz="2100" b="0" i="0">
                <a:solidFill>
                  <a:srgbClr val="F0E8E8"/>
                </a:solidFill>
                <a:latin typeface="Geist"/>
                <a:ea typeface="Geist"/>
                <a:cs typeface="Geist"/>
              </a:rPr>
              <a:t>give each one an end with .until(...) or .withTimeout(...).</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Dots that change when a command stops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8009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5247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7" name="Rectangle 6"/>
          <p:cNvSpPr/>
          <p:nvPr/>
        </p:nvSpPr>
        <p:spPr>
          <a:xfrm>
            <a:off x="95916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154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9" name="Rectangle 8"/>
          <p:cNvSpPr/>
          <p:nvPr/>
        </p:nvSpPr>
        <p:spPr>
          <a:xfrm>
            <a:off x="113823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1061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11" name="Rectangle 10"/>
          <p:cNvSpPr/>
          <p:nvPr/>
        </p:nvSpPr>
        <p:spPr>
          <a:xfrm>
            <a:off x="131730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8968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3" name="Rectangle 12"/>
          <p:cNvSpPr/>
          <p:nvPr/>
        </p:nvSpPr>
        <p:spPr>
          <a:xfrm>
            <a:off x="149637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6875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15" name="Rectangle 14"/>
          <p:cNvSpPr/>
          <p:nvPr/>
        </p:nvSpPr>
        <p:spPr>
          <a:xfrm>
            <a:off x="16754475" y="2847975"/>
            <a:ext cx="19050" cy="5448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478250" y="83820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 s</a:t>
            </a:r>
          </a:p>
        </p:txBody>
      </p:sp>
      <p:sp>
        <p:nvSpPr>
          <p:cNvPr id="17" name="TextBox 16"/>
          <p:cNvSpPr txBox="1"/>
          <p:nvPr/>
        </p:nvSpPr>
        <p:spPr>
          <a:xfrm>
            <a:off x="914400" y="3028950"/>
            <a:ext cx="666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shoot()</a:t>
            </a:r>
          </a:p>
        </p:txBody>
      </p:sp>
      <p:sp>
        <p:nvSpPr>
          <p:cNvPr id="18" name="TextBox 17"/>
          <p:cNvSpPr txBox="1"/>
          <p:nvPr/>
        </p:nvSpPr>
        <p:spPr>
          <a:xfrm>
            <a:off x="914400" y="3448050"/>
            <a:ext cx="6667500" cy="3238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never finishes</a:t>
            </a:r>
          </a:p>
        </p:txBody>
      </p:sp>
      <p:sp>
        <p:nvSpPr>
          <p:cNvPr id="19" name="Rounded Rectangle 18"/>
          <p:cNvSpPr/>
          <p:nvPr/>
        </p:nvSpPr>
        <p:spPr>
          <a:xfrm>
            <a:off x="7810500" y="3162300"/>
            <a:ext cx="8237220" cy="533400"/>
          </a:xfrm>
          <a:prstGeom prst="roundRect">
            <a:avLst>
              <a:gd name="adj" fmla="val 17857"/>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028670" y="3409950"/>
            <a:ext cx="80772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6802100" y="3352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076700"/>
            <a:ext cx="666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shoot().withTimeout(</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23" name="TextBox 22"/>
          <p:cNvSpPr txBox="1"/>
          <p:nvPr/>
        </p:nvSpPr>
        <p:spPr>
          <a:xfrm>
            <a:off x="914400" y="4495800"/>
            <a:ext cx="6667500" cy="3238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stops after 2 s</a:t>
            </a:r>
          </a:p>
        </p:txBody>
      </p:sp>
      <p:sp>
        <p:nvSpPr>
          <p:cNvPr id="24" name="Rounded Rectangle 23"/>
          <p:cNvSpPr/>
          <p:nvPr/>
        </p:nvSpPr>
        <p:spPr>
          <a:xfrm>
            <a:off x="7810500" y="4210050"/>
            <a:ext cx="3581400" cy="533400"/>
          </a:xfrm>
          <a:prstGeom prst="roundRect">
            <a:avLst>
              <a:gd name="adj" fmla="val 17857"/>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1363325" y="4133850"/>
            <a:ext cx="57150" cy="6858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506200" y="4324350"/>
            <a:ext cx="2476500" cy="30480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2 s</a:t>
            </a:r>
          </a:p>
        </p:txBody>
      </p:sp>
      <p:sp>
        <p:nvSpPr>
          <p:cNvPr id="27" name="TextBox 26"/>
          <p:cNvSpPr txBox="1"/>
          <p:nvPr/>
        </p:nvSpPr>
        <p:spPr>
          <a:xfrm>
            <a:off x="914400" y="5124450"/>
            <a:ext cx="666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aim().until(...isAimed)</a:t>
            </a:r>
          </a:p>
        </p:txBody>
      </p:sp>
      <p:sp>
        <p:nvSpPr>
          <p:cNvPr id="28" name="TextBox 27"/>
          <p:cNvSpPr txBox="1"/>
          <p:nvPr/>
        </p:nvSpPr>
        <p:spPr>
          <a:xfrm>
            <a:off x="914400" y="5543550"/>
            <a:ext cx="6667500" cy="3238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stops when the condition is true</a:t>
            </a:r>
          </a:p>
        </p:txBody>
      </p:sp>
      <p:sp>
        <p:nvSpPr>
          <p:cNvPr id="29" name="Rounded Rectangle 28"/>
          <p:cNvSpPr/>
          <p:nvPr/>
        </p:nvSpPr>
        <p:spPr>
          <a:xfrm>
            <a:off x="7810500" y="5257800"/>
            <a:ext cx="2506980" cy="533400"/>
          </a:xfrm>
          <a:prstGeom prst="roundRect">
            <a:avLst>
              <a:gd name="adj" fmla="val 17857"/>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0288905" y="5181600"/>
            <a:ext cx="57150" cy="6858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431780" y="5372100"/>
            <a:ext cx="2476500" cy="30480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isAimed</a:t>
            </a:r>
          </a:p>
        </p:txBody>
      </p:sp>
      <p:sp>
        <p:nvSpPr>
          <p:cNvPr id="32" name="TextBox 31"/>
          <p:cNvSpPr txBox="1"/>
          <p:nvPr/>
        </p:nvSpPr>
        <p:spPr>
          <a:xfrm>
            <a:off x="914400" y="6172200"/>
            <a:ext cx="666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a.andThen(b)</a:t>
            </a:r>
          </a:p>
        </p:txBody>
      </p:sp>
      <p:sp>
        <p:nvSpPr>
          <p:cNvPr id="33" name="TextBox 32"/>
          <p:cNvSpPr txBox="1"/>
          <p:nvPr/>
        </p:nvSpPr>
        <p:spPr>
          <a:xfrm>
            <a:off x="914400" y="6591300"/>
            <a:ext cx="6667500" cy="3238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one, then the other</a:t>
            </a:r>
          </a:p>
        </p:txBody>
      </p:sp>
      <p:sp>
        <p:nvSpPr>
          <p:cNvPr id="34" name="Rounded Rectangle 33"/>
          <p:cNvSpPr/>
          <p:nvPr/>
        </p:nvSpPr>
        <p:spPr>
          <a:xfrm>
            <a:off x="7810500" y="6305550"/>
            <a:ext cx="2686050" cy="533400"/>
          </a:xfrm>
          <a:prstGeom prst="roundRect">
            <a:avLst>
              <a:gd name="adj" fmla="val 17857"/>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810500" y="6305550"/>
            <a:ext cx="2686050" cy="53340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a</a:t>
            </a:r>
          </a:p>
        </p:txBody>
      </p:sp>
      <p:sp>
        <p:nvSpPr>
          <p:cNvPr id="36" name="Rounded Rectangle 35"/>
          <p:cNvSpPr/>
          <p:nvPr/>
        </p:nvSpPr>
        <p:spPr>
          <a:xfrm>
            <a:off x="10496550" y="6305550"/>
            <a:ext cx="3044190" cy="533400"/>
          </a:xfrm>
          <a:prstGeom prst="roundRect">
            <a:avLst>
              <a:gd name="adj" fmla="val 17857"/>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496550" y="6305550"/>
            <a:ext cx="3044190" cy="53340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b</a:t>
            </a:r>
          </a:p>
        </p:txBody>
      </p:sp>
      <p:sp>
        <p:nvSpPr>
          <p:cNvPr id="38" name="Rectangle 37"/>
          <p:cNvSpPr/>
          <p:nvPr/>
        </p:nvSpPr>
        <p:spPr>
          <a:xfrm>
            <a:off x="13512165" y="6229350"/>
            <a:ext cx="57150" cy="6858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3655040" y="6419850"/>
            <a:ext cx="2476500" cy="30480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
            </a:r>
          </a:p>
        </p:txBody>
      </p:sp>
      <p:sp>
        <p:nvSpPr>
          <p:cNvPr id="40" name="TextBox 39"/>
          <p:cNvSpPr txBox="1"/>
          <p:nvPr/>
        </p:nvSpPr>
        <p:spPr>
          <a:xfrm>
            <a:off x="914400" y="7219950"/>
            <a:ext cx="666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a.alongWith(b)</a:t>
            </a:r>
          </a:p>
        </p:txBody>
      </p:sp>
      <p:sp>
        <p:nvSpPr>
          <p:cNvPr id="41" name="TextBox 40"/>
          <p:cNvSpPr txBox="1"/>
          <p:nvPr/>
        </p:nvSpPr>
        <p:spPr>
          <a:xfrm>
            <a:off x="914400" y="7639050"/>
            <a:ext cx="6667500" cy="3238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both at once, ends when both are done</a:t>
            </a:r>
          </a:p>
        </p:txBody>
      </p:sp>
      <p:sp>
        <p:nvSpPr>
          <p:cNvPr id="42" name="Rounded Rectangle 41"/>
          <p:cNvSpPr/>
          <p:nvPr/>
        </p:nvSpPr>
        <p:spPr>
          <a:xfrm>
            <a:off x="7810500" y="7315200"/>
            <a:ext cx="4655820" cy="285750"/>
          </a:xfrm>
          <a:prstGeom prst="roundRect">
            <a:avLst>
              <a:gd name="adj" fmla="val 33333"/>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810500" y="7315200"/>
            <a:ext cx="4655820" cy="28575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a</a:t>
            </a:r>
          </a:p>
        </p:txBody>
      </p:sp>
      <p:sp>
        <p:nvSpPr>
          <p:cNvPr id="44" name="Rounded Rectangle 43"/>
          <p:cNvSpPr/>
          <p:nvPr/>
        </p:nvSpPr>
        <p:spPr>
          <a:xfrm>
            <a:off x="7810500" y="7639050"/>
            <a:ext cx="2865120" cy="285750"/>
          </a:xfrm>
          <a:prstGeom prst="roundRect">
            <a:avLst>
              <a:gd name="adj" fmla="val 33333"/>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10500" y="7639050"/>
            <a:ext cx="2865120" cy="285750"/>
          </a:xfrm>
          <a:prstGeom prst="rect">
            <a:avLst/>
          </a:prstGeom>
          <a:noFill/>
        </p:spPr>
        <p:txBody>
          <a:bodyPr wrap="square" lIns="0" rIns="0" tIns="0" bIns="0" anchor="ctr">
            <a:spAutoFit/>
          </a:bodyPr>
          <a:lstStyle/>
          <a:p>
            <a:pPr algn="ctr"/>
            <a:r>
              <a:rPr sz="1500" b="0" i="0">
                <a:solidFill>
                  <a:srgbClr val="F0E8E8"/>
                </a:solidFill>
                <a:latin typeface="Geist Mono"/>
                <a:ea typeface="Geist Mono"/>
                <a:cs typeface="Geist Mono"/>
              </a:rPr>
              <a:t>b</a:t>
            </a:r>
          </a:p>
        </p:txBody>
      </p:sp>
      <p:sp>
        <p:nvSpPr>
          <p:cNvPr id="46" name="Rectangle 45"/>
          <p:cNvSpPr/>
          <p:nvPr/>
        </p:nvSpPr>
        <p:spPr>
          <a:xfrm>
            <a:off x="12437745" y="7239000"/>
            <a:ext cx="57150" cy="762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2580620" y="7467600"/>
            <a:ext cx="2476500" cy="30480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both done</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Hand over the question, not the answer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2763500" cy="1133475"/>
          </a:xfrm>
          <a:prstGeom prst="roundRect">
            <a:avLst>
              <a:gd name="adj" fmla="val 1344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2230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.until(DrivetrainSubsystem.getInstance()::isAimed)</a:t>
            </a:r>
          </a:p>
        </p:txBody>
      </p:sp>
      <p:pic>
        <p:nvPicPr>
          <p:cNvPr id="7" name="Picture 6" descr="check-circle-fill.png"/>
          <p:cNvPicPr>
            <a:picLocks noChangeAspect="1"/>
          </p:cNvPicPr>
          <p:nvPr/>
        </p:nvPicPr>
        <p:blipFill>
          <a:blip r:embed="rId3"/>
          <a:stretch>
            <a:fillRect/>
          </a:stretch>
        </p:blipFill>
        <p:spPr>
          <a:xfrm>
            <a:off x="914400" y="4095750"/>
            <a:ext cx="323850" cy="323850"/>
          </a:xfrm>
          <a:prstGeom prst="rect">
            <a:avLst/>
          </a:prstGeom>
        </p:spPr>
      </p:pic>
      <p:sp>
        <p:nvSpPr>
          <p:cNvPr id="8" name="TextBox 7"/>
          <p:cNvSpPr txBox="1"/>
          <p:nvPr/>
        </p:nvSpPr>
        <p:spPr>
          <a:xfrm>
            <a:off x="1390650" y="4076700"/>
            <a:ext cx="12382500" cy="381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Hands over the method: asked again every loop.</a:t>
            </a:r>
          </a:p>
        </p:txBody>
      </p:sp>
      <p:sp>
        <p:nvSpPr>
          <p:cNvPr id="9" name="Rounded Rectangle 8"/>
          <p:cNvSpPr/>
          <p:nvPr/>
        </p:nvSpPr>
        <p:spPr>
          <a:xfrm>
            <a:off x="914400" y="4762500"/>
            <a:ext cx="12763500" cy="1133475"/>
          </a:xfrm>
          <a:prstGeom prst="roundRect">
            <a:avLst>
              <a:gd name="adj" fmla="val 1344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5143500"/>
            <a:ext cx="12230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.until(() -&gt; DrivetrainSubsystem.getInstance().isAimed())</a:t>
            </a:r>
          </a:p>
        </p:txBody>
      </p:sp>
      <p:pic>
        <p:nvPicPr>
          <p:cNvPr id="11" name="Picture 10" descr="check-circle-fill.png"/>
          <p:cNvPicPr>
            <a:picLocks noChangeAspect="1"/>
          </p:cNvPicPr>
          <p:nvPr/>
        </p:nvPicPr>
        <p:blipFill>
          <a:blip r:embed="rId3"/>
          <a:stretch>
            <a:fillRect/>
          </a:stretch>
        </p:blipFill>
        <p:spPr>
          <a:xfrm>
            <a:off x="914400" y="6000750"/>
            <a:ext cx="323850" cy="323850"/>
          </a:xfrm>
          <a:prstGeom prst="rect">
            <a:avLst/>
          </a:prstGeom>
        </p:spPr>
      </p:pic>
      <p:sp>
        <p:nvSpPr>
          <p:cNvPr id="12" name="TextBox 11"/>
          <p:cNvSpPr txBox="1"/>
          <p:nvPr/>
        </p:nvSpPr>
        <p:spPr>
          <a:xfrm>
            <a:off x="1390650" y="5981700"/>
            <a:ext cx="12382500" cy="381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The same thing, written as a lambda.</a:t>
            </a:r>
          </a:p>
        </p:txBody>
      </p:sp>
      <p:sp>
        <p:nvSpPr>
          <p:cNvPr id="13" name="Rounded Rectangle 12"/>
          <p:cNvSpPr/>
          <p:nvPr/>
        </p:nvSpPr>
        <p:spPr>
          <a:xfrm>
            <a:off x="914400" y="6667500"/>
            <a:ext cx="12763500" cy="1133475"/>
          </a:xfrm>
          <a:prstGeom prst="roundRect">
            <a:avLst>
              <a:gd name="adj" fmla="val 1344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7048500"/>
            <a:ext cx="12230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.until(DrivetrainSubsystem.getInstance().isAimed())</a:t>
            </a:r>
          </a:p>
        </p:txBody>
      </p:sp>
      <p:pic>
        <p:nvPicPr>
          <p:cNvPr id="15" name="Picture 14" descr="exclamation-circle.png"/>
          <p:cNvPicPr>
            <a:picLocks noChangeAspect="1"/>
          </p:cNvPicPr>
          <p:nvPr/>
        </p:nvPicPr>
        <p:blipFill>
          <a:blip r:embed="rId4"/>
          <a:stretch>
            <a:fillRect/>
          </a:stretch>
        </p:blipFill>
        <p:spPr>
          <a:xfrm>
            <a:off x="914400" y="7905750"/>
            <a:ext cx="323850" cy="323850"/>
          </a:xfrm>
          <a:prstGeom prst="rect">
            <a:avLst/>
          </a:prstGeom>
        </p:spPr>
      </p:pic>
      <p:sp>
        <p:nvSpPr>
          <p:cNvPr id="16" name="TextBox 15"/>
          <p:cNvSpPr txBox="1"/>
          <p:nvPr/>
        </p:nvSpPr>
        <p:spPr>
          <a:xfrm>
            <a:off x="1390650" y="7886700"/>
            <a:ext cx="12382500" cy="381000"/>
          </a:xfrm>
          <a:prstGeom prst="rect">
            <a:avLst/>
          </a:prstGeom>
          <a:noFill/>
        </p:spPr>
        <p:txBody>
          <a:bodyPr wrap="square" lIns="0" rIns="0" tIns="0" bIns="0" anchor="t">
            <a:spAutoFit/>
          </a:bodyPr>
          <a:lstStyle/>
          <a:p>
            <a:pPr algn="l"/>
            <a:r>
              <a:rPr sz="1950" b="1" i="0">
                <a:solidFill>
                  <a:srgbClr val="CC2200"/>
                </a:solidFill>
                <a:latin typeface="Geist"/>
                <a:ea typeface="Geist"/>
                <a:cs typeface="Geist"/>
              </a:rPr>
              <a:t>Asks once, right now: one true or false. Java won't accept it.</a:t>
            </a:r>
          </a:p>
        </p:txBody>
      </p:sp>
      <p:pic>
        <p:nvPicPr>
          <p:cNvPr id="17" name="Picture 16" descr="dozer_wide_left.png"/>
          <p:cNvPicPr>
            <a:picLocks noChangeAspect="1"/>
          </p:cNvPicPr>
          <p:nvPr/>
        </p:nvPicPr>
        <p:blipFill>
          <a:blip r:embed="rId5"/>
          <a:stretch>
            <a:fillRect/>
          </a:stretch>
        </p:blipFill>
        <p:spPr>
          <a:xfrm>
            <a:off x="14859000" y="7239000"/>
            <a:ext cx="2381250" cy="1463620"/>
          </a:xfrm>
          <a:prstGeom prst="rect">
            <a:avLst/>
          </a:prstGeom>
        </p:spPr>
      </p:pic>
      <p:sp>
        <p:nvSpPr>
          <p:cNvPr id="18" name="TextBox 1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routine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Load the paths, list the commands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Order matters: aim first, then shoot!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routine extends Auto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Autos.java</a:t>
            </a:r>
          </a:p>
        </p:txBody>
      </p:sp>
      <p:sp>
        <p:nvSpPr>
          <p:cNvPr id="6" name="Rounded Rectangle 5"/>
          <p:cNvSpPr/>
          <p:nvPr/>
        </p:nvSpPr>
        <p:spPr>
          <a:xfrm>
            <a:off x="914400" y="3143250"/>
            <a:ext cx="10572750" cy="5036820"/>
          </a:xfrm>
          <a:prstGeom prst="roundRect">
            <a:avLst>
              <a:gd name="adj" fmla="val 302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01490"/>
            <a:ext cx="10534650" cy="3886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01490"/>
            <a:ext cx="57150" cy="3886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690110"/>
            <a:ext cx="10534650" cy="3886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690110"/>
            <a:ext cx="57150" cy="3886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039350" cy="38862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class</a:t>
            </a:r>
            <a:r>
              <a:rPr sz="1800" b="0" i="0">
                <a:solidFill>
                  <a:srgbClr val="F0E8E8"/>
                </a:solidFill>
                <a:latin typeface="Geist Mono"/>
                <a:ea typeface="Geist Mono"/>
                <a:cs typeface="Geist Mono"/>
              </a:rPr>
              <a:t> PickupAndScore </a:t>
            </a:r>
            <a:r>
              <a:rPr sz="1800" b="0" i="0">
                <a:solidFill>
                  <a:srgbClr val="E0785F"/>
                </a:solidFill>
                <a:latin typeface="Geist Mono"/>
                <a:ea typeface="Geist Mono"/>
                <a:cs typeface="Geist Mono"/>
              </a:rPr>
              <a:t>extends</a:t>
            </a:r>
            <a:r>
              <a:rPr sz="1800" b="0" i="0">
                <a:solidFill>
                  <a:srgbClr val="F0E8E8"/>
                </a:solidFill>
                <a:latin typeface="Geist Mono"/>
                <a:ea typeface="Geist Mono"/>
                <a:cs typeface="Geist Mono"/>
              </a:rPr>
              <a:t> Auto {</a:t>
            </a:r>
          </a:p>
        </p:txBody>
      </p:sp>
      <p:sp>
        <p:nvSpPr>
          <p:cNvPr id="12" name="TextBox 11"/>
          <p:cNvSpPr txBox="1"/>
          <p:nvPr/>
        </p:nvSpPr>
        <p:spPr>
          <a:xfrm>
            <a:off x="1295400" y="391287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PickupAndScore() {</a:t>
            </a:r>
          </a:p>
        </p:txBody>
      </p:sp>
      <p:sp>
        <p:nvSpPr>
          <p:cNvPr id="13" name="TextBox 12"/>
          <p:cNvSpPr txBox="1"/>
          <p:nvPr/>
        </p:nvSpPr>
        <p:spPr>
          <a:xfrm>
            <a:off x="1295400" y="430149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loadTrajectory(</a:t>
            </a:r>
            <a:r>
              <a:rPr sz="1800" b="0" i="0">
                <a:solidFill>
                  <a:srgbClr val="9FD29A"/>
                </a:solidFill>
                <a:latin typeface="Geist Mono"/>
                <a:ea typeface="Geist Mono"/>
                <a:cs typeface="Geist Mono"/>
              </a:rPr>
              <a:t>"ToPickup"</a:t>
            </a:r>
            <a:r>
              <a:rPr sz="1800" b="0" i="0">
                <a:solidFill>
                  <a:srgbClr val="F0E8E8"/>
                </a:solidFill>
                <a:latin typeface="Geist Mono"/>
                <a:ea typeface="Geist Mono"/>
                <a:cs typeface="Geist Mono"/>
              </a:rPr>
              <a:t>);</a:t>
            </a:r>
          </a:p>
        </p:txBody>
      </p:sp>
      <p:sp>
        <p:nvSpPr>
          <p:cNvPr id="14" name="TextBox 13"/>
          <p:cNvSpPr txBox="1"/>
          <p:nvPr/>
        </p:nvSpPr>
        <p:spPr>
          <a:xfrm>
            <a:off x="1295400" y="469011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loadTrajectory(</a:t>
            </a:r>
            <a:r>
              <a:rPr sz="1800" b="0" i="0">
                <a:solidFill>
                  <a:srgbClr val="9FD29A"/>
                </a:solidFill>
                <a:latin typeface="Geist Mono"/>
                <a:ea typeface="Geist Mono"/>
                <a:cs typeface="Geist Mono"/>
              </a:rPr>
              <a:t>"ToScore"</a:t>
            </a:r>
            <a:r>
              <a:rPr sz="1800" b="0" i="0">
                <a:solidFill>
                  <a:srgbClr val="F0E8E8"/>
                </a:solidFill>
                <a:latin typeface="Geist Mono"/>
                <a:ea typeface="Geist Mono"/>
                <a:cs typeface="Geist Mono"/>
              </a:rPr>
              <a:t>);</a:t>
            </a:r>
          </a:p>
        </p:txBody>
      </p:sp>
      <p:sp>
        <p:nvSpPr>
          <p:cNvPr id="15" name="TextBox 14"/>
          <p:cNvSpPr txBox="1"/>
          <p:nvPr/>
        </p:nvSpPr>
        <p:spPr>
          <a:xfrm>
            <a:off x="1295400" y="507873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546735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addCommands(</a:t>
            </a:r>
          </a:p>
        </p:txBody>
      </p:sp>
      <p:sp>
        <p:nvSpPr>
          <p:cNvPr id="17" name="TextBox 16"/>
          <p:cNvSpPr txBox="1"/>
          <p:nvPr/>
        </p:nvSpPr>
        <p:spPr>
          <a:xfrm>
            <a:off x="1295400" y="585597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DrivetrainCommands.followPath(getTrajectory(</a:t>
            </a:r>
            <a:r>
              <a:rPr sz="1800" b="0" i="0">
                <a:solidFill>
                  <a:srgbClr val="9FD29A"/>
                </a:solidFill>
                <a:latin typeface="Geist Mono"/>
                <a:ea typeface="Geist Mono"/>
                <a:cs typeface="Geist Mono"/>
              </a:rPr>
              <a:t>"ToPickup"</a:t>
            </a:r>
            <a:r>
              <a:rPr sz="1800" b="0" i="0">
                <a:solidFill>
                  <a:srgbClr val="F0E8E8"/>
                </a:solidFill>
                <a:latin typeface="Geist Mono"/>
                <a:ea typeface="Geist Mono"/>
                <a:cs typeface="Geist Mono"/>
              </a:rPr>
              <a:t>)),</a:t>
            </a:r>
          </a:p>
        </p:txBody>
      </p:sp>
      <p:sp>
        <p:nvSpPr>
          <p:cNvPr id="18" name="TextBox 17"/>
          <p:cNvSpPr txBox="1"/>
          <p:nvPr/>
        </p:nvSpPr>
        <p:spPr>
          <a:xfrm>
            <a:off x="1295400" y="624459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...the rest of the routine</a:t>
            </a:r>
          </a:p>
        </p:txBody>
      </p:sp>
      <p:sp>
        <p:nvSpPr>
          <p:cNvPr id="19" name="TextBox 18"/>
          <p:cNvSpPr txBox="1"/>
          <p:nvPr/>
        </p:nvSpPr>
        <p:spPr>
          <a:xfrm>
            <a:off x="1295400" y="663321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0" name="TextBox 19"/>
          <p:cNvSpPr txBox="1"/>
          <p:nvPr/>
        </p:nvSpPr>
        <p:spPr>
          <a:xfrm>
            <a:off x="1295400" y="702183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7410450"/>
            <a:ext cx="10039350" cy="3886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10877550" y="35280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77550" y="35280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877550" y="4305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77550" y="4305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877550" y="54711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77550" y="54711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0877550" y="585978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77550" y="585978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0" name="Oval 29"/>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extends Auto</a:t>
            </a:r>
          </a:p>
        </p:txBody>
      </p:sp>
      <p:sp>
        <p:nvSpPr>
          <p:cNvPr id="33" name="TextBox 32"/>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list of commands that run in order</a:t>
            </a:r>
          </a:p>
        </p:txBody>
      </p:sp>
      <p:sp>
        <p:nvSpPr>
          <p:cNvPr id="34" name="Oval 33"/>
          <p:cNvSpPr/>
          <p:nvPr/>
        </p:nvSpPr>
        <p:spPr>
          <a:xfrm>
            <a:off x="119062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9062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2515850" y="4438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loadTrajectory</a:t>
            </a:r>
          </a:p>
        </p:txBody>
      </p:sp>
      <p:sp>
        <p:nvSpPr>
          <p:cNvPr id="37" name="TextBox 36"/>
          <p:cNvSpPr txBox="1"/>
          <p:nvPr/>
        </p:nvSpPr>
        <p:spPr>
          <a:xfrm>
            <a:off x="12515850" y="4857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 each path ready, by its Choreo name</a:t>
            </a:r>
          </a:p>
        </p:txBody>
      </p:sp>
      <p:sp>
        <p:nvSpPr>
          <p:cNvPr id="38" name="Oval 37"/>
          <p:cNvSpPr/>
          <p:nvPr/>
        </p:nvSpPr>
        <p:spPr>
          <a:xfrm>
            <a:off x="11906250" y="5905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906250" y="5905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2515850" y="5867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addCommands</a:t>
            </a:r>
          </a:p>
        </p:txBody>
      </p:sp>
      <p:sp>
        <p:nvSpPr>
          <p:cNvPr id="41" name="TextBox 40"/>
          <p:cNvSpPr txBox="1"/>
          <p:nvPr/>
        </p:nvSpPr>
        <p:spPr>
          <a:xfrm>
            <a:off x="12515850" y="6286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steps, one after another</a:t>
            </a:r>
          </a:p>
        </p:txBody>
      </p:sp>
      <p:sp>
        <p:nvSpPr>
          <p:cNvPr id="42" name="Oval 41"/>
          <p:cNvSpPr/>
          <p:nvPr/>
        </p:nvSpPr>
        <p:spPr>
          <a:xfrm>
            <a:off x="11906250" y="7334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906250" y="7334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4" name="TextBox 43"/>
          <p:cNvSpPr txBox="1"/>
          <p:nvPr/>
        </p:nvSpPr>
        <p:spPr>
          <a:xfrm>
            <a:off x="12515850" y="7296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getTrajectory</a:t>
            </a:r>
          </a:p>
        </p:txBody>
      </p:sp>
      <p:sp>
        <p:nvSpPr>
          <p:cNvPr id="45" name="TextBox 44"/>
          <p:cNvSpPr txBox="1"/>
          <p:nvPr/>
        </p:nvSpPr>
        <p:spPr>
          <a:xfrm>
            <a:off x="12515850" y="7715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Hand a loaded path to a command</a:t>
            </a:r>
          </a:p>
        </p:txBody>
      </p:sp>
      <p:pic>
        <p:nvPicPr>
          <p:cNvPr id="46" name="Picture 45" descr="code-slash.png"/>
          <p:cNvPicPr>
            <a:picLocks noChangeAspect="1"/>
          </p:cNvPicPr>
          <p:nvPr/>
        </p:nvPicPr>
        <p:blipFill>
          <a:blip r:embed="rId3"/>
          <a:stretch>
            <a:fillRect/>
          </a:stretch>
        </p:blipFill>
        <p:spPr>
          <a:xfrm>
            <a:off x="914400" y="8610600"/>
            <a:ext cx="224518" cy="209550"/>
          </a:xfrm>
          <a:prstGeom prst="rect">
            <a:avLst/>
          </a:prstGeom>
        </p:spPr>
      </p:pic>
      <p:sp>
        <p:nvSpPr>
          <p:cNvPr id="47" name="TextBox 46"/>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48" name="TextBox 47"/>
          <p:cNvSpPr txBox="1"/>
          <p:nvPr/>
        </p:nvSpPr>
        <p:spPr>
          <a:xfrm>
            <a:off x="5715000" y="8534400"/>
            <a:ext cx="571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Capitals count: toPickup is not ToPickup.</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sequence: path, wait, path, aim, shoot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Autos.java</a:t>
            </a:r>
          </a:p>
        </p:txBody>
      </p:sp>
      <p:sp>
        <p:nvSpPr>
          <p:cNvPr id="6" name="Rounded Rectangle 5"/>
          <p:cNvSpPr/>
          <p:nvPr/>
        </p:nvSpPr>
        <p:spPr>
          <a:xfrm>
            <a:off x="914400" y="3143250"/>
            <a:ext cx="10572750" cy="3962400"/>
          </a:xfrm>
          <a:prstGeom prst="roundRect">
            <a:avLst>
              <a:gd name="adj" fmla="val 38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124450"/>
            <a:ext cx="1053465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12445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053465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924550"/>
            <a:ext cx="1053465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92455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addCommands(</a:t>
            </a:r>
          </a:p>
        </p:txBody>
      </p:sp>
      <p:sp>
        <p:nvSpPr>
          <p:cNvPr id="14" name="TextBox 13"/>
          <p:cNvSpPr txBox="1"/>
          <p:nvPr/>
        </p:nvSpPr>
        <p:spPr>
          <a:xfrm>
            <a:off x="1295400" y="392430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DrivetrainCommands.followPath(getTrajectory(</a:t>
            </a:r>
            <a:r>
              <a:rPr sz="1800" b="0" i="0">
                <a:solidFill>
                  <a:srgbClr val="9FD29A"/>
                </a:solidFill>
                <a:latin typeface="Geist Mono"/>
                <a:ea typeface="Geist Mono"/>
                <a:cs typeface="Geist Mono"/>
              </a:rPr>
              <a:t>"ToPickup"</a:t>
            </a:r>
            <a:r>
              <a:rPr sz="1800" b="0" i="0">
                <a:solidFill>
                  <a:srgbClr val="F0E8E8"/>
                </a:solidFill>
                <a:latin typeface="Geist Mono"/>
                <a:ea typeface="Geist Mono"/>
                <a:cs typeface="Geist Mono"/>
              </a:rPr>
              <a:t>)),</a:t>
            </a:r>
          </a:p>
        </p:txBody>
      </p:sp>
      <p:sp>
        <p:nvSpPr>
          <p:cNvPr id="15" name="TextBox 14"/>
          <p:cNvSpPr txBox="1"/>
          <p:nvPr/>
        </p:nvSpPr>
        <p:spPr>
          <a:xfrm>
            <a:off x="1295400" y="432435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Commands.waitSeconds(</a:t>
            </a:r>
            <a:r>
              <a:rPr sz="1800" b="0" i="0">
                <a:solidFill>
                  <a:srgbClr val="E8C27A"/>
                </a:solidFill>
                <a:latin typeface="Geist Mono"/>
                <a:ea typeface="Geist Mono"/>
                <a:cs typeface="Geist Mono"/>
              </a:rPr>
              <a:t>0.5</a:t>
            </a:r>
            <a:r>
              <a:rPr sz="1800" b="0" i="0">
                <a:solidFill>
                  <a:srgbClr val="F0E8E8"/>
                </a:solidFill>
                <a:latin typeface="Geist Mono"/>
                <a:ea typeface="Geist Mono"/>
                <a:cs typeface="Geist Mono"/>
              </a:rPr>
              <a:t>),</a:t>
            </a:r>
          </a:p>
        </p:txBody>
      </p:sp>
      <p:sp>
        <p:nvSpPr>
          <p:cNvPr id="16" name="TextBox 15"/>
          <p:cNvSpPr txBox="1"/>
          <p:nvPr/>
        </p:nvSpPr>
        <p:spPr>
          <a:xfrm>
            <a:off x="1295400" y="472440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DrivetrainCommands.followPath(getTrajectory(</a:t>
            </a:r>
            <a:r>
              <a:rPr sz="1800" b="0" i="0">
                <a:solidFill>
                  <a:srgbClr val="9FD29A"/>
                </a:solidFill>
                <a:latin typeface="Geist Mono"/>
                <a:ea typeface="Geist Mono"/>
                <a:cs typeface="Geist Mono"/>
              </a:rPr>
              <a:t>"ToScore"</a:t>
            </a:r>
            <a:r>
              <a:rPr sz="1800" b="0" i="0">
                <a:solidFill>
                  <a:srgbClr val="F0E8E8"/>
                </a:solidFill>
                <a:latin typeface="Geist Mono"/>
                <a:ea typeface="Geist Mono"/>
                <a:cs typeface="Geist Mono"/>
              </a:rPr>
              <a:t>)),</a:t>
            </a:r>
          </a:p>
        </p:txBody>
      </p:sp>
      <p:sp>
        <p:nvSpPr>
          <p:cNvPr id="17" name="TextBox 16"/>
          <p:cNvSpPr txBox="1"/>
          <p:nvPr/>
        </p:nvSpPr>
        <p:spPr>
          <a:xfrm>
            <a:off x="1295400" y="512445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DrivetrainCommands.aim()</a:t>
            </a:r>
          </a:p>
        </p:txBody>
      </p:sp>
      <p:sp>
        <p:nvSpPr>
          <p:cNvPr id="18" name="TextBox 17"/>
          <p:cNvSpPr txBox="1"/>
          <p:nvPr/>
        </p:nvSpPr>
        <p:spPr>
          <a:xfrm>
            <a:off x="1295400" y="552450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.until(DrivetrainSubsystem.getInstance()::isAimed)</a:t>
            </a:r>
          </a:p>
        </p:txBody>
      </p:sp>
      <p:sp>
        <p:nvSpPr>
          <p:cNvPr id="19" name="TextBox 18"/>
          <p:cNvSpPr txBox="1"/>
          <p:nvPr/>
        </p:nvSpPr>
        <p:spPr>
          <a:xfrm>
            <a:off x="1295400" y="592455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.withTimeout(</a:t>
            </a:r>
            <a:r>
              <a:rPr sz="1800" b="0" i="0">
                <a:solidFill>
                  <a:srgbClr val="E8C27A"/>
                </a:solidFill>
                <a:latin typeface="Geist Mono"/>
                <a:ea typeface="Geist Mono"/>
                <a:cs typeface="Geist Mono"/>
              </a:rPr>
              <a:t>3.0</a:t>
            </a:r>
            <a:r>
              <a:rPr sz="1800" b="0" i="0">
                <a:solidFill>
                  <a:srgbClr val="F0E8E8"/>
                </a:solidFill>
                <a:latin typeface="Geist Mono"/>
                <a:ea typeface="Geist Mono"/>
                <a:cs typeface="Geist Mono"/>
              </a:rPr>
              <a:t>),</a:t>
            </a:r>
          </a:p>
        </p:txBody>
      </p:sp>
      <p:sp>
        <p:nvSpPr>
          <p:cNvPr id="20" name="TextBox 19"/>
          <p:cNvSpPr txBox="1"/>
          <p:nvPr/>
        </p:nvSpPr>
        <p:spPr>
          <a:xfrm>
            <a:off x="1295400" y="6324600"/>
            <a:ext cx="1003935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ShooterCommands.shoot().withTimeout(</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21" name="Oval 20"/>
          <p:cNvSpPr/>
          <p:nvPr/>
        </p:nvSpPr>
        <p:spPr>
          <a:xfrm>
            <a:off x="10877550" y="39338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77550" y="39338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877550" y="43338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77550" y="43338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877550" y="47339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77550" y="47339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877550" y="5133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77550" y="5133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0877550" y="63341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77550" y="63341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1" name="TextBox 30"/>
          <p:cNvSpPr txBox="1"/>
          <p:nvPr/>
        </p:nvSpPr>
        <p:spPr>
          <a:xfrm>
            <a:off x="914400" y="7620000"/>
            <a:ext cx="10477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Commas between commands. None after the last.</a:t>
            </a:r>
          </a:p>
        </p:txBody>
      </p:sp>
      <p:sp>
        <p:nvSpPr>
          <p:cNvPr id="32" name="TextBox 31"/>
          <p:cNvSpPr txBox="1"/>
          <p:nvPr/>
        </p:nvSpPr>
        <p:spPr>
          <a:xfrm>
            <a:off x="914400" y="8113395"/>
            <a:ext cx="10477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Red names? Hover and use the quick fix to import.</a:t>
            </a:r>
          </a:p>
        </p:txBody>
      </p:sp>
      <p:sp>
        <p:nvSpPr>
          <p:cNvPr id="33" name="Oval 32"/>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ToPickup</a:t>
            </a:r>
          </a:p>
        </p:txBody>
      </p:sp>
      <p:sp>
        <p:nvSpPr>
          <p:cNvPr id="36" name="TextBox 35"/>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Finishes when the robot arrives</a:t>
            </a:r>
          </a:p>
        </p:txBody>
      </p:sp>
      <p:sp>
        <p:nvSpPr>
          <p:cNvPr id="37" name="Oval 36"/>
          <p:cNvSpPr/>
          <p:nvPr/>
        </p:nvSpPr>
        <p:spPr>
          <a:xfrm>
            <a:off x="11906250" y="4038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90625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2515850" y="40005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Wait 0.5 s</a:t>
            </a:r>
          </a:p>
        </p:txBody>
      </p:sp>
      <p:sp>
        <p:nvSpPr>
          <p:cNvPr id="40" name="TextBox 39"/>
          <p:cNvSpPr txBox="1"/>
          <p:nvPr/>
        </p:nvSpPr>
        <p:spPr>
          <a:xfrm>
            <a:off x="12515850" y="44196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Stands in for picking up</a:t>
            </a:r>
          </a:p>
        </p:txBody>
      </p:sp>
      <p:sp>
        <p:nvSpPr>
          <p:cNvPr id="41" name="Oval 40"/>
          <p:cNvSpPr/>
          <p:nvPr/>
        </p:nvSpPr>
        <p:spPr>
          <a:xfrm>
            <a:off x="11906250"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90625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2515850" y="51816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ToScore</a:t>
            </a:r>
          </a:p>
        </p:txBody>
      </p:sp>
      <p:sp>
        <p:nvSpPr>
          <p:cNvPr id="44" name="TextBox 43"/>
          <p:cNvSpPr txBox="1"/>
          <p:nvPr/>
        </p:nvSpPr>
        <p:spPr>
          <a:xfrm>
            <a:off x="12515850" y="56007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Starts where ToPickup ended</a:t>
            </a:r>
          </a:p>
        </p:txBody>
      </p:sp>
      <p:sp>
        <p:nvSpPr>
          <p:cNvPr id="45" name="Oval 44"/>
          <p:cNvSpPr/>
          <p:nvPr/>
        </p:nvSpPr>
        <p:spPr>
          <a:xfrm>
            <a:off x="11906250" y="64008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90625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2515850" y="63627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Aim until aimed</a:t>
            </a:r>
          </a:p>
        </p:txBody>
      </p:sp>
      <p:sp>
        <p:nvSpPr>
          <p:cNvPr id="48" name="TextBox 47"/>
          <p:cNvSpPr txBox="1"/>
          <p:nvPr/>
        </p:nvSpPr>
        <p:spPr>
          <a:xfrm>
            <a:off x="12515850" y="67818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Gives up after 3 s if it can't</a:t>
            </a:r>
          </a:p>
        </p:txBody>
      </p:sp>
      <p:sp>
        <p:nvSpPr>
          <p:cNvPr id="49" name="Oval 48"/>
          <p:cNvSpPr/>
          <p:nvPr/>
        </p:nvSpPr>
        <p:spPr>
          <a:xfrm>
            <a:off x="11906250" y="75819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90625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51" name="TextBox 50"/>
          <p:cNvSpPr txBox="1"/>
          <p:nvPr/>
        </p:nvSpPr>
        <p:spPr>
          <a:xfrm>
            <a:off x="12515850" y="75438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Shoot</a:t>
            </a:r>
          </a:p>
        </p:txBody>
      </p:sp>
      <p:sp>
        <p:nvSpPr>
          <p:cNvPr id="52" name="TextBox 51"/>
          <p:cNvSpPr txBox="1"/>
          <p:nvPr/>
        </p:nvSpPr>
        <p:spPr>
          <a:xfrm>
            <a:off x="12515850" y="79629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2 s, then the routine is over</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routine on a clock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4672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57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7" name="Rectangle 6"/>
          <p:cNvSpPr/>
          <p:nvPr/>
        </p:nvSpPr>
        <p:spPr>
          <a:xfrm>
            <a:off x="5286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055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9246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532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1" name="Rectangle 10"/>
          <p:cNvSpPr/>
          <p:nvPr/>
        </p:nvSpPr>
        <p:spPr>
          <a:xfrm>
            <a:off x="77438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629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821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106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15" name="Rectangle 14"/>
          <p:cNvSpPr/>
          <p:nvPr/>
        </p:nvSpPr>
        <p:spPr>
          <a:xfrm>
            <a:off x="102012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0204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8395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4681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9 s</a:t>
            </a:r>
          </a:p>
        </p:txBody>
      </p:sp>
      <p:sp>
        <p:nvSpPr>
          <p:cNvPr id="19" name="Rectangle 18"/>
          <p:cNvSpPr/>
          <p:nvPr/>
        </p:nvSpPr>
        <p:spPr>
          <a:xfrm>
            <a:off x="126587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3477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42970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9255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 s</a:t>
            </a:r>
          </a:p>
        </p:txBody>
      </p:sp>
      <p:sp>
        <p:nvSpPr>
          <p:cNvPr id="23" name="Rectangle 22"/>
          <p:cNvSpPr/>
          <p:nvPr/>
        </p:nvSpPr>
        <p:spPr>
          <a:xfrm>
            <a:off x="151161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59353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67544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63830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 s</a:t>
            </a:r>
          </a:p>
        </p:txBody>
      </p:sp>
      <p:sp>
        <p:nvSpPr>
          <p:cNvPr id="27" name="Rectangle 26"/>
          <p:cNvSpPr/>
          <p:nvPr/>
        </p:nvSpPr>
        <p:spPr>
          <a:xfrm>
            <a:off x="4467225" y="7515225"/>
            <a:ext cx="123063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4400" y="3048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048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485900" y="29527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ToPickup</a:t>
            </a:r>
          </a:p>
        </p:txBody>
      </p:sp>
      <p:sp>
        <p:nvSpPr>
          <p:cNvPr id="31" name="Rounded Rectangle 30"/>
          <p:cNvSpPr/>
          <p:nvPr/>
        </p:nvSpPr>
        <p:spPr>
          <a:xfrm>
            <a:off x="4476750" y="2952750"/>
            <a:ext cx="245745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6600" y="29527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33" name="Oval 32"/>
          <p:cNvSpPr/>
          <p:nvPr/>
        </p:nvSpPr>
        <p:spPr>
          <a:xfrm>
            <a:off x="914400" y="39433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943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485900" y="38481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Wait</a:t>
            </a:r>
          </a:p>
        </p:txBody>
      </p:sp>
      <p:sp>
        <p:nvSpPr>
          <p:cNvPr id="36" name="Rounded Rectangle 35"/>
          <p:cNvSpPr/>
          <p:nvPr/>
        </p:nvSpPr>
        <p:spPr>
          <a:xfrm>
            <a:off x="6934200" y="3848100"/>
            <a:ext cx="409575" cy="571500"/>
          </a:xfrm>
          <a:prstGeom prst="roundRect">
            <a:avLst>
              <a:gd name="adj" fmla="val 23255"/>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924675" y="35147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96175" y="38481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0.5 s</a:t>
            </a:r>
          </a:p>
        </p:txBody>
      </p:sp>
      <p:sp>
        <p:nvSpPr>
          <p:cNvPr id="39" name="Oval 38"/>
          <p:cNvSpPr/>
          <p:nvPr/>
        </p:nvSpPr>
        <p:spPr>
          <a:xfrm>
            <a:off x="914400" y="4838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838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485900" y="47434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ToScore</a:t>
            </a:r>
          </a:p>
        </p:txBody>
      </p:sp>
      <p:sp>
        <p:nvSpPr>
          <p:cNvPr id="42" name="Rounded Rectangle 41"/>
          <p:cNvSpPr/>
          <p:nvPr/>
        </p:nvSpPr>
        <p:spPr>
          <a:xfrm>
            <a:off x="7343775" y="4743450"/>
            <a:ext cx="2047875"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334250" y="44100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544050" y="47434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45" name="Oval 44"/>
          <p:cNvSpPr/>
          <p:nvPr/>
        </p:nvSpPr>
        <p:spPr>
          <a:xfrm>
            <a:off x="914400" y="57340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7340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485900" y="56388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Aim</a:t>
            </a:r>
          </a:p>
        </p:txBody>
      </p:sp>
      <p:sp>
        <p:nvSpPr>
          <p:cNvPr id="48" name="Rounded Rectangle 47"/>
          <p:cNvSpPr/>
          <p:nvPr/>
        </p:nvSpPr>
        <p:spPr>
          <a:xfrm>
            <a:off x="9391650" y="5638800"/>
            <a:ext cx="98298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382125" y="53054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527030" y="56388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isAimed (3 s max)</a:t>
            </a:r>
          </a:p>
        </p:txBody>
      </p:sp>
      <p:sp>
        <p:nvSpPr>
          <p:cNvPr id="51" name="Oval 50"/>
          <p:cNvSpPr/>
          <p:nvPr/>
        </p:nvSpPr>
        <p:spPr>
          <a:xfrm>
            <a:off x="914400" y="662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662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53" name="TextBox 52"/>
          <p:cNvSpPr txBox="1"/>
          <p:nvPr/>
        </p:nvSpPr>
        <p:spPr>
          <a:xfrm>
            <a:off x="1485900" y="65341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Shoot</a:t>
            </a:r>
          </a:p>
        </p:txBody>
      </p:sp>
      <p:sp>
        <p:nvSpPr>
          <p:cNvPr id="54" name="Rounded Rectangle 53"/>
          <p:cNvSpPr/>
          <p:nvPr/>
        </p:nvSpPr>
        <p:spPr>
          <a:xfrm>
            <a:off x="10374630" y="6534150"/>
            <a:ext cx="1638300" cy="571500"/>
          </a:xfrm>
          <a:prstGeom prst="roundRect">
            <a:avLst>
              <a:gd name="adj" fmla="val 16666"/>
            </a:avLst>
          </a:prstGeom>
          <a:solidFill>
            <a:srgbClr val="2A1A1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365105" y="62007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165330" y="65341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2 s timeout</a:t>
            </a:r>
          </a:p>
        </p:txBody>
      </p:sp>
      <p:sp>
        <p:nvSpPr>
          <p:cNvPr id="57" name="Rectangle 56"/>
          <p:cNvSpPr/>
          <p:nvPr/>
        </p:nvSpPr>
        <p:spPr>
          <a:xfrm>
            <a:off x="16749712" y="2747962"/>
            <a:ext cx="28575" cy="47910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4287500" y="7048500"/>
            <a:ext cx="2324100" cy="323850"/>
          </a:xfrm>
          <a:prstGeom prst="rect">
            <a:avLst/>
          </a:prstGeom>
          <a:noFill/>
        </p:spPr>
        <p:txBody>
          <a:bodyPr wrap="square" lIns="0" rIns="0" tIns="0" bIns="0" anchor="t">
            <a:spAutoFit/>
          </a:bodyPr>
          <a:lstStyle/>
          <a:p>
            <a:pPr algn="r"/>
            <a:r>
              <a:rPr sz="1650" b="1" i="0">
                <a:solidFill>
                  <a:srgbClr val="CC2200"/>
                </a:solidFill>
                <a:latin typeface="Geist"/>
                <a:ea typeface="Geist"/>
                <a:cs typeface="Geist"/>
              </a:rPr>
              <a:t>auto ends at 15 s</a:t>
            </a:r>
          </a:p>
        </p:txBody>
      </p:sp>
      <p:sp>
        <p:nvSpPr>
          <p:cNvPr id="59" name="Rounded Rectangle 58"/>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stopwatch.png"/>
          <p:cNvPicPr>
            <a:picLocks noChangeAspect="1"/>
          </p:cNvPicPr>
          <p:nvPr/>
        </p:nvPicPr>
        <p:blipFill>
          <a:blip r:embed="rId3"/>
          <a:stretch>
            <a:fillRect/>
          </a:stretch>
        </p:blipFill>
        <p:spPr>
          <a:xfrm>
            <a:off x="1333500" y="8448675"/>
            <a:ext cx="481781" cy="533400"/>
          </a:xfrm>
          <a:prstGeom prst="rect">
            <a:avLst/>
          </a:prstGeom>
        </p:spPr>
      </p:pic>
      <p:sp>
        <p:nvSpPr>
          <p:cNvPr id="61" name="TextBox 60"/>
          <p:cNvSpPr txBox="1"/>
          <p:nvPr/>
        </p:nvSpPr>
        <p:spPr>
          <a:xfrm>
            <a:off x="2190750" y="82867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About 9 seconds  </a:t>
            </a:r>
            <a:r>
              <a:rPr sz="2100" b="0" i="0">
                <a:solidFill>
                  <a:srgbClr val="F0E8E8"/>
                </a:solidFill>
                <a:latin typeface="Geist"/>
                <a:ea typeface="Geist"/>
                <a:cs typeface="Geist"/>
              </a:rPr>
              <a:t>in the simulator: room to spare in a 15 second auto.</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routine on the field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ounded Rectangle 140"/>
          <p:cNvSpPr/>
          <p:nvPr/>
        </p:nvSpPr>
        <p:spPr>
          <a:xfrm>
            <a:off x="2428875" y="7278815"/>
            <a:ext cx="609600" cy="609600"/>
          </a:xfrm>
          <a:prstGeom prst="roundRect">
            <a:avLst>
              <a:gd name="adj" fmla="val 15625"/>
            </a:avLst>
          </a:prstGeom>
          <a:noFill/>
          <a:ln w="28575">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2" name="Picture 141" descr="bullseye.png"/>
          <p:cNvPicPr>
            <a:picLocks noChangeAspect="1"/>
          </p:cNvPicPr>
          <p:nvPr/>
        </p:nvPicPr>
        <p:blipFill>
          <a:blip r:embed="rId3"/>
          <a:stretch>
            <a:fillRect/>
          </a:stretch>
        </p:blipFill>
        <p:spPr>
          <a:xfrm>
            <a:off x="4276725" y="5602415"/>
            <a:ext cx="438150" cy="438150"/>
          </a:xfrm>
          <a:prstGeom prst="rect">
            <a:avLst/>
          </a:prstGeom>
        </p:spPr>
      </p:pic>
      <p:cxnSp>
        <p:nvCxnSpPr>
          <p:cNvPr id="143" name="Connector 142"/>
          <p:cNvCxnSpPr/>
          <p:nvPr/>
        </p:nvCxnSpPr>
        <p:spPr>
          <a:xfrm flipH="1">
            <a:off x="4743450" y="4964240"/>
            <a:ext cx="1133475" cy="952500"/>
          </a:xfrm>
          <a:prstGeom prst="line">
            <a:avLst/>
          </a:prstGeom>
          <a:ln w="38100">
            <a:solidFill>
              <a:srgbClr val="CC2200"/>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6176812" y="4449890"/>
            <a:ext cx="81113" cy="495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6096904" y="4454842"/>
            <a:ext cx="79908" cy="147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6019388" y="4469625"/>
            <a:ext cx="77516" cy="243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5945415" y="4494020"/>
            <a:ext cx="73973" cy="33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5876085" y="4527663"/>
            <a:ext cx="69330" cy="423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5812427" y="4570056"/>
            <a:ext cx="63658" cy="505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5755386" y="4620568"/>
            <a:ext cx="57041" cy="578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a:off x="5705811" y="4678450"/>
            <a:ext cx="49575" cy="643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5664438" y="4742840"/>
            <a:ext cx="41373" cy="699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5631880" y="4812784"/>
            <a:ext cx="32558" cy="7445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5608623" y="4887241"/>
            <a:ext cx="23257" cy="778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5595011" y="4965106"/>
            <a:ext cx="13612" cy="801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5571198" y="5021409"/>
            <a:ext cx="47625" cy="128802"/>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7" name="Connector 156"/>
          <p:cNvCxnSpPr/>
          <p:nvPr/>
        </p:nvCxnSpPr>
        <p:spPr>
          <a:xfrm>
            <a:off x="5591246" y="5126398"/>
            <a:ext cx="6139" cy="8103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597385" y="5207430"/>
            <a:ext cx="15952" cy="796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597385" y="5207430"/>
            <a:ext cx="41478" cy="156834"/>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0" name="Picture 159" descr="dozer_top.png"/>
          <p:cNvPicPr>
            <a:picLocks noChangeAspect="1"/>
          </p:cNvPicPr>
          <p:nvPr/>
        </p:nvPicPr>
        <p:blipFill>
          <a:blip r:embed="rId4"/>
          <a:stretch>
            <a:fillRect/>
          </a:stretch>
        </p:blipFill>
        <p:spPr>
          <a:xfrm rot="9491915">
            <a:off x="5857875" y="4748913"/>
            <a:ext cx="800100" cy="735454"/>
          </a:xfrm>
          <a:prstGeom prst="rect">
            <a:avLst/>
          </a:prstGeom>
        </p:spPr>
      </p:pic>
      <p:sp>
        <p:nvSpPr>
          <p:cNvPr id="161" name="Oval 160"/>
          <p:cNvSpPr/>
          <p:nvPr/>
        </p:nvSpPr>
        <p:spPr>
          <a:xfrm>
            <a:off x="3773843" y="66723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773843" y="66723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Oval 162"/>
          <p:cNvSpPr/>
          <p:nvPr/>
        </p:nvSpPr>
        <p:spPr>
          <a:xfrm>
            <a:off x="5648325" y="70121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48325" y="70121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5" name="Oval 164"/>
          <p:cNvSpPr/>
          <p:nvPr/>
        </p:nvSpPr>
        <p:spPr>
          <a:xfrm>
            <a:off x="6196146" y="578333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196146" y="57833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67" name="Oval 166"/>
          <p:cNvSpPr/>
          <p:nvPr/>
        </p:nvSpPr>
        <p:spPr>
          <a:xfrm>
            <a:off x="6734175" y="41641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734175" y="41641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9" name="Oval 168"/>
          <p:cNvSpPr/>
          <p:nvPr/>
        </p:nvSpPr>
        <p:spPr>
          <a:xfrm>
            <a:off x="5186362" y="55643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186362" y="55643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71" name="TextBox 170"/>
          <p:cNvSpPr txBox="1"/>
          <p:nvPr/>
        </p:nvSpPr>
        <p:spPr>
          <a:xfrm>
            <a:off x="1971675" y="7964615"/>
            <a:ext cx="1524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a:t>
            </a:r>
          </a:p>
        </p:txBody>
      </p:sp>
      <p:sp>
        <p:nvSpPr>
          <p:cNvPr id="172" name="TextBox 171"/>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sp>
        <p:nvSpPr>
          <p:cNvPr id="173" name="Oval 172"/>
          <p:cNvSpPr/>
          <p:nvPr/>
        </p:nvSpPr>
        <p:spPr>
          <a:xfrm>
            <a:off x="8763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76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5" name="TextBox 174"/>
          <p:cNvSpPr txBox="1"/>
          <p:nvPr/>
        </p:nvSpPr>
        <p:spPr>
          <a:xfrm>
            <a:off x="9372600" y="28194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ToPickup</a:t>
            </a:r>
          </a:p>
        </p:txBody>
      </p:sp>
      <p:sp>
        <p:nvSpPr>
          <p:cNvPr id="176" name="TextBox 175"/>
          <p:cNvSpPr txBox="1"/>
          <p:nvPr/>
        </p:nvSpPr>
        <p:spPr>
          <a:xfrm>
            <a:off x="9372600" y="32385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Start to the game piece</a:t>
            </a:r>
          </a:p>
        </p:txBody>
      </p:sp>
      <p:sp>
        <p:nvSpPr>
          <p:cNvPr id="177" name="Oval 176"/>
          <p:cNvSpPr/>
          <p:nvPr/>
        </p:nvSpPr>
        <p:spPr>
          <a:xfrm>
            <a:off x="8763000" y="4038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76300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9" name="TextBox 178"/>
          <p:cNvSpPr txBox="1"/>
          <p:nvPr/>
        </p:nvSpPr>
        <p:spPr>
          <a:xfrm>
            <a:off x="9372600" y="40005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Wait on Pickup</a:t>
            </a:r>
          </a:p>
        </p:txBody>
      </p:sp>
      <p:sp>
        <p:nvSpPr>
          <p:cNvPr id="180" name="TextBox 179"/>
          <p:cNvSpPr txBox="1"/>
          <p:nvPr/>
        </p:nvSpPr>
        <p:spPr>
          <a:xfrm>
            <a:off x="9372600" y="44196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Half a second to pick it up</a:t>
            </a:r>
          </a:p>
        </p:txBody>
      </p:sp>
      <p:sp>
        <p:nvSpPr>
          <p:cNvPr id="181" name="Oval 180"/>
          <p:cNvSpPr/>
          <p:nvPr/>
        </p:nvSpPr>
        <p:spPr>
          <a:xfrm>
            <a:off x="8763000"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76300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3" name="TextBox 182"/>
          <p:cNvSpPr txBox="1"/>
          <p:nvPr/>
        </p:nvSpPr>
        <p:spPr>
          <a:xfrm>
            <a:off x="9372600" y="51816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ToScore</a:t>
            </a:r>
          </a:p>
        </p:txBody>
      </p:sp>
      <p:sp>
        <p:nvSpPr>
          <p:cNvPr id="184" name="TextBox 183"/>
          <p:cNvSpPr txBox="1"/>
          <p:nvPr/>
        </p:nvSpPr>
        <p:spPr>
          <a:xfrm>
            <a:off x="9372600" y="56007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Arrives facing up the field</a:t>
            </a:r>
          </a:p>
        </p:txBody>
      </p:sp>
      <p:sp>
        <p:nvSpPr>
          <p:cNvPr id="185" name="Oval 184"/>
          <p:cNvSpPr/>
          <p:nvPr/>
        </p:nvSpPr>
        <p:spPr>
          <a:xfrm>
            <a:off x="8763000" y="64008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76300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87" name="TextBox 186"/>
          <p:cNvSpPr txBox="1"/>
          <p:nvPr/>
        </p:nvSpPr>
        <p:spPr>
          <a:xfrm>
            <a:off x="9372600" y="63627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Aim</a:t>
            </a:r>
          </a:p>
        </p:txBody>
      </p:sp>
      <p:sp>
        <p:nvSpPr>
          <p:cNvPr id="188" name="TextBox 187"/>
          <p:cNvSpPr txBox="1"/>
          <p:nvPr/>
        </p:nvSpPr>
        <p:spPr>
          <a:xfrm>
            <a:off x="9372600" y="67818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Turns about 110° left to face the goal</a:t>
            </a:r>
          </a:p>
        </p:txBody>
      </p:sp>
      <p:sp>
        <p:nvSpPr>
          <p:cNvPr id="189" name="Oval 188"/>
          <p:cNvSpPr/>
          <p:nvPr/>
        </p:nvSpPr>
        <p:spPr>
          <a:xfrm>
            <a:off x="8763000" y="75819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76300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91" name="TextBox 190"/>
          <p:cNvSpPr txBox="1"/>
          <p:nvPr/>
        </p:nvSpPr>
        <p:spPr>
          <a:xfrm>
            <a:off x="9372600" y="75438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Shoot</a:t>
            </a:r>
          </a:p>
        </p:txBody>
      </p:sp>
      <p:sp>
        <p:nvSpPr>
          <p:cNvPr id="192" name="TextBox 191"/>
          <p:cNvSpPr txBox="1"/>
          <p:nvPr/>
        </p:nvSpPr>
        <p:spPr>
          <a:xfrm>
            <a:off x="9372600" y="79629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Only once it's aimed</a:t>
            </a:r>
          </a:p>
        </p:txBody>
      </p:sp>
      <p:sp>
        <p:nvSpPr>
          <p:cNvPr id="193" name="TextBox 19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4" name="TextBox 19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Inside followPath: the same pieces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DrivetrainCommands.java  (trimmed)</a:t>
            </a:r>
          </a:p>
        </p:txBody>
      </p:sp>
      <p:sp>
        <p:nvSpPr>
          <p:cNvPr id="6" name="Rounded Rectangle 5"/>
          <p:cNvSpPr/>
          <p:nvPr/>
        </p:nvSpPr>
        <p:spPr>
          <a:xfrm>
            <a:off x="914400" y="3143250"/>
            <a:ext cx="10572750" cy="4212431"/>
          </a:xfrm>
          <a:prstGeom prst="roundRect">
            <a:avLst>
              <a:gd name="adj" fmla="val 361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0039350" cy="383381"/>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Commands.sequence(</a:t>
            </a:r>
          </a:p>
        </p:txBody>
      </p:sp>
      <p:sp>
        <p:nvSpPr>
          <p:cNvPr id="8" name="TextBox 7"/>
          <p:cNvSpPr txBox="1"/>
          <p:nvPr/>
        </p:nvSpPr>
        <p:spPr>
          <a:xfrm>
            <a:off x="1295400" y="3907631"/>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1">
                <a:solidFill>
                  <a:srgbClr val="9A7878"/>
                </a:solidFill>
                <a:latin typeface="Geist Mono"/>
                <a:ea typeface="Geist Mono"/>
                <a:cs typeface="Geist Mono"/>
              </a:rPr>
              <a:t>// 1. Pick the path.</a:t>
            </a:r>
          </a:p>
        </p:txBody>
      </p:sp>
      <p:sp>
        <p:nvSpPr>
          <p:cNvPr id="9" name="TextBox 8"/>
          <p:cNvSpPr txBox="1"/>
          <p:nvPr/>
        </p:nvSpPr>
        <p:spPr>
          <a:xfrm>
            <a:off x="1295400" y="4291012"/>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drive.setDesiredChoreoTrajectoryCommand(trajectory),</a:t>
            </a:r>
          </a:p>
        </p:txBody>
      </p:sp>
      <p:sp>
        <p:nvSpPr>
          <p:cNvPr id="10" name="TextBox 9"/>
          <p:cNvSpPr txBox="1"/>
          <p:nvPr/>
        </p:nvSpPr>
        <p:spPr>
          <a:xfrm>
            <a:off x="1295400" y="4674394"/>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1">
                <a:solidFill>
                  <a:srgbClr val="9A7878"/>
                </a:solidFill>
                <a:latin typeface="Geist Mono"/>
                <a:ea typeface="Geist Mono"/>
                <a:cs typeface="Geist Mono"/>
              </a:rPr>
              <a:t>// 2. Follow it until the robot has arrived.</a:t>
            </a:r>
          </a:p>
        </p:txBody>
      </p:sp>
      <p:sp>
        <p:nvSpPr>
          <p:cNvPr id="11" name="TextBox 10"/>
          <p:cNvSpPr txBox="1"/>
          <p:nvPr/>
        </p:nvSpPr>
        <p:spPr>
          <a:xfrm>
            <a:off x="1295400" y="5057775"/>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Commands.startEnd(</a:t>
            </a:r>
          </a:p>
        </p:txBody>
      </p:sp>
      <p:sp>
        <p:nvSpPr>
          <p:cNvPr id="12" name="TextBox 11"/>
          <p:cNvSpPr txBox="1"/>
          <p:nvPr/>
        </p:nvSpPr>
        <p:spPr>
          <a:xfrm>
            <a:off x="1295400" y="5441156"/>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-&gt; drive.setWantedState(DriveStates.CHOREO_PATH),</a:t>
            </a:r>
          </a:p>
        </p:txBody>
      </p:sp>
      <p:sp>
        <p:nvSpPr>
          <p:cNvPr id="13" name="TextBox 12"/>
          <p:cNvSpPr txBox="1"/>
          <p:nvPr/>
        </p:nvSpPr>
        <p:spPr>
          <a:xfrm>
            <a:off x="1295400" y="5824538"/>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-&gt; { /* stop the motors */ })</a:t>
            </a:r>
          </a:p>
        </p:txBody>
      </p:sp>
      <p:sp>
        <p:nvSpPr>
          <p:cNvPr id="14" name="TextBox 13"/>
          <p:cNvSpPr txBox="1"/>
          <p:nvPr/>
        </p:nvSpPr>
        <p:spPr>
          <a:xfrm>
            <a:off x="1295400" y="6207919"/>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.until(drive::isAtChoreoSetpoint)</a:t>
            </a:r>
          </a:p>
        </p:txBody>
      </p:sp>
      <p:sp>
        <p:nvSpPr>
          <p:cNvPr id="15" name="TextBox 14"/>
          <p:cNvSpPr txBox="1"/>
          <p:nvPr/>
        </p:nvSpPr>
        <p:spPr>
          <a:xfrm>
            <a:off x="1295400" y="6591300"/>
            <a:ext cx="10039350" cy="383381"/>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.withTimeout(</a:t>
            </a:r>
            <a:r>
              <a:rPr sz="1725" b="0" i="0">
                <a:solidFill>
                  <a:srgbClr val="E8C27A"/>
                </a:solidFill>
                <a:latin typeface="Geist Mono"/>
                <a:ea typeface="Geist Mono"/>
                <a:cs typeface="Geist Mono"/>
              </a:rPr>
              <a:t>10.0</a:t>
            </a:r>
            <a:r>
              <a:rPr sz="1725" b="0" i="0">
                <a:solidFill>
                  <a:srgbClr val="F0E8E8"/>
                </a:solidFill>
                <a:latin typeface="Geist Mono"/>
                <a:ea typeface="Geist Mono"/>
                <a:cs typeface="Geist Mono"/>
              </a:rPr>
              <a:t>));</a:t>
            </a:r>
          </a:p>
        </p:txBody>
      </p:sp>
      <p:sp>
        <p:nvSpPr>
          <p:cNvPr id="16" name="Oval 15"/>
          <p:cNvSpPr/>
          <p:nvPr/>
        </p:nvSpPr>
        <p:spPr>
          <a:xfrm>
            <a:off x="10877550" y="352544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77550" y="352544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0877550" y="429220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7550" y="429220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0877550" y="505896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77550" y="505896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10877550" y="620910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77550" y="620910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4" name="Oval 23"/>
          <p:cNvSpPr/>
          <p:nvPr/>
        </p:nvSpPr>
        <p:spPr>
          <a:xfrm>
            <a:off x="10877550" y="659249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77550" y="659249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6" name="Oval 25"/>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sequence</a:t>
            </a:r>
          </a:p>
        </p:txBody>
      </p:sp>
      <p:sp>
        <p:nvSpPr>
          <p:cNvPr id="29" name="TextBox 28"/>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steps, in order</a:t>
            </a:r>
          </a:p>
        </p:txBody>
      </p:sp>
      <p:sp>
        <p:nvSpPr>
          <p:cNvPr id="30" name="Oval 29"/>
          <p:cNvSpPr/>
          <p:nvPr/>
        </p:nvSpPr>
        <p:spPr>
          <a:xfrm>
            <a:off x="11906250" y="4038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90625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515850" y="40005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 the path</a:t>
            </a:r>
          </a:p>
        </p:txBody>
      </p:sp>
      <p:sp>
        <p:nvSpPr>
          <p:cNvPr id="33" name="TextBox 32"/>
          <p:cNvSpPr txBox="1"/>
          <p:nvPr/>
        </p:nvSpPr>
        <p:spPr>
          <a:xfrm>
            <a:off x="12515850" y="44196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Restarts the path's clock at zero</a:t>
            </a:r>
          </a:p>
        </p:txBody>
      </p:sp>
      <p:sp>
        <p:nvSpPr>
          <p:cNvPr id="34" name="Oval 33"/>
          <p:cNvSpPr/>
          <p:nvPr/>
        </p:nvSpPr>
        <p:spPr>
          <a:xfrm>
            <a:off x="11906250"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90625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515850" y="51816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startEnd</a:t>
            </a:r>
          </a:p>
        </p:txBody>
      </p:sp>
      <p:sp>
        <p:nvSpPr>
          <p:cNvPr id="37" name="TextBox 36"/>
          <p:cNvSpPr txBox="1"/>
          <p:nvPr/>
        </p:nvSpPr>
        <p:spPr>
          <a:xfrm>
            <a:off x="12515850" y="56007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Follow the path, then stop the motors</a:t>
            </a:r>
          </a:p>
        </p:txBody>
      </p:sp>
      <p:sp>
        <p:nvSpPr>
          <p:cNvPr id="38" name="Oval 37"/>
          <p:cNvSpPr/>
          <p:nvPr/>
        </p:nvSpPr>
        <p:spPr>
          <a:xfrm>
            <a:off x="11906250" y="64008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90625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0" name="TextBox 39"/>
          <p:cNvSpPr txBox="1"/>
          <p:nvPr/>
        </p:nvSpPr>
        <p:spPr>
          <a:xfrm>
            <a:off x="12515850" y="63627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until</a:t>
            </a:r>
          </a:p>
        </p:txBody>
      </p:sp>
      <p:sp>
        <p:nvSpPr>
          <p:cNvPr id="41" name="TextBox 40"/>
          <p:cNvSpPr txBox="1"/>
          <p:nvPr/>
        </p:nvSpPr>
        <p:spPr>
          <a:xfrm>
            <a:off x="12515850" y="67818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Ends when the robot has arrived</a:t>
            </a:r>
          </a:p>
        </p:txBody>
      </p:sp>
      <p:sp>
        <p:nvSpPr>
          <p:cNvPr id="42" name="Oval 41"/>
          <p:cNvSpPr/>
          <p:nvPr/>
        </p:nvSpPr>
        <p:spPr>
          <a:xfrm>
            <a:off x="11906250" y="75819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90625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44" name="TextBox 43"/>
          <p:cNvSpPr txBox="1"/>
          <p:nvPr/>
        </p:nvSpPr>
        <p:spPr>
          <a:xfrm>
            <a:off x="12515850" y="75438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withTimeout</a:t>
            </a:r>
          </a:p>
        </p:txBody>
      </p:sp>
      <p:sp>
        <p:nvSpPr>
          <p:cNvPr id="45" name="TextBox 44"/>
          <p:cNvSpPr txBox="1"/>
          <p:nvPr/>
        </p:nvSpPr>
        <p:spPr>
          <a:xfrm>
            <a:off x="12515850" y="79629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Gives up after 10 s if stuck</a:t>
            </a:r>
          </a:p>
        </p:txBody>
      </p:sp>
      <p:sp>
        <p:nvSpPr>
          <p:cNvPr id="46" name="TextBox 45"/>
          <p:cNvSpPr txBox="1"/>
          <p:nvPr/>
        </p:nvSpPr>
        <p:spPr>
          <a:xfrm>
            <a:off x="914400" y="8286750"/>
            <a:ext cx="1057275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competition robot's swerve autos use this same shape.</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Picking the routine before the match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6" name="Rounded Rectangle 5"/>
          <p:cNvSpPr/>
          <p:nvPr/>
        </p:nvSpPr>
        <p:spPr>
          <a:xfrm>
            <a:off x="914400" y="3238500"/>
            <a:ext cx="11239500" cy="1813560"/>
          </a:xfrm>
          <a:prstGeom prst="roundRect">
            <a:avLst>
              <a:gd name="adj" fmla="val 84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19500"/>
            <a:ext cx="10706100" cy="350520"/>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auto_chooser_.setDefaultOption(</a:t>
            </a:r>
            <a:r>
              <a:rPr sz="1725" b="0" i="0">
                <a:solidFill>
                  <a:srgbClr val="9FD29A"/>
                </a:solidFill>
                <a:latin typeface="Geist Mono"/>
                <a:ea typeface="Geist Mono"/>
                <a:cs typeface="Geist Mono"/>
              </a:rPr>
              <a:t>"Do Nothing"</a:t>
            </a:r>
            <a:r>
              <a:rPr sz="1725" b="0" i="0">
                <a:solidFill>
                  <a:srgbClr val="F0E8E8"/>
                </a:solidFill>
                <a:latin typeface="Geist Mono"/>
                <a:ea typeface="Geist Mono"/>
                <a:cs typeface="Geist Mono"/>
              </a:rPr>
              <a:t>, Commands.none());</a:t>
            </a:r>
          </a:p>
        </p:txBody>
      </p:sp>
      <p:sp>
        <p:nvSpPr>
          <p:cNvPr id="8" name="TextBox 7"/>
          <p:cNvSpPr txBox="1"/>
          <p:nvPr/>
        </p:nvSpPr>
        <p:spPr>
          <a:xfrm>
            <a:off x="1295400" y="3970020"/>
            <a:ext cx="10706100" cy="350520"/>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auto_chooser_.addOption(</a:t>
            </a:r>
            <a:r>
              <a:rPr sz="1725" b="0" i="0">
                <a:solidFill>
                  <a:srgbClr val="9FD29A"/>
                </a:solidFill>
                <a:latin typeface="Geist Mono"/>
                <a:ea typeface="Geist Mono"/>
                <a:cs typeface="Geist Mono"/>
              </a:rPr>
              <a:t>"Pickup And Score"</a:t>
            </a:r>
            <a:r>
              <a:rPr sz="1725" b="0" i="0">
                <a:solidFill>
                  <a:srgbClr val="F0E8E8"/>
                </a:solidFill>
                <a:latin typeface="Geist Mono"/>
                <a:ea typeface="Geist Mono"/>
                <a:cs typeface="Geist Mono"/>
              </a:rPr>
              <a:t>, Autos.pickupAndScore());</a:t>
            </a:r>
          </a:p>
        </p:txBody>
      </p:sp>
      <p:sp>
        <p:nvSpPr>
          <p:cNvPr id="9" name="TextBox 8"/>
          <p:cNvSpPr txBox="1"/>
          <p:nvPr/>
        </p:nvSpPr>
        <p:spPr>
          <a:xfrm>
            <a:off x="1295400" y="4320540"/>
            <a:ext cx="10706100" cy="350520"/>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SmartDashboard.putData(</a:t>
            </a:r>
            <a:r>
              <a:rPr sz="1725" b="0" i="0">
                <a:solidFill>
                  <a:srgbClr val="9FD29A"/>
                </a:solidFill>
                <a:latin typeface="Geist Mono"/>
                <a:ea typeface="Geist Mono"/>
                <a:cs typeface="Geist Mono"/>
              </a:rPr>
              <a:t>"Auto Choices"</a:t>
            </a:r>
            <a:r>
              <a:rPr sz="1725" b="0" i="0">
                <a:solidFill>
                  <a:srgbClr val="F0E8E8"/>
                </a:solidFill>
                <a:latin typeface="Geist Mono"/>
                <a:ea typeface="Geist Mono"/>
                <a:cs typeface="Geist Mono"/>
              </a:rPr>
              <a:t>, auto_chooser_);</a:t>
            </a:r>
          </a:p>
        </p:txBody>
      </p:sp>
      <p:sp>
        <p:nvSpPr>
          <p:cNvPr id="10" name="Rounded Rectangle 9"/>
          <p:cNvSpPr/>
          <p:nvPr/>
        </p:nvSpPr>
        <p:spPr>
          <a:xfrm>
            <a:off x="12763500" y="2857500"/>
            <a:ext cx="46101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106400" y="3067050"/>
            <a:ext cx="3810000" cy="32385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Auto Choices</a:t>
            </a:r>
          </a:p>
        </p:txBody>
      </p:sp>
      <p:sp>
        <p:nvSpPr>
          <p:cNvPr id="12" name="Rounded Rectangle 11"/>
          <p:cNvSpPr/>
          <p:nvPr/>
        </p:nvSpPr>
        <p:spPr>
          <a:xfrm>
            <a:off x="13106400" y="3524250"/>
            <a:ext cx="3924300" cy="571500"/>
          </a:xfrm>
          <a:prstGeom prst="roundRect">
            <a:avLst>
              <a:gd name="adj" fmla="val 16666"/>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0" y="3524250"/>
            <a:ext cx="3143250" cy="5715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Pickup And Score</a:t>
            </a:r>
          </a:p>
        </p:txBody>
      </p:sp>
      <p:sp>
        <p:nvSpPr>
          <p:cNvPr id="14" name="TextBox 13"/>
          <p:cNvSpPr txBox="1"/>
          <p:nvPr/>
        </p:nvSpPr>
        <p:spPr>
          <a:xfrm>
            <a:off x="16573500" y="3524250"/>
            <a:ext cx="381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a:t>
            </a:r>
          </a:p>
        </p:txBody>
      </p:sp>
      <p:sp>
        <p:nvSpPr>
          <p:cNvPr id="15" name="Rounded Rectangle 14"/>
          <p:cNvSpPr/>
          <p:nvPr/>
        </p:nvSpPr>
        <p:spPr>
          <a:xfrm>
            <a:off x="13106400" y="4229100"/>
            <a:ext cx="3924300" cy="533400"/>
          </a:xfrm>
          <a:prstGeom prst="roundRect">
            <a:avLst>
              <a:gd name="adj" fmla="val 14285"/>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335000" y="4229100"/>
            <a:ext cx="3619500" cy="5334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Do Nothing</a:t>
            </a:r>
          </a:p>
        </p:txBody>
      </p:sp>
      <p:sp>
        <p:nvSpPr>
          <p:cNvPr id="17" name="Rounded Rectangle 16"/>
          <p:cNvSpPr/>
          <p:nvPr/>
        </p:nvSpPr>
        <p:spPr>
          <a:xfrm>
            <a:off x="13106400" y="4838700"/>
            <a:ext cx="3924300" cy="533400"/>
          </a:xfrm>
          <a:prstGeom prst="roundRect">
            <a:avLst>
              <a:gd name="adj" fmla="val 1428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0" y="4838700"/>
            <a:ext cx="3619500" cy="533400"/>
          </a:xfrm>
          <a:prstGeom prst="rect">
            <a:avLst/>
          </a:prstGeom>
          <a:noFill/>
        </p:spPr>
        <p:txBody>
          <a:bodyPr wrap="square" lIns="0" rIns="0" tIns="0" bIns="0" anchor="ctr">
            <a:spAutoFit/>
          </a:bodyPr>
          <a:lstStyle/>
          <a:p>
            <a:pPr algn="l"/>
            <a:r>
              <a:rPr sz="1650" b="0" i="0">
                <a:solidFill>
                  <a:srgbClr val="F0E8E8"/>
                </a:solidFill>
                <a:latin typeface="Geist"/>
                <a:ea typeface="Geist"/>
                <a:cs typeface="Geist"/>
              </a:rPr>
              <a:t>Pickup And Score</a:t>
            </a:r>
          </a:p>
        </p:txBody>
      </p:sp>
      <p:sp>
        <p:nvSpPr>
          <p:cNvPr id="19" name="TextBox 18"/>
          <p:cNvSpPr txBox="1"/>
          <p:nvPr/>
        </p:nvSpPr>
        <p:spPr>
          <a:xfrm>
            <a:off x="12763500" y="5810250"/>
            <a:ext cx="46101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Elastic: ComboBox Chooser</a:t>
            </a:r>
          </a:p>
        </p:txBody>
      </p:sp>
      <p:sp>
        <p:nvSpPr>
          <p:cNvPr id="20" name="TextBox 19"/>
          <p:cNvSpPr txBox="1"/>
          <p:nvPr/>
        </p:nvSpPr>
        <p:spPr>
          <a:xfrm>
            <a:off x="914400" y="638175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WHEN AUTO IS ENABLED: AUTONOMOUSINIT()</a:t>
            </a:r>
          </a:p>
        </p:txBody>
      </p:sp>
      <p:sp>
        <p:nvSpPr>
          <p:cNvPr id="21" name="Rounded Rectangle 20"/>
          <p:cNvSpPr/>
          <p:nvPr/>
        </p:nvSpPr>
        <p:spPr>
          <a:xfrm>
            <a:off x="914400" y="68199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9650" y="72009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23" name="TextBox 22"/>
          <p:cNvSpPr txBox="1"/>
          <p:nvPr/>
        </p:nvSpPr>
        <p:spPr>
          <a:xfrm>
            <a:off x="1066800" y="77914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chosen routine</a:t>
            </a:r>
          </a:p>
        </p:txBody>
      </p:sp>
      <p:sp>
        <p:nvSpPr>
          <p:cNvPr id="24" name="Rectangle 23"/>
          <p:cNvSpPr/>
          <p:nvPr/>
        </p:nvSpPr>
        <p:spPr>
          <a:xfrm>
            <a:off x="4662488" y="76628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4943475" y="76009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72075" y="68199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67325" y="72009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Load</a:t>
            </a:r>
          </a:p>
        </p:txBody>
      </p:sp>
      <p:sp>
        <p:nvSpPr>
          <p:cNvPr id="28" name="TextBox 27"/>
          <p:cNvSpPr txBox="1"/>
          <p:nvPr/>
        </p:nvSpPr>
        <p:spPr>
          <a:xfrm>
            <a:off x="5324475" y="77914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Its paths, by name</a:t>
            </a:r>
          </a:p>
        </p:txBody>
      </p:sp>
      <p:sp>
        <p:nvSpPr>
          <p:cNvPr id="29" name="Rectangle 28"/>
          <p:cNvSpPr/>
          <p:nvPr/>
        </p:nvSpPr>
        <p:spPr>
          <a:xfrm>
            <a:off x="8920162" y="76628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9201150" y="76009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429750" y="68199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525000" y="72009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Reset</a:t>
            </a:r>
          </a:p>
        </p:txBody>
      </p:sp>
      <p:sp>
        <p:nvSpPr>
          <p:cNvPr id="33" name="TextBox 32"/>
          <p:cNvSpPr txBox="1"/>
          <p:nvPr/>
        </p:nvSpPr>
        <p:spPr>
          <a:xfrm>
            <a:off x="9582150" y="77914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Pose = first path's start</a:t>
            </a:r>
          </a:p>
        </p:txBody>
      </p:sp>
      <p:sp>
        <p:nvSpPr>
          <p:cNvPr id="34" name="Rectangle 33"/>
          <p:cNvSpPr/>
          <p:nvPr/>
        </p:nvSpPr>
        <p:spPr>
          <a:xfrm>
            <a:off x="13177838" y="76628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3458825" y="76009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3687425" y="6819900"/>
            <a:ext cx="3686175"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782675" y="72009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Schedule</a:t>
            </a:r>
          </a:p>
        </p:txBody>
      </p:sp>
      <p:sp>
        <p:nvSpPr>
          <p:cNvPr id="38" name="TextBox 37"/>
          <p:cNvSpPr txBox="1"/>
          <p:nvPr/>
        </p:nvSpPr>
        <p:spPr>
          <a:xfrm>
            <a:off x="13839825" y="77914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WPILib runs it</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ROUTINE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the competition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8191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1619250" y="8001000"/>
            <a:ext cx="210630" cy="620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829880" y="7997761"/>
            <a:ext cx="203541" cy="944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033421" y="7973461"/>
            <a:ext cx="196861" cy="243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230282" y="7935087"/>
            <a:ext cx="190592" cy="3837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420874" y="7883426"/>
            <a:ext cx="184734" cy="5166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05608" y="7819263"/>
            <a:ext cx="179288" cy="6416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784896" y="7743384"/>
            <a:ext cx="174251" cy="758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959147" y="7656576"/>
            <a:ext cx="169625" cy="8680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128772" y="7559623"/>
            <a:ext cx="165411" cy="9695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294183" y="7453312"/>
            <a:ext cx="161606" cy="10631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455789" y="7338429"/>
            <a:ext cx="158213" cy="1148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14002" y="7215759"/>
            <a:ext cx="155231" cy="12267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769233" y="7086088"/>
            <a:ext cx="152659" cy="1296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921892" y="6950202"/>
            <a:ext cx="150498" cy="1358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072390" y="6808887"/>
            <a:ext cx="148748" cy="141315"/>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221138" y="6662928"/>
            <a:ext cx="147408" cy="14595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368546" y="6513112"/>
            <a:ext cx="146480" cy="14981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515026" y="6360224"/>
            <a:ext cx="145961" cy="15288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660987" y="6205049"/>
            <a:ext cx="145855" cy="155175"/>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06842" y="6048375"/>
            <a:ext cx="146158" cy="15667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953000" y="5890986"/>
            <a:ext cx="146873" cy="1573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099873" y="5733669"/>
            <a:ext cx="147997" cy="15731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247870" y="5577209"/>
            <a:ext cx="149534" cy="15646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97404" y="5422392"/>
            <a:ext cx="151480" cy="15481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48884" y="5270004"/>
            <a:ext cx="153838" cy="15238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702722" y="5120830"/>
            <a:ext cx="156606" cy="14917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9328" y="4975658"/>
            <a:ext cx="159784" cy="1451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19112" y="4835271"/>
            <a:ext cx="163375" cy="1403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82487" y="4700457"/>
            <a:ext cx="167375" cy="13481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49862" y="4572000"/>
            <a:ext cx="171786" cy="12845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21648" y="4450687"/>
            <a:ext cx="176609" cy="12131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698257" y="4337304"/>
            <a:ext cx="181841" cy="1133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880098" y="4232636"/>
            <a:ext cx="187485" cy="1046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67583" y="4137470"/>
            <a:ext cx="193539" cy="951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1122" y="4052590"/>
            <a:ext cx="200004" cy="8488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61126" y="3978783"/>
            <a:ext cx="206880" cy="738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68006" y="3916835"/>
            <a:ext cx="214167" cy="6194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882173" y="3867531"/>
            <a:ext cx="221864" cy="4930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104037" y="3831657"/>
            <a:ext cx="229972" cy="35874"/>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334009" y="3810000"/>
            <a:ext cx="238491" cy="2165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pic>
        <p:nvPicPr>
          <p:cNvPr id="46" name="Picture 45" descr="dozer_top.png"/>
          <p:cNvPicPr>
            <a:picLocks noChangeAspect="1"/>
          </p:cNvPicPr>
          <p:nvPr/>
        </p:nvPicPr>
        <p:blipFill>
          <a:blip r:embed="rId3"/>
          <a:stretch>
            <a:fillRect/>
          </a:stretch>
        </p:blipFill>
        <p:spPr>
          <a:xfrm>
            <a:off x="1190625" y="7424203"/>
            <a:ext cx="1047750" cy="963094"/>
          </a:xfrm>
          <a:prstGeom prst="rect">
            <a:avLst/>
          </a:prstGeom>
        </p:spPr>
      </p:pic>
      <p:sp>
        <p:nvSpPr>
          <p:cNvPr id="47" name="Oval 46"/>
          <p:cNvSpPr/>
          <p:nvPr/>
        </p:nvSpPr>
        <p:spPr>
          <a:xfrm>
            <a:off x="3958090" y="6835902"/>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058102" y="5888164"/>
            <a:ext cx="28575" cy="9620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4072390" y="5902452"/>
            <a:ext cx="1809750" cy="476250"/>
          </a:xfrm>
          <a:prstGeom prst="roundRect">
            <a:avLst>
              <a:gd name="adj" fmla="val 12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4205740" y="5902452"/>
            <a:ext cx="1676400" cy="476250"/>
          </a:xfrm>
          <a:prstGeom prst="rect">
            <a:avLst/>
          </a:prstGeom>
          <a:noFill/>
        </p:spPr>
        <p:txBody>
          <a:bodyPr wrap="square" lIns="0" rIns="0" tIns="0" bIns="0" anchor="ctr">
            <a:spAutoFit/>
          </a:bodyPr>
          <a:lstStyle/>
          <a:p>
            <a:pPr algn="l"/>
            <a:r>
              <a:rPr sz="1650" b="1" i="0">
                <a:solidFill>
                  <a:srgbClr val="FFFFFF"/>
                </a:solidFill>
                <a:latin typeface="Geist"/>
                <a:ea typeface="Geist"/>
                <a:cs typeface="Geist"/>
              </a:rPr>
              <a:t>Intake Out</a:t>
            </a:r>
          </a:p>
        </p:txBody>
      </p:sp>
      <p:sp>
        <p:nvSpPr>
          <p:cNvPr id="51" name="Oval 50"/>
          <p:cNvSpPr/>
          <p:nvPr/>
        </p:nvSpPr>
        <p:spPr>
          <a:xfrm>
            <a:off x="6407348" y="4457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07361" y="3509962"/>
            <a:ext cx="28575" cy="9620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5092898" y="3524250"/>
            <a:ext cx="1428750" cy="476250"/>
          </a:xfrm>
          <a:prstGeom prst="roundRect">
            <a:avLst>
              <a:gd name="adj" fmla="val 12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226248" y="3524250"/>
            <a:ext cx="1676400" cy="476250"/>
          </a:xfrm>
          <a:prstGeom prst="rect">
            <a:avLst/>
          </a:prstGeom>
          <a:noFill/>
        </p:spPr>
        <p:txBody>
          <a:bodyPr wrap="square" lIns="0" rIns="0" tIns="0" bIns="0" anchor="ctr">
            <a:spAutoFit/>
          </a:bodyPr>
          <a:lstStyle/>
          <a:p>
            <a:pPr algn="l"/>
            <a:r>
              <a:rPr sz="1650" b="1" i="0">
                <a:solidFill>
                  <a:srgbClr val="FFFFFF"/>
                </a:solidFill>
                <a:latin typeface="Geist"/>
                <a:ea typeface="Geist"/>
                <a:cs typeface="Geist"/>
              </a:rPr>
              <a:t>Shoot</a:t>
            </a:r>
          </a:p>
        </p:txBody>
      </p:sp>
      <p:sp>
        <p:nvSpPr>
          <p:cNvPr id="55" name="TextBox 54"/>
          <p:cNvSpPr txBox="1"/>
          <p:nvPr/>
        </p:nvSpPr>
        <p:spPr>
          <a:xfrm>
            <a:off x="1295400" y="3048000"/>
            <a:ext cx="6667500" cy="32385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Event markers: actions partway along a path</a:t>
            </a:r>
          </a:p>
        </p:txBody>
      </p:sp>
      <p:sp>
        <p:nvSpPr>
          <p:cNvPr id="56" name="Rounded Rectangle 55"/>
          <p:cNvSpPr/>
          <p:nvPr/>
        </p:nvSpPr>
        <p:spPr>
          <a:xfrm>
            <a:off x="9525000" y="2857500"/>
            <a:ext cx="7848600" cy="1847850"/>
          </a:xfrm>
          <a:prstGeom prst="roundRect">
            <a:avLst>
              <a:gd name="adj" fmla="val 824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906000" y="3086100"/>
            <a:ext cx="7048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Swerve, same shape</a:t>
            </a:r>
          </a:p>
        </p:txBody>
      </p:sp>
      <p:sp>
        <p:nvSpPr>
          <p:cNvPr id="58" name="TextBox 57"/>
          <p:cNvSpPr txBox="1"/>
          <p:nvPr/>
        </p:nvSpPr>
        <p:spPr>
          <a:xfrm>
            <a:off x="9906000" y="3600450"/>
            <a:ext cx="70866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the path, switch to CHOREO_PATH, wait until isAtChoreoSetpoint.</a:t>
            </a:r>
          </a:p>
        </p:txBody>
      </p:sp>
      <p:sp>
        <p:nvSpPr>
          <p:cNvPr id="59" name="Rounded Rectangle 58"/>
          <p:cNvSpPr/>
          <p:nvPr/>
        </p:nvSpPr>
        <p:spPr>
          <a:xfrm>
            <a:off x="9525000" y="4895850"/>
            <a:ext cx="7848600" cy="1847850"/>
          </a:xfrm>
          <a:prstGeom prst="roundRect">
            <a:avLst>
              <a:gd name="adj" fmla="val 824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906000" y="5124450"/>
            <a:ext cx="7048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Event markers</a:t>
            </a:r>
          </a:p>
        </p:txBody>
      </p:sp>
      <p:sp>
        <p:nvSpPr>
          <p:cNvPr id="61" name="TextBox 60"/>
          <p:cNvSpPr txBox="1"/>
          <p:nvPr/>
        </p:nvSpPr>
        <p:spPr>
          <a:xfrm>
            <a:off x="9906000" y="5638800"/>
            <a:ext cx="70866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getChoreoEventTimeTrigger("Shoot").onTrue(...) runs an action as the path passes the marker.</a:t>
            </a:r>
          </a:p>
        </p:txBody>
      </p:sp>
      <p:sp>
        <p:nvSpPr>
          <p:cNvPr id="62" name="Rounded Rectangle 61"/>
          <p:cNvSpPr/>
          <p:nvPr/>
        </p:nvSpPr>
        <p:spPr>
          <a:xfrm>
            <a:off x="9525000" y="6934200"/>
            <a:ext cx="7848600" cy="1847850"/>
          </a:xfrm>
          <a:prstGeom prst="roundRect">
            <a:avLst>
              <a:gd name="adj" fmla="val 824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906000" y="7162800"/>
            <a:ext cx="7048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Drawn for blue</a:t>
            </a:r>
          </a:p>
        </p:txBody>
      </p:sp>
      <p:sp>
        <p:nvSpPr>
          <p:cNvPr id="64" name="TextBox 63"/>
          <p:cNvSpPr txBox="1"/>
          <p:nvPr/>
        </p:nvSpPr>
        <p:spPr>
          <a:xfrm>
            <a:off x="9906000" y="7677150"/>
            <a:ext cx="70866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Paths are drawn once. The code flips them for the red alliance.</a:t>
            </a:r>
          </a:p>
        </p:txBody>
      </p:sp>
      <p:sp>
        <p:nvSpPr>
          <p:cNvPr id="65" name="TextBox 6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6" name="TextBox 6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Run and check</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Watch it drive, read what the checks say</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Watch me on the 2D field. Am I on the line?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Running the routine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Start</a:t>
            </a:r>
          </a:p>
        </p:txBody>
      </p:sp>
      <p:sp>
        <p:nvSpPr>
          <p:cNvPr id="7" name="TextBox 6"/>
          <p:cNvSpPr txBox="1"/>
          <p:nvPr/>
        </p:nvSpPr>
        <p:spPr>
          <a:xfrm>
            <a:off x="1066800"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Wait for Running</a:t>
            </a:r>
          </a:p>
        </p:txBody>
      </p:sp>
      <p:sp>
        <p:nvSpPr>
          <p:cNvPr id="8" name="Rectangle 7"/>
          <p:cNvSpPr/>
          <p:nvPr/>
        </p:nvSpPr>
        <p:spPr>
          <a:xfrm>
            <a:off x="4591050"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12" name="TextBox 11"/>
          <p:cNvSpPr txBox="1"/>
          <p:nvPr/>
        </p:nvSpPr>
        <p:spPr>
          <a:xfrm>
            <a:off x="5348288"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Elastic: Auto Choices, Pickup And Score</a:t>
            </a:r>
          </a:p>
        </p:txBody>
      </p:sp>
      <p:sp>
        <p:nvSpPr>
          <p:cNvPr id="13" name="Rectangle 12"/>
          <p:cNvSpPr/>
          <p:nvPr/>
        </p:nvSpPr>
        <p:spPr>
          <a:xfrm>
            <a:off x="8872538"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a:t>
            </a:r>
          </a:p>
        </p:txBody>
      </p:sp>
      <p:sp>
        <p:nvSpPr>
          <p:cNvPr id="17" name="TextBox 16"/>
          <p:cNvSpPr txBox="1"/>
          <p:nvPr/>
        </p:nvSpPr>
        <p:spPr>
          <a:xfrm>
            <a:off x="9629775"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Driver Station: Auto, then Enable</a:t>
            </a:r>
          </a:p>
        </p:txBody>
      </p:sp>
      <p:sp>
        <p:nvSpPr>
          <p:cNvPr id="18" name="Rectangle 17"/>
          <p:cNvSpPr/>
          <p:nvPr/>
        </p:nvSpPr>
        <p:spPr>
          <a:xfrm>
            <a:off x="13154025"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95275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Hands off</a:t>
            </a:r>
          </a:p>
        </p:txBody>
      </p:sp>
      <p:sp>
        <p:nvSpPr>
          <p:cNvPr id="22" name="TextBox 21"/>
          <p:cNvSpPr txBox="1"/>
          <p:nvPr/>
        </p:nvSpPr>
        <p:spPr>
          <a:xfrm>
            <a:off x="13911262"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 drives itself, about 10 s</a:t>
            </a:r>
          </a:p>
        </p:txBody>
      </p:sp>
      <p:sp>
        <p:nvSpPr>
          <p:cNvPr id="23" name="Rounded Rectangle 22"/>
          <p:cNvSpPr/>
          <p:nvPr/>
        </p:nvSpPr>
        <p:spPr>
          <a:xfrm>
            <a:off x="914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display.png"/>
          <p:cNvPicPr>
            <a:picLocks noChangeAspect="1"/>
          </p:cNvPicPr>
          <p:nvPr/>
        </p:nvPicPr>
        <p:blipFill>
          <a:blip r:embed="rId3"/>
          <a:stretch>
            <a:fillRect/>
          </a:stretch>
        </p:blipFill>
        <p:spPr>
          <a:xfrm>
            <a:off x="1295400" y="6000750"/>
            <a:ext cx="682752" cy="533400"/>
          </a:xfrm>
          <a:prstGeom prst="rect">
            <a:avLst/>
          </a:prstGeom>
        </p:spPr>
      </p:pic>
      <p:sp>
        <p:nvSpPr>
          <p:cNvPr id="25" name="TextBox 24"/>
          <p:cNvSpPr txBox="1"/>
          <p:nvPr/>
        </p:nvSpPr>
        <p:spPr>
          <a:xfrm>
            <a:off x="1295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 training</a:t>
            </a:r>
          </a:p>
        </p:txBody>
      </p:sp>
      <p:sp>
        <p:nvSpPr>
          <p:cNvPr id="26" name="TextBox 25"/>
          <p:cNvSpPr txBox="1"/>
          <p:nvPr/>
        </p:nvSpPr>
        <p:spPr>
          <a:xfrm>
            <a:off x="1295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Scriptum's Start button, its Elastic pane and its Driver Station panel. Changed the code? Press Start again.</a:t>
            </a:r>
          </a:p>
        </p:txBody>
      </p:sp>
      <p:sp>
        <p:nvSpPr>
          <p:cNvPr id="27" name="Rounded Rectangle 26"/>
          <p:cNvSpPr/>
          <p:nvPr/>
        </p:nvSpPr>
        <p:spPr>
          <a:xfrm>
            <a:off x="9296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bot.png"/>
          <p:cNvPicPr>
            <a:picLocks noChangeAspect="1"/>
          </p:cNvPicPr>
          <p:nvPr/>
        </p:nvPicPr>
        <p:blipFill>
          <a:blip r:embed="rId4"/>
          <a:stretch>
            <a:fillRect/>
          </a:stretch>
        </p:blipFill>
        <p:spPr>
          <a:xfrm>
            <a:off x="9677400" y="6000750"/>
            <a:ext cx="568960" cy="533400"/>
          </a:xfrm>
          <a:prstGeom prst="rect">
            <a:avLst/>
          </a:prstGeom>
        </p:spPr>
      </p:pic>
      <p:sp>
        <p:nvSpPr>
          <p:cNvPr id="29" name="TextBox 28"/>
          <p:cNvSpPr txBox="1"/>
          <p:nvPr/>
        </p:nvSpPr>
        <p:spPr>
          <a:xfrm>
            <a:off x="9677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On the real robot</a:t>
            </a:r>
          </a:p>
        </p:txBody>
      </p:sp>
      <p:sp>
        <p:nvSpPr>
          <p:cNvPr id="30" name="TextBox 29"/>
          <p:cNvSpPr txBox="1"/>
          <p:nvPr/>
        </p:nvSpPr>
        <p:spPr>
          <a:xfrm>
            <a:off x="9677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Deploy from VS Code. Pick the routine in Elastic on the drive laptop. The FRC Driver Station, or the field in a match, runs Auto.</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distances in AdvantageScope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7800975"/>
            <a:ext cx="9544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7667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7134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33500" y="7000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0" name="Rectangle 9"/>
          <p:cNvSpPr/>
          <p:nvPr/>
        </p:nvSpPr>
        <p:spPr>
          <a:xfrm>
            <a:off x="1895475" y="6467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6334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2" name="Rectangle 11"/>
          <p:cNvSpPr/>
          <p:nvPr/>
        </p:nvSpPr>
        <p:spPr>
          <a:xfrm>
            <a:off x="1895475" y="5800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 y="5667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4" name="Rectangle 13"/>
          <p:cNvSpPr/>
          <p:nvPr/>
        </p:nvSpPr>
        <p:spPr>
          <a:xfrm>
            <a:off x="1895475" y="51339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5000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6" name="Rectangle 15"/>
          <p:cNvSpPr/>
          <p:nvPr/>
        </p:nvSpPr>
        <p:spPr>
          <a:xfrm>
            <a:off x="1895475" y="4467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33500" y="4333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a:t>
            </a:r>
          </a:p>
        </p:txBody>
      </p:sp>
      <p:sp>
        <p:nvSpPr>
          <p:cNvPr id="18" name="Rectangle 17"/>
          <p:cNvSpPr/>
          <p:nvPr/>
        </p:nvSpPr>
        <p:spPr>
          <a:xfrm>
            <a:off x="1895475" y="3800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33500" y="3667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20" name="Rectangle 19"/>
          <p:cNvSpPr/>
          <p:nvPr/>
        </p:nvSpPr>
        <p:spPr>
          <a:xfrm>
            <a:off x="1895475" y="3133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33500" y="3000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a:t>
            </a:r>
          </a:p>
        </p:txBody>
      </p:sp>
      <p:sp>
        <p:nvSpPr>
          <p:cNvPr id="22" name="TextBox 21"/>
          <p:cNvSpPr txBox="1"/>
          <p:nvPr/>
        </p:nvSpPr>
        <p:spPr>
          <a:xfrm>
            <a:off x="161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52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4" name="TextBox 23"/>
          <p:cNvSpPr txBox="1"/>
          <p:nvPr/>
        </p:nvSpPr>
        <p:spPr>
          <a:xfrm>
            <a:off x="542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5" name="TextBox 24"/>
          <p:cNvSpPr txBox="1"/>
          <p:nvPr/>
        </p:nvSpPr>
        <p:spPr>
          <a:xfrm>
            <a:off x="733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6" name="TextBox 25"/>
          <p:cNvSpPr txBox="1"/>
          <p:nvPr/>
        </p:nvSpPr>
        <p:spPr>
          <a:xfrm>
            <a:off x="923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7" name="TextBox 26"/>
          <p:cNvSpPr txBox="1"/>
          <p:nvPr/>
        </p:nvSpPr>
        <p:spPr>
          <a:xfrm>
            <a:off x="1114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 s</a:t>
            </a:r>
          </a:p>
        </p:txBody>
      </p:sp>
      <p:sp>
        <p:nvSpPr>
          <p:cNvPr id="28" name="Rectangle 27"/>
          <p:cNvSpPr/>
          <p:nvPr/>
        </p:nvSpPr>
        <p:spPr>
          <a:xfrm>
            <a:off x="1890712" y="7529512"/>
            <a:ext cx="9553575" cy="285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096500" y="7200900"/>
            <a:ext cx="1333500" cy="285750"/>
          </a:xfrm>
          <a:prstGeom prst="rect">
            <a:avLst/>
          </a:prstGeom>
          <a:noFill/>
        </p:spPr>
        <p:txBody>
          <a:bodyPr wrap="square" lIns="0" rIns="0" tIns="0" bIns="0" anchor="t">
            <a:spAutoFit/>
          </a:bodyPr>
          <a:lstStyle/>
          <a:p>
            <a:pPr algn="r"/>
            <a:r>
              <a:rPr sz="1500" b="1" i="0">
                <a:solidFill>
                  <a:srgbClr val="CC2200"/>
                </a:solidFill>
                <a:latin typeface="Geist"/>
                <a:ea typeface="Geist"/>
                <a:cs typeface="Geist"/>
              </a:rPr>
              <a:t>0.4 m</a:t>
            </a:r>
          </a:p>
        </p:txBody>
      </p:sp>
      <p:sp>
        <p:nvSpPr>
          <p:cNvPr id="30" name="Rectangle 29"/>
          <p:cNvSpPr/>
          <p:nvPr/>
        </p:nvSpPr>
        <p:spPr>
          <a:xfrm>
            <a:off x="1881188" y="5037607"/>
            <a:ext cx="96202"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1953578" y="5065300"/>
            <a:ext cx="47624" cy="109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01202" y="5076294"/>
            <a:ext cx="48578" cy="18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49780" y="5094396"/>
            <a:ext cx="47625" cy="2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97405" y="5120242"/>
            <a:ext cx="48577" cy="329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145982" y="5153172"/>
            <a:ext cx="47626" cy="399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193608" y="5193167"/>
            <a:ext cx="48577" cy="470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242185" y="5240204"/>
            <a:ext cx="47625" cy="540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289810" y="5294252"/>
            <a:ext cx="48578" cy="57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338388" y="5352244"/>
            <a:ext cx="47624" cy="587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386012" y="5410962"/>
            <a:ext cx="48578" cy="595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434590" y="5470522"/>
            <a:ext cx="48578" cy="599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483168" y="5530521"/>
            <a:ext cx="47624" cy="606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30792" y="5591195"/>
            <a:ext cx="48578" cy="605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579370" y="5651737"/>
            <a:ext cx="47625" cy="606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626995" y="5712405"/>
            <a:ext cx="48577" cy="601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75572" y="5772551"/>
            <a:ext cx="47626" cy="601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23198" y="5832679"/>
            <a:ext cx="48577" cy="60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71775" y="5893614"/>
            <a:ext cx="47625" cy="60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819400" y="5953702"/>
            <a:ext cx="48578" cy="605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867978" y="6014229"/>
            <a:ext cx="47624" cy="598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915602" y="6074095"/>
            <a:ext cx="48578" cy="604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64180" y="6134582"/>
            <a:ext cx="48578" cy="604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12758" y="6195045"/>
            <a:ext cx="47624" cy="604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060382" y="6255483"/>
            <a:ext cx="48578" cy="597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108960" y="6315246"/>
            <a:ext cx="47625" cy="603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156585" y="6375621"/>
            <a:ext cx="48577" cy="60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205162" y="6435960"/>
            <a:ext cx="47626" cy="60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252788" y="6496256"/>
            <a:ext cx="48577" cy="59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01365" y="6555855"/>
            <a:ext cx="47625" cy="6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48990" y="6616046"/>
            <a:ext cx="48578" cy="601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97568" y="6676173"/>
            <a:ext cx="47625" cy="600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45193" y="6736225"/>
            <a:ext cx="48577" cy="599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493770" y="6796188"/>
            <a:ext cx="48578" cy="592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542348" y="6855391"/>
            <a:ext cx="47624" cy="597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589972" y="6915122"/>
            <a:ext cx="48578" cy="59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638550" y="6974806"/>
            <a:ext cx="47625" cy="589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686175" y="7033715"/>
            <a:ext cx="48577" cy="585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734752" y="7092249"/>
            <a:ext cx="47626" cy="581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82378" y="7150442"/>
            <a:ext cx="48577" cy="588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30955" y="7209329"/>
            <a:ext cx="47625" cy="590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878580" y="7268340"/>
            <a:ext cx="48578" cy="598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927158" y="7328196"/>
            <a:ext cx="48577" cy="601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975735" y="7388395"/>
            <a:ext cx="47625" cy="607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023360" y="7449116"/>
            <a:ext cx="48578" cy="606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071938" y="7509795"/>
            <a:ext cx="47624" cy="600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119562" y="7569803"/>
            <a:ext cx="48578" cy="560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168140" y="7625810"/>
            <a:ext cx="47625" cy="4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215765" y="7674483"/>
            <a:ext cx="48577" cy="41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264342" y="7715821"/>
            <a:ext cx="47626" cy="340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311968" y="7749826"/>
            <a:ext cx="48577" cy="266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360545" y="7776496"/>
            <a:ext cx="47625" cy="186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408170" y="7795165"/>
            <a:ext cx="48578" cy="113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4432935" y="7782687"/>
            <a:ext cx="96203"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4481512" y="778668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4719638" y="7786688"/>
            <a:ext cx="52387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19588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3779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27970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2161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36352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05438" y="7786021"/>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 name="Connector 91"/>
          <p:cNvCxnSpPr/>
          <p:nvPr/>
        </p:nvCxnSpPr>
        <p:spPr>
          <a:xfrm flipV="1">
            <a:off x="5471160" y="7798480"/>
            <a:ext cx="41910" cy="862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513070" y="7784497"/>
            <a:ext cx="41910" cy="1398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54980" y="7765466"/>
            <a:ext cx="41910" cy="190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890" y="7740364"/>
            <a:ext cx="42862" cy="25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39752" y="7709145"/>
            <a:ext cx="41910" cy="31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81662" y="7672997"/>
            <a:ext cx="41911" cy="361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723573" y="7631904"/>
            <a:ext cx="41909" cy="4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765482" y="7584981"/>
            <a:ext cx="41910" cy="4692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807392" y="7535107"/>
            <a:ext cx="41910" cy="498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849302" y="7485208"/>
            <a:ext cx="41910" cy="498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891212" y="7435359"/>
            <a:ext cx="41910" cy="49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933122" y="7386786"/>
            <a:ext cx="41910" cy="48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975032" y="7338176"/>
            <a:ext cx="41910" cy="486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016942" y="7290065"/>
            <a:ext cx="41910" cy="481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6058852" y="7241214"/>
            <a:ext cx="41910" cy="488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100762" y="7191689"/>
            <a:ext cx="41910" cy="4952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142672" y="7141912"/>
            <a:ext cx="41910" cy="49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6184582" y="7090920"/>
            <a:ext cx="41910" cy="50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226492" y="7039520"/>
            <a:ext cx="41910" cy="51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268402" y="6987609"/>
            <a:ext cx="41910" cy="51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310312" y="6934817"/>
            <a:ext cx="41911" cy="527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52223" y="6881825"/>
            <a:ext cx="41909" cy="52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394132" y="6837538"/>
            <a:ext cx="36195" cy="442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430327" y="6793126"/>
            <a:ext cx="35243" cy="44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465570" y="6749424"/>
            <a:ext cx="35242" cy="437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500812" y="6705789"/>
            <a:ext cx="35243" cy="436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536055" y="6662452"/>
            <a:ext cx="35243" cy="43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571298" y="6618439"/>
            <a:ext cx="35242" cy="440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606540" y="6574373"/>
            <a:ext cx="35242" cy="440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641782" y="6530800"/>
            <a:ext cx="35243" cy="43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677025" y="6486252"/>
            <a:ext cx="35242" cy="445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712267" y="6442173"/>
            <a:ext cx="35243" cy="440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747510" y="6397423"/>
            <a:ext cx="35242" cy="447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782752" y="6353156"/>
            <a:ext cx="35243" cy="442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817995" y="6309360"/>
            <a:ext cx="35243" cy="437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853238" y="6265206"/>
            <a:ext cx="35242" cy="44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888480" y="6223052"/>
            <a:ext cx="35243" cy="42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923723" y="6184110"/>
            <a:ext cx="35242" cy="389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958965" y="6149340"/>
            <a:ext cx="35243" cy="347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994208" y="6118746"/>
            <a:ext cx="35242" cy="305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029450" y="6091975"/>
            <a:ext cx="35242" cy="267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064692" y="6069748"/>
            <a:ext cx="36196" cy="222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100888" y="6050842"/>
            <a:ext cx="35242" cy="1890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136130" y="6036131"/>
            <a:ext cx="35242" cy="14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171372" y="6025989"/>
            <a:ext cx="35243" cy="101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206615" y="6018934"/>
            <a:ext cx="35243" cy="70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7218045" y="5995122"/>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253288" y="5992027"/>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7288530" y="5991408"/>
            <a:ext cx="82868"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7323772" y="599140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7561898" y="5991408"/>
            <a:ext cx="389191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1881188" y="371732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4" name="Connector 143"/>
          <p:cNvCxnSpPr/>
          <p:nvPr/>
        </p:nvCxnSpPr>
        <p:spPr>
          <a:xfrm>
            <a:off x="1953578" y="3744416"/>
            <a:ext cx="47624" cy="92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001202" y="3753693"/>
            <a:ext cx="48578" cy="152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049780" y="3768950"/>
            <a:ext cx="47625" cy="2174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2097405" y="3790695"/>
            <a:ext cx="48577" cy="276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145982" y="3818334"/>
            <a:ext cx="47626" cy="33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193608" y="3851800"/>
            <a:ext cx="48577" cy="3921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2242185" y="3891012"/>
            <a:ext cx="47625" cy="4485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2289810" y="3935867"/>
            <a:ext cx="48578" cy="481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2338388" y="3984005"/>
            <a:ext cx="47624" cy="487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2386012" y="4032741"/>
            <a:ext cx="48578" cy="50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2434590" y="4083207"/>
            <a:ext cx="48578" cy="5216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2483168" y="4135367"/>
            <a:ext cx="47624" cy="543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2530792" y="4189723"/>
            <a:ext cx="48578" cy="5569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2579370" y="4245416"/>
            <a:ext cx="47625" cy="5674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2626995" y="4302164"/>
            <a:ext cx="48577" cy="573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2675572" y="4359500"/>
            <a:ext cx="47626" cy="5723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2723198" y="4416730"/>
            <a:ext cx="48577" cy="580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2771775" y="4474787"/>
            <a:ext cx="47625" cy="5699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2819400" y="4531786"/>
            <a:ext cx="48578" cy="5692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2867978" y="4588710"/>
            <a:ext cx="47624" cy="5628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2915602" y="4644997"/>
            <a:ext cx="48578" cy="566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2964180" y="4701628"/>
            <a:ext cx="48578" cy="5647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3012758" y="4758099"/>
            <a:ext cx="47624" cy="563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3060382" y="4814401"/>
            <a:ext cx="48578" cy="556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3108960" y="4870045"/>
            <a:ext cx="47625" cy="559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3156585" y="4925982"/>
            <a:ext cx="48577" cy="557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3205162" y="4981719"/>
            <a:ext cx="47626" cy="555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3252788" y="5037244"/>
            <a:ext cx="48577" cy="5483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3301365" y="5092079"/>
            <a:ext cx="47625" cy="5506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3348990" y="5147143"/>
            <a:ext cx="48578" cy="5480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3397568" y="5201952"/>
            <a:ext cx="47625" cy="545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3445193" y="5256491"/>
            <a:ext cx="48577" cy="542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3493770" y="5310740"/>
            <a:ext cx="48578" cy="535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3542348" y="5364244"/>
            <a:ext cx="47624" cy="5361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3589972" y="5417863"/>
            <a:ext cx="48578" cy="537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3638550" y="5471645"/>
            <a:ext cx="47625" cy="5351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3686175" y="5525162"/>
            <a:ext cx="48577" cy="52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3734752" y="5577788"/>
            <a:ext cx="47626" cy="52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3782378" y="5630011"/>
            <a:ext cx="48577" cy="504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3830955" y="5680449"/>
            <a:ext cx="47625" cy="481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878580" y="5728553"/>
            <a:ext cx="48578" cy="44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3927158" y="5773444"/>
            <a:ext cx="48577" cy="4050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975735" y="5813944"/>
            <a:ext cx="47625" cy="364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4023360" y="5850349"/>
            <a:ext cx="48578" cy="322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4071938" y="5882635"/>
            <a:ext cx="47624" cy="299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4119562" y="5912624"/>
            <a:ext cx="48578" cy="261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168140" y="5938757"/>
            <a:ext cx="47625" cy="216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4215765" y="5960390"/>
            <a:ext cx="48577" cy="175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4264342" y="5977948"/>
            <a:ext cx="47626" cy="138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4311968" y="5991814"/>
            <a:ext cx="48577" cy="105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4360545" y="6002316"/>
            <a:ext cx="47625" cy="71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4384358" y="598565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432935" y="5989919"/>
            <a:ext cx="96203"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4481512" y="599140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4719638" y="5991408"/>
            <a:ext cx="52387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519588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523779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527970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532161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536352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5405438" y="5991656"/>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5" name="Connector 204"/>
          <p:cNvCxnSpPr/>
          <p:nvPr/>
        </p:nvCxnSpPr>
        <p:spPr>
          <a:xfrm>
            <a:off x="5471160" y="6017076"/>
            <a:ext cx="41910" cy="60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513070" y="6023122"/>
            <a:ext cx="41910" cy="102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554980" y="6033324"/>
            <a:ext cx="41910" cy="14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596890" y="6048013"/>
            <a:ext cx="42862" cy="2099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5639752" y="6069010"/>
            <a:ext cx="41910" cy="276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5681662" y="6096666"/>
            <a:ext cx="41911" cy="3321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5723573" y="6129876"/>
            <a:ext cx="41909" cy="395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5765482" y="6169462"/>
            <a:ext cx="41910" cy="46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5807392" y="6216088"/>
            <a:ext cx="41910" cy="50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5849302" y="6267064"/>
            <a:ext cx="41910" cy="522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891212" y="6319300"/>
            <a:ext cx="41910" cy="5334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933122" y="6372642"/>
            <a:ext cx="41910" cy="525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5975032" y="6425191"/>
            <a:ext cx="41910" cy="523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6016942" y="6477529"/>
            <a:ext cx="41910" cy="514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6058852" y="6528975"/>
            <a:ext cx="41910" cy="5155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6100762" y="6580529"/>
            <a:ext cx="41910" cy="51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142672" y="6631960"/>
            <a:ext cx="41910" cy="510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6184582" y="6683018"/>
            <a:ext cx="41910" cy="516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226492" y="6734623"/>
            <a:ext cx="41910" cy="515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6268402" y="6786200"/>
            <a:ext cx="41910" cy="518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6310312" y="6838049"/>
            <a:ext cx="41911" cy="5269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352223" y="6890743"/>
            <a:ext cx="41909" cy="529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394132" y="6943725"/>
            <a:ext cx="36195" cy="4436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6430327" y="6988086"/>
            <a:ext cx="35243" cy="444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6465570" y="7032576"/>
            <a:ext cx="35242" cy="4371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6500812" y="7076287"/>
            <a:ext cx="35243" cy="4349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6536055" y="7119783"/>
            <a:ext cx="35243" cy="42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6571298" y="7162759"/>
            <a:ext cx="35242" cy="43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606540" y="7206190"/>
            <a:ext cx="35242" cy="43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641782" y="7249413"/>
            <a:ext cx="35243" cy="425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677025" y="7291996"/>
            <a:ext cx="35242" cy="4342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6712267" y="7335425"/>
            <a:ext cx="35243" cy="431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6747510" y="7378569"/>
            <a:ext cx="35242" cy="439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6782752" y="7422494"/>
            <a:ext cx="35243" cy="4382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6817995" y="7466316"/>
            <a:ext cx="35243" cy="438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6853238" y="7510142"/>
            <a:ext cx="35242" cy="4428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6888480" y="7554423"/>
            <a:ext cx="35243" cy="4255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6923723" y="7596973"/>
            <a:ext cx="35242" cy="3955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6958965" y="7636524"/>
            <a:ext cx="35243" cy="3536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6994208" y="7671887"/>
            <a:ext cx="35242" cy="311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7029450" y="7703070"/>
            <a:ext cx="35242" cy="2761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7064692" y="7730685"/>
            <a:ext cx="36196" cy="22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7100888" y="7753576"/>
            <a:ext cx="35242" cy="194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7136130" y="7773067"/>
            <a:ext cx="35242" cy="153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7171372" y="7788457"/>
            <a:ext cx="35243" cy="10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7206615" y="7799146"/>
            <a:ext cx="35243" cy="73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251" name="Rectangle 250"/>
          <p:cNvSpPr/>
          <p:nvPr/>
        </p:nvSpPr>
        <p:spPr>
          <a:xfrm>
            <a:off x="7218045" y="7782687"/>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7253288" y="7786021"/>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7288530" y="7786688"/>
            <a:ext cx="82868"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7323772" y="778668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7561898" y="7786688"/>
            <a:ext cx="389191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1905000" y="850582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TextBox 256"/>
          <p:cNvSpPr txBox="1"/>
          <p:nvPr/>
        </p:nvSpPr>
        <p:spPr>
          <a:xfrm>
            <a:off x="241935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Drive/DistanceToPickup</a:t>
            </a:r>
          </a:p>
        </p:txBody>
      </p:sp>
      <p:sp>
        <p:nvSpPr>
          <p:cNvPr id="258" name="Rectangle 257"/>
          <p:cNvSpPr/>
          <p:nvPr/>
        </p:nvSpPr>
        <p:spPr>
          <a:xfrm>
            <a:off x="6381750" y="8505825"/>
            <a:ext cx="381000" cy="7620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TextBox 258"/>
          <p:cNvSpPr txBox="1"/>
          <p:nvPr/>
        </p:nvSpPr>
        <p:spPr>
          <a:xfrm>
            <a:off x="689610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Drive/DistanceToScoreSpot</a:t>
            </a:r>
          </a:p>
        </p:txBody>
      </p:sp>
      <p:sp>
        <p:nvSpPr>
          <p:cNvPr id="260" name="Oval 259"/>
          <p:cNvSpPr/>
          <p:nvPr/>
        </p:nvSpPr>
        <p:spPr>
          <a:xfrm>
            <a:off x="4476750" y="6762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47675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2" name="Oval 261"/>
          <p:cNvSpPr/>
          <p:nvPr/>
        </p:nvSpPr>
        <p:spPr>
          <a:xfrm>
            <a:off x="7429500" y="6762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42950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4" name="Oval 263"/>
          <p:cNvSpPr/>
          <p:nvPr/>
        </p:nvSpPr>
        <p:spPr>
          <a:xfrm>
            <a:off x="9715500" y="5505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715500" y="5505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6" name="Oval 265"/>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8" name="TextBox 267"/>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Pickup dips</a:t>
            </a:r>
          </a:p>
        </p:txBody>
      </p:sp>
      <p:sp>
        <p:nvSpPr>
          <p:cNvPr id="269" name="TextBox 268"/>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pickup</a:t>
            </a:r>
          </a:p>
        </p:txBody>
      </p:sp>
      <p:sp>
        <p:nvSpPr>
          <p:cNvPr id="270" name="Oval 269"/>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2" name="TextBox 271"/>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ScoreSpot dips</a:t>
            </a:r>
          </a:p>
        </p:txBody>
      </p:sp>
      <p:sp>
        <p:nvSpPr>
          <p:cNvPr id="273" name="TextBox 272"/>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scoring spot</a:t>
            </a:r>
          </a:p>
        </p:txBody>
      </p:sp>
      <p:sp>
        <p:nvSpPr>
          <p:cNvPr id="274" name="Oval 273"/>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6" name="TextBox 275"/>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Flat at the end</a:t>
            </a:r>
          </a:p>
        </p:txBody>
      </p:sp>
      <p:sp>
        <p:nvSpPr>
          <p:cNvPr id="277" name="TextBox 276"/>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Standing still: aiming, then shooting</a:t>
            </a:r>
          </a:p>
        </p:txBody>
      </p:sp>
      <p:sp>
        <p:nvSpPr>
          <p:cNvPr id="278" name="Oval 277"/>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80" name="TextBox 279"/>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Also plot</a:t>
            </a:r>
          </a:p>
        </p:txBody>
      </p:sp>
      <p:sp>
        <p:nvSpPr>
          <p:cNvPr id="281" name="TextBox 280"/>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TrueAimErrorDegrees: near 0 before the shot</a:t>
            </a:r>
          </a:p>
        </p:txBody>
      </p:sp>
      <p:sp>
        <p:nvSpPr>
          <p:cNvPr id="282" name="TextBox 2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3" name="TextBox 2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When a check fails, it's a clue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39065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45720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Check that failed</a:t>
            </a:r>
          </a:p>
        </p:txBody>
      </p:sp>
      <p:sp>
        <p:nvSpPr>
          <p:cNvPr id="7" name="TextBox 6"/>
          <p:cNvSpPr txBox="1"/>
          <p:nvPr/>
        </p:nvSpPr>
        <p:spPr>
          <a:xfrm>
            <a:off x="6134100" y="2857500"/>
            <a:ext cx="8572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Look at</a:t>
            </a:r>
          </a:p>
        </p:txBody>
      </p:sp>
      <p:sp>
        <p:nvSpPr>
          <p:cNvPr id="8" name="Rectangle 7"/>
          <p:cNvSpPr/>
          <p:nvPr/>
        </p:nvSpPr>
        <p:spPr>
          <a:xfrm>
            <a:off x="904875" y="45529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1100" y="35623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Reaches the pickup</a:t>
            </a:r>
          </a:p>
        </p:txBody>
      </p:sp>
      <p:sp>
        <p:nvSpPr>
          <p:cNvPr id="10" name="TextBox 9"/>
          <p:cNvSpPr txBox="1"/>
          <p:nvPr/>
        </p:nvSpPr>
        <p:spPr>
          <a:xfrm>
            <a:off x="6134100" y="35623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first path or its followPath: name, generated, in the list?</a:t>
            </a:r>
          </a:p>
        </p:txBody>
      </p:sp>
      <p:sp>
        <p:nvSpPr>
          <p:cNvPr id="11" name="Rectangle 10"/>
          <p:cNvSpPr/>
          <p:nvPr/>
        </p:nvSpPr>
        <p:spPr>
          <a:xfrm>
            <a:off x="904875" y="56007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46101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Reaches the scoring spot</a:t>
            </a:r>
          </a:p>
        </p:txBody>
      </p:sp>
      <p:sp>
        <p:nvSpPr>
          <p:cNvPr id="13" name="TextBox 12"/>
          <p:cNvSpPr txBox="1"/>
          <p:nvPr/>
        </p:nvSpPr>
        <p:spPr>
          <a:xfrm>
            <a:off x="6134100" y="46101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second path never ran, or doesn't start where the first ended</a:t>
            </a:r>
          </a:p>
        </p:txBody>
      </p:sp>
      <p:sp>
        <p:nvSpPr>
          <p:cNvPr id="14" name="Rectangle 13"/>
          <p:cNvSpPr/>
          <p:nvPr/>
        </p:nvSpPr>
        <p:spPr>
          <a:xfrm>
            <a:off x="904875" y="66484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56578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Aims before it shoots</a:t>
            </a:r>
          </a:p>
        </p:txBody>
      </p:sp>
      <p:sp>
        <p:nvSpPr>
          <p:cNvPr id="16" name="TextBox 15"/>
          <p:cNvSpPr txBox="1"/>
          <p:nvPr/>
        </p:nvSpPr>
        <p:spPr>
          <a:xfrm>
            <a:off x="6134100" y="56578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Aim is missing, comes after the shot, or has no .until(...isAimed)</a:t>
            </a:r>
          </a:p>
        </p:txBody>
      </p:sp>
      <p:sp>
        <p:nvSpPr>
          <p:cNvPr id="17" name="Rectangle 16"/>
          <p:cNvSpPr/>
          <p:nvPr/>
        </p:nvSpPr>
        <p:spPr>
          <a:xfrm>
            <a:off x="904875" y="76962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67056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Shoots</a:t>
            </a:r>
          </a:p>
        </p:txBody>
      </p:sp>
      <p:sp>
        <p:nvSpPr>
          <p:cNvPr id="19" name="TextBox 18"/>
          <p:cNvSpPr txBox="1"/>
          <p:nvPr/>
        </p:nvSpPr>
        <p:spPr>
          <a:xfrm>
            <a:off x="6134100" y="67056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routine ended, or got stuck, before shoot()</a:t>
            </a:r>
          </a:p>
        </p:txBody>
      </p:sp>
      <p:sp>
        <p:nvSpPr>
          <p:cNvPr id="20" name="TextBox 19"/>
          <p:cNvSpPr txBox="1"/>
          <p:nvPr/>
        </p:nvSpPr>
        <p:spPr>
          <a:xfrm>
            <a:off x="914400" y="7905750"/>
            <a:ext cx="13335000" cy="762000"/>
          </a:xfrm>
          <a:prstGeom prst="rect">
            <a:avLst/>
          </a:prstGeom>
          <a:noFill/>
        </p:spPr>
        <p:txBody>
          <a:bodyPr wrap="square" lIns="0" rIns="0" tIns="0" bIns="0" anchor="t">
            <a:spAutoFit/>
          </a:bodyPr>
          <a:lstStyle/>
          <a:p>
            <a:pPr algn="l">
              <a:lnSpc>
                <a:spcPct val="130000"/>
              </a:lnSpc>
            </a:pPr>
            <a:r>
              <a:rPr sz="2100" b="1" i="0">
                <a:solidFill>
                  <a:srgbClr val="F0E8E8"/>
                </a:solidFill>
                <a:latin typeface="Geist"/>
                <a:ea typeface="Geist"/>
                <a:cs typeface="Geist"/>
              </a:rPr>
              <a:t>After a fix, press Start again. </a:t>
            </a:r>
            <a:r>
              <a:rPr sz="2100" b="0" i="0">
                <a:solidFill>
                  <a:srgbClr val="F0E8E8"/>
                </a:solidFill>
                <a:latin typeface="Geist"/>
                <a:ea typeface="Geist"/>
                <a:cs typeface="Geist"/>
              </a:rPr>
              <a:t>The checks remember the best run since Start.</a:t>
            </a:r>
          </a:p>
        </p:txBody>
      </p:sp>
      <p:pic>
        <p:nvPicPr>
          <p:cNvPr id="21" name="Picture 20" descr="dozer_wide_left.png"/>
          <p:cNvPicPr>
            <a:picLocks noChangeAspect="1"/>
          </p:cNvPicPr>
          <p:nvPr/>
        </p:nvPicPr>
        <p:blipFill>
          <a:blip r:embed="rId3"/>
          <a:stretch>
            <a:fillRect/>
          </a:stretch>
        </p:blipFill>
        <p:spPr>
          <a:xfrm>
            <a:off x="15240000" y="6096000"/>
            <a:ext cx="2095500" cy="1287986"/>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Choreo Autonomous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Draw ToPickup and ToScore, write the routine in Autos.java, run it in Auto and press Verify on each checkpoint.</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8 CHECKPOINTS</a:t>
            </a:r>
          </a:p>
        </p:txBody>
      </p:sp>
      <p:pic>
        <p:nvPicPr>
          <p:cNvPr id="7" name="Picture 6" descr="check-circle-fill.png"/>
          <p:cNvPicPr>
            <a:picLocks noChangeAspect="1"/>
          </p:cNvPicPr>
          <p:nvPr/>
        </p:nvPicPr>
        <p:blipFill>
          <a:blip r:embed="rId3"/>
          <a:stretch>
            <a:fillRect/>
          </a:stretch>
        </p:blipFill>
        <p:spPr>
          <a:xfrm>
            <a:off x="1524000" y="4476750"/>
            <a:ext cx="304800" cy="304800"/>
          </a:xfrm>
          <a:prstGeom prst="rect">
            <a:avLst/>
          </a:prstGeom>
        </p:spPr>
      </p:pic>
      <p:sp>
        <p:nvSpPr>
          <p:cNvPr id="8" name="TextBox 7"/>
          <p:cNvSpPr txBox="1"/>
          <p:nvPr/>
        </p:nvSpPr>
        <p:spPr>
          <a:xfrm>
            <a:off x="2000250" y="44386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Two paths drawn</a:t>
            </a:r>
          </a:p>
        </p:txBody>
      </p:sp>
      <p:sp>
        <p:nvSpPr>
          <p:cNvPr id="9" name="TextBox 8"/>
          <p:cNvSpPr txBox="1"/>
          <p:nvPr/>
        </p:nvSpPr>
        <p:spPr>
          <a:xfrm>
            <a:off x="2000250" y="48006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Generated, three waypoints each</a:t>
            </a:r>
          </a:p>
        </p:txBody>
      </p:sp>
      <p:pic>
        <p:nvPicPr>
          <p:cNvPr id="10" name="Picture 9" descr="check-circle-fill.png"/>
          <p:cNvPicPr>
            <a:picLocks noChangeAspect="1"/>
          </p:cNvPicPr>
          <p:nvPr/>
        </p:nvPicPr>
        <p:blipFill>
          <a:blip r:embed="rId3"/>
          <a:stretch>
            <a:fillRect/>
          </a:stretch>
        </p:blipFill>
        <p:spPr>
          <a:xfrm>
            <a:off x="1524000" y="5353050"/>
            <a:ext cx="304800" cy="304800"/>
          </a:xfrm>
          <a:prstGeom prst="rect">
            <a:avLst/>
          </a:prstGeom>
        </p:spPr>
      </p:pic>
      <p:sp>
        <p:nvSpPr>
          <p:cNvPr id="11" name="TextBox 10"/>
          <p:cNvSpPr txBox="1"/>
          <p:nvPr/>
        </p:nvSpPr>
        <p:spPr>
          <a:xfrm>
            <a:off x="2000250" y="53149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Paths named ToPickup and ToScore</a:t>
            </a:r>
          </a:p>
        </p:txBody>
      </p:sp>
      <p:sp>
        <p:nvSpPr>
          <p:cNvPr id="12" name="TextBox 11"/>
          <p:cNvSpPr txBox="1"/>
          <p:nvPr/>
        </p:nvSpPr>
        <p:spPr>
          <a:xfrm>
            <a:off x="2000250" y="56769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And Autos.java loads both</a:t>
            </a:r>
          </a:p>
        </p:txBody>
      </p:sp>
      <p:pic>
        <p:nvPicPr>
          <p:cNvPr id="13" name="Picture 12" descr="check-circle-fill.png"/>
          <p:cNvPicPr>
            <a:picLocks noChangeAspect="1"/>
          </p:cNvPicPr>
          <p:nvPr/>
        </p:nvPicPr>
        <p:blipFill>
          <a:blip r:embed="rId3"/>
          <a:stretch>
            <a:fillRect/>
          </a:stretch>
        </p:blipFill>
        <p:spPr>
          <a:xfrm>
            <a:off x="1524000" y="6229350"/>
            <a:ext cx="304800" cy="304800"/>
          </a:xfrm>
          <a:prstGeom prst="rect">
            <a:avLst/>
          </a:prstGeom>
        </p:spPr>
      </p:pic>
      <p:sp>
        <p:nvSpPr>
          <p:cNvPr id="14" name="TextBox 13"/>
          <p:cNvSpPr txBox="1"/>
          <p:nvPr/>
        </p:nvSpPr>
        <p:spPr>
          <a:xfrm>
            <a:off x="2000250" y="61912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Paths go where they should</a:t>
            </a:r>
          </a:p>
        </p:txBody>
      </p:sp>
      <p:sp>
        <p:nvSpPr>
          <p:cNvPr id="15" name="TextBox 14"/>
          <p:cNvSpPr txBox="1"/>
          <p:nvPr/>
        </p:nvSpPr>
        <p:spPr>
          <a:xfrm>
            <a:off x="2000250" y="65532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Start to Pickup, Pickup to ScoreSpot</a:t>
            </a:r>
          </a:p>
        </p:txBody>
      </p:sp>
      <p:pic>
        <p:nvPicPr>
          <p:cNvPr id="16" name="Picture 15" descr="check-circle-fill.png"/>
          <p:cNvPicPr>
            <a:picLocks noChangeAspect="1"/>
          </p:cNvPicPr>
          <p:nvPr/>
        </p:nvPicPr>
        <p:blipFill>
          <a:blip r:embed="rId3"/>
          <a:stretch>
            <a:fillRect/>
          </a:stretch>
        </p:blipFill>
        <p:spPr>
          <a:xfrm>
            <a:off x="1524000" y="7105650"/>
            <a:ext cx="304800" cy="304800"/>
          </a:xfrm>
          <a:prstGeom prst="rect">
            <a:avLst/>
          </a:prstGeom>
        </p:spPr>
      </p:pic>
      <p:sp>
        <p:nvSpPr>
          <p:cNvPr id="17" name="TextBox 16"/>
          <p:cNvSpPr txBox="1"/>
          <p:nvPr/>
        </p:nvSpPr>
        <p:spPr>
          <a:xfrm>
            <a:off x="2000250" y="70675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Autonomous sequence written</a:t>
            </a:r>
          </a:p>
        </p:txBody>
      </p:sp>
      <p:sp>
        <p:nvSpPr>
          <p:cNvPr id="18" name="TextBox 17"/>
          <p:cNvSpPr txBox="1"/>
          <p:nvPr/>
        </p:nvSpPr>
        <p:spPr>
          <a:xfrm>
            <a:off x="2000250" y="74295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Path, path, aim until aimed, shoot</a:t>
            </a:r>
          </a:p>
        </p:txBody>
      </p:sp>
      <p:pic>
        <p:nvPicPr>
          <p:cNvPr id="19" name="Picture 18" descr="check-circle-fill.png"/>
          <p:cNvPicPr>
            <a:picLocks noChangeAspect="1"/>
          </p:cNvPicPr>
          <p:nvPr/>
        </p:nvPicPr>
        <p:blipFill>
          <a:blip r:embed="rId3"/>
          <a:stretch>
            <a:fillRect/>
          </a:stretch>
        </p:blipFill>
        <p:spPr>
          <a:xfrm>
            <a:off x="7620000" y="4476750"/>
            <a:ext cx="304800" cy="304800"/>
          </a:xfrm>
          <a:prstGeom prst="rect">
            <a:avLst/>
          </a:prstGeom>
        </p:spPr>
      </p:pic>
      <p:sp>
        <p:nvSpPr>
          <p:cNvPr id="20" name="TextBox 19"/>
          <p:cNvSpPr txBox="1"/>
          <p:nvPr/>
        </p:nvSpPr>
        <p:spPr>
          <a:xfrm>
            <a:off x="8096250" y="44386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Reaches the pickup</a:t>
            </a:r>
          </a:p>
        </p:txBody>
      </p:sp>
      <p:sp>
        <p:nvSpPr>
          <p:cNvPr id="21" name="TextBox 20"/>
          <p:cNvSpPr txBox="1"/>
          <p:nvPr/>
        </p:nvSpPr>
        <p:spPr>
          <a:xfrm>
            <a:off x="8096250" y="48006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Within 0.4 m of Pickup</a:t>
            </a:r>
          </a:p>
        </p:txBody>
      </p:sp>
      <p:pic>
        <p:nvPicPr>
          <p:cNvPr id="22" name="Picture 21" descr="check-circle-fill.png"/>
          <p:cNvPicPr>
            <a:picLocks noChangeAspect="1"/>
          </p:cNvPicPr>
          <p:nvPr/>
        </p:nvPicPr>
        <p:blipFill>
          <a:blip r:embed="rId3"/>
          <a:stretch>
            <a:fillRect/>
          </a:stretch>
        </p:blipFill>
        <p:spPr>
          <a:xfrm>
            <a:off x="7620000" y="5353050"/>
            <a:ext cx="304800" cy="304800"/>
          </a:xfrm>
          <a:prstGeom prst="rect">
            <a:avLst/>
          </a:prstGeom>
        </p:spPr>
      </p:pic>
      <p:sp>
        <p:nvSpPr>
          <p:cNvPr id="23" name="TextBox 22"/>
          <p:cNvSpPr txBox="1"/>
          <p:nvPr/>
        </p:nvSpPr>
        <p:spPr>
          <a:xfrm>
            <a:off x="8096250" y="53149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Reaches the scoring spot</a:t>
            </a:r>
          </a:p>
        </p:txBody>
      </p:sp>
      <p:sp>
        <p:nvSpPr>
          <p:cNvPr id="24" name="TextBox 23"/>
          <p:cNvSpPr txBox="1"/>
          <p:nvPr/>
        </p:nvSpPr>
        <p:spPr>
          <a:xfrm>
            <a:off x="8096250" y="56769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Within 0.4 m of ScoreSpot</a:t>
            </a:r>
          </a:p>
        </p:txBody>
      </p:sp>
      <p:pic>
        <p:nvPicPr>
          <p:cNvPr id="25" name="Picture 24" descr="check-circle-fill.png"/>
          <p:cNvPicPr>
            <a:picLocks noChangeAspect="1"/>
          </p:cNvPicPr>
          <p:nvPr/>
        </p:nvPicPr>
        <p:blipFill>
          <a:blip r:embed="rId3"/>
          <a:stretch>
            <a:fillRect/>
          </a:stretch>
        </p:blipFill>
        <p:spPr>
          <a:xfrm>
            <a:off x="7620000" y="6229350"/>
            <a:ext cx="304800" cy="304800"/>
          </a:xfrm>
          <a:prstGeom prst="rect">
            <a:avLst/>
          </a:prstGeom>
        </p:spPr>
      </p:pic>
      <p:sp>
        <p:nvSpPr>
          <p:cNvPr id="26" name="TextBox 25"/>
          <p:cNvSpPr txBox="1"/>
          <p:nvPr/>
        </p:nvSpPr>
        <p:spPr>
          <a:xfrm>
            <a:off x="8096250" y="61912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Aims before it shoots</a:t>
            </a:r>
          </a:p>
        </p:txBody>
      </p:sp>
      <p:sp>
        <p:nvSpPr>
          <p:cNvPr id="27" name="TextBox 26"/>
          <p:cNvSpPr txBox="1"/>
          <p:nvPr/>
        </p:nvSpPr>
        <p:spPr>
          <a:xfrm>
            <a:off x="8096250" y="65532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Facing the goal within 5°</a:t>
            </a:r>
          </a:p>
        </p:txBody>
      </p:sp>
      <p:pic>
        <p:nvPicPr>
          <p:cNvPr id="28" name="Picture 27" descr="check-circle-fill.png"/>
          <p:cNvPicPr>
            <a:picLocks noChangeAspect="1"/>
          </p:cNvPicPr>
          <p:nvPr/>
        </p:nvPicPr>
        <p:blipFill>
          <a:blip r:embed="rId3"/>
          <a:stretch>
            <a:fillRect/>
          </a:stretch>
        </p:blipFill>
        <p:spPr>
          <a:xfrm>
            <a:off x="7620000" y="7105650"/>
            <a:ext cx="304800" cy="304800"/>
          </a:xfrm>
          <a:prstGeom prst="rect">
            <a:avLst/>
          </a:prstGeom>
        </p:spPr>
      </p:pic>
      <p:sp>
        <p:nvSpPr>
          <p:cNvPr id="29" name="TextBox 28"/>
          <p:cNvSpPr txBox="1"/>
          <p:nvPr/>
        </p:nvSpPr>
        <p:spPr>
          <a:xfrm>
            <a:off x="8096250" y="7067550"/>
            <a:ext cx="5524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Shoots</a:t>
            </a:r>
          </a:p>
        </p:txBody>
      </p:sp>
      <p:sp>
        <p:nvSpPr>
          <p:cNvPr id="30" name="TextBox 29"/>
          <p:cNvSpPr txBox="1"/>
          <p:nvPr/>
        </p:nvSpPr>
        <p:spPr>
          <a:xfrm>
            <a:off x="8096250" y="74295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At least once</a:t>
            </a:r>
          </a:p>
        </p:txBody>
      </p:sp>
      <p:sp>
        <p:nvSpPr>
          <p:cNvPr id="31" name="TextBox 30"/>
          <p:cNvSpPr txBox="1"/>
          <p:nvPr/>
        </p:nvSpPr>
        <p:spPr>
          <a:xfrm>
            <a:off x="1524000" y="802005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an event marker, spin up with alongWith, change Max Velocity, a third path home</a:t>
            </a:r>
          </a:p>
        </p:txBody>
      </p:sp>
      <p:sp>
        <p:nvSpPr>
          <p:cNvPr id="32" name="TextBox 31"/>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Choreo Autonomous</a:t>
            </a:r>
          </a:p>
        </p:txBody>
      </p:sp>
      <p:pic>
        <p:nvPicPr>
          <p:cNvPr id="33" name="Picture 32" descr="dozer.png"/>
          <p:cNvPicPr>
            <a:picLocks noChangeAspect="1"/>
          </p:cNvPicPr>
          <p:nvPr/>
        </p:nvPicPr>
        <p:blipFill>
          <a:blip r:embed="rId4"/>
          <a:stretch>
            <a:fillRect/>
          </a:stretch>
        </p:blipFill>
        <p:spPr>
          <a:xfrm>
            <a:off x="14287500" y="5905500"/>
            <a:ext cx="2667000" cy="1639254"/>
          </a:xfrm>
          <a:prstGeom prst="rect">
            <a:avLst/>
          </a:prstGeom>
        </p:spPr>
      </p:pic>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a trajectory as a schedule</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how the follower closes the gap</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Trace a command from start to finish</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End commands with until and withTimeout</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an Auto that follows two paths</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Aim, shoot, and check it in AdvantageScope</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WHAT'S NEXT</a:t>
            </a:r>
          </a:p>
        </p:txBody>
      </p:sp>
      <p:sp>
        <p:nvSpPr>
          <p:cNvPr id="26" name="TextBox 25"/>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Build season</a:t>
            </a:r>
          </a:p>
        </p:txBody>
      </p:sp>
      <p:sp>
        <p:nvSpPr>
          <p:cNvPr id="27" name="TextBox 26"/>
          <p:cNvSpPr txBox="1"/>
          <p:nvPr/>
        </p:nvSpPr>
        <p:spPr>
          <a:xfrm>
            <a:off x="13716000" y="4438650"/>
            <a:ext cx="3333750" cy="16192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Join a subsystem team and write real robot code.</a:t>
            </a:r>
          </a:p>
        </p:txBody>
      </p:sp>
      <p:sp>
        <p:nvSpPr>
          <p:cNvPr id="28" name="Rounded Rectangle 27"/>
          <p:cNvSpPr/>
          <p:nvPr/>
        </p:nvSpPr>
        <p:spPr>
          <a:xfrm rot="1200000">
            <a:off x="13830300" y="6286500"/>
            <a:ext cx="247650" cy="1143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rot="19800000">
            <a:off x="14287500" y="600075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rot="2100000">
            <a:off x="16764000" y="6096000"/>
            <a:ext cx="247650" cy="114300"/>
          </a:xfrm>
          <a:prstGeom prst="roundRect">
            <a:avLst>
              <a:gd name="adj" fmla="val 25000"/>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rot="600000">
            <a:off x="17049750" y="666750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20700000">
            <a:off x="13620750" y="6858000"/>
            <a:ext cx="247650" cy="114300"/>
          </a:xfrm>
          <a:prstGeom prst="roundRect">
            <a:avLst>
              <a:gd name="adj" fmla="val 25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rot="3000000">
            <a:off x="16383000" y="5715000"/>
            <a:ext cx="247650" cy="114300"/>
          </a:xfrm>
          <a:prstGeom prst="roundRect">
            <a:avLst>
              <a:gd name="adj" fmla="val 25000"/>
            </a:avLst>
          </a:prstGeom>
          <a:solidFill>
            <a:srgbClr val="9FD2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rophy-fill.png"/>
          <p:cNvPicPr>
            <a:picLocks noChangeAspect="1"/>
          </p:cNvPicPr>
          <p:nvPr/>
        </p:nvPicPr>
        <p:blipFill>
          <a:blip r:embed="rId5"/>
          <a:stretch>
            <a:fillRect/>
          </a:stretch>
        </p:blipFill>
        <p:spPr>
          <a:xfrm>
            <a:off x="14859000" y="5810250"/>
            <a:ext cx="666750" cy="666750"/>
          </a:xfrm>
          <a:prstGeom prst="rect">
            <a:avLst/>
          </a:prstGeom>
        </p:spPr>
      </p:pic>
      <p:pic>
        <p:nvPicPr>
          <p:cNvPr id="35" name="Picture 34" descr="dozer_look_up.png"/>
          <p:cNvPicPr>
            <a:picLocks noChangeAspect="1"/>
          </p:cNvPicPr>
          <p:nvPr/>
        </p:nvPicPr>
        <p:blipFill>
          <a:blip r:embed="rId6"/>
          <a:stretch>
            <a:fillRect/>
          </a:stretch>
        </p:blipFill>
        <p:spPr>
          <a:xfrm>
            <a:off x="14097000" y="6762750"/>
            <a:ext cx="2667000" cy="1639254"/>
          </a:xfrm>
          <a:prstGeom prst="rect">
            <a:avLst/>
          </a:prstGeom>
        </p:spPr>
      </p:pic>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