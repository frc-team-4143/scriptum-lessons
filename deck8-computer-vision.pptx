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Computer Vision deck. So far the robot has known where it is only by counting wheel turns, and that slowly drifts. Today it learns to see the AprilTags on the field, combines what it sees with its wheels so it always knows where it is, and then uses that to turn and face the goal. The hands-on part is the Computer Vision lesson in Scriptum. Ask: how do you know where you are in a dark room? And when the lights come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how a camera sees and how it finds an AprilTag. Then how the robot turns those tags into a position on the field, how much to trust the camera, and finally how to aim at the goal with a PID. Ask: what could a robot do if it always knew exactly where it was? (Aim, drive to a spot by itself, line up to score.)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code, the hardware: why we need cameras at all, and what a camera actually measures.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Odometry adds up how far each wheel turned, every loop. It's fast and smooth, but every loop adds a tiny mistake: wheels slip, and the wheel size is never exactly right. The mistakes pile up. In the lesson's simulator, wheels alone end up about 0.1 to 0.5 meters and a few degrees off after a 6 to 11 meter drive. The drift on this picture is drawn bigger so you can see it. Ask: what happens to a shot from half a meter off? (It misses.)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camera measures light. Light from a source bounces off things, the lens bends it and focuses it, the shutter opens to let it in for a moment, and the sensor grid measures how much light hits each tiny square. Most of our tag cameras use wide angle (fisheye) lenses, close to 180 degrees, so they see more tags; the software uses math to flatten the bent picture. Ask: why would a wide view help find tags? (More tags in view at once.)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the computer a picture is just a grid of numbers, one per pixel: 0 is black, 255 is white. A color camera stores three numbers per pixel (red, green and blue); its sensor has a checkerboard color filter on top with twice as many green squares, like the human eye. Tags are black and white, so the detector throws the color away and keeps only brightness. Activity: read the zoomed numbers out loud and have the class say light or dark.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shutter decides when each row of pixels is measured. A rolling shutter reads the rows one after another, top to bottom, so anything that moves while it reads comes out slanted. A global shutter measures every pixel at the same moment. Ask the old deck's question: why do we want a global shutter on the robot? (The robot and the tags move relative to each other all the time; a slanted tag gives a wrong position.)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robots the cameras plug into an NVIDIA Jetson, a small computer with a graphics processor (GPU) that sits on the robot next to the roboRIO. It runs our own AprilTag detector, a GPU version first written by FRC Team 971, and sends the answers to the roboRIO over the robot network. Many teams use a Limelight or PhotonVision, which run on a normal processor; the GPU is about 5 times faster and keeps up with several 60 frames-per-second cameras. The Jetson lives at 10.41.43.200 on Varsity and 10.44.23.200 on JV. In Scriptum there's no Jetson: the simulator plays the cameras.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computer finds a tag in a picture, reads its ID, and works out where the camera must be.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AprilTag is a square code, a bit like a simple QR code. It was invented at the University of Michigan in 2011, and FRC fields have used the 36h11 family since 2023. 36 means 6 by 6 data bits; h11 means any two tags differ in at least 11 bits, so one can't be mistaken for another. Each pattern is one ID, and FIRST publishes exactly where every ID sits on the field. The pattern here is just for illustration. Ask: why black and white instead of colors? (Easy to see in any light.)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detector finds tags, step by step, about 60 times a second per camera. 1: throw the color away. 2: shrink the picture so the search is fast; the full picture is used later to sharpen the answer. 3: decide for each pixel whether it's definitely light, definitely dark or not sure, by comparing it with its neighbors. 4: clump the known pixels together and throw away tiny clumps. 5: fit four-sided shapes to the clumps; a big square with many small squares inside is a likely tag. 6: read the bits and look up the ID. Activity: hand out a printed tag and walk through the steps.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detector has a four-sided shape with corners, it works out where the middle of each data bit should be, and reads each one as 1 (light) or 0 (dark). It then finds the ID whose pattern is closest, allowing one or two wrong bits for glare or blur. If nothing is close enough, it's not a tag, and the detector drops it. Activity: give students a printed tag and a 6 by 6 grid to fill in with 1s and 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clever part. The detector knows where the four corners are in the picture. It knows how big the tag really is, and from calibrating the camera it knows exactly how the lens bends light. Put those together and there is only one place the camera could be to see the corners like that. This is called Perspective-n-Point, or PnP. And because FIRST tells us where every tag is on the field, the camera's spot relative to the tag becomes the camera's spot on the field. Ask: why does a tag far away look smaller? How could that tell you the distance?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PnP says where the camera is, but we want the middle of the robot. The camera is bolted somewhere on the robot, and we measure exactly where: in the lesson the front camera is 0.3 meters forward of the center and 0.3 meters up, facing forward, and the back camera is 0.3 meters behind, turned around by pi radians (180 degrees). The code shifts the camera's answer back to the robot's center. This is VisionConstants.java, trimmed. Ask: what goes wrong if someone moves a camera and doesn't update these numbers? (Every position is off by the same amount.)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field from above, with the blue alliance on the left. The robot has two cameras, one on the front and one on the back, and each sees a wedge of the field. A tag counts when it's inside a wedge and facing the camera. Red outlines are the tags the cameras can use right now. The tag spots here are simplified; the real 2026 layout has more tags. When a camera sees two or more tags at once, its answer is a multi-tag solution, the accurate kind. Ask: if the robot turns around, which tags would it see?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tag on its own is a trap. A small square seen from a little to the left can look almost exactly like the same square seen from a little to the right, so a single tag can fit two different camera spots. With two tags in view, only one spot fits both. That's why the lesson's code keeps only solutions made from at least two tags: VisionConstants.MIN_TAG_COUNT is 2. Activity: hold up a sheet of paper and have students on opposite sides of the room sketch it. Do the sketches look alike?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Tags aren't the only thing a camera can find. Object detection teaches the computer to spot things like game pieces or other robots. The team collects pictures (in 2024, video from a phone on a cart pushed around the field), draws a box around every game piece in Roboflow, and trains a YOLO model on them. TensorRT then speeds the model up so it runs on the Jetson. It's not part of this lesson, but it's how a robot can drive to a game piece by itself. Picture from the MARS/WARS docs.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Localization means working out where the robot is on the field. This part is the plumbing: the coordinates, the two sources, and the path a camera answer takes to your code.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uses one set of field coordinates. The origin is the blue alliance corner. x runs down the field, y runs across it, in meters. Headings are measured from the +x direction, and turning left (counterclockwise) is positive. The lesson's robot starts at (1.5, 1.5) facing 0 degrees, and the goal is at (4.0, 4.0) in the middle of the blue hub. In WPILib a spot is a Translation2d, a direction is a Rotation2d, and both together are a Pose2d. Ask: what's the robot's pose if it turns to face straight up the slide? ((1.5, 1.5, 90 degrees).)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graph shows how far off each kind of guess is during a 20 second drive (a sketch, not real data). Odometry starts perfect and slowly drifts away. The camera alone never drifts, but every answer is a little different: it's noisy. Blend the two and you get the best of both: smooth like the wheels, and pinned to the truth like the camera. That blend is the pose estimator's job, and it's what you build today. Ask: which line would you want to aim a shot from?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camera answer from picture to code. On the Jetson: take a picture, find the tags, work out where the camera is with PnP, and pack it into a tag solution. It travels over the robot network to the roboRIO, where MW-Lib's ProxyServerThread holds the latest ones. LocalizationSubsystem filters them, and your new line hands each good one to the pose estimator, which blends it with the wheel readings. The drivetrain reads the result with getPose() to aim. In the simulator, SimulationSubsystem plays the Jetson. Activity: eight students, one per box, pass a sticky note with a pose on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tag solution is one camera's answer: from the tags I can see, the robot is here, and I took the picture then. It holds the pose, the timestamp of the picture, the IDs of the tags it used and which camera sent it. These numbers are made up for the example. In AdvantageScope you can see the real ones under Proxy/TagSolutions. Ask: this one used tags 3 and 4. Is it multi-tag? (Yes, two tags.)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answer deserves trust, so LocalizationSubsystem checks each one before your code uses it. First, isNew() skips answers it has already used: the proxy server hands back its last 20 every loop. Then isSensible(), shown here, needs all four things true at once, joined with &amp;&amp;: the picture isn't from before a reset, the robot isn't spinning faster than 180 degrees a second (that blurs the picture), it used at least two tags, and the pose is inside the field walls. This part is provided. Ask: why throw away a pose that's outside the field? (The robot can't be there, so the answer is wrong.)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Part 1 of the lesson: one line of code, and two numbers you choose.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guess comes with a standard deviation: how far off it could be. Small means trust me, big means barely listen. Here the wheels say the robot is at x = 3.40 m but could be 0.15 m off; the camera says 3.10 m, give or take 0.06 m. The pose estimator blends them and leans toward the one it trusts more: 3.14 m, and it's surer than either one alone. The numbers are made up for the picture. Order in the code: x in meters, y in meters, heading in radians. Ask: what would the blend be if both had the same standard deviation? (Halfway: 3.25 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line you add in Part 1, inside the loop in LocalizationSubsystem.updateLogic(). 1: the pose the camera worked out. 2: the time the picture was taken, from the solution itself. 3: how far off it could be, as three numbers: x, y, heading. Then in LocalizationConstants.java you pick those numbers. The starter 5.0 means the camera could be 5 meters off, so the estimator ignores it. The guide suggests trying 0.3. Ask: what unit is the heading number in? (Radians.)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camera answer is a little old by the time it arrives: the picture has to be taken, worked on and sent. Here the picture is taken at 40 ms but arrives at 100 ms, three loops later. The pose estimator keeps a short history, so if you tell it when the picture was really taken, it slots the answer in at 40 ms and replays the wheel readings since. If you pass the time now (Timer.getFPGATimestamp()), it pins an old position to the present, and the estimate lags 0.08 to 0.12 m behind while the robot drives. The times here are an example. Ask: why doesn't this matter when the robot is sitting still? (It hasn't moved since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runs with different trust numbers, sketched. 5.0, the starter: the camera is ignored, so the error grows like odometry and fails the 5 cm check. 0.3: the estimate follows the camera, and once the robot stops it ends up within millimeters (the guide says about 3 mm and 0.2 degrees). 0.01: every noisy picture is believed, so the estimate shakes; watch it shiver on the 2D Field. The same goes for heading: a huge number like 99999 ignores the camera's heading, and the wheels' heading is 2 to 7 degrees off. Activity: have groups try each setting and compare their error plots.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of the lesson. The robot knows where it is; now it uses that to turn and face the goal, with a new state and a PID you tune.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face the goal you don't turn to a fixed number; you look at where the goal is from where you are. Draw an arrow from the robot to the goal: goal minus robot. From the start pose (1.5, 1.5) to the goal (4.0, 4.0) that arrow is (2.5, 2.5), which points at 45 degrees. The robot faces 0 degrees, so the error is 45 degrees: the goal is to the left. In code, Translation2d.minus() makes the arrow and getAngle() gives its direction. Use getPose(), the estimate: the robot can only aim from where it thinks it is. Ask: the robot drives to (4.0, 1.5). What's the angle now? (90 degrees.)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Headings go around a circle. 170 degrees and -170 degrees are only 20 degrees apart, but as plain numbers they're 340 apart, and a plain PID would spin the long way round. Continuous input tells the PID the numbers wrap from -pi to pi, so it always takes the short way. WPILib works in radians: pi radians is 180 degrees. The tolerance says how close counts as aimed, converted to radians. Activity: stand up, face 170 degrees, and have someone call -170. Which way do you turn?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starts with a new state. Add AIM to the DriveStates enum, after ARCADE with a comma. An enum is a fixed list of named values, perfect for states. Then make the PID controller from the three gains in DrivetrainConstants, so changing a constant changes the PID. The starter AIM_KP is 0.2; the numbers shown are where the lesson's solution ended up after tuning. Ask: why keep the gains in the constants file instead of typing 2.0 in the subsystem? (One place to tune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switch in DrivetrainSubsystem.updateLogic(), trimmed. 1: the new case. 2: ask the PID for a turn and flip its sign; more on that next. 3: the current heading and the goal direction, both from the pose estimate, in radians. 4: no forward speed, just the turn, so the robot spins on the spot. 5: every other state resets the PID, so old error doesn't carry into the next aim (IDLE gets the same reset). Ask: what would happen without break? (It falls into the next case.)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The PID's error is goal minus heading, and headings count counterclockwise, so a positive error means the goal is on the left. But on this robot a positive turn command turns it RIGHT, like pushing the stick right. So without the minus sign, the robot spins away from the goal. If your robot turns the wrong way, check the sign first. Activity: one student is the robot, another calls out the PID's number, and the class decides which way to turn with and without the flip.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isAimed() answers yes or no, and both halves must be true, joined with &amp;&amp;: the error is inside the 2 degree tolerance, AND the robot has stopped turning. A robot swinging through the goal isn't aimed, even for a moment; a shooter that fires then will miss. The command is the same shape as the shoot command from State Machines: startEnd sets AIM when the button goes down and ARCADE when it comes up. The left bumper (E on the keyboard) is already wired to it in OI. Ask: what would || do here instead of &amp;&amp;?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AimErrorDegrees looks like for three settings, from a simple model of the lesson's robot (sketch, not real data). kP 0.2, the starter: the error falls, then stalls about 6 degrees short, because the turn command gets too small to move the wheels. That's steady-state error. kP 1.0: it gets there, but swings about 6 degrees past. kP 2.0 with kD 0.2: fast, and it barely swings past at all. The checks: within 2 degrees for half a second, within 4 seconds, and never more than 10 degrees past. Ask: which line would make the shot miss, and why?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no formula for the gains: you find them by trying, and the recipe is the same for almost every PID. Change one number at a time and write down what it did. Push kP too high (try 6) and the robot never settles, it just wobbles: that's the edge of what a PID can do. The overshoot check remembers the worst swing from every press of E, so press Start again before your final clean run. Activity: have each group record kP, kD, settle time and overshoot in a table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Computer Vision lesson in Scriptum's FRC Robot track, about three hours. Part 1 is vision: one line of code and two trust numbers, then drive more than 5 meters, stop, wait 2 seconds and Verify. Part 2 is aiming: the AIM state, the PID, the command, then tune. The estimate and aim checks need the simulator running, and the overshoot check remembers every press, so start fresh before the final run. The stretch ideas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robot can now see tags, knows where it is to within a few centimeters, and turns to face the goal on a button. Knowing where you are is what makes autonomous possible: next deck, the robot drives paths from Choreo by itself and uses this aim state before it shoots. The Java lessons on the right are optional practice for the switch and the enum used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4.png"/><Relationship Id="rId9"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5.png"/><Relationship Id="rId10"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0.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image" Target="../media/image2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8</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Computer Vision</a:t>
            </a:r>
          </a:p>
        </p:txBody>
      </p:sp>
      <p:sp>
        <p:nvSpPr>
          <p:cNvPr id="6" name="TextBox 5"/>
          <p:cNvSpPr txBox="1"/>
          <p:nvPr/>
        </p:nvSpPr>
        <p:spPr>
          <a:xfrm>
            <a:off x="914400" y="4953000"/>
            <a:ext cx="1000125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Teach the robot to see AprilTags, always know where it is, and turn to face the goal.</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 can see the tags! Now I always know where I 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pictures to a pose to a shot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amera.png"/>
          <p:cNvPicPr>
            <a:picLocks noChangeAspect="1"/>
          </p:cNvPicPr>
          <p:nvPr/>
        </p:nvPicPr>
        <p:blipFill>
          <a:blip r:embed="rId3"/>
          <a:stretch>
            <a:fillRect/>
          </a:stretch>
        </p:blipFill>
        <p:spPr>
          <a:xfrm>
            <a:off x="1257300" y="3295650"/>
            <a:ext cx="762000" cy="5715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How a robot sees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Cameras, pixels and shutters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qr-code.png"/>
          <p:cNvPicPr>
            <a:picLocks noChangeAspect="1"/>
          </p:cNvPicPr>
          <p:nvPr/>
        </p:nvPicPr>
        <p:blipFill>
          <a:blip r:embed="rId4"/>
          <a:stretch>
            <a:fillRect/>
          </a:stretch>
        </p:blipFill>
        <p:spPr>
          <a:xfrm>
            <a:off x="4638675" y="3238500"/>
            <a:ext cx="685800"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AprilTags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Finding a tag and where the camera is</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eo-alt.png"/>
          <p:cNvPicPr>
            <a:picLocks noChangeAspect="1"/>
          </p:cNvPicPr>
          <p:nvPr/>
        </p:nvPicPr>
        <p:blipFill>
          <a:blip r:embed="rId5"/>
          <a:stretch>
            <a:fillRect/>
          </a:stretch>
        </p:blipFill>
        <p:spPr>
          <a:xfrm>
            <a:off x="8067675" y="3238500"/>
            <a:ext cx="51435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Where am I?</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Odometry, vision and tag solutions</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liders.png"/>
          <p:cNvPicPr>
            <a:picLocks noChangeAspect="1"/>
          </p:cNvPicPr>
          <p:nvPr/>
        </p:nvPicPr>
        <p:blipFill>
          <a:blip r:embed="rId6"/>
          <a:stretch>
            <a:fillRect/>
          </a:stretch>
        </p:blipFill>
        <p:spPr>
          <a:xfrm>
            <a:off x="11302365" y="3238500"/>
            <a:ext cx="731520" cy="6858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Trusting the camera</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pose estimator and its trust numbers</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rosshair.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Aiming at the goal</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Angle to the goal, the AIM state, PID</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rosshair.png"/>
          <p:cNvPicPr>
            <a:picLocks noChangeAspect="1"/>
          </p:cNvPicPr>
          <p:nvPr/>
        </p:nvPicPr>
        <p:blipFill>
          <a:blip r:embed="rId7"/>
          <a:stretch>
            <a:fillRect/>
          </a:stretch>
        </p:blipFill>
        <p:spPr>
          <a:xfrm>
            <a:off x="1333500" y="8067675"/>
            <a:ext cx="53340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your robot knows where it is to within 5 cm, and turns to face the goal at the press of a button.</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How a robot sees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Why the wheels aren't enough, and how a camera turns light into numbers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My wheels slip a little. My camera never gets lost!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the wheels aren't enough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287000" cy="5019111"/>
          </a:xfrm>
          <a:prstGeom prst="roundRect">
            <a:avLst>
              <a:gd name="adj" fmla="val 1518"/>
            </a:avLst>
          </a:prstGeom>
          <a:solidFill>
            <a:srgbClr val="111111"/>
          </a:solid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048375" y="2905125"/>
            <a:ext cx="19050" cy="4923861"/>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23508"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885702"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94789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010092"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072286"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134481"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196676"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258870"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321065"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383260"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445454"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507649"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569844"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632039"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694233"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756428"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818623"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88081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943012"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00520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067401"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129596"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191791"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253985"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16180"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378375"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3440569"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502764"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564959"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3627153"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689348"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751543"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81373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875932"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93812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000321" y="6919878"/>
            <a:ext cx="10969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3" name="Connector 42"/>
          <p:cNvCxnSpPr/>
          <p:nvPr/>
        </p:nvCxnSpPr>
        <p:spPr>
          <a:xfrm flipV="1">
            <a:off x="4086206" y="6931990"/>
            <a:ext cx="61704" cy="77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47910" y="6920336"/>
            <a:ext cx="61093" cy="116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09003" y="6904869"/>
            <a:ext cx="60241" cy="154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269244" y="6885650"/>
            <a:ext cx="59151" cy="1921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328395" y="6862754"/>
            <a:ext cx="57827" cy="228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386222" y="6836273"/>
            <a:ext cx="56275" cy="2648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442497" y="6806311"/>
            <a:ext cx="54502" cy="2996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96999" y="6772985"/>
            <a:ext cx="52512" cy="3332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549511" y="6736428"/>
            <a:ext cx="50317" cy="365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99828" y="6696783"/>
            <a:ext cx="47922" cy="3964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647750" y="6654208"/>
            <a:ext cx="45338" cy="425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693088" y="6608870"/>
            <a:ext cx="42575" cy="453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735663" y="6560948"/>
            <a:ext cx="39644" cy="4792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775307" y="6510632"/>
            <a:ext cx="36558" cy="5031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811865" y="6458119"/>
            <a:ext cx="33325" cy="5251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845190" y="6403618"/>
            <a:ext cx="29963" cy="5450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875153" y="6347342"/>
            <a:ext cx="26481" cy="562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901634" y="6289515"/>
            <a:ext cx="22895" cy="578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924529" y="6230364"/>
            <a:ext cx="19219" cy="591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943748" y="6170124"/>
            <a:ext cx="15468" cy="602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959216" y="6109031"/>
            <a:ext cx="11654" cy="610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970870" y="6047326"/>
            <a:ext cx="7795" cy="617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4954852" y="5961442"/>
            <a:ext cx="47625" cy="109697"/>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4958758" y="5899247"/>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958758" y="5837053"/>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4958758" y="5774858"/>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4958758" y="5712663"/>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4958758" y="5650468"/>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958758" y="5588274"/>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958758" y="5526079"/>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4958758" y="5463884"/>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958758" y="5401690"/>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4958758" y="5339495"/>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4958758" y="5277300"/>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958758" y="5215106"/>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4958758" y="5152911"/>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4958758" y="5090716"/>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4958758" y="5028522"/>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4958758" y="4966327"/>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4958758" y="4904255"/>
            <a:ext cx="47625" cy="109697"/>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3" name="Connector 82"/>
          <p:cNvCxnSpPr/>
          <p:nvPr/>
        </p:nvCxnSpPr>
        <p:spPr>
          <a:xfrm flipV="1">
            <a:off x="4986475" y="4866363"/>
            <a:ext cx="7795" cy="617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4994270" y="4805270"/>
            <a:ext cx="11654" cy="610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005924" y="4745030"/>
            <a:ext cx="15468" cy="602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021392" y="4685879"/>
            <a:ext cx="19219" cy="591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5040611" y="4628052"/>
            <a:ext cx="22895" cy="578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063506" y="4571776"/>
            <a:ext cx="26481" cy="562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5089987" y="4517275"/>
            <a:ext cx="29963" cy="5450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119950" y="4464762"/>
            <a:ext cx="33326" cy="5251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153276" y="4414445"/>
            <a:ext cx="36557" cy="5031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189833" y="4366524"/>
            <a:ext cx="39644" cy="479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229477" y="4321186"/>
            <a:ext cx="42575" cy="453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272052" y="4278610"/>
            <a:ext cx="45338" cy="425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317390" y="4238966"/>
            <a:ext cx="47922" cy="396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365312" y="4202409"/>
            <a:ext cx="50317" cy="365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415629" y="4169083"/>
            <a:ext cx="52512" cy="3332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468141" y="4139121"/>
            <a:ext cx="54502" cy="2996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522643" y="4112640"/>
            <a:ext cx="56275" cy="2648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578918" y="4089744"/>
            <a:ext cx="57827" cy="228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636745" y="4070525"/>
            <a:ext cx="59151" cy="1921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695896" y="4055058"/>
            <a:ext cx="60241" cy="154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756137" y="4043404"/>
            <a:ext cx="61093" cy="116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817230" y="4035609"/>
            <a:ext cx="61704" cy="77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5855122" y="4011796"/>
            <a:ext cx="10969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5917194"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597938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04158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10377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165972"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22816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290362"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352556"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41475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476946"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6539140"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6601335"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6663530"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6725724"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6787919"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6850114"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691230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697450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703669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709889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716108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7223282"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728547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734767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ectangle 129"/>
          <p:cNvSpPr/>
          <p:nvPr/>
        </p:nvSpPr>
        <p:spPr>
          <a:xfrm>
            <a:off x="7409866"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747206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7534255"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7596450"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7658645"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7720839"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7783034"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7845229"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790742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796961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803181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809400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8156202"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821839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ectangle 143"/>
          <p:cNvSpPr/>
          <p:nvPr/>
        </p:nvSpPr>
        <p:spPr>
          <a:xfrm>
            <a:off x="828059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ectangle 144"/>
          <p:cNvSpPr/>
          <p:nvPr/>
        </p:nvSpPr>
        <p:spPr>
          <a:xfrm>
            <a:off x="8342786"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ectangle 145"/>
          <p:cNvSpPr/>
          <p:nvPr/>
        </p:nvSpPr>
        <p:spPr>
          <a:xfrm>
            <a:off x="840498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ectangle 146"/>
          <p:cNvSpPr/>
          <p:nvPr/>
        </p:nvSpPr>
        <p:spPr>
          <a:xfrm>
            <a:off x="1823508" y="6919878"/>
            <a:ext cx="111685"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ectangle 147"/>
          <p:cNvSpPr/>
          <p:nvPr/>
        </p:nvSpPr>
        <p:spPr>
          <a:xfrm>
            <a:off x="1951628" y="6920247"/>
            <a:ext cx="111684"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2079746" y="6921108"/>
            <a:ext cx="111683"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2207860" y="6922461"/>
            <a:ext cx="111680"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2335968" y="6924305"/>
            <a:ext cx="111676"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2464067" y="6926642"/>
            <a:ext cx="111671"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2592157" y="6929471"/>
            <a:ext cx="111666"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2720235" y="6932791"/>
            <a:ext cx="111659"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2848299" y="6936603"/>
            <a:ext cx="111651"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2976348" y="6940907"/>
            <a:ext cx="111643"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3104379" y="6945702"/>
            <a:ext cx="111633"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3232391" y="6950989"/>
            <a:ext cx="111623"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3360382" y="6956767"/>
            <a:ext cx="111612"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3488349" y="6963037"/>
            <a:ext cx="111599"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3616292" y="6969798"/>
            <a:ext cx="111586"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3744207" y="6977051"/>
            <a:ext cx="111572"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3872094" y="6984794"/>
            <a:ext cx="111557"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3999950" y="6993029"/>
            <a:ext cx="111541"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4127925" y="6997733"/>
            <a:ext cx="111590"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6" name="Connector 165"/>
          <p:cNvCxnSpPr/>
          <p:nvPr/>
        </p:nvCxnSpPr>
        <p:spPr>
          <a:xfrm flipV="1">
            <a:off x="4279336" y="6999417"/>
            <a:ext cx="63066" cy="1124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404666" y="6965528"/>
            <a:ext cx="61232" cy="1882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525871" y="6916882"/>
            <a:ext cx="58490" cy="2612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641152" y="6854202"/>
            <a:ext cx="54882" cy="33041"/>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748803" y="6778414"/>
            <a:ext cx="50459" cy="3946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47226" y="6690644"/>
            <a:ext cx="45290" cy="4530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934963" y="6592192"/>
            <a:ext cx="39449" cy="5047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5010715" y="6484518"/>
            <a:ext cx="33022" cy="5489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5073356" y="6369217"/>
            <a:ext cx="26107" cy="5849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5121961" y="6247998"/>
            <a:ext cx="18804" cy="6123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5155806" y="6122659"/>
            <a:ext cx="11224" cy="6306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5174392" y="5995401"/>
            <a:ext cx="7486" cy="6362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5189485" y="5868201"/>
            <a:ext cx="7729" cy="6359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5205066" y="5741061"/>
            <a:ext cx="7973" cy="6356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5221134" y="5613983"/>
            <a:ext cx="8218" cy="63531"/>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5237691" y="5486968"/>
            <a:ext cx="8462" cy="6350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5254736" y="5360019"/>
            <a:ext cx="8705" cy="6346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5272268" y="5233137"/>
            <a:ext cx="8949" cy="6343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5290287" y="5106325"/>
            <a:ext cx="9192" cy="6339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5312754" y="4981975"/>
            <a:ext cx="17303" cy="6168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5351314" y="4862616"/>
            <a:ext cx="25123" cy="5892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5405321" y="4750246"/>
            <a:ext cx="32523" cy="5519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5473869" y="4646746"/>
            <a:ext cx="39378" cy="5052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5555812" y="4553852"/>
            <a:ext cx="45574" cy="4502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5649777" y="4473117"/>
            <a:ext cx="51006" cy="3875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5754189" y="4405895"/>
            <a:ext cx="55584" cy="3184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5867301" y="4353311"/>
            <a:ext cx="59232" cy="24401"/>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5987219" y="4316246"/>
            <a:ext cx="61886" cy="1654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6111932" y="4295320"/>
            <a:ext cx="63506" cy="841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sp>
        <p:nvSpPr>
          <p:cNvPr id="195" name="Rectangle 194"/>
          <p:cNvSpPr/>
          <p:nvPr/>
        </p:nvSpPr>
        <p:spPr>
          <a:xfrm>
            <a:off x="6215542" y="4267218"/>
            <a:ext cx="111685"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6" name="Connector 195"/>
          <p:cNvCxnSpPr/>
          <p:nvPr/>
        </p:nvCxnSpPr>
        <p:spPr>
          <a:xfrm>
            <a:off x="6367350" y="4294885"/>
            <a:ext cx="63543" cy="812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6493776" y="4315237"/>
            <a:ext cx="62860" cy="1234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6619472" y="4340046"/>
            <a:ext cx="62813" cy="1258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6745072" y="4365337"/>
            <a:ext cx="62764" cy="1282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6870574" y="4391110"/>
            <a:ext cx="62714" cy="1306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6995976" y="4417365"/>
            <a:ext cx="62663" cy="1330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7121277" y="4444101"/>
            <a:ext cx="62611" cy="1354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7246473" y="4471319"/>
            <a:ext cx="62559" cy="1378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7371565" y="4499016"/>
            <a:ext cx="62505" cy="1402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7496548" y="4527194"/>
            <a:ext cx="62452" cy="1426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7621423" y="4555852"/>
            <a:ext cx="62396" cy="1450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7746187" y="4584988"/>
            <a:ext cx="62340" cy="1474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7870838" y="4614604"/>
            <a:ext cx="62283" cy="1498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7995375" y="4644698"/>
            <a:ext cx="62225" cy="1522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8119795" y="4675270"/>
            <a:ext cx="62166" cy="1546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8244097" y="4706320"/>
            <a:ext cx="62105" cy="1570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8368278" y="4737846"/>
            <a:ext cx="62045" cy="1594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8492338" y="4769849"/>
            <a:ext cx="61983" cy="1618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8616274" y="4802329"/>
            <a:ext cx="61920" cy="1641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8740084" y="4835284"/>
            <a:ext cx="61857" cy="1665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8863766" y="4868714"/>
            <a:ext cx="61793" cy="1689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sp>
        <p:nvSpPr>
          <p:cNvPr id="217" name="Oval 216"/>
          <p:cNvSpPr/>
          <p:nvPr/>
        </p:nvSpPr>
        <p:spPr>
          <a:xfrm>
            <a:off x="1752070" y="6848440"/>
            <a:ext cx="190500" cy="1905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1656820" y="7096090"/>
            <a:ext cx="1143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start</a:t>
            </a:r>
          </a:p>
        </p:txBody>
      </p:sp>
      <p:pic>
        <p:nvPicPr>
          <p:cNvPr id="219" name="Picture 218" descr="dozer_top.png"/>
          <p:cNvPicPr>
            <a:picLocks noChangeAspect="1"/>
          </p:cNvPicPr>
          <p:nvPr/>
        </p:nvPicPr>
        <p:blipFill>
          <a:blip r:embed="rId3"/>
          <a:stretch>
            <a:fillRect/>
          </a:stretch>
        </p:blipFill>
        <p:spPr>
          <a:xfrm rot="0">
            <a:off x="8062363" y="3637710"/>
            <a:ext cx="857250" cy="787986"/>
          </a:xfrm>
          <a:prstGeom prst="rect">
            <a:avLst/>
          </a:prstGeom>
        </p:spPr>
      </p:pic>
      <p:sp>
        <p:nvSpPr>
          <p:cNvPr id="220" name="Rounded Rectangle 219"/>
          <p:cNvSpPr/>
          <p:nvPr/>
        </p:nvSpPr>
        <p:spPr>
          <a:xfrm>
            <a:off x="8549170" y="4464468"/>
            <a:ext cx="876300" cy="876300"/>
          </a:xfrm>
          <a:prstGeom prst="roundRect">
            <a:avLst>
              <a:gd name="adj" fmla="val 50000"/>
            </a:avLst>
          </a:prstGeom>
          <a:noFill/>
          <a:ln w="38100">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TextBox 220"/>
          <p:cNvSpPr txBox="1"/>
          <p:nvPr/>
        </p:nvSpPr>
        <p:spPr>
          <a:xfrm>
            <a:off x="8205238" y="3174453"/>
            <a:ext cx="28575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really here</a:t>
            </a:r>
          </a:p>
        </p:txBody>
      </p:sp>
      <p:sp>
        <p:nvSpPr>
          <p:cNvPr id="222" name="TextBox 221"/>
          <p:cNvSpPr txBox="1"/>
          <p:nvPr/>
        </p:nvSpPr>
        <p:spPr>
          <a:xfrm>
            <a:off x="8701570" y="5436018"/>
            <a:ext cx="314325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wheels think I'm here</a:t>
            </a:r>
          </a:p>
        </p:txBody>
      </p:sp>
      <p:sp>
        <p:nvSpPr>
          <p:cNvPr id="223" name="TextBox 222"/>
          <p:cNvSpPr txBox="1"/>
          <p:nvPr/>
        </p:nvSpPr>
        <p:spPr>
          <a:xfrm>
            <a:off x="914400" y="7990911"/>
            <a:ext cx="10287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Drift drawn bigger than life so you can see it.</a:t>
            </a:r>
          </a:p>
        </p:txBody>
      </p:sp>
      <p:sp>
        <p:nvSpPr>
          <p:cNvPr id="224" name="Rectangle 223"/>
          <p:cNvSpPr/>
          <p:nvPr/>
        </p:nvSpPr>
        <p:spPr>
          <a:xfrm>
            <a:off x="11811000" y="3143250"/>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5" name="TextBox 224"/>
          <p:cNvSpPr txBox="1"/>
          <p:nvPr/>
        </p:nvSpPr>
        <p:spPr>
          <a:xfrm>
            <a:off x="12382500" y="3009900"/>
            <a:ext cx="4953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Where the robot really went</a:t>
            </a:r>
          </a:p>
        </p:txBody>
      </p:sp>
      <p:sp>
        <p:nvSpPr>
          <p:cNvPr id="226" name="Rectangle 225"/>
          <p:cNvSpPr/>
          <p:nvPr/>
        </p:nvSpPr>
        <p:spPr>
          <a:xfrm>
            <a:off x="11811000" y="3714750"/>
            <a:ext cx="38100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7" name="TextBox 226"/>
          <p:cNvSpPr txBox="1"/>
          <p:nvPr/>
        </p:nvSpPr>
        <p:spPr>
          <a:xfrm>
            <a:off x="12382500" y="3581400"/>
            <a:ext cx="4953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What odometry adds up</a:t>
            </a:r>
          </a:p>
        </p:txBody>
      </p:sp>
      <p:sp>
        <p:nvSpPr>
          <p:cNvPr id="228" name="Rounded Rectangle 227"/>
          <p:cNvSpPr/>
          <p:nvPr/>
        </p:nvSpPr>
        <p:spPr>
          <a:xfrm>
            <a:off x="11811000" y="4191000"/>
            <a:ext cx="55626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9" name="TextBox 228"/>
          <p:cNvSpPr txBox="1"/>
          <p:nvPr/>
        </p:nvSpPr>
        <p:spPr>
          <a:xfrm>
            <a:off x="12192000" y="4572000"/>
            <a:ext cx="48006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Odometry</a:t>
            </a:r>
          </a:p>
        </p:txBody>
      </p:sp>
      <p:sp>
        <p:nvSpPr>
          <p:cNvPr id="230" name="TextBox 229"/>
          <p:cNvSpPr txBox="1"/>
          <p:nvPr/>
        </p:nvSpPr>
        <p:spPr>
          <a:xfrm>
            <a:off x="12192000" y="5109210"/>
            <a:ext cx="480060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Counts wheel turns. Fast and smooth, but tiny mistakes pile up.</a:t>
            </a:r>
          </a:p>
        </p:txBody>
      </p:sp>
      <p:sp>
        <p:nvSpPr>
          <p:cNvPr id="231" name="Rounded Rectangle 230"/>
          <p:cNvSpPr/>
          <p:nvPr/>
        </p:nvSpPr>
        <p:spPr>
          <a:xfrm>
            <a:off x="11811000" y="6381750"/>
            <a:ext cx="55626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TextBox 231"/>
          <p:cNvSpPr txBox="1"/>
          <p:nvPr/>
        </p:nvSpPr>
        <p:spPr>
          <a:xfrm>
            <a:off x="12192000" y="6762750"/>
            <a:ext cx="48006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Camera</a:t>
            </a:r>
          </a:p>
        </p:txBody>
      </p:sp>
      <p:sp>
        <p:nvSpPr>
          <p:cNvPr id="233" name="TextBox 232"/>
          <p:cNvSpPr txBox="1"/>
          <p:nvPr/>
        </p:nvSpPr>
        <p:spPr>
          <a:xfrm>
            <a:off x="12192000" y="7299960"/>
            <a:ext cx="480060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Sees tags at known spots. Never drifts, but a bit noisy and a bit late.</a:t>
            </a:r>
          </a:p>
        </p:txBody>
      </p:sp>
      <p:sp>
        <p:nvSpPr>
          <p:cNvPr id="234" name="TextBox 233"/>
          <p:cNvSpPr txBox="1"/>
          <p:nvPr/>
        </p:nvSpPr>
        <p:spPr>
          <a:xfrm>
            <a:off x="914400" y="8572500"/>
            <a:ext cx="164592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Good robots do both: </a:t>
            </a:r>
            <a:r>
              <a:rPr sz="1950" b="0" i="0">
                <a:solidFill>
                  <a:srgbClr val="F0E8E8"/>
                </a:solidFill>
                <a:latin typeface="Geist"/>
                <a:ea typeface="Geist"/>
                <a:cs typeface="Geist"/>
              </a:rPr>
              <a:t>wheels for quick, smooth updates, cameras to pull the guess back to the truth.</a:t>
            </a:r>
          </a:p>
        </p:txBody>
      </p:sp>
      <p:sp>
        <p:nvSpPr>
          <p:cNvPr id="235" name="TextBox 2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6" name="TextBox 2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a camera sees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ightbulb.png"/>
          <p:cNvPicPr>
            <a:picLocks noChangeAspect="1"/>
          </p:cNvPicPr>
          <p:nvPr/>
        </p:nvPicPr>
        <p:blipFill>
          <a:blip r:embed="rId3"/>
          <a:stretch>
            <a:fillRect/>
          </a:stretch>
        </p:blipFill>
        <p:spPr>
          <a:xfrm>
            <a:off x="1321594" y="3810000"/>
            <a:ext cx="785812" cy="1047750"/>
          </a:xfrm>
          <a:prstGeom prst="rect">
            <a:avLst/>
          </a:prstGeom>
        </p:spPr>
      </p:pic>
      <p:sp>
        <p:nvSpPr>
          <p:cNvPr id="6" name="TextBox 5"/>
          <p:cNvSpPr txBox="1"/>
          <p:nvPr/>
        </p:nvSpPr>
        <p:spPr>
          <a:xfrm>
            <a:off x="914400" y="5448300"/>
            <a:ext cx="161925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Light source</a:t>
            </a:r>
          </a:p>
        </p:txBody>
      </p:sp>
      <p:sp>
        <p:nvSpPr>
          <p:cNvPr id="7" name="Rectangle 6"/>
          <p:cNvSpPr/>
          <p:nvPr/>
        </p:nvSpPr>
        <p:spPr>
          <a:xfrm>
            <a:off x="4476750" y="3143250"/>
            <a:ext cx="1428750" cy="142875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619625" y="3286125"/>
            <a:ext cx="1143000" cy="1143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762500" y="34290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048250" y="34290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191125" y="34290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905375" y="35718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48250" y="35718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334000" y="35718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62500" y="371475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905375" y="371475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76875" y="371475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048250" y="385762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91125" y="385762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334000" y="385762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76875" y="385762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762500" y="40005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191125" y="40005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334000" y="40005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905375" y="41433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191125" y="41433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76875" y="41433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095750" y="5448300"/>
            <a:ext cx="219075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Object</a:t>
            </a:r>
          </a:p>
        </p:txBody>
      </p:sp>
      <p:cxnSp>
        <p:nvCxnSpPr>
          <p:cNvPr id="29" name="Connector 28"/>
          <p:cNvCxnSpPr/>
          <p:nvPr/>
        </p:nvCxnSpPr>
        <p:spPr>
          <a:xfrm flipV="1">
            <a:off x="2381250" y="3810000"/>
            <a:ext cx="1809750" cy="3810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96000" y="3810000"/>
            <a:ext cx="2190750" cy="381000"/>
          </a:xfrm>
          <a:prstGeom prst="line">
            <a:avLst/>
          </a:prstGeom>
          <a:ln w="3810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91250" y="3143250"/>
            <a:ext cx="2095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reflection</a:t>
            </a:r>
          </a:p>
        </p:txBody>
      </p:sp>
      <p:sp>
        <p:nvSpPr>
          <p:cNvPr id="32" name="Oval 31"/>
          <p:cNvSpPr/>
          <p:nvPr/>
        </p:nvSpPr>
        <p:spPr>
          <a:xfrm>
            <a:off x="8572500" y="2857500"/>
            <a:ext cx="666750" cy="2476500"/>
          </a:xfrm>
          <a:prstGeom prst="ellipse">
            <a:avLst/>
          </a:prstGeom>
          <a:solidFill>
            <a:srgbClr val="1A0F0F"/>
          </a:solidFill>
          <a:ln w="28575">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8625" y="5448300"/>
            <a:ext cx="171450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Lens</a:t>
            </a:r>
          </a:p>
        </p:txBody>
      </p:sp>
      <p:sp>
        <p:nvSpPr>
          <p:cNvPr id="34" name="Rectangle 33"/>
          <p:cNvSpPr/>
          <p:nvPr/>
        </p:nvSpPr>
        <p:spPr>
          <a:xfrm>
            <a:off x="9315450" y="4076700"/>
            <a:ext cx="94869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sosceles Triangle 34"/>
          <p:cNvSpPr/>
          <p:nvPr/>
        </p:nvSpPr>
        <p:spPr>
          <a:xfrm rot="5400000">
            <a:off x="10229850" y="40195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572750" y="2952750"/>
            <a:ext cx="209550" cy="952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0572750" y="4286250"/>
            <a:ext cx="209550" cy="952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820275" y="5448300"/>
            <a:ext cx="171450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Shutter</a:t>
            </a:r>
          </a:p>
        </p:txBody>
      </p:sp>
      <p:sp>
        <p:nvSpPr>
          <p:cNvPr id="39" name="Rectangle 38"/>
          <p:cNvSpPr/>
          <p:nvPr/>
        </p:nvSpPr>
        <p:spPr>
          <a:xfrm>
            <a:off x="10887075" y="4076700"/>
            <a:ext cx="996315"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rot="5400000">
            <a:off x="11849100" y="40195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2287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2668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3049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3430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3811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4192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2287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12668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3049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3430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3811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4192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2287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2668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3049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3430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3811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4192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2287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2668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3049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3430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3811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4192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2287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2668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3049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3430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3811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4192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2287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2668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049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3430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3811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192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2001500" y="5448300"/>
            <a:ext cx="285750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Sensor grid</a:t>
            </a:r>
          </a:p>
        </p:txBody>
      </p:sp>
      <p:sp>
        <p:nvSpPr>
          <p:cNvPr id="78" name="Rounded Rectangle 77"/>
          <p:cNvSpPr/>
          <p:nvPr/>
        </p:nvSpPr>
        <p:spPr>
          <a:xfrm>
            <a:off x="914400" y="6096000"/>
            <a:ext cx="5283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295400" y="64770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Lens</a:t>
            </a:r>
          </a:p>
        </p:txBody>
      </p:sp>
      <p:sp>
        <p:nvSpPr>
          <p:cNvPr id="80" name="TextBox 79"/>
          <p:cNvSpPr txBox="1"/>
          <p:nvPr/>
        </p:nvSpPr>
        <p:spPr>
          <a:xfrm>
            <a:off x="1295400" y="7038975"/>
            <a:ext cx="4521200" cy="1428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Focuses the light. Our tag cameras use wide angle lenses; math flattens the picture.</a:t>
            </a:r>
          </a:p>
        </p:txBody>
      </p:sp>
      <p:sp>
        <p:nvSpPr>
          <p:cNvPr id="81" name="Rounded Rectangle 80"/>
          <p:cNvSpPr/>
          <p:nvPr/>
        </p:nvSpPr>
        <p:spPr>
          <a:xfrm>
            <a:off x="6502400" y="6096000"/>
            <a:ext cx="5283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6883400" y="64770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Shutter</a:t>
            </a:r>
          </a:p>
        </p:txBody>
      </p:sp>
      <p:sp>
        <p:nvSpPr>
          <p:cNvPr id="83" name="TextBox 82"/>
          <p:cNvSpPr txBox="1"/>
          <p:nvPr/>
        </p:nvSpPr>
        <p:spPr>
          <a:xfrm>
            <a:off x="6883400" y="7038975"/>
            <a:ext cx="4521200" cy="1428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Opens for a moment to let light in, then closes.</a:t>
            </a:r>
          </a:p>
        </p:txBody>
      </p:sp>
      <p:sp>
        <p:nvSpPr>
          <p:cNvPr id="84" name="Rounded Rectangle 83"/>
          <p:cNvSpPr/>
          <p:nvPr/>
        </p:nvSpPr>
        <p:spPr>
          <a:xfrm>
            <a:off x="12090400" y="6096000"/>
            <a:ext cx="5283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2471400" y="64770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Sensor grid</a:t>
            </a:r>
          </a:p>
        </p:txBody>
      </p:sp>
      <p:sp>
        <p:nvSpPr>
          <p:cNvPr id="86" name="TextBox 85"/>
          <p:cNvSpPr txBox="1"/>
          <p:nvPr/>
        </p:nvSpPr>
        <p:spPr>
          <a:xfrm>
            <a:off x="12471400" y="7038975"/>
            <a:ext cx="4521200" cy="1428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Millions of tiny squares (pixels). Each measures how much light hit it.</a:t>
            </a:r>
          </a:p>
        </p:txBody>
      </p:sp>
      <p:sp>
        <p:nvSpPr>
          <p:cNvPr id="87" name="TextBox 8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8" name="TextBox 8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picture is a grid of numbers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514350" cy="514350"/>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47800" y="2857500"/>
            <a:ext cx="514350" cy="514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981200" y="28575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514600" y="2857500"/>
            <a:ext cx="514350" cy="51435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048000" y="2857500"/>
            <a:ext cx="514350" cy="51435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581400" y="2857500"/>
            <a:ext cx="514350" cy="5143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14800" y="2857500"/>
            <a:ext cx="514350" cy="514350"/>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48200" y="2857500"/>
            <a:ext cx="514350" cy="514350"/>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181600" y="2857500"/>
            <a:ext cx="514350" cy="514350"/>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715000" y="2857500"/>
            <a:ext cx="514350" cy="51435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14400" y="3390900"/>
            <a:ext cx="514350" cy="51435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447800" y="3390900"/>
            <a:ext cx="514350" cy="51435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981200" y="3390900"/>
            <a:ext cx="514350" cy="51435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514600" y="3390900"/>
            <a:ext cx="514350" cy="5143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048000" y="3390900"/>
            <a:ext cx="514350" cy="514350"/>
          </a:xfrm>
          <a:prstGeom prst="rect">
            <a:avLst/>
          </a:prstGeom>
          <a:solidFill>
            <a:srgbClr val="2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581400" y="3390900"/>
            <a:ext cx="514350" cy="51435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114800" y="3390900"/>
            <a:ext cx="514350" cy="51435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648200" y="3390900"/>
            <a:ext cx="514350" cy="51435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181600" y="3390900"/>
            <a:ext cx="514350" cy="514350"/>
          </a:xfrm>
          <a:prstGeom prst="rect">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715000" y="33909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14400" y="3924300"/>
            <a:ext cx="514350" cy="51435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447800" y="3924300"/>
            <a:ext cx="514350" cy="51435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981200" y="3924300"/>
            <a:ext cx="514350" cy="514350"/>
          </a:xfrm>
          <a:prstGeom prst="rect">
            <a:avLst/>
          </a:prstGeom>
          <a:solidFill>
            <a:srgbClr val="C2C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514600" y="3924300"/>
            <a:ext cx="514350" cy="514350"/>
          </a:xfrm>
          <a:prstGeom prst="rect">
            <a:avLst/>
          </a:prstGeom>
          <a:solidFill>
            <a:srgbClr val="31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048000" y="3924300"/>
            <a:ext cx="514350" cy="514350"/>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81400" y="3924300"/>
            <a:ext cx="514350" cy="514350"/>
          </a:xfrm>
          <a:prstGeom prst="rect">
            <a:avLst/>
          </a:prstGeom>
          <a:solidFill>
            <a:srgbClr val="D2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114800" y="3924300"/>
            <a:ext cx="514350" cy="51435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648200" y="3924300"/>
            <a:ext cx="514350" cy="51435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181600" y="3924300"/>
            <a:ext cx="514350" cy="514350"/>
          </a:xfrm>
          <a:prstGeom prst="rect">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715000" y="3924300"/>
            <a:ext cx="514350" cy="514350"/>
          </a:xfrm>
          <a:prstGeom prst="rect">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14400" y="4457700"/>
            <a:ext cx="514350" cy="51435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447800" y="4457700"/>
            <a:ext cx="514350" cy="51435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981200" y="4457700"/>
            <a:ext cx="514350" cy="51435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514600" y="4457700"/>
            <a:ext cx="514350" cy="514350"/>
          </a:xfrm>
          <a:prstGeom prst="rect">
            <a:avLst/>
          </a:prstGeom>
          <a:solidFill>
            <a:srgbClr val="E7E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048000" y="44577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581400" y="4457700"/>
            <a:ext cx="514350" cy="514350"/>
          </a:xfrm>
          <a:prstGeom prst="rect">
            <a:avLst/>
          </a:prstGeom>
          <a:solidFill>
            <a:srgbClr val="32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114800" y="4457700"/>
            <a:ext cx="514350" cy="5143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648200" y="4457700"/>
            <a:ext cx="514350" cy="514350"/>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181600" y="4457700"/>
            <a:ext cx="514350" cy="514350"/>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5715000" y="4457700"/>
            <a:ext cx="514350" cy="514350"/>
          </a:xfrm>
          <a:prstGeom prst="rect">
            <a:avLst/>
          </a:prstGeom>
          <a:solidFill>
            <a:srgbClr val="DBD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914400" y="4991100"/>
            <a:ext cx="514350" cy="514350"/>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447800" y="4991100"/>
            <a:ext cx="514350" cy="51435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981200" y="4991100"/>
            <a:ext cx="514350" cy="514350"/>
          </a:xfrm>
          <a:prstGeom prst="rect">
            <a:avLst/>
          </a:prstGeom>
          <a:solidFill>
            <a:srgbClr val="D2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2514600" y="4991100"/>
            <a:ext cx="514350" cy="51435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048000" y="4991100"/>
            <a:ext cx="514350" cy="51435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3581400" y="4991100"/>
            <a:ext cx="514350" cy="514350"/>
          </a:xfrm>
          <a:prstGeom prst="rect">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114800" y="4991100"/>
            <a:ext cx="514350" cy="514350"/>
          </a:xfrm>
          <a:prstGeom prst="rect">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648200" y="4991100"/>
            <a:ext cx="514350" cy="514350"/>
          </a:xfrm>
          <a:prstGeom prst="rect">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5181600" y="4991100"/>
            <a:ext cx="514350" cy="514350"/>
          </a:xfrm>
          <a:prstGeom prst="rect">
            <a:avLst/>
          </a:prstGeom>
          <a:solidFill>
            <a:srgbClr val="2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5715000" y="4991100"/>
            <a:ext cx="514350" cy="514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14400" y="5524500"/>
            <a:ext cx="514350" cy="51435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447800" y="5524500"/>
            <a:ext cx="514350" cy="51435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981200" y="5524500"/>
            <a:ext cx="514350" cy="514350"/>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2514600" y="5524500"/>
            <a:ext cx="514350" cy="51435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3048000" y="5524500"/>
            <a:ext cx="514350" cy="514350"/>
          </a:xfrm>
          <a:prstGeom prst="rect">
            <a:avLst/>
          </a:prstGeom>
          <a:solidFill>
            <a:srgbClr val="E7E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3581400" y="5524500"/>
            <a:ext cx="514350" cy="514350"/>
          </a:xfrm>
          <a:prstGeom prst="rect">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4114800" y="5524500"/>
            <a:ext cx="514350" cy="514350"/>
          </a:xfrm>
          <a:prstGeom prst="rect">
            <a:avLst/>
          </a:prstGeom>
          <a:solidFill>
            <a:srgbClr val="DC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648200" y="5524500"/>
            <a:ext cx="514350" cy="5143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5181600" y="5524500"/>
            <a:ext cx="514350" cy="51435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5715000" y="5524500"/>
            <a:ext cx="514350" cy="514350"/>
          </a:xfrm>
          <a:prstGeom prst="rect">
            <a:avLst/>
          </a:prstGeom>
          <a:solidFill>
            <a:srgbClr val="DED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914400" y="6057900"/>
            <a:ext cx="514350" cy="514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447800" y="6057900"/>
            <a:ext cx="514350" cy="51435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981200" y="6057900"/>
            <a:ext cx="514350" cy="514350"/>
          </a:xfrm>
          <a:prstGeom prst="rect">
            <a:avLst/>
          </a:prstGeom>
          <a:solidFill>
            <a:srgbClr val="C3C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2514600" y="6057900"/>
            <a:ext cx="514350" cy="51435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3048000" y="6057900"/>
            <a:ext cx="514350" cy="51435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3581400" y="6057900"/>
            <a:ext cx="514350" cy="514350"/>
          </a:xfrm>
          <a:prstGeom prst="rect">
            <a:avLst/>
          </a:prstGeom>
          <a:solidFill>
            <a:srgbClr val="DED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114800" y="6057900"/>
            <a:ext cx="514350" cy="51435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648200" y="6057900"/>
            <a:ext cx="514350" cy="51435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5181600" y="6057900"/>
            <a:ext cx="514350" cy="514350"/>
          </a:xfrm>
          <a:prstGeom prst="rect">
            <a:avLst/>
          </a:prstGeom>
          <a:solidFill>
            <a:srgbClr val="2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5715000" y="6057900"/>
            <a:ext cx="514350" cy="51435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914400" y="6591300"/>
            <a:ext cx="514350" cy="51435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47800" y="6591300"/>
            <a:ext cx="514350" cy="51435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981200" y="6591300"/>
            <a:ext cx="514350" cy="514350"/>
          </a:xfrm>
          <a:prstGeom prst="rect">
            <a:avLst/>
          </a:prstGeom>
          <a:solidFill>
            <a:srgbClr val="343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2514600" y="65913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3048000" y="6591300"/>
            <a:ext cx="514350" cy="51435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3581400" y="6591300"/>
            <a:ext cx="514350" cy="51435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4114800" y="6591300"/>
            <a:ext cx="514350" cy="51435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4648200" y="6591300"/>
            <a:ext cx="514350" cy="514350"/>
          </a:xfrm>
          <a:prstGeom prst="rect">
            <a:avLst/>
          </a:prstGeom>
          <a:solidFill>
            <a:srgbClr val="C5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181600" y="6591300"/>
            <a:ext cx="514350" cy="514350"/>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715000" y="6591300"/>
            <a:ext cx="514350" cy="514350"/>
          </a:xfrm>
          <a:prstGeom prst="rect">
            <a:avLst/>
          </a:prstGeom>
          <a:solidFill>
            <a:srgbClr val="DC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914400" y="7124700"/>
            <a:ext cx="514350" cy="51435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447800" y="7124700"/>
            <a:ext cx="514350" cy="514350"/>
          </a:xfrm>
          <a:prstGeom prst="rect">
            <a:avLst/>
          </a:prstGeom>
          <a:solidFill>
            <a:srgbClr val="3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981200" y="7124700"/>
            <a:ext cx="514350" cy="51435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2514600" y="7124700"/>
            <a:ext cx="514350" cy="51435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3048000" y="7124700"/>
            <a:ext cx="514350" cy="514350"/>
          </a:xfrm>
          <a:prstGeom prst="rect">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3581400" y="7124700"/>
            <a:ext cx="514350" cy="51435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4114800" y="7124700"/>
            <a:ext cx="514350" cy="51435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4648200" y="7124700"/>
            <a:ext cx="514350" cy="514350"/>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181600" y="7124700"/>
            <a:ext cx="514350" cy="51435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5715000" y="7124700"/>
            <a:ext cx="514350" cy="51435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914400" y="7658100"/>
            <a:ext cx="514350" cy="51435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447800" y="7658100"/>
            <a:ext cx="514350" cy="514350"/>
          </a:xfrm>
          <a:prstGeom prst="rect">
            <a:avLst/>
          </a:prstGeom>
          <a:solidFill>
            <a:srgbClr val="DC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981200" y="7658100"/>
            <a:ext cx="514350" cy="514350"/>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2514600" y="76581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3048000" y="7658100"/>
            <a:ext cx="514350" cy="514350"/>
          </a:xfrm>
          <a:prstGeom prst="rect">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3581400" y="7658100"/>
            <a:ext cx="514350" cy="514350"/>
          </a:xfrm>
          <a:prstGeom prst="rect">
            <a:avLst/>
          </a:prstGeom>
          <a:solidFill>
            <a:srgbClr val="DED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114800" y="7658100"/>
            <a:ext cx="514350" cy="514350"/>
          </a:xfrm>
          <a:prstGeom prst="rect">
            <a:avLst/>
          </a:prstGeom>
          <a:solidFill>
            <a:srgbClr val="E1E1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4648200" y="7658100"/>
            <a:ext cx="514350" cy="51435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5181600" y="7658100"/>
            <a:ext cx="514350" cy="51435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5715000" y="7658100"/>
            <a:ext cx="514350" cy="514350"/>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1943100" y="4419600"/>
            <a:ext cx="2190750" cy="2190750"/>
          </a:xfrm>
          <a:prstGeom prst="rect">
            <a:avLst/>
          </a:prstGeom>
          <a:no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8191500" y="2857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8191500" y="28575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13</a:t>
            </a:r>
          </a:p>
        </p:txBody>
      </p:sp>
      <p:sp>
        <p:nvSpPr>
          <p:cNvPr id="108" name="Rounded Rectangle 107"/>
          <p:cNvSpPr/>
          <p:nvPr/>
        </p:nvSpPr>
        <p:spPr>
          <a:xfrm>
            <a:off x="9144000" y="2857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9144000" y="28575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231</a:t>
            </a:r>
          </a:p>
        </p:txBody>
      </p:sp>
      <p:sp>
        <p:nvSpPr>
          <p:cNvPr id="110" name="Rounded Rectangle 109"/>
          <p:cNvSpPr/>
          <p:nvPr/>
        </p:nvSpPr>
        <p:spPr>
          <a:xfrm>
            <a:off x="10096500" y="2857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10096500" y="28575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214</a:t>
            </a:r>
          </a:p>
        </p:txBody>
      </p:sp>
      <p:sp>
        <p:nvSpPr>
          <p:cNvPr id="112" name="Rounded Rectangle 111"/>
          <p:cNvSpPr/>
          <p:nvPr/>
        </p:nvSpPr>
        <p:spPr>
          <a:xfrm>
            <a:off x="11049000" y="2857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11049000" y="28575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50</a:t>
            </a:r>
          </a:p>
        </p:txBody>
      </p:sp>
      <p:sp>
        <p:nvSpPr>
          <p:cNvPr id="114" name="Rounded Rectangle 113"/>
          <p:cNvSpPr/>
          <p:nvPr/>
        </p:nvSpPr>
        <p:spPr>
          <a:xfrm>
            <a:off x="8191500" y="3810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8191500" y="38100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210</a:t>
            </a:r>
          </a:p>
        </p:txBody>
      </p:sp>
      <p:sp>
        <p:nvSpPr>
          <p:cNvPr id="116" name="Rounded Rectangle 115"/>
          <p:cNvSpPr/>
          <p:nvPr/>
        </p:nvSpPr>
        <p:spPr>
          <a:xfrm>
            <a:off x="9144000" y="3810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9144000" y="38100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198</a:t>
            </a:r>
          </a:p>
        </p:txBody>
      </p:sp>
      <p:sp>
        <p:nvSpPr>
          <p:cNvPr id="118" name="Rounded Rectangle 117"/>
          <p:cNvSpPr/>
          <p:nvPr/>
        </p:nvSpPr>
        <p:spPr>
          <a:xfrm>
            <a:off x="10096500" y="3810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10096500" y="38100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43</a:t>
            </a:r>
          </a:p>
        </p:txBody>
      </p:sp>
      <p:sp>
        <p:nvSpPr>
          <p:cNvPr id="120" name="Rounded Rectangle 119"/>
          <p:cNvSpPr/>
          <p:nvPr/>
        </p:nvSpPr>
        <p:spPr>
          <a:xfrm>
            <a:off x="11049000" y="3810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11049000" y="38100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27</a:t>
            </a:r>
          </a:p>
        </p:txBody>
      </p:sp>
      <p:sp>
        <p:nvSpPr>
          <p:cNvPr id="122" name="Rounded Rectangle 121"/>
          <p:cNvSpPr/>
          <p:nvPr/>
        </p:nvSpPr>
        <p:spPr>
          <a:xfrm>
            <a:off x="8191500" y="4762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8191500" y="47625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34</a:t>
            </a:r>
          </a:p>
        </p:txBody>
      </p:sp>
      <p:sp>
        <p:nvSpPr>
          <p:cNvPr id="124" name="Rounded Rectangle 123"/>
          <p:cNvSpPr/>
          <p:nvPr/>
        </p:nvSpPr>
        <p:spPr>
          <a:xfrm>
            <a:off x="9144000" y="4762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9144000" y="47625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35</a:t>
            </a:r>
          </a:p>
        </p:txBody>
      </p:sp>
      <p:sp>
        <p:nvSpPr>
          <p:cNvPr id="126" name="Rounded Rectangle 125"/>
          <p:cNvSpPr/>
          <p:nvPr/>
        </p:nvSpPr>
        <p:spPr>
          <a:xfrm>
            <a:off x="10096500" y="4762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10096500" y="47625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231</a:t>
            </a:r>
          </a:p>
        </p:txBody>
      </p:sp>
      <p:sp>
        <p:nvSpPr>
          <p:cNvPr id="128" name="Rounded Rectangle 127"/>
          <p:cNvSpPr/>
          <p:nvPr/>
        </p:nvSpPr>
        <p:spPr>
          <a:xfrm>
            <a:off x="11049000" y="4762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11049000" y="47625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211</a:t>
            </a:r>
          </a:p>
        </p:txBody>
      </p:sp>
      <p:sp>
        <p:nvSpPr>
          <p:cNvPr id="130" name="Rounded Rectangle 129"/>
          <p:cNvSpPr/>
          <p:nvPr/>
        </p:nvSpPr>
        <p:spPr>
          <a:xfrm>
            <a:off x="8191500" y="5715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8191500" y="57150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195</a:t>
            </a:r>
          </a:p>
        </p:txBody>
      </p:sp>
      <p:sp>
        <p:nvSpPr>
          <p:cNvPr id="132" name="Rounded Rectangle 131"/>
          <p:cNvSpPr/>
          <p:nvPr/>
        </p:nvSpPr>
        <p:spPr>
          <a:xfrm>
            <a:off x="9144000" y="5715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9144000" y="57150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13</a:t>
            </a:r>
          </a:p>
        </p:txBody>
      </p:sp>
      <p:sp>
        <p:nvSpPr>
          <p:cNvPr id="134" name="Rounded Rectangle 133"/>
          <p:cNvSpPr/>
          <p:nvPr/>
        </p:nvSpPr>
        <p:spPr>
          <a:xfrm>
            <a:off x="10096500" y="5715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10096500" y="57150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10</a:t>
            </a:r>
          </a:p>
        </p:txBody>
      </p:sp>
      <p:sp>
        <p:nvSpPr>
          <p:cNvPr id="136" name="Rounded Rectangle 135"/>
          <p:cNvSpPr/>
          <p:nvPr/>
        </p:nvSpPr>
        <p:spPr>
          <a:xfrm>
            <a:off x="11049000" y="5715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11049000" y="57150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222</a:t>
            </a:r>
          </a:p>
        </p:txBody>
      </p:sp>
      <p:cxnSp>
        <p:nvCxnSpPr>
          <p:cNvPr id="138" name="Connector 137"/>
          <p:cNvCxnSpPr/>
          <p:nvPr/>
        </p:nvCxnSpPr>
        <p:spPr>
          <a:xfrm flipV="1">
            <a:off x="4152900" y="2857500"/>
            <a:ext cx="3886200" cy="1600200"/>
          </a:xfrm>
          <a:prstGeom prst="line">
            <a:avLst/>
          </a:prstGeom>
          <a:ln w="19050">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4152900" y="6591300"/>
            <a:ext cx="3886200" cy="38100"/>
          </a:xfrm>
          <a:prstGeom prst="line">
            <a:avLst/>
          </a:prstGeom>
          <a:ln w="19050">
            <a:solidFill>
              <a:srgbClr val="CC220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12382500" y="3048000"/>
            <a:ext cx="4991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0</a:t>
            </a:r>
            <a:r>
              <a:rPr sz="2100" b="0" i="0">
                <a:solidFill>
                  <a:srgbClr val="F0E8E8"/>
                </a:solidFill>
                <a:latin typeface="Geist"/>
                <a:ea typeface="Geist"/>
                <a:cs typeface="Geist"/>
              </a:rPr>
              <a:t> is black, </a:t>
            </a:r>
            <a:r>
              <a:rPr sz="2100" b="1" i="0">
                <a:solidFill>
                  <a:srgbClr val="F0E8E8"/>
                </a:solidFill>
                <a:latin typeface="Geist"/>
                <a:ea typeface="Geist"/>
                <a:cs typeface="Geist"/>
              </a:rPr>
              <a:t>255</a:t>
            </a:r>
            <a:r>
              <a:rPr sz="2100" b="0" i="0">
                <a:solidFill>
                  <a:srgbClr val="F0E8E8"/>
                </a:solidFill>
                <a:latin typeface="Geist"/>
                <a:ea typeface="Geist"/>
                <a:cs typeface="Geist"/>
              </a:rPr>
              <a:t> is white</a:t>
            </a:r>
          </a:p>
        </p:txBody>
      </p:sp>
      <p:sp>
        <p:nvSpPr>
          <p:cNvPr id="141" name="TextBox 140"/>
          <p:cNvSpPr txBox="1"/>
          <p:nvPr/>
        </p:nvSpPr>
        <p:spPr>
          <a:xfrm>
            <a:off x="12382500" y="3680460"/>
            <a:ext cx="4991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Color: </a:t>
            </a:r>
            <a:r>
              <a:rPr sz="2100" b="1" i="0">
                <a:solidFill>
                  <a:srgbClr val="F0E8E8"/>
                </a:solidFill>
                <a:latin typeface="Geist"/>
                <a:ea typeface="Geist"/>
                <a:cs typeface="Geist"/>
              </a:rPr>
              <a:t>three numbers</a:t>
            </a:r>
            <a:r>
              <a:rPr sz="2100" b="0" i="0">
                <a:solidFill>
                  <a:srgbClr val="F0E8E8"/>
                </a:solidFill>
                <a:latin typeface="Geist"/>
                <a:ea typeface="Geist"/>
                <a:cs typeface="Geist"/>
              </a:rPr>
              <a:t> per pixel</a:t>
            </a:r>
          </a:p>
        </p:txBody>
      </p:sp>
      <p:sp>
        <p:nvSpPr>
          <p:cNvPr id="142" name="TextBox 141"/>
          <p:cNvSpPr txBox="1"/>
          <p:nvPr/>
        </p:nvSpPr>
        <p:spPr>
          <a:xfrm>
            <a:off x="12382500" y="4312920"/>
            <a:ext cx="4991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Tags only need </a:t>
            </a:r>
            <a:r>
              <a:rPr sz="2100" b="1" i="0">
                <a:solidFill>
                  <a:srgbClr val="F0E8E8"/>
                </a:solidFill>
                <a:latin typeface="Geist"/>
                <a:ea typeface="Geist"/>
                <a:cs typeface="Geist"/>
              </a:rPr>
              <a:t>brightness</a:t>
            </a:r>
          </a:p>
        </p:txBody>
      </p:sp>
      <p:sp>
        <p:nvSpPr>
          <p:cNvPr id="143" name="TextBox 142"/>
          <p:cNvSpPr txBox="1"/>
          <p:nvPr/>
        </p:nvSpPr>
        <p:spPr>
          <a:xfrm>
            <a:off x="8191500" y="6858000"/>
            <a:ext cx="9182100" cy="1143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pixel is one number. The detector only ever sees numbers like these.</a:t>
            </a:r>
          </a:p>
        </p:txBody>
      </p:sp>
      <p:sp>
        <p:nvSpPr>
          <p:cNvPr id="144" name="TextBox 14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5" name="TextBox 1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Rolling vs global shutter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Rolling shutter</a:t>
            </a:r>
          </a:p>
        </p:txBody>
      </p:sp>
      <p:sp>
        <p:nvSpPr>
          <p:cNvPr id="7" name="Rectangle 6"/>
          <p:cNvSpPr/>
          <p:nvPr/>
        </p:nvSpPr>
        <p:spPr>
          <a:xfrm>
            <a:off x="2819400" y="4095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200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581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962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43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724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105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867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952750" y="4476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333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095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238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19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000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3086100" y="4857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467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848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991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753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134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219450" y="5238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600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743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124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505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267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352800" y="5619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7338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1148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4958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4008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486150" y="6000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867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629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5010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153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534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619500" y="6381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4000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381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143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905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667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3752850" y="6762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133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4514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895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5276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5657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6038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419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6800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2819400" y="3714750"/>
            <a:ext cx="48768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2819400" y="7143750"/>
            <a:ext cx="48768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943100" y="4076700"/>
            <a:ext cx="38100" cy="30441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Isosceles Triangle 62"/>
          <p:cNvSpPr/>
          <p:nvPr/>
        </p:nvSpPr>
        <p:spPr>
          <a:xfrm rot="10800000">
            <a:off x="1885950" y="70866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04900" y="7334250"/>
            <a:ext cx="1714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row by row</a:t>
            </a:r>
          </a:p>
        </p:txBody>
      </p:sp>
      <p:sp>
        <p:nvSpPr>
          <p:cNvPr id="65" name="TextBox 64"/>
          <p:cNvSpPr txBox="1"/>
          <p:nvPr/>
        </p:nvSpPr>
        <p:spPr>
          <a:xfrm>
            <a:off x="1295400" y="7905750"/>
            <a:ext cx="7239000" cy="571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Rows are read one after another. A moving tag comes out slanted.</a:t>
            </a:r>
          </a:p>
        </p:txBody>
      </p:sp>
      <p:sp>
        <p:nvSpPr>
          <p:cNvPr id="66" name="Rounded Rectangle 65"/>
          <p:cNvSpPr/>
          <p:nvPr/>
        </p:nvSpPr>
        <p:spPr>
          <a:xfrm>
            <a:off x="9296400" y="2857500"/>
            <a:ext cx="8077200" cy="5715000"/>
          </a:xfrm>
          <a:prstGeom prst="roundRect">
            <a:avLst>
              <a:gd name="adj" fmla="val 2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9677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Global shutter</a:t>
            </a:r>
          </a:p>
        </p:txBody>
      </p:sp>
      <p:sp>
        <p:nvSpPr>
          <p:cNvPr id="68" name="Rectangle 67"/>
          <p:cNvSpPr/>
          <p:nvPr/>
        </p:nvSpPr>
        <p:spPr>
          <a:xfrm>
            <a:off x="11201400" y="4095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1582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1963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2344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2725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106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3487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3868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249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1201400" y="4476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1582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2344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3487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3868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4249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1201400" y="4857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1582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1963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3106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3868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14249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11201400" y="5238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11582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12725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13106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3487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4249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11201400" y="5619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15824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19634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23444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42494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11201400" y="6000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1582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12344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12725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13868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14249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11201400" y="6381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11582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11963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12725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13487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14249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11201400" y="6762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11582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11963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12344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12725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13106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13487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3868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4249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11201400" y="3714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1201400" y="7143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3" name="Picture 122" descr="check-circle-fill.png"/>
          <p:cNvPicPr>
            <a:picLocks noChangeAspect="1"/>
          </p:cNvPicPr>
          <p:nvPr/>
        </p:nvPicPr>
        <p:blipFill>
          <a:blip r:embed="rId3"/>
          <a:stretch>
            <a:fillRect/>
          </a:stretch>
        </p:blipFill>
        <p:spPr>
          <a:xfrm>
            <a:off x="10248900" y="5524500"/>
            <a:ext cx="533400" cy="533400"/>
          </a:xfrm>
          <a:prstGeom prst="rect">
            <a:avLst/>
          </a:prstGeom>
        </p:spPr>
      </p:pic>
      <p:sp>
        <p:nvSpPr>
          <p:cNvPr id="124" name="TextBox 123"/>
          <p:cNvSpPr txBox="1"/>
          <p:nvPr/>
        </p:nvSpPr>
        <p:spPr>
          <a:xfrm>
            <a:off x="9677400" y="7905750"/>
            <a:ext cx="7239000" cy="571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Every pixel at the same moment. The tag stays square.</a:t>
            </a:r>
          </a:p>
        </p:txBody>
      </p:sp>
      <p:sp>
        <p:nvSpPr>
          <p:cNvPr id="125" name="TextBox 1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26" name="TextBox 1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Our vision hardware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amera.png"/>
          <p:cNvPicPr>
            <a:picLocks noChangeAspect="1"/>
          </p:cNvPicPr>
          <p:nvPr/>
        </p:nvPicPr>
        <p:blipFill>
          <a:blip r:embed="rId3"/>
          <a:stretch>
            <a:fillRect/>
          </a:stretch>
        </p:blipFill>
        <p:spPr>
          <a:xfrm>
            <a:off x="1295400" y="3238500"/>
            <a:ext cx="812800" cy="609600"/>
          </a:xfrm>
          <a:prstGeom prst="rect">
            <a:avLst/>
          </a:prstGeom>
        </p:spPr>
      </p:pic>
      <p:sp>
        <p:nvSpPr>
          <p:cNvPr id="7" name="TextBox 6"/>
          <p:cNvSpPr txBox="1"/>
          <p:nvPr/>
        </p:nvSpPr>
        <p:spPr>
          <a:xfrm>
            <a:off x="1295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Global shutter cameras</a:t>
            </a:r>
          </a:p>
        </p:txBody>
      </p:sp>
      <p:sp>
        <p:nvSpPr>
          <p:cNvPr id="8" name="TextBox 7"/>
          <p:cNvSpPr txBox="1"/>
          <p:nvPr/>
        </p:nvSpPr>
        <p:spPr>
          <a:xfrm>
            <a:off x="1295400" y="4676775"/>
            <a:ext cx="4521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Black and white OV9281 and Thrifty cameras, and color Basler cameras. Wide angle lenses.</a:t>
            </a:r>
          </a:p>
        </p:txBody>
      </p:sp>
      <p:sp>
        <p:nvSpPr>
          <p:cNvPr id="9" name="Rounded Rectangle 8"/>
          <p:cNvSpPr/>
          <p:nvPr/>
        </p:nvSpPr>
        <p:spPr>
          <a:xfrm>
            <a:off x="6502400" y="2857500"/>
            <a:ext cx="5283200" cy="4476750"/>
          </a:xfrm>
          <a:prstGeom prst="roundRect">
            <a:avLst>
              <a:gd name="adj" fmla="val 340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pu-card.png"/>
          <p:cNvPicPr>
            <a:picLocks noChangeAspect="1"/>
          </p:cNvPicPr>
          <p:nvPr/>
        </p:nvPicPr>
        <p:blipFill>
          <a:blip r:embed="rId4"/>
          <a:stretch>
            <a:fillRect/>
          </a:stretch>
        </p:blipFill>
        <p:spPr>
          <a:xfrm>
            <a:off x="6883400" y="3238500"/>
            <a:ext cx="696686" cy="609600"/>
          </a:xfrm>
          <a:prstGeom prst="rect">
            <a:avLst/>
          </a:prstGeom>
        </p:spPr>
      </p:pic>
      <p:sp>
        <p:nvSpPr>
          <p:cNvPr id="11" name="TextBox 10"/>
          <p:cNvSpPr txBox="1"/>
          <p:nvPr/>
        </p:nvSpPr>
        <p:spPr>
          <a:xfrm>
            <a:off x="6883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NVIDIA Jetson</a:t>
            </a:r>
          </a:p>
        </p:txBody>
      </p:sp>
      <p:sp>
        <p:nvSpPr>
          <p:cNvPr id="12" name="TextBox 11"/>
          <p:cNvSpPr txBox="1"/>
          <p:nvPr/>
        </p:nvSpPr>
        <p:spPr>
          <a:xfrm>
            <a:off x="6883400" y="4676775"/>
            <a:ext cx="4521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vision computer on the robot. Finds tags on its GPU and sends the answers to the roboRIO.</a:t>
            </a:r>
          </a:p>
        </p:txBody>
      </p:sp>
      <p:sp>
        <p:nvSpPr>
          <p:cNvPr id="13" name="Rounded Rectangle 12"/>
          <p:cNvSpPr/>
          <p:nvPr/>
        </p:nvSpPr>
        <p:spPr>
          <a:xfrm>
            <a:off x="12090400" y="2857500"/>
            <a:ext cx="52832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ghtning-charge-fill.png"/>
          <p:cNvPicPr>
            <a:picLocks noChangeAspect="1"/>
          </p:cNvPicPr>
          <p:nvPr/>
        </p:nvPicPr>
        <p:blipFill>
          <a:blip r:embed="rId5"/>
          <a:stretch>
            <a:fillRect/>
          </a:stretch>
        </p:blipFill>
        <p:spPr>
          <a:xfrm>
            <a:off x="12471400" y="3238500"/>
            <a:ext cx="423862" cy="609600"/>
          </a:xfrm>
          <a:prstGeom prst="rect">
            <a:avLst/>
          </a:prstGeom>
        </p:spPr>
      </p:pic>
      <p:sp>
        <p:nvSpPr>
          <p:cNvPr id="15" name="TextBox 14"/>
          <p:cNvSpPr txBox="1"/>
          <p:nvPr/>
        </p:nvSpPr>
        <p:spPr>
          <a:xfrm>
            <a:off x="12471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Why a GPU?</a:t>
            </a:r>
          </a:p>
        </p:txBody>
      </p:sp>
      <p:sp>
        <p:nvSpPr>
          <p:cNvPr id="16" name="TextBox 15"/>
          <p:cNvSpPr txBox="1"/>
          <p:nvPr/>
        </p:nvSpPr>
        <p:spPr>
          <a:xfrm>
            <a:off x="12471400" y="4676775"/>
            <a:ext cx="4521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Most teams use a Limelight or PhotonVision on a normal processor. Our GPU detector is about 5x faster.</a:t>
            </a:r>
          </a:p>
        </p:txBody>
      </p:sp>
      <p:sp>
        <p:nvSpPr>
          <p:cNvPr id="17" name="Rounded Rectangle 16"/>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splay.png"/>
          <p:cNvPicPr>
            <a:picLocks noChangeAspect="1"/>
          </p:cNvPicPr>
          <p:nvPr/>
        </p:nvPicPr>
        <p:blipFill>
          <a:blip r:embed="rId6"/>
          <a:stretch>
            <a:fillRect/>
          </a:stretch>
        </p:blipFill>
        <p:spPr>
          <a:xfrm>
            <a:off x="1333500" y="8020050"/>
            <a:ext cx="682752" cy="533400"/>
          </a:xfrm>
          <a:prstGeom prst="rect">
            <a:avLst/>
          </a:prstGeom>
        </p:spPr>
      </p:pic>
      <p:sp>
        <p:nvSpPr>
          <p:cNvPr id="19" name="TextBox 18"/>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training:  </a:t>
            </a:r>
            <a:r>
              <a:rPr sz="2100" b="0" i="0">
                <a:solidFill>
                  <a:srgbClr val="F0E8E8"/>
                </a:solidFill>
                <a:latin typeface="Geist"/>
                <a:ea typeface="Geist"/>
                <a:cs typeface="Geist"/>
              </a:rPr>
              <a:t>there's no Jetson. The simulator plays the cameras and sends the same answers.</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AprilTags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Black and white squares at known spots on the field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tag has its own ID. Like a name tag for the field!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an AprilTag?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428750" y="2857500"/>
            <a:ext cx="5334000" cy="5334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62150" y="3390900"/>
            <a:ext cx="4267200" cy="426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495550" y="3924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562350" y="3924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095750" y="3924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028950" y="44577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562350" y="44577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29150" y="44577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495550" y="49911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028950" y="49911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62550" y="49911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562350" y="55245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095750" y="55245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629150" y="55245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62550" y="55245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495550" y="60579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095750" y="60579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629150" y="60579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028950" y="6591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095750" y="6591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162550" y="6591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95550" y="3924300"/>
            <a:ext cx="3200400" cy="3200400"/>
          </a:xfrm>
          <a:prstGeom prst="rect">
            <a:avLst/>
          </a:prstGeom>
          <a:no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791325" y="3114675"/>
            <a:ext cx="5524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29500" y="2952750"/>
            <a:ext cx="24765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white border</a:t>
            </a:r>
          </a:p>
        </p:txBody>
      </p:sp>
      <p:sp>
        <p:nvSpPr>
          <p:cNvPr id="29" name="Rectangle 28"/>
          <p:cNvSpPr/>
          <p:nvPr/>
        </p:nvSpPr>
        <p:spPr>
          <a:xfrm>
            <a:off x="6257925" y="3648075"/>
            <a:ext cx="10858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29500" y="3486150"/>
            <a:ext cx="24765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black border</a:t>
            </a:r>
          </a:p>
        </p:txBody>
      </p:sp>
      <p:sp>
        <p:nvSpPr>
          <p:cNvPr id="31" name="Rectangle 30"/>
          <p:cNvSpPr/>
          <p:nvPr/>
        </p:nvSpPr>
        <p:spPr>
          <a:xfrm>
            <a:off x="5724525" y="5514975"/>
            <a:ext cx="1619250" cy="19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429500" y="5353050"/>
            <a:ext cx="24765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6 x 6 data bits</a:t>
            </a:r>
          </a:p>
        </p:txBody>
      </p:sp>
      <p:sp>
        <p:nvSpPr>
          <p:cNvPr id="33" name="TextBox 32"/>
          <p:cNvSpPr txBox="1"/>
          <p:nvPr/>
        </p:nvSpPr>
        <p:spPr>
          <a:xfrm>
            <a:off x="10477500" y="3048000"/>
            <a:ext cx="6896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A square code</a:t>
            </a:r>
            <a:r>
              <a:rPr sz="2100" b="0" i="0">
                <a:solidFill>
                  <a:srgbClr val="F0E8E8"/>
                </a:solidFill>
                <a:latin typeface="Geist"/>
                <a:ea typeface="Geist"/>
                <a:cs typeface="Geist"/>
              </a:rPr>
              <a:t> made of black and white bits</a:t>
            </a:r>
          </a:p>
        </p:txBody>
      </p:sp>
      <p:sp>
        <p:nvSpPr>
          <p:cNvPr id="34" name="TextBox 33"/>
          <p:cNvSpPr txBox="1"/>
          <p:nvPr/>
        </p:nvSpPr>
        <p:spPr>
          <a:xfrm>
            <a:off x="10477500" y="3718560"/>
            <a:ext cx="6896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Tag36h11</a:t>
            </a:r>
            <a:r>
              <a:rPr sz="2100" b="0" i="0">
                <a:solidFill>
                  <a:srgbClr val="F0E8E8"/>
                </a:solidFill>
                <a:latin typeface="Geist"/>
                <a:ea typeface="Geist"/>
                <a:cs typeface="Geist"/>
              </a:rPr>
              <a:t> on FRC fields since 2023</a:t>
            </a:r>
          </a:p>
        </p:txBody>
      </p:sp>
      <p:sp>
        <p:nvSpPr>
          <p:cNvPr id="35" name="TextBox 34"/>
          <p:cNvSpPr txBox="1"/>
          <p:nvPr/>
        </p:nvSpPr>
        <p:spPr>
          <a:xfrm>
            <a:off x="10477500" y="4389120"/>
            <a:ext cx="68961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Each pattern is one ID</a:t>
            </a:r>
            <a:r>
              <a:rPr sz="2100" b="0" i="0">
                <a:solidFill>
                  <a:srgbClr val="F0E8E8"/>
                </a:solidFill>
                <a:latin typeface="Geist"/>
                <a:ea typeface="Geist"/>
                <a:cs typeface="Geist"/>
              </a:rPr>
              <a:t>, and any two differ in 11+ bits</a:t>
            </a:r>
          </a:p>
        </p:txBody>
      </p:sp>
      <p:sp>
        <p:nvSpPr>
          <p:cNvPr id="36" name="TextBox 35"/>
          <p:cNvSpPr txBox="1"/>
          <p:nvPr/>
        </p:nvSpPr>
        <p:spPr>
          <a:xfrm>
            <a:off x="10477500" y="5406390"/>
            <a:ext cx="68961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Every tag's spot is known</a:t>
            </a:r>
            <a:r>
              <a:rPr sz="2100" b="0" i="0">
                <a:solidFill>
                  <a:srgbClr val="F0E8E8"/>
                </a:solidFill>
                <a:latin typeface="Geist"/>
                <a:ea typeface="Geist"/>
                <a:cs typeface="Geist"/>
              </a:rPr>
              <a:t>: FIRST publishes the field layout</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Finding a tag in a picture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19200" y="31623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920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pic>
        <p:nvPicPr>
          <p:cNvPr id="8" name="Picture 7" descr="image.png"/>
          <p:cNvPicPr>
            <a:picLocks noChangeAspect="1"/>
          </p:cNvPicPr>
          <p:nvPr/>
        </p:nvPicPr>
        <p:blipFill>
          <a:blip r:embed="rId3"/>
          <a:stretch>
            <a:fillRect/>
          </a:stretch>
        </p:blipFill>
        <p:spPr>
          <a:xfrm>
            <a:off x="4800600" y="3148012"/>
            <a:ext cx="685800" cy="600075"/>
          </a:xfrm>
          <a:prstGeom prst="rect">
            <a:avLst/>
          </a:prstGeom>
        </p:spPr>
      </p:pic>
      <p:sp>
        <p:nvSpPr>
          <p:cNvPr id="9" name="TextBox 8"/>
          <p:cNvSpPr txBox="1"/>
          <p:nvPr/>
        </p:nvSpPr>
        <p:spPr>
          <a:xfrm>
            <a:off x="1219200" y="39052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Gray</a:t>
            </a:r>
          </a:p>
        </p:txBody>
      </p:sp>
      <p:sp>
        <p:nvSpPr>
          <p:cNvPr id="10" name="TextBox 9"/>
          <p:cNvSpPr txBox="1"/>
          <p:nvPr/>
        </p:nvSpPr>
        <p:spPr>
          <a:xfrm>
            <a:off x="1219200" y="44196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Throw away the color, keep brightness</a:t>
            </a:r>
          </a:p>
        </p:txBody>
      </p:sp>
      <p:sp>
        <p:nvSpPr>
          <p:cNvPr id="11" name="Rectangle 10"/>
          <p:cNvSpPr/>
          <p:nvPr/>
        </p:nvSpPr>
        <p:spPr>
          <a:xfrm>
            <a:off x="5948362" y="40338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5400000">
            <a:off x="6419850" y="3971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67500" y="28575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972300" y="31623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7230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pic>
        <p:nvPicPr>
          <p:cNvPr id="16" name="Picture 15" descr="grid-3x3.png"/>
          <p:cNvPicPr>
            <a:picLocks noChangeAspect="1"/>
          </p:cNvPicPr>
          <p:nvPr/>
        </p:nvPicPr>
        <p:blipFill>
          <a:blip r:embed="rId4"/>
          <a:stretch>
            <a:fillRect/>
          </a:stretch>
        </p:blipFill>
        <p:spPr>
          <a:xfrm>
            <a:off x="10591800" y="3143250"/>
            <a:ext cx="609600" cy="609600"/>
          </a:xfrm>
          <a:prstGeom prst="rect">
            <a:avLst/>
          </a:prstGeom>
        </p:spPr>
      </p:pic>
      <p:sp>
        <p:nvSpPr>
          <p:cNvPr id="17" name="TextBox 16"/>
          <p:cNvSpPr txBox="1"/>
          <p:nvPr/>
        </p:nvSpPr>
        <p:spPr>
          <a:xfrm>
            <a:off x="6972300" y="39052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Shrink</a:t>
            </a:r>
          </a:p>
        </p:txBody>
      </p:sp>
      <p:sp>
        <p:nvSpPr>
          <p:cNvPr id="18" name="TextBox 17"/>
          <p:cNvSpPr txBox="1"/>
          <p:nvPr/>
        </p:nvSpPr>
        <p:spPr>
          <a:xfrm>
            <a:off x="6972300" y="44196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Fewer pixels, so the search is fast</a:t>
            </a:r>
          </a:p>
        </p:txBody>
      </p:sp>
      <p:sp>
        <p:nvSpPr>
          <p:cNvPr id="19" name="Rectangle 18"/>
          <p:cNvSpPr/>
          <p:nvPr/>
        </p:nvSpPr>
        <p:spPr>
          <a:xfrm>
            <a:off x="11701462" y="40338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12172950" y="3971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2420600" y="28575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12725400" y="31623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72540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pic>
        <p:nvPicPr>
          <p:cNvPr id="24" name="Picture 23" descr="sliders.png"/>
          <p:cNvPicPr>
            <a:picLocks noChangeAspect="1"/>
          </p:cNvPicPr>
          <p:nvPr/>
        </p:nvPicPr>
        <p:blipFill>
          <a:blip r:embed="rId5"/>
          <a:stretch>
            <a:fillRect/>
          </a:stretch>
        </p:blipFill>
        <p:spPr>
          <a:xfrm>
            <a:off x="16324580" y="3143250"/>
            <a:ext cx="650240" cy="609600"/>
          </a:xfrm>
          <a:prstGeom prst="rect">
            <a:avLst/>
          </a:prstGeom>
        </p:spPr>
      </p:pic>
      <p:sp>
        <p:nvSpPr>
          <p:cNvPr id="25" name="TextBox 24"/>
          <p:cNvSpPr txBox="1"/>
          <p:nvPr/>
        </p:nvSpPr>
        <p:spPr>
          <a:xfrm>
            <a:off x="12725400" y="39052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Threshold</a:t>
            </a:r>
          </a:p>
        </p:txBody>
      </p:sp>
      <p:sp>
        <p:nvSpPr>
          <p:cNvPr id="26" name="TextBox 25"/>
          <p:cNvSpPr txBox="1"/>
          <p:nvPr/>
        </p:nvSpPr>
        <p:spPr>
          <a:xfrm>
            <a:off x="12725400" y="44196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Each pixel: light, dark or not sure</a:t>
            </a:r>
          </a:p>
        </p:txBody>
      </p:sp>
      <p:sp>
        <p:nvSpPr>
          <p:cNvPr id="27" name="Rounded Rectangle 26"/>
          <p:cNvSpPr/>
          <p:nvPr/>
        </p:nvSpPr>
        <p:spPr>
          <a:xfrm>
            <a:off x="914400" y="57150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219200" y="60198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19200" y="60198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pic>
        <p:nvPicPr>
          <p:cNvPr id="30" name="Picture 29" descr="layers.png"/>
          <p:cNvPicPr>
            <a:picLocks noChangeAspect="1"/>
          </p:cNvPicPr>
          <p:nvPr/>
        </p:nvPicPr>
        <p:blipFill>
          <a:blip r:embed="rId6"/>
          <a:stretch>
            <a:fillRect/>
          </a:stretch>
        </p:blipFill>
        <p:spPr>
          <a:xfrm>
            <a:off x="4800600" y="6026944"/>
            <a:ext cx="685800" cy="557212"/>
          </a:xfrm>
          <a:prstGeom prst="rect">
            <a:avLst/>
          </a:prstGeom>
        </p:spPr>
      </p:pic>
      <p:sp>
        <p:nvSpPr>
          <p:cNvPr id="31" name="TextBox 30"/>
          <p:cNvSpPr txBox="1"/>
          <p:nvPr/>
        </p:nvSpPr>
        <p:spPr>
          <a:xfrm>
            <a:off x="1219200" y="67627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Clump</a:t>
            </a:r>
          </a:p>
        </p:txBody>
      </p:sp>
      <p:sp>
        <p:nvSpPr>
          <p:cNvPr id="32" name="TextBox 31"/>
          <p:cNvSpPr txBox="1"/>
          <p:nvPr/>
        </p:nvSpPr>
        <p:spPr>
          <a:xfrm>
            <a:off x="1219200" y="72771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Group pixels, drop the tiny clumps</a:t>
            </a:r>
          </a:p>
        </p:txBody>
      </p:sp>
      <p:sp>
        <p:nvSpPr>
          <p:cNvPr id="33" name="Rectangle 32"/>
          <p:cNvSpPr/>
          <p:nvPr/>
        </p:nvSpPr>
        <p:spPr>
          <a:xfrm>
            <a:off x="5948362" y="6891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6419850" y="6829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667500" y="57150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6972300" y="60198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72300" y="60198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pic>
        <p:nvPicPr>
          <p:cNvPr id="38" name="Picture 37" descr="bounding-box.png"/>
          <p:cNvPicPr>
            <a:picLocks noChangeAspect="1"/>
          </p:cNvPicPr>
          <p:nvPr/>
        </p:nvPicPr>
        <p:blipFill>
          <a:blip r:embed="rId7"/>
          <a:stretch>
            <a:fillRect/>
          </a:stretch>
        </p:blipFill>
        <p:spPr>
          <a:xfrm>
            <a:off x="10591800" y="6000750"/>
            <a:ext cx="609600" cy="609600"/>
          </a:xfrm>
          <a:prstGeom prst="rect">
            <a:avLst/>
          </a:prstGeom>
        </p:spPr>
      </p:pic>
      <p:sp>
        <p:nvSpPr>
          <p:cNvPr id="39" name="TextBox 38"/>
          <p:cNvSpPr txBox="1"/>
          <p:nvPr/>
        </p:nvSpPr>
        <p:spPr>
          <a:xfrm>
            <a:off x="6972300" y="67627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Find squares</a:t>
            </a:r>
          </a:p>
        </p:txBody>
      </p:sp>
      <p:sp>
        <p:nvSpPr>
          <p:cNvPr id="40" name="TextBox 39"/>
          <p:cNvSpPr txBox="1"/>
          <p:nvPr/>
        </p:nvSpPr>
        <p:spPr>
          <a:xfrm>
            <a:off x="6972300" y="72771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Fit four corners to each clump</a:t>
            </a:r>
          </a:p>
        </p:txBody>
      </p:sp>
      <p:sp>
        <p:nvSpPr>
          <p:cNvPr id="41" name="Rectangle 40"/>
          <p:cNvSpPr/>
          <p:nvPr/>
        </p:nvSpPr>
        <p:spPr>
          <a:xfrm>
            <a:off x="11701462" y="6891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rot="5400000">
            <a:off x="12172950" y="6829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2420600" y="5715000"/>
            <a:ext cx="4953000" cy="2381250"/>
          </a:xfrm>
          <a:prstGeom prst="roundRect">
            <a:avLst>
              <a:gd name="adj" fmla="val 64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12725400" y="60198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725400" y="60198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6</a:t>
            </a:r>
          </a:p>
        </p:txBody>
      </p:sp>
      <p:pic>
        <p:nvPicPr>
          <p:cNvPr id="46" name="Picture 45" descr="qr-code.png"/>
          <p:cNvPicPr>
            <a:picLocks noChangeAspect="1"/>
          </p:cNvPicPr>
          <p:nvPr/>
        </p:nvPicPr>
        <p:blipFill>
          <a:blip r:embed="rId8"/>
          <a:stretch>
            <a:fillRect/>
          </a:stretch>
        </p:blipFill>
        <p:spPr>
          <a:xfrm>
            <a:off x="16344900" y="6000750"/>
            <a:ext cx="609600" cy="609600"/>
          </a:xfrm>
          <a:prstGeom prst="rect">
            <a:avLst/>
          </a:prstGeom>
        </p:spPr>
      </p:pic>
      <p:sp>
        <p:nvSpPr>
          <p:cNvPr id="47" name="TextBox 46"/>
          <p:cNvSpPr txBox="1"/>
          <p:nvPr/>
        </p:nvSpPr>
        <p:spPr>
          <a:xfrm>
            <a:off x="12725400" y="67627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Decode</a:t>
            </a:r>
          </a:p>
        </p:txBody>
      </p:sp>
      <p:sp>
        <p:nvSpPr>
          <p:cNvPr id="48" name="TextBox 47"/>
          <p:cNvSpPr txBox="1"/>
          <p:nvPr/>
        </p:nvSpPr>
        <p:spPr>
          <a:xfrm>
            <a:off x="12725400" y="72771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Read the bits, look up the ID</a:t>
            </a:r>
          </a:p>
        </p:txBody>
      </p:sp>
      <p:sp>
        <p:nvSpPr>
          <p:cNvPr id="49" name="Rounded Rectangle 48"/>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gpu-card.png"/>
          <p:cNvPicPr>
            <a:picLocks noChangeAspect="1"/>
          </p:cNvPicPr>
          <p:nvPr/>
        </p:nvPicPr>
        <p:blipFill>
          <a:blip r:embed="rId9"/>
          <a:stretch>
            <a:fillRect/>
          </a:stretch>
        </p:blipFill>
        <p:spPr>
          <a:xfrm>
            <a:off x="1333500" y="8543925"/>
            <a:ext cx="609600" cy="533400"/>
          </a:xfrm>
          <a:prstGeom prst="rect">
            <a:avLst/>
          </a:prstGeom>
        </p:spPr>
      </p:pic>
      <p:sp>
        <p:nvSpPr>
          <p:cNvPr id="51" name="TextBox 50"/>
          <p:cNvSpPr txBox="1"/>
          <p:nvPr/>
        </p:nvSpPr>
        <p:spPr>
          <a:xfrm>
            <a:off x="2190750" y="83820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our robots:  </a:t>
            </a:r>
            <a:r>
              <a:rPr sz="2100" b="0" i="0">
                <a:solidFill>
                  <a:srgbClr val="F0E8E8"/>
                </a:solidFill>
                <a:latin typeface="Geist"/>
                <a:ea typeface="Geist"/>
                <a:cs typeface="Geist"/>
              </a:rPr>
              <a:t>all of this runs on the Jetson's GPU, for every picture from every camera.</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ID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428750" y="2857500"/>
            <a:ext cx="5715000" cy="5715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00250" y="3429000"/>
            <a:ext cx="4572000" cy="4572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571750" y="4000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714750" y="4000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286250" y="4000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143250" y="4572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714750" y="4572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857750" y="4572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571750" y="5143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143250" y="5143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429250" y="5143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714750" y="5715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286250" y="5715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857750" y="5715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429250" y="5715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571750" y="6286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286250" y="6286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857750" y="6286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143250" y="6858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286250" y="6858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29250" y="6858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71750" y="4000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27" name="TextBox 26"/>
          <p:cNvSpPr txBox="1"/>
          <p:nvPr/>
        </p:nvSpPr>
        <p:spPr>
          <a:xfrm>
            <a:off x="3143250" y="4000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28" name="TextBox 27"/>
          <p:cNvSpPr txBox="1"/>
          <p:nvPr/>
        </p:nvSpPr>
        <p:spPr>
          <a:xfrm>
            <a:off x="3714750" y="4000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29" name="TextBox 28"/>
          <p:cNvSpPr txBox="1"/>
          <p:nvPr/>
        </p:nvSpPr>
        <p:spPr>
          <a:xfrm>
            <a:off x="4286250" y="4000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0" name="TextBox 29"/>
          <p:cNvSpPr txBox="1"/>
          <p:nvPr/>
        </p:nvSpPr>
        <p:spPr>
          <a:xfrm>
            <a:off x="4857750" y="4000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1" name="TextBox 30"/>
          <p:cNvSpPr txBox="1"/>
          <p:nvPr/>
        </p:nvSpPr>
        <p:spPr>
          <a:xfrm>
            <a:off x="5429250" y="4000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2" name="TextBox 31"/>
          <p:cNvSpPr txBox="1"/>
          <p:nvPr/>
        </p:nvSpPr>
        <p:spPr>
          <a:xfrm>
            <a:off x="2571750" y="4572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3" name="TextBox 32"/>
          <p:cNvSpPr txBox="1"/>
          <p:nvPr/>
        </p:nvSpPr>
        <p:spPr>
          <a:xfrm>
            <a:off x="3143250" y="4572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4" name="TextBox 33"/>
          <p:cNvSpPr txBox="1"/>
          <p:nvPr/>
        </p:nvSpPr>
        <p:spPr>
          <a:xfrm>
            <a:off x="3714750" y="4572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5" name="TextBox 34"/>
          <p:cNvSpPr txBox="1"/>
          <p:nvPr/>
        </p:nvSpPr>
        <p:spPr>
          <a:xfrm>
            <a:off x="4286250" y="4572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6" name="TextBox 35"/>
          <p:cNvSpPr txBox="1"/>
          <p:nvPr/>
        </p:nvSpPr>
        <p:spPr>
          <a:xfrm>
            <a:off x="4857750" y="4572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7" name="TextBox 36"/>
          <p:cNvSpPr txBox="1"/>
          <p:nvPr/>
        </p:nvSpPr>
        <p:spPr>
          <a:xfrm>
            <a:off x="5429250" y="4572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8" name="TextBox 37"/>
          <p:cNvSpPr txBox="1"/>
          <p:nvPr/>
        </p:nvSpPr>
        <p:spPr>
          <a:xfrm>
            <a:off x="2571750" y="5143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9" name="TextBox 38"/>
          <p:cNvSpPr txBox="1"/>
          <p:nvPr/>
        </p:nvSpPr>
        <p:spPr>
          <a:xfrm>
            <a:off x="3143250" y="5143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0" name="TextBox 39"/>
          <p:cNvSpPr txBox="1"/>
          <p:nvPr/>
        </p:nvSpPr>
        <p:spPr>
          <a:xfrm>
            <a:off x="3714750" y="5143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1" name="TextBox 40"/>
          <p:cNvSpPr txBox="1"/>
          <p:nvPr/>
        </p:nvSpPr>
        <p:spPr>
          <a:xfrm>
            <a:off x="4286250" y="5143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2" name="TextBox 41"/>
          <p:cNvSpPr txBox="1"/>
          <p:nvPr/>
        </p:nvSpPr>
        <p:spPr>
          <a:xfrm>
            <a:off x="4857750" y="5143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3" name="TextBox 42"/>
          <p:cNvSpPr txBox="1"/>
          <p:nvPr/>
        </p:nvSpPr>
        <p:spPr>
          <a:xfrm>
            <a:off x="5429250" y="5143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4" name="TextBox 43"/>
          <p:cNvSpPr txBox="1"/>
          <p:nvPr/>
        </p:nvSpPr>
        <p:spPr>
          <a:xfrm>
            <a:off x="2571750" y="5715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5" name="TextBox 44"/>
          <p:cNvSpPr txBox="1"/>
          <p:nvPr/>
        </p:nvSpPr>
        <p:spPr>
          <a:xfrm>
            <a:off x="3143250" y="5715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6" name="TextBox 45"/>
          <p:cNvSpPr txBox="1"/>
          <p:nvPr/>
        </p:nvSpPr>
        <p:spPr>
          <a:xfrm>
            <a:off x="3714750" y="5715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7" name="TextBox 46"/>
          <p:cNvSpPr txBox="1"/>
          <p:nvPr/>
        </p:nvSpPr>
        <p:spPr>
          <a:xfrm>
            <a:off x="4286250" y="5715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8" name="TextBox 47"/>
          <p:cNvSpPr txBox="1"/>
          <p:nvPr/>
        </p:nvSpPr>
        <p:spPr>
          <a:xfrm>
            <a:off x="4857750" y="5715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9" name="TextBox 48"/>
          <p:cNvSpPr txBox="1"/>
          <p:nvPr/>
        </p:nvSpPr>
        <p:spPr>
          <a:xfrm>
            <a:off x="5429250" y="5715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0" name="TextBox 49"/>
          <p:cNvSpPr txBox="1"/>
          <p:nvPr/>
        </p:nvSpPr>
        <p:spPr>
          <a:xfrm>
            <a:off x="2571750" y="6286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1" name="TextBox 50"/>
          <p:cNvSpPr txBox="1"/>
          <p:nvPr/>
        </p:nvSpPr>
        <p:spPr>
          <a:xfrm>
            <a:off x="3143250" y="6286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2" name="TextBox 51"/>
          <p:cNvSpPr txBox="1"/>
          <p:nvPr/>
        </p:nvSpPr>
        <p:spPr>
          <a:xfrm>
            <a:off x="3714750" y="6286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3" name="TextBox 52"/>
          <p:cNvSpPr txBox="1"/>
          <p:nvPr/>
        </p:nvSpPr>
        <p:spPr>
          <a:xfrm>
            <a:off x="4286250" y="6286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4" name="TextBox 53"/>
          <p:cNvSpPr txBox="1"/>
          <p:nvPr/>
        </p:nvSpPr>
        <p:spPr>
          <a:xfrm>
            <a:off x="4857750" y="6286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5" name="TextBox 54"/>
          <p:cNvSpPr txBox="1"/>
          <p:nvPr/>
        </p:nvSpPr>
        <p:spPr>
          <a:xfrm>
            <a:off x="5429250" y="6286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6" name="TextBox 55"/>
          <p:cNvSpPr txBox="1"/>
          <p:nvPr/>
        </p:nvSpPr>
        <p:spPr>
          <a:xfrm>
            <a:off x="2571750" y="6858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7" name="TextBox 56"/>
          <p:cNvSpPr txBox="1"/>
          <p:nvPr/>
        </p:nvSpPr>
        <p:spPr>
          <a:xfrm>
            <a:off x="3143250" y="6858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8" name="TextBox 57"/>
          <p:cNvSpPr txBox="1"/>
          <p:nvPr/>
        </p:nvSpPr>
        <p:spPr>
          <a:xfrm>
            <a:off x="3714750" y="6858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9" name="TextBox 58"/>
          <p:cNvSpPr txBox="1"/>
          <p:nvPr/>
        </p:nvSpPr>
        <p:spPr>
          <a:xfrm>
            <a:off x="4286250" y="6858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60" name="TextBox 59"/>
          <p:cNvSpPr txBox="1"/>
          <p:nvPr/>
        </p:nvSpPr>
        <p:spPr>
          <a:xfrm>
            <a:off x="4857750" y="6858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61" name="TextBox 60"/>
          <p:cNvSpPr txBox="1"/>
          <p:nvPr/>
        </p:nvSpPr>
        <p:spPr>
          <a:xfrm>
            <a:off x="5429250" y="6858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62" name="Rectangle 61"/>
          <p:cNvSpPr/>
          <p:nvPr/>
        </p:nvSpPr>
        <p:spPr>
          <a:xfrm>
            <a:off x="2000250" y="3429000"/>
            <a:ext cx="4572000" cy="4572000"/>
          </a:xfrm>
          <a:prstGeom prst="rect">
            <a:avLst/>
          </a:prstGeom>
          <a:no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1866900" y="3295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438900" y="3295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866900" y="7867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438900" y="7867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57250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725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9" name="TextBox 68"/>
          <p:cNvSpPr txBox="1"/>
          <p:nvPr/>
        </p:nvSpPr>
        <p:spPr>
          <a:xfrm>
            <a:off x="9182100" y="2914650"/>
            <a:ext cx="819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Four corners</a:t>
            </a:r>
          </a:p>
        </p:txBody>
      </p:sp>
      <p:sp>
        <p:nvSpPr>
          <p:cNvPr id="70" name="TextBox 69"/>
          <p:cNvSpPr txBox="1"/>
          <p:nvPr/>
        </p:nvSpPr>
        <p:spPr>
          <a:xfrm>
            <a:off x="9182100" y="3333750"/>
            <a:ext cx="819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square the detector found</a:t>
            </a:r>
          </a:p>
        </p:txBody>
      </p:sp>
      <p:sp>
        <p:nvSpPr>
          <p:cNvPr id="71" name="Oval 70"/>
          <p:cNvSpPr/>
          <p:nvPr/>
        </p:nvSpPr>
        <p:spPr>
          <a:xfrm>
            <a:off x="8572500" y="4381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572500" y="4381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73" name="TextBox 72"/>
          <p:cNvSpPr txBox="1"/>
          <p:nvPr/>
        </p:nvSpPr>
        <p:spPr>
          <a:xfrm>
            <a:off x="9182100" y="4343400"/>
            <a:ext cx="819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Find each bit</a:t>
            </a:r>
          </a:p>
        </p:txBody>
      </p:sp>
      <p:sp>
        <p:nvSpPr>
          <p:cNvPr id="74" name="TextBox 73"/>
          <p:cNvSpPr txBox="1"/>
          <p:nvPr/>
        </p:nvSpPr>
        <p:spPr>
          <a:xfrm>
            <a:off x="9182100" y="4762500"/>
            <a:ext cx="819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Work out where the middle of each square is</a:t>
            </a:r>
          </a:p>
        </p:txBody>
      </p:sp>
      <p:sp>
        <p:nvSpPr>
          <p:cNvPr id="75" name="Oval 74"/>
          <p:cNvSpPr/>
          <p:nvPr/>
        </p:nvSpPr>
        <p:spPr>
          <a:xfrm>
            <a:off x="8572500" y="5810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572500" y="5810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77" name="TextBox 76"/>
          <p:cNvSpPr txBox="1"/>
          <p:nvPr/>
        </p:nvSpPr>
        <p:spPr>
          <a:xfrm>
            <a:off x="9182100" y="5772150"/>
            <a:ext cx="819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 1 or 0</a:t>
            </a:r>
          </a:p>
        </p:txBody>
      </p:sp>
      <p:sp>
        <p:nvSpPr>
          <p:cNvPr id="78" name="TextBox 77"/>
          <p:cNvSpPr txBox="1"/>
          <p:nvPr/>
        </p:nvSpPr>
        <p:spPr>
          <a:xfrm>
            <a:off x="9182100" y="6191250"/>
            <a:ext cx="819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Light is 1, dark is 0</a:t>
            </a:r>
          </a:p>
        </p:txBody>
      </p:sp>
      <p:sp>
        <p:nvSpPr>
          <p:cNvPr id="79" name="Oval 78"/>
          <p:cNvSpPr/>
          <p:nvPr/>
        </p:nvSpPr>
        <p:spPr>
          <a:xfrm>
            <a:off x="8572500" y="7239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572500" y="7239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81" name="TextBox 80"/>
          <p:cNvSpPr txBox="1"/>
          <p:nvPr/>
        </p:nvSpPr>
        <p:spPr>
          <a:xfrm>
            <a:off x="9182100" y="7200900"/>
            <a:ext cx="819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Match an ID</a:t>
            </a:r>
          </a:p>
        </p:txBody>
      </p:sp>
      <p:sp>
        <p:nvSpPr>
          <p:cNvPr id="82" name="TextBox 81"/>
          <p:cNvSpPr txBox="1"/>
          <p:nvPr/>
        </p:nvSpPr>
        <p:spPr>
          <a:xfrm>
            <a:off x="9182100" y="7620000"/>
            <a:ext cx="819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closest pattern wins. One or two wrong bits are OK. Nothing close? Not a tag.</a:t>
            </a:r>
          </a:p>
        </p:txBody>
      </p:sp>
      <p:sp>
        <p:nvSpPr>
          <p:cNvPr id="83" name="TextBox 8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4" name="TextBox 8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four corners to where the camera is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amera.png"/>
          <p:cNvPicPr>
            <a:picLocks noChangeAspect="1"/>
          </p:cNvPicPr>
          <p:nvPr/>
        </p:nvPicPr>
        <p:blipFill>
          <a:blip r:embed="rId3"/>
          <a:stretch>
            <a:fillRect/>
          </a:stretch>
        </p:blipFill>
        <p:spPr>
          <a:xfrm>
            <a:off x="1524000" y="5286375"/>
            <a:ext cx="1143000" cy="857250"/>
          </a:xfrm>
          <a:prstGeom prst="rect">
            <a:avLst/>
          </a:prstGeom>
        </p:spPr>
      </p:pic>
      <p:cxnSp>
        <p:nvCxnSpPr>
          <p:cNvPr id="7" name="Connector 6"/>
          <p:cNvCxnSpPr/>
          <p:nvPr/>
        </p:nvCxnSpPr>
        <p:spPr>
          <a:xfrm>
            <a:off x="9334500" y="3810000"/>
            <a:ext cx="1428750" cy="3810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0739438" y="4167188"/>
            <a:ext cx="47625" cy="309562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 name="Connector 8"/>
          <p:cNvCxnSpPr/>
          <p:nvPr/>
        </p:nvCxnSpPr>
        <p:spPr>
          <a:xfrm flipH="1">
            <a:off x="9334500" y="7239000"/>
            <a:ext cx="1428750" cy="3810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9310688" y="3786188"/>
            <a:ext cx="47625" cy="385762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flipV="1">
            <a:off x="2667000" y="3810000"/>
            <a:ext cx="6667500" cy="1905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220200" y="369570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76800" y="4985657"/>
            <a:ext cx="152400" cy="1524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2667000" y="4191000"/>
            <a:ext cx="8096250" cy="1524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648950" y="407670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76800" y="5208494"/>
            <a:ext cx="152400" cy="1524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2667000" y="5715000"/>
            <a:ext cx="8096250" cy="1524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648950" y="712470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76800" y="6069106"/>
            <a:ext cx="152400" cy="1524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2667000" y="5715000"/>
            <a:ext cx="6667500" cy="1905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9220200" y="750570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76800" y="6291943"/>
            <a:ext cx="152400" cy="1524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95850" y="4476750"/>
            <a:ext cx="114300" cy="2476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10000" y="7048500"/>
            <a:ext cx="22860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picture</a:t>
            </a:r>
          </a:p>
        </p:txBody>
      </p:sp>
      <p:sp>
        <p:nvSpPr>
          <p:cNvPr id="25" name="TextBox 24"/>
          <p:cNvSpPr txBox="1"/>
          <p:nvPr/>
        </p:nvSpPr>
        <p:spPr>
          <a:xfrm>
            <a:off x="9144000" y="7810500"/>
            <a:ext cx="19050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tag</a:t>
            </a:r>
          </a:p>
        </p:txBody>
      </p:sp>
      <p:sp>
        <p:nvSpPr>
          <p:cNvPr id="26" name="TextBox 25"/>
          <p:cNvSpPr txBox="1"/>
          <p:nvPr/>
        </p:nvSpPr>
        <p:spPr>
          <a:xfrm>
            <a:off x="1143000" y="6286500"/>
            <a:ext cx="19050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camera</a:t>
            </a:r>
          </a:p>
        </p:txBody>
      </p:sp>
      <p:sp>
        <p:nvSpPr>
          <p:cNvPr id="27" name="Oval 26"/>
          <p:cNvSpPr/>
          <p:nvPr/>
        </p:nvSpPr>
        <p:spPr>
          <a:xfrm>
            <a:off x="1190625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90625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2515850" y="2914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Corners in the picture</a:t>
            </a:r>
          </a:p>
        </p:txBody>
      </p:sp>
      <p:sp>
        <p:nvSpPr>
          <p:cNvPr id="30" name="TextBox 29"/>
          <p:cNvSpPr txBox="1"/>
          <p:nvPr/>
        </p:nvSpPr>
        <p:spPr>
          <a:xfrm>
            <a:off x="12515850" y="3333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detector found them</a:t>
            </a:r>
          </a:p>
        </p:txBody>
      </p:sp>
      <p:sp>
        <p:nvSpPr>
          <p:cNvPr id="31" name="Oval 30"/>
          <p:cNvSpPr/>
          <p:nvPr/>
        </p:nvSpPr>
        <p:spPr>
          <a:xfrm>
            <a:off x="11906250" y="4381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906250" y="4381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2515850" y="4343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tag's real size</a:t>
            </a:r>
          </a:p>
        </p:txBody>
      </p:sp>
      <p:sp>
        <p:nvSpPr>
          <p:cNvPr id="34" name="TextBox 33"/>
          <p:cNvSpPr txBox="1"/>
          <p:nvPr/>
        </p:nvSpPr>
        <p:spPr>
          <a:xfrm>
            <a:off x="12515850" y="4762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Known: every tag is the same size</a:t>
            </a:r>
          </a:p>
        </p:txBody>
      </p:sp>
      <p:sp>
        <p:nvSpPr>
          <p:cNvPr id="35" name="Oval 34"/>
          <p:cNvSpPr/>
          <p:nvPr/>
        </p:nvSpPr>
        <p:spPr>
          <a:xfrm>
            <a:off x="11906250" y="5810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906250" y="5810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2515850" y="5772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camera's lens</a:t>
            </a:r>
          </a:p>
        </p:txBody>
      </p:sp>
      <p:sp>
        <p:nvSpPr>
          <p:cNvPr id="38" name="TextBox 37"/>
          <p:cNvSpPr txBox="1"/>
          <p:nvPr/>
        </p:nvSpPr>
        <p:spPr>
          <a:xfrm>
            <a:off x="12515850" y="6191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Measured once, when we calibrate it</a:t>
            </a:r>
          </a:p>
        </p:txBody>
      </p:sp>
      <p:sp>
        <p:nvSpPr>
          <p:cNvPr id="39" name="Rounded Rectangle 38"/>
          <p:cNvSpPr/>
          <p:nvPr/>
        </p:nvSpPr>
        <p:spPr>
          <a:xfrm>
            <a:off x="11906250" y="7334250"/>
            <a:ext cx="5467350" cy="1238250"/>
          </a:xfrm>
          <a:prstGeom prst="roundRect">
            <a:avLst>
              <a:gd name="adj" fmla="val 12307"/>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287250" y="7334250"/>
            <a:ext cx="4762500" cy="1238250"/>
          </a:xfrm>
          <a:prstGeom prst="rect">
            <a:avLst/>
          </a:prstGeom>
          <a:noFill/>
        </p:spPr>
        <p:txBody>
          <a:bodyPr wrap="square" lIns="0" rIns="0" tIns="0" bIns="0" anchor="ctr">
            <a:spAutoFit/>
          </a:bodyPr>
          <a:lstStyle/>
          <a:p>
            <a:pPr algn="l">
              <a:lnSpc>
                <a:spcPct val="130000"/>
              </a:lnSpc>
            </a:pPr>
            <a:r>
              <a:rPr sz="1950" b="1" i="0">
                <a:solidFill>
                  <a:srgbClr val="F0E8E8"/>
                </a:solidFill>
                <a:latin typeface="Geist"/>
                <a:ea typeface="Geist"/>
                <a:cs typeface="Geist"/>
              </a:rPr>
              <a:t>Answer: </a:t>
            </a:r>
            <a:r>
              <a:rPr sz="1950" b="0" i="0">
                <a:solidFill>
                  <a:srgbClr val="F0E8E8"/>
                </a:solidFill>
                <a:latin typeface="Geist"/>
                <a:ea typeface="Geist"/>
                <a:cs typeface="Geist"/>
              </a:rPr>
              <a:t>where the camera is. This math is called </a:t>
            </a:r>
            <a:r>
              <a:rPr sz="1950" b="1" i="0">
                <a:solidFill>
                  <a:srgbClr val="F0E8E8"/>
                </a:solidFill>
                <a:latin typeface="Geist"/>
                <a:ea typeface="Geist"/>
                <a:cs typeface="Geist"/>
              </a:rPr>
              <a:t>PnP</a:t>
            </a:r>
            <a:r>
              <a:rPr sz="1950" b="0" i="0">
                <a:solidFill>
                  <a:srgbClr val="F0E8E8"/>
                </a:solidFill>
                <a:latin typeface="Geist"/>
                <a:ea typeface="Geist"/>
                <a:cs typeface="Geist"/>
              </a:rPr>
              <a:t>.</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the camera to the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667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3295650" y="4934710"/>
            <a:ext cx="1905000" cy="1751081"/>
          </a:xfrm>
          <a:prstGeom prst="rect">
            <a:avLst/>
          </a:prstGeom>
        </p:spPr>
      </p:pic>
      <p:sp>
        <p:nvSpPr>
          <p:cNvPr id="7" name="Rounded Rectangle 6"/>
          <p:cNvSpPr/>
          <p:nvPr/>
        </p:nvSpPr>
        <p:spPr>
          <a:xfrm>
            <a:off x="4019550" y="3848100"/>
            <a:ext cx="457200" cy="304800"/>
          </a:xfrm>
          <a:prstGeom prst="roundRect">
            <a:avLst>
              <a:gd name="adj" fmla="val 1875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29150" y="3829050"/>
            <a:ext cx="2286000" cy="34290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front camera</a:t>
            </a:r>
          </a:p>
        </p:txBody>
      </p:sp>
      <p:sp>
        <p:nvSpPr>
          <p:cNvPr id="9" name="Rounded Rectangle 8"/>
          <p:cNvSpPr/>
          <p:nvPr/>
        </p:nvSpPr>
        <p:spPr>
          <a:xfrm>
            <a:off x="4019550" y="7467600"/>
            <a:ext cx="457200" cy="304800"/>
          </a:xfrm>
          <a:prstGeom prst="roundRect">
            <a:avLst>
              <a:gd name="adj" fmla="val 1875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29150" y="7448550"/>
            <a:ext cx="2286000" cy="34290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back camera</a:t>
            </a:r>
          </a:p>
        </p:txBody>
      </p:sp>
      <p:sp>
        <p:nvSpPr>
          <p:cNvPr id="11" name="Rectangle 10"/>
          <p:cNvSpPr/>
          <p:nvPr/>
        </p:nvSpPr>
        <p:spPr>
          <a:xfrm>
            <a:off x="2800350" y="4213860"/>
            <a:ext cx="38100" cy="1615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a:off x="2743200" y="4095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0650" y="4762500"/>
            <a:ext cx="1333500" cy="57150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0.3 m forward</a:t>
            </a:r>
          </a:p>
        </p:txBody>
      </p:sp>
      <p:sp>
        <p:nvSpPr>
          <p:cNvPr id="14" name="Oval 13"/>
          <p:cNvSpPr/>
          <p:nvPr/>
        </p:nvSpPr>
        <p:spPr>
          <a:xfrm>
            <a:off x="4171950" y="5734050"/>
            <a:ext cx="152400" cy="1524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0650" y="5638800"/>
            <a:ext cx="1905000" cy="34290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robot center</a:t>
            </a:r>
          </a:p>
        </p:txBody>
      </p:sp>
      <p:sp>
        <p:nvSpPr>
          <p:cNvPr id="16" name="TextBox 15"/>
          <p:cNvSpPr txBox="1"/>
          <p:nvPr/>
        </p:nvSpPr>
        <p:spPr>
          <a:xfrm>
            <a:off x="8191500" y="2857500"/>
            <a:ext cx="91821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VisionConstants.java</a:t>
            </a:r>
          </a:p>
        </p:txBody>
      </p:sp>
      <p:sp>
        <p:nvSpPr>
          <p:cNvPr id="17" name="Rounded Rectangle 16"/>
          <p:cNvSpPr/>
          <p:nvPr/>
        </p:nvSpPr>
        <p:spPr>
          <a:xfrm>
            <a:off x="8191500" y="3276600"/>
            <a:ext cx="9182100" cy="3035618"/>
          </a:xfrm>
          <a:prstGeom prst="roundRect">
            <a:avLst>
              <a:gd name="adj" fmla="val 502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72500" y="3657600"/>
            <a:ext cx="8648700" cy="324802"/>
          </a:xfrm>
          <a:prstGeom prst="rect">
            <a:avLst/>
          </a:prstGeom>
          <a:noFill/>
        </p:spPr>
        <p:txBody>
          <a:bodyPr wrap="square" lIns="0" rIns="0" tIns="0" bIns="0" anchor="ctr">
            <a:spAutoFit/>
          </a:bodyPr>
          <a:lstStyle/>
          <a:p>
            <a:pPr algn="l"/>
            <a:r>
              <a:rPr sz="1650" b="0" i="1">
                <a:solidFill>
                  <a:srgbClr val="9A7878"/>
                </a:solidFill>
                <a:latin typeface="Geist Mono"/>
                <a:ea typeface="Geist Mono"/>
                <a:cs typeface="Geist Mono"/>
              </a:rPr>
              <a:t>// x forward, y left, z up (meters)</a:t>
            </a:r>
          </a:p>
        </p:txBody>
      </p:sp>
      <p:sp>
        <p:nvSpPr>
          <p:cNvPr id="19" name="TextBox 18"/>
          <p:cNvSpPr txBox="1"/>
          <p:nvPr/>
        </p:nvSpPr>
        <p:spPr>
          <a:xfrm>
            <a:off x="8572500" y="3982402"/>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FRONT_CAMERA_TRANSFORM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Transform3d(</a:t>
            </a:r>
          </a:p>
        </p:txBody>
      </p:sp>
      <p:sp>
        <p:nvSpPr>
          <p:cNvPr id="20" name="TextBox 19"/>
          <p:cNvSpPr txBox="1"/>
          <p:nvPr/>
        </p:nvSpPr>
        <p:spPr>
          <a:xfrm>
            <a:off x="8572500" y="4307205"/>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Translation3d(</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a:t>
            </a:r>
          </a:p>
        </p:txBody>
      </p:sp>
      <p:sp>
        <p:nvSpPr>
          <p:cNvPr id="21" name="TextBox 20"/>
          <p:cNvSpPr txBox="1"/>
          <p:nvPr/>
        </p:nvSpPr>
        <p:spPr>
          <a:xfrm>
            <a:off x="8572500" y="4632008"/>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Rotation3d(</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22" name="TextBox 21"/>
          <p:cNvSpPr txBox="1"/>
          <p:nvPr/>
        </p:nvSpPr>
        <p:spPr>
          <a:xfrm>
            <a:off x="8572500" y="4956810"/>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BACK_CAMERA_TRANSFORM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Transform3d(</a:t>
            </a:r>
          </a:p>
        </p:txBody>
      </p:sp>
      <p:sp>
        <p:nvSpPr>
          <p:cNvPr id="23" name="TextBox 22"/>
          <p:cNvSpPr txBox="1"/>
          <p:nvPr/>
        </p:nvSpPr>
        <p:spPr>
          <a:xfrm>
            <a:off x="8572500" y="5281612"/>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Translation3d(-</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a:t>
            </a:r>
          </a:p>
        </p:txBody>
      </p:sp>
      <p:sp>
        <p:nvSpPr>
          <p:cNvPr id="24" name="TextBox 23"/>
          <p:cNvSpPr txBox="1"/>
          <p:nvPr/>
        </p:nvSpPr>
        <p:spPr>
          <a:xfrm>
            <a:off x="8572500" y="5606415"/>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Rotation3d(</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Math.PI));</a:t>
            </a:r>
          </a:p>
        </p:txBody>
      </p:sp>
      <p:sp>
        <p:nvSpPr>
          <p:cNvPr id="25" name="Oval 24"/>
          <p:cNvSpPr/>
          <p:nvPr/>
        </p:nvSpPr>
        <p:spPr>
          <a:xfrm>
            <a:off x="16764000" y="427910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764000" y="42791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Oval 26"/>
          <p:cNvSpPr/>
          <p:nvPr/>
        </p:nvSpPr>
        <p:spPr>
          <a:xfrm>
            <a:off x="16764000" y="557831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764000" y="557831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Oval 28"/>
          <p:cNvSpPr/>
          <p:nvPr/>
        </p:nvSpPr>
        <p:spPr>
          <a:xfrm>
            <a:off x="8191500" y="7048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91500" y="704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8801100" y="7010400"/>
            <a:ext cx="857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Where it's bolted</a:t>
            </a:r>
          </a:p>
        </p:txBody>
      </p:sp>
      <p:sp>
        <p:nvSpPr>
          <p:cNvPr id="32" name="TextBox 31"/>
          <p:cNvSpPr txBox="1"/>
          <p:nvPr/>
        </p:nvSpPr>
        <p:spPr>
          <a:xfrm>
            <a:off x="8801100" y="7429500"/>
            <a:ext cx="857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0.3 m forward and 0.3 m up</a:t>
            </a:r>
          </a:p>
        </p:txBody>
      </p:sp>
      <p:sp>
        <p:nvSpPr>
          <p:cNvPr id="33" name="Oval 32"/>
          <p:cNvSpPr/>
          <p:nvPr/>
        </p:nvSpPr>
        <p:spPr>
          <a:xfrm>
            <a:off x="8191500" y="809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91500" y="809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8801100" y="8058150"/>
            <a:ext cx="857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Which way it faces</a:t>
            </a:r>
          </a:p>
        </p:txBody>
      </p:sp>
      <p:sp>
        <p:nvSpPr>
          <p:cNvPr id="36" name="TextBox 35"/>
          <p:cNvSpPr txBox="1"/>
          <p:nvPr/>
        </p:nvSpPr>
        <p:spPr>
          <a:xfrm>
            <a:off x="8801100" y="8477250"/>
            <a:ext cx="857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back camera is turned 180 degrees (pi radians)</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the cameras can see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5112057"/>
          </a:xfrm>
          <a:prstGeom prst="roundRect">
            <a:avLst>
              <a:gd name="adj" fmla="val 1490"/>
            </a:avLst>
          </a:prstGeom>
          <a:solidFill>
            <a:srgbClr val="111111"/>
          </a:solid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143625" y="2905125"/>
            <a:ext cx="19050" cy="5016807"/>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068179" y="5033450"/>
            <a:ext cx="760157" cy="760157"/>
          </a:xfrm>
          <a:prstGeom prst="roundRect">
            <a:avLst>
              <a:gd name="adj" fmla="val 7518"/>
            </a:avLst>
          </a:prstGeom>
          <a:solidFill>
            <a:srgbClr val="0A0A0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77964" y="5033450"/>
            <a:ext cx="760157" cy="760157"/>
          </a:xfrm>
          <a:prstGeom prst="roundRect">
            <a:avLst>
              <a:gd name="adj" fmla="val 7518"/>
            </a:avLst>
          </a:prstGeom>
          <a:solidFill>
            <a:srgbClr val="0A0A0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 name="Connector 8"/>
          <p:cNvCxnSpPr/>
          <p:nvPr/>
        </p:nvCxnSpPr>
        <p:spPr>
          <a:xfrm flipH="1" flipV="1">
            <a:off x="2278625" y="2872466"/>
            <a:ext cx="3013154" cy="3590937"/>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154710" y="6463403"/>
            <a:ext cx="4137069" cy="1505770"/>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658907" y="6561775"/>
            <a:ext cx="1180831" cy="1407259"/>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658907" y="4720186"/>
            <a:ext cx="5059725" cy="1841589"/>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35151" y="5280501"/>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001665"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695308" y="5280501"/>
            <a:ext cx="266055" cy="266055"/>
          </a:xfrm>
          <a:prstGeom prst="rect">
            <a:avLst/>
          </a:prstGeom>
          <a:solidFill>
            <a:srgbClr val="F0E8E8"/>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761822"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315230" y="4900422"/>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381744" y="4966936"/>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315230" y="5660580"/>
            <a:ext cx="266055" cy="266055"/>
          </a:xfrm>
          <a:prstGeom prst="rect">
            <a:avLst/>
          </a:prstGeom>
          <a:solidFill>
            <a:srgbClr val="F0E8E8"/>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381744" y="5727093"/>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44937" y="5280501"/>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411450"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105094" y="5280501"/>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171608"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725015" y="4900422"/>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791529" y="4966936"/>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725015" y="5660580"/>
            <a:ext cx="266055" cy="266055"/>
          </a:xfrm>
          <a:prstGeom prst="rect">
            <a:avLst/>
          </a:prstGeom>
          <a:solidFill>
            <a:srgbClr val="F0E8E8"/>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791529" y="5727093"/>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39739" y="7013026"/>
            <a:ext cx="266055" cy="266055"/>
          </a:xfrm>
          <a:prstGeom prst="rect">
            <a:avLst/>
          </a:prstGeom>
          <a:solidFill>
            <a:srgbClr val="F0E8E8"/>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006252" y="7079540"/>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1100506" y="7013026"/>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1167020" y="7079540"/>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9739" y="5280501"/>
            <a:ext cx="266055" cy="266055"/>
          </a:xfrm>
          <a:prstGeom prst="rect">
            <a:avLst/>
          </a:prstGeom>
          <a:solidFill>
            <a:srgbClr val="F0E8E8"/>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006252"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1100506" y="5280501"/>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1167020"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39739" y="3547976"/>
            <a:ext cx="266055" cy="266055"/>
          </a:xfrm>
          <a:prstGeom prst="rect">
            <a:avLst/>
          </a:prstGeom>
          <a:solidFill>
            <a:srgbClr val="F0E8E8"/>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006252" y="3614490"/>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100506" y="3547976"/>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1167020" y="3614490"/>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dozer_top.png"/>
          <p:cNvPicPr>
            <a:picLocks noChangeAspect="1"/>
          </p:cNvPicPr>
          <p:nvPr/>
        </p:nvPicPr>
        <p:blipFill>
          <a:blip r:embed="rId3"/>
          <a:stretch>
            <a:fillRect/>
          </a:stretch>
        </p:blipFill>
        <p:spPr>
          <a:xfrm rot="11700000">
            <a:off x="4999093" y="6074819"/>
            <a:ext cx="952500" cy="875540"/>
          </a:xfrm>
          <a:prstGeom prst="rect">
            <a:avLst/>
          </a:prstGeom>
        </p:spPr>
      </p:pic>
      <p:sp>
        <p:nvSpPr>
          <p:cNvPr id="42" name="TextBox 41"/>
          <p:cNvSpPr txBox="1"/>
          <p:nvPr/>
        </p:nvSpPr>
        <p:spPr>
          <a:xfrm>
            <a:off x="2931956" y="6308025"/>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front camera</a:t>
            </a:r>
          </a:p>
        </p:txBody>
      </p:sp>
      <p:sp>
        <p:nvSpPr>
          <p:cNvPr id="43" name="TextBox 42"/>
          <p:cNvSpPr txBox="1"/>
          <p:nvPr/>
        </p:nvSpPr>
        <p:spPr>
          <a:xfrm>
            <a:off x="6113730" y="7223925"/>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back camera</a:t>
            </a:r>
          </a:p>
        </p:txBody>
      </p:sp>
      <p:sp>
        <p:nvSpPr>
          <p:cNvPr id="44" name="TextBox 43"/>
          <p:cNvSpPr txBox="1"/>
          <p:nvPr/>
        </p:nvSpPr>
        <p:spPr>
          <a:xfrm>
            <a:off x="914400" y="8083857"/>
            <a:ext cx="1047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Tag spots simplified for the picture.</a:t>
            </a:r>
          </a:p>
        </p:txBody>
      </p:sp>
      <p:sp>
        <p:nvSpPr>
          <p:cNvPr id="45" name="Rounded Rectangle 44"/>
          <p:cNvSpPr/>
          <p:nvPr/>
        </p:nvSpPr>
        <p:spPr>
          <a:xfrm>
            <a:off x="11906250" y="2857500"/>
            <a:ext cx="546735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2287250" y="3143250"/>
            <a:ext cx="3143250" cy="6667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Front camera</a:t>
            </a:r>
          </a:p>
        </p:txBody>
      </p:sp>
      <p:sp>
        <p:nvSpPr>
          <p:cNvPr id="47" name="TextBox 46"/>
          <p:cNvSpPr txBox="1"/>
          <p:nvPr/>
        </p:nvSpPr>
        <p:spPr>
          <a:xfrm>
            <a:off x="15240000" y="3143250"/>
            <a:ext cx="1809750" cy="666750"/>
          </a:xfrm>
          <a:prstGeom prst="rect">
            <a:avLst/>
          </a:prstGeom>
          <a:noFill/>
        </p:spPr>
        <p:txBody>
          <a:bodyPr wrap="square" lIns="0" rIns="0" tIns="0" bIns="0" anchor="ctr">
            <a:spAutoFit/>
          </a:bodyPr>
          <a:lstStyle/>
          <a:p>
            <a:pPr algn="r"/>
            <a:r>
              <a:rPr sz="2250" b="1" i="0">
                <a:solidFill>
                  <a:srgbClr val="CC2200"/>
                </a:solidFill>
                <a:latin typeface="Geist Mono"/>
                <a:ea typeface="Geist Mono"/>
                <a:cs typeface="Geist Mono"/>
              </a:rPr>
              <a:t>5 tags</a:t>
            </a:r>
          </a:p>
        </p:txBody>
      </p:sp>
      <p:sp>
        <p:nvSpPr>
          <p:cNvPr id="48" name="TextBox 47"/>
          <p:cNvSpPr txBox="1"/>
          <p:nvPr/>
        </p:nvSpPr>
        <p:spPr>
          <a:xfrm>
            <a:off x="12287250" y="4095750"/>
            <a:ext cx="3143250" cy="6667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Back camera</a:t>
            </a:r>
          </a:p>
        </p:txBody>
      </p:sp>
      <p:sp>
        <p:nvSpPr>
          <p:cNvPr id="49" name="TextBox 48"/>
          <p:cNvSpPr txBox="1"/>
          <p:nvPr/>
        </p:nvSpPr>
        <p:spPr>
          <a:xfrm>
            <a:off x="15240000" y="4095750"/>
            <a:ext cx="1809750" cy="666750"/>
          </a:xfrm>
          <a:prstGeom prst="rect">
            <a:avLst/>
          </a:prstGeom>
          <a:noFill/>
        </p:spPr>
        <p:txBody>
          <a:bodyPr wrap="square" lIns="0" rIns="0" tIns="0" bIns="0" anchor="ctr">
            <a:spAutoFit/>
          </a:bodyPr>
          <a:lstStyle/>
          <a:p>
            <a:pPr algn="r"/>
            <a:r>
              <a:rPr sz="2250" b="1" i="0">
                <a:solidFill>
                  <a:srgbClr val="CC2200"/>
                </a:solidFill>
                <a:latin typeface="Geist Mono"/>
                <a:ea typeface="Geist Mono"/>
                <a:cs typeface="Geist Mono"/>
              </a:rPr>
              <a:t>1 tags</a:t>
            </a:r>
          </a:p>
        </p:txBody>
      </p:sp>
      <p:sp>
        <p:nvSpPr>
          <p:cNvPr id="50" name="TextBox 49"/>
          <p:cNvSpPr txBox="1"/>
          <p:nvPr/>
        </p:nvSpPr>
        <p:spPr>
          <a:xfrm>
            <a:off x="11906250" y="5524500"/>
            <a:ext cx="5467350" cy="643890"/>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A tag counts when it's </a:t>
            </a:r>
            <a:r>
              <a:rPr sz="1950" b="1" i="0">
                <a:solidFill>
                  <a:srgbClr val="F0E8E8"/>
                </a:solidFill>
                <a:latin typeface="Geist"/>
                <a:ea typeface="Geist"/>
                <a:cs typeface="Geist"/>
              </a:rPr>
              <a:t>in view</a:t>
            </a:r>
            <a:r>
              <a:rPr sz="1950" b="0" i="0">
                <a:solidFill>
                  <a:srgbClr val="F0E8E8"/>
                </a:solidFill>
                <a:latin typeface="Geist"/>
                <a:ea typeface="Geist"/>
                <a:cs typeface="Geist"/>
              </a:rPr>
              <a:t> and </a:t>
            </a:r>
            <a:r>
              <a:rPr sz="1950" b="1" i="0">
                <a:solidFill>
                  <a:srgbClr val="F0E8E8"/>
                </a:solidFill>
                <a:latin typeface="Geist"/>
                <a:ea typeface="Geist"/>
                <a:cs typeface="Geist"/>
              </a:rPr>
              <a:t>facing</a:t>
            </a:r>
            <a:r>
              <a:rPr sz="1950" b="0" i="0">
                <a:solidFill>
                  <a:srgbClr val="F0E8E8"/>
                </a:solidFill>
                <a:latin typeface="Geist"/>
                <a:ea typeface="Geist"/>
                <a:cs typeface="Geist"/>
              </a:rPr>
              <a:t> the camera</a:t>
            </a:r>
          </a:p>
        </p:txBody>
      </p:sp>
      <p:sp>
        <p:nvSpPr>
          <p:cNvPr id="51" name="TextBox 50"/>
          <p:cNvSpPr txBox="1"/>
          <p:nvPr/>
        </p:nvSpPr>
        <p:spPr>
          <a:xfrm>
            <a:off x="11906250" y="6396990"/>
            <a:ext cx="5467350" cy="643890"/>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Two or more tags</a:t>
            </a:r>
            <a:r>
              <a:rPr sz="1950" b="0" i="0">
                <a:solidFill>
                  <a:srgbClr val="F0E8E8"/>
                </a:solidFill>
                <a:latin typeface="Geist"/>
                <a:ea typeface="Geist"/>
                <a:cs typeface="Geist"/>
              </a:rPr>
              <a:t> at once: a multi-tag solution</a:t>
            </a:r>
          </a:p>
        </p:txBody>
      </p:sp>
      <p:sp>
        <p:nvSpPr>
          <p:cNvPr id="52" name="TextBox 51"/>
          <p:cNvSpPr txBox="1"/>
          <p:nvPr/>
        </p:nvSpPr>
        <p:spPr>
          <a:xfrm>
            <a:off x="11906250" y="7269480"/>
            <a:ext cx="5467350" cy="643890"/>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Only one tag in view? That answer gets </a:t>
            </a:r>
            <a:r>
              <a:rPr sz="1950" b="1" i="0">
                <a:solidFill>
                  <a:srgbClr val="F0E8E8"/>
                </a:solidFill>
                <a:latin typeface="Geist"/>
                <a:ea typeface="Geist"/>
                <a:cs typeface="Geist"/>
              </a:rPr>
              <a:t>dropped</a:t>
            </a:r>
            <a:r>
              <a:rPr sz="1950" b="0" i="0">
                <a:solidFill>
                  <a:srgbClr val="F0E8E8"/>
                </a:solidFill>
                <a:latin typeface="Geist"/>
                <a:ea typeface="Geist"/>
                <a:cs typeface="Geist"/>
              </a:rPr>
              <a:t>.</a:t>
            </a:r>
          </a:p>
        </p:txBody>
      </p:sp>
      <p:sp>
        <p:nvSpPr>
          <p:cNvPr id="53" name="TextBox 5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tag or two?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One tag</a:t>
            </a:r>
          </a:p>
        </p:txBody>
      </p:sp>
      <p:sp>
        <p:nvSpPr>
          <p:cNvPr id="7" name="Rectangle 6"/>
          <p:cNvSpPr/>
          <p:nvPr/>
        </p:nvSpPr>
        <p:spPr>
          <a:xfrm>
            <a:off x="1466850" y="4076700"/>
            <a:ext cx="69723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572000" y="3714750"/>
            <a:ext cx="762000" cy="762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648200" y="3790950"/>
            <a:ext cx="609600" cy="6096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7244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8768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9530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8006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8768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24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8006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05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8768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9530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292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1054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7244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9530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0292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8006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9530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1054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flipH="1">
            <a:off x="2762250" y="4476750"/>
            <a:ext cx="2190750" cy="2000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pic>
        <p:nvPicPr>
          <p:cNvPr id="30" name="Picture 29" descr="camera.png"/>
          <p:cNvPicPr>
            <a:picLocks noChangeAspect="1"/>
          </p:cNvPicPr>
          <p:nvPr/>
        </p:nvPicPr>
        <p:blipFill>
          <a:blip r:embed="rId3"/>
          <a:stretch>
            <a:fillRect/>
          </a:stretch>
        </p:blipFill>
        <p:spPr>
          <a:xfrm>
            <a:off x="2305050" y="6477000"/>
            <a:ext cx="914400" cy="685800"/>
          </a:xfrm>
          <a:prstGeom prst="rect">
            <a:avLst/>
          </a:prstGeom>
        </p:spPr>
      </p:pic>
      <p:sp>
        <p:nvSpPr>
          <p:cNvPr id="31" name="TextBox 30"/>
          <p:cNvSpPr txBox="1"/>
          <p:nvPr/>
        </p:nvSpPr>
        <p:spPr>
          <a:xfrm>
            <a:off x="2190750" y="7239000"/>
            <a:ext cx="1143000" cy="381000"/>
          </a:xfrm>
          <a:prstGeom prst="rect">
            <a:avLst/>
          </a:prstGeom>
          <a:noFill/>
        </p:spPr>
        <p:txBody>
          <a:bodyPr wrap="square" lIns="0" rIns="0" tIns="0" bIns="0" anchor="t">
            <a:spAutoFit/>
          </a:bodyPr>
          <a:lstStyle/>
          <a:p>
            <a:pPr algn="ctr"/>
            <a:r>
              <a:rPr sz="2700" b="1" i="0">
                <a:solidFill>
                  <a:srgbClr val="9A7878"/>
                </a:solidFill>
                <a:latin typeface="Geist"/>
                <a:ea typeface="Geist"/>
                <a:cs typeface="Geist"/>
              </a:rPr>
              <a:t>?</a:t>
            </a:r>
          </a:p>
        </p:txBody>
      </p:sp>
      <p:cxnSp>
        <p:nvCxnSpPr>
          <p:cNvPr id="32" name="Connector 31"/>
          <p:cNvCxnSpPr/>
          <p:nvPr/>
        </p:nvCxnSpPr>
        <p:spPr>
          <a:xfrm>
            <a:off x="4953000" y="4476750"/>
            <a:ext cx="2190750" cy="2000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pic>
        <p:nvPicPr>
          <p:cNvPr id="33" name="Picture 32" descr="camera.png"/>
          <p:cNvPicPr>
            <a:picLocks noChangeAspect="1"/>
          </p:cNvPicPr>
          <p:nvPr/>
        </p:nvPicPr>
        <p:blipFill>
          <a:blip r:embed="rId3"/>
          <a:stretch>
            <a:fillRect/>
          </a:stretch>
        </p:blipFill>
        <p:spPr>
          <a:xfrm>
            <a:off x="6686550" y="6477000"/>
            <a:ext cx="914400" cy="685800"/>
          </a:xfrm>
          <a:prstGeom prst="rect">
            <a:avLst/>
          </a:prstGeom>
        </p:spPr>
      </p:pic>
      <p:sp>
        <p:nvSpPr>
          <p:cNvPr id="34" name="TextBox 33"/>
          <p:cNvSpPr txBox="1"/>
          <p:nvPr/>
        </p:nvSpPr>
        <p:spPr>
          <a:xfrm>
            <a:off x="6572250" y="7239000"/>
            <a:ext cx="1143000" cy="381000"/>
          </a:xfrm>
          <a:prstGeom prst="rect">
            <a:avLst/>
          </a:prstGeom>
          <a:noFill/>
        </p:spPr>
        <p:txBody>
          <a:bodyPr wrap="square" lIns="0" rIns="0" tIns="0" bIns="0" anchor="t">
            <a:spAutoFit/>
          </a:bodyPr>
          <a:lstStyle/>
          <a:p>
            <a:pPr algn="ctr"/>
            <a:r>
              <a:rPr sz="2700" b="1" i="0">
                <a:solidFill>
                  <a:srgbClr val="9A7878"/>
                </a:solidFill>
                <a:latin typeface="Geist"/>
                <a:ea typeface="Geist"/>
                <a:cs typeface="Geist"/>
              </a:rPr>
              <a:t>?</a:t>
            </a:r>
          </a:p>
        </p:txBody>
      </p:sp>
      <p:pic>
        <p:nvPicPr>
          <p:cNvPr id="35" name="Picture 34" descr="dozer_wide_left.png"/>
          <p:cNvPicPr>
            <a:picLocks noChangeAspect="1"/>
          </p:cNvPicPr>
          <p:nvPr/>
        </p:nvPicPr>
        <p:blipFill>
          <a:blip r:embed="rId4"/>
          <a:stretch>
            <a:fillRect/>
          </a:stretch>
        </p:blipFill>
        <p:spPr>
          <a:xfrm>
            <a:off x="7010400" y="4476750"/>
            <a:ext cx="1524000" cy="936717"/>
          </a:xfrm>
          <a:prstGeom prst="rect">
            <a:avLst/>
          </a:prstGeom>
        </p:spPr>
      </p:pic>
      <p:sp>
        <p:nvSpPr>
          <p:cNvPr id="36" name="TextBox 35"/>
          <p:cNvSpPr txBox="1"/>
          <p:nvPr/>
        </p:nvSpPr>
        <p:spPr>
          <a:xfrm>
            <a:off x="1295400" y="7620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same picture fits two different spots.</a:t>
            </a:r>
          </a:p>
        </p:txBody>
      </p:sp>
      <p:sp>
        <p:nvSpPr>
          <p:cNvPr id="37" name="Rounded Rectangle 36"/>
          <p:cNvSpPr/>
          <p:nvPr/>
        </p:nvSpPr>
        <p:spPr>
          <a:xfrm>
            <a:off x="9296400" y="2857500"/>
            <a:ext cx="80772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677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Two tags</a:t>
            </a:r>
          </a:p>
        </p:txBody>
      </p:sp>
      <p:sp>
        <p:nvSpPr>
          <p:cNvPr id="39" name="Rectangle 38"/>
          <p:cNvSpPr/>
          <p:nvPr/>
        </p:nvSpPr>
        <p:spPr>
          <a:xfrm>
            <a:off x="9848850" y="4076700"/>
            <a:ext cx="69723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1049000" y="3714750"/>
            <a:ext cx="762000" cy="762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11125200" y="3790950"/>
            <a:ext cx="609600" cy="6096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12014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13538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14300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12776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13538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15062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11201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12776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1582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3538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14300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15062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15824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12014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14300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15062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12776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14300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15824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4859000" y="3714750"/>
            <a:ext cx="762000" cy="762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4935200" y="3790950"/>
            <a:ext cx="609600" cy="6096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50114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51638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52400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50876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51638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53162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5011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50876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5392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51638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52400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53162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53924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50114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52400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53162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50876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52400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53924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2" name="Connector 81"/>
          <p:cNvCxnSpPr/>
          <p:nvPr/>
        </p:nvCxnSpPr>
        <p:spPr>
          <a:xfrm>
            <a:off x="11430000" y="4476750"/>
            <a:ext cx="1905000" cy="2000250"/>
          </a:xfrm>
          <a:prstGeom prst="line">
            <a:avLst/>
          </a:prstGeom>
          <a:ln w="2857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3335000" y="4476750"/>
            <a:ext cx="1905000" cy="2000250"/>
          </a:xfrm>
          <a:prstGeom prst="line">
            <a:avLst/>
          </a:prstGeom>
          <a:ln w="28575">
            <a:solidFill>
              <a:srgbClr val="F0E8E8"/>
            </a:solidFill>
          </a:ln>
        </p:spPr>
        <p:style>
          <a:lnRef idx="2">
            <a:schemeClr val="accent1"/>
          </a:lnRef>
          <a:fillRef idx="0">
            <a:schemeClr val="accent1"/>
          </a:fillRef>
          <a:effectRef idx="1">
            <a:schemeClr val="accent1"/>
          </a:effectRef>
          <a:fontRef idx="minor">
            <a:schemeClr val="tx1"/>
          </a:fontRef>
        </p:style>
      </p:cxnSp>
      <p:pic>
        <p:nvPicPr>
          <p:cNvPr id="84" name="Picture 83" descr="camera.png"/>
          <p:cNvPicPr>
            <a:picLocks noChangeAspect="1"/>
          </p:cNvPicPr>
          <p:nvPr/>
        </p:nvPicPr>
        <p:blipFill>
          <a:blip r:embed="rId3"/>
          <a:stretch>
            <a:fillRect/>
          </a:stretch>
        </p:blipFill>
        <p:spPr>
          <a:xfrm>
            <a:off x="12877800" y="6477000"/>
            <a:ext cx="914400" cy="685800"/>
          </a:xfrm>
          <a:prstGeom prst="rect">
            <a:avLst/>
          </a:prstGeom>
        </p:spPr>
      </p:pic>
      <p:pic>
        <p:nvPicPr>
          <p:cNvPr id="85" name="Picture 84" descr="check-circle-fill.png"/>
          <p:cNvPicPr>
            <a:picLocks noChangeAspect="1"/>
          </p:cNvPicPr>
          <p:nvPr/>
        </p:nvPicPr>
        <p:blipFill>
          <a:blip r:embed="rId5"/>
          <a:stretch>
            <a:fillRect/>
          </a:stretch>
        </p:blipFill>
        <p:spPr>
          <a:xfrm>
            <a:off x="14001750" y="6572250"/>
            <a:ext cx="476250" cy="476250"/>
          </a:xfrm>
          <a:prstGeom prst="rect">
            <a:avLst/>
          </a:prstGeom>
        </p:spPr>
      </p:pic>
      <p:sp>
        <p:nvSpPr>
          <p:cNvPr id="86" name="TextBox 85"/>
          <p:cNvSpPr txBox="1"/>
          <p:nvPr/>
        </p:nvSpPr>
        <p:spPr>
          <a:xfrm>
            <a:off x="9677400" y="7620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Only one spot fits both. This is the accurate kind.</a:t>
            </a:r>
          </a:p>
        </p:txBody>
      </p:sp>
      <p:sp>
        <p:nvSpPr>
          <p:cNvPr id="87" name="TextBox 86"/>
          <p:cNvSpPr txBox="1"/>
          <p:nvPr/>
        </p:nvSpPr>
        <p:spPr>
          <a:xfrm>
            <a:off x="914400" y="8477250"/>
            <a:ext cx="16459200" cy="38100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The lesson keeps only multi-tag answers:  </a:t>
            </a:r>
            <a:r>
              <a:rPr sz="1950" b="0" i="0">
                <a:solidFill>
                  <a:srgbClr val="E8C27A"/>
                </a:solidFill>
                <a:latin typeface="Geist Mono"/>
                <a:ea typeface="Geist Mono"/>
                <a:cs typeface="Geist Mono"/>
              </a:rPr>
              <a:t>VisionConstants.MIN_TAG_COUNT = 2</a:t>
            </a:r>
          </a:p>
        </p:txBody>
      </p:sp>
      <p:sp>
        <p:nvSpPr>
          <p:cNvPr id="88" name="TextBox 8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9" name="TextBox 8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Beyond tags: finding game pieces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648700" cy="5065541"/>
          </a:xfrm>
          <a:prstGeom prst="roundRect">
            <a:avLst>
              <a:gd name="adj" fmla="val 300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8_obj_det.jpg"/>
          <p:cNvPicPr>
            <a:picLocks noChangeAspect="1"/>
          </p:cNvPicPr>
          <p:nvPr/>
        </p:nvPicPr>
        <p:blipFill>
          <a:blip r:embed="rId3"/>
          <a:stretch>
            <a:fillRect/>
          </a:stretch>
        </p:blipFill>
        <p:spPr>
          <a:xfrm>
            <a:off x="1143000" y="3086100"/>
            <a:ext cx="8191500" cy="4608341"/>
          </a:xfrm>
          <a:prstGeom prst="rect">
            <a:avLst/>
          </a:prstGeom>
        </p:spPr>
      </p:pic>
      <p:sp>
        <p:nvSpPr>
          <p:cNvPr id="7" name="Oval 6"/>
          <p:cNvSpPr/>
          <p:nvPr/>
        </p:nvSpPr>
        <p:spPr>
          <a:xfrm>
            <a:off x="1028700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870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10896600" y="2914650"/>
            <a:ext cx="6477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Collect pictures</a:t>
            </a:r>
          </a:p>
        </p:txBody>
      </p:sp>
      <p:sp>
        <p:nvSpPr>
          <p:cNvPr id="10" name="TextBox 9"/>
          <p:cNvSpPr txBox="1"/>
          <p:nvPr/>
        </p:nvSpPr>
        <p:spPr>
          <a:xfrm>
            <a:off x="10896600" y="3333750"/>
            <a:ext cx="6477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Of the object, from many angles and distances</a:t>
            </a:r>
          </a:p>
        </p:txBody>
      </p:sp>
      <p:sp>
        <p:nvSpPr>
          <p:cNvPr id="11" name="Oval 10"/>
          <p:cNvSpPr/>
          <p:nvPr/>
        </p:nvSpPr>
        <p:spPr>
          <a:xfrm>
            <a:off x="102870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TextBox 12"/>
          <p:cNvSpPr txBox="1"/>
          <p:nvPr/>
        </p:nvSpPr>
        <p:spPr>
          <a:xfrm>
            <a:off x="10896600" y="4248150"/>
            <a:ext cx="6477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Draw boxes</a:t>
            </a:r>
          </a:p>
        </p:txBody>
      </p:sp>
      <p:sp>
        <p:nvSpPr>
          <p:cNvPr id="14" name="TextBox 13"/>
          <p:cNvSpPr txBox="1"/>
          <p:nvPr/>
        </p:nvSpPr>
        <p:spPr>
          <a:xfrm>
            <a:off x="10896600" y="4667250"/>
            <a:ext cx="6477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Label every game piece, in Roboflow</a:t>
            </a:r>
          </a:p>
        </p:txBody>
      </p:sp>
      <p:sp>
        <p:nvSpPr>
          <p:cNvPr id="15" name="Oval 14"/>
          <p:cNvSpPr/>
          <p:nvPr/>
        </p:nvSpPr>
        <p:spPr>
          <a:xfrm>
            <a:off x="10287000" y="5619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87000" y="5619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TextBox 16"/>
          <p:cNvSpPr txBox="1"/>
          <p:nvPr/>
        </p:nvSpPr>
        <p:spPr>
          <a:xfrm>
            <a:off x="10896600" y="5581650"/>
            <a:ext cx="6477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Train a model</a:t>
            </a:r>
          </a:p>
        </p:txBody>
      </p:sp>
      <p:sp>
        <p:nvSpPr>
          <p:cNvPr id="18" name="TextBox 17"/>
          <p:cNvSpPr txBox="1"/>
          <p:nvPr/>
        </p:nvSpPr>
        <p:spPr>
          <a:xfrm>
            <a:off x="10896600" y="6000750"/>
            <a:ext cx="6477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We use YOLO models</a:t>
            </a:r>
          </a:p>
        </p:txBody>
      </p:sp>
      <p:sp>
        <p:nvSpPr>
          <p:cNvPr id="19" name="Oval 18"/>
          <p:cNvSpPr/>
          <p:nvPr/>
        </p:nvSpPr>
        <p:spPr>
          <a:xfrm>
            <a:off x="10287000" y="695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87000" y="695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1" name="TextBox 20"/>
          <p:cNvSpPr txBox="1"/>
          <p:nvPr/>
        </p:nvSpPr>
        <p:spPr>
          <a:xfrm>
            <a:off x="10896600" y="6915150"/>
            <a:ext cx="6477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Make it fast</a:t>
            </a:r>
          </a:p>
        </p:txBody>
      </p:sp>
      <p:sp>
        <p:nvSpPr>
          <p:cNvPr id="22" name="TextBox 21"/>
          <p:cNvSpPr txBox="1"/>
          <p:nvPr/>
        </p:nvSpPr>
        <p:spPr>
          <a:xfrm>
            <a:off x="10896600" y="7334250"/>
            <a:ext cx="6477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TensorRT, so it runs on the Jetson</a:t>
            </a:r>
          </a:p>
        </p:txBody>
      </p:sp>
      <p:sp>
        <p:nvSpPr>
          <p:cNvPr id="23" name="Rounded Rectangle 22"/>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333500" y="82867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Not in this lesson:  </a:t>
            </a:r>
            <a:r>
              <a:rPr sz="2100" b="0" i="0">
                <a:solidFill>
                  <a:srgbClr val="F0E8E8"/>
                </a:solidFill>
                <a:latin typeface="Geist"/>
                <a:ea typeface="Geist"/>
                <a:cs typeface="Geist"/>
              </a:rPr>
              <a:t>but it's how a robot finds a game piece and drives to it by itself.</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Where am I?</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Field coordinates, and how tag solutions reach your code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Localization is a big word for “where am 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 coordinates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5112057"/>
          </a:xfrm>
          <a:prstGeom prst="roundRect">
            <a:avLst>
              <a:gd name="adj" fmla="val 1490"/>
            </a:avLst>
          </a:prstGeom>
          <a:solidFill>
            <a:srgbClr val="111111"/>
          </a:solid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143625" y="2905125"/>
            <a:ext cx="19050" cy="5016807"/>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068179" y="5033450"/>
            <a:ext cx="760157" cy="760157"/>
          </a:xfrm>
          <a:prstGeom prst="roundRect">
            <a:avLst>
              <a:gd name="adj" fmla="val 7518"/>
            </a:avLst>
          </a:prstGeom>
          <a:solidFill>
            <a:srgbClr val="0A0A0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77964" y="5033450"/>
            <a:ext cx="760157" cy="760157"/>
          </a:xfrm>
          <a:prstGeom prst="roundRect">
            <a:avLst>
              <a:gd name="adj" fmla="val 7518"/>
            </a:avLst>
          </a:prstGeom>
          <a:solidFill>
            <a:srgbClr val="0A0A0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85838" y="7850495"/>
            <a:ext cx="2291715" cy="4762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3238500" y="7798107"/>
            <a:ext cx="152400" cy="152400"/>
          </a:xfrm>
          <a:prstGeom prst="triangl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85838" y="5606405"/>
            <a:ext cx="47625" cy="229171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a:off x="933450" y="5493057"/>
            <a:ext cx="152400" cy="152400"/>
          </a:xfrm>
          <a:prstGeom prst="triangl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6150" y="7683807"/>
            <a:ext cx="571500" cy="3810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x</a:t>
            </a:r>
          </a:p>
        </p:txBody>
      </p:sp>
      <p:sp>
        <p:nvSpPr>
          <p:cNvPr id="14" name="TextBox 13"/>
          <p:cNvSpPr txBox="1"/>
          <p:nvPr/>
        </p:nvSpPr>
        <p:spPr>
          <a:xfrm>
            <a:off x="1143000" y="5112057"/>
            <a:ext cx="571500" cy="3810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y</a:t>
            </a:r>
          </a:p>
        </p:txBody>
      </p:sp>
      <p:sp>
        <p:nvSpPr>
          <p:cNvPr id="15" name="TextBox 14"/>
          <p:cNvSpPr txBox="1"/>
          <p:nvPr/>
        </p:nvSpPr>
        <p:spPr>
          <a:xfrm>
            <a:off x="914400" y="8064807"/>
            <a:ext cx="4762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(0, 0): blue alliance corner</a:t>
            </a:r>
          </a:p>
        </p:txBody>
      </p:sp>
      <p:pic>
        <p:nvPicPr>
          <p:cNvPr id="16" name="Picture 15" descr="dozer_top.png"/>
          <p:cNvPicPr>
            <a:picLocks noChangeAspect="1"/>
          </p:cNvPicPr>
          <p:nvPr/>
        </p:nvPicPr>
        <p:blipFill>
          <a:blip r:embed="rId3"/>
          <a:stretch>
            <a:fillRect/>
          </a:stretch>
        </p:blipFill>
        <p:spPr>
          <a:xfrm>
            <a:off x="1483596" y="6669144"/>
            <a:ext cx="762000" cy="700432"/>
          </a:xfrm>
          <a:prstGeom prst="rect">
            <a:avLst/>
          </a:prstGeom>
        </p:spPr>
      </p:pic>
      <p:sp>
        <p:nvSpPr>
          <p:cNvPr id="17" name="TextBox 16"/>
          <p:cNvSpPr txBox="1"/>
          <p:nvPr/>
        </p:nvSpPr>
        <p:spPr>
          <a:xfrm>
            <a:off x="1674096" y="7438461"/>
            <a:ext cx="2857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START (1.5, 1.5, 0°)</a:t>
            </a:r>
          </a:p>
        </p:txBody>
      </p:sp>
      <p:pic>
        <p:nvPicPr>
          <p:cNvPr id="18" name="Picture 17" descr="bullseye.png"/>
          <p:cNvPicPr>
            <a:picLocks noChangeAspect="1"/>
          </p:cNvPicPr>
          <p:nvPr/>
        </p:nvPicPr>
        <p:blipFill>
          <a:blip r:embed="rId4"/>
          <a:stretch>
            <a:fillRect/>
          </a:stretch>
        </p:blipFill>
        <p:spPr>
          <a:xfrm>
            <a:off x="3162507" y="5149950"/>
            <a:ext cx="571500" cy="571500"/>
          </a:xfrm>
          <a:prstGeom prst="rect">
            <a:avLst/>
          </a:prstGeom>
        </p:spPr>
      </p:pic>
      <p:sp>
        <p:nvSpPr>
          <p:cNvPr id="19" name="TextBox 18"/>
          <p:cNvSpPr txBox="1"/>
          <p:nvPr/>
        </p:nvSpPr>
        <p:spPr>
          <a:xfrm>
            <a:off x="2210007" y="4673700"/>
            <a:ext cx="2476500" cy="285750"/>
          </a:xfrm>
          <a:prstGeom prst="rect">
            <a:avLst/>
          </a:prstGeom>
          <a:noFill/>
        </p:spPr>
        <p:txBody>
          <a:bodyPr wrap="square" lIns="0" rIns="0" tIns="0" bIns="0" anchor="t">
            <a:spAutoFit/>
          </a:bodyPr>
          <a:lstStyle/>
          <a:p>
            <a:pPr algn="ctr"/>
            <a:r>
              <a:rPr sz="1500" b="1" i="0">
                <a:solidFill>
                  <a:srgbClr val="CC2200"/>
                </a:solidFill>
                <a:latin typeface="Geist Mono"/>
                <a:ea typeface="Geist Mono"/>
                <a:cs typeface="Geist Mono"/>
              </a:rPr>
              <a:t>GOAL (4.0, 4.0)</a:t>
            </a:r>
          </a:p>
        </p:txBody>
      </p:sp>
      <p:sp>
        <p:nvSpPr>
          <p:cNvPr id="20" name="Rounded Rectangle 19"/>
          <p:cNvSpPr/>
          <p:nvPr/>
        </p:nvSpPr>
        <p:spPr>
          <a:xfrm>
            <a:off x="11906250" y="2857500"/>
            <a:ext cx="546735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287250" y="3086100"/>
            <a:ext cx="47625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Translation2d</a:t>
            </a:r>
          </a:p>
        </p:txBody>
      </p:sp>
      <p:sp>
        <p:nvSpPr>
          <p:cNvPr id="22" name="TextBox 21"/>
          <p:cNvSpPr txBox="1"/>
          <p:nvPr/>
        </p:nvSpPr>
        <p:spPr>
          <a:xfrm>
            <a:off x="12287250" y="35814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spot: x and y, in meters</a:t>
            </a:r>
          </a:p>
        </p:txBody>
      </p:sp>
      <p:sp>
        <p:nvSpPr>
          <p:cNvPr id="23" name="Rounded Rectangle 22"/>
          <p:cNvSpPr/>
          <p:nvPr/>
        </p:nvSpPr>
        <p:spPr>
          <a:xfrm>
            <a:off x="11906250" y="4667250"/>
            <a:ext cx="546735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287250" y="4895850"/>
            <a:ext cx="47625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Rotation2d</a:t>
            </a:r>
          </a:p>
        </p:txBody>
      </p:sp>
      <p:sp>
        <p:nvSpPr>
          <p:cNvPr id="25" name="TextBox 24"/>
          <p:cNvSpPr txBox="1"/>
          <p:nvPr/>
        </p:nvSpPr>
        <p:spPr>
          <a:xfrm>
            <a:off x="12287250" y="539115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direction. 0° is along +x, left (counterclockwise) is +</a:t>
            </a:r>
          </a:p>
        </p:txBody>
      </p:sp>
      <p:sp>
        <p:nvSpPr>
          <p:cNvPr id="26" name="Rounded Rectangle 25"/>
          <p:cNvSpPr/>
          <p:nvPr/>
        </p:nvSpPr>
        <p:spPr>
          <a:xfrm>
            <a:off x="11906250" y="6477000"/>
            <a:ext cx="5467350" cy="1619250"/>
          </a:xfrm>
          <a:prstGeom prst="roundRect">
            <a:avLst>
              <a:gd name="adj" fmla="val 941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2287250" y="6705600"/>
            <a:ext cx="47625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Pose2d</a:t>
            </a:r>
          </a:p>
        </p:txBody>
      </p:sp>
      <p:sp>
        <p:nvSpPr>
          <p:cNvPr id="28" name="TextBox 27"/>
          <p:cNvSpPr txBox="1"/>
          <p:nvPr/>
        </p:nvSpPr>
        <p:spPr>
          <a:xfrm>
            <a:off x="12287250" y="72009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where the robot is and which way it faces</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Odometry vs vision: the best of both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76104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00150" y="74771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8" name="Rectangle 7"/>
          <p:cNvSpPr/>
          <p:nvPr/>
        </p:nvSpPr>
        <p:spPr>
          <a:xfrm>
            <a:off x="2238375" y="67722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0150" y="66389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0.1</a:t>
            </a:r>
          </a:p>
        </p:txBody>
      </p:sp>
      <p:sp>
        <p:nvSpPr>
          <p:cNvPr id="10" name="Rectangle 9"/>
          <p:cNvSpPr/>
          <p:nvPr/>
        </p:nvSpPr>
        <p:spPr>
          <a:xfrm>
            <a:off x="2238375" y="59340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58007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12" name="Rectangle 11"/>
          <p:cNvSpPr/>
          <p:nvPr/>
        </p:nvSpPr>
        <p:spPr>
          <a:xfrm>
            <a:off x="2238375" y="50958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00150" y="49625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4" name="Rectangle 13"/>
          <p:cNvSpPr/>
          <p:nvPr/>
        </p:nvSpPr>
        <p:spPr>
          <a:xfrm>
            <a:off x="2238375" y="42576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00150" y="41243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0.4</a:t>
            </a:r>
          </a:p>
        </p:txBody>
      </p:sp>
      <p:sp>
        <p:nvSpPr>
          <p:cNvPr id="16" name="Rectangle 15"/>
          <p:cNvSpPr/>
          <p:nvPr/>
        </p:nvSpPr>
        <p:spPr>
          <a:xfrm>
            <a:off x="2238375" y="34194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00150" y="32861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8" name="TextBox 17"/>
          <p:cNvSpPr txBox="1"/>
          <p:nvPr/>
        </p:nvSpPr>
        <p:spPr>
          <a:xfrm>
            <a:off x="1676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9" name="TextBox 18"/>
          <p:cNvSpPr txBox="1"/>
          <p:nvPr/>
        </p:nvSpPr>
        <p:spPr>
          <a:xfrm>
            <a:off x="3581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a:t>
            </a:r>
          </a:p>
        </p:txBody>
      </p:sp>
      <p:sp>
        <p:nvSpPr>
          <p:cNvPr id="20" name="TextBox 19"/>
          <p:cNvSpPr txBox="1"/>
          <p:nvPr/>
        </p:nvSpPr>
        <p:spPr>
          <a:xfrm>
            <a:off x="5486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a:t>
            </a:r>
          </a:p>
        </p:txBody>
      </p:sp>
      <p:sp>
        <p:nvSpPr>
          <p:cNvPr id="21" name="TextBox 20"/>
          <p:cNvSpPr txBox="1"/>
          <p:nvPr/>
        </p:nvSpPr>
        <p:spPr>
          <a:xfrm>
            <a:off x="7391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22" name="TextBox 21"/>
          <p:cNvSpPr txBox="1"/>
          <p:nvPr/>
        </p:nvSpPr>
        <p:spPr>
          <a:xfrm>
            <a:off x="9296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20</a:t>
            </a:r>
          </a:p>
        </p:txBody>
      </p:sp>
      <p:sp>
        <p:nvSpPr>
          <p:cNvPr id="23" name="Rectangle 22"/>
          <p:cNvSpPr/>
          <p:nvPr/>
        </p:nvSpPr>
        <p:spPr>
          <a:xfrm>
            <a:off x="2238375" y="3419475"/>
            <a:ext cx="19050" cy="4210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247900" y="8039100"/>
            <a:ext cx="7620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25" name="TextBox 24"/>
          <p:cNvSpPr txBox="1"/>
          <p:nvPr/>
        </p:nvSpPr>
        <p:spPr>
          <a:xfrm>
            <a:off x="2381250" y="3048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how far off (m)</a:t>
            </a:r>
          </a:p>
        </p:txBody>
      </p:sp>
      <p:cxnSp>
        <p:nvCxnSpPr>
          <p:cNvPr id="26" name="Connector 25"/>
          <p:cNvCxnSpPr/>
          <p:nvPr/>
        </p:nvCxnSpPr>
        <p:spPr>
          <a:xfrm flipV="1">
            <a:off x="2247900" y="7608181"/>
            <a:ext cx="95250" cy="1181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343150" y="7590898"/>
            <a:ext cx="95250" cy="1728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438400" y="7570701"/>
            <a:ext cx="95250" cy="2019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533650" y="7548343"/>
            <a:ext cx="95250" cy="2235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628900" y="7524227"/>
            <a:ext cx="95250" cy="2411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724150" y="7498612"/>
            <a:ext cx="95250" cy="2561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819400" y="7471677"/>
            <a:ext cx="95250" cy="2693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14650" y="7443560"/>
            <a:ext cx="95250" cy="2811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009900" y="7414366"/>
            <a:ext cx="95250" cy="2919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105150" y="7384180"/>
            <a:ext cx="95250" cy="3018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200400" y="7353074"/>
            <a:ext cx="95250" cy="3110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295650" y="7321107"/>
            <a:ext cx="95250" cy="3196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390900" y="7288330"/>
            <a:ext cx="95250" cy="3277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486150" y="7254787"/>
            <a:ext cx="95250" cy="3354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581400" y="7220517"/>
            <a:ext cx="95250" cy="3427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676650" y="7185554"/>
            <a:ext cx="95250" cy="3496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771900" y="7149929"/>
            <a:ext cx="95250" cy="3562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867150" y="7113669"/>
            <a:ext cx="95250" cy="3626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962400" y="7076800"/>
            <a:ext cx="95250" cy="3686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057650" y="7039344"/>
            <a:ext cx="95250" cy="3745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152900" y="7001321"/>
            <a:ext cx="95250" cy="3802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248150" y="6962752"/>
            <a:ext cx="95250" cy="3856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343400" y="6923652"/>
            <a:ext cx="95250" cy="3910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438650" y="6884039"/>
            <a:ext cx="95250" cy="3961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533900" y="6843928"/>
            <a:ext cx="95250" cy="4011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629150" y="6803332"/>
            <a:ext cx="95250" cy="4059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724400" y="6762266"/>
            <a:ext cx="95250" cy="4106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819650" y="6720740"/>
            <a:ext cx="95250" cy="4152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914900" y="6678767"/>
            <a:ext cx="95250" cy="4197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10150" y="6636357"/>
            <a:ext cx="95250" cy="4241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05400" y="6593521"/>
            <a:ext cx="95250" cy="4283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00650" y="6550268"/>
            <a:ext cx="95250" cy="4325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295900" y="6506608"/>
            <a:ext cx="95250" cy="4366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391150" y="6462549"/>
            <a:ext cx="95250" cy="4405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486400" y="6418100"/>
            <a:ext cx="95250" cy="4444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1650" y="6373268"/>
            <a:ext cx="95250" cy="4483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76900" y="6328060"/>
            <a:ext cx="95250" cy="4520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72150" y="6282485"/>
            <a:ext cx="95250" cy="4557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67400" y="6236548"/>
            <a:ext cx="95250" cy="4593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62650" y="6190257"/>
            <a:ext cx="95250" cy="4629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057900" y="6143617"/>
            <a:ext cx="95250" cy="4664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153150" y="6096635"/>
            <a:ext cx="95250" cy="4698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6248400" y="6049316"/>
            <a:ext cx="95250" cy="4731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343650" y="6001665"/>
            <a:ext cx="95250" cy="4765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6438900" y="5953688"/>
            <a:ext cx="95250" cy="4797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6534150" y="5905391"/>
            <a:ext cx="95250" cy="4829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6629400" y="5856777"/>
            <a:ext cx="95250" cy="4861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6724650" y="5807852"/>
            <a:ext cx="95250" cy="4892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6819900" y="5758621"/>
            <a:ext cx="95250" cy="4923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6915150" y="5709087"/>
            <a:ext cx="95250" cy="4953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010400" y="5659255"/>
            <a:ext cx="95250" cy="4983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7105650" y="5609129"/>
            <a:ext cx="95250" cy="5012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7200900" y="5558712"/>
            <a:ext cx="95250" cy="5041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296150" y="5508010"/>
            <a:ext cx="95250" cy="5070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391400" y="5457025"/>
            <a:ext cx="95250" cy="5098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486650" y="5405761"/>
            <a:ext cx="95250" cy="5126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7581900" y="5354222"/>
            <a:ext cx="95250" cy="5153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7677150" y="5302411"/>
            <a:ext cx="95250" cy="5181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7772400" y="5250332"/>
            <a:ext cx="95250" cy="5207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7867650" y="5197986"/>
            <a:ext cx="95250" cy="5234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7962900" y="5145379"/>
            <a:ext cx="95250" cy="5260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8058150" y="5092512"/>
            <a:ext cx="95250" cy="5286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8153400" y="5039388"/>
            <a:ext cx="95250" cy="5312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8248650" y="4986011"/>
            <a:ext cx="95250" cy="5337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8343900" y="4932383"/>
            <a:ext cx="95250" cy="5362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8439150" y="4878507"/>
            <a:ext cx="95250" cy="5387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8534400" y="4824386"/>
            <a:ext cx="95250" cy="5412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8629650" y="4770022"/>
            <a:ext cx="95250" cy="5436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8724900" y="4715417"/>
            <a:ext cx="95250" cy="5460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8820150" y="4660574"/>
            <a:ext cx="95250" cy="5484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8915400" y="4605496"/>
            <a:ext cx="95250" cy="5507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9010650" y="4550185"/>
            <a:ext cx="95250" cy="5531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9105900" y="4494643"/>
            <a:ext cx="95250" cy="5554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201150" y="4438872"/>
            <a:ext cx="95250" cy="5577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296400" y="4382874"/>
            <a:ext cx="95250" cy="5599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9391650" y="4326652"/>
            <a:ext cx="95250" cy="5622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9486900" y="4270207"/>
            <a:ext cx="95250" cy="5644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9582150" y="4213543"/>
            <a:ext cx="95250" cy="5666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9677400" y="4156660"/>
            <a:ext cx="95250" cy="5688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9772650" y="4099560"/>
            <a:ext cx="95250" cy="5710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247900" y="6807083"/>
            <a:ext cx="95250" cy="49325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2343150" y="6807083"/>
            <a:ext cx="95250" cy="56056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2438400" y="6979738"/>
            <a:ext cx="95250" cy="38791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2533650" y="6979738"/>
            <a:ext cx="95250" cy="41550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628900" y="7286436"/>
            <a:ext cx="95250" cy="10880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724150" y="6782384"/>
            <a:ext cx="95250" cy="50405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2819400" y="6782384"/>
            <a:ext cx="95250" cy="52956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914650" y="7021949"/>
            <a:ext cx="95250" cy="28999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3009900" y="7021949"/>
            <a:ext cx="95250" cy="12253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3095625" y="7134958"/>
            <a:ext cx="114300" cy="190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6" name="Connector 115"/>
          <p:cNvCxnSpPr/>
          <p:nvPr/>
        </p:nvCxnSpPr>
        <p:spPr>
          <a:xfrm flipV="1">
            <a:off x="3200400" y="7120444"/>
            <a:ext cx="95250" cy="2806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3295650" y="7120444"/>
            <a:ext cx="95250" cy="20301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390900" y="6895446"/>
            <a:ext cx="95250" cy="42801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3486150" y="6895446"/>
            <a:ext cx="95250" cy="49685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581400" y="7295326"/>
            <a:ext cx="95250" cy="9697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676650" y="7295326"/>
            <a:ext cx="95250" cy="14362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71900" y="7273476"/>
            <a:ext cx="95250" cy="16547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867150" y="7178997"/>
            <a:ext cx="95250" cy="9447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962400" y="6847472"/>
            <a:ext cx="95250" cy="33152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4057650" y="6847472"/>
            <a:ext cx="95250" cy="35069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4152900" y="7198167"/>
            <a:ext cx="95250" cy="17793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248150" y="7279116"/>
            <a:ext cx="95250" cy="9698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343400" y="6787431"/>
            <a:ext cx="95250" cy="49168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4438650" y="6787431"/>
            <a:ext cx="95250" cy="62262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533900" y="7036500"/>
            <a:ext cx="95250" cy="37355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4629150" y="7036500"/>
            <a:ext cx="95250" cy="16292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24400" y="7009225"/>
            <a:ext cx="95250" cy="19019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4819650" y="7009225"/>
            <a:ext cx="95250" cy="21619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914900" y="6988801"/>
            <a:ext cx="95250" cy="23661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5010150" y="6988801"/>
            <a:ext cx="95250" cy="12990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5105400" y="7016683"/>
            <a:ext cx="95250" cy="10201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5200650" y="6847934"/>
            <a:ext cx="95250" cy="16874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5295900" y="6847934"/>
            <a:ext cx="95250" cy="21447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5391150" y="7062405"/>
            <a:ext cx="95250" cy="29464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5486400" y="7357048"/>
            <a:ext cx="95250" cy="5214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581650" y="6817976"/>
            <a:ext cx="95250" cy="59121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5676900" y="6817976"/>
            <a:ext cx="95250" cy="30670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5772150" y="7124680"/>
            <a:ext cx="95250" cy="19768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867400" y="6817981"/>
            <a:ext cx="95250" cy="50438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5962650" y="6817981"/>
            <a:ext cx="95250" cy="24615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6057900" y="6963561"/>
            <a:ext cx="95250" cy="10057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6153150" y="6861624"/>
            <a:ext cx="95250" cy="10193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6248400" y="6861624"/>
            <a:ext cx="95250" cy="39918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6343650" y="7213173"/>
            <a:ext cx="95250" cy="4763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6438900" y="6863557"/>
            <a:ext cx="95250" cy="34961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6534150" y="6863557"/>
            <a:ext cx="95250" cy="49829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6629400" y="6939854"/>
            <a:ext cx="95250" cy="42199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6724650" y="6939854"/>
            <a:ext cx="95250" cy="44704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6819900" y="6989552"/>
            <a:ext cx="95250" cy="39735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6915150" y="6981529"/>
            <a:ext cx="95250" cy="802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7010400" y="6815328"/>
            <a:ext cx="95250" cy="16620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7105650" y="6815328"/>
            <a:ext cx="95250" cy="7141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7200900" y="6886747"/>
            <a:ext cx="95250" cy="22790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7296150" y="7114652"/>
            <a:ext cx="95250" cy="20517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7391400" y="7319825"/>
            <a:ext cx="95250" cy="3184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7486650" y="7097821"/>
            <a:ext cx="95250" cy="25384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7581900" y="7097821"/>
            <a:ext cx="95250" cy="1269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7677150" y="7110515"/>
            <a:ext cx="95250" cy="29395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7772400" y="6846696"/>
            <a:ext cx="95250" cy="55777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7867650" y="6846696"/>
            <a:ext cx="95250" cy="26541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7962900" y="6982100"/>
            <a:ext cx="95250" cy="13000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8058150" y="6982100"/>
            <a:ext cx="95250" cy="32276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8153400" y="7288820"/>
            <a:ext cx="95250" cy="1604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8248650" y="7288820"/>
            <a:ext cx="95250" cy="15554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8343900" y="7222203"/>
            <a:ext cx="95250" cy="22216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8439150" y="7222203"/>
            <a:ext cx="95250" cy="5122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8534400" y="7168444"/>
            <a:ext cx="95250" cy="10498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8629650" y="7168444"/>
            <a:ext cx="95250" cy="3116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8724900" y="6892901"/>
            <a:ext cx="95250" cy="30670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8820150" y="6854577"/>
            <a:ext cx="95250" cy="3832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8915400" y="6854577"/>
            <a:ext cx="95250" cy="48026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9010650" y="7186641"/>
            <a:ext cx="95250" cy="14820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9105900" y="7186641"/>
            <a:ext cx="95250" cy="15428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9201150" y="7007664"/>
            <a:ext cx="95250" cy="33326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9296400" y="6798668"/>
            <a:ext cx="95250" cy="20899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9391650" y="6798668"/>
            <a:ext cx="95250" cy="51836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9486900" y="6938393"/>
            <a:ext cx="95250" cy="37864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9582150" y="6938393"/>
            <a:ext cx="95250" cy="31276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9677400" y="7251162"/>
            <a:ext cx="95250" cy="19233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9772650" y="6939852"/>
            <a:ext cx="95250" cy="50364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247900" y="7472671"/>
            <a:ext cx="95250" cy="215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343150" y="7461230"/>
            <a:ext cx="95250" cy="114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88" name="Rectangle 187"/>
          <p:cNvSpPr/>
          <p:nvPr/>
        </p:nvSpPr>
        <p:spPr>
          <a:xfrm>
            <a:off x="2409825" y="743265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9" name="Connector 188"/>
          <p:cNvCxnSpPr/>
          <p:nvPr/>
        </p:nvCxnSpPr>
        <p:spPr>
          <a:xfrm>
            <a:off x="2533650" y="7465328"/>
            <a:ext cx="95250" cy="177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2628900" y="7483039"/>
            <a:ext cx="95250" cy="229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2724150" y="7506031"/>
            <a:ext cx="95250" cy="174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92" name="Rectangle 191"/>
          <p:cNvSpPr/>
          <p:nvPr/>
        </p:nvSpPr>
        <p:spPr>
          <a:xfrm>
            <a:off x="2790825" y="7494917"/>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3" name="Connector 192"/>
          <p:cNvCxnSpPr/>
          <p:nvPr/>
        </p:nvCxnSpPr>
        <p:spPr>
          <a:xfrm flipV="1">
            <a:off x="2914650" y="7515435"/>
            <a:ext cx="95250" cy="117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3009900" y="7493706"/>
            <a:ext cx="95250" cy="217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3105150" y="7472243"/>
            <a:ext cx="95250" cy="214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3200400" y="7461139"/>
            <a:ext cx="95250" cy="111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97" name="Rectangle 196"/>
          <p:cNvSpPr/>
          <p:nvPr/>
        </p:nvSpPr>
        <p:spPr>
          <a:xfrm>
            <a:off x="3267075" y="7432564"/>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8" name="Connector 197"/>
          <p:cNvCxnSpPr/>
          <p:nvPr/>
        </p:nvCxnSpPr>
        <p:spPr>
          <a:xfrm>
            <a:off x="3390900" y="7465617"/>
            <a:ext cx="95250" cy="179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3486150" y="7483571"/>
            <a:ext cx="95250" cy="2298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3581400" y="7506557"/>
            <a:ext cx="95250" cy="172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01" name="Rectangle 200"/>
          <p:cNvSpPr/>
          <p:nvPr/>
        </p:nvSpPr>
        <p:spPr>
          <a:xfrm>
            <a:off x="3648075" y="7495189"/>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2" name="Connector 201"/>
          <p:cNvCxnSpPr/>
          <p:nvPr/>
        </p:nvCxnSpPr>
        <p:spPr>
          <a:xfrm flipV="1">
            <a:off x="3771900" y="7514995"/>
            <a:ext cx="95250" cy="121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867150" y="7493143"/>
            <a:ext cx="95250" cy="2185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962400" y="7471821"/>
            <a:ext cx="95250" cy="213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4057650" y="7461057"/>
            <a:ext cx="95250" cy="107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4152900" y="7461057"/>
            <a:ext cx="95250" cy="485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4248150" y="7465914"/>
            <a:ext cx="95250" cy="181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4343400" y="7484107"/>
            <a:ext cx="95250" cy="229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4438650" y="7507080"/>
            <a:ext cx="95250" cy="169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10" name="Rectangle 209"/>
          <p:cNvSpPr/>
          <p:nvPr/>
        </p:nvSpPr>
        <p:spPr>
          <a:xfrm>
            <a:off x="4505325" y="7495453"/>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11" name="Connector 210"/>
          <p:cNvCxnSpPr/>
          <p:nvPr/>
        </p:nvCxnSpPr>
        <p:spPr>
          <a:xfrm flipV="1">
            <a:off x="4629150" y="7514549"/>
            <a:ext cx="95250" cy="124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4724400" y="7492579"/>
            <a:ext cx="95250" cy="2197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4819650" y="7471405"/>
            <a:ext cx="95250" cy="211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4914900" y="7460985"/>
            <a:ext cx="95250" cy="104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5010150" y="7460985"/>
            <a:ext cx="95250" cy="52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5105400" y="7466219"/>
            <a:ext cx="95250" cy="184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5200650" y="7484646"/>
            <a:ext cx="95250" cy="2295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5295900" y="7507599"/>
            <a:ext cx="95250" cy="166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19" name="Rectangle 218"/>
          <p:cNvSpPr/>
          <p:nvPr/>
        </p:nvSpPr>
        <p:spPr>
          <a:xfrm>
            <a:off x="5362575" y="7495709"/>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0" name="Connector 219"/>
          <p:cNvCxnSpPr/>
          <p:nvPr/>
        </p:nvCxnSpPr>
        <p:spPr>
          <a:xfrm flipV="1">
            <a:off x="5486400" y="7514097"/>
            <a:ext cx="95250" cy="127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5581650" y="7492017"/>
            <a:ext cx="95250" cy="220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5676900" y="7470996"/>
            <a:ext cx="95250" cy="210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5772150" y="7460922"/>
            <a:ext cx="95250" cy="100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867400" y="7460922"/>
            <a:ext cx="95250" cy="56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962650" y="7466531"/>
            <a:ext cx="95250" cy="186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6057900" y="7485187"/>
            <a:ext cx="95250" cy="2292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6153150" y="7508115"/>
            <a:ext cx="95250" cy="164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28" name="Rectangle 227"/>
          <p:cNvSpPr/>
          <p:nvPr/>
        </p:nvSpPr>
        <p:spPr>
          <a:xfrm>
            <a:off x="6219825" y="7495956"/>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9" name="Connector 228"/>
          <p:cNvCxnSpPr/>
          <p:nvPr/>
        </p:nvCxnSpPr>
        <p:spPr>
          <a:xfrm flipV="1">
            <a:off x="6343650" y="7513640"/>
            <a:ext cx="95250" cy="130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6438900" y="7491455"/>
            <a:ext cx="95250" cy="221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6534150" y="7470594"/>
            <a:ext cx="95250" cy="208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6629400" y="7460868"/>
            <a:ext cx="95250" cy="97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6724650" y="7460868"/>
            <a:ext cx="95250" cy="59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6819900" y="7466852"/>
            <a:ext cx="95250" cy="1887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6915150" y="7485731"/>
            <a:ext cx="95250" cy="228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7010400" y="7508626"/>
            <a:ext cx="95250" cy="1614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37" name="Rectangle 236"/>
          <p:cNvSpPr/>
          <p:nvPr/>
        </p:nvSpPr>
        <p:spPr>
          <a:xfrm>
            <a:off x="7077075" y="7496194"/>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38" name="Connector 237"/>
          <p:cNvCxnSpPr/>
          <p:nvPr/>
        </p:nvCxnSpPr>
        <p:spPr>
          <a:xfrm flipV="1">
            <a:off x="7200900" y="7513177"/>
            <a:ext cx="95250" cy="133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7296150" y="7490893"/>
            <a:ext cx="95250" cy="222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7391400" y="7470198"/>
            <a:ext cx="95250" cy="206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7486650" y="7460824"/>
            <a:ext cx="95250" cy="93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7581900" y="7460824"/>
            <a:ext cx="95250" cy="63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7677150" y="7467180"/>
            <a:ext cx="95250" cy="1909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7772400" y="7486277"/>
            <a:ext cx="95250" cy="2285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7867650" y="7509134"/>
            <a:ext cx="95250" cy="158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46" name="Rectangle 245"/>
          <p:cNvSpPr/>
          <p:nvPr/>
        </p:nvSpPr>
        <p:spPr>
          <a:xfrm>
            <a:off x="7934325" y="7496424"/>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47" name="Connector 246"/>
          <p:cNvCxnSpPr/>
          <p:nvPr/>
        </p:nvCxnSpPr>
        <p:spPr>
          <a:xfrm flipV="1">
            <a:off x="8058150" y="7512709"/>
            <a:ext cx="95250" cy="137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8153400" y="7490333"/>
            <a:ext cx="95250" cy="223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8248650" y="7469809"/>
            <a:ext cx="95250" cy="205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8343900" y="7460789"/>
            <a:ext cx="95250" cy="90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8439150" y="7460789"/>
            <a:ext cx="95250" cy="67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8534400" y="7467516"/>
            <a:ext cx="95250" cy="1931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a:off x="8629650" y="7486826"/>
            <a:ext cx="95250" cy="228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a:off x="8724900" y="7509637"/>
            <a:ext cx="95250" cy="1558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55" name="Rectangle 254"/>
          <p:cNvSpPr/>
          <p:nvPr/>
        </p:nvSpPr>
        <p:spPr>
          <a:xfrm>
            <a:off x="8791575" y="749664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6" name="Connector 255"/>
          <p:cNvCxnSpPr/>
          <p:nvPr/>
        </p:nvCxnSpPr>
        <p:spPr>
          <a:xfrm flipV="1">
            <a:off x="8915400" y="7512235"/>
            <a:ext cx="95250" cy="140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9010650" y="7489773"/>
            <a:ext cx="95250" cy="2246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9105900" y="7469427"/>
            <a:ext cx="95250" cy="203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9201150" y="7460764"/>
            <a:ext cx="95250" cy="86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9296400" y="7460764"/>
            <a:ext cx="95250" cy="70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9391650" y="7467860"/>
            <a:ext cx="95250" cy="195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9486900" y="7487377"/>
            <a:ext cx="95250" cy="2275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9582150" y="7510136"/>
            <a:ext cx="95250" cy="1529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64" name="Rectangle 263"/>
          <p:cNvSpPr/>
          <p:nvPr/>
        </p:nvSpPr>
        <p:spPr>
          <a:xfrm>
            <a:off x="9648825" y="7496858"/>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65" name="Connector 264"/>
          <p:cNvCxnSpPr/>
          <p:nvPr/>
        </p:nvCxnSpPr>
        <p:spPr>
          <a:xfrm flipV="1">
            <a:off x="9772650" y="7511757"/>
            <a:ext cx="95250" cy="143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66" name="TextBox 265"/>
          <p:cNvSpPr txBox="1"/>
          <p:nvPr/>
        </p:nvSpPr>
        <p:spPr>
          <a:xfrm>
            <a:off x="10001250" y="3937635"/>
            <a:ext cx="1524000" cy="323850"/>
          </a:xfrm>
          <a:prstGeom prst="rect">
            <a:avLst/>
          </a:prstGeom>
          <a:noFill/>
        </p:spPr>
        <p:txBody>
          <a:bodyPr wrap="square" lIns="0" rIns="0" tIns="0" bIns="0" anchor="t">
            <a:spAutoFit/>
          </a:bodyPr>
          <a:lstStyle/>
          <a:p>
            <a:pPr algn="l"/>
            <a:r>
              <a:rPr sz="1650" b="1" i="0">
                <a:solidFill>
                  <a:srgbClr val="9A7878"/>
                </a:solidFill>
                <a:latin typeface="Geist"/>
                <a:ea typeface="Geist"/>
                <a:cs typeface="Geist"/>
              </a:rPr>
              <a:t>odometry</a:t>
            </a:r>
          </a:p>
        </p:txBody>
      </p:sp>
      <p:sp>
        <p:nvSpPr>
          <p:cNvPr id="267" name="TextBox 266"/>
          <p:cNvSpPr txBox="1"/>
          <p:nvPr/>
        </p:nvSpPr>
        <p:spPr>
          <a:xfrm>
            <a:off x="10001250" y="6955155"/>
            <a:ext cx="15240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camera</a:t>
            </a:r>
          </a:p>
        </p:txBody>
      </p:sp>
      <p:sp>
        <p:nvSpPr>
          <p:cNvPr id="268" name="TextBox 267"/>
          <p:cNvSpPr txBox="1"/>
          <p:nvPr/>
        </p:nvSpPr>
        <p:spPr>
          <a:xfrm>
            <a:off x="10001250" y="7532370"/>
            <a:ext cx="152400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blended</a:t>
            </a:r>
          </a:p>
        </p:txBody>
      </p:sp>
      <p:sp>
        <p:nvSpPr>
          <p:cNvPr id="269" name="Oval 268"/>
          <p:cNvSpPr/>
          <p:nvPr/>
        </p:nvSpPr>
        <p:spPr>
          <a:xfrm>
            <a:off x="1190625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1190625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1" name="TextBox 270"/>
          <p:cNvSpPr txBox="1"/>
          <p:nvPr/>
        </p:nvSpPr>
        <p:spPr>
          <a:xfrm>
            <a:off x="12515850" y="2914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Wheels drift</a:t>
            </a:r>
          </a:p>
        </p:txBody>
      </p:sp>
      <p:sp>
        <p:nvSpPr>
          <p:cNvPr id="272" name="TextBox 271"/>
          <p:cNvSpPr txBox="1"/>
          <p:nvPr/>
        </p:nvSpPr>
        <p:spPr>
          <a:xfrm>
            <a:off x="12515850" y="3333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Smooth, but the error keeps growing</a:t>
            </a:r>
          </a:p>
        </p:txBody>
      </p:sp>
      <p:sp>
        <p:nvSpPr>
          <p:cNvPr id="273" name="Oval 272"/>
          <p:cNvSpPr/>
          <p:nvPr/>
        </p:nvSpPr>
        <p:spPr>
          <a:xfrm>
            <a:off x="11906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11906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5" name="TextBox 274"/>
          <p:cNvSpPr txBox="1"/>
          <p:nvPr/>
        </p:nvSpPr>
        <p:spPr>
          <a:xfrm>
            <a:off x="12515850" y="4724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Camera is noisy</a:t>
            </a:r>
          </a:p>
        </p:txBody>
      </p:sp>
      <p:sp>
        <p:nvSpPr>
          <p:cNvPr id="276" name="TextBox 275"/>
          <p:cNvSpPr txBox="1"/>
          <p:nvPr/>
        </p:nvSpPr>
        <p:spPr>
          <a:xfrm>
            <a:off x="12515850" y="5143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Never drifts, but every answer wobbles</a:t>
            </a:r>
          </a:p>
        </p:txBody>
      </p:sp>
      <p:sp>
        <p:nvSpPr>
          <p:cNvPr id="277" name="Oval 276"/>
          <p:cNvSpPr/>
          <p:nvPr/>
        </p:nvSpPr>
        <p:spPr>
          <a:xfrm>
            <a:off x="11906250" y="657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1190625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9" name="TextBox 278"/>
          <p:cNvSpPr txBox="1"/>
          <p:nvPr/>
        </p:nvSpPr>
        <p:spPr>
          <a:xfrm>
            <a:off x="12515850" y="6534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Blend them</a:t>
            </a:r>
          </a:p>
        </p:txBody>
      </p:sp>
      <p:sp>
        <p:nvSpPr>
          <p:cNvPr id="280" name="TextBox 279"/>
          <p:cNvSpPr txBox="1"/>
          <p:nvPr/>
        </p:nvSpPr>
        <p:spPr>
          <a:xfrm>
            <a:off x="12515850" y="6953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Smooth and stays on the truth. That's the pose estimator</a:t>
            </a:r>
          </a:p>
        </p:txBody>
      </p:sp>
      <p:sp>
        <p:nvSpPr>
          <p:cNvPr id="281" name="TextBox 28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2" name="TextBox 28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a tag to the robot's pose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2286000"/>
          </a:xfrm>
          <a:prstGeom prst="roundRect">
            <a:avLst>
              <a:gd name="adj" fmla="val 6666"/>
            </a:avLst>
          </a:prstGeom>
          <a:no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38250" y="2914650"/>
            <a:ext cx="3810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ON THE JETSON</a:t>
            </a:r>
          </a:p>
        </p:txBody>
      </p:sp>
      <p:sp>
        <p:nvSpPr>
          <p:cNvPr id="7" name="Rounded Rectangle 6"/>
          <p:cNvSpPr/>
          <p:nvPr/>
        </p:nvSpPr>
        <p:spPr>
          <a:xfrm>
            <a:off x="914400" y="5619750"/>
            <a:ext cx="16459200" cy="2667000"/>
          </a:xfrm>
          <a:prstGeom prst="roundRect">
            <a:avLst>
              <a:gd name="adj" fmla="val 5714"/>
            </a:avLst>
          </a:prstGeom>
          <a:no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38250" y="5772150"/>
            <a:ext cx="3810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ON THE ROBORIO</a:t>
            </a:r>
          </a:p>
        </p:txBody>
      </p:sp>
      <p:sp>
        <p:nvSpPr>
          <p:cNvPr id="9" name="Rounded Rectangle 8"/>
          <p:cNvSpPr/>
          <p:nvPr/>
        </p:nvSpPr>
        <p:spPr>
          <a:xfrm>
            <a:off x="1295400" y="342900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amera.png"/>
          <p:cNvPicPr>
            <a:picLocks noChangeAspect="1"/>
          </p:cNvPicPr>
          <p:nvPr/>
        </p:nvPicPr>
        <p:blipFill>
          <a:blip r:embed="rId3"/>
          <a:stretch>
            <a:fillRect/>
          </a:stretch>
        </p:blipFill>
        <p:spPr>
          <a:xfrm>
            <a:off x="1562100" y="3886200"/>
            <a:ext cx="609600" cy="457200"/>
          </a:xfrm>
          <a:prstGeom prst="rect">
            <a:avLst/>
          </a:prstGeom>
        </p:spPr>
      </p:pic>
      <p:sp>
        <p:nvSpPr>
          <p:cNvPr id="11" name="TextBox 10"/>
          <p:cNvSpPr txBox="1"/>
          <p:nvPr/>
        </p:nvSpPr>
        <p:spPr>
          <a:xfrm>
            <a:off x="2362200" y="375285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Camera</a:t>
            </a:r>
          </a:p>
        </p:txBody>
      </p:sp>
      <p:sp>
        <p:nvSpPr>
          <p:cNvPr id="12" name="TextBox 11"/>
          <p:cNvSpPr txBox="1"/>
          <p:nvPr/>
        </p:nvSpPr>
        <p:spPr>
          <a:xfrm>
            <a:off x="2362200" y="421005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Takes a picture</a:t>
            </a:r>
          </a:p>
        </p:txBody>
      </p:sp>
      <p:sp>
        <p:nvSpPr>
          <p:cNvPr id="13" name="Rectangle 12"/>
          <p:cNvSpPr/>
          <p:nvPr/>
        </p:nvSpPr>
        <p:spPr>
          <a:xfrm>
            <a:off x="4710112" y="412908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5181600" y="4067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10200" y="342900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qr-code.png"/>
          <p:cNvPicPr>
            <a:picLocks noChangeAspect="1"/>
          </p:cNvPicPr>
          <p:nvPr/>
        </p:nvPicPr>
        <p:blipFill>
          <a:blip r:embed="rId4"/>
          <a:stretch>
            <a:fillRect/>
          </a:stretch>
        </p:blipFill>
        <p:spPr>
          <a:xfrm>
            <a:off x="5676900" y="3810000"/>
            <a:ext cx="609600" cy="609600"/>
          </a:xfrm>
          <a:prstGeom prst="rect">
            <a:avLst/>
          </a:prstGeom>
        </p:spPr>
      </p:pic>
      <p:sp>
        <p:nvSpPr>
          <p:cNvPr id="17" name="TextBox 16"/>
          <p:cNvSpPr txBox="1"/>
          <p:nvPr/>
        </p:nvSpPr>
        <p:spPr>
          <a:xfrm>
            <a:off x="6477000" y="375285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Find tags</a:t>
            </a:r>
          </a:p>
        </p:txBody>
      </p:sp>
      <p:sp>
        <p:nvSpPr>
          <p:cNvPr id="18" name="TextBox 17"/>
          <p:cNvSpPr txBox="1"/>
          <p:nvPr/>
        </p:nvSpPr>
        <p:spPr>
          <a:xfrm>
            <a:off x="6477000" y="421005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Corners and IDs</a:t>
            </a:r>
          </a:p>
        </p:txBody>
      </p:sp>
      <p:sp>
        <p:nvSpPr>
          <p:cNvPr id="19" name="Rectangle 18"/>
          <p:cNvSpPr/>
          <p:nvPr/>
        </p:nvSpPr>
        <p:spPr>
          <a:xfrm>
            <a:off x="8824912" y="412908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9296400" y="4067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25000" y="342900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ounding-box.png"/>
          <p:cNvPicPr>
            <a:picLocks noChangeAspect="1"/>
          </p:cNvPicPr>
          <p:nvPr/>
        </p:nvPicPr>
        <p:blipFill>
          <a:blip r:embed="rId5"/>
          <a:stretch>
            <a:fillRect/>
          </a:stretch>
        </p:blipFill>
        <p:spPr>
          <a:xfrm>
            <a:off x="9791700" y="3810000"/>
            <a:ext cx="609600" cy="609600"/>
          </a:xfrm>
          <a:prstGeom prst="rect">
            <a:avLst/>
          </a:prstGeom>
        </p:spPr>
      </p:pic>
      <p:sp>
        <p:nvSpPr>
          <p:cNvPr id="23" name="TextBox 22"/>
          <p:cNvSpPr txBox="1"/>
          <p:nvPr/>
        </p:nvSpPr>
        <p:spPr>
          <a:xfrm>
            <a:off x="10591800" y="375285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PnP</a:t>
            </a:r>
          </a:p>
        </p:txBody>
      </p:sp>
      <p:sp>
        <p:nvSpPr>
          <p:cNvPr id="24" name="TextBox 23"/>
          <p:cNvSpPr txBox="1"/>
          <p:nvPr/>
        </p:nvSpPr>
        <p:spPr>
          <a:xfrm>
            <a:off x="10591800" y="421005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Where the camera is</a:t>
            </a:r>
          </a:p>
        </p:txBody>
      </p:sp>
      <p:sp>
        <p:nvSpPr>
          <p:cNvPr id="25" name="Rectangle 24"/>
          <p:cNvSpPr/>
          <p:nvPr/>
        </p:nvSpPr>
        <p:spPr>
          <a:xfrm>
            <a:off x="12939712" y="412908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13411200" y="4067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3639800" y="342900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end.png"/>
          <p:cNvPicPr>
            <a:picLocks noChangeAspect="1"/>
          </p:cNvPicPr>
          <p:nvPr/>
        </p:nvPicPr>
        <p:blipFill>
          <a:blip r:embed="rId6"/>
          <a:stretch>
            <a:fillRect/>
          </a:stretch>
        </p:blipFill>
        <p:spPr>
          <a:xfrm>
            <a:off x="13906500" y="3810000"/>
            <a:ext cx="609600" cy="609600"/>
          </a:xfrm>
          <a:prstGeom prst="rect">
            <a:avLst/>
          </a:prstGeom>
        </p:spPr>
      </p:pic>
      <p:sp>
        <p:nvSpPr>
          <p:cNvPr id="29" name="TextBox 28"/>
          <p:cNvSpPr txBox="1"/>
          <p:nvPr/>
        </p:nvSpPr>
        <p:spPr>
          <a:xfrm>
            <a:off x="14706600" y="375285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Tag solution</a:t>
            </a:r>
          </a:p>
        </p:txBody>
      </p:sp>
      <p:sp>
        <p:nvSpPr>
          <p:cNvPr id="30" name="TextBox 29"/>
          <p:cNvSpPr txBox="1"/>
          <p:nvPr/>
        </p:nvSpPr>
        <p:spPr>
          <a:xfrm>
            <a:off x="14706600" y="421005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Pose, time, tag IDs</a:t>
            </a:r>
          </a:p>
        </p:txBody>
      </p:sp>
      <p:sp>
        <p:nvSpPr>
          <p:cNvPr id="31" name="Rounded Rectangle 30"/>
          <p:cNvSpPr/>
          <p:nvPr/>
        </p:nvSpPr>
        <p:spPr>
          <a:xfrm>
            <a:off x="1295400" y="619125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broadcast.png"/>
          <p:cNvPicPr>
            <a:picLocks noChangeAspect="1"/>
          </p:cNvPicPr>
          <p:nvPr/>
        </p:nvPicPr>
        <p:blipFill>
          <a:blip r:embed="rId7"/>
          <a:stretch>
            <a:fillRect/>
          </a:stretch>
        </p:blipFill>
        <p:spPr>
          <a:xfrm>
            <a:off x="1562100" y="6655594"/>
            <a:ext cx="609600" cy="442912"/>
          </a:xfrm>
          <a:prstGeom prst="rect">
            <a:avLst/>
          </a:prstGeom>
        </p:spPr>
      </p:pic>
      <p:sp>
        <p:nvSpPr>
          <p:cNvPr id="33" name="TextBox 32"/>
          <p:cNvSpPr txBox="1"/>
          <p:nvPr/>
        </p:nvSpPr>
        <p:spPr>
          <a:xfrm>
            <a:off x="2362200" y="651510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Proxy server</a:t>
            </a:r>
          </a:p>
        </p:txBody>
      </p:sp>
      <p:sp>
        <p:nvSpPr>
          <p:cNvPr id="34" name="TextBox 33"/>
          <p:cNvSpPr txBox="1"/>
          <p:nvPr/>
        </p:nvSpPr>
        <p:spPr>
          <a:xfrm>
            <a:off x="2362200" y="697230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Holds the latest ones</a:t>
            </a:r>
          </a:p>
        </p:txBody>
      </p:sp>
      <p:sp>
        <p:nvSpPr>
          <p:cNvPr id="35" name="Rectangle 34"/>
          <p:cNvSpPr/>
          <p:nvPr/>
        </p:nvSpPr>
        <p:spPr>
          <a:xfrm>
            <a:off x="4710112" y="6891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sosceles Triangle 35"/>
          <p:cNvSpPr/>
          <p:nvPr/>
        </p:nvSpPr>
        <p:spPr>
          <a:xfrm rot="5400000">
            <a:off x="5181600" y="6829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10200" y="619125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unnel.png"/>
          <p:cNvPicPr>
            <a:picLocks noChangeAspect="1"/>
          </p:cNvPicPr>
          <p:nvPr/>
        </p:nvPicPr>
        <p:blipFill>
          <a:blip r:embed="rId8"/>
          <a:stretch>
            <a:fillRect/>
          </a:stretch>
        </p:blipFill>
        <p:spPr>
          <a:xfrm>
            <a:off x="5698671" y="6572250"/>
            <a:ext cx="566057" cy="609600"/>
          </a:xfrm>
          <a:prstGeom prst="rect">
            <a:avLst/>
          </a:prstGeom>
        </p:spPr>
      </p:pic>
      <p:sp>
        <p:nvSpPr>
          <p:cNvPr id="39" name="TextBox 38"/>
          <p:cNvSpPr txBox="1"/>
          <p:nvPr/>
        </p:nvSpPr>
        <p:spPr>
          <a:xfrm>
            <a:off x="6477000" y="651510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Filter</a:t>
            </a:r>
          </a:p>
        </p:txBody>
      </p:sp>
      <p:sp>
        <p:nvSpPr>
          <p:cNvPr id="40" name="TextBox 39"/>
          <p:cNvSpPr txBox="1"/>
          <p:nvPr/>
        </p:nvSpPr>
        <p:spPr>
          <a:xfrm>
            <a:off x="6477000" y="697230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New? Sensible?</a:t>
            </a:r>
          </a:p>
        </p:txBody>
      </p:sp>
      <p:sp>
        <p:nvSpPr>
          <p:cNvPr id="41" name="Rectangle 40"/>
          <p:cNvSpPr/>
          <p:nvPr/>
        </p:nvSpPr>
        <p:spPr>
          <a:xfrm>
            <a:off x="8820150" y="6886575"/>
            <a:ext cx="5105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rot="5400000">
            <a:off x="9296400" y="682942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525000" y="6191250"/>
            <a:ext cx="3352800" cy="1428750"/>
          </a:xfrm>
          <a:prstGeom prst="roundRect">
            <a:avLst>
              <a:gd name="adj" fmla="val 9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geo-alt.png"/>
          <p:cNvPicPr>
            <a:picLocks noChangeAspect="1"/>
          </p:cNvPicPr>
          <p:nvPr/>
        </p:nvPicPr>
        <p:blipFill>
          <a:blip r:embed="rId9"/>
          <a:stretch>
            <a:fillRect/>
          </a:stretch>
        </p:blipFill>
        <p:spPr>
          <a:xfrm>
            <a:off x="9867900" y="6572250"/>
            <a:ext cx="457200" cy="609600"/>
          </a:xfrm>
          <a:prstGeom prst="rect">
            <a:avLst/>
          </a:prstGeom>
        </p:spPr>
      </p:pic>
      <p:sp>
        <p:nvSpPr>
          <p:cNvPr id="45" name="TextBox 44"/>
          <p:cNvSpPr txBox="1"/>
          <p:nvPr/>
        </p:nvSpPr>
        <p:spPr>
          <a:xfrm>
            <a:off x="10591800" y="651510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Pose estimator</a:t>
            </a:r>
          </a:p>
        </p:txBody>
      </p:sp>
      <p:sp>
        <p:nvSpPr>
          <p:cNvPr id="46" name="TextBox 45"/>
          <p:cNvSpPr txBox="1"/>
          <p:nvPr/>
        </p:nvSpPr>
        <p:spPr>
          <a:xfrm>
            <a:off x="10591800" y="697230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Adds the wheels</a:t>
            </a:r>
          </a:p>
        </p:txBody>
      </p:sp>
      <p:sp>
        <p:nvSpPr>
          <p:cNvPr id="47" name="Rectangle 46"/>
          <p:cNvSpPr/>
          <p:nvPr/>
        </p:nvSpPr>
        <p:spPr>
          <a:xfrm>
            <a:off x="12939712" y="6891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Isosceles Triangle 47"/>
          <p:cNvSpPr/>
          <p:nvPr/>
        </p:nvSpPr>
        <p:spPr>
          <a:xfrm rot="5400000">
            <a:off x="13411200" y="6829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3639800" y="619125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crosshair.png"/>
          <p:cNvPicPr>
            <a:picLocks noChangeAspect="1"/>
          </p:cNvPicPr>
          <p:nvPr/>
        </p:nvPicPr>
        <p:blipFill>
          <a:blip r:embed="rId10"/>
          <a:stretch>
            <a:fillRect/>
          </a:stretch>
        </p:blipFill>
        <p:spPr>
          <a:xfrm>
            <a:off x="13906500" y="6572250"/>
            <a:ext cx="609600" cy="609600"/>
          </a:xfrm>
          <a:prstGeom prst="rect">
            <a:avLst/>
          </a:prstGeom>
        </p:spPr>
      </p:pic>
      <p:sp>
        <p:nvSpPr>
          <p:cNvPr id="51" name="TextBox 50"/>
          <p:cNvSpPr txBox="1"/>
          <p:nvPr/>
        </p:nvSpPr>
        <p:spPr>
          <a:xfrm>
            <a:off x="14706600" y="6515100"/>
            <a:ext cx="211455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getPose()</a:t>
            </a:r>
          </a:p>
        </p:txBody>
      </p:sp>
      <p:sp>
        <p:nvSpPr>
          <p:cNvPr id="52" name="TextBox 51"/>
          <p:cNvSpPr txBox="1"/>
          <p:nvPr/>
        </p:nvSpPr>
        <p:spPr>
          <a:xfrm>
            <a:off x="14706600" y="697230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Used to aim</a:t>
            </a:r>
          </a:p>
        </p:txBody>
      </p:sp>
      <p:sp>
        <p:nvSpPr>
          <p:cNvPr id="53" name="Rectangle 52"/>
          <p:cNvSpPr/>
          <p:nvPr/>
        </p:nvSpPr>
        <p:spPr>
          <a:xfrm>
            <a:off x="15301912" y="4843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3967162" y="5319712"/>
            <a:ext cx="11363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3967162" y="5319712"/>
            <a:ext cx="28575" cy="6724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Isosceles Triangle 55"/>
          <p:cNvSpPr/>
          <p:nvPr/>
        </p:nvSpPr>
        <p:spPr>
          <a:xfrm rot="10800000">
            <a:off x="3905250" y="59626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43825" y="5353050"/>
            <a:ext cx="3810000" cy="2476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over the robot network</a:t>
            </a:r>
          </a:p>
        </p:txBody>
      </p:sp>
      <p:sp>
        <p:nvSpPr>
          <p:cNvPr id="58" name="TextBox 57"/>
          <p:cNvSpPr txBox="1"/>
          <p:nvPr/>
        </p:nvSpPr>
        <p:spPr>
          <a:xfrm>
            <a:off x="6667500" y="7734300"/>
            <a:ext cx="4953000" cy="381000"/>
          </a:xfrm>
          <a:prstGeom prst="rect">
            <a:avLst/>
          </a:prstGeom>
          <a:noFill/>
        </p:spPr>
        <p:txBody>
          <a:bodyPr wrap="square" lIns="0" rIns="0" tIns="0" bIns="0" anchor="t">
            <a:spAutoFit/>
          </a:bodyPr>
          <a:lstStyle/>
          <a:p>
            <a:pPr algn="ctr"/>
            <a:r>
              <a:rPr sz="1650" b="1" i="0">
                <a:solidFill>
                  <a:srgbClr val="CC2200"/>
                </a:solidFill>
                <a:latin typeface="Geist"/>
                <a:ea typeface="Geist"/>
                <a:cs typeface="Geist"/>
              </a:rPr>
              <a:t>your code: </a:t>
            </a:r>
            <a:r>
              <a:rPr sz="1650" b="0" i="0">
                <a:solidFill>
                  <a:srgbClr val="F0E8E8"/>
                </a:solidFill>
                <a:latin typeface="Geist Mono"/>
                <a:ea typeface="Geist Mono"/>
                <a:cs typeface="Geist Mono"/>
              </a:rPr>
              <a:t>addVisionMeasurement()</a:t>
            </a:r>
          </a:p>
        </p:txBody>
      </p:sp>
      <p:sp>
        <p:nvSpPr>
          <p:cNvPr id="59" name="TextBox 58"/>
          <p:cNvSpPr txBox="1"/>
          <p:nvPr/>
        </p:nvSpPr>
        <p:spPr>
          <a:xfrm>
            <a:off x="914400" y="847725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SimulationSubsystem plays the Jetson and the cameras.</a:t>
            </a:r>
          </a:p>
        </p:txBody>
      </p:sp>
      <p:sp>
        <p:nvSpPr>
          <p:cNvPr id="60" name="TextBox 5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1" name="TextBox 6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What's in a tag solution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4381500"/>
          </a:xfrm>
          <a:prstGeom prst="roundRect">
            <a:avLst>
              <a:gd name="adj" fmla="val 347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810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TagSolutionData solution</a:t>
            </a:r>
          </a:p>
        </p:txBody>
      </p:sp>
      <p:sp>
        <p:nvSpPr>
          <p:cNvPr id="7" name="TextBox 6"/>
          <p:cNvSpPr txBox="1"/>
          <p:nvPr/>
        </p:nvSpPr>
        <p:spPr>
          <a:xfrm>
            <a:off x="1676400" y="3905250"/>
            <a:ext cx="2857500" cy="47625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a:t>
            </a:r>
          </a:p>
        </p:txBody>
      </p:sp>
      <p:sp>
        <p:nvSpPr>
          <p:cNvPr id="8" name="TextBox 7"/>
          <p:cNvSpPr txBox="1"/>
          <p:nvPr/>
        </p:nvSpPr>
        <p:spPr>
          <a:xfrm>
            <a:off x="4572000" y="3905250"/>
            <a:ext cx="4000500" cy="4762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(3.21, 2.07, 31.5°)</a:t>
            </a:r>
          </a:p>
        </p:txBody>
      </p:sp>
      <p:sp>
        <p:nvSpPr>
          <p:cNvPr id="9" name="Oval 8"/>
          <p:cNvSpPr/>
          <p:nvPr/>
        </p:nvSpPr>
        <p:spPr>
          <a:xfrm>
            <a:off x="8763000" y="39528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63000" y="39528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TextBox 10"/>
          <p:cNvSpPr txBox="1"/>
          <p:nvPr/>
        </p:nvSpPr>
        <p:spPr>
          <a:xfrm>
            <a:off x="1676400" y="4705350"/>
            <a:ext cx="2857500" cy="47625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timestamp</a:t>
            </a:r>
          </a:p>
        </p:txBody>
      </p:sp>
      <p:sp>
        <p:nvSpPr>
          <p:cNvPr id="12" name="TextBox 11"/>
          <p:cNvSpPr txBox="1"/>
          <p:nvPr/>
        </p:nvSpPr>
        <p:spPr>
          <a:xfrm>
            <a:off x="4572000" y="4705350"/>
            <a:ext cx="4000500" cy="4762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12.384 s</a:t>
            </a:r>
          </a:p>
        </p:txBody>
      </p:sp>
      <p:sp>
        <p:nvSpPr>
          <p:cNvPr id="13" name="Oval 12"/>
          <p:cNvSpPr/>
          <p:nvPr/>
        </p:nvSpPr>
        <p:spPr>
          <a:xfrm>
            <a:off x="8763000" y="47529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63000" y="4752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1676400" y="5505450"/>
            <a:ext cx="2857500" cy="47625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detectedIds</a:t>
            </a:r>
          </a:p>
        </p:txBody>
      </p:sp>
      <p:sp>
        <p:nvSpPr>
          <p:cNvPr id="16" name="TextBox 15"/>
          <p:cNvSpPr txBox="1"/>
          <p:nvPr/>
        </p:nvSpPr>
        <p:spPr>
          <a:xfrm>
            <a:off x="4572000" y="5505450"/>
            <a:ext cx="4000500" cy="4762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[3, 4]</a:t>
            </a:r>
          </a:p>
        </p:txBody>
      </p:sp>
      <p:sp>
        <p:nvSpPr>
          <p:cNvPr id="17" name="Oval 16"/>
          <p:cNvSpPr/>
          <p:nvPr/>
        </p:nvSpPr>
        <p:spPr>
          <a:xfrm>
            <a:off x="8763000" y="55530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63000" y="55530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 name="TextBox 18"/>
          <p:cNvSpPr txBox="1"/>
          <p:nvPr/>
        </p:nvSpPr>
        <p:spPr>
          <a:xfrm>
            <a:off x="1676400" y="6305550"/>
            <a:ext cx="2857500" cy="47625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cameraSerial</a:t>
            </a:r>
          </a:p>
        </p:txBody>
      </p:sp>
      <p:sp>
        <p:nvSpPr>
          <p:cNvPr id="20" name="TextBox 19"/>
          <p:cNvSpPr txBox="1"/>
          <p:nvPr/>
        </p:nvSpPr>
        <p:spPr>
          <a:xfrm>
            <a:off x="4572000" y="6305550"/>
            <a:ext cx="4000500" cy="47625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"front"</a:t>
            </a:r>
          </a:p>
        </p:txBody>
      </p:sp>
      <p:sp>
        <p:nvSpPr>
          <p:cNvPr id="21" name="Oval 20"/>
          <p:cNvSpPr/>
          <p:nvPr/>
        </p:nvSpPr>
        <p:spPr>
          <a:xfrm>
            <a:off x="8763000" y="63531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63000" y="63531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3" name="Oval 22"/>
          <p:cNvSpPr/>
          <p:nvPr/>
        </p:nvSpPr>
        <p:spPr>
          <a:xfrm>
            <a:off x="1009650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965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TextBox 24"/>
          <p:cNvSpPr txBox="1"/>
          <p:nvPr/>
        </p:nvSpPr>
        <p:spPr>
          <a:xfrm>
            <a:off x="10706100" y="291465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Pose</a:t>
            </a:r>
          </a:p>
        </p:txBody>
      </p:sp>
      <p:sp>
        <p:nvSpPr>
          <p:cNvPr id="26" name="TextBox 25"/>
          <p:cNvSpPr txBox="1"/>
          <p:nvPr/>
        </p:nvSpPr>
        <p:spPr>
          <a:xfrm>
            <a:off x="10706100" y="333375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camera says the robot is</a:t>
            </a:r>
          </a:p>
        </p:txBody>
      </p:sp>
      <p:sp>
        <p:nvSpPr>
          <p:cNvPr id="27" name="Oval 26"/>
          <p:cNvSpPr/>
          <p:nvPr/>
        </p:nvSpPr>
        <p:spPr>
          <a:xfrm>
            <a:off x="10096500" y="4191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96500" y="419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TextBox 28"/>
          <p:cNvSpPr txBox="1"/>
          <p:nvPr/>
        </p:nvSpPr>
        <p:spPr>
          <a:xfrm>
            <a:off x="10706100" y="41529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Timestamp</a:t>
            </a:r>
          </a:p>
        </p:txBody>
      </p:sp>
      <p:sp>
        <p:nvSpPr>
          <p:cNvPr id="30" name="TextBox 29"/>
          <p:cNvSpPr txBox="1"/>
          <p:nvPr/>
        </p:nvSpPr>
        <p:spPr>
          <a:xfrm>
            <a:off x="10706100" y="45720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When the picture was taken, not when it arrived</a:t>
            </a:r>
          </a:p>
        </p:txBody>
      </p:sp>
      <p:sp>
        <p:nvSpPr>
          <p:cNvPr id="31" name="Oval 30"/>
          <p:cNvSpPr/>
          <p:nvPr/>
        </p:nvSpPr>
        <p:spPr>
          <a:xfrm>
            <a:off x="10096500" y="5429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96500" y="5429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TextBox 32"/>
          <p:cNvSpPr txBox="1"/>
          <p:nvPr/>
        </p:nvSpPr>
        <p:spPr>
          <a:xfrm>
            <a:off x="10706100" y="539115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Tag IDs</a:t>
            </a:r>
          </a:p>
        </p:txBody>
      </p:sp>
      <p:sp>
        <p:nvSpPr>
          <p:cNvPr id="34" name="TextBox 33"/>
          <p:cNvSpPr txBox="1"/>
          <p:nvPr/>
        </p:nvSpPr>
        <p:spPr>
          <a:xfrm>
            <a:off x="10706100" y="581025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Two or more: a multi-tag solution</a:t>
            </a:r>
          </a:p>
        </p:txBody>
      </p:sp>
      <p:sp>
        <p:nvSpPr>
          <p:cNvPr id="35" name="Oval 34"/>
          <p:cNvSpPr/>
          <p:nvPr/>
        </p:nvSpPr>
        <p:spPr>
          <a:xfrm>
            <a:off x="1009650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96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7" name="TextBox 36"/>
          <p:cNvSpPr txBox="1"/>
          <p:nvPr/>
        </p:nvSpPr>
        <p:spPr>
          <a:xfrm>
            <a:off x="10706100" y="66294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Camera</a:t>
            </a:r>
          </a:p>
        </p:txBody>
      </p:sp>
      <p:sp>
        <p:nvSpPr>
          <p:cNvPr id="38" name="TextBox 37"/>
          <p:cNvSpPr txBox="1"/>
          <p:nvPr/>
        </p:nvSpPr>
        <p:spPr>
          <a:xfrm>
            <a:off x="10706100" y="70485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Which camera sent it: front or back</a:t>
            </a:r>
          </a:p>
        </p:txBody>
      </p:sp>
      <p:sp>
        <p:nvSpPr>
          <p:cNvPr id="39" name="Rounded Rectangle 38"/>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graph-up.png"/>
          <p:cNvPicPr>
            <a:picLocks noChangeAspect="1"/>
          </p:cNvPicPr>
          <p:nvPr/>
        </p:nvPicPr>
        <p:blipFill>
          <a:blip r:embed="rId3"/>
          <a:stretch>
            <a:fillRect/>
          </a:stretch>
        </p:blipFill>
        <p:spPr>
          <a:xfrm>
            <a:off x="1333500" y="8020050"/>
            <a:ext cx="533400" cy="533400"/>
          </a:xfrm>
          <a:prstGeom prst="rect">
            <a:avLst/>
          </a:prstGeom>
        </p:spPr>
      </p:pic>
      <p:sp>
        <p:nvSpPr>
          <p:cNvPr id="41" name="TextBox 40"/>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See them:  </a:t>
            </a:r>
            <a:r>
              <a:rPr sz="2100" b="0" i="0">
                <a:solidFill>
                  <a:srgbClr val="F0E8E8"/>
                </a:solidFill>
                <a:latin typeface="Geist"/>
                <a:ea typeface="Geist"/>
                <a:cs typeface="Geist"/>
              </a:rPr>
              <a:t>in AdvantageScope, search for Proxy/TagSolutions while the robot can see tags.</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Throwing out bad answers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10287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LocalizationSubsystem.java</a:t>
            </a:r>
          </a:p>
        </p:txBody>
      </p:sp>
      <p:sp>
        <p:nvSpPr>
          <p:cNvPr id="6" name="Rounded Rectangle 5"/>
          <p:cNvSpPr/>
          <p:nvPr/>
        </p:nvSpPr>
        <p:spPr>
          <a:xfrm>
            <a:off x="914400" y="3276600"/>
            <a:ext cx="10287000" cy="3444240"/>
          </a:xfrm>
          <a:prstGeom prst="roundRect">
            <a:avLst>
              <a:gd name="adj" fmla="val 442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92880"/>
            <a:ext cx="102489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9288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328160"/>
            <a:ext cx="102489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32816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998720"/>
            <a:ext cx="102489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99872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669280"/>
            <a:ext cx="102489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66928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657600"/>
            <a:ext cx="97536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boolean</a:t>
            </a:r>
            <a:r>
              <a:rPr sz="1650" b="0" i="0">
                <a:solidFill>
                  <a:srgbClr val="F0E8E8"/>
                </a:solidFill>
                <a:latin typeface="Geist Mono"/>
                <a:ea typeface="Geist Mono"/>
                <a:cs typeface="Geist Mono"/>
              </a:rPr>
              <a:t> isSensible(TagSolutionData solution) {</a:t>
            </a:r>
          </a:p>
        </p:txBody>
      </p:sp>
      <p:sp>
        <p:nvSpPr>
          <p:cNvPr id="16" name="TextBox 15"/>
          <p:cNvSpPr txBox="1"/>
          <p:nvPr/>
        </p:nvSpPr>
        <p:spPr>
          <a:xfrm>
            <a:off x="1295400" y="399288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solution.timestamp.getSeconds() &gt;= ignore_before_seconds_</a:t>
            </a:r>
          </a:p>
        </p:txBody>
      </p:sp>
      <p:sp>
        <p:nvSpPr>
          <p:cNvPr id="17" name="TextBox 16"/>
          <p:cNvSpPr txBox="1"/>
          <p:nvPr/>
        </p:nvSpPr>
        <p:spPr>
          <a:xfrm>
            <a:off x="1295400" y="432816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Math.abs(drive_.getAngularSpeed())</a:t>
            </a:r>
          </a:p>
        </p:txBody>
      </p:sp>
      <p:sp>
        <p:nvSpPr>
          <p:cNvPr id="18" name="TextBox 17"/>
          <p:cNvSpPr txBox="1"/>
          <p:nvPr/>
        </p:nvSpPr>
        <p:spPr>
          <a:xfrm>
            <a:off x="1295400" y="466344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&lt;= VisionConstants.MAX_YAW_RATE_RADIANS_PER_SECOND</a:t>
            </a:r>
          </a:p>
        </p:txBody>
      </p:sp>
      <p:sp>
        <p:nvSpPr>
          <p:cNvPr id="19" name="TextBox 18"/>
          <p:cNvSpPr txBox="1"/>
          <p:nvPr/>
        </p:nvSpPr>
        <p:spPr>
          <a:xfrm>
            <a:off x="1295400" y="499872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solution.detectedIds.size()</a:t>
            </a:r>
          </a:p>
        </p:txBody>
      </p:sp>
      <p:sp>
        <p:nvSpPr>
          <p:cNvPr id="20" name="TextBox 19"/>
          <p:cNvSpPr txBox="1"/>
          <p:nvPr/>
        </p:nvSpPr>
        <p:spPr>
          <a:xfrm>
            <a:off x="1295400" y="533400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&gt;= VisionConstants.MIN_TAG_COUNT</a:t>
            </a:r>
          </a:p>
        </p:txBody>
      </p:sp>
      <p:sp>
        <p:nvSpPr>
          <p:cNvPr id="21" name="TextBox 20"/>
          <p:cNvSpPr txBox="1"/>
          <p:nvPr/>
        </p:nvSpPr>
        <p:spPr>
          <a:xfrm>
            <a:off x="1295400" y="566928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isOnField(solution.pose);</a:t>
            </a:r>
          </a:p>
        </p:txBody>
      </p:sp>
      <p:sp>
        <p:nvSpPr>
          <p:cNvPr id="22" name="TextBox 21"/>
          <p:cNvSpPr txBox="1"/>
          <p:nvPr/>
        </p:nvSpPr>
        <p:spPr>
          <a:xfrm>
            <a:off x="1295400" y="600456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3" name="Oval 22"/>
          <p:cNvSpPr/>
          <p:nvPr/>
        </p:nvSpPr>
        <p:spPr>
          <a:xfrm>
            <a:off x="10591800" y="397002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91800" y="39700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0591800" y="4305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91800" y="4305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0591800" y="497586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91800" y="49758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Oval 28"/>
          <p:cNvSpPr/>
          <p:nvPr/>
        </p:nvSpPr>
        <p:spPr>
          <a:xfrm>
            <a:off x="10591800" y="564642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91800" y="56464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1" name="Oval 30"/>
          <p:cNvSpPr/>
          <p:nvPr/>
        </p:nvSpPr>
        <p:spPr>
          <a:xfrm>
            <a:off x="1181100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110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3" name="TextBox 32"/>
          <p:cNvSpPr txBox="1"/>
          <p:nvPr/>
        </p:nvSpPr>
        <p:spPr>
          <a:xfrm>
            <a:off x="12420600" y="291465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 before a reset</a:t>
            </a:r>
          </a:p>
        </p:txBody>
      </p:sp>
      <p:sp>
        <p:nvSpPr>
          <p:cNvPr id="34" name="TextBox 33"/>
          <p:cNvSpPr txBox="1"/>
          <p:nvPr/>
        </p:nvSpPr>
        <p:spPr>
          <a:xfrm>
            <a:off x="12420600" y="333375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Old pictures show the old spot</a:t>
            </a:r>
          </a:p>
        </p:txBody>
      </p:sp>
      <p:sp>
        <p:nvSpPr>
          <p:cNvPr id="35" name="Oval 34"/>
          <p:cNvSpPr/>
          <p:nvPr/>
        </p:nvSpPr>
        <p:spPr>
          <a:xfrm>
            <a:off x="11811000" y="423862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11000" y="423862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7" name="TextBox 36"/>
          <p:cNvSpPr txBox="1"/>
          <p:nvPr/>
        </p:nvSpPr>
        <p:spPr>
          <a:xfrm>
            <a:off x="12420600" y="4200525"/>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 spinning fast</a:t>
            </a:r>
          </a:p>
        </p:txBody>
      </p:sp>
      <p:sp>
        <p:nvSpPr>
          <p:cNvPr id="38" name="TextBox 37"/>
          <p:cNvSpPr txBox="1"/>
          <p:nvPr/>
        </p:nvSpPr>
        <p:spPr>
          <a:xfrm>
            <a:off x="12420600" y="4619625"/>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Over 180° a second blurs the picture</a:t>
            </a:r>
          </a:p>
        </p:txBody>
      </p:sp>
      <p:sp>
        <p:nvSpPr>
          <p:cNvPr id="39" name="Oval 38"/>
          <p:cNvSpPr/>
          <p:nvPr/>
        </p:nvSpPr>
        <p:spPr>
          <a:xfrm>
            <a:off x="11811000" y="5524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11000" y="5524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12420600" y="548640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least two tags</a:t>
            </a:r>
          </a:p>
        </p:txBody>
      </p:sp>
      <p:sp>
        <p:nvSpPr>
          <p:cNvPr id="42" name="TextBox 41"/>
          <p:cNvSpPr txBox="1"/>
          <p:nvPr/>
        </p:nvSpPr>
        <p:spPr>
          <a:xfrm>
            <a:off x="12420600" y="590550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tag can fit two spots</a:t>
            </a:r>
          </a:p>
        </p:txBody>
      </p:sp>
      <p:sp>
        <p:nvSpPr>
          <p:cNvPr id="43" name="Oval 42"/>
          <p:cNvSpPr/>
          <p:nvPr/>
        </p:nvSpPr>
        <p:spPr>
          <a:xfrm>
            <a:off x="11811000" y="681037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811000" y="681037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5" name="TextBox 44"/>
          <p:cNvSpPr txBox="1"/>
          <p:nvPr/>
        </p:nvSpPr>
        <p:spPr>
          <a:xfrm>
            <a:off x="12420600" y="6772275"/>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 the field</a:t>
            </a:r>
          </a:p>
        </p:txBody>
      </p:sp>
      <p:sp>
        <p:nvSpPr>
          <p:cNvPr id="46" name="TextBox 45"/>
          <p:cNvSpPr txBox="1"/>
          <p:nvPr/>
        </p:nvSpPr>
        <p:spPr>
          <a:xfrm>
            <a:off x="12420600" y="7191375"/>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robot can't be outside the walls</a:t>
            </a:r>
          </a:p>
        </p:txBody>
      </p:sp>
      <p:pic>
        <p:nvPicPr>
          <p:cNvPr id="47" name="Picture 46" descr="code-slash.png"/>
          <p:cNvPicPr>
            <a:picLocks noChangeAspect="1"/>
          </p:cNvPicPr>
          <p:nvPr/>
        </p:nvPicPr>
        <p:blipFill>
          <a:blip r:embed="rId3"/>
          <a:stretch>
            <a:fillRect/>
          </a:stretch>
        </p:blipFill>
        <p:spPr>
          <a:xfrm>
            <a:off x="914400" y="7277100"/>
            <a:ext cx="224518" cy="209550"/>
          </a:xfrm>
          <a:prstGeom prst="rect">
            <a:avLst/>
          </a:prstGeom>
        </p:spPr>
      </p:pic>
      <p:sp>
        <p:nvSpPr>
          <p:cNvPr id="48" name="TextBox 47"/>
          <p:cNvSpPr txBox="1"/>
          <p:nvPr/>
        </p:nvSpPr>
        <p:spPr>
          <a:xfrm>
            <a:off x="1295400" y="7239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49" name="Rounded Rectangle 48"/>
          <p:cNvSpPr/>
          <p:nvPr/>
        </p:nvSpPr>
        <p:spPr>
          <a:xfrm>
            <a:off x="914400" y="8001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funnel.png"/>
          <p:cNvPicPr>
            <a:picLocks noChangeAspect="1"/>
          </p:cNvPicPr>
          <p:nvPr/>
        </p:nvPicPr>
        <p:blipFill>
          <a:blip r:embed="rId4"/>
          <a:stretch>
            <a:fillRect/>
          </a:stretch>
        </p:blipFill>
        <p:spPr>
          <a:xfrm>
            <a:off x="1333500" y="8210550"/>
            <a:ext cx="495300" cy="533400"/>
          </a:xfrm>
          <a:prstGeom prst="rect">
            <a:avLst/>
          </a:prstGeom>
        </p:spPr>
      </p:pic>
      <p:sp>
        <p:nvSpPr>
          <p:cNvPr id="51" name="TextBox 50"/>
          <p:cNvSpPr txBox="1"/>
          <p:nvPr/>
        </p:nvSpPr>
        <p:spPr>
          <a:xfrm>
            <a:off x="2190750" y="8001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Before this:  </a:t>
            </a:r>
            <a:r>
              <a:rPr sz="2100" b="0" i="0">
                <a:solidFill>
                  <a:srgbClr val="F0E8E8"/>
                </a:solidFill>
                <a:latin typeface="Geist"/>
                <a:ea typeface="Geist"/>
                <a:cs typeface="Geist"/>
              </a:rPr>
              <a:t>isNew() skips answers already used. The proxy server repeats its last 20 every loop.</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Trusting the camera</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pose estimator, standard deviations and the picture's time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Trust the camera... but not too much!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TRUSTING THE CAMERA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pose estimator blends the guesses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47875" y="7610475"/>
            <a:ext cx="8591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4771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TextBox 7"/>
          <p:cNvSpPr txBox="1"/>
          <p:nvPr/>
        </p:nvSpPr>
        <p:spPr>
          <a:xfrm>
            <a:off x="1485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2.8</a:t>
            </a:r>
          </a:p>
        </p:txBody>
      </p:sp>
      <p:sp>
        <p:nvSpPr>
          <p:cNvPr id="9" name="TextBox 8"/>
          <p:cNvSpPr txBox="1"/>
          <p:nvPr/>
        </p:nvSpPr>
        <p:spPr>
          <a:xfrm>
            <a:off x="3390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3.0</a:t>
            </a:r>
          </a:p>
        </p:txBody>
      </p:sp>
      <p:sp>
        <p:nvSpPr>
          <p:cNvPr id="10" name="TextBox 9"/>
          <p:cNvSpPr txBox="1"/>
          <p:nvPr/>
        </p:nvSpPr>
        <p:spPr>
          <a:xfrm>
            <a:off x="5295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3.2</a:t>
            </a:r>
          </a:p>
        </p:txBody>
      </p:sp>
      <p:sp>
        <p:nvSpPr>
          <p:cNvPr id="11" name="TextBox 10"/>
          <p:cNvSpPr txBox="1"/>
          <p:nvPr/>
        </p:nvSpPr>
        <p:spPr>
          <a:xfrm>
            <a:off x="7200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3.4</a:t>
            </a:r>
          </a:p>
        </p:txBody>
      </p:sp>
      <p:sp>
        <p:nvSpPr>
          <p:cNvPr id="12" name="TextBox 11"/>
          <p:cNvSpPr txBox="1"/>
          <p:nvPr/>
        </p:nvSpPr>
        <p:spPr>
          <a:xfrm>
            <a:off x="9105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3.6</a:t>
            </a:r>
          </a:p>
        </p:txBody>
      </p:sp>
      <p:sp>
        <p:nvSpPr>
          <p:cNvPr id="13" name="Rectangle 12"/>
          <p:cNvSpPr/>
          <p:nvPr/>
        </p:nvSpPr>
        <p:spPr>
          <a:xfrm>
            <a:off x="2047875" y="3800475"/>
            <a:ext cx="19050" cy="382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057400" y="8039100"/>
            <a:ext cx="85725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x position on the field (m)</a:t>
            </a:r>
          </a:p>
        </p:txBody>
      </p:sp>
      <p:sp>
        <p:nvSpPr>
          <p:cNvPr id="15" name="TextBox 14"/>
          <p:cNvSpPr txBox="1"/>
          <p:nvPr/>
        </p:nvSpPr>
        <p:spPr>
          <a:xfrm>
            <a:off x="2190750" y="3429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how likely</a:t>
            </a:r>
          </a:p>
        </p:txBody>
      </p:sp>
      <p:sp>
        <p:nvSpPr>
          <p:cNvPr id="16" name="Rectangle 15"/>
          <p:cNvSpPr/>
          <p:nvPr/>
        </p:nvSpPr>
        <p:spPr>
          <a:xfrm>
            <a:off x="2038350" y="760051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085975" y="760045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133600" y="760038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181225" y="7600309"/>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228850" y="760022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276475" y="760012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324100" y="7600009"/>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71725" y="759988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419350" y="759974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466975" y="759958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514600" y="759940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562225" y="759920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609850" y="759897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657475" y="759872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705100" y="759844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752725" y="759813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800350" y="759779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847975" y="759740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895600" y="759697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943225" y="759650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990850" y="759597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038475" y="759539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086100" y="759475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133725" y="759404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181350" y="759326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228975" y="759240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3276600" y="759145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3324225" y="759041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3371850" y="758927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419475" y="758802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3467100" y="758666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3514725" y="758516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3562350" y="7583535"/>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609975" y="758175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3657600" y="757982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3705225" y="757771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3752850" y="757542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3800475" y="757294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3848100" y="757025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3895725" y="756734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3943350" y="756420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3990975" y="756081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4038600" y="755715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086225" y="755321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4133850" y="7548979"/>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1" name="Connector 60"/>
          <p:cNvCxnSpPr/>
          <p:nvPr/>
        </p:nvCxnSpPr>
        <p:spPr>
          <a:xfrm flipV="1">
            <a:off x="4200525" y="7558604"/>
            <a:ext cx="47625" cy="48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248150" y="7553379"/>
            <a:ext cx="47625" cy="52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295775" y="7547790"/>
            <a:ext cx="47625" cy="55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343400" y="7541820"/>
            <a:ext cx="47625" cy="59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391025" y="7535449"/>
            <a:ext cx="47625" cy="63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438650" y="7528661"/>
            <a:ext cx="47625" cy="678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486275" y="7521438"/>
            <a:ext cx="47625" cy="72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533900" y="7513762"/>
            <a:ext cx="47625" cy="76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581525" y="7505615"/>
            <a:ext cx="47625" cy="81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629150" y="7496979"/>
            <a:ext cx="47625" cy="86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676775" y="7487839"/>
            <a:ext cx="47625" cy="91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724400" y="7478178"/>
            <a:ext cx="47625" cy="96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772025" y="7467979"/>
            <a:ext cx="47625" cy="101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819650" y="7457228"/>
            <a:ext cx="47625" cy="107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867275" y="7445910"/>
            <a:ext cx="47625" cy="113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914900" y="7434012"/>
            <a:ext cx="47625" cy="118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962525" y="7421521"/>
            <a:ext cx="47625" cy="124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5010150" y="7408426"/>
            <a:ext cx="47625" cy="130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057775" y="7394718"/>
            <a:ext cx="47625" cy="137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105400" y="7380389"/>
            <a:ext cx="47625" cy="14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153025" y="7365431"/>
            <a:ext cx="47625" cy="149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200650" y="7349839"/>
            <a:ext cx="47625" cy="155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248275" y="7333611"/>
            <a:ext cx="47625" cy="162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295900" y="7316745"/>
            <a:ext cx="47625" cy="16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343525" y="7299243"/>
            <a:ext cx="47625" cy="175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391150" y="7281107"/>
            <a:ext cx="47625" cy="181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5438775" y="7262343"/>
            <a:ext cx="47625" cy="187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486400" y="7242960"/>
            <a:ext cx="47625" cy="193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5534025" y="7222968"/>
            <a:ext cx="47625" cy="199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581650" y="7202379"/>
            <a:ext cx="47625" cy="205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629275" y="7181211"/>
            <a:ext cx="47625" cy="211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676900" y="7159482"/>
            <a:ext cx="47625" cy="217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724525" y="7137214"/>
            <a:ext cx="47625" cy="222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772150" y="7114431"/>
            <a:ext cx="47625" cy="227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819775" y="7091161"/>
            <a:ext cx="47625" cy="232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867400" y="7067434"/>
            <a:ext cx="47625" cy="23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915025" y="7043283"/>
            <a:ext cx="47625" cy="241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962650" y="7018746"/>
            <a:ext cx="47625" cy="245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6010275" y="6993860"/>
            <a:ext cx="47625" cy="2488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6057900" y="6968669"/>
            <a:ext cx="47625" cy="251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6105525" y="6943217"/>
            <a:ext cx="47625" cy="254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6153150" y="6917550"/>
            <a:ext cx="47625" cy="256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6200775" y="6891721"/>
            <a:ext cx="47625" cy="258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6248400" y="6865780"/>
            <a:ext cx="47625" cy="259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6296025" y="6839782"/>
            <a:ext cx="47625" cy="259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6343650" y="6813784"/>
            <a:ext cx="47625" cy="259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6391275" y="6787846"/>
            <a:ext cx="47625" cy="259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6438900" y="6762026"/>
            <a:ext cx="47625" cy="258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6486525" y="6736388"/>
            <a:ext cx="47625" cy="256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6534150" y="6710994"/>
            <a:ext cx="47625" cy="253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581775" y="6685909"/>
            <a:ext cx="47625" cy="250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629400" y="6661198"/>
            <a:ext cx="47625" cy="247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677025" y="6636926"/>
            <a:ext cx="47625" cy="242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724650" y="6613158"/>
            <a:ext cx="47625" cy="237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772275" y="6589962"/>
            <a:ext cx="47625" cy="231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819900" y="6567401"/>
            <a:ext cx="47625" cy="225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867525" y="6545540"/>
            <a:ext cx="47625" cy="21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915150" y="6524443"/>
            <a:ext cx="47625" cy="2109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962775" y="6504173"/>
            <a:ext cx="47625" cy="202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010400" y="6484789"/>
            <a:ext cx="47625" cy="193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058025" y="6466352"/>
            <a:ext cx="47625" cy="184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105650" y="6448917"/>
            <a:ext cx="47625" cy="174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153275" y="6432538"/>
            <a:ext cx="47625" cy="1637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200900" y="6417267"/>
            <a:ext cx="47625" cy="152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248525" y="6403153"/>
            <a:ext cx="47625" cy="141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296150" y="6390241"/>
            <a:ext cx="47625" cy="12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7343775" y="6378572"/>
            <a:ext cx="47625" cy="116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7391400" y="6368183"/>
            <a:ext cx="47625" cy="103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7439025" y="6359109"/>
            <a:ext cx="47625" cy="907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7486650" y="6351380"/>
            <a:ext cx="47625" cy="77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7534275" y="6345021"/>
            <a:ext cx="47625" cy="63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581900" y="6340054"/>
            <a:ext cx="47625" cy="49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33" name="Rectangle 132"/>
          <p:cNvSpPr/>
          <p:nvPr/>
        </p:nvSpPr>
        <p:spPr>
          <a:xfrm>
            <a:off x="7610475" y="632100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7658100" y="631744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7705725" y="631530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7753350" y="631458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7800975" y="631530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7848600" y="631744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9" name="Connector 138"/>
          <p:cNvCxnSpPr/>
          <p:nvPr/>
        </p:nvCxnSpPr>
        <p:spPr>
          <a:xfrm>
            <a:off x="7915275" y="6340054"/>
            <a:ext cx="47625" cy="49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7962900" y="6345021"/>
            <a:ext cx="47625" cy="63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010525" y="6351380"/>
            <a:ext cx="47625" cy="77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8058150" y="6359109"/>
            <a:ext cx="47625" cy="907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105775" y="6368183"/>
            <a:ext cx="47625" cy="103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153400" y="6378572"/>
            <a:ext cx="47625" cy="116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201025" y="6390241"/>
            <a:ext cx="47625" cy="12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248650" y="6403153"/>
            <a:ext cx="47625" cy="141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296275" y="6417267"/>
            <a:ext cx="47625" cy="152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343900" y="6432538"/>
            <a:ext cx="47625" cy="1637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391525" y="6448917"/>
            <a:ext cx="47625" cy="174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439150" y="6466352"/>
            <a:ext cx="47625" cy="184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8486775" y="6484789"/>
            <a:ext cx="47625" cy="193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8534400" y="6504173"/>
            <a:ext cx="47625" cy="202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8582025" y="6524443"/>
            <a:ext cx="47625" cy="2109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8629650" y="6545540"/>
            <a:ext cx="47625" cy="21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8677275" y="6567401"/>
            <a:ext cx="47625" cy="225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8724900" y="6589962"/>
            <a:ext cx="47625" cy="231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8772525" y="6613158"/>
            <a:ext cx="47625" cy="237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8820150" y="6636926"/>
            <a:ext cx="47625" cy="242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8867775" y="6661198"/>
            <a:ext cx="47625" cy="247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8915400" y="6685909"/>
            <a:ext cx="47625" cy="250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8963025" y="6710994"/>
            <a:ext cx="47625" cy="253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9010650" y="6736388"/>
            <a:ext cx="47625" cy="256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9058275" y="6762026"/>
            <a:ext cx="47625" cy="258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9105900" y="6787846"/>
            <a:ext cx="47625" cy="259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9153525" y="6813784"/>
            <a:ext cx="47625" cy="259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9201150" y="6839782"/>
            <a:ext cx="47625" cy="259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9248775" y="6865780"/>
            <a:ext cx="47625" cy="259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9296400" y="6891721"/>
            <a:ext cx="47625" cy="258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9344025" y="6917550"/>
            <a:ext cx="47625" cy="256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9391650" y="6943217"/>
            <a:ext cx="47625" cy="254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9439275" y="6968669"/>
            <a:ext cx="47625" cy="251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9486900" y="6993860"/>
            <a:ext cx="47625" cy="2488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9534525" y="7018746"/>
            <a:ext cx="47625" cy="245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9582150" y="7043283"/>
            <a:ext cx="47625" cy="241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9629775" y="7067434"/>
            <a:ext cx="47625" cy="23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9677400" y="7091161"/>
            <a:ext cx="47625" cy="232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9725025" y="7114431"/>
            <a:ext cx="47625" cy="227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9772650" y="7137214"/>
            <a:ext cx="47625" cy="222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9820275" y="7159482"/>
            <a:ext cx="47625" cy="217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9867900" y="7181211"/>
            <a:ext cx="47625" cy="211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9915525" y="7202379"/>
            <a:ext cx="47625" cy="205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9963150" y="7222968"/>
            <a:ext cx="47625" cy="199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10010775" y="7242960"/>
            <a:ext cx="47625" cy="193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058400" y="7262343"/>
            <a:ext cx="47625" cy="187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106025" y="7281107"/>
            <a:ext cx="47625" cy="181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0153650" y="7299243"/>
            <a:ext cx="47625" cy="175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0201275" y="7316745"/>
            <a:ext cx="47625" cy="16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0248900" y="7333611"/>
            <a:ext cx="47625" cy="162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0296525" y="7349839"/>
            <a:ext cx="47625" cy="155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0344150" y="7365431"/>
            <a:ext cx="47625" cy="149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10391775" y="7380389"/>
            <a:ext cx="47625" cy="14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10439400" y="7394718"/>
            <a:ext cx="47625" cy="137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10487025" y="7408426"/>
            <a:ext cx="47625" cy="130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34650" y="7421521"/>
            <a:ext cx="47625" cy="124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582275" y="7434012"/>
            <a:ext cx="47625" cy="118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96" name="Rectangle 195"/>
          <p:cNvSpPr/>
          <p:nvPr/>
        </p:nvSpPr>
        <p:spPr>
          <a:xfrm>
            <a:off x="7762875" y="6324113"/>
            <a:ext cx="19050" cy="1305412"/>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Rectangle 196"/>
          <p:cNvSpPr/>
          <p:nvPr/>
        </p:nvSpPr>
        <p:spPr>
          <a:xfrm>
            <a:off x="2038350" y="760093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ectangle 197"/>
          <p:cNvSpPr/>
          <p:nvPr/>
        </p:nvSpPr>
        <p:spPr>
          <a:xfrm>
            <a:off x="2085975" y="760093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Rectangle 198"/>
          <p:cNvSpPr/>
          <p:nvPr/>
        </p:nvSpPr>
        <p:spPr>
          <a:xfrm>
            <a:off x="2133600" y="760092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Rectangle 199"/>
          <p:cNvSpPr/>
          <p:nvPr/>
        </p:nvSpPr>
        <p:spPr>
          <a:xfrm>
            <a:off x="2181225" y="760090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Rectangle 200"/>
          <p:cNvSpPr/>
          <p:nvPr/>
        </p:nvSpPr>
        <p:spPr>
          <a:xfrm>
            <a:off x="2228850" y="760089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ectangle 201"/>
          <p:cNvSpPr/>
          <p:nvPr/>
        </p:nvSpPr>
        <p:spPr>
          <a:xfrm>
            <a:off x="2276475" y="760086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2324100" y="760082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2371725" y="760076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Rectangle 204"/>
          <p:cNvSpPr/>
          <p:nvPr/>
        </p:nvSpPr>
        <p:spPr>
          <a:xfrm>
            <a:off x="2419350" y="760068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ectangle 205"/>
          <p:cNvSpPr/>
          <p:nvPr/>
        </p:nvSpPr>
        <p:spPr>
          <a:xfrm>
            <a:off x="2466975" y="760056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Rectangle 206"/>
          <p:cNvSpPr/>
          <p:nvPr/>
        </p:nvSpPr>
        <p:spPr>
          <a:xfrm>
            <a:off x="2514600" y="7600404"/>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Rectangle 207"/>
          <p:cNvSpPr/>
          <p:nvPr/>
        </p:nvSpPr>
        <p:spPr>
          <a:xfrm>
            <a:off x="2562225" y="760018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Rectangle 208"/>
          <p:cNvSpPr/>
          <p:nvPr/>
        </p:nvSpPr>
        <p:spPr>
          <a:xfrm>
            <a:off x="2609850" y="759987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ectangle 209"/>
          <p:cNvSpPr/>
          <p:nvPr/>
        </p:nvSpPr>
        <p:spPr>
          <a:xfrm>
            <a:off x="2657475" y="75994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Rectangle 210"/>
          <p:cNvSpPr/>
          <p:nvPr/>
        </p:nvSpPr>
        <p:spPr>
          <a:xfrm>
            <a:off x="2705100" y="759887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Rectangle 211"/>
          <p:cNvSpPr/>
          <p:nvPr/>
        </p:nvSpPr>
        <p:spPr>
          <a:xfrm>
            <a:off x="2752725" y="759810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Rectangle 212"/>
          <p:cNvSpPr/>
          <p:nvPr/>
        </p:nvSpPr>
        <p:spPr>
          <a:xfrm>
            <a:off x="2800350" y="759707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Rectangle 213"/>
          <p:cNvSpPr/>
          <p:nvPr/>
        </p:nvSpPr>
        <p:spPr>
          <a:xfrm>
            <a:off x="2847975" y="759571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Rectangle 214"/>
          <p:cNvSpPr/>
          <p:nvPr/>
        </p:nvSpPr>
        <p:spPr>
          <a:xfrm>
            <a:off x="2895600" y="759391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Rectangle 215"/>
          <p:cNvSpPr/>
          <p:nvPr/>
        </p:nvSpPr>
        <p:spPr>
          <a:xfrm>
            <a:off x="2943225" y="7591566"/>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Rectangle 216"/>
          <p:cNvSpPr/>
          <p:nvPr/>
        </p:nvSpPr>
        <p:spPr>
          <a:xfrm>
            <a:off x="2990850" y="758851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18" name="Connector 217"/>
          <p:cNvCxnSpPr/>
          <p:nvPr/>
        </p:nvCxnSpPr>
        <p:spPr>
          <a:xfrm flipV="1">
            <a:off x="3057525" y="7598630"/>
            <a:ext cx="47625" cy="50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3105150" y="7592273"/>
            <a:ext cx="47625" cy="63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3152775" y="7584275"/>
            <a:ext cx="47625" cy="79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3200400" y="7574287"/>
            <a:ext cx="47625" cy="998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3248025" y="7561911"/>
            <a:ext cx="47625" cy="1237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3295650" y="7546696"/>
            <a:ext cx="47625" cy="152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3343275" y="7528136"/>
            <a:ext cx="47625" cy="185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3390900" y="7505673"/>
            <a:ext cx="47625" cy="224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3438525" y="7478703"/>
            <a:ext cx="47625" cy="269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3486150" y="7446578"/>
            <a:ext cx="47625" cy="3212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3533775" y="7408623"/>
            <a:ext cx="47625" cy="379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3581400" y="7364144"/>
            <a:ext cx="47625" cy="444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3629025" y="7312449"/>
            <a:ext cx="47625" cy="516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3676650" y="7252867"/>
            <a:ext cx="47625" cy="5958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3724275" y="7184775"/>
            <a:ext cx="47625" cy="6809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3771900" y="7107624"/>
            <a:ext cx="47625" cy="771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3819525" y="7020972"/>
            <a:ext cx="47625" cy="8665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3867150" y="6924512"/>
            <a:ext cx="47625" cy="964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3914775" y="6818107"/>
            <a:ext cx="47625" cy="1064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3962400" y="6701821"/>
            <a:ext cx="47625" cy="1162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4010025" y="6575948"/>
            <a:ext cx="47625" cy="1258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4057650" y="6441035"/>
            <a:ext cx="47625" cy="13491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4105275" y="6297902"/>
            <a:ext cx="47625" cy="14313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4152900" y="6147651"/>
            <a:ext cx="47625" cy="1502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4200525" y="5991672"/>
            <a:ext cx="47625" cy="1559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4248150" y="5831632"/>
            <a:ext cx="47625" cy="16004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4295775" y="5669455"/>
            <a:ext cx="47625" cy="1621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4343400" y="5507293"/>
            <a:ext cx="47625" cy="1621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4391025" y="5347486"/>
            <a:ext cx="47625" cy="1598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4438650" y="5192507"/>
            <a:ext cx="47625" cy="1549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4486275" y="5044904"/>
            <a:ext cx="47625" cy="1476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4533900" y="4907230"/>
            <a:ext cx="47625" cy="13767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4581525" y="4781973"/>
            <a:ext cx="47625" cy="1252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4629150" y="4671480"/>
            <a:ext cx="47625" cy="1104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4676775" y="4577884"/>
            <a:ext cx="47625" cy="9359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4724400" y="4503037"/>
            <a:ext cx="47625" cy="748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4772025" y="4448451"/>
            <a:ext cx="47625" cy="545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4819650" y="4415241"/>
            <a:ext cx="47625" cy="3321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4867275" y="4404094"/>
            <a:ext cx="47625" cy="111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4914900" y="4404094"/>
            <a:ext cx="47625" cy="111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4962525" y="4415241"/>
            <a:ext cx="47625" cy="3321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5010150" y="4448451"/>
            <a:ext cx="47625" cy="545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5057775" y="4503037"/>
            <a:ext cx="47625" cy="748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5105400" y="4577884"/>
            <a:ext cx="47625" cy="9359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5153025" y="4671480"/>
            <a:ext cx="47625" cy="1104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5200650" y="4781973"/>
            <a:ext cx="47625" cy="1252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5248275" y="4907230"/>
            <a:ext cx="47625" cy="13767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5295900" y="5044904"/>
            <a:ext cx="47625" cy="1476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a:off x="5343525" y="5192507"/>
            <a:ext cx="47625" cy="1549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5391150" y="5347486"/>
            <a:ext cx="47625" cy="1598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5438775" y="5507293"/>
            <a:ext cx="47625" cy="1621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5486400" y="5669455"/>
            <a:ext cx="47625" cy="1621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5534025" y="5831632"/>
            <a:ext cx="47625" cy="16004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5581650" y="5991672"/>
            <a:ext cx="47625" cy="1559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5629275" y="6147651"/>
            <a:ext cx="47625" cy="1502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5676900" y="6297902"/>
            <a:ext cx="47625" cy="14313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5724525" y="6441035"/>
            <a:ext cx="47625" cy="13491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5772150" y="6575948"/>
            <a:ext cx="47625" cy="1258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5819775" y="6701821"/>
            <a:ext cx="47625" cy="1162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5867400" y="6818107"/>
            <a:ext cx="47625" cy="1064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5915025" y="6924512"/>
            <a:ext cx="47625" cy="964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5962650" y="7020972"/>
            <a:ext cx="47625" cy="8665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6010275" y="7107624"/>
            <a:ext cx="47625" cy="771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6057900" y="7184775"/>
            <a:ext cx="47625" cy="6809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6105525" y="7252867"/>
            <a:ext cx="47625" cy="5958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6153150" y="7312449"/>
            <a:ext cx="47625" cy="516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6200775" y="7364144"/>
            <a:ext cx="47625" cy="444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6248400" y="7408623"/>
            <a:ext cx="47625" cy="379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6296025" y="7446578"/>
            <a:ext cx="47625" cy="3212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6343650" y="7478703"/>
            <a:ext cx="47625" cy="269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6391275" y="7505673"/>
            <a:ext cx="47625" cy="224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6438900" y="7528136"/>
            <a:ext cx="47625" cy="185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6486525" y="7546696"/>
            <a:ext cx="47625" cy="152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6534150" y="7561911"/>
            <a:ext cx="47625" cy="1237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6581775" y="7574287"/>
            <a:ext cx="47625" cy="998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6629400" y="7584275"/>
            <a:ext cx="47625" cy="79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6677025" y="7592273"/>
            <a:ext cx="47625" cy="63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6724650" y="7598630"/>
            <a:ext cx="47625" cy="50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96" name="Rectangle 295"/>
          <p:cNvSpPr/>
          <p:nvPr/>
        </p:nvSpPr>
        <p:spPr>
          <a:xfrm>
            <a:off x="6753225" y="7584594"/>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7" name="Rectangle 296"/>
          <p:cNvSpPr/>
          <p:nvPr/>
        </p:nvSpPr>
        <p:spPr>
          <a:xfrm>
            <a:off x="6800850" y="758851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Rectangle 297"/>
          <p:cNvSpPr/>
          <p:nvPr/>
        </p:nvSpPr>
        <p:spPr>
          <a:xfrm>
            <a:off x="6848475" y="7591566"/>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9" name="Rectangle 298"/>
          <p:cNvSpPr/>
          <p:nvPr/>
        </p:nvSpPr>
        <p:spPr>
          <a:xfrm>
            <a:off x="6896100" y="759391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Rectangle 299"/>
          <p:cNvSpPr/>
          <p:nvPr/>
        </p:nvSpPr>
        <p:spPr>
          <a:xfrm>
            <a:off x="6943725" y="759571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1" name="Rectangle 300"/>
          <p:cNvSpPr/>
          <p:nvPr/>
        </p:nvSpPr>
        <p:spPr>
          <a:xfrm>
            <a:off x="6991350" y="759707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Rectangle 301"/>
          <p:cNvSpPr/>
          <p:nvPr/>
        </p:nvSpPr>
        <p:spPr>
          <a:xfrm>
            <a:off x="7038975" y="759810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3" name="Rectangle 302"/>
          <p:cNvSpPr/>
          <p:nvPr/>
        </p:nvSpPr>
        <p:spPr>
          <a:xfrm>
            <a:off x="7086600" y="759887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Rectangle 303"/>
          <p:cNvSpPr/>
          <p:nvPr/>
        </p:nvSpPr>
        <p:spPr>
          <a:xfrm>
            <a:off x="7134225" y="75994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5" name="Rectangle 304"/>
          <p:cNvSpPr/>
          <p:nvPr/>
        </p:nvSpPr>
        <p:spPr>
          <a:xfrm>
            <a:off x="7181850" y="759987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Rectangle 305"/>
          <p:cNvSpPr/>
          <p:nvPr/>
        </p:nvSpPr>
        <p:spPr>
          <a:xfrm>
            <a:off x="7229475" y="760018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7" name="Rectangle 306"/>
          <p:cNvSpPr/>
          <p:nvPr/>
        </p:nvSpPr>
        <p:spPr>
          <a:xfrm>
            <a:off x="7277100" y="7600404"/>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Rectangle 307"/>
          <p:cNvSpPr/>
          <p:nvPr/>
        </p:nvSpPr>
        <p:spPr>
          <a:xfrm>
            <a:off x="7324725" y="760056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9" name="Rectangle 308"/>
          <p:cNvSpPr/>
          <p:nvPr/>
        </p:nvSpPr>
        <p:spPr>
          <a:xfrm>
            <a:off x="7372350" y="760068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Rectangle 309"/>
          <p:cNvSpPr/>
          <p:nvPr/>
        </p:nvSpPr>
        <p:spPr>
          <a:xfrm>
            <a:off x="7419975" y="760076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1" name="Rectangle 310"/>
          <p:cNvSpPr/>
          <p:nvPr/>
        </p:nvSpPr>
        <p:spPr>
          <a:xfrm>
            <a:off x="7467600" y="760082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Rectangle 311"/>
          <p:cNvSpPr/>
          <p:nvPr/>
        </p:nvSpPr>
        <p:spPr>
          <a:xfrm>
            <a:off x="7515225" y="760086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3" name="Rectangle 312"/>
          <p:cNvSpPr/>
          <p:nvPr/>
        </p:nvSpPr>
        <p:spPr>
          <a:xfrm>
            <a:off x="7562850" y="760089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Rectangle 313"/>
          <p:cNvSpPr/>
          <p:nvPr/>
        </p:nvSpPr>
        <p:spPr>
          <a:xfrm>
            <a:off x="7610475" y="760090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5" name="Rectangle 314"/>
          <p:cNvSpPr/>
          <p:nvPr/>
        </p:nvSpPr>
        <p:spPr>
          <a:xfrm>
            <a:off x="7658100" y="760092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Rectangle 315"/>
          <p:cNvSpPr/>
          <p:nvPr/>
        </p:nvSpPr>
        <p:spPr>
          <a:xfrm>
            <a:off x="7705725" y="760093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7" name="Rectangle 316"/>
          <p:cNvSpPr/>
          <p:nvPr/>
        </p:nvSpPr>
        <p:spPr>
          <a:xfrm>
            <a:off x="7753350" y="760093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Rectangle 317"/>
          <p:cNvSpPr/>
          <p:nvPr/>
        </p:nvSpPr>
        <p:spPr>
          <a:xfrm>
            <a:off x="7800975" y="760094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9" name="Rectangle 318"/>
          <p:cNvSpPr/>
          <p:nvPr/>
        </p:nvSpPr>
        <p:spPr>
          <a:xfrm>
            <a:off x="7848600" y="760094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Rectangle 319"/>
          <p:cNvSpPr/>
          <p:nvPr/>
        </p:nvSpPr>
        <p:spPr>
          <a:xfrm>
            <a:off x="7896225" y="7600947"/>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1" name="Rectangle 320"/>
          <p:cNvSpPr/>
          <p:nvPr/>
        </p:nvSpPr>
        <p:spPr>
          <a:xfrm>
            <a:off x="7943850" y="760094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Rectangle 321"/>
          <p:cNvSpPr/>
          <p:nvPr/>
        </p:nvSpPr>
        <p:spPr>
          <a:xfrm>
            <a:off x="7991475" y="760094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3" name="Rectangle 322"/>
          <p:cNvSpPr/>
          <p:nvPr/>
        </p:nvSpPr>
        <p:spPr>
          <a:xfrm>
            <a:off x="8039100" y="760094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Rectangle 323"/>
          <p:cNvSpPr/>
          <p:nvPr/>
        </p:nvSpPr>
        <p:spPr>
          <a:xfrm>
            <a:off x="8086725" y="760094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5" name="Rectangle 324"/>
          <p:cNvSpPr/>
          <p:nvPr/>
        </p:nvSpPr>
        <p:spPr>
          <a:xfrm>
            <a:off x="8134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Rectangle 325"/>
          <p:cNvSpPr/>
          <p:nvPr/>
        </p:nvSpPr>
        <p:spPr>
          <a:xfrm>
            <a:off x="8181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7" name="Rectangle 326"/>
          <p:cNvSpPr/>
          <p:nvPr/>
        </p:nvSpPr>
        <p:spPr>
          <a:xfrm>
            <a:off x="8229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Rectangle 327"/>
          <p:cNvSpPr/>
          <p:nvPr/>
        </p:nvSpPr>
        <p:spPr>
          <a:xfrm>
            <a:off x="8277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9" name="Rectangle 328"/>
          <p:cNvSpPr/>
          <p:nvPr/>
        </p:nvSpPr>
        <p:spPr>
          <a:xfrm>
            <a:off x="8324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0" name="Rectangle 329"/>
          <p:cNvSpPr/>
          <p:nvPr/>
        </p:nvSpPr>
        <p:spPr>
          <a:xfrm>
            <a:off x="8372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1" name="Rectangle 330"/>
          <p:cNvSpPr/>
          <p:nvPr/>
        </p:nvSpPr>
        <p:spPr>
          <a:xfrm>
            <a:off x="8420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2" name="Rectangle 331"/>
          <p:cNvSpPr/>
          <p:nvPr/>
        </p:nvSpPr>
        <p:spPr>
          <a:xfrm>
            <a:off x="8467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3" name="Rectangle 332"/>
          <p:cNvSpPr/>
          <p:nvPr/>
        </p:nvSpPr>
        <p:spPr>
          <a:xfrm>
            <a:off x="8515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4" name="Rectangle 333"/>
          <p:cNvSpPr/>
          <p:nvPr/>
        </p:nvSpPr>
        <p:spPr>
          <a:xfrm>
            <a:off x="8562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5" name="Rectangle 334"/>
          <p:cNvSpPr/>
          <p:nvPr/>
        </p:nvSpPr>
        <p:spPr>
          <a:xfrm>
            <a:off x="8610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6" name="Rectangle 335"/>
          <p:cNvSpPr/>
          <p:nvPr/>
        </p:nvSpPr>
        <p:spPr>
          <a:xfrm>
            <a:off x="8658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7" name="Rectangle 336"/>
          <p:cNvSpPr/>
          <p:nvPr/>
        </p:nvSpPr>
        <p:spPr>
          <a:xfrm>
            <a:off x="8705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8" name="Rectangle 337"/>
          <p:cNvSpPr/>
          <p:nvPr/>
        </p:nvSpPr>
        <p:spPr>
          <a:xfrm>
            <a:off x="8753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9" name="Rectangle 338"/>
          <p:cNvSpPr/>
          <p:nvPr/>
        </p:nvSpPr>
        <p:spPr>
          <a:xfrm>
            <a:off x="8801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0" name="Rectangle 339"/>
          <p:cNvSpPr/>
          <p:nvPr/>
        </p:nvSpPr>
        <p:spPr>
          <a:xfrm>
            <a:off x="8848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1" name="Rectangle 340"/>
          <p:cNvSpPr/>
          <p:nvPr/>
        </p:nvSpPr>
        <p:spPr>
          <a:xfrm>
            <a:off x="8896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Rectangle 341"/>
          <p:cNvSpPr/>
          <p:nvPr/>
        </p:nvSpPr>
        <p:spPr>
          <a:xfrm>
            <a:off x="8943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3" name="Rectangle 342"/>
          <p:cNvSpPr/>
          <p:nvPr/>
        </p:nvSpPr>
        <p:spPr>
          <a:xfrm>
            <a:off x="8991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Rectangle 343"/>
          <p:cNvSpPr/>
          <p:nvPr/>
        </p:nvSpPr>
        <p:spPr>
          <a:xfrm>
            <a:off x="9039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5" name="Rectangle 344"/>
          <p:cNvSpPr/>
          <p:nvPr/>
        </p:nvSpPr>
        <p:spPr>
          <a:xfrm>
            <a:off x="9086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Rectangle 345"/>
          <p:cNvSpPr/>
          <p:nvPr/>
        </p:nvSpPr>
        <p:spPr>
          <a:xfrm>
            <a:off x="9134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7" name="Rectangle 346"/>
          <p:cNvSpPr/>
          <p:nvPr/>
        </p:nvSpPr>
        <p:spPr>
          <a:xfrm>
            <a:off x="9182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8" name="Rectangle 347"/>
          <p:cNvSpPr/>
          <p:nvPr/>
        </p:nvSpPr>
        <p:spPr>
          <a:xfrm>
            <a:off x="9229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9" name="Rectangle 348"/>
          <p:cNvSpPr/>
          <p:nvPr/>
        </p:nvSpPr>
        <p:spPr>
          <a:xfrm>
            <a:off x="9277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Rectangle 349"/>
          <p:cNvSpPr/>
          <p:nvPr/>
        </p:nvSpPr>
        <p:spPr>
          <a:xfrm>
            <a:off x="9324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Rectangle 350"/>
          <p:cNvSpPr/>
          <p:nvPr/>
        </p:nvSpPr>
        <p:spPr>
          <a:xfrm>
            <a:off x="9372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Rectangle 351"/>
          <p:cNvSpPr/>
          <p:nvPr/>
        </p:nvSpPr>
        <p:spPr>
          <a:xfrm>
            <a:off x="9420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Rectangle 352"/>
          <p:cNvSpPr/>
          <p:nvPr/>
        </p:nvSpPr>
        <p:spPr>
          <a:xfrm>
            <a:off x="9467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Rectangle 353"/>
          <p:cNvSpPr/>
          <p:nvPr/>
        </p:nvSpPr>
        <p:spPr>
          <a:xfrm>
            <a:off x="9515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Rectangle 354"/>
          <p:cNvSpPr/>
          <p:nvPr/>
        </p:nvSpPr>
        <p:spPr>
          <a:xfrm>
            <a:off x="9563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Rectangle 355"/>
          <p:cNvSpPr/>
          <p:nvPr/>
        </p:nvSpPr>
        <p:spPr>
          <a:xfrm>
            <a:off x="9610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7" name="Rectangle 356"/>
          <p:cNvSpPr/>
          <p:nvPr/>
        </p:nvSpPr>
        <p:spPr>
          <a:xfrm>
            <a:off x="9658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Rectangle 357"/>
          <p:cNvSpPr/>
          <p:nvPr/>
        </p:nvSpPr>
        <p:spPr>
          <a:xfrm>
            <a:off x="9705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9" name="Rectangle 358"/>
          <p:cNvSpPr/>
          <p:nvPr/>
        </p:nvSpPr>
        <p:spPr>
          <a:xfrm>
            <a:off x="9753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Rectangle 359"/>
          <p:cNvSpPr/>
          <p:nvPr/>
        </p:nvSpPr>
        <p:spPr>
          <a:xfrm>
            <a:off x="9801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1" name="Rectangle 360"/>
          <p:cNvSpPr/>
          <p:nvPr/>
        </p:nvSpPr>
        <p:spPr>
          <a:xfrm>
            <a:off x="9848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Rectangle 361"/>
          <p:cNvSpPr/>
          <p:nvPr/>
        </p:nvSpPr>
        <p:spPr>
          <a:xfrm>
            <a:off x="9896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3" name="Rectangle 362"/>
          <p:cNvSpPr/>
          <p:nvPr/>
        </p:nvSpPr>
        <p:spPr>
          <a:xfrm>
            <a:off x="9944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Rectangle 363"/>
          <p:cNvSpPr/>
          <p:nvPr/>
        </p:nvSpPr>
        <p:spPr>
          <a:xfrm>
            <a:off x="9991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5" name="Rectangle 364"/>
          <p:cNvSpPr/>
          <p:nvPr/>
        </p:nvSpPr>
        <p:spPr>
          <a:xfrm>
            <a:off x="10039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Rectangle 365"/>
          <p:cNvSpPr/>
          <p:nvPr/>
        </p:nvSpPr>
        <p:spPr>
          <a:xfrm>
            <a:off x="10086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7" name="Rectangle 366"/>
          <p:cNvSpPr/>
          <p:nvPr/>
        </p:nvSpPr>
        <p:spPr>
          <a:xfrm>
            <a:off x="10134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Rectangle 367"/>
          <p:cNvSpPr/>
          <p:nvPr/>
        </p:nvSpPr>
        <p:spPr>
          <a:xfrm>
            <a:off x="10182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Rectangle 368"/>
          <p:cNvSpPr/>
          <p:nvPr/>
        </p:nvSpPr>
        <p:spPr>
          <a:xfrm>
            <a:off x="10229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Rectangle 369"/>
          <p:cNvSpPr/>
          <p:nvPr/>
        </p:nvSpPr>
        <p:spPr>
          <a:xfrm>
            <a:off x="10277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1" name="Rectangle 370"/>
          <p:cNvSpPr/>
          <p:nvPr/>
        </p:nvSpPr>
        <p:spPr>
          <a:xfrm>
            <a:off x="10325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Rectangle 371"/>
          <p:cNvSpPr/>
          <p:nvPr/>
        </p:nvSpPr>
        <p:spPr>
          <a:xfrm>
            <a:off x="10372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3" name="Rectangle 372"/>
          <p:cNvSpPr/>
          <p:nvPr/>
        </p:nvSpPr>
        <p:spPr>
          <a:xfrm>
            <a:off x="10420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Rectangle 373"/>
          <p:cNvSpPr/>
          <p:nvPr/>
        </p:nvSpPr>
        <p:spPr>
          <a:xfrm>
            <a:off x="10467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5" name="Rectangle 374"/>
          <p:cNvSpPr/>
          <p:nvPr/>
        </p:nvSpPr>
        <p:spPr>
          <a:xfrm>
            <a:off x="10515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Rectangle 375"/>
          <p:cNvSpPr/>
          <p:nvPr/>
        </p:nvSpPr>
        <p:spPr>
          <a:xfrm>
            <a:off x="10563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7" name="Rectangle 376"/>
          <p:cNvSpPr/>
          <p:nvPr/>
        </p:nvSpPr>
        <p:spPr>
          <a:xfrm>
            <a:off x="4905375" y="4394569"/>
            <a:ext cx="19050" cy="3234956"/>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8" name="Rectangle 377"/>
          <p:cNvSpPr/>
          <p:nvPr/>
        </p:nvSpPr>
        <p:spPr>
          <a:xfrm>
            <a:off x="20240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9" name="Rectangle 378"/>
          <p:cNvSpPr/>
          <p:nvPr/>
        </p:nvSpPr>
        <p:spPr>
          <a:xfrm>
            <a:off x="20716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Rectangle 379"/>
          <p:cNvSpPr/>
          <p:nvPr/>
        </p:nvSpPr>
        <p:spPr>
          <a:xfrm>
            <a:off x="21193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1" name="Rectangle 380"/>
          <p:cNvSpPr/>
          <p:nvPr/>
        </p:nvSpPr>
        <p:spPr>
          <a:xfrm>
            <a:off x="2166938"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2" name="Rectangle 381"/>
          <p:cNvSpPr/>
          <p:nvPr/>
        </p:nvSpPr>
        <p:spPr>
          <a:xfrm>
            <a:off x="22145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3" name="Rectangle 382"/>
          <p:cNvSpPr/>
          <p:nvPr/>
        </p:nvSpPr>
        <p:spPr>
          <a:xfrm>
            <a:off x="22621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Rectangle 383"/>
          <p:cNvSpPr/>
          <p:nvPr/>
        </p:nvSpPr>
        <p:spPr>
          <a:xfrm>
            <a:off x="23098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5" name="Rectangle 384"/>
          <p:cNvSpPr/>
          <p:nvPr/>
        </p:nvSpPr>
        <p:spPr>
          <a:xfrm>
            <a:off x="2357438"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6" name="Rectangle 385"/>
          <p:cNvSpPr/>
          <p:nvPr/>
        </p:nvSpPr>
        <p:spPr>
          <a:xfrm>
            <a:off x="2405062" y="7586661"/>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7" name="Rectangle 386"/>
          <p:cNvSpPr/>
          <p:nvPr/>
        </p:nvSpPr>
        <p:spPr>
          <a:xfrm>
            <a:off x="2452687" y="7586660"/>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Rectangle 387"/>
          <p:cNvSpPr/>
          <p:nvPr/>
        </p:nvSpPr>
        <p:spPr>
          <a:xfrm>
            <a:off x="2500312" y="7586659"/>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9" name="Rectangle 388"/>
          <p:cNvSpPr/>
          <p:nvPr/>
        </p:nvSpPr>
        <p:spPr>
          <a:xfrm>
            <a:off x="2547938" y="7586656"/>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0" name="Rectangle 389"/>
          <p:cNvSpPr/>
          <p:nvPr/>
        </p:nvSpPr>
        <p:spPr>
          <a:xfrm>
            <a:off x="2595562" y="7586653"/>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1" name="Rectangle 390"/>
          <p:cNvSpPr/>
          <p:nvPr/>
        </p:nvSpPr>
        <p:spPr>
          <a:xfrm>
            <a:off x="2643187" y="7586647"/>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2" name="Rectangle 391"/>
          <p:cNvSpPr/>
          <p:nvPr/>
        </p:nvSpPr>
        <p:spPr>
          <a:xfrm>
            <a:off x="2690812" y="7586638"/>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3" name="Rectangle 392"/>
          <p:cNvSpPr/>
          <p:nvPr/>
        </p:nvSpPr>
        <p:spPr>
          <a:xfrm>
            <a:off x="2738438" y="7586625"/>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4" name="Rectangle 393"/>
          <p:cNvSpPr/>
          <p:nvPr/>
        </p:nvSpPr>
        <p:spPr>
          <a:xfrm>
            <a:off x="2786063" y="7586605"/>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5" name="Rectangle 394"/>
          <p:cNvSpPr/>
          <p:nvPr/>
        </p:nvSpPr>
        <p:spPr>
          <a:xfrm>
            <a:off x="2833687" y="7586575"/>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6" name="Rectangle 395"/>
          <p:cNvSpPr/>
          <p:nvPr/>
        </p:nvSpPr>
        <p:spPr>
          <a:xfrm>
            <a:off x="2881312" y="7586531"/>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7" name="Rectangle 396"/>
          <p:cNvSpPr/>
          <p:nvPr/>
        </p:nvSpPr>
        <p:spPr>
          <a:xfrm>
            <a:off x="2928938" y="7586467"/>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Rectangle 397"/>
          <p:cNvSpPr/>
          <p:nvPr/>
        </p:nvSpPr>
        <p:spPr>
          <a:xfrm>
            <a:off x="2976563" y="758637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9" name="Rectangle 398"/>
          <p:cNvSpPr/>
          <p:nvPr/>
        </p:nvSpPr>
        <p:spPr>
          <a:xfrm>
            <a:off x="3024187" y="7586236"/>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Rectangle 399"/>
          <p:cNvSpPr/>
          <p:nvPr/>
        </p:nvSpPr>
        <p:spPr>
          <a:xfrm>
            <a:off x="3071812" y="7586041"/>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1" name="Rectangle 400"/>
          <p:cNvSpPr/>
          <p:nvPr/>
        </p:nvSpPr>
        <p:spPr>
          <a:xfrm>
            <a:off x="3119438" y="7585764"/>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2" name="Rectangle 401"/>
          <p:cNvSpPr/>
          <p:nvPr/>
        </p:nvSpPr>
        <p:spPr>
          <a:xfrm>
            <a:off x="3167063" y="7585373"/>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3" name="Rectangle 402"/>
          <p:cNvSpPr/>
          <p:nvPr/>
        </p:nvSpPr>
        <p:spPr>
          <a:xfrm>
            <a:off x="3214687" y="7584828"/>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Rectangle 403"/>
          <p:cNvSpPr/>
          <p:nvPr/>
        </p:nvSpPr>
        <p:spPr>
          <a:xfrm>
            <a:off x="3262312" y="7584073"/>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5" name="Rectangle 404"/>
          <p:cNvSpPr/>
          <p:nvPr/>
        </p:nvSpPr>
        <p:spPr>
          <a:xfrm>
            <a:off x="3309937" y="7583037"/>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6" name="Rectangle 405"/>
          <p:cNvSpPr/>
          <p:nvPr/>
        </p:nvSpPr>
        <p:spPr>
          <a:xfrm>
            <a:off x="3357563" y="7581627"/>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7" name="Rectangle 406"/>
          <p:cNvSpPr/>
          <p:nvPr/>
        </p:nvSpPr>
        <p:spPr>
          <a:xfrm>
            <a:off x="3405188" y="7579726"/>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8" name="Rectangle 407"/>
          <p:cNvSpPr/>
          <p:nvPr/>
        </p:nvSpPr>
        <p:spPr>
          <a:xfrm>
            <a:off x="3452812" y="757718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9" name="Rectangle 408"/>
          <p:cNvSpPr/>
          <p:nvPr/>
        </p:nvSpPr>
        <p:spPr>
          <a:xfrm>
            <a:off x="3500437" y="7573810"/>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10" name="Connector 409"/>
          <p:cNvCxnSpPr/>
          <p:nvPr/>
        </p:nvCxnSpPr>
        <p:spPr>
          <a:xfrm flipV="1">
            <a:off x="3581400" y="7596943"/>
            <a:ext cx="47625" cy="577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flipV="1">
            <a:off x="3629025" y="7589489"/>
            <a:ext cx="47625" cy="745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flipV="1">
            <a:off x="3676650" y="7579948"/>
            <a:ext cx="47625" cy="954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724275" y="7567845"/>
            <a:ext cx="47625" cy="1210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flipV="1">
            <a:off x="3771900" y="7552631"/>
            <a:ext cx="47625" cy="1521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819525" y="7533677"/>
            <a:ext cx="47625" cy="1895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67150" y="7510277"/>
            <a:ext cx="47625" cy="2340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3914775" y="7481653"/>
            <a:ext cx="47625" cy="2862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3962400" y="7446961"/>
            <a:ext cx="47625" cy="3469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010025" y="7405306"/>
            <a:ext cx="47625" cy="4165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flipV="1">
            <a:off x="4057650" y="7355762"/>
            <a:ext cx="47625" cy="4954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105275" y="7297393"/>
            <a:ext cx="47625" cy="5836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4152900" y="7229291"/>
            <a:ext cx="47625" cy="6810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4200525" y="7150610"/>
            <a:ext cx="47625" cy="7868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V="1">
            <a:off x="4248150" y="7060608"/>
            <a:ext cx="47625" cy="9000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V="1">
            <a:off x="4295775" y="6958697"/>
            <a:ext cx="47625" cy="10191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flipV="1">
            <a:off x="4343400" y="6844492"/>
            <a:ext cx="47625" cy="11420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flipV="1">
            <a:off x="4391025" y="6717862"/>
            <a:ext cx="47625" cy="12663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V="1">
            <a:off x="4438650" y="6578974"/>
            <a:ext cx="47625" cy="13888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flipV="1">
            <a:off x="4486275" y="6428342"/>
            <a:ext cx="47625" cy="15063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flipV="1">
            <a:off x="4533900" y="6266858"/>
            <a:ext cx="47625" cy="16148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flipV="1">
            <a:off x="4581525" y="6095819"/>
            <a:ext cx="47625" cy="17103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flipV="1">
            <a:off x="4629150" y="5916936"/>
            <a:ext cx="47625" cy="17888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flipV="1">
            <a:off x="4676775" y="5732325"/>
            <a:ext cx="47625" cy="18461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flipV="1">
            <a:off x="4724400" y="5544490"/>
            <a:ext cx="47625" cy="18783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772025" y="5356273"/>
            <a:ext cx="47625" cy="18821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flipV="1">
            <a:off x="4819650" y="5170797"/>
            <a:ext cx="47625" cy="18547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flipV="1">
            <a:off x="4867275" y="4991385"/>
            <a:ext cx="47625" cy="17941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flipV="1">
            <a:off x="4914900" y="4821466"/>
            <a:ext cx="47625" cy="16991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flipV="1">
            <a:off x="4962525" y="4664467"/>
            <a:ext cx="47625" cy="15699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flipV="1">
            <a:off x="5010150" y="4523703"/>
            <a:ext cx="47625" cy="14076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5057775" y="4402260"/>
            <a:ext cx="47625" cy="12144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5105400" y="4302884"/>
            <a:ext cx="47625" cy="9937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V="1">
            <a:off x="5153025" y="4227874"/>
            <a:ext cx="47625" cy="7501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V="1">
            <a:off x="5200650" y="4178999"/>
            <a:ext cx="47625" cy="4887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V="1">
            <a:off x="5248275" y="4157425"/>
            <a:ext cx="47625" cy="2157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a:off x="5295900" y="4157425"/>
            <a:ext cx="47625" cy="624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a:off x="5343525" y="4163671"/>
            <a:ext cx="47625" cy="3391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a:off x="5391150" y="4197587"/>
            <a:ext cx="47625" cy="6077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a:off x="5438775" y="4258359"/>
            <a:ext cx="47625" cy="8618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a:off x="5486400" y="4344545"/>
            <a:ext cx="47625" cy="10958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a:off x="5534025" y="4454126"/>
            <a:ext cx="47625" cy="13046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a:off x="5581650" y="4584592"/>
            <a:ext cx="47625" cy="14844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a:off x="5629275" y="4733032"/>
            <a:ext cx="47625" cy="16321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a:off x="5676900" y="4896242"/>
            <a:ext cx="47625" cy="17460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a:off x="5724525" y="5070844"/>
            <a:ext cx="47625" cy="18255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a:off x="5772150" y="5253394"/>
            <a:ext cx="47625" cy="18710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a:off x="5819775" y="5440499"/>
            <a:ext cx="47625" cy="18841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a:off x="5867400" y="5628916"/>
            <a:ext cx="47625" cy="18672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a:off x="5915025" y="5815638"/>
            <a:ext cx="47625" cy="18233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a:off x="5962650" y="5997969"/>
            <a:ext cx="47625" cy="17560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6010275" y="6173574"/>
            <a:ext cx="47625" cy="16694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6057900" y="6340516"/>
            <a:ext cx="47625" cy="15675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a:off x="6105525" y="6497271"/>
            <a:ext cx="47625" cy="14545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a:off x="6153150" y="6642725"/>
            <a:ext cx="47625" cy="13343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a:off x="6200775" y="6776161"/>
            <a:ext cx="47625" cy="12106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a:off x="6248400" y="6897223"/>
            <a:ext cx="47625" cy="10866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6296025" y="7005884"/>
            <a:ext cx="47625" cy="9651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6343650" y="7102395"/>
            <a:ext cx="47625" cy="8484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6391275" y="7187240"/>
            <a:ext cx="47625" cy="7383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6438900" y="7261079"/>
            <a:ext cx="47625" cy="6363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6486525" y="7324709"/>
            <a:ext cx="47625" cy="5429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6534150" y="7379007"/>
            <a:ext cx="47625" cy="4589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6581775" y="7424899"/>
            <a:ext cx="47625" cy="3842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a:off x="6629400" y="7463319"/>
            <a:ext cx="47625" cy="3186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6677025" y="7495183"/>
            <a:ext cx="47625" cy="2618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a:off x="6724650" y="7521364"/>
            <a:ext cx="47625" cy="2131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6772275" y="7542679"/>
            <a:ext cx="47625" cy="1719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6819900" y="7559874"/>
            <a:ext cx="47625" cy="1374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6867525" y="7573621"/>
            <a:ext cx="47625" cy="1089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6915150" y="7584511"/>
            <a:ext cx="47625" cy="855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a:off x="6962775" y="7593063"/>
            <a:ext cx="47625" cy="665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a:off x="7010400" y="7599717"/>
            <a:ext cx="47625" cy="513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483" name="Rectangle 482"/>
          <p:cNvSpPr/>
          <p:nvPr/>
        </p:nvSpPr>
        <p:spPr>
          <a:xfrm>
            <a:off x="7024687" y="7571513"/>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4" name="Rectangle 483"/>
          <p:cNvSpPr/>
          <p:nvPr/>
        </p:nvSpPr>
        <p:spPr>
          <a:xfrm>
            <a:off x="7072312" y="7575438"/>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5" name="Rectangle 484"/>
          <p:cNvSpPr/>
          <p:nvPr/>
        </p:nvSpPr>
        <p:spPr>
          <a:xfrm>
            <a:off x="7119937" y="7578413"/>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6" name="Rectangle 485"/>
          <p:cNvSpPr/>
          <p:nvPr/>
        </p:nvSpPr>
        <p:spPr>
          <a:xfrm>
            <a:off x="7167562" y="7580648"/>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7" name="Rectangle 486"/>
          <p:cNvSpPr/>
          <p:nvPr/>
        </p:nvSpPr>
        <p:spPr>
          <a:xfrm>
            <a:off x="7215187" y="758231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8" name="Rectangle 487"/>
          <p:cNvSpPr/>
          <p:nvPr/>
        </p:nvSpPr>
        <p:spPr>
          <a:xfrm>
            <a:off x="7262812" y="758354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9" name="Rectangle 488"/>
          <p:cNvSpPr/>
          <p:nvPr/>
        </p:nvSpPr>
        <p:spPr>
          <a:xfrm>
            <a:off x="7310437" y="7584441"/>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0" name="Rectangle 489"/>
          <p:cNvSpPr/>
          <p:nvPr/>
        </p:nvSpPr>
        <p:spPr>
          <a:xfrm>
            <a:off x="7358062" y="7585095"/>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1" name="Rectangle 490"/>
          <p:cNvSpPr/>
          <p:nvPr/>
        </p:nvSpPr>
        <p:spPr>
          <a:xfrm>
            <a:off x="7405687" y="7585564"/>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2" name="Rectangle 491"/>
          <p:cNvSpPr/>
          <p:nvPr/>
        </p:nvSpPr>
        <p:spPr>
          <a:xfrm>
            <a:off x="7453313" y="7585900"/>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3" name="Rectangle 492"/>
          <p:cNvSpPr/>
          <p:nvPr/>
        </p:nvSpPr>
        <p:spPr>
          <a:xfrm>
            <a:off x="7500938" y="7586137"/>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4" name="Rectangle 493"/>
          <p:cNvSpPr/>
          <p:nvPr/>
        </p:nvSpPr>
        <p:spPr>
          <a:xfrm>
            <a:off x="7548562" y="7586303"/>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5" name="Rectangle 494"/>
          <p:cNvSpPr/>
          <p:nvPr/>
        </p:nvSpPr>
        <p:spPr>
          <a:xfrm>
            <a:off x="7596187" y="7586419"/>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6" name="Rectangle 495"/>
          <p:cNvSpPr/>
          <p:nvPr/>
        </p:nvSpPr>
        <p:spPr>
          <a:xfrm>
            <a:off x="7643812" y="7586499"/>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7" name="Rectangle 496"/>
          <p:cNvSpPr/>
          <p:nvPr/>
        </p:nvSpPr>
        <p:spPr>
          <a:xfrm>
            <a:off x="7691437" y="7586553"/>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8" name="Rectangle 497"/>
          <p:cNvSpPr/>
          <p:nvPr/>
        </p:nvSpPr>
        <p:spPr>
          <a:xfrm>
            <a:off x="7739062" y="7586590"/>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9" name="Rectangle 498"/>
          <p:cNvSpPr/>
          <p:nvPr/>
        </p:nvSpPr>
        <p:spPr>
          <a:xfrm>
            <a:off x="7786687" y="7586615"/>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0" name="Rectangle 499"/>
          <p:cNvSpPr/>
          <p:nvPr/>
        </p:nvSpPr>
        <p:spPr>
          <a:xfrm>
            <a:off x="7834312" y="758663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1" name="Rectangle 500"/>
          <p:cNvSpPr/>
          <p:nvPr/>
        </p:nvSpPr>
        <p:spPr>
          <a:xfrm>
            <a:off x="7881938" y="7586643"/>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2" name="Rectangle 501"/>
          <p:cNvSpPr/>
          <p:nvPr/>
        </p:nvSpPr>
        <p:spPr>
          <a:xfrm>
            <a:off x="7929562" y="7586650"/>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3" name="Rectangle 502"/>
          <p:cNvSpPr/>
          <p:nvPr/>
        </p:nvSpPr>
        <p:spPr>
          <a:xfrm>
            <a:off x="7977187" y="7586654"/>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4" name="Rectangle 503"/>
          <p:cNvSpPr/>
          <p:nvPr/>
        </p:nvSpPr>
        <p:spPr>
          <a:xfrm>
            <a:off x="8024812" y="7586657"/>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5" name="Rectangle 504"/>
          <p:cNvSpPr/>
          <p:nvPr/>
        </p:nvSpPr>
        <p:spPr>
          <a:xfrm>
            <a:off x="8072437" y="7586659"/>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6" name="Rectangle 505"/>
          <p:cNvSpPr/>
          <p:nvPr/>
        </p:nvSpPr>
        <p:spPr>
          <a:xfrm>
            <a:off x="8120062" y="7586661"/>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7" name="Rectangle 506"/>
          <p:cNvSpPr/>
          <p:nvPr/>
        </p:nvSpPr>
        <p:spPr>
          <a:xfrm>
            <a:off x="8167687" y="7586661"/>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8" name="Rectangle 507"/>
          <p:cNvSpPr/>
          <p:nvPr/>
        </p:nvSpPr>
        <p:spPr>
          <a:xfrm>
            <a:off x="82153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9" name="Rectangle 508"/>
          <p:cNvSpPr/>
          <p:nvPr/>
        </p:nvSpPr>
        <p:spPr>
          <a:xfrm>
            <a:off x="8262938"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0" name="Rectangle 509"/>
          <p:cNvSpPr/>
          <p:nvPr/>
        </p:nvSpPr>
        <p:spPr>
          <a:xfrm>
            <a:off x="83105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1" name="Rectangle 510"/>
          <p:cNvSpPr/>
          <p:nvPr/>
        </p:nvSpPr>
        <p:spPr>
          <a:xfrm>
            <a:off x="83581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2" name="Rectangle 511"/>
          <p:cNvSpPr/>
          <p:nvPr/>
        </p:nvSpPr>
        <p:spPr>
          <a:xfrm>
            <a:off x="84058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3" name="Rectangle 512"/>
          <p:cNvSpPr/>
          <p:nvPr/>
        </p:nvSpPr>
        <p:spPr>
          <a:xfrm>
            <a:off x="84534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4" name="Rectangle 513"/>
          <p:cNvSpPr/>
          <p:nvPr/>
        </p:nvSpPr>
        <p:spPr>
          <a:xfrm>
            <a:off x="85010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5" name="Rectangle 514"/>
          <p:cNvSpPr/>
          <p:nvPr/>
        </p:nvSpPr>
        <p:spPr>
          <a:xfrm>
            <a:off x="85486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6" name="Rectangle 515"/>
          <p:cNvSpPr/>
          <p:nvPr/>
        </p:nvSpPr>
        <p:spPr>
          <a:xfrm>
            <a:off x="85963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7" name="Rectangle 516"/>
          <p:cNvSpPr/>
          <p:nvPr/>
        </p:nvSpPr>
        <p:spPr>
          <a:xfrm>
            <a:off x="8643938"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8" name="Rectangle 517"/>
          <p:cNvSpPr/>
          <p:nvPr/>
        </p:nvSpPr>
        <p:spPr>
          <a:xfrm>
            <a:off x="86915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9" name="Rectangle 518"/>
          <p:cNvSpPr/>
          <p:nvPr/>
        </p:nvSpPr>
        <p:spPr>
          <a:xfrm>
            <a:off x="87391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0" name="Rectangle 519"/>
          <p:cNvSpPr/>
          <p:nvPr/>
        </p:nvSpPr>
        <p:spPr>
          <a:xfrm>
            <a:off x="87868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1" name="Rectangle 520"/>
          <p:cNvSpPr/>
          <p:nvPr/>
        </p:nvSpPr>
        <p:spPr>
          <a:xfrm>
            <a:off x="88344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2" name="Rectangle 521"/>
          <p:cNvSpPr/>
          <p:nvPr/>
        </p:nvSpPr>
        <p:spPr>
          <a:xfrm>
            <a:off x="88820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3" name="Rectangle 522"/>
          <p:cNvSpPr/>
          <p:nvPr/>
        </p:nvSpPr>
        <p:spPr>
          <a:xfrm>
            <a:off x="89296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4" name="Rectangle 523"/>
          <p:cNvSpPr/>
          <p:nvPr/>
        </p:nvSpPr>
        <p:spPr>
          <a:xfrm>
            <a:off x="89773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5" name="Rectangle 524"/>
          <p:cNvSpPr/>
          <p:nvPr/>
        </p:nvSpPr>
        <p:spPr>
          <a:xfrm>
            <a:off x="90249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6" name="Rectangle 525"/>
          <p:cNvSpPr/>
          <p:nvPr/>
        </p:nvSpPr>
        <p:spPr>
          <a:xfrm>
            <a:off x="90725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7" name="Rectangle 526"/>
          <p:cNvSpPr/>
          <p:nvPr/>
        </p:nvSpPr>
        <p:spPr>
          <a:xfrm>
            <a:off x="91201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8" name="Rectangle 527"/>
          <p:cNvSpPr/>
          <p:nvPr/>
        </p:nvSpPr>
        <p:spPr>
          <a:xfrm>
            <a:off x="91678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9" name="Rectangle 528"/>
          <p:cNvSpPr/>
          <p:nvPr/>
        </p:nvSpPr>
        <p:spPr>
          <a:xfrm>
            <a:off x="92154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0" name="Rectangle 529"/>
          <p:cNvSpPr/>
          <p:nvPr/>
        </p:nvSpPr>
        <p:spPr>
          <a:xfrm>
            <a:off x="92630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1" name="Rectangle 530"/>
          <p:cNvSpPr/>
          <p:nvPr/>
        </p:nvSpPr>
        <p:spPr>
          <a:xfrm>
            <a:off x="93106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2" name="Rectangle 531"/>
          <p:cNvSpPr/>
          <p:nvPr/>
        </p:nvSpPr>
        <p:spPr>
          <a:xfrm>
            <a:off x="93583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3" name="Rectangle 532"/>
          <p:cNvSpPr/>
          <p:nvPr/>
        </p:nvSpPr>
        <p:spPr>
          <a:xfrm>
            <a:off x="94059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4" name="Rectangle 533"/>
          <p:cNvSpPr/>
          <p:nvPr/>
        </p:nvSpPr>
        <p:spPr>
          <a:xfrm>
            <a:off x="94535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5" name="Rectangle 534"/>
          <p:cNvSpPr/>
          <p:nvPr/>
        </p:nvSpPr>
        <p:spPr>
          <a:xfrm>
            <a:off x="95011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6" name="Rectangle 535"/>
          <p:cNvSpPr/>
          <p:nvPr/>
        </p:nvSpPr>
        <p:spPr>
          <a:xfrm>
            <a:off x="95488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7" name="Rectangle 536"/>
          <p:cNvSpPr/>
          <p:nvPr/>
        </p:nvSpPr>
        <p:spPr>
          <a:xfrm>
            <a:off x="95964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8" name="Rectangle 537"/>
          <p:cNvSpPr/>
          <p:nvPr/>
        </p:nvSpPr>
        <p:spPr>
          <a:xfrm>
            <a:off x="96440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9" name="Rectangle 538"/>
          <p:cNvSpPr/>
          <p:nvPr/>
        </p:nvSpPr>
        <p:spPr>
          <a:xfrm>
            <a:off x="96916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0" name="Rectangle 539"/>
          <p:cNvSpPr/>
          <p:nvPr/>
        </p:nvSpPr>
        <p:spPr>
          <a:xfrm>
            <a:off x="97393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1" name="Rectangle 540"/>
          <p:cNvSpPr/>
          <p:nvPr/>
        </p:nvSpPr>
        <p:spPr>
          <a:xfrm>
            <a:off x="97869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2" name="Rectangle 541"/>
          <p:cNvSpPr/>
          <p:nvPr/>
        </p:nvSpPr>
        <p:spPr>
          <a:xfrm>
            <a:off x="98345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3" name="Rectangle 542"/>
          <p:cNvSpPr/>
          <p:nvPr/>
        </p:nvSpPr>
        <p:spPr>
          <a:xfrm>
            <a:off x="9882188"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4" name="Rectangle 543"/>
          <p:cNvSpPr/>
          <p:nvPr/>
        </p:nvSpPr>
        <p:spPr>
          <a:xfrm>
            <a:off x="99298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5" name="Rectangle 544"/>
          <p:cNvSpPr/>
          <p:nvPr/>
        </p:nvSpPr>
        <p:spPr>
          <a:xfrm>
            <a:off x="99774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6" name="Rectangle 545"/>
          <p:cNvSpPr/>
          <p:nvPr/>
        </p:nvSpPr>
        <p:spPr>
          <a:xfrm>
            <a:off x="100250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7" name="Rectangle 546"/>
          <p:cNvSpPr/>
          <p:nvPr/>
        </p:nvSpPr>
        <p:spPr>
          <a:xfrm>
            <a:off x="100726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8" name="Rectangle 547"/>
          <p:cNvSpPr/>
          <p:nvPr/>
        </p:nvSpPr>
        <p:spPr>
          <a:xfrm>
            <a:off x="101203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9" name="Rectangle 548"/>
          <p:cNvSpPr/>
          <p:nvPr/>
        </p:nvSpPr>
        <p:spPr>
          <a:xfrm>
            <a:off x="101679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0" name="Rectangle 549"/>
          <p:cNvSpPr/>
          <p:nvPr/>
        </p:nvSpPr>
        <p:spPr>
          <a:xfrm>
            <a:off x="102155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1" name="Rectangle 550"/>
          <p:cNvSpPr/>
          <p:nvPr/>
        </p:nvSpPr>
        <p:spPr>
          <a:xfrm>
            <a:off x="102631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2" name="Rectangle 551"/>
          <p:cNvSpPr/>
          <p:nvPr/>
        </p:nvSpPr>
        <p:spPr>
          <a:xfrm>
            <a:off x="103108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3" name="Rectangle 552"/>
          <p:cNvSpPr/>
          <p:nvPr/>
        </p:nvSpPr>
        <p:spPr>
          <a:xfrm>
            <a:off x="103584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4" name="Rectangle 553"/>
          <p:cNvSpPr/>
          <p:nvPr/>
        </p:nvSpPr>
        <p:spPr>
          <a:xfrm>
            <a:off x="1040606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5" name="Rectangle 554"/>
          <p:cNvSpPr/>
          <p:nvPr/>
        </p:nvSpPr>
        <p:spPr>
          <a:xfrm>
            <a:off x="1045368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6" name="Rectangle 555"/>
          <p:cNvSpPr/>
          <p:nvPr/>
        </p:nvSpPr>
        <p:spPr>
          <a:xfrm>
            <a:off x="10501312"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7" name="Rectangle 556"/>
          <p:cNvSpPr/>
          <p:nvPr/>
        </p:nvSpPr>
        <p:spPr>
          <a:xfrm>
            <a:off x="10548937" y="7586662"/>
            <a:ext cx="114300"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8" name="Rectangle 557"/>
          <p:cNvSpPr/>
          <p:nvPr/>
        </p:nvSpPr>
        <p:spPr>
          <a:xfrm>
            <a:off x="5299513" y="4146839"/>
            <a:ext cx="19050" cy="3482686"/>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9" name="TextBox 558"/>
          <p:cNvSpPr txBox="1"/>
          <p:nvPr/>
        </p:nvSpPr>
        <p:spPr>
          <a:xfrm>
            <a:off x="7962900" y="5952638"/>
            <a:ext cx="3143250" cy="323850"/>
          </a:xfrm>
          <a:prstGeom prst="rect">
            <a:avLst/>
          </a:prstGeom>
          <a:noFill/>
        </p:spPr>
        <p:txBody>
          <a:bodyPr wrap="square" lIns="0" rIns="0" tIns="0" bIns="0" anchor="t">
            <a:spAutoFit/>
          </a:bodyPr>
          <a:lstStyle/>
          <a:p>
            <a:pPr algn="l"/>
            <a:r>
              <a:rPr sz="1650" b="1" i="0">
                <a:solidFill>
                  <a:srgbClr val="9A7878"/>
                </a:solidFill>
                <a:latin typeface="Geist"/>
                <a:ea typeface="Geist"/>
                <a:cs typeface="Geist"/>
              </a:rPr>
              <a:t>wheels: 3.40 m, ± 0.15</a:t>
            </a:r>
          </a:p>
        </p:txBody>
      </p:sp>
      <p:sp>
        <p:nvSpPr>
          <p:cNvPr id="560" name="TextBox 559"/>
          <p:cNvSpPr txBox="1"/>
          <p:nvPr/>
        </p:nvSpPr>
        <p:spPr>
          <a:xfrm>
            <a:off x="1581150" y="4308844"/>
            <a:ext cx="2857500" cy="323850"/>
          </a:xfrm>
          <a:prstGeom prst="rect">
            <a:avLst/>
          </a:prstGeom>
          <a:noFill/>
        </p:spPr>
        <p:txBody>
          <a:bodyPr wrap="square" lIns="0" rIns="0" tIns="0" bIns="0" anchor="t">
            <a:spAutoFit/>
          </a:bodyPr>
          <a:lstStyle/>
          <a:p>
            <a:pPr algn="r"/>
            <a:r>
              <a:rPr sz="1650" b="1" i="0">
                <a:solidFill>
                  <a:srgbClr val="F0E8E8"/>
                </a:solidFill>
                <a:latin typeface="Geist"/>
                <a:ea typeface="Geist"/>
                <a:cs typeface="Geist"/>
              </a:rPr>
              <a:t>camera: 3.10 m, ± 0.06</a:t>
            </a:r>
          </a:p>
        </p:txBody>
      </p:sp>
      <p:sp>
        <p:nvSpPr>
          <p:cNvPr id="561" name="TextBox 560"/>
          <p:cNvSpPr txBox="1"/>
          <p:nvPr/>
        </p:nvSpPr>
        <p:spPr>
          <a:xfrm>
            <a:off x="5499538" y="3870614"/>
            <a:ext cx="285750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blend: 3.14 m</a:t>
            </a:r>
          </a:p>
        </p:txBody>
      </p:sp>
      <p:sp>
        <p:nvSpPr>
          <p:cNvPr id="562" name="TextBox 561"/>
          <p:cNvSpPr txBox="1"/>
          <p:nvPr/>
        </p:nvSpPr>
        <p:spPr>
          <a:xfrm>
            <a:off x="11906250" y="2952750"/>
            <a:ext cx="5467350" cy="643890"/>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Each guess has a </a:t>
            </a:r>
            <a:r>
              <a:rPr sz="1950" b="1" i="0">
                <a:solidFill>
                  <a:srgbClr val="F0E8E8"/>
                </a:solidFill>
                <a:latin typeface="Geist"/>
                <a:ea typeface="Geist"/>
                <a:cs typeface="Geist"/>
              </a:rPr>
              <a:t>standard deviation</a:t>
            </a:r>
            <a:r>
              <a:rPr sz="1950" b="0" i="0">
                <a:solidFill>
                  <a:srgbClr val="F0E8E8"/>
                </a:solidFill>
                <a:latin typeface="Geist"/>
                <a:ea typeface="Geist"/>
                <a:cs typeface="Geist"/>
              </a:rPr>
              <a:t>: how far off it could be</a:t>
            </a:r>
          </a:p>
        </p:txBody>
      </p:sp>
      <p:sp>
        <p:nvSpPr>
          <p:cNvPr id="563" name="TextBox 562"/>
          <p:cNvSpPr txBox="1"/>
          <p:nvPr/>
        </p:nvSpPr>
        <p:spPr>
          <a:xfrm>
            <a:off x="11906250" y="3882390"/>
            <a:ext cx="546735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Small</a:t>
            </a:r>
            <a:r>
              <a:rPr sz="1950" b="0" i="0">
                <a:solidFill>
                  <a:srgbClr val="F0E8E8"/>
                </a:solidFill>
                <a:latin typeface="Geist"/>
                <a:ea typeface="Geist"/>
                <a:cs typeface="Geist"/>
              </a:rPr>
              <a:t>: trust me.  </a:t>
            </a:r>
            <a:r>
              <a:rPr sz="1950" b="1" i="0">
                <a:solidFill>
                  <a:srgbClr val="F0E8E8"/>
                </a:solidFill>
                <a:latin typeface="Geist"/>
                <a:ea typeface="Geist"/>
                <a:cs typeface="Geist"/>
              </a:rPr>
              <a:t>Big</a:t>
            </a:r>
            <a:r>
              <a:rPr sz="1950" b="0" i="0">
                <a:solidFill>
                  <a:srgbClr val="F0E8E8"/>
                </a:solidFill>
                <a:latin typeface="Geist"/>
                <a:ea typeface="Geist"/>
                <a:cs typeface="Geist"/>
              </a:rPr>
              <a:t>: barely listen.</a:t>
            </a:r>
          </a:p>
        </p:txBody>
      </p:sp>
      <p:sp>
        <p:nvSpPr>
          <p:cNvPr id="564" name="TextBox 563"/>
          <p:cNvSpPr txBox="1"/>
          <p:nvPr/>
        </p:nvSpPr>
        <p:spPr>
          <a:xfrm>
            <a:off x="11906250" y="4490085"/>
            <a:ext cx="5467350" cy="643890"/>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The estimator </a:t>
            </a:r>
            <a:r>
              <a:rPr sz="1950" b="1" i="0">
                <a:solidFill>
                  <a:srgbClr val="F0E8E8"/>
                </a:solidFill>
                <a:latin typeface="Geist"/>
                <a:ea typeface="Geist"/>
                <a:cs typeface="Geist"/>
              </a:rPr>
              <a:t>leans toward</a:t>
            </a:r>
            <a:r>
              <a:rPr sz="1950" b="0" i="0">
                <a:solidFill>
                  <a:srgbClr val="F0E8E8"/>
                </a:solidFill>
                <a:latin typeface="Geist"/>
                <a:ea typeface="Geist"/>
                <a:cs typeface="Geist"/>
              </a:rPr>
              <a:t> the one it trusts more</a:t>
            </a:r>
          </a:p>
        </p:txBody>
      </p:sp>
      <p:sp>
        <p:nvSpPr>
          <p:cNvPr id="565" name="TextBox 564"/>
          <p:cNvSpPr txBox="1"/>
          <p:nvPr/>
        </p:nvSpPr>
        <p:spPr>
          <a:xfrm>
            <a:off x="11906250" y="7239000"/>
            <a:ext cx="5467350" cy="952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Three numbers each time: </a:t>
            </a:r>
            <a:r>
              <a:rPr sz="1650" b="0" i="0">
                <a:solidFill>
                  <a:srgbClr val="9A7878"/>
                </a:solidFill>
                <a:latin typeface="Geist Mono"/>
                <a:ea typeface="Geist Mono"/>
                <a:cs typeface="Geist Mono"/>
              </a:rPr>
              <a:t>x</a:t>
            </a:r>
            <a:r>
              <a:rPr sz="1650" b="0" i="0">
                <a:solidFill>
                  <a:srgbClr val="9A7878"/>
                </a:solidFill>
                <a:latin typeface="Geist"/>
                <a:ea typeface="Geist"/>
                <a:cs typeface="Geist"/>
              </a:rPr>
              <a:t> (m), </a:t>
            </a:r>
            <a:r>
              <a:rPr sz="1650" b="0" i="0">
                <a:solidFill>
                  <a:srgbClr val="9A7878"/>
                </a:solidFill>
                <a:latin typeface="Geist Mono"/>
                <a:ea typeface="Geist Mono"/>
                <a:cs typeface="Geist Mono"/>
              </a:rPr>
              <a:t>y</a:t>
            </a:r>
            <a:r>
              <a:rPr sz="1650" b="0" i="0">
                <a:solidFill>
                  <a:srgbClr val="9A7878"/>
                </a:solidFill>
                <a:latin typeface="Geist"/>
                <a:ea typeface="Geist"/>
                <a:cs typeface="Geist"/>
              </a:rPr>
              <a:t> (m), </a:t>
            </a:r>
            <a:r>
              <a:rPr sz="1650" b="0" i="0">
                <a:solidFill>
                  <a:srgbClr val="9A7878"/>
                </a:solidFill>
                <a:latin typeface="Geist Mono"/>
                <a:ea typeface="Geist Mono"/>
                <a:cs typeface="Geist Mono"/>
              </a:rPr>
              <a:t>heading</a:t>
            </a:r>
            <a:r>
              <a:rPr sz="1650" b="0" i="0">
                <a:solidFill>
                  <a:srgbClr val="9A7878"/>
                </a:solidFill>
                <a:latin typeface="Geist"/>
                <a:ea typeface="Geist"/>
                <a:cs typeface="Geist"/>
              </a:rPr>
              <a:t> (rad)</a:t>
            </a:r>
          </a:p>
        </p:txBody>
      </p:sp>
      <p:sp>
        <p:nvSpPr>
          <p:cNvPr id="566" name="TextBox 56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7" name="TextBox 56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TRUSTING THE CAMERA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Your code: hand each answer to the estimator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LocalizationSubsystem.java</a:t>
            </a:r>
          </a:p>
        </p:txBody>
      </p:sp>
      <p:sp>
        <p:nvSpPr>
          <p:cNvPr id="6" name="Rounded Rectangle 5"/>
          <p:cNvSpPr/>
          <p:nvPr/>
        </p:nvSpPr>
        <p:spPr>
          <a:xfrm>
            <a:off x="914400" y="3143250"/>
            <a:ext cx="10477500" cy="3800475"/>
          </a:xfrm>
          <a:prstGeom prst="roundRect">
            <a:avLst>
              <a:gd name="adj" fmla="val 401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131945"/>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131945"/>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435792"/>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435792"/>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739640"/>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739640"/>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043488"/>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043488"/>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5347335"/>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5347335"/>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5651182"/>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5651182"/>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5955030"/>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5955030"/>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95400" y="3524250"/>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for (TagSolutionData solution : solutions) {</a:t>
            </a:r>
          </a:p>
        </p:txBody>
      </p:sp>
      <p:sp>
        <p:nvSpPr>
          <p:cNvPr id="22" name="TextBox 21"/>
          <p:cNvSpPr txBox="1"/>
          <p:nvPr/>
        </p:nvSpPr>
        <p:spPr>
          <a:xfrm>
            <a:off x="1295400" y="3828098"/>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1">
                <a:solidFill>
                  <a:srgbClr val="9A7878"/>
                </a:solidFill>
                <a:latin typeface="Geist Mono"/>
                <a:ea typeface="Geist Mono"/>
                <a:cs typeface="Geist Mono"/>
              </a:rPr>
              <a:t>// ... old and bad answers are skipped (provided) ...</a:t>
            </a:r>
          </a:p>
        </p:txBody>
      </p:sp>
      <p:sp>
        <p:nvSpPr>
          <p:cNvPr id="23" name="TextBox 22"/>
          <p:cNvSpPr txBox="1"/>
          <p:nvPr/>
        </p:nvSpPr>
        <p:spPr>
          <a:xfrm>
            <a:off x="1295400" y="4131945"/>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pose_estimator_.addVisionMeasurement(</a:t>
            </a:r>
          </a:p>
        </p:txBody>
      </p:sp>
      <p:sp>
        <p:nvSpPr>
          <p:cNvPr id="24" name="TextBox 23"/>
          <p:cNvSpPr txBox="1"/>
          <p:nvPr/>
        </p:nvSpPr>
        <p:spPr>
          <a:xfrm>
            <a:off x="1295400" y="4435792"/>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solution.pose,</a:t>
            </a:r>
          </a:p>
        </p:txBody>
      </p:sp>
      <p:sp>
        <p:nvSpPr>
          <p:cNvPr id="25" name="TextBox 24"/>
          <p:cNvSpPr txBox="1"/>
          <p:nvPr/>
        </p:nvSpPr>
        <p:spPr>
          <a:xfrm>
            <a:off x="1295400" y="4739640"/>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solution.timestamp.getSeconds(),</a:t>
            </a:r>
          </a:p>
        </p:txBody>
      </p:sp>
      <p:sp>
        <p:nvSpPr>
          <p:cNvPr id="26" name="TextBox 25"/>
          <p:cNvSpPr txBox="1"/>
          <p:nvPr/>
        </p:nvSpPr>
        <p:spPr>
          <a:xfrm>
            <a:off x="1295400" y="5043488"/>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VecBuilder.fill(</a:t>
            </a:r>
          </a:p>
        </p:txBody>
      </p:sp>
      <p:sp>
        <p:nvSpPr>
          <p:cNvPr id="27" name="TextBox 26"/>
          <p:cNvSpPr txBox="1"/>
          <p:nvPr/>
        </p:nvSpPr>
        <p:spPr>
          <a:xfrm>
            <a:off x="1295400" y="5347335"/>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LocalizationConstants.VISION_XY_STD_METERS,</a:t>
            </a:r>
          </a:p>
        </p:txBody>
      </p:sp>
      <p:sp>
        <p:nvSpPr>
          <p:cNvPr id="28" name="TextBox 27"/>
          <p:cNvSpPr txBox="1"/>
          <p:nvPr/>
        </p:nvSpPr>
        <p:spPr>
          <a:xfrm>
            <a:off x="1295400" y="5651182"/>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LocalizationConstants.VISION_XY_STD_METERS,</a:t>
            </a:r>
          </a:p>
        </p:txBody>
      </p:sp>
      <p:sp>
        <p:nvSpPr>
          <p:cNvPr id="29" name="TextBox 28"/>
          <p:cNvSpPr txBox="1"/>
          <p:nvPr/>
        </p:nvSpPr>
        <p:spPr>
          <a:xfrm>
            <a:off x="1295400" y="5955030"/>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LocalizationConstants.VISION_HEADING_STD_RADIANS));</a:t>
            </a:r>
          </a:p>
        </p:txBody>
      </p:sp>
      <p:sp>
        <p:nvSpPr>
          <p:cNvPr id="30" name="TextBox 29"/>
          <p:cNvSpPr txBox="1"/>
          <p:nvPr/>
        </p:nvSpPr>
        <p:spPr>
          <a:xfrm>
            <a:off x="1295400" y="6258877"/>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31" name="Oval 30"/>
          <p:cNvSpPr/>
          <p:nvPr/>
        </p:nvSpPr>
        <p:spPr>
          <a:xfrm>
            <a:off x="10782300" y="439721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82300" y="439721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3" name="Oval 32"/>
          <p:cNvSpPr/>
          <p:nvPr/>
        </p:nvSpPr>
        <p:spPr>
          <a:xfrm>
            <a:off x="10782300" y="470106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782300" y="47010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Oval 34"/>
          <p:cNvSpPr/>
          <p:nvPr/>
        </p:nvSpPr>
        <p:spPr>
          <a:xfrm>
            <a:off x="10782300" y="500491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82300" y="500491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914400" y="72580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LocalizationConstants.java</a:t>
            </a:r>
          </a:p>
        </p:txBody>
      </p:sp>
      <p:sp>
        <p:nvSpPr>
          <p:cNvPr id="38" name="Rounded Rectangle 37"/>
          <p:cNvSpPr/>
          <p:nvPr/>
        </p:nvSpPr>
        <p:spPr>
          <a:xfrm>
            <a:off x="914400" y="7677150"/>
            <a:ext cx="10477500" cy="1369695"/>
          </a:xfrm>
          <a:prstGeom prst="roundRect">
            <a:avLst>
              <a:gd name="adj" fmla="val 1112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295400" y="8058150"/>
            <a:ext cx="9944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VISION_XY_STD_METERS = </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a:t>
            </a:r>
          </a:p>
        </p:txBody>
      </p:sp>
      <p:sp>
        <p:nvSpPr>
          <p:cNvPr id="40" name="TextBox 39"/>
          <p:cNvSpPr txBox="1"/>
          <p:nvPr/>
        </p:nvSpPr>
        <p:spPr>
          <a:xfrm>
            <a:off x="1295400" y="8361998"/>
            <a:ext cx="9944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VISION_HEADING_STD_RADIANS = </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a:t>
            </a:r>
          </a:p>
        </p:txBody>
      </p:sp>
      <p:sp>
        <p:nvSpPr>
          <p:cNvPr id="41" name="Oval 40"/>
          <p:cNvSpPr/>
          <p:nvPr/>
        </p:nvSpPr>
        <p:spPr>
          <a:xfrm>
            <a:off x="10782300" y="801957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82300" y="801957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Oval 42"/>
          <p:cNvSpPr/>
          <p:nvPr/>
        </p:nvSpPr>
        <p:spPr>
          <a:xfrm>
            <a:off x="1200150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001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5" name="TextBox 44"/>
          <p:cNvSpPr txBox="1"/>
          <p:nvPr/>
        </p:nvSpPr>
        <p:spPr>
          <a:xfrm>
            <a:off x="12611100" y="3105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pose</a:t>
            </a:r>
          </a:p>
        </p:txBody>
      </p:sp>
      <p:sp>
        <p:nvSpPr>
          <p:cNvPr id="46" name="TextBox 45"/>
          <p:cNvSpPr txBox="1"/>
          <p:nvPr/>
        </p:nvSpPr>
        <p:spPr>
          <a:xfrm>
            <a:off x="12611100" y="3524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camera says the robot is</a:t>
            </a:r>
          </a:p>
        </p:txBody>
      </p:sp>
      <p:sp>
        <p:nvSpPr>
          <p:cNvPr id="47" name="Oval 46"/>
          <p:cNvSpPr/>
          <p:nvPr/>
        </p:nvSpPr>
        <p:spPr>
          <a:xfrm>
            <a:off x="12001500" y="457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00150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9" name="TextBox 48"/>
          <p:cNvSpPr txBox="1"/>
          <p:nvPr/>
        </p:nvSpPr>
        <p:spPr>
          <a:xfrm>
            <a:off x="12611100" y="4533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picture's time</a:t>
            </a:r>
          </a:p>
        </p:txBody>
      </p:sp>
      <p:sp>
        <p:nvSpPr>
          <p:cNvPr id="50" name="TextBox 49"/>
          <p:cNvSpPr txBox="1"/>
          <p:nvPr/>
        </p:nvSpPr>
        <p:spPr>
          <a:xfrm>
            <a:off x="12611100" y="49530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When it was taken, not now</a:t>
            </a:r>
          </a:p>
        </p:txBody>
      </p:sp>
      <p:sp>
        <p:nvSpPr>
          <p:cNvPr id="51" name="Oval 50"/>
          <p:cNvSpPr/>
          <p:nvPr/>
        </p:nvSpPr>
        <p:spPr>
          <a:xfrm>
            <a:off x="12001500" y="6000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00150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3" name="TextBox 52"/>
          <p:cNvSpPr txBox="1"/>
          <p:nvPr/>
        </p:nvSpPr>
        <p:spPr>
          <a:xfrm>
            <a:off x="12611100" y="59626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How far off</a:t>
            </a:r>
          </a:p>
        </p:txBody>
      </p:sp>
      <p:sp>
        <p:nvSpPr>
          <p:cNvPr id="54" name="TextBox 53"/>
          <p:cNvSpPr txBox="1"/>
          <p:nvPr/>
        </p:nvSpPr>
        <p:spPr>
          <a:xfrm>
            <a:off x="12611100" y="63817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x and y in meters, heading in radians</a:t>
            </a:r>
          </a:p>
        </p:txBody>
      </p:sp>
      <p:sp>
        <p:nvSpPr>
          <p:cNvPr id="55" name="Oval 54"/>
          <p:cNvSpPr/>
          <p:nvPr/>
        </p:nvSpPr>
        <p:spPr>
          <a:xfrm>
            <a:off x="12001500" y="7429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00150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7" name="TextBox 56"/>
          <p:cNvSpPr txBox="1"/>
          <p:nvPr/>
        </p:nvSpPr>
        <p:spPr>
          <a:xfrm>
            <a:off x="12611100" y="73914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Your trust numbers</a:t>
            </a:r>
          </a:p>
        </p:txBody>
      </p:sp>
      <p:sp>
        <p:nvSpPr>
          <p:cNvPr id="58" name="TextBox 57"/>
          <p:cNvSpPr txBox="1"/>
          <p:nvPr/>
        </p:nvSpPr>
        <p:spPr>
          <a:xfrm>
            <a:off x="12611100" y="78105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Starter 5.0 ignores the camera. Try 0.3</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TRUSTING THE CAMERA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Use the picture's time, not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504950" y="6838950"/>
            <a:ext cx="11658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6287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ms</a:t>
            </a:r>
          </a:p>
        </p:txBody>
      </p:sp>
      <p:sp>
        <p:nvSpPr>
          <p:cNvPr id="8" name="Oval 7"/>
          <p:cNvSpPr/>
          <p:nvPr/>
        </p:nvSpPr>
        <p:spPr>
          <a:xfrm>
            <a:off x="160020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05752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7175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20 ms</a:t>
            </a:r>
          </a:p>
        </p:txBody>
      </p:sp>
      <p:sp>
        <p:nvSpPr>
          <p:cNvPr id="11" name="Oval 10"/>
          <p:cNvSpPr/>
          <p:nvPr/>
        </p:nvSpPr>
        <p:spPr>
          <a:xfrm>
            <a:off x="302895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862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005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40 ms</a:t>
            </a:r>
          </a:p>
        </p:txBody>
      </p:sp>
      <p:sp>
        <p:nvSpPr>
          <p:cNvPr id="14" name="Oval 13"/>
          <p:cNvSpPr/>
          <p:nvPr/>
        </p:nvSpPr>
        <p:spPr>
          <a:xfrm>
            <a:off x="4457700" y="550545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1502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2925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60 ms</a:t>
            </a:r>
          </a:p>
        </p:txBody>
      </p:sp>
      <p:sp>
        <p:nvSpPr>
          <p:cNvPr id="17" name="Oval 16"/>
          <p:cNvSpPr/>
          <p:nvPr/>
        </p:nvSpPr>
        <p:spPr>
          <a:xfrm>
            <a:off x="588645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437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80 ms</a:t>
            </a:r>
          </a:p>
        </p:txBody>
      </p:sp>
      <p:sp>
        <p:nvSpPr>
          <p:cNvPr id="20" name="Oval 19"/>
          <p:cNvSpPr/>
          <p:nvPr/>
        </p:nvSpPr>
        <p:spPr>
          <a:xfrm>
            <a:off x="731520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7252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675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100 ms</a:t>
            </a:r>
          </a:p>
        </p:txBody>
      </p:sp>
      <p:sp>
        <p:nvSpPr>
          <p:cNvPr id="23" name="Oval 22"/>
          <p:cNvSpPr/>
          <p:nvPr/>
        </p:nvSpPr>
        <p:spPr>
          <a:xfrm>
            <a:off x="874395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012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155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120 ms</a:t>
            </a:r>
          </a:p>
        </p:txBody>
      </p:sp>
      <p:sp>
        <p:nvSpPr>
          <p:cNvPr id="26" name="Oval 25"/>
          <p:cNvSpPr/>
          <p:nvPr/>
        </p:nvSpPr>
        <p:spPr>
          <a:xfrm>
            <a:off x="10172700" y="5505450"/>
            <a:ext cx="228600" cy="2286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63002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4425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140 ms</a:t>
            </a:r>
          </a:p>
        </p:txBody>
      </p:sp>
      <p:sp>
        <p:nvSpPr>
          <p:cNvPr id="29" name="Oval 28"/>
          <p:cNvSpPr/>
          <p:nvPr/>
        </p:nvSpPr>
        <p:spPr>
          <a:xfrm>
            <a:off x="11601450" y="5505450"/>
            <a:ext cx="228600" cy="2286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0587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5730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160 ms</a:t>
            </a:r>
          </a:p>
        </p:txBody>
      </p:sp>
      <p:sp>
        <p:nvSpPr>
          <p:cNvPr id="32" name="Oval 31"/>
          <p:cNvSpPr/>
          <p:nvPr/>
        </p:nvSpPr>
        <p:spPr>
          <a:xfrm>
            <a:off x="13030200" y="5505450"/>
            <a:ext cx="228600" cy="2286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0" y="50482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where the robot is, each loop</a:t>
            </a:r>
          </a:p>
        </p:txBody>
      </p:sp>
      <p:sp>
        <p:nvSpPr>
          <p:cNvPr id="34" name="Rectangle 33"/>
          <p:cNvSpPr/>
          <p:nvPr/>
        </p:nvSpPr>
        <p:spPr>
          <a:xfrm>
            <a:off x="4543425" y="6438900"/>
            <a:ext cx="57150" cy="419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429000" y="7429500"/>
            <a:ext cx="2286000" cy="323850"/>
          </a:xfrm>
          <a:prstGeom prst="rect">
            <a:avLst/>
          </a:prstGeom>
          <a:noFill/>
        </p:spPr>
        <p:txBody>
          <a:bodyPr wrap="square" lIns="0" rIns="0" tIns="0" bIns="0" anchor="t">
            <a:spAutoFit/>
          </a:bodyPr>
          <a:lstStyle/>
          <a:p>
            <a:pPr algn="ctr"/>
            <a:r>
              <a:rPr sz="1650" b="1" i="0">
                <a:solidFill>
                  <a:srgbClr val="CC2200"/>
                </a:solidFill>
                <a:latin typeface="Geist"/>
                <a:ea typeface="Geist"/>
                <a:cs typeface="Geist"/>
              </a:rPr>
              <a:t>picture taken</a:t>
            </a:r>
          </a:p>
        </p:txBody>
      </p:sp>
      <p:sp>
        <p:nvSpPr>
          <p:cNvPr id="36" name="Rectangle 35"/>
          <p:cNvSpPr/>
          <p:nvPr/>
        </p:nvSpPr>
        <p:spPr>
          <a:xfrm>
            <a:off x="8829675" y="6438900"/>
            <a:ext cx="57150" cy="4191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15250" y="7429500"/>
            <a:ext cx="2286000" cy="3238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answer arrives</a:t>
            </a:r>
          </a:p>
        </p:txBody>
      </p:sp>
      <p:cxnSp>
        <p:nvCxnSpPr>
          <p:cNvPr id="38" name="Connector 37"/>
          <p:cNvCxnSpPr/>
          <p:nvPr/>
        </p:nvCxnSpPr>
        <p:spPr>
          <a:xfrm flipH="1" flipV="1">
            <a:off x="8715375" y="5279905"/>
            <a:ext cx="142875" cy="1493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8572500" y="5132196"/>
            <a:ext cx="142875" cy="1477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8429625" y="4987742"/>
            <a:ext cx="142875" cy="1444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8286750" y="4848125"/>
            <a:ext cx="142875" cy="1396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8143875" y="4714875"/>
            <a:ext cx="142875" cy="1332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8001000" y="4589452"/>
            <a:ext cx="142875" cy="1254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7858125" y="4473230"/>
            <a:ext cx="142875" cy="1162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7715250" y="4367482"/>
            <a:ext cx="142875" cy="1057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7572375" y="4273367"/>
            <a:ext cx="142875" cy="941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7429500" y="4191916"/>
            <a:ext cx="142875" cy="814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7286625" y="4124022"/>
            <a:ext cx="142875" cy="678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7143750" y="4070428"/>
            <a:ext cx="142875" cy="535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7000875" y="4031722"/>
            <a:ext cx="142875" cy="387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6858000" y="4008327"/>
            <a:ext cx="142875" cy="233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6715125" y="4000500"/>
            <a:ext cx="142875" cy="78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572250" y="4000500"/>
            <a:ext cx="142875" cy="78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29375" y="4008327"/>
            <a:ext cx="142875" cy="233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6286500" y="4031722"/>
            <a:ext cx="142875" cy="387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6143625" y="4070428"/>
            <a:ext cx="142875" cy="535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6000750" y="4124022"/>
            <a:ext cx="142875" cy="678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857875" y="4191916"/>
            <a:ext cx="142875" cy="814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715000" y="4273367"/>
            <a:ext cx="142875" cy="941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572125" y="4367482"/>
            <a:ext cx="142875" cy="1057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429250" y="4473230"/>
            <a:ext cx="142875" cy="1162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286375" y="4589452"/>
            <a:ext cx="142875" cy="1254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143500" y="4714875"/>
            <a:ext cx="142875" cy="1332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000625" y="4848125"/>
            <a:ext cx="142875" cy="1396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4857750" y="4987742"/>
            <a:ext cx="142875" cy="1444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4714875" y="5132196"/>
            <a:ext cx="142875" cy="1477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4572000" y="5279905"/>
            <a:ext cx="142875" cy="1493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4572000" y="5132196"/>
            <a:ext cx="285750" cy="335154"/>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333875" y="3524250"/>
            <a:ext cx="4762500" cy="323850"/>
          </a:xfrm>
          <a:prstGeom prst="rect">
            <a:avLst/>
          </a:prstGeom>
          <a:noFill/>
        </p:spPr>
        <p:txBody>
          <a:bodyPr wrap="square" lIns="0" rIns="0" tIns="0" bIns="0" anchor="t">
            <a:spAutoFit/>
          </a:bodyPr>
          <a:lstStyle/>
          <a:p>
            <a:pPr algn="ctr"/>
            <a:r>
              <a:rPr sz="1650" b="1" i="0">
                <a:solidFill>
                  <a:srgbClr val="CC2200"/>
                </a:solidFill>
                <a:latin typeface="Geist"/>
                <a:ea typeface="Geist"/>
                <a:cs typeface="Geist"/>
              </a:rPr>
              <a:t>the estimator slots it in back here</a:t>
            </a:r>
          </a:p>
        </p:txBody>
      </p:sp>
      <p:sp>
        <p:nvSpPr>
          <p:cNvPr id="70" name="Rounded Rectangle 69"/>
          <p:cNvSpPr/>
          <p:nvPr/>
        </p:nvSpPr>
        <p:spPr>
          <a:xfrm>
            <a:off x="1714500" y="8001000"/>
            <a:ext cx="7239000" cy="1082040"/>
          </a:xfrm>
          <a:prstGeom prst="roundRect">
            <a:avLst>
              <a:gd name="adj" fmla="val 1408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2095500" y="8382000"/>
            <a:ext cx="6705600" cy="32004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solution.timestamp.getSeconds()</a:t>
            </a:r>
          </a:p>
        </p:txBody>
      </p:sp>
      <p:pic>
        <p:nvPicPr>
          <p:cNvPr id="72" name="Picture 71" descr="check-circle-fill.png"/>
          <p:cNvPicPr>
            <a:picLocks noChangeAspect="1"/>
          </p:cNvPicPr>
          <p:nvPr/>
        </p:nvPicPr>
        <p:blipFill>
          <a:blip r:embed="rId3"/>
          <a:stretch>
            <a:fillRect/>
          </a:stretch>
        </p:blipFill>
        <p:spPr>
          <a:xfrm>
            <a:off x="9144000" y="8267700"/>
            <a:ext cx="381000" cy="381000"/>
          </a:xfrm>
          <a:prstGeom prst="rect">
            <a:avLst/>
          </a:prstGeom>
        </p:spPr>
      </p:pic>
      <p:sp>
        <p:nvSpPr>
          <p:cNvPr id="73" name="Rounded Rectangle 72"/>
          <p:cNvSpPr/>
          <p:nvPr/>
        </p:nvSpPr>
        <p:spPr>
          <a:xfrm>
            <a:off x="13716000" y="2857500"/>
            <a:ext cx="3657600" cy="5715000"/>
          </a:xfrm>
          <a:prstGeom prst="roundRect">
            <a:avLst>
              <a:gd name="adj" fmla="val 41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4097000" y="3200400"/>
            <a:ext cx="2857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GOTCHA</a:t>
            </a:r>
          </a:p>
        </p:txBody>
      </p:sp>
      <p:sp>
        <p:nvSpPr>
          <p:cNvPr id="75" name="TextBox 74"/>
          <p:cNvSpPr txBox="1"/>
          <p:nvPr/>
        </p:nvSpPr>
        <p:spPr>
          <a:xfrm>
            <a:off x="14097000" y="3657600"/>
            <a:ext cx="3048000" cy="1333500"/>
          </a:xfrm>
          <a:prstGeom prst="rect">
            <a:avLst/>
          </a:prstGeom>
          <a:noFill/>
        </p:spPr>
        <p:txBody>
          <a:bodyPr wrap="square" lIns="0" rIns="0" tIns="0" bIns="0" anchor="t">
            <a:spAutoFit/>
          </a:bodyPr>
          <a:lstStyle/>
          <a:p>
            <a:pPr algn="l">
              <a:lnSpc>
                <a:spcPct val="125000"/>
              </a:lnSpc>
            </a:pPr>
            <a:r>
              <a:rPr sz="2250" b="0" i="0">
                <a:solidFill>
                  <a:srgbClr val="F0E8E8"/>
                </a:solidFill>
                <a:latin typeface="Geist"/>
                <a:ea typeface="Geist"/>
                <a:cs typeface="Geist"/>
              </a:rPr>
              <a:t>Pass the time </a:t>
            </a:r>
            <a:r>
              <a:rPr sz="2250" b="1" i="0">
                <a:solidFill>
                  <a:srgbClr val="F0E8E8"/>
                </a:solidFill>
                <a:latin typeface="Geist"/>
                <a:ea typeface="Geist"/>
                <a:cs typeface="Geist"/>
              </a:rPr>
              <a:t>now</a:t>
            </a:r>
            <a:r>
              <a:rPr sz="2250" b="0" i="0">
                <a:solidFill>
                  <a:srgbClr val="F0E8E8"/>
                </a:solidFill>
                <a:latin typeface="Geist"/>
                <a:ea typeface="Geist"/>
                <a:cs typeface="Geist"/>
              </a:rPr>
              <a:t> instead?</a:t>
            </a:r>
          </a:p>
        </p:txBody>
      </p:sp>
      <p:sp>
        <p:nvSpPr>
          <p:cNvPr id="76" name="TextBox 75"/>
          <p:cNvSpPr txBox="1"/>
          <p:nvPr/>
        </p:nvSpPr>
        <p:spPr>
          <a:xfrm>
            <a:off x="14097000" y="4572000"/>
            <a:ext cx="2952750" cy="762000"/>
          </a:xfrm>
          <a:prstGeom prst="rect">
            <a:avLst/>
          </a:prstGeom>
          <a:noFill/>
        </p:spPr>
        <p:txBody>
          <a:bodyPr wrap="square" lIns="0" rIns="0" tIns="0" bIns="0" anchor="t">
            <a:spAutoFit/>
          </a:bodyPr>
          <a:lstStyle/>
          <a:p>
            <a:pPr algn="l"/>
            <a:r>
              <a:rPr sz="1350" b="0" i="0">
                <a:solidFill>
                  <a:srgbClr val="E8C27A"/>
                </a:solidFill>
                <a:latin typeface="Geist Mono"/>
                <a:ea typeface="Geist Mono"/>
                <a:cs typeface="Geist Mono"/>
              </a:rPr>
              <a:t>Timer.getFPGATimestamp()</a:t>
            </a:r>
          </a:p>
        </p:txBody>
      </p:sp>
      <p:sp>
        <p:nvSpPr>
          <p:cNvPr id="77" name="TextBox 76"/>
          <p:cNvSpPr txBox="1"/>
          <p:nvPr/>
        </p:nvSpPr>
        <p:spPr>
          <a:xfrm>
            <a:off x="14097000" y="5048250"/>
            <a:ext cx="295275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estimate lags 0.08 to 0.12 m behind while the robot drives.</a:t>
            </a:r>
          </a:p>
        </p:txBody>
      </p:sp>
      <p:pic>
        <p:nvPicPr>
          <p:cNvPr id="78" name="Picture 77" descr="dozer_wide_left.png"/>
          <p:cNvPicPr>
            <a:picLocks noChangeAspect="1"/>
          </p:cNvPicPr>
          <p:nvPr/>
        </p:nvPicPr>
        <p:blipFill>
          <a:blip r:embed="rId4"/>
          <a:stretch>
            <a:fillRect/>
          </a:stretch>
        </p:blipFill>
        <p:spPr>
          <a:xfrm>
            <a:off x="14668500" y="6667500"/>
            <a:ext cx="2190750" cy="1346530"/>
          </a:xfrm>
          <a:prstGeom prst="rect">
            <a:avLst/>
          </a:prstGeom>
        </p:spPr>
      </p:pic>
      <p:sp>
        <p:nvSpPr>
          <p:cNvPr id="79" name="TextBox 7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0" name="TextBox 7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TRUSTING THE CAMERA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Too big, just right, too small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334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57300" y="3086100"/>
            <a:ext cx="45974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 big</a:t>
            </a:r>
          </a:p>
        </p:txBody>
      </p:sp>
      <p:sp>
        <p:nvSpPr>
          <p:cNvPr id="7" name="TextBox 6"/>
          <p:cNvSpPr txBox="1"/>
          <p:nvPr/>
        </p:nvSpPr>
        <p:spPr>
          <a:xfrm>
            <a:off x="1257300" y="3562350"/>
            <a:ext cx="4597400" cy="323850"/>
          </a:xfrm>
          <a:prstGeom prst="rect">
            <a:avLst/>
          </a:prstGeom>
          <a:noFill/>
        </p:spPr>
        <p:txBody>
          <a:bodyPr wrap="square" lIns="0" rIns="0" tIns="0" bIns="0" anchor="t">
            <a:spAutoFit/>
          </a:bodyPr>
          <a:lstStyle/>
          <a:p>
            <a:pPr algn="l"/>
            <a:r>
              <a:rPr sz="1425" b="0" i="0">
                <a:solidFill>
                  <a:srgbClr val="E8C27A"/>
                </a:solidFill>
                <a:latin typeface="Geist Mono"/>
                <a:ea typeface="Geist Mono"/>
                <a:cs typeface="Geist Mono"/>
              </a:rPr>
              <a:t>VISION_XY_STD_METERS = 5.0</a:t>
            </a:r>
          </a:p>
        </p:txBody>
      </p:sp>
      <p:sp>
        <p:nvSpPr>
          <p:cNvPr id="8" name="Rectangle 7"/>
          <p:cNvSpPr/>
          <p:nvPr/>
        </p:nvSpPr>
        <p:spPr>
          <a:xfrm>
            <a:off x="1952625" y="6562725"/>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642937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10" name="Rectangle 9"/>
          <p:cNvSpPr/>
          <p:nvPr/>
        </p:nvSpPr>
        <p:spPr>
          <a:xfrm>
            <a:off x="1952625" y="5964011"/>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583066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0.1</a:t>
            </a:r>
          </a:p>
        </p:txBody>
      </p:sp>
      <p:sp>
        <p:nvSpPr>
          <p:cNvPr id="12" name="Rectangle 11"/>
          <p:cNvSpPr/>
          <p:nvPr/>
        </p:nvSpPr>
        <p:spPr>
          <a:xfrm>
            <a:off x="1952625" y="5365296"/>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523194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14" name="Rectangle 13"/>
          <p:cNvSpPr/>
          <p:nvPr/>
        </p:nvSpPr>
        <p:spPr>
          <a:xfrm>
            <a:off x="1952625" y="4766582"/>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4633232"/>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6" name="TextBox 15"/>
          <p:cNvSpPr txBox="1"/>
          <p:nvPr/>
        </p:nvSpPr>
        <p:spPr>
          <a:xfrm>
            <a:off x="13906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7" name="TextBox 16"/>
          <p:cNvSpPr txBox="1"/>
          <p:nvPr/>
        </p:nvSpPr>
        <p:spPr>
          <a:xfrm>
            <a:off x="51498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18" name="Rectangle 17"/>
          <p:cNvSpPr/>
          <p:nvPr/>
        </p:nvSpPr>
        <p:spPr>
          <a:xfrm>
            <a:off x="1952625" y="4467225"/>
            <a:ext cx="19050" cy="2114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962150" y="6991350"/>
            <a:ext cx="37592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20" name="TextBox 19"/>
          <p:cNvSpPr txBox="1"/>
          <p:nvPr/>
        </p:nvSpPr>
        <p:spPr>
          <a:xfrm>
            <a:off x="2095500" y="4095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error (m)</a:t>
            </a:r>
          </a:p>
        </p:txBody>
      </p:sp>
      <p:sp>
        <p:nvSpPr>
          <p:cNvPr id="21" name="Rectangle 20"/>
          <p:cNvSpPr/>
          <p:nvPr/>
        </p:nvSpPr>
        <p:spPr>
          <a:xfrm>
            <a:off x="1952625" y="6263368"/>
            <a:ext cx="37782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959350" y="5987143"/>
            <a:ext cx="762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 cm</a:t>
            </a:r>
          </a:p>
        </p:txBody>
      </p:sp>
      <p:cxnSp>
        <p:nvCxnSpPr>
          <p:cNvPr id="23" name="Connector 22"/>
          <p:cNvCxnSpPr/>
          <p:nvPr/>
        </p:nvCxnSpPr>
        <p:spPr>
          <a:xfrm flipV="1">
            <a:off x="1962150" y="6506558"/>
            <a:ext cx="62653" cy="582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024803" y="6497019"/>
            <a:ext cx="62654" cy="953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087457" y="6485283"/>
            <a:ext cx="62653" cy="1173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150110" y="6471845"/>
            <a:ext cx="62653" cy="1343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212763" y="6456981"/>
            <a:ext cx="62654" cy="1486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275417" y="6440873"/>
            <a:ext cx="62653" cy="1610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338070" y="6423649"/>
            <a:ext cx="62653" cy="1722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400723" y="6405410"/>
            <a:ext cx="62654" cy="1823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463377" y="6386234"/>
            <a:ext cx="62653" cy="1917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526030" y="6366185"/>
            <a:ext cx="62653" cy="2004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588683" y="6345316"/>
            <a:ext cx="62654" cy="2086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51337" y="6323674"/>
            <a:ext cx="62653" cy="2164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713990" y="6301297"/>
            <a:ext cx="62653" cy="2237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76643" y="6278221"/>
            <a:ext cx="62654" cy="2307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839297" y="6254475"/>
            <a:ext cx="62653" cy="2374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901950" y="6230088"/>
            <a:ext cx="62653" cy="2438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64603" y="6205082"/>
            <a:ext cx="62654" cy="2500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027257" y="6179481"/>
            <a:ext cx="62653" cy="2560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089910" y="6153304"/>
            <a:ext cx="62653" cy="2617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152563" y="6126571"/>
            <a:ext cx="62654" cy="2673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215217" y="6099297"/>
            <a:ext cx="62653" cy="2727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77870" y="6071498"/>
            <a:ext cx="62653" cy="2779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340523" y="6043189"/>
            <a:ext cx="62654" cy="2830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403177" y="6014384"/>
            <a:ext cx="62653" cy="2880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65830" y="5985094"/>
            <a:ext cx="62653" cy="2929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528483" y="5955332"/>
            <a:ext cx="62654" cy="2976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591137" y="5925108"/>
            <a:ext cx="62653" cy="3022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653790" y="5894433"/>
            <a:ext cx="62653" cy="3067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716443" y="5863316"/>
            <a:ext cx="62654" cy="3111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79097" y="5831768"/>
            <a:ext cx="62653" cy="3154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841750" y="5799796"/>
            <a:ext cx="62653" cy="3197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904403" y="5767408"/>
            <a:ext cx="62654" cy="3238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67057" y="5734613"/>
            <a:ext cx="62653" cy="3279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029710" y="5701418"/>
            <a:ext cx="62653" cy="3319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92363" y="5667830"/>
            <a:ext cx="62654" cy="3358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155017" y="5633857"/>
            <a:ext cx="62653" cy="3397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217670" y="5599503"/>
            <a:ext cx="62653" cy="3435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80323" y="5564776"/>
            <a:ext cx="62654" cy="3472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342977" y="5529682"/>
            <a:ext cx="62653" cy="3509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405630" y="5494225"/>
            <a:ext cx="62653" cy="3545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468283" y="5458413"/>
            <a:ext cx="62654" cy="3581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530937" y="5422249"/>
            <a:ext cx="62653" cy="3616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593590" y="5385739"/>
            <a:ext cx="62653" cy="3651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656243" y="5348888"/>
            <a:ext cx="62654" cy="3685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718897" y="5311700"/>
            <a:ext cx="62653" cy="3718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781550" y="5274181"/>
            <a:ext cx="62653" cy="3751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844203" y="5236333"/>
            <a:ext cx="62654" cy="3784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06857" y="5198162"/>
            <a:ext cx="62653" cy="3817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969510" y="5159672"/>
            <a:ext cx="62653" cy="3849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032163" y="5120866"/>
            <a:ext cx="62654" cy="3880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094817" y="5081748"/>
            <a:ext cx="62653" cy="3911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157470" y="5042323"/>
            <a:ext cx="62653" cy="3942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220123" y="5002593"/>
            <a:ext cx="62654" cy="3973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5282777" y="4962562"/>
            <a:ext cx="62653" cy="4003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5345430" y="4922233"/>
            <a:ext cx="62653" cy="4032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5408083" y="4881610"/>
            <a:ext cx="62654" cy="4062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470737" y="4840696"/>
            <a:ext cx="62653" cy="4091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533390" y="4799493"/>
            <a:ext cx="62653" cy="4120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596043" y="4758006"/>
            <a:ext cx="62654" cy="4148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658697" y="4716236"/>
            <a:ext cx="62653" cy="4177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1257300" y="7410450"/>
            <a:ext cx="4597400" cy="666750"/>
          </a:xfrm>
          <a:prstGeom prst="rect">
            <a:avLst/>
          </a:prstGeom>
          <a:noFill/>
        </p:spPr>
        <p:txBody>
          <a:bodyPr wrap="square" lIns="0" rIns="0" tIns="0" bIns="0" anchor="t">
            <a:spAutoFit/>
          </a:bodyPr>
          <a:lstStyle/>
          <a:p>
            <a:pPr algn="l">
              <a:lnSpc>
                <a:spcPct val="125000"/>
              </a:lnSpc>
            </a:pPr>
            <a:r>
              <a:rPr sz="1725" b="0" i="0">
                <a:solidFill>
                  <a:srgbClr val="9A7878"/>
                </a:solidFill>
                <a:latin typeface="Geist"/>
                <a:ea typeface="Geist"/>
                <a:cs typeface="Geist"/>
              </a:rPr>
              <a:t>Cameras ignored. Odometry drifts away.</a:t>
            </a:r>
          </a:p>
        </p:txBody>
      </p:sp>
      <p:sp>
        <p:nvSpPr>
          <p:cNvPr id="84" name="Rounded Rectangle 83"/>
          <p:cNvSpPr/>
          <p:nvPr/>
        </p:nvSpPr>
        <p:spPr>
          <a:xfrm>
            <a:off x="6502400" y="2857500"/>
            <a:ext cx="5283200" cy="5334000"/>
          </a:xfrm>
          <a:prstGeom prst="roundRect">
            <a:avLst>
              <a:gd name="adj" fmla="val 288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6845300" y="3086100"/>
            <a:ext cx="45974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Just right</a:t>
            </a:r>
          </a:p>
        </p:txBody>
      </p:sp>
      <p:sp>
        <p:nvSpPr>
          <p:cNvPr id="86" name="TextBox 85"/>
          <p:cNvSpPr txBox="1"/>
          <p:nvPr/>
        </p:nvSpPr>
        <p:spPr>
          <a:xfrm>
            <a:off x="6845300" y="3562350"/>
            <a:ext cx="4597400" cy="323850"/>
          </a:xfrm>
          <a:prstGeom prst="rect">
            <a:avLst/>
          </a:prstGeom>
          <a:noFill/>
        </p:spPr>
        <p:txBody>
          <a:bodyPr wrap="square" lIns="0" rIns="0" tIns="0" bIns="0" anchor="t">
            <a:spAutoFit/>
          </a:bodyPr>
          <a:lstStyle/>
          <a:p>
            <a:pPr algn="l"/>
            <a:r>
              <a:rPr sz="1425" b="0" i="0">
                <a:solidFill>
                  <a:srgbClr val="E8C27A"/>
                </a:solidFill>
                <a:latin typeface="Geist Mono"/>
                <a:ea typeface="Geist Mono"/>
                <a:cs typeface="Geist Mono"/>
              </a:rPr>
              <a:t>VISION_XY_STD_METERS = 0.3</a:t>
            </a:r>
          </a:p>
        </p:txBody>
      </p:sp>
      <p:sp>
        <p:nvSpPr>
          <p:cNvPr id="87" name="Rectangle 86"/>
          <p:cNvSpPr/>
          <p:nvPr/>
        </p:nvSpPr>
        <p:spPr>
          <a:xfrm>
            <a:off x="7540625" y="6562725"/>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6502400" y="642937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89" name="Rectangle 88"/>
          <p:cNvSpPr/>
          <p:nvPr/>
        </p:nvSpPr>
        <p:spPr>
          <a:xfrm>
            <a:off x="7540625" y="5964011"/>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502400" y="583066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0.1</a:t>
            </a:r>
          </a:p>
        </p:txBody>
      </p:sp>
      <p:sp>
        <p:nvSpPr>
          <p:cNvPr id="91" name="Rectangle 90"/>
          <p:cNvSpPr/>
          <p:nvPr/>
        </p:nvSpPr>
        <p:spPr>
          <a:xfrm>
            <a:off x="7540625" y="5365296"/>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6502400" y="523194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93" name="Rectangle 92"/>
          <p:cNvSpPr/>
          <p:nvPr/>
        </p:nvSpPr>
        <p:spPr>
          <a:xfrm>
            <a:off x="7540625" y="4766582"/>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6502400" y="4633232"/>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95" name="TextBox 94"/>
          <p:cNvSpPr txBox="1"/>
          <p:nvPr/>
        </p:nvSpPr>
        <p:spPr>
          <a:xfrm>
            <a:off x="69786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96" name="TextBox 95"/>
          <p:cNvSpPr txBox="1"/>
          <p:nvPr/>
        </p:nvSpPr>
        <p:spPr>
          <a:xfrm>
            <a:off x="107378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97" name="Rectangle 96"/>
          <p:cNvSpPr/>
          <p:nvPr/>
        </p:nvSpPr>
        <p:spPr>
          <a:xfrm>
            <a:off x="7540625" y="4467225"/>
            <a:ext cx="19050" cy="2114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7550150" y="6991350"/>
            <a:ext cx="37592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99" name="TextBox 98"/>
          <p:cNvSpPr txBox="1"/>
          <p:nvPr/>
        </p:nvSpPr>
        <p:spPr>
          <a:xfrm>
            <a:off x="7683500" y="4095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error (m)</a:t>
            </a:r>
          </a:p>
        </p:txBody>
      </p:sp>
      <p:sp>
        <p:nvSpPr>
          <p:cNvPr id="100" name="Rectangle 99"/>
          <p:cNvSpPr/>
          <p:nvPr/>
        </p:nvSpPr>
        <p:spPr>
          <a:xfrm>
            <a:off x="7540625" y="6263368"/>
            <a:ext cx="37782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0547350" y="5987143"/>
            <a:ext cx="762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 cm</a:t>
            </a:r>
          </a:p>
        </p:txBody>
      </p:sp>
      <p:cxnSp>
        <p:nvCxnSpPr>
          <p:cNvPr id="102" name="Connector 101"/>
          <p:cNvCxnSpPr/>
          <p:nvPr/>
        </p:nvCxnSpPr>
        <p:spPr>
          <a:xfrm flipV="1">
            <a:off x="7550150" y="6534209"/>
            <a:ext cx="62653" cy="146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7612803" y="6534209"/>
            <a:ext cx="62654" cy="834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7675457" y="6531350"/>
            <a:ext cx="62653" cy="112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7714298" y="6507537"/>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6" name="Connector 105"/>
          <p:cNvCxnSpPr/>
          <p:nvPr/>
        </p:nvCxnSpPr>
        <p:spPr>
          <a:xfrm>
            <a:off x="7800763" y="6530305"/>
            <a:ext cx="62654" cy="2683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7839604" y="6533325"/>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8" name="Connector 107"/>
          <p:cNvCxnSpPr/>
          <p:nvPr/>
        </p:nvCxnSpPr>
        <p:spPr>
          <a:xfrm flipV="1">
            <a:off x="7926070" y="6520163"/>
            <a:ext cx="62653" cy="394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988723" y="6520163"/>
            <a:ext cx="62654" cy="276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8027564" y="6524041"/>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1" name="Connector 110"/>
          <p:cNvCxnSpPr/>
          <p:nvPr/>
        </p:nvCxnSpPr>
        <p:spPr>
          <a:xfrm flipV="1">
            <a:off x="8114030" y="6512587"/>
            <a:ext cx="62653" cy="3646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8176683" y="6512587"/>
            <a:ext cx="62654" cy="2516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8239337" y="6520212"/>
            <a:ext cx="62653" cy="1753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8301990" y="6520212"/>
            <a:ext cx="62653" cy="1724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8364643" y="6529666"/>
            <a:ext cx="62654" cy="77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8427297" y="6529666"/>
            <a:ext cx="62653" cy="233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8489950" y="6529868"/>
            <a:ext cx="62653" cy="231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552603" y="6518699"/>
            <a:ext cx="62654" cy="111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615257" y="6518699"/>
            <a:ext cx="62653" cy="1651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677910" y="6524772"/>
            <a:ext cx="62653" cy="1044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8716751" y="6500959"/>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2" name="Connector 121"/>
          <p:cNvCxnSpPr/>
          <p:nvPr/>
        </p:nvCxnSpPr>
        <p:spPr>
          <a:xfrm>
            <a:off x="8803217" y="6528117"/>
            <a:ext cx="62653" cy="290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8865870" y="6523959"/>
            <a:ext cx="62653" cy="3325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928523" y="6523959"/>
            <a:ext cx="62654" cy="800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991177" y="6531964"/>
            <a:ext cx="62653" cy="138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9053830" y="6545846"/>
            <a:ext cx="62653" cy="129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116483" y="6518819"/>
            <a:ext cx="62654" cy="3997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79137" y="6518819"/>
            <a:ext cx="62653" cy="188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9241790" y="6525846"/>
            <a:ext cx="62653" cy="117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304443" y="6518183"/>
            <a:ext cx="62654" cy="766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67097" y="6518183"/>
            <a:ext cx="62653" cy="788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29750" y="6516158"/>
            <a:ext cx="62653" cy="99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492403" y="6516158"/>
            <a:ext cx="62654" cy="2520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9555057" y="6521914"/>
            <a:ext cx="62653" cy="194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9617710" y="6521914"/>
            <a:ext cx="62653" cy="1706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9680363" y="6515464"/>
            <a:ext cx="62654" cy="2351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9719204" y="6491651"/>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8" name="Connector 137"/>
          <p:cNvCxnSpPr/>
          <p:nvPr/>
        </p:nvCxnSpPr>
        <p:spPr>
          <a:xfrm>
            <a:off x="9805670" y="6518181"/>
            <a:ext cx="62653" cy="3742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39" name="Rectangle 138"/>
          <p:cNvSpPr/>
          <p:nvPr/>
        </p:nvSpPr>
        <p:spPr>
          <a:xfrm>
            <a:off x="9844511" y="6531795"/>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9907164" y="6529951"/>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1" name="Connector 140"/>
          <p:cNvCxnSpPr/>
          <p:nvPr/>
        </p:nvCxnSpPr>
        <p:spPr>
          <a:xfrm flipV="1">
            <a:off x="9993630" y="6514032"/>
            <a:ext cx="62653" cy="3585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056283" y="6514032"/>
            <a:ext cx="62654" cy="253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0118937" y="6530261"/>
            <a:ext cx="62653" cy="912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0181590" y="6530261"/>
            <a:ext cx="62653" cy="155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0244243" y="6535980"/>
            <a:ext cx="62654" cy="987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0306897" y="6535980"/>
            <a:ext cx="62653" cy="58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47" name="Rectangle 146"/>
          <p:cNvSpPr/>
          <p:nvPr/>
        </p:nvSpPr>
        <p:spPr>
          <a:xfrm>
            <a:off x="10345737" y="6517981"/>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8" name="Connector 147"/>
          <p:cNvCxnSpPr/>
          <p:nvPr/>
        </p:nvCxnSpPr>
        <p:spPr>
          <a:xfrm flipV="1">
            <a:off x="10432203" y="6532252"/>
            <a:ext cx="62654" cy="1121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49" name="Rectangle 148"/>
          <p:cNvSpPr/>
          <p:nvPr/>
        </p:nvSpPr>
        <p:spPr>
          <a:xfrm>
            <a:off x="10471044" y="6508440"/>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50" name="Connector 149"/>
          <p:cNvCxnSpPr/>
          <p:nvPr/>
        </p:nvCxnSpPr>
        <p:spPr>
          <a:xfrm flipV="1">
            <a:off x="10557510" y="6516967"/>
            <a:ext cx="62653" cy="1532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0620163" y="6516967"/>
            <a:ext cx="62654" cy="106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10682817" y="6515782"/>
            <a:ext cx="62653" cy="1182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0721657" y="6491969"/>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54" name="Connector 153"/>
          <p:cNvCxnSpPr/>
          <p:nvPr/>
        </p:nvCxnSpPr>
        <p:spPr>
          <a:xfrm flipV="1">
            <a:off x="10808123" y="6512810"/>
            <a:ext cx="62654" cy="644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0870777" y="6512810"/>
            <a:ext cx="62653" cy="153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0933430" y="6528124"/>
            <a:ext cx="62653" cy="2434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10996083" y="6519054"/>
            <a:ext cx="62654" cy="3341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11058737" y="6514073"/>
            <a:ext cx="62653" cy="498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9" name="Rectangle 158"/>
          <p:cNvSpPr/>
          <p:nvPr/>
        </p:nvSpPr>
        <p:spPr>
          <a:xfrm>
            <a:off x="11097578" y="6490260"/>
            <a:ext cx="110278"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0" name="Connector 159"/>
          <p:cNvCxnSpPr/>
          <p:nvPr/>
        </p:nvCxnSpPr>
        <p:spPr>
          <a:xfrm>
            <a:off x="11184043" y="6516943"/>
            <a:ext cx="62654" cy="1607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11246697" y="6526086"/>
            <a:ext cx="62653" cy="693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6845300" y="7410450"/>
            <a:ext cx="4597400" cy="666750"/>
          </a:xfrm>
          <a:prstGeom prst="rect">
            <a:avLst/>
          </a:prstGeom>
          <a:noFill/>
        </p:spPr>
        <p:txBody>
          <a:bodyPr wrap="square" lIns="0" rIns="0" tIns="0" bIns="0" anchor="t">
            <a:spAutoFit/>
          </a:bodyPr>
          <a:lstStyle/>
          <a:p>
            <a:pPr algn="l">
              <a:lnSpc>
                <a:spcPct val="125000"/>
              </a:lnSpc>
            </a:pPr>
            <a:r>
              <a:rPr sz="1725" b="0" i="0">
                <a:solidFill>
                  <a:srgbClr val="9A7878"/>
                </a:solidFill>
                <a:latin typeface="Geist"/>
                <a:ea typeface="Geist"/>
                <a:cs typeface="Geist"/>
              </a:rPr>
              <a:t>Follows the camera. Millimeters off when stopped.</a:t>
            </a:r>
          </a:p>
        </p:txBody>
      </p:sp>
      <p:sp>
        <p:nvSpPr>
          <p:cNvPr id="163" name="Rounded Rectangle 162"/>
          <p:cNvSpPr/>
          <p:nvPr/>
        </p:nvSpPr>
        <p:spPr>
          <a:xfrm>
            <a:off x="12090400" y="2857500"/>
            <a:ext cx="5283200" cy="5334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Box 163"/>
          <p:cNvSpPr txBox="1"/>
          <p:nvPr/>
        </p:nvSpPr>
        <p:spPr>
          <a:xfrm>
            <a:off x="12433300" y="3086100"/>
            <a:ext cx="45974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 small</a:t>
            </a:r>
          </a:p>
        </p:txBody>
      </p:sp>
      <p:sp>
        <p:nvSpPr>
          <p:cNvPr id="165" name="TextBox 164"/>
          <p:cNvSpPr txBox="1"/>
          <p:nvPr/>
        </p:nvSpPr>
        <p:spPr>
          <a:xfrm>
            <a:off x="12433300" y="3562350"/>
            <a:ext cx="4597400" cy="323850"/>
          </a:xfrm>
          <a:prstGeom prst="rect">
            <a:avLst/>
          </a:prstGeom>
          <a:noFill/>
        </p:spPr>
        <p:txBody>
          <a:bodyPr wrap="square" lIns="0" rIns="0" tIns="0" bIns="0" anchor="t">
            <a:spAutoFit/>
          </a:bodyPr>
          <a:lstStyle/>
          <a:p>
            <a:pPr algn="l"/>
            <a:r>
              <a:rPr sz="1425" b="0" i="0">
                <a:solidFill>
                  <a:srgbClr val="E8C27A"/>
                </a:solidFill>
                <a:latin typeface="Geist Mono"/>
                <a:ea typeface="Geist Mono"/>
                <a:cs typeface="Geist Mono"/>
              </a:rPr>
              <a:t>VISION_XY_STD_METERS = 0.01</a:t>
            </a:r>
          </a:p>
        </p:txBody>
      </p:sp>
      <p:sp>
        <p:nvSpPr>
          <p:cNvPr id="166" name="Rectangle 165"/>
          <p:cNvSpPr/>
          <p:nvPr/>
        </p:nvSpPr>
        <p:spPr>
          <a:xfrm>
            <a:off x="13128625" y="6562725"/>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12090400" y="642937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168" name="Rectangle 167"/>
          <p:cNvSpPr/>
          <p:nvPr/>
        </p:nvSpPr>
        <p:spPr>
          <a:xfrm>
            <a:off x="13128625" y="5964011"/>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extBox 168"/>
          <p:cNvSpPr txBox="1"/>
          <p:nvPr/>
        </p:nvSpPr>
        <p:spPr>
          <a:xfrm>
            <a:off x="12090400" y="583066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0.1</a:t>
            </a:r>
          </a:p>
        </p:txBody>
      </p:sp>
      <p:sp>
        <p:nvSpPr>
          <p:cNvPr id="170" name="Rectangle 169"/>
          <p:cNvSpPr/>
          <p:nvPr/>
        </p:nvSpPr>
        <p:spPr>
          <a:xfrm>
            <a:off x="13128625" y="5365296"/>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TextBox 170"/>
          <p:cNvSpPr txBox="1"/>
          <p:nvPr/>
        </p:nvSpPr>
        <p:spPr>
          <a:xfrm>
            <a:off x="12090400" y="523194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172" name="Rectangle 171"/>
          <p:cNvSpPr/>
          <p:nvPr/>
        </p:nvSpPr>
        <p:spPr>
          <a:xfrm>
            <a:off x="13128625" y="4766582"/>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Box 172"/>
          <p:cNvSpPr txBox="1"/>
          <p:nvPr/>
        </p:nvSpPr>
        <p:spPr>
          <a:xfrm>
            <a:off x="12090400" y="4633232"/>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74" name="TextBox 173"/>
          <p:cNvSpPr txBox="1"/>
          <p:nvPr/>
        </p:nvSpPr>
        <p:spPr>
          <a:xfrm>
            <a:off x="125666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75" name="TextBox 174"/>
          <p:cNvSpPr txBox="1"/>
          <p:nvPr/>
        </p:nvSpPr>
        <p:spPr>
          <a:xfrm>
            <a:off x="163258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176" name="Rectangle 175"/>
          <p:cNvSpPr/>
          <p:nvPr/>
        </p:nvSpPr>
        <p:spPr>
          <a:xfrm>
            <a:off x="13128625" y="4467225"/>
            <a:ext cx="19050" cy="2114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Box 176"/>
          <p:cNvSpPr txBox="1"/>
          <p:nvPr/>
        </p:nvSpPr>
        <p:spPr>
          <a:xfrm>
            <a:off x="13138150" y="6991350"/>
            <a:ext cx="37592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178" name="TextBox 177"/>
          <p:cNvSpPr txBox="1"/>
          <p:nvPr/>
        </p:nvSpPr>
        <p:spPr>
          <a:xfrm>
            <a:off x="13271500" y="4095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error (m)</a:t>
            </a:r>
          </a:p>
        </p:txBody>
      </p:sp>
      <p:sp>
        <p:nvSpPr>
          <p:cNvPr id="179" name="Rectangle 178"/>
          <p:cNvSpPr/>
          <p:nvPr/>
        </p:nvSpPr>
        <p:spPr>
          <a:xfrm>
            <a:off x="13128625" y="6263368"/>
            <a:ext cx="37782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16135350" y="5987143"/>
            <a:ext cx="762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 cm</a:t>
            </a:r>
          </a:p>
        </p:txBody>
      </p:sp>
      <p:cxnSp>
        <p:nvCxnSpPr>
          <p:cNvPr id="181" name="Connector 180"/>
          <p:cNvCxnSpPr/>
          <p:nvPr/>
        </p:nvCxnSpPr>
        <p:spPr>
          <a:xfrm flipV="1">
            <a:off x="13138150" y="6034337"/>
            <a:ext cx="62653" cy="33434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13200803" y="6034337"/>
            <a:ext cx="62654" cy="13906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13263457" y="6173399"/>
            <a:ext cx="62653" cy="15549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3326110" y="6328896"/>
            <a:ext cx="62653" cy="11935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3388763" y="6022302"/>
            <a:ext cx="62654" cy="42594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13451417" y="5949093"/>
            <a:ext cx="62653" cy="7320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3514070" y="5949093"/>
            <a:ext cx="62653" cy="48565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13576723" y="6051048"/>
            <a:ext cx="62654" cy="3836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3639377" y="6051048"/>
            <a:ext cx="62653" cy="21022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3702030" y="6261268"/>
            <a:ext cx="62653" cy="13993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13764683" y="6324082"/>
            <a:ext cx="62654" cy="7712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13827337" y="6068185"/>
            <a:ext cx="62653" cy="25589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13889990" y="6012159"/>
            <a:ext cx="62653" cy="5602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3952643" y="6012159"/>
            <a:ext cx="62654" cy="44647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14015297" y="6151306"/>
            <a:ext cx="62653" cy="30732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4077950" y="6151306"/>
            <a:ext cx="62653" cy="30692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14140603" y="6095316"/>
            <a:ext cx="62654" cy="36291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4203257" y="6095316"/>
            <a:ext cx="62653" cy="20879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14265910" y="6007773"/>
            <a:ext cx="62653" cy="29633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14328563" y="5954034"/>
            <a:ext cx="62654" cy="5373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14391217" y="5954034"/>
            <a:ext cx="62653" cy="25606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14453870" y="5944403"/>
            <a:ext cx="62653" cy="2656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14516523" y="5944403"/>
            <a:ext cx="62654" cy="37117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14579177" y="6315579"/>
            <a:ext cx="62653" cy="12538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14641830" y="6159265"/>
            <a:ext cx="62653" cy="28170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14704483" y="6159265"/>
            <a:ext cx="62654" cy="30627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14767137" y="6376083"/>
            <a:ext cx="62653" cy="8945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14829790" y="6262629"/>
            <a:ext cx="62653" cy="11345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14892443" y="6153497"/>
            <a:ext cx="62654" cy="10913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4955097" y="6153497"/>
            <a:ext cx="62653" cy="24477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15017750" y="6398276"/>
            <a:ext cx="62653" cy="6130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15080403" y="6014846"/>
            <a:ext cx="62654" cy="44473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15143057" y="6014846"/>
            <a:ext cx="62653" cy="29849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15205710" y="5965876"/>
            <a:ext cx="62653" cy="34746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15268363" y="5965876"/>
            <a:ext cx="62654" cy="3340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15331017" y="5999284"/>
            <a:ext cx="62653" cy="27959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15393670" y="6234354"/>
            <a:ext cx="62653" cy="4452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15456323" y="6202205"/>
            <a:ext cx="62654" cy="3214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15518977" y="6135488"/>
            <a:ext cx="62653" cy="6671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5581630" y="6135488"/>
            <a:ext cx="62653" cy="2599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15644283" y="6161481"/>
            <a:ext cx="62654" cy="1960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15706937" y="6148292"/>
            <a:ext cx="62653" cy="3279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15769590" y="5975596"/>
            <a:ext cx="62653" cy="17269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15832243" y="5975596"/>
            <a:ext cx="62654" cy="23363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15894897" y="6209235"/>
            <a:ext cx="62653" cy="4086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15957550" y="6094308"/>
            <a:ext cx="62653" cy="15579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16020203" y="6094308"/>
            <a:ext cx="62654" cy="26008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16082857" y="6320204"/>
            <a:ext cx="62653" cy="3419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16145510" y="5955564"/>
            <a:ext cx="62653" cy="36464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16208163" y="5955564"/>
            <a:ext cx="62654" cy="24607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16270817" y="6186925"/>
            <a:ext cx="62653" cy="1471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16333470" y="6186925"/>
            <a:ext cx="62653" cy="28934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16396123" y="6258710"/>
            <a:ext cx="62654" cy="21755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16458777" y="6169933"/>
            <a:ext cx="62653" cy="8877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6521430" y="6169933"/>
            <a:ext cx="62653" cy="30170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16584083" y="6150625"/>
            <a:ext cx="62654" cy="32101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16646737" y="6141797"/>
            <a:ext cx="62653" cy="882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6709390" y="6141797"/>
            <a:ext cx="62653" cy="30827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16772043" y="6144405"/>
            <a:ext cx="62654" cy="30566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16834697" y="6144405"/>
            <a:ext cx="62653" cy="8680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41" name="TextBox 240"/>
          <p:cNvSpPr txBox="1"/>
          <p:nvPr/>
        </p:nvSpPr>
        <p:spPr>
          <a:xfrm>
            <a:off x="12433300" y="7410450"/>
            <a:ext cx="4597400" cy="666750"/>
          </a:xfrm>
          <a:prstGeom prst="rect">
            <a:avLst/>
          </a:prstGeom>
          <a:noFill/>
        </p:spPr>
        <p:txBody>
          <a:bodyPr wrap="square" lIns="0" rIns="0" tIns="0" bIns="0" anchor="t">
            <a:spAutoFit/>
          </a:bodyPr>
          <a:lstStyle/>
          <a:p>
            <a:pPr algn="l">
              <a:lnSpc>
                <a:spcPct val="125000"/>
              </a:lnSpc>
            </a:pPr>
            <a:r>
              <a:rPr sz="1725" b="0" i="0">
                <a:solidFill>
                  <a:srgbClr val="9A7878"/>
                </a:solidFill>
                <a:latin typeface="Geist"/>
                <a:ea typeface="Geist"/>
                <a:cs typeface="Geist"/>
              </a:rPr>
              <a:t>Believes every noisy picture. It shakes.</a:t>
            </a:r>
          </a:p>
        </p:txBody>
      </p:sp>
      <p:sp>
        <p:nvSpPr>
          <p:cNvPr id="242" name="Rounded Rectangle 241"/>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TextBox 242"/>
          <p:cNvSpPr txBox="1"/>
          <p:nvPr/>
        </p:nvSpPr>
        <p:spPr>
          <a:xfrm>
            <a:off x="1333500" y="83820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Heading too:  </a:t>
            </a:r>
            <a:r>
              <a:rPr sz="2100" b="0" i="0">
                <a:solidFill>
                  <a:srgbClr val="F0E8E8"/>
                </a:solidFill>
                <a:latin typeface="Geist"/>
                <a:ea typeface="Geist"/>
                <a:cs typeface="Geist"/>
              </a:rPr>
              <a:t>99999 ignores the camera's heading, and the wheels' is 2 to 7° off. Give it a small number.</a:t>
            </a:r>
          </a:p>
        </p:txBody>
      </p:sp>
      <p:sp>
        <p:nvSpPr>
          <p:cNvPr id="244" name="TextBox 24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5" name="TextBox 2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Aiming at the goal</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Face the goal from wherever the robot ended up</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Point me at the goal. I'll do the math!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arrow to the goal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667000"/>
            <a:ext cx="7239000" cy="6477000"/>
          </a:xfrm>
          <a:prstGeom prst="roundRect">
            <a:avLst>
              <a:gd name="adj" fmla="val 235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573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57375" y="81819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811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0</a:t>
            </a:r>
          </a:p>
        </p:txBody>
      </p:sp>
      <p:sp>
        <p:nvSpPr>
          <p:cNvPr id="9" name="TextBox 8"/>
          <p:cNvSpPr txBox="1"/>
          <p:nvPr/>
        </p:nvSpPr>
        <p:spPr>
          <a:xfrm>
            <a:off x="1390650" y="80676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0</a:t>
            </a:r>
          </a:p>
        </p:txBody>
      </p:sp>
      <p:sp>
        <p:nvSpPr>
          <p:cNvPr id="10" name="Rectangle 9"/>
          <p:cNvSpPr/>
          <p:nvPr/>
        </p:nvSpPr>
        <p:spPr>
          <a:xfrm>
            <a:off x="29241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857375" y="71151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6479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1</a:t>
            </a:r>
          </a:p>
        </p:txBody>
      </p:sp>
      <p:sp>
        <p:nvSpPr>
          <p:cNvPr id="13" name="TextBox 12"/>
          <p:cNvSpPr txBox="1"/>
          <p:nvPr/>
        </p:nvSpPr>
        <p:spPr>
          <a:xfrm>
            <a:off x="1390650" y="70008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1</a:t>
            </a:r>
          </a:p>
        </p:txBody>
      </p:sp>
      <p:sp>
        <p:nvSpPr>
          <p:cNvPr id="14" name="Rectangle 13"/>
          <p:cNvSpPr/>
          <p:nvPr/>
        </p:nvSpPr>
        <p:spPr>
          <a:xfrm>
            <a:off x="39909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857375" y="60483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147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2</a:t>
            </a:r>
          </a:p>
        </p:txBody>
      </p:sp>
      <p:sp>
        <p:nvSpPr>
          <p:cNvPr id="17" name="TextBox 16"/>
          <p:cNvSpPr txBox="1"/>
          <p:nvPr/>
        </p:nvSpPr>
        <p:spPr>
          <a:xfrm>
            <a:off x="1390650" y="59340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2</a:t>
            </a:r>
          </a:p>
        </p:txBody>
      </p:sp>
      <p:sp>
        <p:nvSpPr>
          <p:cNvPr id="18" name="Rectangle 17"/>
          <p:cNvSpPr/>
          <p:nvPr/>
        </p:nvSpPr>
        <p:spPr>
          <a:xfrm>
            <a:off x="50577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857375" y="49815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815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3</a:t>
            </a:r>
          </a:p>
        </p:txBody>
      </p:sp>
      <p:sp>
        <p:nvSpPr>
          <p:cNvPr id="21" name="TextBox 20"/>
          <p:cNvSpPr txBox="1"/>
          <p:nvPr/>
        </p:nvSpPr>
        <p:spPr>
          <a:xfrm>
            <a:off x="1390650" y="48672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3</a:t>
            </a:r>
          </a:p>
        </p:txBody>
      </p:sp>
      <p:sp>
        <p:nvSpPr>
          <p:cNvPr id="22" name="Rectangle 21"/>
          <p:cNvSpPr/>
          <p:nvPr/>
        </p:nvSpPr>
        <p:spPr>
          <a:xfrm>
            <a:off x="61245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857375" y="39147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8483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4</a:t>
            </a:r>
          </a:p>
        </p:txBody>
      </p:sp>
      <p:sp>
        <p:nvSpPr>
          <p:cNvPr id="25" name="TextBox 24"/>
          <p:cNvSpPr txBox="1"/>
          <p:nvPr/>
        </p:nvSpPr>
        <p:spPr>
          <a:xfrm>
            <a:off x="1390650" y="38004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4</a:t>
            </a:r>
          </a:p>
        </p:txBody>
      </p:sp>
      <p:sp>
        <p:nvSpPr>
          <p:cNvPr id="26" name="Rectangle 25"/>
          <p:cNvSpPr/>
          <p:nvPr/>
        </p:nvSpPr>
        <p:spPr>
          <a:xfrm>
            <a:off x="71913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857375" y="28479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151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5</a:t>
            </a:r>
          </a:p>
        </p:txBody>
      </p:sp>
      <p:sp>
        <p:nvSpPr>
          <p:cNvPr id="29" name="TextBox 28"/>
          <p:cNvSpPr txBox="1"/>
          <p:nvPr/>
        </p:nvSpPr>
        <p:spPr>
          <a:xfrm>
            <a:off x="1390650" y="27336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5</a:t>
            </a:r>
          </a:p>
        </p:txBody>
      </p:sp>
      <p:sp>
        <p:nvSpPr>
          <p:cNvPr id="30" name="Rectangle 29"/>
          <p:cNvSpPr/>
          <p:nvPr/>
        </p:nvSpPr>
        <p:spPr>
          <a:xfrm>
            <a:off x="3452812" y="6577012"/>
            <a:ext cx="2695575" cy="28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119812" y="3910012"/>
            <a:ext cx="28575" cy="2695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38600" y="6648450"/>
            <a:ext cx="1524000" cy="285750"/>
          </a:xfrm>
          <a:prstGeom prst="rect">
            <a:avLst/>
          </a:prstGeom>
          <a:noFill/>
        </p:spPr>
        <p:txBody>
          <a:bodyPr wrap="square" lIns="0" rIns="0" tIns="0" bIns="0" anchor="t">
            <a:spAutoFit/>
          </a:bodyPr>
          <a:lstStyle/>
          <a:p>
            <a:pPr algn="ctr"/>
            <a:r>
              <a:rPr sz="1650" b="0" i="0">
                <a:solidFill>
                  <a:srgbClr val="F0E8E8"/>
                </a:solidFill>
                <a:latin typeface="Geist Mono"/>
                <a:ea typeface="Geist Mono"/>
                <a:cs typeface="Geist Mono"/>
              </a:rPr>
              <a:t>2.5</a:t>
            </a:r>
          </a:p>
        </p:txBody>
      </p:sp>
      <p:sp>
        <p:nvSpPr>
          <p:cNvPr id="33" name="TextBox 32"/>
          <p:cNvSpPr txBox="1"/>
          <p:nvPr/>
        </p:nvSpPr>
        <p:spPr>
          <a:xfrm>
            <a:off x="6248400" y="5114925"/>
            <a:ext cx="762000" cy="2857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2.5</a:t>
            </a:r>
          </a:p>
        </p:txBody>
      </p:sp>
      <p:cxnSp>
        <p:nvCxnSpPr>
          <p:cNvPr id="34" name="Connector 33"/>
          <p:cNvCxnSpPr/>
          <p:nvPr/>
        </p:nvCxnSpPr>
        <p:spPr>
          <a:xfrm flipV="1">
            <a:off x="3848100" y="4248150"/>
            <a:ext cx="1962150" cy="1962150"/>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876800" y="6544198"/>
            <a:ext cx="38100" cy="66152"/>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876525" y="6516158"/>
            <a:ext cx="38100" cy="6614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875698" y="6488138"/>
            <a:ext cx="38100" cy="6611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874322" y="6460152"/>
            <a:ext cx="38100" cy="66087"/>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4872396" y="6432208"/>
            <a:ext cx="38100" cy="6604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4869920" y="6404318"/>
            <a:ext cx="38100" cy="6599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866897" y="6376494"/>
            <a:ext cx="38100" cy="65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863326" y="6348744"/>
            <a:ext cx="38100" cy="6584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859210" y="6321081"/>
            <a:ext cx="38100" cy="65763"/>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4" name="Connector 43"/>
          <p:cNvCxnSpPr/>
          <p:nvPr/>
        </p:nvCxnSpPr>
        <p:spPr>
          <a:xfrm flipH="1" flipV="1">
            <a:off x="4868397" y="6312565"/>
            <a:ext cx="5202" cy="2756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62654" y="6285106"/>
            <a:ext cx="5743" cy="2745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856374" y="6257765"/>
            <a:ext cx="6280" cy="2734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4849557" y="6230553"/>
            <a:ext cx="6817" cy="2721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842208" y="6203479"/>
            <a:ext cx="7349" cy="2707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834329" y="6176556"/>
            <a:ext cx="7879" cy="2692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4825922" y="6149792"/>
            <a:ext cx="8407" cy="2676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816992" y="6123198"/>
            <a:ext cx="8930" cy="2659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807541" y="6096785"/>
            <a:ext cx="9451" cy="2641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797573" y="6070563"/>
            <a:ext cx="9968" cy="2622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787093" y="6044541"/>
            <a:ext cx="10480" cy="2602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776104" y="6018730"/>
            <a:ext cx="10989" cy="2581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764610" y="5993140"/>
            <a:ext cx="11494" cy="2559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752615" y="5967780"/>
            <a:ext cx="11995" cy="2536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4740126" y="5942661"/>
            <a:ext cx="12489" cy="2511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4727145" y="5917792"/>
            <a:ext cx="12981" cy="2486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4713679" y="5893182"/>
            <a:ext cx="13466" cy="2461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4699732" y="5868842"/>
            <a:ext cx="13947" cy="2434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4685310" y="5844780"/>
            <a:ext cx="14422" cy="2406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4670418" y="5821006"/>
            <a:ext cx="14892" cy="2377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4655062" y="5797529"/>
            <a:ext cx="15356" cy="2347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4639249" y="5774358"/>
            <a:ext cx="15813" cy="2317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4622983" y="5751502"/>
            <a:ext cx="16266" cy="2285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4606272" y="5728969"/>
            <a:ext cx="16711" cy="22533"/>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4589122" y="5706770"/>
            <a:ext cx="17150" cy="2219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4571539" y="5684911"/>
            <a:ext cx="17583" cy="2185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4553530" y="5663401"/>
            <a:ext cx="18009" cy="2151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4535103" y="5642249"/>
            <a:ext cx="18427" cy="2115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4516263" y="5621463"/>
            <a:ext cx="18840" cy="2078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4497020" y="5601051"/>
            <a:ext cx="19243" cy="20412"/>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4477379" y="5581021"/>
            <a:ext cx="19641" cy="20030"/>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4953000" y="5829300"/>
            <a:ext cx="952500" cy="323850"/>
          </a:xfrm>
          <a:prstGeom prst="rect">
            <a:avLst/>
          </a:prstGeom>
          <a:noFill/>
        </p:spPr>
        <p:txBody>
          <a:bodyPr wrap="square" lIns="0" rIns="0" tIns="0" bIns="0" anchor="t">
            <a:spAutoFit/>
          </a:bodyPr>
          <a:lstStyle/>
          <a:p>
            <a:pPr algn="l"/>
            <a:r>
              <a:rPr sz="1950" b="1" i="0">
                <a:solidFill>
                  <a:srgbClr val="CC2200"/>
                </a:solidFill>
                <a:latin typeface="Geist"/>
                <a:ea typeface="Geist"/>
                <a:cs typeface="Geist"/>
              </a:rPr>
              <a:t>45°</a:t>
            </a:r>
          </a:p>
        </p:txBody>
      </p:sp>
      <p:pic>
        <p:nvPicPr>
          <p:cNvPr id="76" name="Picture 75" descr="dozer_top.png"/>
          <p:cNvPicPr>
            <a:picLocks noChangeAspect="1"/>
          </p:cNvPicPr>
          <p:nvPr/>
        </p:nvPicPr>
        <p:blipFill>
          <a:blip r:embed="rId3"/>
          <a:stretch>
            <a:fillRect/>
          </a:stretch>
        </p:blipFill>
        <p:spPr>
          <a:xfrm>
            <a:off x="2943225" y="6109753"/>
            <a:ext cx="1047750" cy="963094"/>
          </a:xfrm>
          <a:prstGeom prst="rect">
            <a:avLst/>
          </a:prstGeom>
        </p:spPr>
      </p:pic>
      <p:pic>
        <p:nvPicPr>
          <p:cNvPr id="77" name="Picture 76" descr="bullseye.png"/>
          <p:cNvPicPr>
            <a:picLocks noChangeAspect="1"/>
          </p:cNvPicPr>
          <p:nvPr/>
        </p:nvPicPr>
        <p:blipFill>
          <a:blip r:embed="rId4"/>
          <a:stretch>
            <a:fillRect/>
          </a:stretch>
        </p:blipFill>
        <p:spPr>
          <a:xfrm>
            <a:off x="5791200" y="3581400"/>
            <a:ext cx="685800" cy="685800"/>
          </a:xfrm>
          <a:prstGeom prst="rect">
            <a:avLst/>
          </a:prstGeom>
        </p:spPr>
      </p:pic>
      <p:sp>
        <p:nvSpPr>
          <p:cNvPr id="78" name="TextBox 77"/>
          <p:cNvSpPr txBox="1"/>
          <p:nvPr/>
        </p:nvSpPr>
        <p:spPr>
          <a:xfrm>
            <a:off x="5181600" y="3162300"/>
            <a:ext cx="1905000" cy="285750"/>
          </a:xfrm>
          <a:prstGeom prst="rect">
            <a:avLst/>
          </a:prstGeom>
          <a:noFill/>
        </p:spPr>
        <p:txBody>
          <a:bodyPr wrap="square" lIns="0" rIns="0" tIns="0" bIns="0" anchor="t">
            <a:spAutoFit/>
          </a:bodyPr>
          <a:lstStyle/>
          <a:p>
            <a:pPr algn="ctr"/>
            <a:r>
              <a:rPr sz="1500" b="1" i="0">
                <a:solidFill>
                  <a:srgbClr val="CC2200"/>
                </a:solidFill>
                <a:latin typeface="Geist"/>
                <a:ea typeface="Geist"/>
                <a:cs typeface="Geist"/>
              </a:rPr>
              <a:t>GOAL</a:t>
            </a:r>
          </a:p>
        </p:txBody>
      </p:sp>
      <p:sp>
        <p:nvSpPr>
          <p:cNvPr id="79" name="TextBox 78"/>
          <p:cNvSpPr txBox="1"/>
          <p:nvPr/>
        </p:nvSpPr>
        <p:spPr>
          <a:xfrm>
            <a:off x="8763000" y="2724150"/>
            <a:ext cx="8610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80" name="Rounded Rectangle 79"/>
          <p:cNvSpPr/>
          <p:nvPr/>
        </p:nvSpPr>
        <p:spPr>
          <a:xfrm>
            <a:off x="8763000" y="3143250"/>
            <a:ext cx="8610600" cy="2476500"/>
          </a:xfrm>
          <a:prstGeom prst="roundRect">
            <a:avLst>
              <a:gd name="adj" fmla="val 615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8782050" y="3867150"/>
            <a:ext cx="85725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8782050" y="38671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8782050" y="4210050"/>
            <a:ext cx="85725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8782050" y="42100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8782050" y="4552950"/>
            <a:ext cx="85725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8782050" y="45529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9144000" y="3524250"/>
            <a:ext cx="8077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Rotation2d getAngleToGoal() {</a:t>
            </a:r>
          </a:p>
        </p:txBody>
      </p:sp>
      <p:sp>
        <p:nvSpPr>
          <p:cNvPr id="88" name="TextBox 87"/>
          <p:cNvSpPr txBox="1"/>
          <p:nvPr/>
        </p:nvSpPr>
        <p:spPr>
          <a:xfrm>
            <a:off x="9144000" y="3867150"/>
            <a:ext cx="8077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FieldTargets.GOAL.getTranslation()</a:t>
            </a:r>
          </a:p>
        </p:txBody>
      </p:sp>
      <p:sp>
        <p:nvSpPr>
          <p:cNvPr id="89" name="TextBox 88"/>
          <p:cNvSpPr txBox="1"/>
          <p:nvPr/>
        </p:nvSpPr>
        <p:spPr>
          <a:xfrm>
            <a:off x="9144000" y="4210050"/>
            <a:ext cx="8077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.minus(getPose().getTranslation())</a:t>
            </a:r>
          </a:p>
        </p:txBody>
      </p:sp>
      <p:sp>
        <p:nvSpPr>
          <p:cNvPr id="90" name="TextBox 89"/>
          <p:cNvSpPr txBox="1"/>
          <p:nvPr/>
        </p:nvSpPr>
        <p:spPr>
          <a:xfrm>
            <a:off x="9144000" y="4552950"/>
            <a:ext cx="8077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.getAngle();</a:t>
            </a:r>
          </a:p>
        </p:txBody>
      </p:sp>
      <p:sp>
        <p:nvSpPr>
          <p:cNvPr id="91" name="TextBox 90"/>
          <p:cNvSpPr txBox="1"/>
          <p:nvPr/>
        </p:nvSpPr>
        <p:spPr>
          <a:xfrm>
            <a:off x="9144000" y="4895850"/>
            <a:ext cx="8077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92" name="Oval 91"/>
          <p:cNvSpPr/>
          <p:nvPr/>
        </p:nvSpPr>
        <p:spPr>
          <a:xfrm>
            <a:off x="16764000" y="38481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67640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4" name="Oval 93"/>
          <p:cNvSpPr/>
          <p:nvPr/>
        </p:nvSpPr>
        <p:spPr>
          <a:xfrm>
            <a:off x="16764000" y="4191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6764000" y="4191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96" name="Oval 95"/>
          <p:cNvSpPr/>
          <p:nvPr/>
        </p:nvSpPr>
        <p:spPr>
          <a:xfrm>
            <a:off x="16764000" y="45339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6764000" y="4533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98" name="Oval 97"/>
          <p:cNvSpPr/>
          <p:nvPr/>
        </p:nvSpPr>
        <p:spPr>
          <a:xfrm>
            <a:off x="876300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76300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0" name="TextBox 99"/>
          <p:cNvSpPr txBox="1"/>
          <p:nvPr/>
        </p:nvSpPr>
        <p:spPr>
          <a:xfrm>
            <a:off x="9372600" y="6057900"/>
            <a:ext cx="800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Where the goal is</a:t>
            </a:r>
          </a:p>
        </p:txBody>
      </p:sp>
      <p:sp>
        <p:nvSpPr>
          <p:cNvPr id="101" name="TextBox 100"/>
          <p:cNvSpPr txBox="1"/>
          <p:nvPr/>
        </p:nvSpPr>
        <p:spPr>
          <a:xfrm>
            <a:off x="9372600" y="6477000"/>
            <a:ext cx="800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(4.0, 4.0)</a:t>
            </a:r>
          </a:p>
        </p:txBody>
      </p:sp>
      <p:sp>
        <p:nvSpPr>
          <p:cNvPr id="102" name="Oval 101"/>
          <p:cNvSpPr/>
          <p:nvPr/>
        </p:nvSpPr>
        <p:spPr>
          <a:xfrm>
            <a:off x="8763000" y="709612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763000" y="709612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04" name="TextBox 103"/>
          <p:cNvSpPr txBox="1"/>
          <p:nvPr/>
        </p:nvSpPr>
        <p:spPr>
          <a:xfrm>
            <a:off x="9372600" y="7058025"/>
            <a:ext cx="800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Minus where I think I am</a:t>
            </a:r>
          </a:p>
        </p:txBody>
      </p:sp>
      <p:sp>
        <p:nvSpPr>
          <p:cNvPr id="105" name="TextBox 104"/>
          <p:cNvSpPr txBox="1"/>
          <p:nvPr/>
        </p:nvSpPr>
        <p:spPr>
          <a:xfrm>
            <a:off x="9372600" y="7477125"/>
            <a:ext cx="800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Goal - robot = (2.5, 2.5). Use the estimate</a:t>
            </a:r>
          </a:p>
        </p:txBody>
      </p:sp>
      <p:sp>
        <p:nvSpPr>
          <p:cNvPr id="106" name="Oval 105"/>
          <p:cNvSpPr/>
          <p:nvPr/>
        </p:nvSpPr>
        <p:spPr>
          <a:xfrm>
            <a:off x="8763000" y="809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763000" y="809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08" name="TextBox 107"/>
          <p:cNvSpPr txBox="1"/>
          <p:nvPr/>
        </p:nvSpPr>
        <p:spPr>
          <a:xfrm>
            <a:off x="9372600" y="8058150"/>
            <a:ext cx="800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Which way it points</a:t>
            </a:r>
          </a:p>
        </p:txBody>
      </p:sp>
      <p:sp>
        <p:nvSpPr>
          <p:cNvPr id="109" name="TextBox 108"/>
          <p:cNvSpPr txBox="1"/>
          <p:nvPr/>
        </p:nvSpPr>
        <p:spPr>
          <a:xfrm>
            <a:off x="9372600" y="8477250"/>
            <a:ext cx="800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45°. Facing 0°, so turn 45° to the left</a:t>
            </a:r>
          </a:p>
        </p:txBody>
      </p:sp>
      <p:sp>
        <p:nvSpPr>
          <p:cNvPr id="110" name="TextBox 10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1" name="TextBox 11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Angles wrap around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286000" y="3714750"/>
            <a:ext cx="4381500" cy="4381500"/>
          </a:xfrm>
          <a:prstGeom prst="ellipse">
            <a:avLst/>
          </a:prstGeom>
          <a:noFill/>
          <a:ln w="3810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67500" y="5743575"/>
            <a:ext cx="13335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a:t>
            </a:r>
          </a:p>
        </p:txBody>
      </p:sp>
      <p:sp>
        <p:nvSpPr>
          <p:cNvPr id="7" name="TextBox 6"/>
          <p:cNvSpPr txBox="1"/>
          <p:nvPr/>
        </p:nvSpPr>
        <p:spPr>
          <a:xfrm>
            <a:off x="3810000" y="3076575"/>
            <a:ext cx="13335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90°</a:t>
            </a:r>
          </a:p>
        </p:txBody>
      </p:sp>
      <p:sp>
        <p:nvSpPr>
          <p:cNvPr id="8" name="TextBox 7"/>
          <p:cNvSpPr txBox="1"/>
          <p:nvPr/>
        </p:nvSpPr>
        <p:spPr>
          <a:xfrm>
            <a:off x="952500" y="5743575"/>
            <a:ext cx="13335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±180°</a:t>
            </a:r>
          </a:p>
        </p:txBody>
      </p:sp>
      <p:sp>
        <p:nvSpPr>
          <p:cNvPr id="9" name="TextBox 8"/>
          <p:cNvSpPr txBox="1"/>
          <p:nvPr/>
        </p:nvSpPr>
        <p:spPr>
          <a:xfrm>
            <a:off x="3810000" y="8410575"/>
            <a:ext cx="13335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-90°</a:t>
            </a:r>
          </a:p>
        </p:txBody>
      </p:sp>
      <p:cxnSp>
        <p:nvCxnSpPr>
          <p:cNvPr id="10" name="Connector 9"/>
          <p:cNvCxnSpPr/>
          <p:nvPr/>
        </p:nvCxnSpPr>
        <p:spPr>
          <a:xfrm flipH="1" flipV="1">
            <a:off x="2319282" y="5525080"/>
            <a:ext cx="2157468" cy="380420"/>
          </a:xfrm>
          <a:prstGeom prst="line">
            <a:avLst/>
          </a:prstGeom>
          <a:ln w="28575">
            <a:solidFill>
              <a:srgbClr val="F0E8E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185932" y="5391730"/>
            <a:ext cx="266700" cy="2667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33532" y="4953580"/>
            <a:ext cx="20955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robot 170°</a:t>
            </a:r>
          </a:p>
        </p:txBody>
      </p:sp>
      <p:cxnSp>
        <p:nvCxnSpPr>
          <p:cNvPr id="13" name="Connector 12"/>
          <p:cNvCxnSpPr/>
          <p:nvPr/>
        </p:nvCxnSpPr>
        <p:spPr>
          <a:xfrm flipH="1">
            <a:off x="2319282" y="5905500"/>
            <a:ext cx="2157468" cy="380420"/>
          </a:xfrm>
          <a:prstGeom prst="line">
            <a:avLst/>
          </a:prstGeom>
          <a:ln w="28575">
            <a:solidFill>
              <a:srgbClr val="CC2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185932" y="615257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33532" y="6533570"/>
            <a:ext cx="209550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goal -170°</a:t>
            </a:r>
          </a:p>
        </p:txBody>
      </p:sp>
      <p:cxnSp>
        <p:nvCxnSpPr>
          <p:cNvPr id="16" name="Connector 15"/>
          <p:cNvCxnSpPr/>
          <p:nvPr/>
        </p:nvCxnSpPr>
        <p:spPr>
          <a:xfrm flipH="1">
            <a:off x="2033035" y="5475460"/>
            <a:ext cx="4839" cy="284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004460" y="5475291"/>
            <a:ext cx="57150" cy="8561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999952" y="5503752"/>
            <a:ext cx="57150" cy="8566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995776" y="5532263"/>
            <a:ext cx="57150" cy="85708"/>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991932" y="5560820"/>
            <a:ext cx="57150" cy="857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988420" y="5589421"/>
            <a:ext cx="57150" cy="8578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985242" y="5618060"/>
            <a:ext cx="57150" cy="8582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982396" y="5646735"/>
            <a:ext cx="57150" cy="85856"/>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979885" y="5675440"/>
            <a:ext cx="57150" cy="85883"/>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977708" y="5704173"/>
            <a:ext cx="57150" cy="85906"/>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975865" y="5732929"/>
            <a:ext cx="57150" cy="85926"/>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974357" y="5761705"/>
            <a:ext cx="57150" cy="8594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973184" y="5790496"/>
            <a:ext cx="57150" cy="85953"/>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972346" y="5819299"/>
            <a:ext cx="57150" cy="8596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971843" y="5848110"/>
            <a:ext cx="57150" cy="8596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971675" y="5876925"/>
            <a:ext cx="57150" cy="8596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971843" y="5905740"/>
            <a:ext cx="57150" cy="8596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972346" y="5934551"/>
            <a:ext cx="57150" cy="85953"/>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973184" y="5963354"/>
            <a:ext cx="57150" cy="8594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974357" y="5992145"/>
            <a:ext cx="57150" cy="85926"/>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975865" y="6020921"/>
            <a:ext cx="57150" cy="85906"/>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977708" y="6049677"/>
            <a:ext cx="57150" cy="85883"/>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979885" y="6078410"/>
            <a:ext cx="57150" cy="85856"/>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982396" y="6107115"/>
            <a:ext cx="57150" cy="8582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985242" y="6135790"/>
            <a:ext cx="57150" cy="8578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1988420" y="6164429"/>
            <a:ext cx="57150" cy="857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991932" y="6193030"/>
            <a:ext cx="57150" cy="85708"/>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995776" y="6221587"/>
            <a:ext cx="57150" cy="8566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999952" y="6250098"/>
            <a:ext cx="57150" cy="8561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5" name="Connector 44"/>
          <p:cNvCxnSpPr/>
          <p:nvPr/>
        </p:nvCxnSpPr>
        <p:spPr>
          <a:xfrm>
            <a:off x="2033035" y="6307134"/>
            <a:ext cx="4839" cy="284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028527" y="6278673"/>
            <a:ext cx="9347" cy="56867"/>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912675" y="5338427"/>
            <a:ext cx="47369" cy="14798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021378" y="5059444"/>
            <a:ext cx="74734" cy="136224"/>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183559" y="4811551"/>
            <a:ext cx="99355" cy="11946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393260" y="4603855"/>
            <a:ext cx="120323" cy="98308"/>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42775" y="4443989"/>
            <a:ext cx="136870" cy="73543"/>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922934" y="4337827"/>
            <a:ext cx="148388" cy="46076"/>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223443" y="4289270"/>
            <a:ext cx="154454" cy="16916"/>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533261" y="4287236"/>
            <a:ext cx="154844" cy="12867"/>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841002" y="4327751"/>
            <a:ext cx="149544" cy="42176"/>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135358" y="4426242"/>
            <a:ext cx="138749" cy="6993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405514" y="4579088"/>
            <a:ext cx="122855" cy="9512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641541" y="4780674"/>
            <a:ext cx="102447" cy="116819"/>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834767" y="5023593"/>
            <a:ext cx="78275" cy="134221"/>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978092" y="5298918"/>
            <a:ext cx="51227" cy="14669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066250" y="5596533"/>
            <a:ext cx="22295" cy="153769"/>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6088545" y="5905500"/>
            <a:ext cx="7455" cy="155198"/>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6029319" y="6214467"/>
            <a:ext cx="36931" cy="15092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913042" y="6512082"/>
            <a:ext cx="65050" cy="141104"/>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5743988" y="6787407"/>
            <a:ext cx="90779" cy="12610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5528369" y="7030326"/>
            <a:ext cx="113172" cy="106461"/>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274107" y="7231912"/>
            <a:ext cx="131407" cy="82911"/>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4990546" y="7384758"/>
            <a:ext cx="144812" cy="5631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688105" y="7483249"/>
            <a:ext cx="152897" cy="27648"/>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4363610" y="7509476"/>
            <a:ext cx="183939"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1" name="Connector 70"/>
          <p:cNvCxnSpPr/>
          <p:nvPr/>
        </p:nvCxnSpPr>
        <p:spPr>
          <a:xfrm flipH="1" flipV="1">
            <a:off x="4071322" y="7473173"/>
            <a:ext cx="152121" cy="31641"/>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3779645" y="7367011"/>
            <a:ext cx="143289" cy="60086"/>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3513583" y="7207145"/>
            <a:ext cx="129192" cy="86323"/>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3282914" y="6999449"/>
            <a:ext cx="110346" cy="109388"/>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3096112" y="6751556"/>
            <a:ext cx="87447" cy="128433"/>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2960044" y="6472573"/>
            <a:ext cx="61334" cy="142759"/>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4572000" y="619125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long way: 340°</a:t>
            </a:r>
          </a:p>
        </p:txBody>
      </p:sp>
      <p:sp>
        <p:nvSpPr>
          <p:cNvPr id="78" name="TextBox 77"/>
          <p:cNvSpPr txBox="1"/>
          <p:nvPr/>
        </p:nvSpPr>
        <p:spPr>
          <a:xfrm>
            <a:off x="95250" y="6286500"/>
            <a:ext cx="1809750" cy="323850"/>
          </a:xfrm>
          <a:prstGeom prst="rect">
            <a:avLst/>
          </a:prstGeom>
          <a:noFill/>
        </p:spPr>
        <p:txBody>
          <a:bodyPr wrap="square" lIns="0" rIns="0" tIns="0" bIns="0" anchor="t">
            <a:spAutoFit/>
          </a:bodyPr>
          <a:lstStyle/>
          <a:p>
            <a:pPr algn="r"/>
            <a:r>
              <a:rPr sz="1650" b="1" i="0">
                <a:solidFill>
                  <a:srgbClr val="CC2200"/>
                </a:solidFill>
                <a:latin typeface="Geist"/>
                <a:ea typeface="Geist"/>
                <a:cs typeface="Geist"/>
              </a:rPr>
              <a:t>short way: 20°</a:t>
            </a:r>
          </a:p>
        </p:txBody>
      </p:sp>
      <p:sp>
        <p:nvSpPr>
          <p:cNvPr id="79" name="TextBox 78"/>
          <p:cNvSpPr txBox="1"/>
          <p:nvPr/>
        </p:nvSpPr>
        <p:spPr>
          <a:xfrm>
            <a:off x="8572500" y="2952750"/>
            <a:ext cx="8801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Headings are a </a:t>
            </a:r>
            <a:r>
              <a:rPr sz="2100" b="1" i="0">
                <a:solidFill>
                  <a:srgbClr val="F0E8E8"/>
                </a:solidFill>
                <a:latin typeface="Geist"/>
                <a:ea typeface="Geist"/>
                <a:cs typeface="Geist"/>
              </a:rPr>
              <a:t>circle</a:t>
            </a:r>
          </a:p>
        </p:txBody>
      </p:sp>
      <p:sp>
        <p:nvSpPr>
          <p:cNvPr id="80" name="TextBox 79"/>
          <p:cNvSpPr txBox="1"/>
          <p:nvPr/>
        </p:nvSpPr>
        <p:spPr>
          <a:xfrm>
            <a:off x="8572500" y="3547110"/>
            <a:ext cx="8801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Mono"/>
                <a:ea typeface="Geist Mono"/>
                <a:cs typeface="Geist Mono"/>
              </a:rPr>
              <a:t>170°</a:t>
            </a:r>
            <a:r>
              <a:rPr sz="2100" b="0" i="0">
                <a:solidFill>
                  <a:srgbClr val="F0E8E8"/>
                </a:solidFill>
                <a:latin typeface="Geist"/>
                <a:ea typeface="Geist"/>
                <a:cs typeface="Geist"/>
              </a:rPr>
              <a:t> and </a:t>
            </a:r>
            <a:r>
              <a:rPr sz="2100" b="0" i="0">
                <a:solidFill>
                  <a:srgbClr val="F0E8E8"/>
                </a:solidFill>
                <a:latin typeface="Geist Mono"/>
                <a:ea typeface="Geist Mono"/>
                <a:cs typeface="Geist Mono"/>
              </a:rPr>
              <a:t>-170°</a:t>
            </a:r>
            <a:r>
              <a:rPr sz="2100" b="0" i="0">
                <a:solidFill>
                  <a:srgbClr val="F0E8E8"/>
                </a:solidFill>
                <a:latin typeface="Geist"/>
                <a:ea typeface="Geist"/>
                <a:cs typeface="Geist"/>
              </a:rPr>
              <a:t> are only </a:t>
            </a:r>
            <a:r>
              <a:rPr sz="2100" b="1" i="0">
                <a:solidFill>
                  <a:srgbClr val="F0E8E8"/>
                </a:solidFill>
                <a:latin typeface="Geist"/>
                <a:ea typeface="Geist"/>
                <a:cs typeface="Geist"/>
              </a:rPr>
              <a:t>20°</a:t>
            </a:r>
            <a:r>
              <a:rPr sz="2100" b="0" i="0">
                <a:solidFill>
                  <a:srgbClr val="F0E8E8"/>
                </a:solidFill>
                <a:latin typeface="Geist"/>
                <a:ea typeface="Geist"/>
                <a:cs typeface="Geist"/>
              </a:rPr>
              <a:t> apart</a:t>
            </a:r>
          </a:p>
        </p:txBody>
      </p:sp>
      <p:sp>
        <p:nvSpPr>
          <p:cNvPr id="81" name="TextBox 80"/>
          <p:cNvSpPr txBox="1"/>
          <p:nvPr/>
        </p:nvSpPr>
        <p:spPr>
          <a:xfrm>
            <a:off x="8572500" y="4141470"/>
            <a:ext cx="8801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Continuous input</a:t>
            </a:r>
            <a:r>
              <a:rPr sz="2100" b="0" i="0">
                <a:solidFill>
                  <a:srgbClr val="F0E8E8"/>
                </a:solidFill>
                <a:latin typeface="Geist"/>
                <a:ea typeface="Geist"/>
                <a:cs typeface="Geist"/>
              </a:rPr>
              <a:t>: always the short way</a:t>
            </a:r>
          </a:p>
        </p:txBody>
      </p:sp>
      <p:sp>
        <p:nvSpPr>
          <p:cNvPr id="82" name="TextBox 81"/>
          <p:cNvSpPr txBox="1"/>
          <p:nvPr/>
        </p:nvSpPr>
        <p:spPr>
          <a:xfrm>
            <a:off x="8572500" y="4735830"/>
            <a:ext cx="8801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WPILib uses </a:t>
            </a:r>
            <a:r>
              <a:rPr sz="2100" b="1" i="0">
                <a:solidFill>
                  <a:srgbClr val="F0E8E8"/>
                </a:solidFill>
                <a:latin typeface="Geist"/>
                <a:ea typeface="Geist"/>
                <a:cs typeface="Geist"/>
              </a:rPr>
              <a:t>radians</a:t>
            </a:r>
            <a:r>
              <a:rPr sz="2100" b="0" i="0">
                <a:solidFill>
                  <a:srgbClr val="F0E8E8"/>
                </a:solidFill>
                <a:latin typeface="Geist"/>
                <a:ea typeface="Geist"/>
                <a:cs typeface="Geist"/>
              </a:rPr>
              <a:t>: pi = 180°</a:t>
            </a:r>
          </a:p>
        </p:txBody>
      </p:sp>
      <p:sp>
        <p:nvSpPr>
          <p:cNvPr id="83" name="TextBox 82"/>
          <p:cNvSpPr txBox="1"/>
          <p:nvPr/>
        </p:nvSpPr>
        <p:spPr>
          <a:xfrm>
            <a:off x="8572500" y="6248400"/>
            <a:ext cx="88011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84" name="Rounded Rectangle 83"/>
          <p:cNvSpPr/>
          <p:nvPr/>
        </p:nvSpPr>
        <p:spPr>
          <a:xfrm>
            <a:off x="8572500" y="6667500"/>
            <a:ext cx="8801100" cy="1662112"/>
          </a:xfrm>
          <a:prstGeom prst="roundRect">
            <a:avLst>
              <a:gd name="adj" fmla="val 916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8591550" y="7048500"/>
            <a:ext cx="87630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8591550" y="7048500"/>
            <a:ext cx="57150" cy="30003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8953500" y="7048500"/>
            <a:ext cx="82677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aim_pid_.enableContinuousInput(-Math.PI, Math.PI);</a:t>
            </a:r>
          </a:p>
        </p:txBody>
      </p:sp>
      <p:sp>
        <p:nvSpPr>
          <p:cNvPr id="88" name="TextBox 87"/>
          <p:cNvSpPr txBox="1"/>
          <p:nvPr/>
        </p:nvSpPr>
        <p:spPr>
          <a:xfrm>
            <a:off x="8953500" y="7348538"/>
            <a:ext cx="82677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aim_pid_.setTolerance(</a:t>
            </a:r>
          </a:p>
        </p:txBody>
      </p:sp>
      <p:sp>
        <p:nvSpPr>
          <p:cNvPr id="89" name="TextBox 88"/>
          <p:cNvSpPr txBox="1"/>
          <p:nvPr/>
        </p:nvSpPr>
        <p:spPr>
          <a:xfrm>
            <a:off x="8953500" y="7648575"/>
            <a:ext cx="82677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Math.toRadians(DrivetrainConstants.AIM_TOLERANCE_DEGREES));</a:t>
            </a:r>
          </a:p>
        </p:txBody>
      </p:sp>
      <p:sp>
        <p:nvSpPr>
          <p:cNvPr id="90" name="TextBox 8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1" name="TextBox 9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new state and a PID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666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DrivetrainConstants.java</a:t>
            </a:r>
          </a:p>
        </p:txBody>
      </p:sp>
      <p:sp>
        <p:nvSpPr>
          <p:cNvPr id="6" name="Rounded Rectangle 5"/>
          <p:cNvSpPr/>
          <p:nvPr/>
        </p:nvSpPr>
        <p:spPr>
          <a:xfrm>
            <a:off x="914400" y="3276600"/>
            <a:ext cx="6667500" cy="2895600"/>
          </a:xfrm>
          <a:prstGeom prst="roundRect">
            <a:avLst>
              <a:gd name="adj" fmla="val 526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937760"/>
            <a:ext cx="6629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937760"/>
            <a:ext cx="57150" cy="4267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57600"/>
            <a:ext cx="61341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public</a:t>
            </a:r>
            <a:r>
              <a:rPr sz="2100" b="0" i="0">
                <a:solidFill>
                  <a:srgbClr val="F0E8E8"/>
                </a:solidFill>
                <a:latin typeface="Geist Mono"/>
                <a:ea typeface="Geist Mono"/>
                <a:cs typeface="Geist Mono"/>
              </a:rPr>
              <a:t> enum DriveStates {</a:t>
            </a:r>
          </a:p>
        </p:txBody>
      </p:sp>
      <p:sp>
        <p:nvSpPr>
          <p:cNvPr id="10" name="TextBox 9"/>
          <p:cNvSpPr txBox="1"/>
          <p:nvPr/>
        </p:nvSpPr>
        <p:spPr>
          <a:xfrm>
            <a:off x="1295400" y="4084320"/>
            <a:ext cx="6134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IDLE,</a:t>
            </a:r>
          </a:p>
        </p:txBody>
      </p:sp>
      <p:sp>
        <p:nvSpPr>
          <p:cNvPr id="11" name="TextBox 10"/>
          <p:cNvSpPr txBox="1"/>
          <p:nvPr/>
        </p:nvSpPr>
        <p:spPr>
          <a:xfrm>
            <a:off x="1295400" y="4511040"/>
            <a:ext cx="6134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ARCADE,</a:t>
            </a:r>
          </a:p>
        </p:txBody>
      </p:sp>
      <p:sp>
        <p:nvSpPr>
          <p:cNvPr id="12" name="TextBox 11"/>
          <p:cNvSpPr txBox="1"/>
          <p:nvPr/>
        </p:nvSpPr>
        <p:spPr>
          <a:xfrm>
            <a:off x="1295400" y="4937760"/>
            <a:ext cx="6134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AIM</a:t>
            </a:r>
          </a:p>
        </p:txBody>
      </p:sp>
      <p:sp>
        <p:nvSpPr>
          <p:cNvPr id="13" name="TextBox 12"/>
          <p:cNvSpPr txBox="1"/>
          <p:nvPr/>
        </p:nvSpPr>
        <p:spPr>
          <a:xfrm>
            <a:off x="1295400" y="5364480"/>
            <a:ext cx="6134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t>
            </a:r>
          </a:p>
        </p:txBody>
      </p:sp>
      <p:sp>
        <p:nvSpPr>
          <p:cNvPr id="14" name="Oval 13"/>
          <p:cNvSpPr/>
          <p:nvPr/>
        </p:nvSpPr>
        <p:spPr>
          <a:xfrm>
            <a:off x="6972300" y="496062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72300" y="49606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pic>
        <p:nvPicPr>
          <p:cNvPr id="16" name="Picture 15" descr="code-slash.png"/>
          <p:cNvPicPr>
            <a:picLocks noChangeAspect="1"/>
          </p:cNvPicPr>
          <p:nvPr/>
        </p:nvPicPr>
        <p:blipFill>
          <a:blip r:embed="rId3"/>
          <a:stretch>
            <a:fillRect/>
          </a:stretch>
        </p:blipFill>
        <p:spPr>
          <a:xfrm>
            <a:off x="914400" y="6515100"/>
            <a:ext cx="224518" cy="209550"/>
          </a:xfrm>
          <a:prstGeom prst="rect">
            <a:avLst/>
          </a:prstGeom>
        </p:spPr>
      </p:pic>
      <p:sp>
        <p:nvSpPr>
          <p:cNvPr id="17" name="TextBox 16"/>
          <p:cNvSpPr txBox="1"/>
          <p:nvPr/>
        </p:nvSpPr>
        <p:spPr>
          <a:xfrm>
            <a:off x="1295400" y="6477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 (enums)</a:t>
            </a:r>
          </a:p>
        </p:txBody>
      </p:sp>
      <p:sp>
        <p:nvSpPr>
          <p:cNvPr id="18" name="Oval 17"/>
          <p:cNvSpPr/>
          <p:nvPr/>
        </p:nvSpPr>
        <p:spPr>
          <a:xfrm>
            <a:off x="9144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TextBox 19"/>
          <p:cNvSpPr txBox="1"/>
          <p:nvPr/>
        </p:nvSpPr>
        <p:spPr>
          <a:xfrm>
            <a:off x="1524000" y="7105650"/>
            <a:ext cx="6057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third state</a:t>
            </a:r>
          </a:p>
        </p:txBody>
      </p:sp>
      <p:sp>
        <p:nvSpPr>
          <p:cNvPr id="21" name="TextBox 20"/>
          <p:cNvSpPr txBox="1"/>
          <p:nvPr/>
        </p:nvSpPr>
        <p:spPr>
          <a:xfrm>
            <a:off x="1524000" y="7524750"/>
            <a:ext cx="6057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AIM, after ARCADE and a comma</a:t>
            </a:r>
          </a:p>
        </p:txBody>
      </p:sp>
      <p:sp>
        <p:nvSpPr>
          <p:cNvPr id="22" name="Oval 21"/>
          <p:cNvSpPr/>
          <p:nvPr/>
        </p:nvSpPr>
        <p:spPr>
          <a:xfrm>
            <a:off x="914400" y="8191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8191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TextBox 23"/>
          <p:cNvSpPr txBox="1"/>
          <p:nvPr/>
        </p:nvSpPr>
        <p:spPr>
          <a:xfrm>
            <a:off x="1524000" y="8153400"/>
            <a:ext cx="6057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PID</a:t>
            </a:r>
          </a:p>
        </p:txBody>
      </p:sp>
      <p:sp>
        <p:nvSpPr>
          <p:cNvPr id="25" name="TextBox 24"/>
          <p:cNvSpPr txBox="1"/>
          <p:nvPr/>
        </p:nvSpPr>
        <p:spPr>
          <a:xfrm>
            <a:off x="1524000" y="8572500"/>
            <a:ext cx="6057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Its gains come from the constants</a:t>
            </a:r>
          </a:p>
        </p:txBody>
      </p:sp>
      <p:sp>
        <p:nvSpPr>
          <p:cNvPr id="26" name="TextBox 25"/>
          <p:cNvSpPr txBox="1"/>
          <p:nvPr/>
        </p:nvSpPr>
        <p:spPr>
          <a:xfrm>
            <a:off x="8382000" y="2857500"/>
            <a:ext cx="8991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27" name="Rounded Rectangle 26"/>
          <p:cNvSpPr/>
          <p:nvPr/>
        </p:nvSpPr>
        <p:spPr>
          <a:xfrm>
            <a:off x="8382000" y="3276600"/>
            <a:ext cx="8991600" cy="2476500"/>
          </a:xfrm>
          <a:prstGeom prst="roundRect">
            <a:avLst>
              <a:gd name="adj" fmla="val 615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763000" y="3657600"/>
            <a:ext cx="8458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PIDController aim_pid_ =</a:t>
            </a:r>
          </a:p>
        </p:txBody>
      </p:sp>
      <p:sp>
        <p:nvSpPr>
          <p:cNvPr id="29" name="TextBox 28"/>
          <p:cNvSpPr txBox="1"/>
          <p:nvPr/>
        </p:nvSpPr>
        <p:spPr>
          <a:xfrm>
            <a:off x="8763000" y="4000500"/>
            <a:ext cx="8458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PIDController(</a:t>
            </a:r>
          </a:p>
        </p:txBody>
      </p:sp>
      <p:sp>
        <p:nvSpPr>
          <p:cNvPr id="30" name="TextBox 29"/>
          <p:cNvSpPr txBox="1"/>
          <p:nvPr/>
        </p:nvSpPr>
        <p:spPr>
          <a:xfrm>
            <a:off x="8763000" y="4343400"/>
            <a:ext cx="8458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DrivetrainConstants.AIM_KP,</a:t>
            </a:r>
          </a:p>
        </p:txBody>
      </p:sp>
      <p:sp>
        <p:nvSpPr>
          <p:cNvPr id="31" name="TextBox 30"/>
          <p:cNvSpPr txBox="1"/>
          <p:nvPr/>
        </p:nvSpPr>
        <p:spPr>
          <a:xfrm>
            <a:off x="8763000" y="4686300"/>
            <a:ext cx="8458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DrivetrainConstants.AIM_KI,</a:t>
            </a:r>
          </a:p>
        </p:txBody>
      </p:sp>
      <p:sp>
        <p:nvSpPr>
          <p:cNvPr id="32" name="TextBox 31"/>
          <p:cNvSpPr txBox="1"/>
          <p:nvPr/>
        </p:nvSpPr>
        <p:spPr>
          <a:xfrm>
            <a:off x="8763000" y="5029200"/>
            <a:ext cx="8458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DrivetrainConstants.AIM_KD);</a:t>
            </a:r>
          </a:p>
        </p:txBody>
      </p:sp>
      <p:sp>
        <p:nvSpPr>
          <p:cNvPr id="33" name="Oval 32"/>
          <p:cNvSpPr/>
          <p:nvPr/>
        </p:nvSpPr>
        <p:spPr>
          <a:xfrm>
            <a:off x="16764000" y="3981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764000" y="3981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8382000" y="6438900"/>
            <a:ext cx="8991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DrivetrainConstants.java (after tuning)</a:t>
            </a:r>
          </a:p>
        </p:txBody>
      </p:sp>
      <p:sp>
        <p:nvSpPr>
          <p:cNvPr id="36" name="Rounded Rectangle 35"/>
          <p:cNvSpPr/>
          <p:nvPr/>
        </p:nvSpPr>
        <p:spPr>
          <a:xfrm>
            <a:off x="8382000" y="6858000"/>
            <a:ext cx="8991600" cy="1790700"/>
          </a:xfrm>
          <a:prstGeom prst="roundRect">
            <a:avLst>
              <a:gd name="adj" fmla="val 851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763000" y="7239000"/>
            <a:ext cx="8458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AIM_KP =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a:t>
            </a:r>
          </a:p>
        </p:txBody>
      </p:sp>
      <p:sp>
        <p:nvSpPr>
          <p:cNvPr id="38" name="TextBox 37"/>
          <p:cNvSpPr txBox="1"/>
          <p:nvPr/>
        </p:nvSpPr>
        <p:spPr>
          <a:xfrm>
            <a:off x="8763000" y="7581900"/>
            <a:ext cx="8458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AIM_KI =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39" name="TextBox 38"/>
          <p:cNvSpPr txBox="1"/>
          <p:nvPr/>
        </p:nvSpPr>
        <p:spPr>
          <a:xfrm>
            <a:off x="8763000" y="7924800"/>
            <a:ext cx="8458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AIM_KD = </a:t>
            </a:r>
            <a:r>
              <a:rPr sz="1800" b="0" i="0">
                <a:solidFill>
                  <a:srgbClr val="E8C27A"/>
                </a:solidFill>
                <a:latin typeface="Geist Mono"/>
                <a:ea typeface="Geist Mono"/>
                <a:cs typeface="Geist Mono"/>
              </a:rPr>
              <a:t>0.2</a:t>
            </a:r>
            <a:r>
              <a:rPr sz="1800" b="0" i="0">
                <a:solidFill>
                  <a:srgbClr val="F0E8E8"/>
                </a:solidFill>
                <a:latin typeface="Geist Mono"/>
                <a:ea typeface="Geist Mono"/>
                <a:cs typeface="Geist Mono"/>
              </a:rPr>
              <a:t>;</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AIM case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143250"/>
            <a:ext cx="104775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671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671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100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100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5529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5529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48958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48958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52387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52387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55816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55816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35242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switch (system_state_) {</a:t>
            </a:r>
          </a:p>
        </p:txBody>
      </p:sp>
      <p:sp>
        <p:nvSpPr>
          <p:cNvPr id="20" name="TextBox 19"/>
          <p:cNvSpPr txBox="1"/>
          <p:nvPr/>
        </p:nvSpPr>
        <p:spPr>
          <a:xfrm>
            <a:off x="1295400" y="38671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case AIM:</a:t>
            </a:r>
          </a:p>
        </p:txBody>
      </p:sp>
      <p:sp>
        <p:nvSpPr>
          <p:cNvPr id="21" name="TextBox 20"/>
          <p:cNvSpPr txBox="1"/>
          <p:nvPr/>
        </p:nvSpPr>
        <p:spPr>
          <a:xfrm>
            <a:off x="1295400" y="42100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aim_turn_ = -aim_pid_.calculate(</a:t>
            </a:r>
          </a:p>
        </p:txBody>
      </p:sp>
      <p:sp>
        <p:nvSpPr>
          <p:cNvPr id="22" name="TextBox 21"/>
          <p:cNvSpPr txBox="1"/>
          <p:nvPr/>
        </p:nvSpPr>
        <p:spPr>
          <a:xfrm>
            <a:off x="1295400" y="45529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getPose().getRotation().getRadians(),</a:t>
            </a:r>
          </a:p>
        </p:txBody>
      </p:sp>
      <p:sp>
        <p:nvSpPr>
          <p:cNvPr id="23" name="TextBox 22"/>
          <p:cNvSpPr txBox="1"/>
          <p:nvPr/>
        </p:nvSpPr>
        <p:spPr>
          <a:xfrm>
            <a:off x="1295400" y="48958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getAngleToGoal().getRadians());</a:t>
            </a:r>
          </a:p>
        </p:txBody>
      </p:sp>
      <p:sp>
        <p:nvSpPr>
          <p:cNvPr id="24" name="TextBox 23"/>
          <p:cNvSpPr txBox="1"/>
          <p:nvPr/>
        </p:nvSpPr>
        <p:spPr>
          <a:xfrm>
            <a:off x="1295400" y="52387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aim_turn_);</a:t>
            </a:r>
          </a:p>
        </p:txBody>
      </p:sp>
      <p:sp>
        <p:nvSpPr>
          <p:cNvPr id="25" name="TextBox 24"/>
          <p:cNvSpPr txBox="1"/>
          <p:nvPr/>
        </p:nvSpPr>
        <p:spPr>
          <a:xfrm>
            <a:off x="1295400" y="55816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break;</a:t>
            </a:r>
          </a:p>
        </p:txBody>
      </p:sp>
      <p:sp>
        <p:nvSpPr>
          <p:cNvPr id="26" name="TextBox 25"/>
          <p:cNvSpPr txBox="1"/>
          <p:nvPr/>
        </p:nvSpPr>
        <p:spPr>
          <a:xfrm>
            <a:off x="1295400" y="59245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case ARCADE:</a:t>
            </a:r>
          </a:p>
        </p:txBody>
      </p:sp>
      <p:sp>
        <p:nvSpPr>
          <p:cNvPr id="27" name="TextBox 26"/>
          <p:cNvSpPr txBox="1"/>
          <p:nvPr/>
        </p:nvSpPr>
        <p:spPr>
          <a:xfrm>
            <a:off x="1295400" y="62674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aim_pid_.reset();</a:t>
            </a:r>
          </a:p>
        </p:txBody>
      </p:sp>
      <p:sp>
        <p:nvSpPr>
          <p:cNvPr id="28" name="TextBox 27"/>
          <p:cNvSpPr txBox="1"/>
          <p:nvPr/>
        </p:nvSpPr>
        <p:spPr>
          <a:xfrm>
            <a:off x="1295400" y="66103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drive_.arcadeDrive(OI.getForward(), OI.getTurn());</a:t>
            </a:r>
          </a:p>
        </p:txBody>
      </p:sp>
      <p:sp>
        <p:nvSpPr>
          <p:cNvPr id="29" name="TextBox 28"/>
          <p:cNvSpPr txBox="1"/>
          <p:nvPr/>
        </p:nvSpPr>
        <p:spPr>
          <a:xfrm>
            <a:off x="1295400" y="69532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break;</a:t>
            </a:r>
          </a:p>
        </p:txBody>
      </p:sp>
      <p:sp>
        <p:nvSpPr>
          <p:cNvPr id="30" name="Oval 29"/>
          <p:cNvSpPr/>
          <p:nvPr/>
        </p:nvSpPr>
        <p:spPr>
          <a:xfrm>
            <a:off x="10782300" y="38481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23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Oval 31"/>
          <p:cNvSpPr/>
          <p:nvPr/>
        </p:nvSpPr>
        <p:spPr>
          <a:xfrm>
            <a:off x="10782300" y="4191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2300" y="4191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Oval 33"/>
          <p:cNvSpPr/>
          <p:nvPr/>
        </p:nvSpPr>
        <p:spPr>
          <a:xfrm>
            <a:off x="10782300" y="45339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82300" y="4533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Oval 35"/>
          <p:cNvSpPr/>
          <p:nvPr/>
        </p:nvSpPr>
        <p:spPr>
          <a:xfrm>
            <a:off x="10782300" y="52197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82300" y="5219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8" name="Oval 37"/>
          <p:cNvSpPr/>
          <p:nvPr/>
        </p:nvSpPr>
        <p:spPr>
          <a:xfrm>
            <a:off x="10782300" y="6248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782300" y="6248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pic>
        <p:nvPicPr>
          <p:cNvPr id="40" name="Picture 39" descr="code-slash.png"/>
          <p:cNvPicPr>
            <a:picLocks noChangeAspect="1"/>
          </p:cNvPicPr>
          <p:nvPr/>
        </p:nvPicPr>
        <p:blipFill>
          <a:blip r:embed="rId3"/>
          <a:stretch>
            <a:fillRect/>
          </a:stretch>
        </p:blipFill>
        <p:spPr>
          <a:xfrm>
            <a:off x="914400" y="8134350"/>
            <a:ext cx="224518" cy="209550"/>
          </a:xfrm>
          <a:prstGeom prst="rect">
            <a:avLst/>
          </a:prstGeom>
        </p:spPr>
      </p:pic>
      <p:sp>
        <p:nvSpPr>
          <p:cNvPr id="41" name="TextBox 40"/>
          <p:cNvSpPr txBox="1"/>
          <p:nvPr/>
        </p:nvSpPr>
        <p:spPr>
          <a:xfrm>
            <a:off x="1295400" y="80962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 (switch)</a:t>
            </a:r>
          </a:p>
        </p:txBody>
      </p:sp>
      <p:sp>
        <p:nvSpPr>
          <p:cNvPr id="42" name="Oval 41"/>
          <p:cNvSpPr/>
          <p:nvPr/>
        </p:nvSpPr>
        <p:spPr>
          <a:xfrm>
            <a:off x="1200150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015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4" name="TextBox 43"/>
          <p:cNvSpPr txBox="1"/>
          <p:nvPr/>
        </p:nvSpPr>
        <p:spPr>
          <a:xfrm>
            <a:off x="12611100" y="29146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case AIM</a:t>
            </a:r>
          </a:p>
        </p:txBody>
      </p:sp>
      <p:sp>
        <p:nvSpPr>
          <p:cNvPr id="45" name="TextBox 44"/>
          <p:cNvSpPr txBox="1"/>
          <p:nvPr/>
        </p:nvSpPr>
        <p:spPr>
          <a:xfrm>
            <a:off x="12611100" y="33337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the robot does while aiming</a:t>
            </a:r>
          </a:p>
        </p:txBody>
      </p:sp>
      <p:sp>
        <p:nvSpPr>
          <p:cNvPr id="46" name="Oval 45"/>
          <p:cNvSpPr/>
          <p:nvPr/>
        </p:nvSpPr>
        <p:spPr>
          <a:xfrm>
            <a:off x="12001500" y="414337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001500" y="414337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8" name="TextBox 47"/>
          <p:cNvSpPr txBox="1"/>
          <p:nvPr/>
        </p:nvSpPr>
        <p:spPr>
          <a:xfrm>
            <a:off x="12611100" y="4105275"/>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Flip the sign</a:t>
            </a:r>
          </a:p>
        </p:txBody>
      </p:sp>
      <p:sp>
        <p:nvSpPr>
          <p:cNvPr id="49" name="TextBox 48"/>
          <p:cNvSpPr txBox="1"/>
          <p:nvPr/>
        </p:nvSpPr>
        <p:spPr>
          <a:xfrm>
            <a:off x="12611100" y="4524375"/>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minus is on purpose</a:t>
            </a:r>
          </a:p>
        </p:txBody>
      </p:sp>
      <p:sp>
        <p:nvSpPr>
          <p:cNvPr id="50" name="Oval 49"/>
          <p:cNvSpPr/>
          <p:nvPr/>
        </p:nvSpPr>
        <p:spPr>
          <a:xfrm>
            <a:off x="12001500" y="5334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001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2" name="TextBox 51"/>
          <p:cNvSpPr txBox="1"/>
          <p:nvPr/>
        </p:nvSpPr>
        <p:spPr>
          <a:xfrm>
            <a:off x="12611100" y="5295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From the estimate</a:t>
            </a:r>
          </a:p>
        </p:txBody>
      </p:sp>
      <p:sp>
        <p:nvSpPr>
          <p:cNvPr id="53" name="TextBox 52"/>
          <p:cNvSpPr txBox="1"/>
          <p:nvPr/>
        </p:nvSpPr>
        <p:spPr>
          <a:xfrm>
            <a:off x="12611100" y="57150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Heading and goal direction, in radians</a:t>
            </a:r>
          </a:p>
        </p:txBody>
      </p:sp>
      <p:sp>
        <p:nvSpPr>
          <p:cNvPr id="54" name="Oval 53"/>
          <p:cNvSpPr/>
          <p:nvPr/>
        </p:nvSpPr>
        <p:spPr>
          <a:xfrm>
            <a:off x="12001500" y="652462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001500" y="652462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6" name="TextBox 55"/>
          <p:cNvSpPr txBox="1"/>
          <p:nvPr/>
        </p:nvSpPr>
        <p:spPr>
          <a:xfrm>
            <a:off x="12611100" y="6486525"/>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 in place</a:t>
            </a:r>
          </a:p>
        </p:txBody>
      </p:sp>
      <p:sp>
        <p:nvSpPr>
          <p:cNvPr id="57" name="TextBox 56"/>
          <p:cNvSpPr txBox="1"/>
          <p:nvPr/>
        </p:nvSpPr>
        <p:spPr>
          <a:xfrm>
            <a:off x="12611100" y="6905625"/>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 forward speed, just the turn</a:t>
            </a:r>
          </a:p>
        </p:txBody>
      </p:sp>
      <p:sp>
        <p:nvSpPr>
          <p:cNvPr id="58" name="Oval 57"/>
          <p:cNvSpPr/>
          <p:nvPr/>
        </p:nvSpPr>
        <p:spPr>
          <a:xfrm>
            <a:off x="12001500" y="7715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2001500" y="7715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60" name="TextBox 59"/>
          <p:cNvSpPr txBox="1"/>
          <p:nvPr/>
        </p:nvSpPr>
        <p:spPr>
          <a:xfrm>
            <a:off x="12611100" y="7677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Reset elsewhere</a:t>
            </a:r>
          </a:p>
        </p:txBody>
      </p:sp>
      <p:sp>
        <p:nvSpPr>
          <p:cNvPr id="61" name="TextBox 60"/>
          <p:cNvSpPr txBox="1"/>
          <p:nvPr/>
        </p:nvSpPr>
        <p:spPr>
          <a:xfrm>
            <a:off x="12611100" y="8096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Old error doesn't carry over</a:t>
            </a:r>
          </a:p>
        </p:txBody>
      </p:sp>
      <p:sp>
        <p:nvSpPr>
          <p:cNvPr id="62" name="TextBox 6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3" name="TextBox 6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Which way is positive?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051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No minus sign</a:t>
            </a:r>
          </a:p>
        </p:txBody>
      </p:sp>
      <p:sp>
        <p:nvSpPr>
          <p:cNvPr id="7" name="TextBox 6"/>
          <p:cNvSpPr txBox="1"/>
          <p:nvPr/>
        </p:nvSpPr>
        <p:spPr>
          <a:xfrm>
            <a:off x="1295400" y="3600450"/>
            <a:ext cx="7239000" cy="32385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aim_pid_.calculate(...)</a:t>
            </a:r>
          </a:p>
        </p:txBody>
      </p:sp>
      <p:cxnSp>
        <p:nvCxnSpPr>
          <p:cNvPr id="8" name="Connector 7"/>
          <p:cNvCxnSpPr/>
          <p:nvPr/>
        </p:nvCxnSpPr>
        <p:spPr>
          <a:xfrm flipH="1" flipV="1">
            <a:off x="3390900" y="4533900"/>
            <a:ext cx="1562100" cy="15621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pic>
        <p:nvPicPr>
          <p:cNvPr id="9" name="Picture 8" descr="bullseye.png"/>
          <p:cNvPicPr>
            <a:picLocks noChangeAspect="1"/>
          </p:cNvPicPr>
          <p:nvPr/>
        </p:nvPicPr>
        <p:blipFill>
          <a:blip r:embed="rId3"/>
          <a:stretch>
            <a:fillRect/>
          </a:stretch>
        </p:blipFill>
        <p:spPr>
          <a:xfrm>
            <a:off x="2800350" y="3943350"/>
            <a:ext cx="685800" cy="685800"/>
          </a:xfrm>
          <a:prstGeom prst="rect">
            <a:avLst/>
          </a:prstGeom>
        </p:spPr>
      </p:pic>
      <p:pic>
        <p:nvPicPr>
          <p:cNvPr id="10" name="Picture 9" descr="dozer_top.png"/>
          <p:cNvPicPr>
            <a:picLocks noChangeAspect="1"/>
          </p:cNvPicPr>
          <p:nvPr/>
        </p:nvPicPr>
        <p:blipFill>
          <a:blip r:embed="rId4"/>
          <a:stretch>
            <a:fillRect/>
          </a:stretch>
        </p:blipFill>
        <p:spPr>
          <a:xfrm rot="16200000">
            <a:off x="4238625" y="5439345"/>
            <a:ext cx="1428750" cy="1313311"/>
          </a:xfrm>
          <a:prstGeom prst="rect">
            <a:avLst/>
          </a:prstGeom>
        </p:spPr>
      </p:pic>
      <p:cxnSp>
        <p:nvCxnSpPr>
          <p:cNvPr id="11" name="Connector 10"/>
          <p:cNvCxnSpPr/>
          <p:nvPr/>
        </p:nvCxnSpPr>
        <p:spPr>
          <a:xfrm flipV="1">
            <a:off x="4496916" y="4823057"/>
            <a:ext cx="58794" cy="19863"/>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555710" y="4805952"/>
            <a:ext cx="59654" cy="17105"/>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615364" y="4791640"/>
            <a:ext cx="60386" cy="14312"/>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75750" y="4780153"/>
            <a:ext cx="60986" cy="11487"/>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736736" y="4771517"/>
            <a:ext cx="61454" cy="8636"/>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798190" y="4765748"/>
            <a:ext cx="61790" cy="5769"/>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826642" y="4732411"/>
            <a:ext cx="128666" cy="666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888633" y="4729524"/>
            <a:ext cx="128733" cy="666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950692" y="4729524"/>
            <a:ext cx="128666" cy="666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a:off x="5046020" y="4765748"/>
            <a:ext cx="61790" cy="5769"/>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07810" y="4771517"/>
            <a:ext cx="61454" cy="8636"/>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169264" y="4780153"/>
            <a:ext cx="60986" cy="11487"/>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230250" y="4791640"/>
            <a:ext cx="60386" cy="14312"/>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290636" y="4805952"/>
            <a:ext cx="59654" cy="17105"/>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350290" y="4823057"/>
            <a:ext cx="58794" cy="19863"/>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409084" y="4842920"/>
            <a:ext cx="57806" cy="22576"/>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66890" y="4865496"/>
            <a:ext cx="56693" cy="25242"/>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523583" y="4890738"/>
            <a:ext cx="55457" cy="27851"/>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579040" y="4918589"/>
            <a:ext cx="54102" cy="30402"/>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633142" y="4948991"/>
            <a:ext cx="52628" cy="32886"/>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685770" y="4981877"/>
            <a:ext cx="51042" cy="35299"/>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36812" y="5017176"/>
            <a:ext cx="49343" cy="37635"/>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6155" y="5054811"/>
            <a:ext cx="47540" cy="39890"/>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833695" y="5094701"/>
            <a:ext cx="45632" cy="42059"/>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879327" y="5136760"/>
            <a:ext cx="43626" cy="44137"/>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22953" y="5180897"/>
            <a:ext cx="41525" cy="46118"/>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64478" y="5227015"/>
            <a:ext cx="39334" cy="48000"/>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03812" y="5275015"/>
            <a:ext cx="37059" cy="49779"/>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40871" y="5324794"/>
            <a:ext cx="34703" cy="51448"/>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75574" y="5376242"/>
            <a:ext cx="32271" cy="53008"/>
          </a:xfrm>
          <a:prstGeom prst="line">
            <a:avLst/>
          </a:prstGeom>
          <a:ln w="666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040871" y="5324794"/>
            <a:ext cx="66974" cy="104456"/>
          </a:xfrm>
          <a:prstGeom prst="line">
            <a:avLst/>
          </a:prstGeom>
          <a:ln w="66675">
            <a:solidFill>
              <a:srgbClr val="E0554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42" name="Picture 41" descr="dozer_wide_left.png"/>
          <p:cNvPicPr>
            <a:picLocks noChangeAspect="1"/>
          </p:cNvPicPr>
          <p:nvPr/>
        </p:nvPicPr>
        <p:blipFill>
          <a:blip r:embed="rId5"/>
          <a:stretch>
            <a:fillRect/>
          </a:stretch>
        </p:blipFill>
        <p:spPr>
          <a:xfrm>
            <a:off x="7010400" y="4191000"/>
            <a:ext cx="1619250" cy="995262"/>
          </a:xfrm>
          <a:prstGeom prst="rect">
            <a:avLst/>
          </a:prstGeom>
        </p:spPr>
      </p:pic>
      <p:sp>
        <p:nvSpPr>
          <p:cNvPr id="43" name="TextBox 42"/>
          <p:cNvSpPr txBox="1"/>
          <p:nvPr/>
        </p:nvSpPr>
        <p:spPr>
          <a:xfrm>
            <a:off x="1295400" y="7905750"/>
            <a:ext cx="7239000" cy="666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Error +45° gives turn +0.8. Positive turns right: it spins away.</a:t>
            </a:r>
          </a:p>
        </p:txBody>
      </p:sp>
      <p:sp>
        <p:nvSpPr>
          <p:cNvPr id="44" name="Rounded Rectangle 43"/>
          <p:cNvSpPr/>
          <p:nvPr/>
        </p:nvSpPr>
        <p:spPr>
          <a:xfrm>
            <a:off x="9296400" y="2857500"/>
            <a:ext cx="8077200" cy="5905500"/>
          </a:xfrm>
          <a:prstGeom prst="roundRect">
            <a:avLst>
              <a:gd name="adj" fmla="val 258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677400" y="31051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With the minus sign</a:t>
            </a:r>
          </a:p>
        </p:txBody>
      </p:sp>
      <p:sp>
        <p:nvSpPr>
          <p:cNvPr id="46" name="TextBox 45"/>
          <p:cNvSpPr txBox="1"/>
          <p:nvPr/>
        </p:nvSpPr>
        <p:spPr>
          <a:xfrm>
            <a:off x="9677400" y="3600450"/>
            <a:ext cx="7239000" cy="32385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-aim_pid_.calculate(...)</a:t>
            </a:r>
          </a:p>
        </p:txBody>
      </p:sp>
      <p:cxnSp>
        <p:nvCxnSpPr>
          <p:cNvPr id="47" name="Connector 46"/>
          <p:cNvCxnSpPr/>
          <p:nvPr/>
        </p:nvCxnSpPr>
        <p:spPr>
          <a:xfrm flipH="1" flipV="1">
            <a:off x="11772900" y="4533900"/>
            <a:ext cx="1562100" cy="15621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pic>
        <p:nvPicPr>
          <p:cNvPr id="48" name="Picture 47" descr="bullseye.png"/>
          <p:cNvPicPr>
            <a:picLocks noChangeAspect="1"/>
          </p:cNvPicPr>
          <p:nvPr/>
        </p:nvPicPr>
        <p:blipFill>
          <a:blip r:embed="rId3"/>
          <a:stretch>
            <a:fillRect/>
          </a:stretch>
        </p:blipFill>
        <p:spPr>
          <a:xfrm>
            <a:off x="11182350" y="3943350"/>
            <a:ext cx="685800" cy="685800"/>
          </a:xfrm>
          <a:prstGeom prst="rect">
            <a:avLst/>
          </a:prstGeom>
        </p:spPr>
      </p:pic>
      <p:pic>
        <p:nvPicPr>
          <p:cNvPr id="49" name="Picture 48" descr="dozer_top.png"/>
          <p:cNvPicPr>
            <a:picLocks noChangeAspect="1"/>
          </p:cNvPicPr>
          <p:nvPr/>
        </p:nvPicPr>
        <p:blipFill>
          <a:blip r:embed="rId4"/>
          <a:stretch>
            <a:fillRect/>
          </a:stretch>
        </p:blipFill>
        <p:spPr>
          <a:xfrm rot="16200000">
            <a:off x="12620625" y="5439345"/>
            <a:ext cx="1428750" cy="1313311"/>
          </a:xfrm>
          <a:prstGeom prst="rect">
            <a:avLst/>
          </a:prstGeom>
        </p:spPr>
      </p:pic>
      <p:cxnSp>
        <p:nvCxnSpPr>
          <p:cNvPr id="50" name="Connector 49"/>
          <p:cNvCxnSpPr/>
          <p:nvPr/>
        </p:nvCxnSpPr>
        <p:spPr>
          <a:xfrm flipH="1" flipV="1">
            <a:off x="13750762" y="4828970"/>
            <a:ext cx="40322" cy="1395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13710014" y="4816318"/>
            <a:ext cx="40748" cy="1265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13668882" y="4804975"/>
            <a:ext cx="41132" cy="1134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13627408" y="4794954"/>
            <a:ext cx="41474" cy="1002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13585635" y="4786266"/>
            <a:ext cx="41773" cy="868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13543605" y="4778918"/>
            <a:ext cx="42030" cy="734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13501362" y="4772918"/>
            <a:ext cx="42243" cy="600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3425611" y="4739581"/>
            <a:ext cx="109089"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3383071" y="4734936"/>
            <a:ext cx="10921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3340447" y="4731650"/>
            <a:ext cx="109299"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3297784" y="4729727"/>
            <a:ext cx="109338"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3255124" y="4729168"/>
            <a:ext cx="109334"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3212512" y="4729975"/>
            <a:ext cx="109287"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3169992" y="4732146"/>
            <a:ext cx="109196"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4" name="Connector 63"/>
          <p:cNvCxnSpPr/>
          <p:nvPr/>
        </p:nvCxnSpPr>
        <p:spPr>
          <a:xfrm flipH="1">
            <a:off x="13160943" y="4769017"/>
            <a:ext cx="42386" cy="489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3118736" y="4773908"/>
            <a:ext cx="42207" cy="624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3076750" y="4780153"/>
            <a:ext cx="41986" cy="759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3035028" y="4787746"/>
            <a:ext cx="41722" cy="893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2993613" y="4796678"/>
            <a:ext cx="41415" cy="1026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2952548" y="4806939"/>
            <a:ext cx="41065" cy="1158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2911874" y="4818521"/>
            <a:ext cx="40674" cy="1288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2871634" y="4831410"/>
            <a:ext cx="40240" cy="1418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2831868" y="4845594"/>
            <a:ext cx="39766" cy="1546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2792617" y="4861059"/>
            <a:ext cx="39251" cy="1672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2753921" y="4877787"/>
            <a:ext cx="38696" cy="1797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2715820" y="4895763"/>
            <a:ext cx="38101" cy="1920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2678353" y="4914967"/>
            <a:ext cx="37467" cy="2041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2641558" y="4935381"/>
            <a:ext cx="36795" cy="2160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2605474" y="4956982"/>
            <a:ext cx="36084" cy="2276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2570136" y="4979750"/>
            <a:ext cx="35338" cy="2391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2570136" y="4956982"/>
            <a:ext cx="71422" cy="46679"/>
          </a:xfrm>
          <a:prstGeom prst="line">
            <a:avLst/>
          </a:prstGeom>
          <a:ln w="6667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9677400" y="7905750"/>
            <a:ext cx="7239000" cy="666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Turn -0.8 turns left, toward the goal.</a:t>
            </a:r>
          </a:p>
        </p:txBody>
      </p:sp>
      <p:sp>
        <p:nvSpPr>
          <p:cNvPr id="82" name="TextBox 8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3" name="TextBox 8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Aimed means stopped too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276600"/>
            <a:ext cx="10477500" cy="2333625"/>
          </a:xfrm>
          <a:prstGeom prst="roundRect">
            <a:avLst>
              <a:gd name="adj" fmla="val 653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71925"/>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71925"/>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86250"/>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86250"/>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600575"/>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600575"/>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657600"/>
            <a:ext cx="99441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boolean</a:t>
            </a:r>
            <a:r>
              <a:rPr sz="1650" b="0" i="0">
                <a:solidFill>
                  <a:srgbClr val="F0E8E8"/>
                </a:solidFill>
                <a:latin typeface="Geist Mono"/>
                <a:ea typeface="Geist Mono"/>
                <a:cs typeface="Geist Mono"/>
              </a:rPr>
              <a:t> isAimed() {</a:t>
            </a:r>
          </a:p>
        </p:txBody>
      </p:sp>
      <p:sp>
        <p:nvSpPr>
          <p:cNvPr id="14" name="TextBox 13"/>
          <p:cNvSpPr txBox="1"/>
          <p:nvPr/>
        </p:nvSpPr>
        <p:spPr>
          <a:xfrm>
            <a:off x="1295400" y="397192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Math.abs(Math.toDegrees(getAimErrorRadians()))</a:t>
            </a:r>
          </a:p>
        </p:txBody>
      </p:sp>
      <p:sp>
        <p:nvSpPr>
          <p:cNvPr id="15" name="TextBox 14"/>
          <p:cNvSpPr txBox="1"/>
          <p:nvPr/>
        </p:nvSpPr>
        <p:spPr>
          <a:xfrm>
            <a:off x="1295400" y="4286250"/>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&lt; DrivetrainConstants.AIM_TOLERANCE_DEGREES</a:t>
            </a:r>
          </a:p>
        </p:txBody>
      </p:sp>
      <p:sp>
        <p:nvSpPr>
          <p:cNvPr id="16" name="TextBox 15"/>
          <p:cNvSpPr txBox="1"/>
          <p:nvPr/>
        </p:nvSpPr>
        <p:spPr>
          <a:xfrm>
            <a:off x="1295400" y="460057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Math.abs(drive_.getAngularSpeed()) &lt; </a:t>
            </a:r>
            <a:r>
              <a:rPr sz="1650" b="0" i="0">
                <a:solidFill>
                  <a:srgbClr val="E8C27A"/>
                </a:solidFill>
                <a:latin typeface="Geist Mono"/>
                <a:ea typeface="Geist Mono"/>
                <a:cs typeface="Geist Mono"/>
              </a:rPr>
              <a:t>0.15</a:t>
            </a:r>
            <a:r>
              <a:rPr sz="1650" b="0" i="0">
                <a:solidFill>
                  <a:srgbClr val="F0E8E8"/>
                </a:solidFill>
                <a:latin typeface="Geist Mono"/>
                <a:ea typeface="Geist Mono"/>
                <a:cs typeface="Geist Mono"/>
              </a:rPr>
              <a:t>;</a:t>
            </a:r>
          </a:p>
        </p:txBody>
      </p:sp>
      <p:sp>
        <p:nvSpPr>
          <p:cNvPr id="17" name="TextBox 16"/>
          <p:cNvSpPr txBox="1"/>
          <p:nvPr/>
        </p:nvSpPr>
        <p:spPr>
          <a:xfrm>
            <a:off x="1295400" y="4914900"/>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8" name="Oval 17"/>
          <p:cNvSpPr/>
          <p:nvPr/>
        </p:nvSpPr>
        <p:spPr>
          <a:xfrm>
            <a:off x="10782300" y="393858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2300" y="39385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782300" y="45672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2300" y="45672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TextBox 21"/>
          <p:cNvSpPr txBox="1"/>
          <p:nvPr/>
        </p:nvSpPr>
        <p:spPr>
          <a:xfrm>
            <a:off x="914400" y="605790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DrivetrainCommands.java</a:t>
            </a:r>
          </a:p>
        </p:txBody>
      </p:sp>
      <p:sp>
        <p:nvSpPr>
          <p:cNvPr id="23" name="Rounded Rectangle 22"/>
          <p:cNvSpPr/>
          <p:nvPr/>
        </p:nvSpPr>
        <p:spPr>
          <a:xfrm>
            <a:off x="914400" y="6477000"/>
            <a:ext cx="10477500" cy="2647950"/>
          </a:xfrm>
          <a:prstGeom prst="roundRect">
            <a:avLst>
              <a:gd name="adj" fmla="val 575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33450" y="7800975"/>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33450" y="7800975"/>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933450" y="8115300"/>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33450" y="8115300"/>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95400" y="6858000"/>
            <a:ext cx="99441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Command aim() {</a:t>
            </a:r>
          </a:p>
        </p:txBody>
      </p:sp>
      <p:sp>
        <p:nvSpPr>
          <p:cNvPr id="29" name="TextBox 28"/>
          <p:cNvSpPr txBox="1"/>
          <p:nvPr/>
        </p:nvSpPr>
        <p:spPr>
          <a:xfrm>
            <a:off x="1295400" y="717232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DrivetrainSubsystem drive = DrivetrainSubsystem.getInstance();</a:t>
            </a:r>
          </a:p>
        </p:txBody>
      </p:sp>
      <p:sp>
        <p:nvSpPr>
          <p:cNvPr id="30" name="TextBox 29"/>
          <p:cNvSpPr txBox="1"/>
          <p:nvPr/>
        </p:nvSpPr>
        <p:spPr>
          <a:xfrm>
            <a:off x="1295400" y="7486650"/>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Commands.startEnd(</a:t>
            </a:r>
          </a:p>
        </p:txBody>
      </p:sp>
      <p:sp>
        <p:nvSpPr>
          <p:cNvPr id="31" name="TextBox 30"/>
          <p:cNvSpPr txBox="1"/>
          <p:nvPr/>
        </p:nvSpPr>
        <p:spPr>
          <a:xfrm>
            <a:off x="1295400" y="780097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drive.setWantedState(DriveStates.AIM),</a:t>
            </a:r>
          </a:p>
        </p:txBody>
      </p:sp>
      <p:sp>
        <p:nvSpPr>
          <p:cNvPr id="32" name="TextBox 31"/>
          <p:cNvSpPr txBox="1"/>
          <p:nvPr/>
        </p:nvSpPr>
        <p:spPr>
          <a:xfrm>
            <a:off x="1295400" y="8115300"/>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drive.setWantedState(DriveStates.ARCADE));</a:t>
            </a:r>
          </a:p>
        </p:txBody>
      </p:sp>
      <p:sp>
        <p:nvSpPr>
          <p:cNvPr id="33" name="TextBox 32"/>
          <p:cNvSpPr txBox="1"/>
          <p:nvPr/>
        </p:nvSpPr>
        <p:spPr>
          <a:xfrm>
            <a:off x="1295400" y="842962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34" name="Oval 33"/>
          <p:cNvSpPr/>
          <p:nvPr/>
        </p:nvSpPr>
        <p:spPr>
          <a:xfrm>
            <a:off x="10782300" y="77676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82300" y="77676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Oval 35"/>
          <p:cNvSpPr/>
          <p:nvPr/>
        </p:nvSpPr>
        <p:spPr>
          <a:xfrm>
            <a:off x="10782300" y="808196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82300" y="808196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8" name="Oval 37"/>
          <p:cNvSpPr/>
          <p:nvPr/>
        </p:nvSpPr>
        <p:spPr>
          <a:xfrm>
            <a:off x="1200150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001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0" name="TextBox 39"/>
          <p:cNvSpPr txBox="1"/>
          <p:nvPr/>
        </p:nvSpPr>
        <p:spPr>
          <a:xfrm>
            <a:off x="12611100" y="3105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Close enough</a:t>
            </a:r>
          </a:p>
        </p:txBody>
      </p:sp>
      <p:sp>
        <p:nvSpPr>
          <p:cNvPr id="41" name="TextBox 40"/>
          <p:cNvSpPr txBox="1"/>
          <p:nvPr/>
        </p:nvSpPr>
        <p:spPr>
          <a:xfrm>
            <a:off x="12611100" y="3524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Error under 2 degrees</a:t>
            </a:r>
          </a:p>
        </p:txBody>
      </p:sp>
      <p:sp>
        <p:nvSpPr>
          <p:cNvPr id="42" name="Oval 41"/>
          <p:cNvSpPr/>
          <p:nvPr/>
        </p:nvSpPr>
        <p:spPr>
          <a:xfrm>
            <a:off x="12001500" y="457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0150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4" name="TextBox 43"/>
          <p:cNvSpPr txBox="1"/>
          <p:nvPr/>
        </p:nvSpPr>
        <p:spPr>
          <a:xfrm>
            <a:off x="12611100" y="4533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And stopped</a:t>
            </a:r>
          </a:p>
        </p:txBody>
      </p:sp>
      <p:sp>
        <p:nvSpPr>
          <p:cNvPr id="45" name="TextBox 44"/>
          <p:cNvSpPr txBox="1"/>
          <p:nvPr/>
        </p:nvSpPr>
        <p:spPr>
          <a:xfrm>
            <a:off x="12611100" y="49530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&amp;&amp;: both must be true</a:t>
            </a:r>
          </a:p>
        </p:txBody>
      </p:sp>
      <p:sp>
        <p:nvSpPr>
          <p:cNvPr id="46" name="Oval 45"/>
          <p:cNvSpPr/>
          <p:nvPr/>
        </p:nvSpPr>
        <p:spPr>
          <a:xfrm>
            <a:off x="12001500" y="6000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00150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TextBox 47"/>
          <p:cNvSpPr txBox="1"/>
          <p:nvPr/>
        </p:nvSpPr>
        <p:spPr>
          <a:xfrm>
            <a:off x="12611100" y="59626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 down</a:t>
            </a:r>
          </a:p>
        </p:txBody>
      </p:sp>
      <p:sp>
        <p:nvSpPr>
          <p:cNvPr id="49" name="TextBox 48"/>
          <p:cNvSpPr txBox="1"/>
          <p:nvPr/>
        </p:nvSpPr>
        <p:spPr>
          <a:xfrm>
            <a:off x="12611100" y="63817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 aiming: AIM</a:t>
            </a:r>
          </a:p>
        </p:txBody>
      </p:sp>
      <p:sp>
        <p:nvSpPr>
          <p:cNvPr id="50" name="Oval 49"/>
          <p:cNvSpPr/>
          <p:nvPr/>
        </p:nvSpPr>
        <p:spPr>
          <a:xfrm>
            <a:off x="12001500" y="7429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00150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2" name="TextBox 51"/>
          <p:cNvSpPr txBox="1"/>
          <p:nvPr/>
        </p:nvSpPr>
        <p:spPr>
          <a:xfrm>
            <a:off x="12611100" y="73914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 up</a:t>
            </a:r>
          </a:p>
        </p:txBody>
      </p:sp>
      <p:sp>
        <p:nvSpPr>
          <p:cNvPr id="53" name="TextBox 52"/>
          <p:cNvSpPr txBox="1"/>
          <p:nvPr/>
        </p:nvSpPr>
        <p:spPr>
          <a:xfrm>
            <a:off x="12611100" y="78105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Back to driving: ARCADE</a:t>
            </a:r>
          </a:p>
        </p:txBody>
      </p:sp>
      <p:sp>
        <p:nvSpPr>
          <p:cNvPr id="54" name="TextBox 5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5" name="TextBox 5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the aim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7551860"/>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00150" y="7418510"/>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a:t>
            </a:r>
          </a:p>
        </p:txBody>
      </p:sp>
      <p:sp>
        <p:nvSpPr>
          <p:cNvPr id="8" name="Rectangle 7"/>
          <p:cNvSpPr/>
          <p:nvPr/>
        </p:nvSpPr>
        <p:spPr>
          <a:xfrm>
            <a:off x="2238375" y="6863129"/>
            <a:ext cx="7448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0150" y="6729779"/>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10" name="Rectangle 9"/>
          <p:cNvSpPr/>
          <p:nvPr/>
        </p:nvSpPr>
        <p:spPr>
          <a:xfrm>
            <a:off x="2238375" y="6174398"/>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6041048"/>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a:t>
            </a:r>
          </a:p>
        </p:txBody>
      </p:sp>
      <p:sp>
        <p:nvSpPr>
          <p:cNvPr id="12" name="Rectangle 11"/>
          <p:cNvSpPr/>
          <p:nvPr/>
        </p:nvSpPr>
        <p:spPr>
          <a:xfrm>
            <a:off x="2238375" y="5485667"/>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00150" y="5352317"/>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a:t>
            </a:r>
          </a:p>
        </p:txBody>
      </p:sp>
      <p:sp>
        <p:nvSpPr>
          <p:cNvPr id="14" name="Rectangle 13"/>
          <p:cNvSpPr/>
          <p:nvPr/>
        </p:nvSpPr>
        <p:spPr>
          <a:xfrm>
            <a:off x="2238375" y="4796937"/>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00150" y="4663587"/>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a:t>
            </a:r>
          </a:p>
        </p:txBody>
      </p:sp>
      <p:sp>
        <p:nvSpPr>
          <p:cNvPr id="16" name="Rectangle 15"/>
          <p:cNvSpPr/>
          <p:nvPr/>
        </p:nvSpPr>
        <p:spPr>
          <a:xfrm>
            <a:off x="2238375" y="4108206"/>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00150" y="397485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a:t>
            </a:r>
          </a:p>
        </p:txBody>
      </p:sp>
      <p:sp>
        <p:nvSpPr>
          <p:cNvPr id="18" name="Rectangle 17"/>
          <p:cNvSpPr/>
          <p:nvPr/>
        </p:nvSpPr>
        <p:spPr>
          <a:xfrm>
            <a:off x="2238375" y="3419475"/>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00150" y="32861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50</a:t>
            </a:r>
          </a:p>
        </p:txBody>
      </p:sp>
      <p:sp>
        <p:nvSpPr>
          <p:cNvPr id="20" name="TextBox 19"/>
          <p:cNvSpPr txBox="1"/>
          <p:nvPr/>
        </p:nvSpPr>
        <p:spPr>
          <a:xfrm>
            <a:off x="1676400" y="80010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1" name="TextBox 20"/>
          <p:cNvSpPr txBox="1"/>
          <p:nvPr/>
        </p:nvSpPr>
        <p:spPr>
          <a:xfrm>
            <a:off x="4152900" y="80010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2" name="TextBox 21"/>
          <p:cNvSpPr txBox="1"/>
          <p:nvPr/>
        </p:nvSpPr>
        <p:spPr>
          <a:xfrm>
            <a:off x="6629400" y="80010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3" name="TextBox 22"/>
          <p:cNvSpPr txBox="1"/>
          <p:nvPr/>
        </p:nvSpPr>
        <p:spPr>
          <a:xfrm>
            <a:off x="9105900" y="80010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4" name="Rectangle 23"/>
          <p:cNvSpPr/>
          <p:nvPr/>
        </p:nvSpPr>
        <p:spPr>
          <a:xfrm>
            <a:off x="2238375" y="3419475"/>
            <a:ext cx="19050" cy="44958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247900" y="8324850"/>
            <a:ext cx="74295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since pressing E (s)</a:t>
            </a:r>
          </a:p>
        </p:txBody>
      </p:sp>
      <p:sp>
        <p:nvSpPr>
          <p:cNvPr id="26" name="TextBox 25"/>
          <p:cNvSpPr txBox="1"/>
          <p:nvPr/>
        </p:nvSpPr>
        <p:spPr>
          <a:xfrm>
            <a:off x="2381250" y="3048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AimErrorDegrees</a:t>
            </a:r>
          </a:p>
        </p:txBody>
      </p:sp>
      <p:sp>
        <p:nvSpPr>
          <p:cNvPr id="27" name="Rectangle 26"/>
          <p:cNvSpPr/>
          <p:nvPr/>
        </p:nvSpPr>
        <p:spPr>
          <a:xfrm>
            <a:off x="2238375" y="6725383"/>
            <a:ext cx="7448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238375" y="7000875"/>
            <a:ext cx="7448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238375" y="7551860"/>
            <a:ext cx="7448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772650" y="7418510"/>
            <a:ext cx="1619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10° past</a:t>
            </a:r>
          </a:p>
        </p:txBody>
      </p:sp>
      <p:sp>
        <p:nvSpPr>
          <p:cNvPr id="31" name="TextBox 30"/>
          <p:cNvSpPr txBox="1"/>
          <p:nvPr/>
        </p:nvSpPr>
        <p:spPr>
          <a:xfrm>
            <a:off x="9772650" y="6411058"/>
            <a:ext cx="1619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2°</a:t>
            </a:r>
          </a:p>
        </p:txBody>
      </p:sp>
      <p:cxnSp>
        <p:nvCxnSpPr>
          <p:cNvPr id="32" name="Connector 31"/>
          <p:cNvCxnSpPr/>
          <p:nvPr/>
        </p:nvCxnSpPr>
        <p:spPr>
          <a:xfrm>
            <a:off x="2247900" y="3777734"/>
            <a:ext cx="49530" cy="116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97430" y="3789334"/>
            <a:ext cx="49530" cy="179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346960" y="3807235"/>
            <a:ext cx="49530" cy="2337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396490" y="3830609"/>
            <a:ext cx="49530" cy="281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446020" y="3858715"/>
            <a:ext cx="49530" cy="3217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495550" y="3890893"/>
            <a:ext cx="49530" cy="356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545080" y="3926555"/>
            <a:ext cx="49530" cy="386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594610" y="3965178"/>
            <a:ext cx="49530" cy="411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644140" y="4006297"/>
            <a:ext cx="49530" cy="432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693670" y="4049497"/>
            <a:ext cx="49530" cy="449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743200" y="4094411"/>
            <a:ext cx="49530" cy="463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792730" y="4140712"/>
            <a:ext cx="49530" cy="473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842260" y="4188111"/>
            <a:ext cx="49530" cy="4824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891790" y="4236353"/>
            <a:ext cx="49530" cy="488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941320" y="4285212"/>
            <a:ext cx="49530" cy="492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990850" y="4334487"/>
            <a:ext cx="49530" cy="4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040380" y="4384004"/>
            <a:ext cx="49530" cy="4960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089910" y="4433607"/>
            <a:ext cx="49530" cy="495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139440" y="4483162"/>
            <a:ext cx="49530" cy="4938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188970" y="4532550"/>
            <a:ext cx="49530" cy="491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238500" y="4581667"/>
            <a:ext cx="49530" cy="487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288030" y="4630424"/>
            <a:ext cx="49530" cy="483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337560" y="4678744"/>
            <a:ext cx="49530" cy="4781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387090" y="4726559"/>
            <a:ext cx="49530" cy="472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436620" y="4773812"/>
            <a:ext cx="49530" cy="466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486150" y="4820455"/>
            <a:ext cx="49530" cy="4599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535680" y="4866445"/>
            <a:ext cx="49530" cy="453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585210" y="4911750"/>
            <a:ext cx="49530" cy="4459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634740" y="4956340"/>
            <a:ext cx="49530" cy="438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684270" y="5000192"/>
            <a:ext cx="49530" cy="430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733800" y="5043288"/>
            <a:ext cx="49530" cy="423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783330" y="5085615"/>
            <a:ext cx="49530" cy="415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832860" y="5127160"/>
            <a:ext cx="49530" cy="407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882390" y="5167918"/>
            <a:ext cx="49530" cy="399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931920" y="5207884"/>
            <a:ext cx="49530" cy="391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981450" y="5247056"/>
            <a:ext cx="49530" cy="3837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030980" y="5285435"/>
            <a:ext cx="49530" cy="3758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080510" y="5323023"/>
            <a:ext cx="49530" cy="368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130040" y="5359824"/>
            <a:ext cx="49530" cy="360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179570" y="5395843"/>
            <a:ext cx="49530" cy="352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229100" y="5431088"/>
            <a:ext cx="49530" cy="344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278630" y="5465565"/>
            <a:ext cx="49530" cy="337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328160" y="5499286"/>
            <a:ext cx="49530" cy="329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377690" y="5532257"/>
            <a:ext cx="49530" cy="322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427220" y="5564491"/>
            <a:ext cx="49530" cy="315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476750" y="5595998"/>
            <a:ext cx="49530" cy="307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526280" y="5626790"/>
            <a:ext cx="49530" cy="300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575810" y="5656877"/>
            <a:ext cx="49530" cy="293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25340" y="5686273"/>
            <a:ext cx="49530" cy="2871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74870" y="5714989"/>
            <a:ext cx="49530" cy="2804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724400" y="5743038"/>
            <a:ext cx="49530" cy="273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4773930" y="5770432"/>
            <a:ext cx="49530" cy="26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4823460" y="5797185"/>
            <a:ext cx="49530" cy="261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4872990" y="5823308"/>
            <a:ext cx="49530" cy="255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4922520" y="5848815"/>
            <a:ext cx="49530" cy="249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972050" y="5873719"/>
            <a:ext cx="49530" cy="243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021580" y="5898031"/>
            <a:ext cx="49530" cy="237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071110" y="5921765"/>
            <a:ext cx="49530" cy="231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120640" y="5944932"/>
            <a:ext cx="49530" cy="226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170170" y="5967546"/>
            <a:ext cx="49530" cy="220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219700" y="5989617"/>
            <a:ext cx="49530" cy="2154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269230" y="6011159"/>
            <a:ext cx="49530" cy="210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318760" y="6032184"/>
            <a:ext cx="49530" cy="205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368290" y="6052702"/>
            <a:ext cx="49530" cy="200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17820" y="6072725"/>
            <a:ext cx="49530" cy="1953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67350" y="6092264"/>
            <a:ext cx="49530" cy="19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5516880" y="6111332"/>
            <a:ext cx="49530" cy="186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5566410" y="6129938"/>
            <a:ext cx="49530" cy="181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5615940" y="6148093"/>
            <a:ext cx="49530" cy="1771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5665470" y="6165808"/>
            <a:ext cx="49530" cy="172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5715000" y="6183093"/>
            <a:ext cx="49530" cy="168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764530" y="6199958"/>
            <a:ext cx="49530" cy="16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814060" y="6216414"/>
            <a:ext cx="49530" cy="160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863590" y="6232469"/>
            <a:ext cx="49530" cy="156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913120" y="6248133"/>
            <a:ext cx="49530" cy="15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5962650" y="6263416"/>
            <a:ext cx="49530" cy="149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6012180" y="6278327"/>
            <a:ext cx="49530" cy="145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061710" y="6292874"/>
            <a:ext cx="49530" cy="1419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111240" y="6307067"/>
            <a:ext cx="49530" cy="138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160770" y="6320913"/>
            <a:ext cx="49530" cy="135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210300" y="6334421"/>
            <a:ext cx="49530" cy="1317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259830" y="6347600"/>
            <a:ext cx="49530" cy="128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6309360" y="6360457"/>
            <a:ext cx="49530" cy="125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6358890" y="6373000"/>
            <a:ext cx="49530" cy="122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408420" y="6385236"/>
            <a:ext cx="49530" cy="119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6457950" y="6397174"/>
            <a:ext cx="49530" cy="116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507480" y="6408819"/>
            <a:ext cx="49530" cy="113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557010" y="6420180"/>
            <a:ext cx="49530" cy="110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606540" y="6431263"/>
            <a:ext cx="49530" cy="108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656070" y="6442075"/>
            <a:ext cx="49530" cy="105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6705600" y="6452623"/>
            <a:ext cx="49530" cy="102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673608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678561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683514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688467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693420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698373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703326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ectangle 129"/>
          <p:cNvSpPr/>
          <p:nvPr/>
        </p:nvSpPr>
        <p:spPr>
          <a:xfrm>
            <a:off x="708279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713232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718185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723138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728091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733044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737997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742950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747903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752856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757809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762762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767715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772668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ectangle 143"/>
          <p:cNvSpPr/>
          <p:nvPr/>
        </p:nvSpPr>
        <p:spPr>
          <a:xfrm>
            <a:off x="777621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ectangle 144"/>
          <p:cNvSpPr/>
          <p:nvPr/>
        </p:nvSpPr>
        <p:spPr>
          <a:xfrm>
            <a:off x="782574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ectangle 145"/>
          <p:cNvSpPr/>
          <p:nvPr/>
        </p:nvSpPr>
        <p:spPr>
          <a:xfrm>
            <a:off x="787527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ectangle 146"/>
          <p:cNvSpPr/>
          <p:nvPr/>
        </p:nvSpPr>
        <p:spPr>
          <a:xfrm>
            <a:off x="792480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ectangle 147"/>
          <p:cNvSpPr/>
          <p:nvPr/>
        </p:nvSpPr>
        <p:spPr>
          <a:xfrm>
            <a:off x="797433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802386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807339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812292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817245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822198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827151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832104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837057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842010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846963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851916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856869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861822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866775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871728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876681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881634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886587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891540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896493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901446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906399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911352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916305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921258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926211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931164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936117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941070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946023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50976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955929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9608820" y="6443862"/>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2" name="Connector 181"/>
          <p:cNvCxnSpPr/>
          <p:nvPr/>
        </p:nvCxnSpPr>
        <p:spPr>
          <a:xfrm>
            <a:off x="2247900" y="3795208"/>
            <a:ext cx="49530" cy="5787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2297430" y="3853084"/>
            <a:ext cx="49530" cy="8885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2346960" y="3941938"/>
            <a:ext cx="49530" cy="11499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2396490" y="4056934"/>
            <a:ext cx="49530" cy="13655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2446020" y="4193488"/>
            <a:ext cx="49530" cy="1538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2495550" y="4347295"/>
            <a:ext cx="49530" cy="1670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2545080" y="4514352"/>
            <a:ext cx="49530" cy="1766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2594610" y="4690969"/>
            <a:ext cx="49530" cy="1828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2644140" y="4873778"/>
            <a:ext cx="49530" cy="1859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2693670" y="5059741"/>
            <a:ext cx="49530" cy="18640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2743200" y="5246143"/>
            <a:ext cx="49530" cy="18444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2792730" y="5430588"/>
            <a:ext cx="49530" cy="18040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2842260" y="5610996"/>
            <a:ext cx="49530" cy="17459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2891790" y="5785586"/>
            <a:ext cx="49530" cy="16727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2941320" y="5952862"/>
            <a:ext cx="49530" cy="15874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2990850" y="6111603"/>
            <a:ext cx="49530" cy="1492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3040380" y="6260838"/>
            <a:ext cx="49530" cy="1389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3089910" y="6399836"/>
            <a:ext cx="49530" cy="12824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3139440" y="6528080"/>
            <a:ext cx="49530" cy="1171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3188970" y="6645250"/>
            <a:ext cx="49530" cy="1059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3238500" y="6751205"/>
            <a:ext cx="49530" cy="947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3288030" y="6845960"/>
            <a:ext cx="49530" cy="8352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3337560" y="6929483"/>
            <a:ext cx="49530" cy="7303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3387090" y="7002514"/>
            <a:ext cx="49530" cy="6294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3436620" y="7065457"/>
            <a:ext cx="49530" cy="529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3486150" y="7118418"/>
            <a:ext cx="49530" cy="435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3535680" y="7161932"/>
            <a:ext cx="49530" cy="3465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3585210" y="7196586"/>
            <a:ext cx="49530" cy="2642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3634740" y="7223009"/>
            <a:ext cx="49530" cy="1884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3684270" y="7241858"/>
            <a:ext cx="49530" cy="1194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3733800" y="7253806"/>
            <a:ext cx="49530" cy="572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13" name="Rectangle 212"/>
          <p:cNvSpPr/>
          <p:nvPr/>
        </p:nvSpPr>
        <p:spPr>
          <a:xfrm>
            <a:off x="3764280" y="724048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Rectangle 213"/>
          <p:cNvSpPr/>
          <p:nvPr/>
        </p:nvSpPr>
        <p:spPr>
          <a:xfrm>
            <a:off x="3813810" y="7240659"/>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15" name="Connector 214"/>
          <p:cNvCxnSpPr/>
          <p:nvPr/>
        </p:nvCxnSpPr>
        <p:spPr>
          <a:xfrm flipV="1">
            <a:off x="3882390" y="7246061"/>
            <a:ext cx="49530" cy="894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3931920" y="7233502"/>
            <a:ext cx="49530" cy="1255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3981450" y="7217918"/>
            <a:ext cx="49530" cy="1558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4030980" y="7199869"/>
            <a:ext cx="49530" cy="1804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4080510" y="7179878"/>
            <a:ext cx="49530" cy="199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4130040" y="7158428"/>
            <a:ext cx="49530" cy="214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4179570" y="7135965"/>
            <a:ext cx="49530" cy="224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4229100" y="7112892"/>
            <a:ext cx="49530" cy="230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4278630" y="7089572"/>
            <a:ext cx="49530" cy="2332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4328160" y="7066329"/>
            <a:ext cx="49530" cy="2324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4377690" y="7043444"/>
            <a:ext cx="49530" cy="228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4427220" y="7021162"/>
            <a:ext cx="49530" cy="2228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4476750" y="6999690"/>
            <a:ext cx="49530" cy="2147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4526280" y="6979202"/>
            <a:ext cx="49530" cy="2048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4575810" y="6959836"/>
            <a:ext cx="49530" cy="193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4625340" y="6941701"/>
            <a:ext cx="49530" cy="181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31" name="Rectangle 230"/>
          <p:cNvSpPr/>
          <p:nvPr/>
        </p:nvSpPr>
        <p:spPr>
          <a:xfrm>
            <a:off x="46558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Rectangle 231"/>
          <p:cNvSpPr/>
          <p:nvPr/>
        </p:nvSpPr>
        <p:spPr>
          <a:xfrm>
            <a:off x="47053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Rectangle 232"/>
          <p:cNvSpPr/>
          <p:nvPr/>
        </p:nvSpPr>
        <p:spPr>
          <a:xfrm>
            <a:off x="47548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4" name="Rectangle 233"/>
          <p:cNvSpPr/>
          <p:nvPr/>
        </p:nvSpPr>
        <p:spPr>
          <a:xfrm>
            <a:off x="48044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5" name="Rectangle 234"/>
          <p:cNvSpPr/>
          <p:nvPr/>
        </p:nvSpPr>
        <p:spPr>
          <a:xfrm>
            <a:off x="48539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6" name="Rectangle 235"/>
          <p:cNvSpPr/>
          <p:nvPr/>
        </p:nvSpPr>
        <p:spPr>
          <a:xfrm>
            <a:off x="49034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Rectangle 236"/>
          <p:cNvSpPr/>
          <p:nvPr/>
        </p:nvSpPr>
        <p:spPr>
          <a:xfrm>
            <a:off x="49530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Rectangle 237"/>
          <p:cNvSpPr/>
          <p:nvPr/>
        </p:nvSpPr>
        <p:spPr>
          <a:xfrm>
            <a:off x="50025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9" name="Rectangle 238"/>
          <p:cNvSpPr/>
          <p:nvPr/>
        </p:nvSpPr>
        <p:spPr>
          <a:xfrm>
            <a:off x="50520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Rectangle 239"/>
          <p:cNvSpPr/>
          <p:nvPr/>
        </p:nvSpPr>
        <p:spPr>
          <a:xfrm>
            <a:off x="51015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1" name="Rectangle 240"/>
          <p:cNvSpPr/>
          <p:nvPr/>
        </p:nvSpPr>
        <p:spPr>
          <a:xfrm>
            <a:off x="51511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Rectangle 241"/>
          <p:cNvSpPr/>
          <p:nvPr/>
        </p:nvSpPr>
        <p:spPr>
          <a:xfrm>
            <a:off x="52006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Rectangle 242"/>
          <p:cNvSpPr/>
          <p:nvPr/>
        </p:nvSpPr>
        <p:spPr>
          <a:xfrm>
            <a:off x="52501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52997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53492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53987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54483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54978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Rectangle 248"/>
          <p:cNvSpPr/>
          <p:nvPr/>
        </p:nvSpPr>
        <p:spPr>
          <a:xfrm>
            <a:off x="55473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Rectangle 249"/>
          <p:cNvSpPr/>
          <p:nvPr/>
        </p:nvSpPr>
        <p:spPr>
          <a:xfrm>
            <a:off x="55968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Rectangle 250"/>
          <p:cNvSpPr/>
          <p:nvPr/>
        </p:nvSpPr>
        <p:spPr>
          <a:xfrm>
            <a:off x="56464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56959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57454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57950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58445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58940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Rectangle 256"/>
          <p:cNvSpPr/>
          <p:nvPr/>
        </p:nvSpPr>
        <p:spPr>
          <a:xfrm>
            <a:off x="59436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59931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60426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60921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61417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Rectangle 261"/>
          <p:cNvSpPr/>
          <p:nvPr/>
        </p:nvSpPr>
        <p:spPr>
          <a:xfrm>
            <a:off x="61912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Rectangle 262"/>
          <p:cNvSpPr/>
          <p:nvPr/>
        </p:nvSpPr>
        <p:spPr>
          <a:xfrm>
            <a:off x="62407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Rectangle 263"/>
          <p:cNvSpPr/>
          <p:nvPr/>
        </p:nvSpPr>
        <p:spPr>
          <a:xfrm>
            <a:off x="62903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Rectangle 264"/>
          <p:cNvSpPr/>
          <p:nvPr/>
        </p:nvSpPr>
        <p:spPr>
          <a:xfrm>
            <a:off x="63398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Rectangle 265"/>
          <p:cNvSpPr/>
          <p:nvPr/>
        </p:nvSpPr>
        <p:spPr>
          <a:xfrm>
            <a:off x="63893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Rectangle 266"/>
          <p:cNvSpPr/>
          <p:nvPr/>
        </p:nvSpPr>
        <p:spPr>
          <a:xfrm>
            <a:off x="64389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64884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65379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Rectangle 269"/>
          <p:cNvSpPr/>
          <p:nvPr/>
        </p:nvSpPr>
        <p:spPr>
          <a:xfrm>
            <a:off x="65874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Rectangle 270"/>
          <p:cNvSpPr/>
          <p:nvPr/>
        </p:nvSpPr>
        <p:spPr>
          <a:xfrm>
            <a:off x="66370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Rectangle 271"/>
          <p:cNvSpPr/>
          <p:nvPr/>
        </p:nvSpPr>
        <p:spPr>
          <a:xfrm>
            <a:off x="66865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3" name="Rectangle 272"/>
          <p:cNvSpPr/>
          <p:nvPr/>
        </p:nvSpPr>
        <p:spPr>
          <a:xfrm>
            <a:off x="67360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Rectangle 273"/>
          <p:cNvSpPr/>
          <p:nvPr/>
        </p:nvSpPr>
        <p:spPr>
          <a:xfrm>
            <a:off x="67856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5" name="Rectangle 274"/>
          <p:cNvSpPr/>
          <p:nvPr/>
        </p:nvSpPr>
        <p:spPr>
          <a:xfrm>
            <a:off x="68351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Rectangle 275"/>
          <p:cNvSpPr/>
          <p:nvPr/>
        </p:nvSpPr>
        <p:spPr>
          <a:xfrm>
            <a:off x="68846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7" name="Rectangle 276"/>
          <p:cNvSpPr/>
          <p:nvPr/>
        </p:nvSpPr>
        <p:spPr>
          <a:xfrm>
            <a:off x="69342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Rectangle 277"/>
          <p:cNvSpPr/>
          <p:nvPr/>
        </p:nvSpPr>
        <p:spPr>
          <a:xfrm>
            <a:off x="69837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9" name="Rectangle 278"/>
          <p:cNvSpPr/>
          <p:nvPr/>
        </p:nvSpPr>
        <p:spPr>
          <a:xfrm>
            <a:off x="70332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Rectangle 279"/>
          <p:cNvSpPr/>
          <p:nvPr/>
        </p:nvSpPr>
        <p:spPr>
          <a:xfrm>
            <a:off x="70827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1" name="Rectangle 280"/>
          <p:cNvSpPr/>
          <p:nvPr/>
        </p:nvSpPr>
        <p:spPr>
          <a:xfrm>
            <a:off x="71323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2" name="Rectangle 281"/>
          <p:cNvSpPr/>
          <p:nvPr/>
        </p:nvSpPr>
        <p:spPr>
          <a:xfrm>
            <a:off x="71818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3" name="Rectangle 282"/>
          <p:cNvSpPr/>
          <p:nvPr/>
        </p:nvSpPr>
        <p:spPr>
          <a:xfrm>
            <a:off x="72313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Rectangle 283"/>
          <p:cNvSpPr/>
          <p:nvPr/>
        </p:nvSpPr>
        <p:spPr>
          <a:xfrm>
            <a:off x="72809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5" name="Rectangle 284"/>
          <p:cNvSpPr/>
          <p:nvPr/>
        </p:nvSpPr>
        <p:spPr>
          <a:xfrm>
            <a:off x="73304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Rectangle 285"/>
          <p:cNvSpPr/>
          <p:nvPr/>
        </p:nvSpPr>
        <p:spPr>
          <a:xfrm>
            <a:off x="73799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7" name="Rectangle 286"/>
          <p:cNvSpPr/>
          <p:nvPr/>
        </p:nvSpPr>
        <p:spPr>
          <a:xfrm>
            <a:off x="74295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8" name="Rectangle 287"/>
          <p:cNvSpPr/>
          <p:nvPr/>
        </p:nvSpPr>
        <p:spPr>
          <a:xfrm>
            <a:off x="74790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9" name="Rectangle 288"/>
          <p:cNvSpPr/>
          <p:nvPr/>
        </p:nvSpPr>
        <p:spPr>
          <a:xfrm>
            <a:off x="75285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0" name="Rectangle 289"/>
          <p:cNvSpPr/>
          <p:nvPr/>
        </p:nvSpPr>
        <p:spPr>
          <a:xfrm>
            <a:off x="75780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1" name="Rectangle 290"/>
          <p:cNvSpPr/>
          <p:nvPr/>
        </p:nvSpPr>
        <p:spPr>
          <a:xfrm>
            <a:off x="76276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Rectangle 291"/>
          <p:cNvSpPr/>
          <p:nvPr/>
        </p:nvSpPr>
        <p:spPr>
          <a:xfrm>
            <a:off x="76771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3" name="Rectangle 292"/>
          <p:cNvSpPr/>
          <p:nvPr/>
        </p:nvSpPr>
        <p:spPr>
          <a:xfrm>
            <a:off x="77266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4" name="Rectangle 293"/>
          <p:cNvSpPr/>
          <p:nvPr/>
        </p:nvSpPr>
        <p:spPr>
          <a:xfrm>
            <a:off x="77762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5" name="Rectangle 294"/>
          <p:cNvSpPr/>
          <p:nvPr/>
        </p:nvSpPr>
        <p:spPr>
          <a:xfrm>
            <a:off x="78257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Rectangle 295"/>
          <p:cNvSpPr/>
          <p:nvPr/>
        </p:nvSpPr>
        <p:spPr>
          <a:xfrm>
            <a:off x="78752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7" name="Rectangle 296"/>
          <p:cNvSpPr/>
          <p:nvPr/>
        </p:nvSpPr>
        <p:spPr>
          <a:xfrm>
            <a:off x="79248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Rectangle 297"/>
          <p:cNvSpPr/>
          <p:nvPr/>
        </p:nvSpPr>
        <p:spPr>
          <a:xfrm>
            <a:off x="79743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9" name="Rectangle 298"/>
          <p:cNvSpPr/>
          <p:nvPr/>
        </p:nvSpPr>
        <p:spPr>
          <a:xfrm>
            <a:off x="80238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Rectangle 299"/>
          <p:cNvSpPr/>
          <p:nvPr/>
        </p:nvSpPr>
        <p:spPr>
          <a:xfrm>
            <a:off x="80733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1" name="Rectangle 300"/>
          <p:cNvSpPr/>
          <p:nvPr/>
        </p:nvSpPr>
        <p:spPr>
          <a:xfrm>
            <a:off x="81229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Rectangle 301"/>
          <p:cNvSpPr/>
          <p:nvPr/>
        </p:nvSpPr>
        <p:spPr>
          <a:xfrm>
            <a:off x="81724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3" name="Rectangle 302"/>
          <p:cNvSpPr/>
          <p:nvPr/>
        </p:nvSpPr>
        <p:spPr>
          <a:xfrm>
            <a:off x="82219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Rectangle 303"/>
          <p:cNvSpPr/>
          <p:nvPr/>
        </p:nvSpPr>
        <p:spPr>
          <a:xfrm>
            <a:off x="82715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5" name="Rectangle 304"/>
          <p:cNvSpPr/>
          <p:nvPr/>
        </p:nvSpPr>
        <p:spPr>
          <a:xfrm>
            <a:off x="83210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Rectangle 305"/>
          <p:cNvSpPr/>
          <p:nvPr/>
        </p:nvSpPr>
        <p:spPr>
          <a:xfrm>
            <a:off x="83705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7" name="Rectangle 306"/>
          <p:cNvSpPr/>
          <p:nvPr/>
        </p:nvSpPr>
        <p:spPr>
          <a:xfrm>
            <a:off x="84201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Rectangle 307"/>
          <p:cNvSpPr/>
          <p:nvPr/>
        </p:nvSpPr>
        <p:spPr>
          <a:xfrm>
            <a:off x="84696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9" name="Rectangle 308"/>
          <p:cNvSpPr/>
          <p:nvPr/>
        </p:nvSpPr>
        <p:spPr>
          <a:xfrm>
            <a:off x="85191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Rectangle 309"/>
          <p:cNvSpPr/>
          <p:nvPr/>
        </p:nvSpPr>
        <p:spPr>
          <a:xfrm>
            <a:off x="85686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1" name="Rectangle 310"/>
          <p:cNvSpPr/>
          <p:nvPr/>
        </p:nvSpPr>
        <p:spPr>
          <a:xfrm>
            <a:off x="86182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Rectangle 311"/>
          <p:cNvSpPr/>
          <p:nvPr/>
        </p:nvSpPr>
        <p:spPr>
          <a:xfrm>
            <a:off x="86677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3" name="Rectangle 312"/>
          <p:cNvSpPr/>
          <p:nvPr/>
        </p:nvSpPr>
        <p:spPr>
          <a:xfrm>
            <a:off x="87172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Rectangle 313"/>
          <p:cNvSpPr/>
          <p:nvPr/>
        </p:nvSpPr>
        <p:spPr>
          <a:xfrm>
            <a:off x="87668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5" name="Rectangle 314"/>
          <p:cNvSpPr/>
          <p:nvPr/>
        </p:nvSpPr>
        <p:spPr>
          <a:xfrm>
            <a:off x="88163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Rectangle 315"/>
          <p:cNvSpPr/>
          <p:nvPr/>
        </p:nvSpPr>
        <p:spPr>
          <a:xfrm>
            <a:off x="88658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7" name="Rectangle 316"/>
          <p:cNvSpPr/>
          <p:nvPr/>
        </p:nvSpPr>
        <p:spPr>
          <a:xfrm>
            <a:off x="89154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Rectangle 317"/>
          <p:cNvSpPr/>
          <p:nvPr/>
        </p:nvSpPr>
        <p:spPr>
          <a:xfrm>
            <a:off x="89649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9" name="Rectangle 318"/>
          <p:cNvSpPr/>
          <p:nvPr/>
        </p:nvSpPr>
        <p:spPr>
          <a:xfrm>
            <a:off x="90144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Rectangle 319"/>
          <p:cNvSpPr/>
          <p:nvPr/>
        </p:nvSpPr>
        <p:spPr>
          <a:xfrm>
            <a:off x="90639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1" name="Rectangle 320"/>
          <p:cNvSpPr/>
          <p:nvPr/>
        </p:nvSpPr>
        <p:spPr>
          <a:xfrm>
            <a:off x="91135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Rectangle 321"/>
          <p:cNvSpPr/>
          <p:nvPr/>
        </p:nvSpPr>
        <p:spPr>
          <a:xfrm>
            <a:off x="916305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3" name="Rectangle 322"/>
          <p:cNvSpPr/>
          <p:nvPr/>
        </p:nvSpPr>
        <p:spPr>
          <a:xfrm>
            <a:off x="921258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Rectangle 323"/>
          <p:cNvSpPr/>
          <p:nvPr/>
        </p:nvSpPr>
        <p:spPr>
          <a:xfrm>
            <a:off x="926211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5" name="Rectangle 324"/>
          <p:cNvSpPr/>
          <p:nvPr/>
        </p:nvSpPr>
        <p:spPr>
          <a:xfrm>
            <a:off x="931164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Rectangle 325"/>
          <p:cNvSpPr/>
          <p:nvPr/>
        </p:nvSpPr>
        <p:spPr>
          <a:xfrm>
            <a:off x="936117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7" name="Rectangle 326"/>
          <p:cNvSpPr/>
          <p:nvPr/>
        </p:nvSpPr>
        <p:spPr>
          <a:xfrm>
            <a:off x="941070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Rectangle 327"/>
          <p:cNvSpPr/>
          <p:nvPr/>
        </p:nvSpPr>
        <p:spPr>
          <a:xfrm>
            <a:off x="946023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9" name="Rectangle 328"/>
          <p:cNvSpPr/>
          <p:nvPr/>
        </p:nvSpPr>
        <p:spPr>
          <a:xfrm>
            <a:off x="950976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0" name="Rectangle 329"/>
          <p:cNvSpPr/>
          <p:nvPr/>
        </p:nvSpPr>
        <p:spPr>
          <a:xfrm>
            <a:off x="955929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1" name="Rectangle 330"/>
          <p:cNvSpPr/>
          <p:nvPr/>
        </p:nvSpPr>
        <p:spPr>
          <a:xfrm>
            <a:off x="9608820" y="692265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32" name="Connector 331"/>
          <p:cNvCxnSpPr/>
          <p:nvPr/>
        </p:nvCxnSpPr>
        <p:spPr>
          <a:xfrm>
            <a:off x="2247900" y="3801176"/>
            <a:ext cx="49530" cy="7388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2297430" y="3875062"/>
            <a:ext cx="49530" cy="11417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2346960" y="3989235"/>
            <a:ext cx="49530" cy="14939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2396490" y="4138634"/>
            <a:ext cx="49530" cy="18020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2446020" y="4318835"/>
            <a:ext cx="49530" cy="20261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2495550" y="4521454"/>
            <a:ext cx="49530" cy="21425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2545080" y="4735709"/>
            <a:ext cx="49530" cy="21711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2594610" y="4952827"/>
            <a:ext cx="49530" cy="21335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2644140" y="5166182"/>
            <a:ext cx="49530" cy="20477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2693670" y="5370954"/>
            <a:ext cx="49530" cy="19283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2743200" y="5563793"/>
            <a:ext cx="49530" cy="17874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2792730" y="5742536"/>
            <a:ext cx="49530" cy="16342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2842260" y="5905960"/>
            <a:ext cx="49530" cy="14761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2891790" y="6053572"/>
            <a:ext cx="49530" cy="13186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2941320" y="6185433"/>
            <a:ext cx="49530" cy="11619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2990850" y="6301624"/>
            <a:ext cx="49530" cy="10159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3040380" y="6403220"/>
            <a:ext cx="49530" cy="8883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3089910" y="6492055"/>
            <a:ext cx="49530" cy="7678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3139440" y="6568835"/>
            <a:ext cx="49530" cy="6530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a:off x="3188970" y="6634141"/>
            <a:ext cx="49530" cy="5497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3238500" y="6689119"/>
            <a:ext cx="49530" cy="4581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a:off x="3288030" y="6734934"/>
            <a:ext cx="49530" cy="3776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a:off x="3337560" y="6772699"/>
            <a:ext cx="49530" cy="3076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3387090" y="6803460"/>
            <a:ext cx="49530" cy="2472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3436620" y="6828185"/>
            <a:ext cx="49530" cy="1957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486150" y="6847755"/>
            <a:ext cx="49530" cy="1521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535680" y="6862966"/>
            <a:ext cx="49530" cy="1156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585210" y="6874526"/>
            <a:ext cx="49530" cy="853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634740" y="6883061"/>
            <a:ext cx="49530" cy="605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361" name="Rectangle 360"/>
          <p:cNvSpPr/>
          <p:nvPr/>
        </p:nvSpPr>
        <p:spPr>
          <a:xfrm>
            <a:off x="3650932" y="6855781"/>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Rectangle 361"/>
          <p:cNvSpPr/>
          <p:nvPr/>
        </p:nvSpPr>
        <p:spPr>
          <a:xfrm>
            <a:off x="37004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3" name="Rectangle 362"/>
          <p:cNvSpPr/>
          <p:nvPr/>
        </p:nvSpPr>
        <p:spPr>
          <a:xfrm>
            <a:off x="37499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Rectangle 363"/>
          <p:cNvSpPr/>
          <p:nvPr/>
        </p:nvSpPr>
        <p:spPr>
          <a:xfrm>
            <a:off x="37995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5" name="Rectangle 364"/>
          <p:cNvSpPr/>
          <p:nvPr/>
        </p:nvSpPr>
        <p:spPr>
          <a:xfrm>
            <a:off x="38490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Rectangle 365"/>
          <p:cNvSpPr/>
          <p:nvPr/>
        </p:nvSpPr>
        <p:spPr>
          <a:xfrm>
            <a:off x="38985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7" name="Rectangle 366"/>
          <p:cNvSpPr/>
          <p:nvPr/>
        </p:nvSpPr>
        <p:spPr>
          <a:xfrm>
            <a:off x="39481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Rectangle 367"/>
          <p:cNvSpPr/>
          <p:nvPr/>
        </p:nvSpPr>
        <p:spPr>
          <a:xfrm>
            <a:off x="39976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Rectangle 368"/>
          <p:cNvSpPr/>
          <p:nvPr/>
        </p:nvSpPr>
        <p:spPr>
          <a:xfrm>
            <a:off x="40471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Rectangle 369"/>
          <p:cNvSpPr/>
          <p:nvPr/>
        </p:nvSpPr>
        <p:spPr>
          <a:xfrm>
            <a:off x="40967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1" name="Rectangle 370"/>
          <p:cNvSpPr/>
          <p:nvPr/>
        </p:nvSpPr>
        <p:spPr>
          <a:xfrm>
            <a:off x="41462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Rectangle 371"/>
          <p:cNvSpPr/>
          <p:nvPr/>
        </p:nvSpPr>
        <p:spPr>
          <a:xfrm>
            <a:off x="41957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3" name="Rectangle 372"/>
          <p:cNvSpPr/>
          <p:nvPr/>
        </p:nvSpPr>
        <p:spPr>
          <a:xfrm>
            <a:off x="42452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Rectangle 373"/>
          <p:cNvSpPr/>
          <p:nvPr/>
        </p:nvSpPr>
        <p:spPr>
          <a:xfrm>
            <a:off x="42948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5" name="Rectangle 374"/>
          <p:cNvSpPr/>
          <p:nvPr/>
        </p:nvSpPr>
        <p:spPr>
          <a:xfrm>
            <a:off x="43443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Rectangle 375"/>
          <p:cNvSpPr/>
          <p:nvPr/>
        </p:nvSpPr>
        <p:spPr>
          <a:xfrm>
            <a:off x="43938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7" name="Rectangle 376"/>
          <p:cNvSpPr/>
          <p:nvPr/>
        </p:nvSpPr>
        <p:spPr>
          <a:xfrm>
            <a:off x="44434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8" name="Rectangle 377"/>
          <p:cNvSpPr/>
          <p:nvPr/>
        </p:nvSpPr>
        <p:spPr>
          <a:xfrm>
            <a:off x="44929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9" name="Rectangle 378"/>
          <p:cNvSpPr/>
          <p:nvPr/>
        </p:nvSpPr>
        <p:spPr>
          <a:xfrm>
            <a:off x="45424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Rectangle 379"/>
          <p:cNvSpPr/>
          <p:nvPr/>
        </p:nvSpPr>
        <p:spPr>
          <a:xfrm>
            <a:off x="45920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1" name="Rectangle 380"/>
          <p:cNvSpPr/>
          <p:nvPr/>
        </p:nvSpPr>
        <p:spPr>
          <a:xfrm>
            <a:off x="46415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2" name="Rectangle 381"/>
          <p:cNvSpPr/>
          <p:nvPr/>
        </p:nvSpPr>
        <p:spPr>
          <a:xfrm>
            <a:off x="46910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3" name="Rectangle 382"/>
          <p:cNvSpPr/>
          <p:nvPr/>
        </p:nvSpPr>
        <p:spPr>
          <a:xfrm>
            <a:off x="47405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Rectangle 383"/>
          <p:cNvSpPr/>
          <p:nvPr/>
        </p:nvSpPr>
        <p:spPr>
          <a:xfrm>
            <a:off x="47901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5" name="Rectangle 384"/>
          <p:cNvSpPr/>
          <p:nvPr/>
        </p:nvSpPr>
        <p:spPr>
          <a:xfrm>
            <a:off x="48396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6" name="Rectangle 385"/>
          <p:cNvSpPr/>
          <p:nvPr/>
        </p:nvSpPr>
        <p:spPr>
          <a:xfrm>
            <a:off x="48891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7" name="Rectangle 386"/>
          <p:cNvSpPr/>
          <p:nvPr/>
        </p:nvSpPr>
        <p:spPr>
          <a:xfrm>
            <a:off x="49387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Rectangle 387"/>
          <p:cNvSpPr/>
          <p:nvPr/>
        </p:nvSpPr>
        <p:spPr>
          <a:xfrm>
            <a:off x="49882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9" name="Rectangle 388"/>
          <p:cNvSpPr/>
          <p:nvPr/>
        </p:nvSpPr>
        <p:spPr>
          <a:xfrm>
            <a:off x="503777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0" name="Rectangle 389"/>
          <p:cNvSpPr/>
          <p:nvPr/>
        </p:nvSpPr>
        <p:spPr>
          <a:xfrm>
            <a:off x="50873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1" name="Rectangle 390"/>
          <p:cNvSpPr/>
          <p:nvPr/>
        </p:nvSpPr>
        <p:spPr>
          <a:xfrm>
            <a:off x="51368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2" name="Rectangle 391"/>
          <p:cNvSpPr/>
          <p:nvPr/>
        </p:nvSpPr>
        <p:spPr>
          <a:xfrm>
            <a:off x="51863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3" name="Rectangle 392"/>
          <p:cNvSpPr/>
          <p:nvPr/>
        </p:nvSpPr>
        <p:spPr>
          <a:xfrm>
            <a:off x="52358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4" name="Rectangle 393"/>
          <p:cNvSpPr/>
          <p:nvPr/>
        </p:nvSpPr>
        <p:spPr>
          <a:xfrm>
            <a:off x="52854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5" name="Rectangle 394"/>
          <p:cNvSpPr/>
          <p:nvPr/>
        </p:nvSpPr>
        <p:spPr>
          <a:xfrm>
            <a:off x="53349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6" name="Rectangle 395"/>
          <p:cNvSpPr/>
          <p:nvPr/>
        </p:nvSpPr>
        <p:spPr>
          <a:xfrm>
            <a:off x="53844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7" name="Rectangle 396"/>
          <p:cNvSpPr/>
          <p:nvPr/>
        </p:nvSpPr>
        <p:spPr>
          <a:xfrm>
            <a:off x="54340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Rectangle 397"/>
          <p:cNvSpPr/>
          <p:nvPr/>
        </p:nvSpPr>
        <p:spPr>
          <a:xfrm>
            <a:off x="54835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9" name="Rectangle 398"/>
          <p:cNvSpPr/>
          <p:nvPr/>
        </p:nvSpPr>
        <p:spPr>
          <a:xfrm>
            <a:off x="553307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Rectangle 399"/>
          <p:cNvSpPr/>
          <p:nvPr/>
        </p:nvSpPr>
        <p:spPr>
          <a:xfrm>
            <a:off x="55826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1" name="Rectangle 400"/>
          <p:cNvSpPr/>
          <p:nvPr/>
        </p:nvSpPr>
        <p:spPr>
          <a:xfrm>
            <a:off x="56321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2" name="Rectangle 401"/>
          <p:cNvSpPr/>
          <p:nvPr/>
        </p:nvSpPr>
        <p:spPr>
          <a:xfrm>
            <a:off x="56816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3" name="Rectangle 402"/>
          <p:cNvSpPr/>
          <p:nvPr/>
        </p:nvSpPr>
        <p:spPr>
          <a:xfrm>
            <a:off x="57311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Rectangle 403"/>
          <p:cNvSpPr/>
          <p:nvPr/>
        </p:nvSpPr>
        <p:spPr>
          <a:xfrm>
            <a:off x="57807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5" name="Rectangle 404"/>
          <p:cNvSpPr/>
          <p:nvPr/>
        </p:nvSpPr>
        <p:spPr>
          <a:xfrm>
            <a:off x="58302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6" name="Rectangle 405"/>
          <p:cNvSpPr/>
          <p:nvPr/>
        </p:nvSpPr>
        <p:spPr>
          <a:xfrm>
            <a:off x="58797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7" name="Rectangle 406"/>
          <p:cNvSpPr/>
          <p:nvPr/>
        </p:nvSpPr>
        <p:spPr>
          <a:xfrm>
            <a:off x="59293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8" name="Rectangle 407"/>
          <p:cNvSpPr/>
          <p:nvPr/>
        </p:nvSpPr>
        <p:spPr>
          <a:xfrm>
            <a:off x="59788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9" name="Rectangle 408"/>
          <p:cNvSpPr/>
          <p:nvPr/>
        </p:nvSpPr>
        <p:spPr>
          <a:xfrm>
            <a:off x="60283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0" name="Rectangle 409"/>
          <p:cNvSpPr/>
          <p:nvPr/>
        </p:nvSpPr>
        <p:spPr>
          <a:xfrm>
            <a:off x="60779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1" name="Rectangle 410"/>
          <p:cNvSpPr/>
          <p:nvPr/>
        </p:nvSpPr>
        <p:spPr>
          <a:xfrm>
            <a:off x="612743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2" name="Rectangle 411"/>
          <p:cNvSpPr/>
          <p:nvPr/>
        </p:nvSpPr>
        <p:spPr>
          <a:xfrm>
            <a:off x="61769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3" name="Rectangle 412"/>
          <p:cNvSpPr/>
          <p:nvPr/>
        </p:nvSpPr>
        <p:spPr>
          <a:xfrm>
            <a:off x="62264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4" name="Rectangle 413"/>
          <p:cNvSpPr/>
          <p:nvPr/>
        </p:nvSpPr>
        <p:spPr>
          <a:xfrm>
            <a:off x="627602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5" name="Rectangle 414"/>
          <p:cNvSpPr/>
          <p:nvPr/>
        </p:nvSpPr>
        <p:spPr>
          <a:xfrm>
            <a:off x="63255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6" name="Rectangle 415"/>
          <p:cNvSpPr/>
          <p:nvPr/>
        </p:nvSpPr>
        <p:spPr>
          <a:xfrm>
            <a:off x="63750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7" name="Rectangle 416"/>
          <p:cNvSpPr/>
          <p:nvPr/>
        </p:nvSpPr>
        <p:spPr>
          <a:xfrm>
            <a:off x="64246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8" name="Rectangle 417"/>
          <p:cNvSpPr/>
          <p:nvPr/>
        </p:nvSpPr>
        <p:spPr>
          <a:xfrm>
            <a:off x="64741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9" name="Rectangle 418"/>
          <p:cNvSpPr/>
          <p:nvPr/>
        </p:nvSpPr>
        <p:spPr>
          <a:xfrm>
            <a:off x="65236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0" name="Rectangle 419"/>
          <p:cNvSpPr/>
          <p:nvPr/>
        </p:nvSpPr>
        <p:spPr>
          <a:xfrm>
            <a:off x="65732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1" name="Rectangle 420"/>
          <p:cNvSpPr/>
          <p:nvPr/>
        </p:nvSpPr>
        <p:spPr>
          <a:xfrm>
            <a:off x="66227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2" name="Rectangle 421"/>
          <p:cNvSpPr/>
          <p:nvPr/>
        </p:nvSpPr>
        <p:spPr>
          <a:xfrm>
            <a:off x="66722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3" name="Rectangle 422"/>
          <p:cNvSpPr/>
          <p:nvPr/>
        </p:nvSpPr>
        <p:spPr>
          <a:xfrm>
            <a:off x="67217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4" name="Rectangle 423"/>
          <p:cNvSpPr/>
          <p:nvPr/>
        </p:nvSpPr>
        <p:spPr>
          <a:xfrm>
            <a:off x="677132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5" name="Rectangle 424"/>
          <p:cNvSpPr/>
          <p:nvPr/>
        </p:nvSpPr>
        <p:spPr>
          <a:xfrm>
            <a:off x="68208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6" name="Rectangle 425"/>
          <p:cNvSpPr/>
          <p:nvPr/>
        </p:nvSpPr>
        <p:spPr>
          <a:xfrm>
            <a:off x="68703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7" name="Rectangle 426"/>
          <p:cNvSpPr/>
          <p:nvPr/>
        </p:nvSpPr>
        <p:spPr>
          <a:xfrm>
            <a:off x="69199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8" name="Rectangle 427"/>
          <p:cNvSpPr/>
          <p:nvPr/>
        </p:nvSpPr>
        <p:spPr>
          <a:xfrm>
            <a:off x="69694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9" name="Rectangle 428"/>
          <p:cNvSpPr/>
          <p:nvPr/>
        </p:nvSpPr>
        <p:spPr>
          <a:xfrm>
            <a:off x="70189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0" name="Rectangle 429"/>
          <p:cNvSpPr/>
          <p:nvPr/>
        </p:nvSpPr>
        <p:spPr>
          <a:xfrm>
            <a:off x="70685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1" name="Rectangle 430"/>
          <p:cNvSpPr/>
          <p:nvPr/>
        </p:nvSpPr>
        <p:spPr>
          <a:xfrm>
            <a:off x="711803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2" name="Rectangle 431"/>
          <p:cNvSpPr/>
          <p:nvPr/>
        </p:nvSpPr>
        <p:spPr>
          <a:xfrm>
            <a:off x="71675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3" name="Rectangle 432"/>
          <p:cNvSpPr/>
          <p:nvPr/>
        </p:nvSpPr>
        <p:spPr>
          <a:xfrm>
            <a:off x="72170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4" name="Rectangle 433"/>
          <p:cNvSpPr/>
          <p:nvPr/>
        </p:nvSpPr>
        <p:spPr>
          <a:xfrm>
            <a:off x="726662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5" name="Rectangle 434"/>
          <p:cNvSpPr/>
          <p:nvPr/>
        </p:nvSpPr>
        <p:spPr>
          <a:xfrm>
            <a:off x="73161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6" name="Rectangle 435"/>
          <p:cNvSpPr/>
          <p:nvPr/>
        </p:nvSpPr>
        <p:spPr>
          <a:xfrm>
            <a:off x="736568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7" name="Rectangle 436"/>
          <p:cNvSpPr/>
          <p:nvPr/>
        </p:nvSpPr>
        <p:spPr>
          <a:xfrm>
            <a:off x="74152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8" name="Rectangle 437"/>
          <p:cNvSpPr/>
          <p:nvPr/>
        </p:nvSpPr>
        <p:spPr>
          <a:xfrm>
            <a:off x="74647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9" name="Rectangle 438"/>
          <p:cNvSpPr/>
          <p:nvPr/>
        </p:nvSpPr>
        <p:spPr>
          <a:xfrm>
            <a:off x="75142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0" name="Rectangle 439"/>
          <p:cNvSpPr/>
          <p:nvPr/>
        </p:nvSpPr>
        <p:spPr>
          <a:xfrm>
            <a:off x="75638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1" name="Rectangle 440"/>
          <p:cNvSpPr/>
          <p:nvPr/>
        </p:nvSpPr>
        <p:spPr>
          <a:xfrm>
            <a:off x="761333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2" name="Rectangle 441"/>
          <p:cNvSpPr/>
          <p:nvPr/>
        </p:nvSpPr>
        <p:spPr>
          <a:xfrm>
            <a:off x="76628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3" name="Rectangle 442"/>
          <p:cNvSpPr/>
          <p:nvPr/>
        </p:nvSpPr>
        <p:spPr>
          <a:xfrm>
            <a:off x="77123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4" name="Rectangle 443"/>
          <p:cNvSpPr/>
          <p:nvPr/>
        </p:nvSpPr>
        <p:spPr>
          <a:xfrm>
            <a:off x="77619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5" name="Rectangle 444"/>
          <p:cNvSpPr/>
          <p:nvPr/>
        </p:nvSpPr>
        <p:spPr>
          <a:xfrm>
            <a:off x="78114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6" name="Rectangle 445"/>
          <p:cNvSpPr/>
          <p:nvPr/>
        </p:nvSpPr>
        <p:spPr>
          <a:xfrm>
            <a:off x="786098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7" name="Rectangle 446"/>
          <p:cNvSpPr/>
          <p:nvPr/>
        </p:nvSpPr>
        <p:spPr>
          <a:xfrm>
            <a:off x="79105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8" name="Rectangle 447"/>
          <p:cNvSpPr/>
          <p:nvPr/>
        </p:nvSpPr>
        <p:spPr>
          <a:xfrm>
            <a:off x="79600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9" name="Rectangle 448"/>
          <p:cNvSpPr/>
          <p:nvPr/>
        </p:nvSpPr>
        <p:spPr>
          <a:xfrm>
            <a:off x="80095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0" name="Rectangle 449"/>
          <p:cNvSpPr/>
          <p:nvPr/>
        </p:nvSpPr>
        <p:spPr>
          <a:xfrm>
            <a:off x="80591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1" name="Rectangle 450"/>
          <p:cNvSpPr/>
          <p:nvPr/>
        </p:nvSpPr>
        <p:spPr>
          <a:xfrm>
            <a:off x="81086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2" name="Rectangle 451"/>
          <p:cNvSpPr/>
          <p:nvPr/>
        </p:nvSpPr>
        <p:spPr>
          <a:xfrm>
            <a:off x="81581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3" name="Rectangle 452"/>
          <p:cNvSpPr/>
          <p:nvPr/>
        </p:nvSpPr>
        <p:spPr>
          <a:xfrm>
            <a:off x="82076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4" name="Rectangle 453"/>
          <p:cNvSpPr/>
          <p:nvPr/>
        </p:nvSpPr>
        <p:spPr>
          <a:xfrm>
            <a:off x="82572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5" name="Rectangle 454"/>
          <p:cNvSpPr/>
          <p:nvPr/>
        </p:nvSpPr>
        <p:spPr>
          <a:xfrm>
            <a:off x="83067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6" name="Rectangle 455"/>
          <p:cNvSpPr/>
          <p:nvPr/>
        </p:nvSpPr>
        <p:spPr>
          <a:xfrm>
            <a:off x="83562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7" name="Rectangle 456"/>
          <p:cNvSpPr/>
          <p:nvPr/>
        </p:nvSpPr>
        <p:spPr>
          <a:xfrm>
            <a:off x="84058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8" name="Rectangle 457"/>
          <p:cNvSpPr/>
          <p:nvPr/>
        </p:nvSpPr>
        <p:spPr>
          <a:xfrm>
            <a:off x="84553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9" name="Rectangle 458"/>
          <p:cNvSpPr/>
          <p:nvPr/>
        </p:nvSpPr>
        <p:spPr>
          <a:xfrm>
            <a:off x="85048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0" name="Rectangle 459"/>
          <p:cNvSpPr/>
          <p:nvPr/>
        </p:nvSpPr>
        <p:spPr>
          <a:xfrm>
            <a:off x="85544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1" name="Rectangle 460"/>
          <p:cNvSpPr/>
          <p:nvPr/>
        </p:nvSpPr>
        <p:spPr>
          <a:xfrm>
            <a:off x="86039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2" name="Rectangle 461"/>
          <p:cNvSpPr/>
          <p:nvPr/>
        </p:nvSpPr>
        <p:spPr>
          <a:xfrm>
            <a:off x="865346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3" name="Rectangle 462"/>
          <p:cNvSpPr/>
          <p:nvPr/>
        </p:nvSpPr>
        <p:spPr>
          <a:xfrm>
            <a:off x="87029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4" name="Rectangle 463"/>
          <p:cNvSpPr/>
          <p:nvPr/>
        </p:nvSpPr>
        <p:spPr>
          <a:xfrm>
            <a:off x="87525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5" name="Rectangle 464"/>
          <p:cNvSpPr/>
          <p:nvPr/>
        </p:nvSpPr>
        <p:spPr>
          <a:xfrm>
            <a:off x="88020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6" name="Rectangle 465"/>
          <p:cNvSpPr/>
          <p:nvPr/>
        </p:nvSpPr>
        <p:spPr>
          <a:xfrm>
            <a:off x="88515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7" name="Rectangle 466"/>
          <p:cNvSpPr/>
          <p:nvPr/>
        </p:nvSpPr>
        <p:spPr>
          <a:xfrm>
            <a:off x="89011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8" name="Rectangle 467"/>
          <p:cNvSpPr/>
          <p:nvPr/>
        </p:nvSpPr>
        <p:spPr>
          <a:xfrm>
            <a:off x="89506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9" name="Rectangle 468"/>
          <p:cNvSpPr/>
          <p:nvPr/>
        </p:nvSpPr>
        <p:spPr>
          <a:xfrm>
            <a:off x="90001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0" name="Rectangle 469"/>
          <p:cNvSpPr/>
          <p:nvPr/>
        </p:nvSpPr>
        <p:spPr>
          <a:xfrm>
            <a:off x="90497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1" name="Rectangle 470"/>
          <p:cNvSpPr/>
          <p:nvPr/>
        </p:nvSpPr>
        <p:spPr>
          <a:xfrm>
            <a:off x="90992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2" name="Rectangle 471"/>
          <p:cNvSpPr/>
          <p:nvPr/>
        </p:nvSpPr>
        <p:spPr>
          <a:xfrm>
            <a:off x="9148763"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3" name="Rectangle 472"/>
          <p:cNvSpPr/>
          <p:nvPr/>
        </p:nvSpPr>
        <p:spPr>
          <a:xfrm>
            <a:off x="919829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4" name="Rectangle 473"/>
          <p:cNvSpPr/>
          <p:nvPr/>
        </p:nvSpPr>
        <p:spPr>
          <a:xfrm>
            <a:off x="924782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5" name="Rectangle 474"/>
          <p:cNvSpPr/>
          <p:nvPr/>
        </p:nvSpPr>
        <p:spPr>
          <a:xfrm>
            <a:off x="929735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6" name="Rectangle 475"/>
          <p:cNvSpPr/>
          <p:nvPr/>
        </p:nvSpPr>
        <p:spPr>
          <a:xfrm>
            <a:off x="934688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7" name="Rectangle 476"/>
          <p:cNvSpPr/>
          <p:nvPr/>
        </p:nvSpPr>
        <p:spPr>
          <a:xfrm>
            <a:off x="939641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8" name="Rectangle 477"/>
          <p:cNvSpPr/>
          <p:nvPr/>
        </p:nvSpPr>
        <p:spPr>
          <a:xfrm>
            <a:off x="944594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9" name="Rectangle 478"/>
          <p:cNvSpPr/>
          <p:nvPr/>
        </p:nvSpPr>
        <p:spPr>
          <a:xfrm>
            <a:off x="949547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0" name="Rectangle 479"/>
          <p:cNvSpPr/>
          <p:nvPr/>
        </p:nvSpPr>
        <p:spPr>
          <a:xfrm>
            <a:off x="954500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1" name="Rectangle 480"/>
          <p:cNvSpPr/>
          <p:nvPr/>
        </p:nvSpPr>
        <p:spPr>
          <a:xfrm>
            <a:off x="9594532" y="6859832"/>
            <a:ext cx="11620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2" name="TextBox 481"/>
          <p:cNvSpPr txBox="1"/>
          <p:nvPr/>
        </p:nvSpPr>
        <p:spPr>
          <a:xfrm>
            <a:off x="7696200" y="6081912"/>
            <a:ext cx="1905000" cy="285750"/>
          </a:xfrm>
          <a:prstGeom prst="rect">
            <a:avLst/>
          </a:prstGeom>
          <a:noFill/>
        </p:spPr>
        <p:txBody>
          <a:bodyPr wrap="square" lIns="0" rIns="0" tIns="0" bIns="0" anchor="t">
            <a:spAutoFit/>
          </a:bodyPr>
          <a:lstStyle/>
          <a:p>
            <a:pPr algn="l"/>
            <a:r>
              <a:rPr sz="1650" b="1" i="0">
                <a:solidFill>
                  <a:srgbClr val="9A7878"/>
                </a:solidFill>
                <a:latin typeface="Geist"/>
                <a:ea typeface="Geist"/>
                <a:cs typeface="Geist"/>
              </a:rPr>
              <a:t>kP 0.2</a:t>
            </a:r>
          </a:p>
        </p:txBody>
      </p:sp>
      <p:sp>
        <p:nvSpPr>
          <p:cNvPr id="483" name="TextBox 482"/>
          <p:cNvSpPr txBox="1"/>
          <p:nvPr/>
        </p:nvSpPr>
        <p:spPr>
          <a:xfrm>
            <a:off x="3642360" y="7335909"/>
            <a:ext cx="1905000" cy="2857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kP 1.0</a:t>
            </a:r>
          </a:p>
        </p:txBody>
      </p:sp>
      <p:sp>
        <p:nvSpPr>
          <p:cNvPr id="484" name="TextBox 483"/>
          <p:cNvSpPr txBox="1"/>
          <p:nvPr/>
        </p:nvSpPr>
        <p:spPr>
          <a:xfrm>
            <a:off x="7200900" y="7113710"/>
            <a:ext cx="2476500" cy="2857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kP 2.0, kD 0.2</a:t>
            </a:r>
          </a:p>
        </p:txBody>
      </p:sp>
      <p:sp>
        <p:nvSpPr>
          <p:cNvPr id="485" name="Oval 484"/>
          <p:cNvSpPr/>
          <p:nvPr/>
        </p:nvSpPr>
        <p:spPr>
          <a:xfrm>
            <a:off x="1190625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TextBox 485"/>
          <p:cNvSpPr txBox="1"/>
          <p:nvPr/>
        </p:nvSpPr>
        <p:spPr>
          <a:xfrm>
            <a:off x="1190625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87" name="TextBox 486"/>
          <p:cNvSpPr txBox="1"/>
          <p:nvPr/>
        </p:nvSpPr>
        <p:spPr>
          <a:xfrm>
            <a:off x="12515850" y="2914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kP 0.2: stalls short</a:t>
            </a:r>
          </a:p>
        </p:txBody>
      </p:sp>
      <p:sp>
        <p:nvSpPr>
          <p:cNvPr id="488" name="TextBox 487"/>
          <p:cNvSpPr txBox="1"/>
          <p:nvPr/>
        </p:nvSpPr>
        <p:spPr>
          <a:xfrm>
            <a:off x="12515850" y="3333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6° short. Too weak to finish</a:t>
            </a:r>
          </a:p>
        </p:txBody>
      </p:sp>
      <p:sp>
        <p:nvSpPr>
          <p:cNvPr id="489" name="Oval 488"/>
          <p:cNvSpPr/>
          <p:nvPr/>
        </p:nvSpPr>
        <p:spPr>
          <a:xfrm>
            <a:off x="11906250" y="4381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TextBox 489"/>
          <p:cNvSpPr txBox="1"/>
          <p:nvPr/>
        </p:nvSpPr>
        <p:spPr>
          <a:xfrm>
            <a:off x="11906250" y="4381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91" name="TextBox 490"/>
          <p:cNvSpPr txBox="1"/>
          <p:nvPr/>
        </p:nvSpPr>
        <p:spPr>
          <a:xfrm>
            <a:off x="12515850" y="4343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kP 1.0: swings past</a:t>
            </a:r>
          </a:p>
        </p:txBody>
      </p:sp>
      <p:sp>
        <p:nvSpPr>
          <p:cNvPr id="492" name="TextBox 491"/>
          <p:cNvSpPr txBox="1"/>
          <p:nvPr/>
        </p:nvSpPr>
        <p:spPr>
          <a:xfrm>
            <a:off x="12515850" y="4762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Gets there, but about 6° too far</a:t>
            </a:r>
          </a:p>
        </p:txBody>
      </p:sp>
      <p:sp>
        <p:nvSpPr>
          <p:cNvPr id="493" name="Oval 492"/>
          <p:cNvSpPr/>
          <p:nvPr/>
        </p:nvSpPr>
        <p:spPr>
          <a:xfrm>
            <a:off x="11906250" y="5810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TextBox 493"/>
          <p:cNvSpPr txBox="1"/>
          <p:nvPr/>
        </p:nvSpPr>
        <p:spPr>
          <a:xfrm>
            <a:off x="11906250" y="5810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95" name="TextBox 494"/>
          <p:cNvSpPr txBox="1"/>
          <p:nvPr/>
        </p:nvSpPr>
        <p:spPr>
          <a:xfrm>
            <a:off x="12515850" y="5772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kP 2.0 + kD 0.2</a:t>
            </a:r>
          </a:p>
        </p:txBody>
      </p:sp>
      <p:sp>
        <p:nvSpPr>
          <p:cNvPr id="496" name="TextBox 495"/>
          <p:cNvSpPr txBox="1"/>
          <p:nvPr/>
        </p:nvSpPr>
        <p:spPr>
          <a:xfrm>
            <a:off x="12515850" y="6191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Fast, and barely swings past</a:t>
            </a:r>
          </a:p>
        </p:txBody>
      </p:sp>
      <p:sp>
        <p:nvSpPr>
          <p:cNvPr id="497" name="Oval 496"/>
          <p:cNvSpPr/>
          <p:nvPr/>
        </p:nvSpPr>
        <p:spPr>
          <a:xfrm>
            <a:off x="11906250" y="7239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TextBox 497"/>
          <p:cNvSpPr txBox="1"/>
          <p:nvPr/>
        </p:nvSpPr>
        <p:spPr>
          <a:xfrm>
            <a:off x="11906250" y="7239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99" name="TextBox 498"/>
          <p:cNvSpPr txBox="1"/>
          <p:nvPr/>
        </p:nvSpPr>
        <p:spPr>
          <a:xfrm>
            <a:off x="12515850" y="7200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Watch the graph</a:t>
            </a:r>
          </a:p>
        </p:txBody>
      </p:sp>
      <p:sp>
        <p:nvSpPr>
          <p:cNvPr id="500" name="TextBox 499"/>
          <p:cNvSpPr txBox="1"/>
          <p:nvPr/>
        </p:nvSpPr>
        <p:spPr>
          <a:xfrm>
            <a:off x="12515850" y="7620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AimErrorDegrees and AimOutput</a:t>
            </a:r>
          </a:p>
        </p:txBody>
      </p:sp>
      <p:sp>
        <p:nvSpPr>
          <p:cNvPr id="501" name="TextBox 50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2" name="TextBox 50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by hand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10896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19200" y="31623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920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 name="TextBox 7"/>
          <p:cNvSpPr txBox="1"/>
          <p:nvPr/>
        </p:nvSpPr>
        <p:spPr>
          <a:xfrm>
            <a:off x="121920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 clean</a:t>
            </a:r>
          </a:p>
        </p:txBody>
      </p:sp>
      <p:sp>
        <p:nvSpPr>
          <p:cNvPr id="9" name="TextBox 8"/>
          <p:cNvSpPr txBox="1"/>
          <p:nvPr/>
        </p:nvSpPr>
        <p:spPr>
          <a:xfrm>
            <a:off x="121920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kI = 0, kD = 0</a:t>
            </a:r>
          </a:p>
        </p:txBody>
      </p:sp>
      <p:sp>
        <p:nvSpPr>
          <p:cNvPr id="10" name="Rounded Rectangle 9"/>
          <p:cNvSpPr/>
          <p:nvPr/>
        </p:nvSpPr>
        <p:spPr>
          <a:xfrm>
            <a:off x="4251960" y="2857500"/>
            <a:ext cx="310896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56760" y="31623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676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TextBox 12"/>
          <p:cNvSpPr txBox="1"/>
          <p:nvPr/>
        </p:nvSpPr>
        <p:spPr>
          <a:xfrm>
            <a:off x="455676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Raise kP</a:t>
            </a:r>
          </a:p>
        </p:txBody>
      </p:sp>
      <p:sp>
        <p:nvSpPr>
          <p:cNvPr id="14" name="TextBox 13"/>
          <p:cNvSpPr txBox="1"/>
          <p:nvPr/>
        </p:nvSpPr>
        <p:spPr>
          <a:xfrm>
            <a:off x="455676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Until it's fast but starts to swing</a:t>
            </a:r>
          </a:p>
        </p:txBody>
      </p:sp>
      <p:sp>
        <p:nvSpPr>
          <p:cNvPr id="15" name="Rounded Rectangle 14"/>
          <p:cNvSpPr/>
          <p:nvPr/>
        </p:nvSpPr>
        <p:spPr>
          <a:xfrm>
            <a:off x="7589520" y="2857500"/>
            <a:ext cx="310896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894320" y="31623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9432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789432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Back off</a:t>
            </a:r>
          </a:p>
        </p:txBody>
      </p:sp>
      <p:sp>
        <p:nvSpPr>
          <p:cNvPr id="19" name="TextBox 18"/>
          <p:cNvSpPr txBox="1"/>
          <p:nvPr/>
        </p:nvSpPr>
        <p:spPr>
          <a:xfrm>
            <a:off x="789432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Lower kP a little</a:t>
            </a:r>
          </a:p>
        </p:txBody>
      </p:sp>
      <p:sp>
        <p:nvSpPr>
          <p:cNvPr id="20" name="Rounded Rectangle 19"/>
          <p:cNvSpPr/>
          <p:nvPr/>
        </p:nvSpPr>
        <p:spPr>
          <a:xfrm>
            <a:off x="10927080" y="2857500"/>
            <a:ext cx="310896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1231880" y="31623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3188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3" name="TextBox 22"/>
          <p:cNvSpPr txBox="1"/>
          <p:nvPr/>
        </p:nvSpPr>
        <p:spPr>
          <a:xfrm>
            <a:off x="1123188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Add kD</a:t>
            </a:r>
          </a:p>
        </p:txBody>
      </p:sp>
      <p:sp>
        <p:nvSpPr>
          <p:cNvPr id="24" name="TextBox 23"/>
          <p:cNvSpPr txBox="1"/>
          <p:nvPr/>
        </p:nvSpPr>
        <p:spPr>
          <a:xfrm>
            <a:off x="1123188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To brake before it swings past</a:t>
            </a:r>
          </a:p>
        </p:txBody>
      </p:sp>
      <p:sp>
        <p:nvSpPr>
          <p:cNvPr id="25" name="Rounded Rectangle 24"/>
          <p:cNvSpPr/>
          <p:nvPr/>
        </p:nvSpPr>
        <p:spPr>
          <a:xfrm>
            <a:off x="14264640" y="2857500"/>
            <a:ext cx="310896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4569440" y="31623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56944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8" name="TextBox 27"/>
          <p:cNvSpPr txBox="1"/>
          <p:nvPr/>
        </p:nvSpPr>
        <p:spPr>
          <a:xfrm>
            <a:off x="1456944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kI last</a:t>
            </a:r>
          </a:p>
        </p:txBody>
      </p:sp>
      <p:sp>
        <p:nvSpPr>
          <p:cNvPr id="29" name="TextBox 28"/>
          <p:cNvSpPr txBox="1"/>
          <p:nvPr/>
        </p:nvSpPr>
        <p:spPr>
          <a:xfrm>
            <a:off x="1456944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if it stops a little short</a:t>
            </a:r>
          </a:p>
        </p:txBody>
      </p:sp>
      <p:sp>
        <p:nvSpPr>
          <p:cNvPr id="30" name="Rounded Rectangle 29"/>
          <p:cNvSpPr/>
          <p:nvPr/>
        </p:nvSpPr>
        <p:spPr>
          <a:xfrm>
            <a:off x="914400" y="6096000"/>
            <a:ext cx="12382500" cy="2476500"/>
          </a:xfrm>
          <a:prstGeom prst="roundRect">
            <a:avLst>
              <a:gd name="adj" fmla="val 6153"/>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95400" y="6400800"/>
            <a:ext cx="5715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EACH TRY</a:t>
            </a:r>
          </a:p>
        </p:txBody>
      </p:sp>
      <p:sp>
        <p:nvSpPr>
          <p:cNvPr id="32" name="TextBox 31"/>
          <p:cNvSpPr txBox="1"/>
          <p:nvPr/>
        </p:nvSpPr>
        <p:spPr>
          <a:xfrm>
            <a:off x="1295400" y="6858000"/>
            <a:ext cx="11620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Change </a:t>
            </a:r>
            <a:r>
              <a:rPr sz="1950" b="1" i="0">
                <a:solidFill>
                  <a:srgbClr val="F0E8E8"/>
                </a:solidFill>
                <a:latin typeface="Geist"/>
                <a:ea typeface="Geist"/>
                <a:cs typeface="Geist"/>
              </a:rPr>
              <a:t>one</a:t>
            </a:r>
            <a:r>
              <a:rPr sz="1950" b="0" i="0">
                <a:solidFill>
                  <a:srgbClr val="F0E8E8"/>
                </a:solidFill>
                <a:latin typeface="Geist"/>
                <a:ea typeface="Geist"/>
                <a:cs typeface="Geist"/>
              </a:rPr>
              <a:t> number, press </a:t>
            </a:r>
            <a:r>
              <a:rPr sz="1950" b="1" i="0">
                <a:solidFill>
                  <a:srgbClr val="F0E8E8"/>
                </a:solidFill>
                <a:latin typeface="Geist"/>
                <a:ea typeface="Geist"/>
                <a:cs typeface="Geist"/>
              </a:rPr>
              <a:t>Start</a:t>
            </a:r>
            <a:r>
              <a:rPr sz="1950" b="0" i="0">
                <a:solidFill>
                  <a:srgbClr val="F0E8E8"/>
                </a:solidFill>
                <a:latin typeface="Geist"/>
                <a:ea typeface="Geist"/>
                <a:cs typeface="Geist"/>
              </a:rPr>
              <a:t>, Enable, hold </a:t>
            </a:r>
            <a:r>
              <a:rPr sz="1950" b="1" i="0">
                <a:solidFill>
                  <a:srgbClr val="F0E8E8"/>
                </a:solidFill>
                <a:latin typeface="Geist"/>
                <a:ea typeface="Geist"/>
                <a:cs typeface="Geist"/>
              </a:rPr>
              <a:t>E</a:t>
            </a:r>
          </a:p>
        </p:txBody>
      </p:sp>
      <p:sp>
        <p:nvSpPr>
          <p:cNvPr id="33" name="TextBox 32"/>
          <p:cNvSpPr txBox="1"/>
          <p:nvPr/>
        </p:nvSpPr>
        <p:spPr>
          <a:xfrm>
            <a:off x="1295400" y="7351395"/>
            <a:ext cx="11620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Read </a:t>
            </a:r>
            <a:r>
              <a:rPr sz="1950" b="0" i="0">
                <a:solidFill>
                  <a:srgbClr val="F0E8E8"/>
                </a:solidFill>
                <a:latin typeface="Geist Mono"/>
                <a:ea typeface="Geist Mono"/>
                <a:cs typeface="Geist Mono"/>
              </a:rPr>
              <a:t>AimErrorDegrees</a:t>
            </a:r>
            <a:r>
              <a:rPr sz="1950" b="0" i="0">
                <a:solidFill>
                  <a:srgbClr val="F0E8E8"/>
                </a:solidFill>
                <a:latin typeface="Geist"/>
                <a:ea typeface="Geist"/>
                <a:cs typeface="Geist"/>
              </a:rPr>
              <a:t>: down to 0 and stay there?</a:t>
            </a:r>
          </a:p>
        </p:txBody>
      </p:sp>
      <p:sp>
        <p:nvSpPr>
          <p:cNvPr id="34" name="TextBox 33"/>
          <p:cNvSpPr txBox="1"/>
          <p:nvPr/>
        </p:nvSpPr>
        <p:spPr>
          <a:xfrm>
            <a:off x="1295400" y="7844790"/>
            <a:ext cx="11620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Final run: </a:t>
            </a:r>
            <a:r>
              <a:rPr sz="1950" b="1" i="0">
                <a:solidFill>
                  <a:srgbClr val="F0E8E8"/>
                </a:solidFill>
                <a:latin typeface="Geist"/>
                <a:ea typeface="Geist"/>
                <a:cs typeface="Geist"/>
              </a:rPr>
              <a:t>Start fresh</a:t>
            </a:r>
            <a:r>
              <a:rPr sz="1950" b="0" i="0">
                <a:solidFill>
                  <a:srgbClr val="F0E8E8"/>
                </a:solidFill>
                <a:latin typeface="Geist"/>
                <a:ea typeface="Geist"/>
                <a:cs typeface="Geist"/>
              </a:rPr>
              <a:t>. The check remembers your worst swing</a:t>
            </a:r>
          </a:p>
        </p:txBody>
      </p:sp>
      <p:pic>
        <p:nvPicPr>
          <p:cNvPr id="35" name="Picture 34" descr="dozer.png"/>
          <p:cNvPicPr>
            <a:picLocks noChangeAspect="1"/>
          </p:cNvPicPr>
          <p:nvPr/>
        </p:nvPicPr>
        <p:blipFill>
          <a:blip r:embed="rId3"/>
          <a:stretch>
            <a:fillRect/>
          </a:stretch>
        </p:blipFill>
        <p:spPr>
          <a:xfrm>
            <a:off x="14287500" y="6286500"/>
            <a:ext cx="2476500" cy="1522165"/>
          </a:xfrm>
          <a:prstGeom prst="rect">
            <a:avLst/>
          </a:prstGeom>
        </p:spPr>
      </p:pic>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Computer Vision</a:t>
            </a:r>
          </a:p>
        </p:txBody>
      </p:sp>
      <p:sp>
        <p:nvSpPr>
          <p:cNvPr id="5" name="TextBox 4"/>
          <p:cNvSpPr txBox="1"/>
          <p:nvPr/>
        </p:nvSpPr>
        <p:spPr>
          <a:xfrm>
            <a:off x="1524000" y="2762250"/>
            <a:ext cx="1190625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Feed the camera tag solutions to the pose estimator, then add an AIM state that turns the robot to face the goal.</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5 CHECKPOINTS</a:t>
            </a:r>
          </a:p>
        </p:txBody>
      </p:sp>
      <p:pic>
        <p:nvPicPr>
          <p:cNvPr id="7" name="Picture 6" descr="check-circle-fill.png"/>
          <p:cNvPicPr>
            <a:picLocks noChangeAspect="1"/>
          </p:cNvPicPr>
          <p:nvPr/>
        </p:nvPicPr>
        <p:blipFill>
          <a:blip r:embed="rId3"/>
          <a:stretch>
            <a:fillRect/>
          </a:stretch>
        </p:blipFill>
        <p:spPr>
          <a:xfrm>
            <a:off x="1524000" y="4476750"/>
            <a:ext cx="323850" cy="323850"/>
          </a:xfrm>
          <a:prstGeom prst="rect">
            <a:avLst/>
          </a:prstGeom>
        </p:spPr>
      </p:pic>
      <p:sp>
        <p:nvSpPr>
          <p:cNvPr id="8" name="TextBox 7"/>
          <p:cNvSpPr txBox="1"/>
          <p:nvPr/>
        </p:nvSpPr>
        <p:spPr>
          <a:xfrm>
            <a:off x="2038350" y="441960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Tag solutions added</a:t>
            </a:r>
          </a:p>
        </p:txBody>
      </p:sp>
      <p:sp>
        <p:nvSpPr>
          <p:cNvPr id="9" name="TextBox 8"/>
          <p:cNvSpPr txBox="1"/>
          <p:nvPr/>
        </p:nvSpPr>
        <p:spPr>
          <a:xfrm>
            <a:off x="6096000" y="445770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addVisionMeasurement() with pose, picture time, trust</a:t>
            </a:r>
          </a:p>
        </p:txBody>
      </p:sp>
      <p:pic>
        <p:nvPicPr>
          <p:cNvPr id="10" name="Picture 9" descr="check-circle-fill.png"/>
          <p:cNvPicPr>
            <a:picLocks noChangeAspect="1"/>
          </p:cNvPicPr>
          <p:nvPr/>
        </p:nvPicPr>
        <p:blipFill>
          <a:blip r:embed="rId3"/>
          <a:stretch>
            <a:fillRect/>
          </a:stretch>
        </p:blipFill>
        <p:spPr>
          <a:xfrm>
            <a:off x="1524000" y="5181600"/>
            <a:ext cx="323850" cy="323850"/>
          </a:xfrm>
          <a:prstGeom prst="rect">
            <a:avLst/>
          </a:prstGeom>
        </p:spPr>
      </p:pic>
      <p:sp>
        <p:nvSpPr>
          <p:cNvPr id="11" name="TextBox 10"/>
          <p:cNvSpPr txBox="1"/>
          <p:nvPr/>
        </p:nvSpPr>
        <p:spPr>
          <a:xfrm>
            <a:off x="2038350" y="512445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Within 5 cm and 1°</a:t>
            </a:r>
          </a:p>
        </p:txBody>
      </p:sp>
      <p:sp>
        <p:nvSpPr>
          <p:cNvPr id="12" name="TextBox 11"/>
          <p:cNvSpPr txBox="1"/>
          <p:nvPr/>
        </p:nvSpPr>
        <p:spPr>
          <a:xfrm>
            <a:off x="6096000" y="516255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Drive 5+ meters, stop, wait 2 seconds</a:t>
            </a:r>
          </a:p>
        </p:txBody>
      </p:sp>
      <p:pic>
        <p:nvPicPr>
          <p:cNvPr id="13" name="Picture 12" descr="check-circle-fill.png"/>
          <p:cNvPicPr>
            <a:picLocks noChangeAspect="1"/>
          </p:cNvPicPr>
          <p:nvPr/>
        </p:nvPicPr>
        <p:blipFill>
          <a:blip r:embed="rId3"/>
          <a:stretch>
            <a:fillRect/>
          </a:stretch>
        </p:blipFill>
        <p:spPr>
          <a:xfrm>
            <a:off x="1524000" y="5886450"/>
            <a:ext cx="323850" cy="323850"/>
          </a:xfrm>
          <a:prstGeom prst="rect">
            <a:avLst/>
          </a:prstGeom>
        </p:spPr>
      </p:pic>
      <p:sp>
        <p:nvSpPr>
          <p:cNvPr id="14" name="TextBox 13"/>
          <p:cNvSpPr txBox="1"/>
          <p:nvPr/>
        </p:nvSpPr>
        <p:spPr>
          <a:xfrm>
            <a:off x="2038350" y="582930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Aim state written</a:t>
            </a:r>
          </a:p>
        </p:txBody>
      </p:sp>
      <p:sp>
        <p:nvSpPr>
          <p:cNvPr id="15" name="TextBox 14"/>
          <p:cNvSpPr txBox="1"/>
          <p:nvPr/>
        </p:nvSpPr>
        <p:spPr>
          <a:xfrm>
            <a:off x="6096000" y="586740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AIM, the PID, getAngleToGoal(), isAimed(), aim()</a:t>
            </a:r>
          </a:p>
        </p:txBody>
      </p:sp>
      <p:pic>
        <p:nvPicPr>
          <p:cNvPr id="16" name="Picture 15" descr="check-circle-fill.png"/>
          <p:cNvPicPr>
            <a:picLocks noChangeAspect="1"/>
          </p:cNvPicPr>
          <p:nvPr/>
        </p:nvPicPr>
        <p:blipFill>
          <a:blip r:embed="rId3"/>
          <a:stretch>
            <a:fillRect/>
          </a:stretch>
        </p:blipFill>
        <p:spPr>
          <a:xfrm>
            <a:off x="1524000" y="6591300"/>
            <a:ext cx="323850" cy="323850"/>
          </a:xfrm>
          <a:prstGeom prst="rect">
            <a:avLst/>
          </a:prstGeom>
        </p:spPr>
      </p:pic>
      <p:sp>
        <p:nvSpPr>
          <p:cNvPr id="17" name="TextBox 16"/>
          <p:cNvSpPr txBox="1"/>
          <p:nvPr/>
        </p:nvSpPr>
        <p:spPr>
          <a:xfrm>
            <a:off x="2038350" y="653415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Aims within 2°</a:t>
            </a:r>
          </a:p>
        </p:txBody>
      </p:sp>
      <p:sp>
        <p:nvSpPr>
          <p:cNvPr id="18" name="TextBox 17"/>
          <p:cNvSpPr txBox="1"/>
          <p:nvPr/>
        </p:nvSpPr>
        <p:spPr>
          <a:xfrm>
            <a:off x="6096000" y="657225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Hold E: faces the goal within 4 seconds</a:t>
            </a:r>
          </a:p>
        </p:txBody>
      </p:sp>
      <p:pic>
        <p:nvPicPr>
          <p:cNvPr id="19" name="Picture 18" descr="check-circle-fill.png"/>
          <p:cNvPicPr>
            <a:picLocks noChangeAspect="1"/>
          </p:cNvPicPr>
          <p:nvPr/>
        </p:nvPicPr>
        <p:blipFill>
          <a:blip r:embed="rId3"/>
          <a:stretch>
            <a:fillRect/>
          </a:stretch>
        </p:blipFill>
        <p:spPr>
          <a:xfrm>
            <a:off x="1524000" y="7296150"/>
            <a:ext cx="323850" cy="323850"/>
          </a:xfrm>
          <a:prstGeom prst="rect">
            <a:avLst/>
          </a:prstGeom>
        </p:spPr>
      </p:pic>
      <p:sp>
        <p:nvSpPr>
          <p:cNvPr id="20" name="TextBox 19"/>
          <p:cNvSpPr txBox="1"/>
          <p:nvPr/>
        </p:nvSpPr>
        <p:spPr>
          <a:xfrm>
            <a:off x="2038350" y="723900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No wild overshoot</a:t>
            </a:r>
          </a:p>
        </p:txBody>
      </p:sp>
      <p:sp>
        <p:nvSpPr>
          <p:cNvPr id="21" name="TextBox 20"/>
          <p:cNvSpPr txBox="1"/>
          <p:nvPr/>
        </p:nvSpPr>
        <p:spPr>
          <a:xfrm>
            <a:off x="6096000" y="727710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Never more than 10° past the goal</a:t>
            </a:r>
          </a:p>
        </p:txBody>
      </p:sp>
      <p:sp>
        <p:nvSpPr>
          <p:cNvPr id="22" name="TextBox 21"/>
          <p:cNvSpPr txBox="1"/>
          <p:nvPr/>
        </p:nvSpPr>
        <p:spPr>
          <a:xfrm>
            <a:off x="1524000" y="8001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Stretch: </a:t>
            </a:r>
            <a:r>
              <a:rPr sz="1800" b="0" i="0">
                <a:solidFill>
                  <a:srgbClr val="9A7878"/>
                </a:solidFill>
                <a:latin typeface="Geist"/>
                <a:ea typeface="Geist"/>
                <a:cs typeface="Geist"/>
              </a:rPr>
              <a:t>tiny trust numbers, aim while driving, fastest settle</a:t>
            </a:r>
          </a:p>
        </p:txBody>
      </p:sp>
      <p:sp>
        <p:nvSpPr>
          <p:cNvPr id="23" name="TextBox 22"/>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Computer Vision</a:t>
            </a:r>
          </a:p>
        </p:txBody>
      </p:sp>
      <p:pic>
        <p:nvPicPr>
          <p:cNvPr id="24" name="Picture 23" descr="dozer.png"/>
          <p:cNvPicPr>
            <a:picLocks noChangeAspect="1"/>
          </p:cNvPicPr>
          <p:nvPr/>
        </p:nvPicPr>
        <p:blipFill>
          <a:blip r:embed="rId4"/>
          <a:stretch>
            <a:fillRect/>
          </a:stretch>
        </p:blipFill>
        <p:spPr>
          <a:xfrm>
            <a:off x="14287500" y="6096000"/>
            <a:ext cx="2667000" cy="1639254"/>
          </a:xfrm>
          <a:prstGeom prst="rect">
            <a:avLst/>
          </a:prstGeom>
        </p:spPr>
      </p:pic>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how a camera finds an AprilTag</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Turn tags into the robot's pose</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Blend wheels and camera with trust numbers</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Use the picture's time, not now</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Work out the angle to the goal</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Tune a PID that aims without overshoot</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Variables</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6" name="TextBox 25"/>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Choreo Autonomous</a:t>
            </a:r>
          </a:p>
        </p:txBody>
      </p:sp>
      <p:sp>
        <p:nvSpPr>
          <p:cNvPr id="27" name="TextBox 26"/>
          <p:cNvSpPr txBox="1"/>
          <p:nvPr/>
        </p:nvSpPr>
        <p:spPr>
          <a:xfrm>
            <a:off x="13716000" y="5048250"/>
            <a:ext cx="3333750" cy="1619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Draw two paths in Choreo, then follow them, pick up, aim and shoot.</a:t>
            </a:r>
          </a:p>
        </p:txBody>
      </p:sp>
      <p:pic>
        <p:nvPicPr>
          <p:cNvPr id="28" name="Picture 27" descr="dozer.png"/>
          <p:cNvPicPr>
            <a:picLocks noChangeAspect="1"/>
          </p:cNvPicPr>
          <p:nvPr/>
        </p:nvPicPr>
        <p:blipFill>
          <a:blip r:embed="rId5"/>
          <a:stretch>
            <a:fillRect/>
          </a:stretch>
        </p:blipFill>
        <p:spPr>
          <a:xfrm>
            <a:off x="14287500" y="6858000"/>
            <a:ext cx="2476500" cy="1522165"/>
          </a:xfrm>
          <a:prstGeom prst="rect">
            <a:avLst/>
          </a:prstGeom>
        </p:spPr>
      </p:pic>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