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Mechanisms and Subsystems. Until now the whole robot lived in one file. Real robots have a drivetrain, a shooter, an intake and more, so the team splits the code into layers: mechanisms that know how to run one device, subsystems that decide what to do, and a container that runs them all. Today we learn those layers, meet the mechanisms in MWLib, and build a shooter. The hands-on part is the Mechanisms and Subsystems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the big idea: why robot code is split into layers. Then the mechanisms MWLib gives us, what happens inside one, and how a subsystem uses them. Last, we build the shooter. Ask: what parts does last season's robot have? Write them on the board; we'll come back to the 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first: the robot is split into subsystems, and each subsystem is built from mechanisms.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is a group of subsystems, usually one per physical part: drivetrain, shooter, intake, climber. Each subsystem is built from mechanisms, and each mechanism runs one device: a motor or two and their sensors. The robot container sits on top and keeps the list of subsystems. Today you build the red one, the shooter. Note: DifferentialDriveMech is one the lesson wrote itself; MWLib doesn't have it. Ask: which subsystem would a game piece sensor belong to? (The intake.)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and each has exactly one job. The mechanism knows how: how to spin a wheel at a power or move an elevator to a height. It never decides anything. The subsystem decides what and when: the button is held, so spin up. The container keeps the list of subsystems and runs them every loop. Analogy: the container is the front desk, the subsystem is the manager, the mechanism is the worker who does exactly what it's told. Ask: which layer would you open to fix 'the shooter spins when nobody pressed anything'? (The subsystem: that's a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subsystem owns its own hardware and nothing more. The intake owns the intake motors; the drivetrain owns the drive motors. The intake never reaches over and spins a drive motor. If it needs the drivetrain to do something, it asks the drivetrain subsystem. This is what keeps bugs easy to find: if a drive motor misbehaves, only one class can have caused it. Ask: where does a distance sensor that sees game pieces in the intake belong? (In the intake subsystem, next to its roller, not inside the roller mechanism.)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button press through the layers. The driver holds the right bumper. OI reads it: getShootButton() returns true. The shooter subsystem's updateLogic sees that and gives the flywheel an order. The mechanism turns the order into motor power. Meanwhile readings travel back the other way: the flywheel's speed comes up through getCurrentVelocity() so the subsystem can check it. Every layer only talks to its neighbor. Activity: five students as the five boxes; pass the order right and a reading back left.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go to all this trouble? Four reasons. Swap hardware: if the team changes the shooter motor, only the mechanism changes and the subsystem never notices. Reuse: the same FlywheelMech runs this year's shooter and next year's. Teamwork: one student writes the subsystem while another tunes the mechanism. Simulation: the mechanism can swap real motors for simulated ones, so the same subsystem code runs in Scriptum and on the robot. Ask: which reason matters most at 11 pm before a competition? (Finding bugs fast.)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MWLib is the team's library. It already has code for the mechanisms that show up every season.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FRC game has new game pieces and scoring spots, but the parts that score them repeat year after year. Elevators, arms and flywheels keep coming back. That's why MWLib can have ready-made code for them. Ask the question on the slide before showing the next one. Answer: rollers. Every intake, indexer and grabber uses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mechanisms in MWLib. And the answer to the question: rollers! Two of them spin: a roller pulls game pieces in or pushes them through, a flywheel spins fast to launch them. Two of them move to a spot: an arm pivots to an angle, an elevator slides to a height. Each one is a class in MWLib: RollerMech, FlywheelMech, ArmMech, ElevatorMech. (There's also TurretMech, which is a RollerMech set up to aim.) Ask: which ones would you need to pick up a ball from the floor and shoot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Rollers and flywheels both spin, but they do different jobs. A roller grabs game pieces: intakes, indexers that feed pieces along, conveyors. Usually you just give it a power with setTargetDutyCycle. A flywheel is a heavy wheel spun fast; the spinning wheel throws the game piece. What matters for a flywheel is its speed, in radians per second, read with getCurrentVelocity. Our shooter today has one of each: the roller feeds, the flywheel launches. Ask: why make a flywheel heavy? (A heavy wheel keeps its speed when a ball hits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Arms and elevators move to a spot and hold it. An arm pivots around one point, so its position is an angle, in radians. Think intake pivots, shooter hoods, climber arms. An elevator slides along rails, so its position is a height, in meters. For these you usually say where to go with setTargetPosition, and MWLib works out the motor power to get there and fight gravity. Ask: how many radians is straight up from horizontal? (About 1.57, a quarter turn.)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FRC robots from the docs pages. Team 2910's shooter: you can see the flywheels at the top. Team 6036's arm pivots its intake. Team 2468's elevator lifts its scoring mechanism. Each one would be a FlywheelMech, an ArmMech and an ElevatorMech in our code. The docs pages have the moving versions (GIFs). Ask: spot the rollers in each picture.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mechanism takes orders the same three ways. Duty cycle: a share of full power, -1.0 to 1.0, like your drive code. Velocity: a speed to hold. Position: a spot to go to. A flywheel has no position order: nobody cares where a spinning wheel is pointing. The method names are the same in every mechanism, so once you know one you know them all. Today we only use duty cycle; the next deck makes the flywheel hold an exact speed. Ask: which order would you give an elevator to reach the top shelf? (Position.)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won't write a mechanism today, but knowing what happens inside one makes the subsystem make sense.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mechanism is an IO container: it holds the inputs (sensors) and outputs (motors) for one part. The only way in or out is its methods. Setters give it orders: setTargetDutyCycle, setTargetVelocity, setTargetPosition. Getters ask it questions: getCurrentVelocity, getCurrentPosition. You never reach inside and grab the motor. That's on purpose: if only the mechanism touches the motor, nothing else can send it a surprise order. Ask: why might two pieces of code both setting the same motor be a problem? (They fight, and the motor twitches.)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every 20 ms, MWLib does the same four steps for each registered subsystem. First every mechanism reads its sensors (readInputs). Then the subsystem's updateLogic runs: that's your code, and it uses those fresh readings. Then every mechanism sends its newest order to the motor (writeOutputs) and logs what happened (logData). Your code never reads a sensor or writes a motor itself; it only uses getters and setters. This is the read, think, write loop. Ask: in which step does a setter's new order actually reach the motor? (writeOutputs.)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team built mechanisms this way. Your subsystem talks to the mechanism through the same getters and setters either way. Inside, the mechanism checks one flag, IS_SIM. On the robot it reads and drives real Krakens. In simulation it feeds the motor order into a physics model of the wheel and reads the model back. Scriptum's robot is the simulation side. The subsystem code you write today would run unchanged on a real shooter. Ask: what would you still have to check on the real robot? (Motor IDs, inversion, gear ratio: the numbers in Constants.)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mechanism logs itself in logData, every loop: the order it was given, what the sensors read, and the motor's health, like voltage, current and temperature. It goes two places: NetworkTables, for live graphs while the robot runs, and a log file you can open after a match. Both show up in AdvantageScope. The subsystem can log extra numbers too: the shooter logs FlywheelVelocity and RollerDuty, which is what Verify checks today. Ask: why log the motor temperature? (A hot motor is weak and can shut down; the log shows it before it fails.)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layer you write. Every subsystem in the team's code has the same shape, so once you know one you can read them all.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everything lives in the lesson project. Each subsystem gets its own folder with two files: a Constants class with every number about that part, and the Subsystem class with the logic. Constants.java from earlier lessons is gone; DriveMath moved into the drive folder. OI reads the controller, RobotContainer registers the subsystems, and Robot just connects things. Activity: open the project and find each file with Ctrl+P.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constants class holds every number about the shooter: motor IDs, gear ratios, sizes and the powers it runs at. Code then says CONSTANTS.SHOOT_DUTY_CYCLE instead of 0.5, so changing the robot means editing one file and the name explains the number. 1: the enum lists the states the shooter can be in; today there's just MANUAL. 2: the flywheel's numbers. 3: its motor settings, built by a helper. 4: your job, the roller's config and INDEX_DUTY_CYCLE = 0.5, copied from the flywheel's pattern. Ask: why is 0.5 better as INDEX_DUTY_CYCLE than as a bare 0.5? (The name says what it's for, and you change it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extends means 'is a'. ShooterSubsystem extends MwSubsystem, so the shooter is a subsystem and gets everything every subsystem has for free: the loop that calls it, CONSTANTS, system_state_, getSubsystemKey for logging. In return it has to fill in three methods, each marked @Override. The two names in angle brackets tell MwSubsystem which states enum and which constants class this subsystem uses. The drivetrain works exactly the same way. Ask: what does DrivetrainSubsystem get for free? (The same 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has one shooter, so the whole program must share one ShooterSubsystem object. Two things make that happen. The constructor is private, so nobody can write new ShooterSubsystem() outside the class. And getInstance() hands out the one copy, building it the first time it's asked. This pattern is called a singleton. Anywhere in the code, ShooterSubsystem.getInstance() gives you the same object. Ask: what would go wrong with two ShooterSubsystem objects? (Both would order the same motor.)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constructor builds the subsystem once. 1: super(...) runs MwSubsystem's constructor first, with the starting state and a new ShooterConstants. After that line, CONSTANTS works. 2: new FlywheelMech creates the flywheel mechanism. 3: getSubsystemKey() and a name tell it where to log. 4: the rest comes from Constants: the motor config in a list (more motors means more items, the first one leads), the gear ratio, and the wheel's size for the simulator. Your job is the roller, built the same way with RollerMech.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subsystem fills in three methods. updateLogic runs every 20 ms and decides what the mechanisms do: it's where today's if / else goes. getIos returns the list of mechanisms the subsystem owns; MWLib only reads and writes the mechanisms on this list. reset puts the subsystem back to a known state, for example when the robot is enabled. Ask: what happens if getIos returns an empty list? (No mechanism ever reads or writes: nothing moves.)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of the lesson. The drive code moves out of Robot.java and into DrivetrainSubsystem's updateLogic. One line: drive_.arcadeDrive(OI.getForward(), OI.getTurn()). It runs every 20 ms, so the robot keeps following the sticks. Notice it asks OI for the sticks. OI is the one class that touches the controller: it flips the Y axis and applies the deadband, so every subsystem gets clean numbers. Ask: if the team switches to a different controller, how many files change? (Only OI.)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new part: the shooter. A roller feeds game pieces into a flywheel, which launches them.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shooter you'll build, seen from the side. The roller, a RollerMech, pushes the game piece into the flywheel when the driver holds the left bumper. The flywheel, a FlywheelMech, spins while the driver holds the right bumper, and throws the piece out. In Scriptum the keyboard stands in: U is the right bumper, E is the left. Real drivers spin the flywheel up first, then feed: why? (A piece fed into a slow wheel falls short.)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button is either held or not held: true or false. A method that answers a yes or no question returns a boolean. In OI, getShootButton returns whether the right bumper is held right now, and getIndexButton the left bumper. The starter code returns false; you change each to read the bumper. Everything else asks OI, so the shooter never needs to know which button it is. Ask: the drive team wants shoot on the A button instead. Which file changes? (Only OI.)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lesson: the shoot button logic. An if runs its block only when the question in the parentheses is true: is the shoot button held right now? Then the flywheel gets SHOOT_DUTY_CYCLE. The else block runs the rest of the time and sets 0.0, so the wheel coasts to a stop. Because updateLogic runs every 20 ms, the flywheel starts the moment the button goes down and stops the moment it comes up. The roller uses the short form: condition ? this : that. Ask: what if you forget the else? (The flywheel never stops: the last order sticks.)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you'll see in AdvantageScope. Top: the shoot button, true while you hold U. Bottom: Subsystem/Shooter/FlywheelVelocity in radians per second. 1: the button goes down and the wheel spins up. A heavy wheel takes a moment. 2: it levels off around 300 rad/s at half power. 3: the button comes up, the order becomes 0.0 and it coasts down slowly. Verify checks the top speed lands between 250 and 340. The exact curve depends on the simulator; the shape is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most common bugs in this lesson both look the same: you hold the button and nothing happens. First list: getIos. MWLib only reads and writes the mechanisms in it, so a roller left off the list never moves, even though the code orders it to. Second list: RobotContainer. A subsystem that isn't registered never runs at all: no updateLogic, no logs. When nothing happens, check both lists first. Ask: the shooter's numbers show up in AdvantageScope and RollerDuty changes when you hold E, but the roller never turns. Which list? (getIos: the subsystem runs, so it's registered, but the roller isn't on its list.)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bonus from the lesson: change SHOOT_DUTY_CYCLE and watch the top speed. 0.3 tops out around 190 rad/s, 0.5 around 310, 1.0 around 620. Notice what you chose: a power, not a speed. If a game piece hits the wheel and slows it, or the battery sags, nothing pushes it back to the speed you wanted. That's the next deck: Control Theory makes the flywheel hold an exact speed. Ask: a shot that worked at full battery falls short at the end of a match. Why? (Same power, lower voltage: a slower wheel.)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Mechanisms and Subsystems lesson in Scriptum's FRC Robot track. Three checkpoints check your code; three drive the robot and watch the numbers. Order that works: drivetrain updateLogic, ShooterConstants, ShooterSubsystem (roller, getIos, if / else), OI buttons, RobotContainer, then try it. Stuck? Press the Dozer button in the top bar for a step-by-step guide.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You split the robot into layers, used two MWLib mechanisms, and built a subsystem from scratch. Every subsystem on the team's real robots has this same shape. The Java lessons on the right cover classes, constructors and extends in more depth. Next time: the flywheel spins at a power, but we want it to hold a speed. That's Control Theory.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3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5</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Mechanisms and Subsystems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How the team organizes robot code into layers, and your first shooter: a flywheel and a roller.</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One file for the whole robot? Time to get organized!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one file to many parts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agram-3.png"/>
          <p:cNvPicPr>
            <a:picLocks noChangeAspect="1"/>
          </p:cNvPicPr>
          <p:nvPr/>
        </p:nvPicPr>
        <p:blipFill>
          <a:blip r:embed="rId3"/>
          <a:stretch>
            <a:fillRect/>
          </a:stretch>
        </p:blipFill>
        <p:spPr>
          <a:xfrm>
            <a:off x="1257300" y="3295650"/>
            <a:ext cx="762000" cy="5715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Organizing robot code</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Robot, subsystems and mechanisms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ear.png"/>
          <p:cNvPicPr>
            <a:picLocks noChangeAspect="1"/>
          </p:cNvPicPr>
          <p:nvPr/>
        </p:nvPicPr>
        <p:blipFill>
          <a:blip r:embed="rId4"/>
          <a:stretch>
            <a:fillRect/>
          </a:stretch>
        </p:blipFill>
        <p:spPr>
          <a:xfrm>
            <a:off x="4638675" y="3238500"/>
            <a:ext cx="685800"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MWLib mechanisms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Roller, flywheel, arm and elevator</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pu.png"/>
          <p:cNvPicPr>
            <a:picLocks noChangeAspect="1"/>
          </p:cNvPicPr>
          <p:nvPr/>
        </p:nvPicPr>
        <p:blipFill>
          <a:blip r:embed="rId5"/>
          <a:stretch>
            <a:fillRect/>
          </a:stretch>
        </p:blipFill>
        <p:spPr>
          <a:xfrm>
            <a:off x="7981950" y="3238500"/>
            <a:ext cx="68580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Inside a mechanism</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Read, write and log, real or simulated</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ayers.png"/>
          <p:cNvPicPr>
            <a:picLocks noChangeAspect="1"/>
          </p:cNvPicPr>
          <p:nvPr/>
        </p:nvPicPr>
        <p:blipFill>
          <a:blip r:embed="rId6"/>
          <a:stretch>
            <a:fillRect/>
          </a:stretch>
        </p:blipFill>
        <p:spPr>
          <a:xfrm>
            <a:off x="11287125" y="3271838"/>
            <a:ext cx="762000" cy="619125"/>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Subsystems</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Constants, inheritance and the loop</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bullseye.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Building the shooter</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Buttons, if / else and registering it</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drivetrain runs from its own subsystem, and a button spins up your shooter.</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Organizing robot code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One robot, many parts, one job per layer</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I'm not one big machine. I'm a team of little ones!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 subsystems,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143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CONTAINER</a:t>
            </a:r>
          </a:p>
        </p:txBody>
      </p:sp>
      <p:sp>
        <p:nvSpPr>
          <p:cNvPr id="6" name="TextBox 5"/>
          <p:cNvSpPr txBox="1"/>
          <p:nvPr/>
        </p:nvSpPr>
        <p:spPr>
          <a:xfrm>
            <a:off x="914400" y="4667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SUBSYSTEMS</a:t>
            </a:r>
          </a:p>
        </p:txBody>
      </p:sp>
      <p:sp>
        <p:nvSpPr>
          <p:cNvPr id="7" name="TextBox 6"/>
          <p:cNvSpPr txBox="1"/>
          <p:nvPr/>
        </p:nvSpPr>
        <p:spPr>
          <a:xfrm>
            <a:off x="914400" y="6191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MECHANISMS</a:t>
            </a:r>
          </a:p>
        </p:txBody>
      </p:sp>
      <p:sp>
        <p:nvSpPr>
          <p:cNvPr id="8" name="TextBox 7"/>
          <p:cNvSpPr txBox="1"/>
          <p:nvPr/>
        </p:nvSpPr>
        <p:spPr>
          <a:xfrm>
            <a:off x="914400" y="762000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HARDWARE</a:t>
            </a:r>
          </a:p>
        </p:txBody>
      </p:sp>
      <p:sp>
        <p:nvSpPr>
          <p:cNvPr id="9" name="Rounded Rectangle 8"/>
          <p:cNvSpPr/>
          <p:nvPr/>
        </p:nvSpPr>
        <p:spPr>
          <a:xfrm>
            <a:off x="8572500" y="2857500"/>
            <a:ext cx="4572000" cy="952500"/>
          </a:xfrm>
          <a:prstGeom prst="roundRect">
            <a:avLst>
              <a:gd name="adj" fmla="val 16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zer_top.png"/>
          <p:cNvPicPr>
            <a:picLocks noChangeAspect="1"/>
          </p:cNvPicPr>
          <p:nvPr/>
        </p:nvPicPr>
        <p:blipFill>
          <a:blip r:embed="rId3"/>
          <a:stretch>
            <a:fillRect/>
          </a:stretch>
        </p:blipFill>
        <p:spPr>
          <a:xfrm rot="16200000">
            <a:off x="8829675" y="3009800"/>
            <a:ext cx="704850" cy="647900"/>
          </a:xfrm>
          <a:prstGeom prst="rect">
            <a:avLst/>
          </a:prstGeom>
        </p:spPr>
      </p:pic>
      <p:sp>
        <p:nvSpPr>
          <p:cNvPr id="11" name="TextBox 10"/>
          <p:cNvSpPr txBox="1"/>
          <p:nvPr/>
        </p:nvSpPr>
        <p:spPr>
          <a:xfrm>
            <a:off x="9810750" y="2857500"/>
            <a:ext cx="3143250" cy="952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Robot  </a:t>
            </a:r>
            <a:r>
              <a:rPr sz="1650" b="0" i="0">
                <a:solidFill>
                  <a:srgbClr val="E8C27A"/>
                </a:solidFill>
                <a:latin typeface="Geist Mono"/>
                <a:ea typeface="Geist Mono"/>
                <a:cs typeface="Geist Mono"/>
              </a:rPr>
              <a:t>RobotContainer</a:t>
            </a:r>
          </a:p>
        </p:txBody>
      </p:sp>
      <p:sp>
        <p:nvSpPr>
          <p:cNvPr id="12" name="Rectangle 11"/>
          <p:cNvSpPr/>
          <p:nvPr/>
        </p:nvSpPr>
        <p:spPr>
          <a:xfrm>
            <a:off x="10844212" y="3795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14938" y="4129088"/>
            <a:ext cx="10601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21493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61950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50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Drivetrain</a:t>
            </a:r>
          </a:p>
        </p:txBody>
      </p:sp>
      <p:sp>
        <p:nvSpPr>
          <p:cNvPr id="17" name="Rectangle 16"/>
          <p:cNvSpPr/>
          <p:nvPr/>
        </p:nvSpPr>
        <p:spPr>
          <a:xfrm>
            <a:off x="5214938" y="5319712"/>
            <a:ext cx="28575" cy="6953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619500" y="6000750"/>
            <a:ext cx="32194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619500" y="6000750"/>
            <a:ext cx="3219450" cy="6096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DifferentialDriveMech</a:t>
            </a:r>
          </a:p>
        </p:txBody>
      </p:sp>
      <p:sp>
        <p:nvSpPr>
          <p:cNvPr id="20" name="Rectangle 19"/>
          <p:cNvSpPr/>
          <p:nvPr/>
        </p:nvSpPr>
        <p:spPr>
          <a:xfrm>
            <a:off x="52149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73918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143750" y="4476750"/>
            <a:ext cx="3219450" cy="857250"/>
          </a:xfrm>
          <a:prstGeom prst="roundRect">
            <a:avLst>
              <a:gd name="adj" fmla="val 15555"/>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4375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Shooter</a:t>
            </a:r>
          </a:p>
        </p:txBody>
      </p:sp>
      <p:sp>
        <p:nvSpPr>
          <p:cNvPr id="24" name="Rectangle 23"/>
          <p:cNvSpPr/>
          <p:nvPr/>
        </p:nvSpPr>
        <p:spPr>
          <a:xfrm>
            <a:off x="8739188" y="5319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900988" y="5653088"/>
            <a:ext cx="1704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90098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7143750" y="6000750"/>
            <a:ext cx="1543050" cy="609600"/>
          </a:xfrm>
          <a:prstGeom prst="roundRect">
            <a:avLst>
              <a:gd name="adj" fmla="val 50000"/>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4375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FlywheelMech</a:t>
            </a:r>
          </a:p>
        </p:txBody>
      </p:sp>
      <p:sp>
        <p:nvSpPr>
          <p:cNvPr id="29" name="Rectangle 28"/>
          <p:cNvSpPr/>
          <p:nvPr/>
        </p:nvSpPr>
        <p:spPr>
          <a:xfrm>
            <a:off x="79009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57738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820150" y="6000750"/>
            <a:ext cx="1543050" cy="609600"/>
          </a:xfrm>
          <a:prstGeom prst="roundRect">
            <a:avLst>
              <a:gd name="adj" fmla="val 50000"/>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82015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RollerMech</a:t>
            </a:r>
          </a:p>
        </p:txBody>
      </p:sp>
      <p:sp>
        <p:nvSpPr>
          <p:cNvPr id="33" name="Rectangle 32"/>
          <p:cNvSpPr/>
          <p:nvPr/>
        </p:nvSpPr>
        <p:spPr>
          <a:xfrm>
            <a:off x="95773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226343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1066800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66800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Intake</a:t>
            </a:r>
          </a:p>
        </p:txBody>
      </p:sp>
      <p:sp>
        <p:nvSpPr>
          <p:cNvPr id="37" name="Rectangle 36"/>
          <p:cNvSpPr/>
          <p:nvPr/>
        </p:nvSpPr>
        <p:spPr>
          <a:xfrm>
            <a:off x="12263438" y="5319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1425238" y="5653088"/>
            <a:ext cx="1704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42523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0668000" y="6000750"/>
            <a:ext cx="15430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66800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ArmMech</a:t>
            </a:r>
          </a:p>
        </p:txBody>
      </p:sp>
      <p:sp>
        <p:nvSpPr>
          <p:cNvPr id="42" name="Rectangle 41"/>
          <p:cNvSpPr/>
          <p:nvPr/>
        </p:nvSpPr>
        <p:spPr>
          <a:xfrm>
            <a:off x="114252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310163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2344400" y="6000750"/>
            <a:ext cx="15430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34440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RollerMech</a:t>
            </a:r>
          </a:p>
        </p:txBody>
      </p:sp>
      <p:sp>
        <p:nvSpPr>
          <p:cNvPr id="46" name="Rectangle 45"/>
          <p:cNvSpPr/>
          <p:nvPr/>
        </p:nvSpPr>
        <p:spPr>
          <a:xfrm>
            <a:off x="131016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578768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19225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419225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Climber</a:t>
            </a:r>
          </a:p>
        </p:txBody>
      </p:sp>
      <p:sp>
        <p:nvSpPr>
          <p:cNvPr id="50" name="Rectangle 49"/>
          <p:cNvSpPr/>
          <p:nvPr/>
        </p:nvSpPr>
        <p:spPr>
          <a:xfrm>
            <a:off x="15787688" y="5319712"/>
            <a:ext cx="28575" cy="6953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14192250" y="6000750"/>
            <a:ext cx="32194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4192250" y="6000750"/>
            <a:ext cx="3219450" cy="6096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ElevatorMech</a:t>
            </a:r>
          </a:p>
        </p:txBody>
      </p:sp>
      <p:sp>
        <p:nvSpPr>
          <p:cNvPr id="53" name="Rectangle 52"/>
          <p:cNvSpPr/>
          <p:nvPr/>
        </p:nvSpPr>
        <p:spPr>
          <a:xfrm>
            <a:off x="157876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3619500" y="7524750"/>
            <a:ext cx="13792200" cy="5715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3619500" y="7524750"/>
            <a:ext cx="13792200" cy="5715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Motors and sensors: each one belongs to exactly one mechanism</a:t>
            </a:r>
          </a:p>
        </p:txBody>
      </p:sp>
      <p:sp>
        <p:nvSpPr>
          <p:cNvPr id="56" name="Rounded Rectangle 5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333500" y="83820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the drivetrain becomes a subsystem, and you build the shooter.</a:t>
            </a:r>
          </a:p>
        </p:txBody>
      </p:sp>
      <p:sp>
        <p:nvSpPr>
          <p:cNvPr id="58" name="TextBox 5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9" name="TextBox 5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layers, one job each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715000"/>
          </a:xfrm>
          <a:prstGeom prst="roundRect">
            <a:avLst>
              <a:gd name="adj" fmla="val 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48000"/>
            <a:ext cx="6667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RobotContainer</a:t>
            </a:r>
          </a:p>
        </p:txBody>
      </p:sp>
      <p:sp>
        <p:nvSpPr>
          <p:cNvPr id="7" name="Oval 6"/>
          <p:cNvSpPr/>
          <p:nvPr/>
        </p:nvSpPr>
        <p:spPr>
          <a:xfrm>
            <a:off x="8763000" y="30289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0" y="30289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Rounded Rectangle 8"/>
          <p:cNvSpPr/>
          <p:nvPr/>
        </p:nvSpPr>
        <p:spPr>
          <a:xfrm>
            <a:off x="1295400" y="3714750"/>
            <a:ext cx="7810500" cy="4476750"/>
          </a:xfrm>
          <a:prstGeom prst="roundRect">
            <a:avLst>
              <a:gd name="adj" fmla="val 3404"/>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676400" y="3905250"/>
            <a:ext cx="5715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ShooterSubsystem</a:t>
            </a:r>
          </a:p>
        </p:txBody>
      </p:sp>
      <p:sp>
        <p:nvSpPr>
          <p:cNvPr id="11" name="Oval 10"/>
          <p:cNvSpPr/>
          <p:nvPr/>
        </p:nvSpPr>
        <p:spPr>
          <a:xfrm>
            <a:off x="8382000" y="38862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38862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Rounded Rectangle 12"/>
          <p:cNvSpPr/>
          <p:nvPr/>
        </p:nvSpPr>
        <p:spPr>
          <a:xfrm>
            <a:off x="1676400" y="4667250"/>
            <a:ext cx="3390900" cy="3048000"/>
          </a:xfrm>
          <a:prstGeom prst="roundRect">
            <a:avLst>
              <a:gd name="adj" fmla="val 4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943100" y="4857750"/>
            <a:ext cx="285750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FlywheelMech</a:t>
            </a:r>
          </a:p>
        </p:txBody>
      </p:sp>
      <p:sp>
        <p:nvSpPr>
          <p:cNvPr id="15" name="Rounded Rectangle 14"/>
          <p:cNvSpPr/>
          <p:nvPr/>
        </p:nvSpPr>
        <p:spPr>
          <a:xfrm>
            <a:off x="1943100" y="5619750"/>
            <a:ext cx="2857500" cy="1714500"/>
          </a:xfrm>
          <a:prstGeom prst="roundRect">
            <a:avLst>
              <a:gd name="adj" fmla="val 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ear.png"/>
          <p:cNvPicPr>
            <a:picLocks noChangeAspect="1"/>
          </p:cNvPicPr>
          <p:nvPr/>
        </p:nvPicPr>
        <p:blipFill>
          <a:blip r:embed="rId3"/>
          <a:stretch>
            <a:fillRect/>
          </a:stretch>
        </p:blipFill>
        <p:spPr>
          <a:xfrm>
            <a:off x="2133600" y="6096000"/>
            <a:ext cx="666750" cy="666750"/>
          </a:xfrm>
          <a:prstGeom prst="rect">
            <a:avLst/>
          </a:prstGeom>
        </p:spPr>
      </p:pic>
      <p:sp>
        <p:nvSpPr>
          <p:cNvPr id="17" name="TextBox 16"/>
          <p:cNvSpPr txBox="1"/>
          <p:nvPr/>
        </p:nvSpPr>
        <p:spPr>
          <a:xfrm>
            <a:off x="2971800" y="5619750"/>
            <a:ext cx="1714500" cy="1714500"/>
          </a:xfrm>
          <a:prstGeom prst="rect">
            <a:avLst/>
          </a:prstGeom>
          <a:noFill/>
        </p:spPr>
        <p:txBody>
          <a:bodyPr wrap="square" lIns="0" rIns="0" tIns="0" bIns="0" anchor="ctr">
            <a:spAutoFit/>
          </a:bodyPr>
          <a:lstStyle/>
          <a:p>
            <a:pPr algn="l">
              <a:lnSpc>
                <a:spcPct val="120000"/>
              </a:lnSpc>
            </a:pPr>
            <a:r>
              <a:rPr sz="1800" b="0" i="0">
                <a:solidFill>
                  <a:srgbClr val="9A7878"/>
                </a:solidFill>
                <a:latin typeface="Geist"/>
                <a:ea typeface="Geist"/>
                <a:cs typeface="Geist"/>
              </a:rPr>
              <a:t>Flywheel motor</a:t>
            </a:r>
          </a:p>
        </p:txBody>
      </p:sp>
      <p:sp>
        <p:nvSpPr>
          <p:cNvPr id="18" name="Rounded Rectangle 17"/>
          <p:cNvSpPr/>
          <p:nvPr/>
        </p:nvSpPr>
        <p:spPr>
          <a:xfrm>
            <a:off x="5334000" y="4667250"/>
            <a:ext cx="3390900" cy="3048000"/>
          </a:xfrm>
          <a:prstGeom prst="roundRect">
            <a:avLst>
              <a:gd name="adj" fmla="val 4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00700" y="4857750"/>
            <a:ext cx="285750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RollerMech</a:t>
            </a:r>
          </a:p>
        </p:txBody>
      </p:sp>
      <p:sp>
        <p:nvSpPr>
          <p:cNvPr id="20" name="Rounded Rectangle 19"/>
          <p:cNvSpPr/>
          <p:nvPr/>
        </p:nvSpPr>
        <p:spPr>
          <a:xfrm>
            <a:off x="5600700" y="5619750"/>
            <a:ext cx="2857500" cy="1714500"/>
          </a:xfrm>
          <a:prstGeom prst="roundRect">
            <a:avLst>
              <a:gd name="adj" fmla="val 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3"/>
          <a:stretch>
            <a:fillRect/>
          </a:stretch>
        </p:blipFill>
        <p:spPr>
          <a:xfrm>
            <a:off x="5791200" y="6096000"/>
            <a:ext cx="666750" cy="666750"/>
          </a:xfrm>
          <a:prstGeom prst="rect">
            <a:avLst/>
          </a:prstGeom>
        </p:spPr>
      </p:pic>
      <p:sp>
        <p:nvSpPr>
          <p:cNvPr id="22" name="TextBox 21"/>
          <p:cNvSpPr txBox="1"/>
          <p:nvPr/>
        </p:nvSpPr>
        <p:spPr>
          <a:xfrm>
            <a:off x="6629400" y="5619750"/>
            <a:ext cx="1714500" cy="1714500"/>
          </a:xfrm>
          <a:prstGeom prst="rect">
            <a:avLst/>
          </a:prstGeom>
          <a:noFill/>
        </p:spPr>
        <p:txBody>
          <a:bodyPr wrap="square" lIns="0" rIns="0" tIns="0" bIns="0" anchor="ctr">
            <a:spAutoFit/>
          </a:bodyPr>
          <a:lstStyle/>
          <a:p>
            <a:pPr algn="l">
              <a:lnSpc>
                <a:spcPct val="120000"/>
              </a:lnSpc>
            </a:pPr>
            <a:r>
              <a:rPr sz="1800" b="0" i="0">
                <a:solidFill>
                  <a:srgbClr val="9A7878"/>
                </a:solidFill>
                <a:latin typeface="Geist"/>
                <a:ea typeface="Geist"/>
                <a:cs typeface="Geist"/>
              </a:rPr>
              <a:t>Roller motor</a:t>
            </a:r>
          </a:p>
        </p:txBody>
      </p:sp>
      <p:sp>
        <p:nvSpPr>
          <p:cNvPr id="23" name="Oval 22"/>
          <p:cNvSpPr/>
          <p:nvPr/>
        </p:nvSpPr>
        <p:spPr>
          <a:xfrm>
            <a:off x="4457700" y="4838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7700" y="4838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009650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965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0706100" y="30099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Container: the list</a:t>
            </a:r>
          </a:p>
        </p:txBody>
      </p:sp>
      <p:sp>
        <p:nvSpPr>
          <p:cNvPr id="28" name="TextBox 27"/>
          <p:cNvSpPr txBox="1"/>
          <p:nvPr/>
        </p:nvSpPr>
        <p:spPr>
          <a:xfrm>
            <a:off x="10706100" y="34290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Keeps every subsystem and runs them all, every loop</a:t>
            </a:r>
          </a:p>
        </p:txBody>
      </p:sp>
      <p:sp>
        <p:nvSpPr>
          <p:cNvPr id="29" name="Oval 28"/>
          <p:cNvSpPr/>
          <p:nvPr/>
        </p:nvSpPr>
        <p:spPr>
          <a:xfrm>
            <a:off x="1009650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9650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0706100" y="481965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Subsystem: what and when</a:t>
            </a:r>
          </a:p>
        </p:txBody>
      </p:sp>
      <p:sp>
        <p:nvSpPr>
          <p:cNvPr id="32" name="TextBox 31"/>
          <p:cNvSpPr txBox="1"/>
          <p:nvPr/>
        </p:nvSpPr>
        <p:spPr>
          <a:xfrm>
            <a:off x="10706100" y="523875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Decides from the driver's buttons. Owns its mechanisms</a:t>
            </a:r>
          </a:p>
        </p:txBody>
      </p:sp>
      <p:sp>
        <p:nvSpPr>
          <p:cNvPr id="33" name="Oval 32"/>
          <p:cNvSpPr/>
          <p:nvPr/>
        </p:nvSpPr>
        <p:spPr>
          <a:xfrm>
            <a:off x="10096500" y="666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6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0706100" y="66294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Mechanism: how</a:t>
            </a:r>
          </a:p>
        </p:txBody>
      </p:sp>
      <p:sp>
        <p:nvSpPr>
          <p:cNvPr id="36" name="TextBox 35"/>
          <p:cNvSpPr txBox="1"/>
          <p:nvPr/>
        </p:nvSpPr>
        <p:spPr>
          <a:xfrm>
            <a:off x="10706100" y="70485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one device. Takes orders, makes no decisions</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subsystem owns its parts, and nothing else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45720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Intake</a:t>
            </a:r>
          </a:p>
        </p:txBody>
      </p:sp>
      <p:sp>
        <p:nvSpPr>
          <p:cNvPr id="7" name="TextBox 6"/>
          <p:cNvSpPr txBox="1"/>
          <p:nvPr/>
        </p:nvSpPr>
        <p:spPr>
          <a:xfrm>
            <a:off x="1295400" y="3619500"/>
            <a:ext cx="4572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subsystem</a:t>
            </a:r>
          </a:p>
        </p:txBody>
      </p:sp>
      <p:sp>
        <p:nvSpPr>
          <p:cNvPr id="8" name="Rounded Rectangle 7"/>
          <p:cNvSpPr/>
          <p:nvPr/>
        </p:nvSpPr>
        <p:spPr>
          <a:xfrm>
            <a:off x="1295400" y="42862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ear.png"/>
          <p:cNvPicPr>
            <a:picLocks noChangeAspect="1"/>
          </p:cNvPicPr>
          <p:nvPr/>
        </p:nvPicPr>
        <p:blipFill>
          <a:blip r:embed="rId3"/>
          <a:stretch>
            <a:fillRect/>
          </a:stretch>
        </p:blipFill>
        <p:spPr>
          <a:xfrm>
            <a:off x="1581150" y="4457700"/>
            <a:ext cx="533400" cy="533400"/>
          </a:xfrm>
          <a:prstGeom prst="rect">
            <a:avLst/>
          </a:prstGeom>
        </p:spPr>
      </p:pic>
      <p:sp>
        <p:nvSpPr>
          <p:cNvPr id="10" name="TextBox 9"/>
          <p:cNvSpPr txBox="1"/>
          <p:nvPr/>
        </p:nvSpPr>
        <p:spPr>
          <a:xfrm>
            <a:off x="2343150" y="42862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Roller motor</a:t>
            </a:r>
          </a:p>
        </p:txBody>
      </p:sp>
      <p:sp>
        <p:nvSpPr>
          <p:cNvPr id="11" name="Rounded Rectangle 10"/>
          <p:cNvSpPr/>
          <p:nvPr/>
        </p:nvSpPr>
        <p:spPr>
          <a:xfrm>
            <a:off x="1295400" y="53911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ear.png"/>
          <p:cNvPicPr>
            <a:picLocks noChangeAspect="1"/>
          </p:cNvPicPr>
          <p:nvPr/>
        </p:nvPicPr>
        <p:blipFill>
          <a:blip r:embed="rId3"/>
          <a:stretch>
            <a:fillRect/>
          </a:stretch>
        </p:blipFill>
        <p:spPr>
          <a:xfrm>
            <a:off x="1581150" y="5562600"/>
            <a:ext cx="533400" cy="533400"/>
          </a:xfrm>
          <a:prstGeom prst="rect">
            <a:avLst/>
          </a:prstGeom>
        </p:spPr>
      </p:pic>
      <p:sp>
        <p:nvSpPr>
          <p:cNvPr id="13" name="TextBox 12"/>
          <p:cNvSpPr txBox="1"/>
          <p:nvPr/>
        </p:nvSpPr>
        <p:spPr>
          <a:xfrm>
            <a:off x="2343150" y="53911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Pivot motor</a:t>
            </a:r>
          </a:p>
        </p:txBody>
      </p:sp>
      <p:sp>
        <p:nvSpPr>
          <p:cNvPr id="14" name="Rounded Rectangle 13"/>
          <p:cNvSpPr/>
          <p:nvPr/>
        </p:nvSpPr>
        <p:spPr>
          <a:xfrm>
            <a:off x="1295400" y="64960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roadcast.png"/>
          <p:cNvPicPr>
            <a:picLocks noChangeAspect="1"/>
          </p:cNvPicPr>
          <p:nvPr/>
        </p:nvPicPr>
        <p:blipFill>
          <a:blip r:embed="rId4"/>
          <a:stretch>
            <a:fillRect/>
          </a:stretch>
        </p:blipFill>
        <p:spPr>
          <a:xfrm>
            <a:off x="1581150" y="6740426"/>
            <a:ext cx="533400" cy="387548"/>
          </a:xfrm>
          <a:prstGeom prst="rect">
            <a:avLst/>
          </a:prstGeom>
        </p:spPr>
      </p:pic>
      <p:sp>
        <p:nvSpPr>
          <p:cNvPr id="16" name="TextBox 15"/>
          <p:cNvSpPr txBox="1"/>
          <p:nvPr/>
        </p:nvSpPr>
        <p:spPr>
          <a:xfrm>
            <a:off x="2343150" y="64960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Distance sensor</a:t>
            </a:r>
          </a:p>
        </p:txBody>
      </p:sp>
      <p:sp>
        <p:nvSpPr>
          <p:cNvPr id="17" name="Rounded Rectangle 16"/>
          <p:cNvSpPr/>
          <p:nvPr/>
        </p:nvSpPr>
        <p:spPr>
          <a:xfrm>
            <a:off x="70104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91400" y="3143250"/>
            <a:ext cx="45720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Drivetrain</a:t>
            </a:r>
          </a:p>
        </p:txBody>
      </p:sp>
      <p:sp>
        <p:nvSpPr>
          <p:cNvPr id="19" name="TextBox 18"/>
          <p:cNvSpPr txBox="1"/>
          <p:nvPr/>
        </p:nvSpPr>
        <p:spPr>
          <a:xfrm>
            <a:off x="7391400" y="3619500"/>
            <a:ext cx="4572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subsystem</a:t>
            </a:r>
          </a:p>
        </p:txBody>
      </p:sp>
      <p:sp>
        <p:nvSpPr>
          <p:cNvPr id="20" name="Rounded Rectangle 19"/>
          <p:cNvSpPr/>
          <p:nvPr/>
        </p:nvSpPr>
        <p:spPr>
          <a:xfrm>
            <a:off x="7391400" y="42862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3"/>
          <a:stretch>
            <a:fillRect/>
          </a:stretch>
        </p:blipFill>
        <p:spPr>
          <a:xfrm>
            <a:off x="7677150" y="4457700"/>
            <a:ext cx="533400" cy="533400"/>
          </a:xfrm>
          <a:prstGeom prst="rect">
            <a:avLst/>
          </a:prstGeom>
        </p:spPr>
      </p:pic>
      <p:sp>
        <p:nvSpPr>
          <p:cNvPr id="22" name="TextBox 21"/>
          <p:cNvSpPr txBox="1"/>
          <p:nvPr/>
        </p:nvSpPr>
        <p:spPr>
          <a:xfrm>
            <a:off x="8439150" y="42862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Left motor</a:t>
            </a:r>
          </a:p>
        </p:txBody>
      </p:sp>
      <p:sp>
        <p:nvSpPr>
          <p:cNvPr id="23" name="Rounded Rectangle 22"/>
          <p:cNvSpPr/>
          <p:nvPr/>
        </p:nvSpPr>
        <p:spPr>
          <a:xfrm>
            <a:off x="7391400" y="53911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png"/>
          <p:cNvPicPr>
            <a:picLocks noChangeAspect="1"/>
          </p:cNvPicPr>
          <p:nvPr/>
        </p:nvPicPr>
        <p:blipFill>
          <a:blip r:embed="rId3"/>
          <a:stretch>
            <a:fillRect/>
          </a:stretch>
        </p:blipFill>
        <p:spPr>
          <a:xfrm>
            <a:off x="7677150" y="5562600"/>
            <a:ext cx="533400" cy="533400"/>
          </a:xfrm>
          <a:prstGeom prst="rect">
            <a:avLst/>
          </a:prstGeom>
        </p:spPr>
      </p:pic>
      <p:sp>
        <p:nvSpPr>
          <p:cNvPr id="25" name="TextBox 24"/>
          <p:cNvSpPr txBox="1"/>
          <p:nvPr/>
        </p:nvSpPr>
        <p:spPr>
          <a:xfrm>
            <a:off x="8439150" y="53911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Right motor</a:t>
            </a:r>
          </a:p>
        </p:txBody>
      </p:sp>
      <p:sp>
        <p:nvSpPr>
          <p:cNvPr id="26" name="Rounded Rectangle 25"/>
          <p:cNvSpPr/>
          <p:nvPr/>
        </p:nvSpPr>
        <p:spPr>
          <a:xfrm>
            <a:off x="7391400" y="64960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broadcast.png"/>
          <p:cNvPicPr>
            <a:picLocks noChangeAspect="1"/>
          </p:cNvPicPr>
          <p:nvPr/>
        </p:nvPicPr>
        <p:blipFill>
          <a:blip r:embed="rId4"/>
          <a:stretch>
            <a:fillRect/>
          </a:stretch>
        </p:blipFill>
        <p:spPr>
          <a:xfrm>
            <a:off x="7677150" y="6740426"/>
            <a:ext cx="533400" cy="387548"/>
          </a:xfrm>
          <a:prstGeom prst="rect">
            <a:avLst/>
          </a:prstGeom>
        </p:spPr>
      </p:pic>
      <p:sp>
        <p:nvSpPr>
          <p:cNvPr id="28" name="TextBox 27"/>
          <p:cNvSpPr txBox="1"/>
          <p:nvPr/>
        </p:nvSpPr>
        <p:spPr>
          <a:xfrm>
            <a:off x="8439150" y="64960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Gyro</a:t>
            </a:r>
          </a:p>
        </p:txBody>
      </p:sp>
      <p:sp>
        <p:nvSpPr>
          <p:cNvPr id="29" name="Rectangle 28"/>
          <p:cNvSpPr/>
          <p:nvPr/>
        </p:nvSpPr>
        <p:spPr>
          <a:xfrm>
            <a:off x="5924550" y="4705350"/>
            <a:ext cx="1272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5400000">
            <a:off x="7162800" y="4648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rot="2700000">
            <a:off x="6279170" y="4676775"/>
            <a:ext cx="700460" cy="95250"/>
          </a:xfrm>
          <a:prstGeom prst="roundRect">
            <a:avLst>
              <a:gd name="adj" fmla="val 4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rot="18900000">
            <a:off x="6279170" y="4676775"/>
            <a:ext cx="700460" cy="95250"/>
          </a:xfrm>
          <a:prstGeom prst="roundRect">
            <a:avLst>
              <a:gd name="adj" fmla="val 4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335000" y="3143250"/>
            <a:ext cx="4038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Owns</a:t>
            </a:r>
            <a:r>
              <a:rPr sz="2100" b="0" i="0">
                <a:solidFill>
                  <a:srgbClr val="F0E8E8"/>
                </a:solidFill>
                <a:latin typeface="Geist"/>
                <a:ea typeface="Geist"/>
                <a:cs typeface="Geist"/>
              </a:rPr>
              <a:t> its motors and sensors</a:t>
            </a:r>
          </a:p>
        </p:txBody>
      </p:sp>
      <p:sp>
        <p:nvSpPr>
          <p:cNvPr id="34" name="TextBox 33"/>
          <p:cNvSpPr txBox="1"/>
          <p:nvPr/>
        </p:nvSpPr>
        <p:spPr>
          <a:xfrm>
            <a:off x="13335000" y="3813810"/>
            <a:ext cx="4038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Nobody else</a:t>
            </a:r>
            <a:r>
              <a:rPr sz="2100" b="0" i="0">
                <a:solidFill>
                  <a:srgbClr val="F0E8E8"/>
                </a:solidFill>
                <a:latin typeface="Geist"/>
                <a:ea typeface="Geist"/>
                <a:cs typeface="Geist"/>
              </a:rPr>
              <a:t> touches them</a:t>
            </a:r>
          </a:p>
        </p:txBody>
      </p:sp>
      <p:sp>
        <p:nvSpPr>
          <p:cNvPr id="35" name="TextBox 34"/>
          <p:cNvSpPr txBox="1"/>
          <p:nvPr/>
        </p:nvSpPr>
        <p:spPr>
          <a:xfrm>
            <a:off x="13335000" y="4484370"/>
            <a:ext cx="40386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Need something?</a:t>
            </a:r>
            <a:r>
              <a:rPr sz="2100" b="0" i="0">
                <a:solidFill>
                  <a:srgbClr val="F0E8E8"/>
                </a:solidFill>
                <a:latin typeface="Geist"/>
                <a:ea typeface="Geist"/>
                <a:cs typeface="Geist"/>
              </a:rPr>
              <a:t> Ask that subsystem</a:t>
            </a:r>
          </a:p>
        </p:txBody>
      </p:sp>
      <p:sp>
        <p:nvSpPr>
          <p:cNvPr id="36" name="Rounded Rectangle 35"/>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One owner:  </a:t>
            </a:r>
            <a:r>
              <a:rPr sz="2100" b="0" i="0">
                <a:solidFill>
                  <a:srgbClr val="F0E8E8"/>
                </a:solidFill>
                <a:latin typeface="Geist"/>
                <a:ea typeface="Geist"/>
                <a:cs typeface="Geist"/>
              </a:rPr>
              <a:t>if a drive motor acts up, only the drivetrain subsystem could have done it.</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a button press travels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1905000" y="3541739"/>
            <a:ext cx="762000" cy="574623"/>
          </a:xfrm>
          <a:prstGeom prst="rect">
            <a:avLst/>
          </a:prstGeom>
        </p:spPr>
      </p:pic>
      <p:sp>
        <p:nvSpPr>
          <p:cNvPr id="7" name="TextBox 6"/>
          <p:cNvSpPr txBox="1"/>
          <p:nvPr/>
        </p:nvSpPr>
        <p:spPr>
          <a:xfrm>
            <a:off x="1009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Button</a:t>
            </a:r>
          </a:p>
        </p:txBody>
      </p:sp>
      <p:sp>
        <p:nvSpPr>
          <p:cNvPr id="8" name="TextBox 7"/>
          <p:cNvSpPr txBox="1"/>
          <p:nvPr/>
        </p:nvSpPr>
        <p:spPr>
          <a:xfrm>
            <a:off x="1066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Right bumper held</a:t>
            </a:r>
          </a:p>
        </p:txBody>
      </p:sp>
      <p:sp>
        <p:nvSpPr>
          <p:cNvPr id="9" name="Rectangle 8"/>
          <p:cNvSpPr/>
          <p:nvPr/>
        </p:nvSpPr>
        <p:spPr>
          <a:xfrm>
            <a:off x="3714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4114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journal-text.png"/>
          <p:cNvPicPr>
            <a:picLocks noChangeAspect="1"/>
          </p:cNvPicPr>
          <p:nvPr/>
        </p:nvPicPr>
        <p:blipFill>
          <a:blip r:embed="rId4"/>
          <a:stretch>
            <a:fillRect/>
          </a:stretch>
        </p:blipFill>
        <p:spPr>
          <a:xfrm>
            <a:off x="5393531" y="3486150"/>
            <a:ext cx="642938" cy="685800"/>
          </a:xfrm>
          <a:prstGeom prst="rect">
            <a:avLst/>
          </a:prstGeom>
        </p:spPr>
      </p:pic>
      <p:sp>
        <p:nvSpPr>
          <p:cNvPr id="13" name="TextBox 12"/>
          <p:cNvSpPr txBox="1"/>
          <p:nvPr/>
        </p:nvSpPr>
        <p:spPr>
          <a:xfrm>
            <a:off x="4438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OI</a:t>
            </a:r>
          </a:p>
        </p:txBody>
      </p:sp>
      <p:sp>
        <p:nvSpPr>
          <p:cNvPr id="14" name="TextBox 13"/>
          <p:cNvSpPr txBox="1"/>
          <p:nvPr/>
        </p:nvSpPr>
        <p:spPr>
          <a:xfrm>
            <a:off x="4495800" y="4953000"/>
            <a:ext cx="24384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getShootButton()</a:t>
            </a:r>
          </a:p>
        </p:txBody>
      </p:sp>
      <p:sp>
        <p:nvSpPr>
          <p:cNvPr id="15" name="Rectangle 14"/>
          <p:cNvSpPr/>
          <p:nvPr/>
        </p:nvSpPr>
        <p:spPr>
          <a:xfrm>
            <a:off x="7143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7543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3143250"/>
            <a:ext cx="2743200" cy="2667000"/>
          </a:xfrm>
          <a:prstGeom prst="roundRect">
            <a:avLst>
              <a:gd name="adj" fmla="val 571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ayers.png"/>
          <p:cNvPicPr>
            <a:picLocks noChangeAspect="1"/>
          </p:cNvPicPr>
          <p:nvPr/>
        </p:nvPicPr>
        <p:blipFill>
          <a:blip r:embed="rId5"/>
          <a:stretch>
            <a:fillRect/>
          </a:stretch>
        </p:blipFill>
        <p:spPr>
          <a:xfrm>
            <a:off x="8763000" y="3519488"/>
            <a:ext cx="762000" cy="619125"/>
          </a:xfrm>
          <a:prstGeom prst="rect">
            <a:avLst/>
          </a:prstGeom>
        </p:spPr>
      </p:pic>
      <p:sp>
        <p:nvSpPr>
          <p:cNvPr id="19" name="TextBox 18"/>
          <p:cNvSpPr txBox="1"/>
          <p:nvPr/>
        </p:nvSpPr>
        <p:spPr>
          <a:xfrm>
            <a:off x="7867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Subsystem</a:t>
            </a:r>
          </a:p>
        </p:txBody>
      </p:sp>
      <p:sp>
        <p:nvSpPr>
          <p:cNvPr id="20" name="TextBox 19"/>
          <p:cNvSpPr txBox="1"/>
          <p:nvPr/>
        </p:nvSpPr>
        <p:spPr>
          <a:xfrm>
            <a:off x="7924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updateLogic decides</a:t>
            </a:r>
          </a:p>
        </p:txBody>
      </p:sp>
      <p:sp>
        <p:nvSpPr>
          <p:cNvPr id="21" name="Rectangle 20"/>
          <p:cNvSpPr/>
          <p:nvPr/>
        </p:nvSpPr>
        <p:spPr>
          <a:xfrm>
            <a:off x="10572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10972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1201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png"/>
          <p:cNvPicPr>
            <a:picLocks noChangeAspect="1"/>
          </p:cNvPicPr>
          <p:nvPr/>
        </p:nvPicPr>
        <p:blipFill>
          <a:blip r:embed="rId6"/>
          <a:stretch>
            <a:fillRect/>
          </a:stretch>
        </p:blipFill>
        <p:spPr>
          <a:xfrm>
            <a:off x="12230100" y="3486150"/>
            <a:ext cx="685800" cy="685800"/>
          </a:xfrm>
          <a:prstGeom prst="rect">
            <a:avLst/>
          </a:prstGeom>
        </p:spPr>
      </p:pic>
      <p:sp>
        <p:nvSpPr>
          <p:cNvPr id="25" name="TextBox 24"/>
          <p:cNvSpPr txBox="1"/>
          <p:nvPr/>
        </p:nvSpPr>
        <p:spPr>
          <a:xfrm>
            <a:off x="11296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Mechanism</a:t>
            </a:r>
          </a:p>
        </p:txBody>
      </p:sp>
      <p:sp>
        <p:nvSpPr>
          <p:cNvPr id="26" name="TextBox 25"/>
          <p:cNvSpPr txBox="1"/>
          <p:nvPr/>
        </p:nvSpPr>
        <p:spPr>
          <a:xfrm>
            <a:off x="11353800" y="4953000"/>
            <a:ext cx="24384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setTargetDutyCycle</a:t>
            </a:r>
          </a:p>
        </p:txBody>
      </p:sp>
      <p:sp>
        <p:nvSpPr>
          <p:cNvPr id="27" name="Rectangle 26"/>
          <p:cNvSpPr/>
          <p:nvPr/>
        </p:nvSpPr>
        <p:spPr>
          <a:xfrm>
            <a:off x="14001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4401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4630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ightning-charge-fill.png"/>
          <p:cNvPicPr>
            <a:picLocks noChangeAspect="1"/>
          </p:cNvPicPr>
          <p:nvPr/>
        </p:nvPicPr>
        <p:blipFill>
          <a:blip r:embed="rId7"/>
          <a:stretch>
            <a:fillRect/>
          </a:stretch>
        </p:blipFill>
        <p:spPr>
          <a:xfrm>
            <a:off x="15763577" y="3486150"/>
            <a:ext cx="476845" cy="685800"/>
          </a:xfrm>
          <a:prstGeom prst="rect">
            <a:avLst/>
          </a:prstGeom>
        </p:spPr>
      </p:pic>
      <p:sp>
        <p:nvSpPr>
          <p:cNvPr id="31" name="TextBox 30"/>
          <p:cNvSpPr txBox="1"/>
          <p:nvPr/>
        </p:nvSpPr>
        <p:spPr>
          <a:xfrm>
            <a:off x="14725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32" name="TextBox 31"/>
          <p:cNvSpPr txBox="1"/>
          <p:nvPr/>
        </p:nvSpPr>
        <p:spPr>
          <a:xfrm>
            <a:off x="14782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Spins the flywheel</a:t>
            </a:r>
          </a:p>
        </p:txBody>
      </p:sp>
      <p:sp>
        <p:nvSpPr>
          <p:cNvPr id="33" name="TextBox 32"/>
          <p:cNvSpPr txBox="1"/>
          <p:nvPr/>
        </p:nvSpPr>
        <p:spPr>
          <a:xfrm>
            <a:off x="914400" y="2571750"/>
            <a:ext cx="5715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ORDERS GO THIS WAY  →</a:t>
            </a:r>
          </a:p>
        </p:txBody>
      </p:sp>
      <p:sp>
        <p:nvSpPr>
          <p:cNvPr id="34" name="Rectangle 33"/>
          <p:cNvSpPr/>
          <p:nvPr/>
        </p:nvSpPr>
        <p:spPr>
          <a:xfrm>
            <a:off x="15987712" y="5872162"/>
            <a:ext cx="28575" cy="7143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320212" y="6557962"/>
            <a:ext cx="6696075" cy="28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9124950" y="6042660"/>
            <a:ext cx="38100" cy="54873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sosceles Triangle 36"/>
          <p:cNvSpPr/>
          <p:nvPr/>
        </p:nvSpPr>
        <p:spPr>
          <a:xfrm>
            <a:off x="9067800" y="5924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29712" y="6557962"/>
            <a:ext cx="257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525000" y="67056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Readings come back up:  </a:t>
            </a:r>
            <a:r>
              <a:rPr sz="1800" b="0" i="0">
                <a:solidFill>
                  <a:srgbClr val="E8C27A"/>
                </a:solidFill>
                <a:latin typeface="Geist Mono"/>
                <a:ea typeface="Geist Mono"/>
                <a:cs typeface="Geist Mono"/>
              </a:rPr>
              <a:t>getCurrentVelocity()</a:t>
            </a:r>
          </a:p>
        </p:txBody>
      </p:sp>
      <p:sp>
        <p:nvSpPr>
          <p:cNvPr id="40" name="Rounded Rectangle 3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333500" y="78105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Neighbors only.  </a:t>
            </a:r>
            <a:r>
              <a:rPr sz="2100" b="0" i="0">
                <a:solidFill>
                  <a:srgbClr val="F0E8E8"/>
                </a:solidFill>
                <a:latin typeface="Geist"/>
                <a:ea typeface="Geist"/>
                <a:cs typeface="Geist"/>
              </a:rPr>
              <a:t>Subsystems ask OI for buttons, never the controller. They order mechanisms, never motors.</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bother with layers?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arrow-repeat.png"/>
          <p:cNvPicPr>
            <a:picLocks noChangeAspect="1"/>
          </p:cNvPicPr>
          <p:nvPr/>
        </p:nvPicPr>
        <p:blipFill>
          <a:blip r:embed="rId3"/>
          <a:stretch>
            <a:fillRect/>
          </a:stretch>
        </p:blipFill>
        <p:spPr>
          <a:xfrm>
            <a:off x="1295400" y="3238500"/>
            <a:ext cx="787400"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Swap hardware</a:t>
            </a:r>
          </a:p>
        </p:txBody>
      </p:sp>
      <p:sp>
        <p:nvSpPr>
          <p:cNvPr id="8" name="TextBox 7"/>
          <p:cNvSpPr txBox="1"/>
          <p:nvPr/>
        </p:nvSpPr>
        <p:spPr>
          <a:xfrm>
            <a:off x="1295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New motor? Only the mechanism changes. The subsystem never notices.</a:t>
            </a:r>
          </a:p>
        </p:txBody>
      </p:sp>
      <p:sp>
        <p:nvSpPr>
          <p:cNvPr id="9" name="Rounded Rectangle 8"/>
          <p:cNvSpPr/>
          <p:nvPr/>
        </p:nvSpPr>
        <p:spPr>
          <a:xfrm>
            <a:off x="5105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ecycle.png"/>
          <p:cNvPicPr>
            <a:picLocks noChangeAspect="1"/>
          </p:cNvPicPr>
          <p:nvPr/>
        </p:nvPicPr>
        <p:blipFill>
          <a:blip r:embed="rId4"/>
          <a:stretch>
            <a:fillRect/>
          </a:stretch>
        </p:blipFill>
        <p:spPr>
          <a:xfrm>
            <a:off x="5486400" y="3238500"/>
            <a:ext cx="614516"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Reuse</a:t>
            </a:r>
          </a:p>
        </p:txBody>
      </p:sp>
      <p:sp>
        <p:nvSpPr>
          <p:cNvPr id="12" name="TextBox 11"/>
          <p:cNvSpPr txBox="1"/>
          <p:nvPr/>
        </p:nvSpPr>
        <p:spPr>
          <a:xfrm>
            <a:off x="5486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same FlywheelMech runs this year's shooter and next year's.</a:t>
            </a:r>
          </a:p>
        </p:txBody>
      </p:sp>
      <p:sp>
        <p:nvSpPr>
          <p:cNvPr id="13" name="Rounded Rectangle 12"/>
          <p:cNvSpPr/>
          <p:nvPr/>
        </p:nvSpPr>
        <p:spPr>
          <a:xfrm>
            <a:off x="9296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eople-fill.png"/>
          <p:cNvPicPr>
            <a:picLocks noChangeAspect="1"/>
          </p:cNvPicPr>
          <p:nvPr/>
        </p:nvPicPr>
        <p:blipFill>
          <a:blip r:embed="rId5"/>
          <a:stretch>
            <a:fillRect/>
          </a:stretch>
        </p:blipFill>
        <p:spPr>
          <a:xfrm>
            <a:off x="9677400" y="3238500"/>
            <a:ext cx="812800"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Teamwork</a:t>
            </a:r>
          </a:p>
        </p:txBody>
      </p:sp>
      <p:sp>
        <p:nvSpPr>
          <p:cNvPr id="16" name="TextBox 15"/>
          <p:cNvSpPr txBox="1"/>
          <p:nvPr/>
        </p:nvSpPr>
        <p:spPr>
          <a:xfrm>
            <a:off x="9677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Two people can work on two layers at the same time.</a:t>
            </a:r>
          </a:p>
        </p:txBody>
      </p:sp>
      <p:sp>
        <p:nvSpPr>
          <p:cNvPr id="17" name="Rounded Rectangle 16"/>
          <p:cNvSpPr/>
          <p:nvPr/>
        </p:nvSpPr>
        <p:spPr>
          <a:xfrm>
            <a:off x="13487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display.png"/>
          <p:cNvPicPr>
            <a:picLocks noChangeAspect="1"/>
          </p:cNvPicPr>
          <p:nvPr/>
        </p:nvPicPr>
        <p:blipFill>
          <a:blip r:embed="rId6"/>
          <a:stretch>
            <a:fillRect/>
          </a:stretch>
        </p:blipFill>
        <p:spPr>
          <a:xfrm>
            <a:off x="13868400" y="3238500"/>
            <a:ext cx="780288"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Simulation</a:t>
            </a:r>
          </a:p>
        </p:txBody>
      </p:sp>
      <p:sp>
        <p:nvSpPr>
          <p:cNvPr id="20" name="TextBox 19"/>
          <p:cNvSpPr txBox="1"/>
          <p:nvPr/>
        </p:nvSpPr>
        <p:spPr>
          <a:xfrm>
            <a:off x="13868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same subsystem code runs in the simulator and on the robot.</a:t>
            </a:r>
          </a:p>
        </p:txBody>
      </p:sp>
      <p:sp>
        <p:nvSpPr>
          <p:cNvPr id="21" name="Rounded Rectangle 20"/>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ug.png"/>
          <p:cNvPicPr>
            <a:picLocks noChangeAspect="1"/>
          </p:cNvPicPr>
          <p:nvPr/>
        </p:nvPicPr>
        <p:blipFill>
          <a:blip r:embed="rId7"/>
          <a:stretch>
            <a:fillRect/>
          </a:stretch>
        </p:blipFill>
        <p:spPr>
          <a:xfrm>
            <a:off x="1333500" y="8020050"/>
            <a:ext cx="481781" cy="533400"/>
          </a:xfrm>
          <a:prstGeom prst="rect">
            <a:avLst/>
          </a:prstGeom>
        </p:spPr>
      </p:pic>
      <p:sp>
        <p:nvSpPr>
          <p:cNvPr id="23" name="TextBox 22"/>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Bonus:  </a:t>
            </a:r>
            <a:r>
              <a:rPr sz="2100" b="0" i="0">
                <a:solidFill>
                  <a:srgbClr val="F0E8E8"/>
                </a:solidFill>
                <a:latin typeface="Geist"/>
                <a:ea typeface="Geist"/>
                <a:cs typeface="Geist"/>
              </a:rPr>
              <a:t>when something breaks, you know which layer to open first.</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MWLib mechanisms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The four parts almost every robot is built from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If a robot has no rollers, go check it's really a robot.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FRC is cyclical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2061482" y="3781425"/>
            <a:ext cx="14165036" cy="571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937657"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2018</a:t>
            </a:r>
          </a:p>
        </p:txBody>
      </p:sp>
      <p:sp>
        <p:nvSpPr>
          <p:cNvPr id="8" name="TextBox 7"/>
          <p:cNvSpPr txBox="1"/>
          <p:nvPr/>
        </p:nvSpPr>
        <p:spPr>
          <a:xfrm>
            <a:off x="914400"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Power Up</a:t>
            </a:r>
          </a:p>
        </p:txBody>
      </p:sp>
      <p:sp>
        <p:nvSpPr>
          <p:cNvPr id="9" name="Rounded Rectangle 8"/>
          <p:cNvSpPr/>
          <p:nvPr/>
        </p:nvSpPr>
        <p:spPr>
          <a:xfrm>
            <a:off x="1137557"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7557"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11" name="Rounded Rectangle 10"/>
          <p:cNvSpPr/>
          <p:nvPr/>
        </p:nvSpPr>
        <p:spPr>
          <a:xfrm>
            <a:off x="1137557"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37557"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13" name="Oval 12"/>
          <p:cNvSpPr/>
          <p:nvPr/>
        </p:nvSpPr>
        <p:spPr>
          <a:xfrm>
            <a:off x="4288971"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5714"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2019</a:t>
            </a:r>
          </a:p>
        </p:txBody>
      </p:sp>
      <p:sp>
        <p:nvSpPr>
          <p:cNvPr id="15" name="TextBox 14"/>
          <p:cNvSpPr txBox="1"/>
          <p:nvPr/>
        </p:nvSpPr>
        <p:spPr>
          <a:xfrm>
            <a:off x="3265714"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Deep Space</a:t>
            </a:r>
          </a:p>
        </p:txBody>
      </p:sp>
      <p:sp>
        <p:nvSpPr>
          <p:cNvPr id="16" name="Rounded Rectangle 15"/>
          <p:cNvSpPr/>
          <p:nvPr/>
        </p:nvSpPr>
        <p:spPr>
          <a:xfrm>
            <a:off x="3488871"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88871"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18" name="Rounded Rectangle 17"/>
          <p:cNvSpPr/>
          <p:nvPr/>
        </p:nvSpPr>
        <p:spPr>
          <a:xfrm>
            <a:off x="3488871"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88871"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20" name="Oval 19"/>
          <p:cNvSpPr/>
          <p:nvPr/>
        </p:nvSpPr>
        <p:spPr>
          <a:xfrm>
            <a:off x="6640286"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17029"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2020/21</a:t>
            </a:r>
          </a:p>
        </p:txBody>
      </p:sp>
      <p:sp>
        <p:nvSpPr>
          <p:cNvPr id="22" name="TextBox 21"/>
          <p:cNvSpPr txBox="1"/>
          <p:nvPr/>
        </p:nvSpPr>
        <p:spPr>
          <a:xfrm>
            <a:off x="5617029"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Infinite Recharge</a:t>
            </a:r>
          </a:p>
        </p:txBody>
      </p:sp>
      <p:sp>
        <p:nvSpPr>
          <p:cNvPr id="23" name="Rounded Rectangle 22"/>
          <p:cNvSpPr/>
          <p:nvPr/>
        </p:nvSpPr>
        <p:spPr>
          <a:xfrm>
            <a:off x="5840186"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840186"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25" name="Oval 24"/>
          <p:cNvSpPr/>
          <p:nvPr/>
        </p:nvSpPr>
        <p:spPr>
          <a:xfrm>
            <a:off x="8991600"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68343"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2022</a:t>
            </a:r>
          </a:p>
        </p:txBody>
      </p:sp>
      <p:sp>
        <p:nvSpPr>
          <p:cNvPr id="27" name="TextBox 26"/>
          <p:cNvSpPr txBox="1"/>
          <p:nvPr/>
        </p:nvSpPr>
        <p:spPr>
          <a:xfrm>
            <a:off x="7968343"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Rapid React</a:t>
            </a:r>
          </a:p>
        </p:txBody>
      </p:sp>
      <p:sp>
        <p:nvSpPr>
          <p:cNvPr id="28" name="Rounded Rectangle 27"/>
          <p:cNvSpPr/>
          <p:nvPr/>
        </p:nvSpPr>
        <p:spPr>
          <a:xfrm>
            <a:off x="8191500"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91500"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30" name="Rounded Rectangle 29"/>
          <p:cNvSpPr/>
          <p:nvPr/>
        </p:nvSpPr>
        <p:spPr>
          <a:xfrm>
            <a:off x="8191500"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191500"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32" name="Oval 31"/>
          <p:cNvSpPr/>
          <p:nvPr/>
        </p:nvSpPr>
        <p:spPr>
          <a:xfrm>
            <a:off x="11342914"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19657"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2023</a:t>
            </a:r>
          </a:p>
        </p:txBody>
      </p:sp>
      <p:sp>
        <p:nvSpPr>
          <p:cNvPr id="34" name="TextBox 33"/>
          <p:cNvSpPr txBox="1"/>
          <p:nvPr/>
        </p:nvSpPr>
        <p:spPr>
          <a:xfrm>
            <a:off x="10319657"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Charged Up</a:t>
            </a:r>
          </a:p>
        </p:txBody>
      </p:sp>
      <p:sp>
        <p:nvSpPr>
          <p:cNvPr id="35" name="Rounded Rectangle 34"/>
          <p:cNvSpPr/>
          <p:nvPr/>
        </p:nvSpPr>
        <p:spPr>
          <a:xfrm>
            <a:off x="10542814"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542814"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37" name="Rounded Rectangle 36"/>
          <p:cNvSpPr/>
          <p:nvPr/>
        </p:nvSpPr>
        <p:spPr>
          <a:xfrm>
            <a:off x="10542814"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542814"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39" name="Oval 38"/>
          <p:cNvSpPr/>
          <p:nvPr/>
        </p:nvSpPr>
        <p:spPr>
          <a:xfrm>
            <a:off x="13694229"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670971"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2024</a:t>
            </a:r>
          </a:p>
        </p:txBody>
      </p:sp>
      <p:sp>
        <p:nvSpPr>
          <p:cNvPr id="41" name="TextBox 40"/>
          <p:cNvSpPr txBox="1"/>
          <p:nvPr/>
        </p:nvSpPr>
        <p:spPr>
          <a:xfrm>
            <a:off x="12670971"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Crescendo</a:t>
            </a:r>
          </a:p>
        </p:txBody>
      </p:sp>
      <p:sp>
        <p:nvSpPr>
          <p:cNvPr id="42" name="Rounded Rectangle 41"/>
          <p:cNvSpPr/>
          <p:nvPr/>
        </p:nvSpPr>
        <p:spPr>
          <a:xfrm>
            <a:off x="12894129"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894129"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44" name="Rounded Rectangle 43"/>
          <p:cNvSpPr/>
          <p:nvPr/>
        </p:nvSpPr>
        <p:spPr>
          <a:xfrm>
            <a:off x="12894129"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894129"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46" name="Oval 45"/>
          <p:cNvSpPr/>
          <p:nvPr/>
        </p:nvSpPr>
        <p:spPr>
          <a:xfrm>
            <a:off x="16045543"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022286"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2025</a:t>
            </a:r>
          </a:p>
        </p:txBody>
      </p:sp>
      <p:sp>
        <p:nvSpPr>
          <p:cNvPr id="48" name="TextBox 47"/>
          <p:cNvSpPr txBox="1"/>
          <p:nvPr/>
        </p:nvSpPr>
        <p:spPr>
          <a:xfrm>
            <a:off x="15022286"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Reefscape</a:t>
            </a:r>
          </a:p>
        </p:txBody>
      </p:sp>
      <p:sp>
        <p:nvSpPr>
          <p:cNvPr id="49" name="Rounded Rectangle 48"/>
          <p:cNvSpPr/>
          <p:nvPr/>
        </p:nvSpPr>
        <p:spPr>
          <a:xfrm>
            <a:off x="15245443"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5245443"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51" name="Rounded Rectangle 50"/>
          <p:cNvSpPr/>
          <p:nvPr/>
        </p:nvSpPr>
        <p:spPr>
          <a:xfrm>
            <a:off x="15245443"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5245443"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53" name="Rounded Rectangle 52"/>
          <p:cNvSpPr/>
          <p:nvPr/>
        </p:nvSpPr>
        <p:spPr>
          <a:xfrm>
            <a:off x="914400" y="6667500"/>
            <a:ext cx="13525500" cy="1428750"/>
          </a:xfrm>
          <a:prstGeom prst="roundRect">
            <a:avLst>
              <a:gd name="adj" fmla="val 10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lightbulb.png"/>
          <p:cNvPicPr>
            <a:picLocks noChangeAspect="1"/>
          </p:cNvPicPr>
          <p:nvPr/>
        </p:nvPicPr>
        <p:blipFill>
          <a:blip r:embed="rId3"/>
          <a:stretch>
            <a:fillRect/>
          </a:stretch>
        </p:blipFill>
        <p:spPr>
          <a:xfrm>
            <a:off x="1428750" y="7000875"/>
            <a:ext cx="571500" cy="762000"/>
          </a:xfrm>
          <a:prstGeom prst="rect">
            <a:avLst/>
          </a:prstGeom>
        </p:spPr>
      </p:pic>
      <p:sp>
        <p:nvSpPr>
          <p:cNvPr id="55" name="TextBox 54"/>
          <p:cNvSpPr txBox="1"/>
          <p:nvPr/>
        </p:nvSpPr>
        <p:spPr>
          <a:xfrm>
            <a:off x="2381250" y="6667500"/>
            <a:ext cx="11620500" cy="1428750"/>
          </a:xfrm>
          <a:prstGeom prst="rect">
            <a:avLst/>
          </a:prstGeom>
          <a:noFill/>
        </p:spPr>
        <p:txBody>
          <a:bodyPr wrap="square" lIns="0" rIns="0" tIns="0" bIns="0" anchor="ctr">
            <a:spAutoFit/>
          </a:bodyPr>
          <a:lstStyle/>
          <a:p>
            <a:pPr algn="l">
              <a:lnSpc>
                <a:spcPct val="130000"/>
              </a:lnSpc>
            </a:pPr>
            <a:r>
              <a:rPr sz="2400" b="1" i="0">
                <a:solidFill>
                  <a:srgbClr val="F0E8E8"/>
                </a:solidFill>
                <a:latin typeface="Geist"/>
                <a:ea typeface="Geist"/>
                <a:cs typeface="Geist"/>
              </a:rPr>
              <a:t>Question:  </a:t>
            </a:r>
            <a:r>
              <a:rPr sz="2400" b="0" i="0">
                <a:solidFill>
                  <a:srgbClr val="F0E8E8"/>
                </a:solidFill>
                <a:latin typeface="Geist"/>
                <a:ea typeface="Geist"/>
                <a:cs typeface="Geist"/>
              </a:rPr>
              <a:t>one mechanism is on every robot, every season, no matter the game. Which one?</a:t>
            </a:r>
          </a:p>
        </p:txBody>
      </p:sp>
      <p:pic>
        <p:nvPicPr>
          <p:cNvPr id="56" name="Picture 55" descr="dozer_look_up_left.png"/>
          <p:cNvPicPr>
            <a:picLocks noChangeAspect="1"/>
          </p:cNvPicPr>
          <p:nvPr/>
        </p:nvPicPr>
        <p:blipFill>
          <a:blip r:embed="rId4"/>
          <a:stretch>
            <a:fillRect/>
          </a:stretch>
        </p:blipFill>
        <p:spPr>
          <a:xfrm>
            <a:off x="14954250" y="6286500"/>
            <a:ext cx="2286000" cy="1405075"/>
          </a:xfrm>
          <a:prstGeom prst="rect">
            <a:avLst/>
          </a:prstGeom>
        </p:spPr>
      </p:pic>
      <p:sp>
        <p:nvSpPr>
          <p:cNvPr id="57" name="TextBox 5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8" name="TextBox 5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09700" y="5267325"/>
            <a:ext cx="3114675"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428750" y="3910012"/>
            <a:ext cx="1214438" cy="1214438"/>
          </a:xfrm>
          <a:prstGeom prst="roundRect">
            <a:avLst>
              <a:gd name="adj" fmla="val 784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428750" y="4800600"/>
            <a:ext cx="1214438" cy="323850"/>
          </a:xfrm>
          <a:prstGeom prst="roundRect">
            <a:avLst>
              <a:gd name="adj" fmla="val 1764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rot="1391915">
            <a:off x="2456335" y="4136708"/>
            <a:ext cx="616592" cy="113348"/>
          </a:xfrm>
          <a:prstGeom prst="roundRect">
            <a:avLst>
              <a:gd name="adj" fmla="val 41596"/>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756535" y="4023360"/>
            <a:ext cx="744855" cy="74485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3218897" y="4313855"/>
            <a:ext cx="215842" cy="578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175516" y="4121636"/>
            <a:ext cx="111728" cy="1935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047030" y="4090011"/>
            <a:ext cx="57835" cy="21584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2854811" y="4237506"/>
            <a:ext cx="193519" cy="11172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823186" y="4419885"/>
            <a:ext cx="215842" cy="578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970681" y="4476420"/>
            <a:ext cx="111728" cy="1935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53060" y="4485722"/>
            <a:ext cx="57835" cy="21584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09595" y="4442341"/>
            <a:ext cx="193519" cy="11172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061926" y="4328751"/>
            <a:ext cx="134074" cy="134074"/>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2666200" y="4076694"/>
            <a:ext cx="34146" cy="5191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700346" y="4029093"/>
            <a:ext cx="39943" cy="4760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740289" y="3986450"/>
            <a:ext cx="45198" cy="426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785487" y="3949342"/>
            <a:ext cx="49844" cy="371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835331" y="3918273"/>
            <a:ext cx="53815" cy="310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889146" y="3893660"/>
            <a:ext cx="57057" cy="246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946203" y="3875839"/>
            <a:ext cx="59529" cy="178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005732" y="3865048"/>
            <a:ext cx="61196" cy="107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043115" y="3841236"/>
            <a:ext cx="10966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105150" y="3837622"/>
            <a:ext cx="10966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0" name="Connector 29"/>
          <p:cNvCxnSpPr/>
          <p:nvPr/>
        </p:nvCxnSpPr>
        <p:spPr>
          <a:xfrm>
            <a:off x="3190997" y="3865048"/>
            <a:ext cx="61196" cy="107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2193" y="3875839"/>
            <a:ext cx="59529" cy="178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311722" y="3893660"/>
            <a:ext cx="57057" cy="246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68779" y="3918273"/>
            <a:ext cx="53815" cy="310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22594" y="3949342"/>
            <a:ext cx="49844" cy="371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72438" y="3986450"/>
            <a:ext cx="45198" cy="426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517636" y="4029093"/>
            <a:ext cx="74089" cy="99518"/>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3469005" y="4509135"/>
            <a:ext cx="777240" cy="77724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19200"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Roller</a:t>
            </a:r>
          </a:p>
        </p:txBody>
      </p:sp>
      <p:sp>
        <p:nvSpPr>
          <p:cNvPr id="39" name="TextBox 38"/>
          <p:cNvSpPr txBox="1"/>
          <p:nvPr/>
        </p:nvSpPr>
        <p:spPr>
          <a:xfrm>
            <a:off x="1219200"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RollerMech</a:t>
            </a:r>
          </a:p>
        </p:txBody>
      </p:sp>
      <p:sp>
        <p:nvSpPr>
          <p:cNvPr id="40" name="TextBox 39"/>
          <p:cNvSpPr txBox="1"/>
          <p:nvPr/>
        </p:nvSpPr>
        <p:spPr>
          <a:xfrm>
            <a:off x="1219200"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Spins to pull pieces in or push them through</a:t>
            </a:r>
          </a:p>
        </p:txBody>
      </p:sp>
      <p:sp>
        <p:nvSpPr>
          <p:cNvPr id="41" name="Rounded Rectangle 40"/>
          <p:cNvSpPr/>
          <p:nvPr/>
        </p:nvSpPr>
        <p:spPr>
          <a:xfrm>
            <a:off x="509587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H="1" flipV="1">
            <a:off x="6183460" y="5863905"/>
            <a:ext cx="126751" cy="68514"/>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6065691" y="5780895"/>
            <a:ext cx="117769" cy="83010"/>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5958556" y="5684550"/>
            <a:ext cx="107135" cy="96345"/>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5863555" y="5576223"/>
            <a:ext cx="95001" cy="10832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5782019" y="5457429"/>
            <a:ext cx="81536" cy="118794"/>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5715091" y="5329833"/>
            <a:ext cx="66928" cy="127596"/>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5663708" y="5195223"/>
            <a:ext cx="51383" cy="134610"/>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5628589" y="5055484"/>
            <a:ext cx="35119" cy="139739"/>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5610228" y="4912575"/>
            <a:ext cx="18361" cy="142909"/>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575938" y="4734208"/>
            <a:ext cx="68580" cy="212657"/>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2" name="Connector 51"/>
          <p:cNvCxnSpPr/>
          <p:nvPr/>
        </p:nvCxnSpPr>
        <p:spPr>
          <a:xfrm flipV="1">
            <a:off x="5608881" y="4625271"/>
            <a:ext cx="15686" cy="14322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5624567" y="4484900"/>
            <a:ext cx="32499" cy="140371"/>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657066" y="4349353"/>
            <a:ext cx="48857" cy="13554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705923" y="4220528"/>
            <a:ext cx="64531" cy="128825"/>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6156008" y="4160520"/>
            <a:ext cx="1337310" cy="133731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flipV="1">
            <a:off x="6986130" y="4682073"/>
            <a:ext cx="387523" cy="1038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867928" y="4280185"/>
            <a:ext cx="103836" cy="387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6422774" y="4427286"/>
            <a:ext cx="283686" cy="2836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6275672" y="4872440"/>
            <a:ext cx="387523" cy="1038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6677561" y="4990643"/>
            <a:ext cx="103836" cy="387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942865" y="4947378"/>
            <a:ext cx="283686" cy="2836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6704305" y="4708817"/>
            <a:ext cx="240716" cy="240716"/>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7253288" y="4086775"/>
            <a:ext cx="69859" cy="449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323147" y="4131757"/>
            <a:ext cx="65176" cy="5153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388323" y="4183292"/>
            <a:ext cx="59881" cy="5760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448204" y="4240894"/>
            <a:ext cx="54023" cy="6312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502227" y="4304023"/>
            <a:ext cx="47657" cy="6806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549884" y="4372085"/>
            <a:ext cx="40845" cy="7235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590729" y="4444442"/>
            <a:ext cx="33648" cy="7597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624377" y="4520413"/>
            <a:ext cx="26135" cy="7887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50512" y="4599284"/>
            <a:ext cx="18377" cy="8103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668889" y="4680315"/>
            <a:ext cx="10446" cy="8243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7655522" y="4738932"/>
            <a:ext cx="47625" cy="130679"/>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5" name="Connector 74"/>
          <p:cNvCxnSpPr/>
          <p:nvPr/>
        </p:nvCxnSpPr>
        <p:spPr>
          <a:xfrm flipH="1">
            <a:off x="7676116" y="4845798"/>
            <a:ext cx="5635" cy="8289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7662482" y="4928696"/>
            <a:ext cx="13634" cy="8196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7640977" y="5010658"/>
            <a:ext cx="21505" cy="802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7611803" y="5090916"/>
            <a:ext cx="29174" cy="7779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7575235" y="5168714"/>
            <a:ext cx="36568" cy="7460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7481354" y="5243323"/>
            <a:ext cx="93881" cy="136882"/>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5840281" y="5110345"/>
            <a:ext cx="480060" cy="48006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5742114" y="4248746"/>
            <a:ext cx="480060" cy="48006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445059" y="3847553"/>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959409" y="3518369"/>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73759" y="3449789"/>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988109" y="3641813"/>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502459" y="4094441"/>
            <a:ext cx="102870" cy="10287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400675"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Flywheel</a:t>
            </a:r>
          </a:p>
        </p:txBody>
      </p:sp>
      <p:sp>
        <p:nvSpPr>
          <p:cNvPr id="89" name="TextBox 88"/>
          <p:cNvSpPr txBox="1"/>
          <p:nvPr/>
        </p:nvSpPr>
        <p:spPr>
          <a:xfrm>
            <a:off x="5400675"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FlywheelMech</a:t>
            </a:r>
          </a:p>
        </p:txBody>
      </p:sp>
      <p:sp>
        <p:nvSpPr>
          <p:cNvPr id="90" name="TextBox 89"/>
          <p:cNvSpPr txBox="1"/>
          <p:nvPr/>
        </p:nvSpPr>
        <p:spPr>
          <a:xfrm>
            <a:off x="5400675"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Spins fast to launch pieces</a:t>
            </a:r>
          </a:p>
        </p:txBody>
      </p:sp>
      <p:sp>
        <p:nvSpPr>
          <p:cNvPr id="91" name="Rounded Rectangle 90"/>
          <p:cNvSpPr/>
          <p:nvPr/>
        </p:nvSpPr>
        <p:spPr>
          <a:xfrm>
            <a:off x="927735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ounded Rectangle 91"/>
          <p:cNvSpPr/>
          <p:nvPr/>
        </p:nvSpPr>
        <p:spPr>
          <a:xfrm>
            <a:off x="10179368" y="4762500"/>
            <a:ext cx="396240" cy="1143000"/>
          </a:xfrm>
          <a:prstGeom prst="roundRect">
            <a:avLst>
              <a:gd name="adj" fmla="val 1442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9215438" y="5886450"/>
            <a:ext cx="32004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0367962" y="4752975"/>
            <a:ext cx="1647825"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ounded Rectangle 94"/>
          <p:cNvSpPr/>
          <p:nvPr/>
        </p:nvSpPr>
        <p:spPr>
          <a:xfrm rot="18900000">
            <a:off x="10126405" y="4042033"/>
            <a:ext cx="1714500" cy="228600"/>
          </a:xfrm>
          <a:prstGeom prst="roundRect">
            <a:avLst>
              <a:gd name="adj" fmla="val 45833"/>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ounded Rectangle 95"/>
          <p:cNvSpPr/>
          <p:nvPr/>
        </p:nvSpPr>
        <p:spPr>
          <a:xfrm>
            <a:off x="11391702" y="3352045"/>
            <a:ext cx="396240" cy="396240"/>
          </a:xfrm>
          <a:prstGeom prst="roundRect">
            <a:avLst>
              <a:gd name="adj" fmla="val 19230"/>
            </a:avLst>
          </a:prstGeom>
          <a:solidFill>
            <a:srgbClr val="111111"/>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10255568" y="4640580"/>
            <a:ext cx="243840" cy="24384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073765" y="4698312"/>
            <a:ext cx="47625" cy="8800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1072632" y="4658063"/>
            <a:ext cx="47625" cy="87874"/>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0" name="Connector 99"/>
          <p:cNvCxnSpPr/>
          <p:nvPr/>
        </p:nvCxnSpPr>
        <p:spPr>
          <a:xfrm flipH="1" flipV="1">
            <a:off x="11087403" y="4641880"/>
            <a:ext cx="5647" cy="399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079523" y="4602265"/>
            <a:ext cx="7880" cy="3961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069434" y="4563154"/>
            <a:ext cx="10089" cy="391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057168" y="4524669"/>
            <a:ext cx="12266" cy="384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042764" y="4486933"/>
            <a:ext cx="14404" cy="377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026266" y="4450065"/>
            <a:ext cx="16498" cy="3686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007727" y="4414179"/>
            <a:ext cx="18539" cy="358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0987205" y="4379389"/>
            <a:ext cx="20522" cy="347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0964765" y="4345805"/>
            <a:ext cx="22440" cy="3358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0940477" y="4313531"/>
            <a:ext cx="24288" cy="3227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0914417" y="4282670"/>
            <a:ext cx="26060" cy="3086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0886668" y="4253319"/>
            <a:ext cx="27749" cy="2935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074233" y="4262995"/>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
            </a:r>
          </a:p>
        </p:txBody>
      </p:sp>
      <p:sp>
        <p:nvSpPr>
          <p:cNvPr id="113" name="TextBox 112"/>
          <p:cNvSpPr txBox="1"/>
          <p:nvPr/>
        </p:nvSpPr>
        <p:spPr>
          <a:xfrm>
            <a:off x="9582150"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Arm</a:t>
            </a:r>
          </a:p>
        </p:txBody>
      </p:sp>
      <p:sp>
        <p:nvSpPr>
          <p:cNvPr id="114" name="TextBox 113"/>
          <p:cNvSpPr txBox="1"/>
          <p:nvPr/>
        </p:nvSpPr>
        <p:spPr>
          <a:xfrm>
            <a:off x="9582150"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ArmMech</a:t>
            </a:r>
          </a:p>
        </p:txBody>
      </p:sp>
      <p:sp>
        <p:nvSpPr>
          <p:cNvPr id="115" name="TextBox 114"/>
          <p:cNvSpPr txBox="1"/>
          <p:nvPr/>
        </p:nvSpPr>
        <p:spPr>
          <a:xfrm>
            <a:off x="9582150"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Pivots to an angle</a:t>
            </a:r>
          </a:p>
        </p:txBody>
      </p:sp>
      <p:sp>
        <p:nvSpPr>
          <p:cNvPr id="116" name="Rounded Rectangle 115"/>
          <p:cNvSpPr/>
          <p:nvPr/>
        </p:nvSpPr>
        <p:spPr>
          <a:xfrm>
            <a:off x="1345882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14063662" y="5886450"/>
            <a:ext cx="23241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ounded Rectangle 117"/>
          <p:cNvSpPr/>
          <p:nvPr/>
        </p:nvSpPr>
        <p:spPr>
          <a:xfrm>
            <a:off x="14539912" y="5676900"/>
            <a:ext cx="1371600" cy="228600"/>
          </a:xfrm>
          <a:prstGeom prst="roundRect">
            <a:avLst>
              <a:gd name="adj" fmla="val 25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14692312" y="3486150"/>
            <a:ext cx="121920" cy="2190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15637192" y="3486150"/>
            <a:ext cx="121920" cy="2190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14600872" y="4095750"/>
            <a:ext cx="1249680" cy="533400"/>
          </a:xfrm>
          <a:prstGeom prst="roundRect">
            <a:avLst>
              <a:gd name="adj" fmla="val 14285"/>
            </a:avLst>
          </a:prstGeom>
          <a:solidFill>
            <a:srgbClr val="111111"/>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6116300" y="4704398"/>
            <a:ext cx="47625" cy="99631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Isosceles Triangle 122"/>
          <p:cNvSpPr/>
          <p:nvPr/>
        </p:nvSpPr>
        <p:spPr>
          <a:xfrm>
            <a:off x="16063912" y="45910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5841028" y="4619625"/>
            <a:ext cx="46101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16277272" y="4981575"/>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
            </a:r>
          </a:p>
        </p:txBody>
      </p:sp>
      <p:sp>
        <p:nvSpPr>
          <p:cNvPr id="126" name="TextBox 125"/>
          <p:cNvSpPr txBox="1"/>
          <p:nvPr/>
        </p:nvSpPr>
        <p:spPr>
          <a:xfrm>
            <a:off x="13763625"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Elevator</a:t>
            </a:r>
          </a:p>
        </p:txBody>
      </p:sp>
      <p:sp>
        <p:nvSpPr>
          <p:cNvPr id="127" name="TextBox 126"/>
          <p:cNvSpPr txBox="1"/>
          <p:nvPr/>
        </p:nvSpPr>
        <p:spPr>
          <a:xfrm>
            <a:off x="13763625"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ElevatorMech</a:t>
            </a:r>
          </a:p>
        </p:txBody>
      </p:sp>
      <p:sp>
        <p:nvSpPr>
          <p:cNvPr id="128" name="TextBox 127"/>
          <p:cNvSpPr txBox="1"/>
          <p:nvPr/>
        </p:nvSpPr>
        <p:spPr>
          <a:xfrm>
            <a:off x="13763625"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Slides to a height</a:t>
            </a:r>
          </a:p>
        </p:txBody>
      </p:sp>
      <p:sp>
        <p:nvSpPr>
          <p:cNvPr id="129" name="TextBox 1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0" name="TextBox 1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Things that spin: roller and flywheel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Roller</a:t>
            </a:r>
          </a:p>
        </p:txBody>
      </p:sp>
      <p:sp>
        <p:nvSpPr>
          <p:cNvPr id="7" name="TextBox 6"/>
          <p:cNvSpPr txBox="1"/>
          <p:nvPr/>
        </p:nvSpPr>
        <p:spPr>
          <a:xfrm>
            <a:off x="5105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RollerMech</a:t>
            </a:r>
          </a:p>
        </p:txBody>
      </p:sp>
      <p:sp>
        <p:nvSpPr>
          <p:cNvPr id="8" name="Rectangle 7"/>
          <p:cNvSpPr/>
          <p:nvPr/>
        </p:nvSpPr>
        <p:spPr>
          <a:xfrm>
            <a:off x="2824162" y="6219825"/>
            <a:ext cx="4562475"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843212" y="4214812"/>
            <a:ext cx="1785938" cy="1785938"/>
          </a:xfrm>
          <a:prstGeom prst="roundRect">
            <a:avLst>
              <a:gd name="adj" fmla="val 533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843212" y="5524500"/>
            <a:ext cx="1785938" cy="476250"/>
          </a:xfrm>
          <a:prstGeom prst="roundRect">
            <a:avLst>
              <a:gd name="adj" fmla="val 12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1391915">
            <a:off x="4354367" y="4548188"/>
            <a:ext cx="906753" cy="166688"/>
          </a:xfrm>
          <a:prstGeom prst="roundRect">
            <a:avLst>
              <a:gd name="adj" fmla="val 44285"/>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795838" y="4381500"/>
            <a:ext cx="1095375" cy="109537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V="1">
            <a:off x="5475781" y="4808698"/>
            <a:ext cx="317416" cy="8505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411986" y="4526023"/>
            <a:ext cx="164306" cy="2845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5223036" y="4479516"/>
            <a:ext cx="85051" cy="31741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4940360" y="4696420"/>
            <a:ext cx="284587" cy="1643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893853" y="4964625"/>
            <a:ext cx="317416" cy="8505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5110758" y="5047765"/>
            <a:ext cx="164306" cy="2845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78963" y="5061444"/>
            <a:ext cx="85051" cy="31741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62103" y="4997648"/>
            <a:ext cx="284587" cy="1643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244941" y="4830604"/>
            <a:ext cx="197168" cy="197168"/>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4662991" y="4459933"/>
            <a:ext cx="50216" cy="7634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713207" y="4389930"/>
            <a:ext cx="58739" cy="700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771946" y="4327220"/>
            <a:ext cx="66468" cy="6271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38414" y="4272651"/>
            <a:ext cx="73300" cy="545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911714" y="4226960"/>
            <a:ext cx="79139" cy="456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90853" y="4190765"/>
            <a:ext cx="83908" cy="361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74761" y="4164557"/>
            <a:ext cx="87543" cy="262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162304" y="4148688"/>
            <a:ext cx="89994" cy="158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252298" y="4143375"/>
            <a:ext cx="91227" cy="53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43525" y="4143375"/>
            <a:ext cx="91227" cy="53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34752" y="4148688"/>
            <a:ext cx="89994" cy="158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4746" y="4164557"/>
            <a:ext cx="87543" cy="262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612289" y="4190765"/>
            <a:ext cx="83908" cy="361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696197" y="4226960"/>
            <a:ext cx="79139" cy="456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75336" y="4272651"/>
            <a:ext cx="73300" cy="545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848636" y="4327220"/>
            <a:ext cx="66468" cy="6271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15104" y="4389930"/>
            <a:ext cx="108955" cy="146351"/>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5843588" y="5095875"/>
            <a:ext cx="1143000" cy="11430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14650" y="4762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robot</a:t>
            </a:r>
          </a:p>
        </p:txBody>
      </p:sp>
      <p:sp>
        <p:nvSpPr>
          <p:cNvPr id="41" name="TextBox 40"/>
          <p:cNvSpPr txBox="1"/>
          <p:nvPr/>
        </p:nvSpPr>
        <p:spPr>
          <a:xfrm>
            <a:off x="7010400" y="581025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game piece</a:t>
            </a:r>
          </a:p>
        </p:txBody>
      </p:sp>
      <p:sp>
        <p:nvSpPr>
          <p:cNvPr id="42" name="TextBox 41"/>
          <p:cNvSpPr txBox="1"/>
          <p:nvPr/>
        </p:nvSpPr>
        <p:spPr>
          <a:xfrm>
            <a:off x="5772150" y="3676650"/>
            <a:ext cx="1905000" cy="3238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spins</a:t>
            </a:r>
          </a:p>
        </p:txBody>
      </p:sp>
      <p:sp>
        <p:nvSpPr>
          <p:cNvPr id="43" name="TextBox 42"/>
          <p:cNvSpPr txBox="1"/>
          <p:nvPr/>
        </p:nvSpPr>
        <p:spPr>
          <a:xfrm>
            <a:off x="1295400" y="69532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intakes, indexers, conveyors</a:t>
            </a:r>
          </a:p>
        </p:txBody>
      </p:sp>
      <p:sp>
        <p:nvSpPr>
          <p:cNvPr id="44" name="TextBox 43"/>
          <p:cNvSpPr txBox="1"/>
          <p:nvPr/>
        </p:nvSpPr>
        <p:spPr>
          <a:xfrm>
            <a:off x="1295400" y="7620000"/>
            <a:ext cx="7315200" cy="1047750"/>
          </a:xfrm>
          <a:prstGeom prst="rect">
            <a:avLst/>
          </a:prstGeom>
          <a:noFill/>
        </p:spPr>
        <p:txBody>
          <a:bodyPr wrap="square" lIns="0" rIns="0" tIns="0" bIns="0" anchor="t">
            <a:spAutoFit/>
          </a:bodyPr>
          <a:lstStyle/>
          <a:p>
            <a:pPr algn="l">
              <a:lnSpc>
                <a:spcPct val="130000"/>
              </a:lnSpc>
            </a:pPr>
            <a:r>
              <a:rPr sz="1950" b="1" i="0">
                <a:solidFill>
                  <a:srgbClr val="CC2200"/>
                </a:solidFill>
                <a:latin typeface="Geist"/>
                <a:ea typeface="Geist"/>
                <a:cs typeface="Geist"/>
              </a:rPr>
              <a:t>•  </a:t>
            </a:r>
            <a:r>
              <a:rPr sz="1950" b="1" i="0">
                <a:solidFill>
                  <a:srgbClr val="F0E8E8"/>
                </a:solidFill>
                <a:latin typeface="Geist"/>
                <a:ea typeface="Geist"/>
                <a:cs typeface="Geist"/>
              </a:rPr>
              <a:t>Usually</a:t>
            </a:r>
            <a:r>
              <a:rPr sz="1950" b="0" i="0">
                <a:solidFill>
                  <a:srgbClr val="F0E8E8"/>
                </a:solidFill>
                <a:latin typeface="Geist"/>
                <a:ea typeface="Geist"/>
                <a:cs typeface="Geist"/>
              </a:rPr>
              <a:t> a power: </a:t>
            </a:r>
            <a:r>
              <a:rPr sz="1950" b="0" i="0">
                <a:solidFill>
                  <a:srgbClr val="F0E8E8"/>
                </a:solidFill>
                <a:latin typeface="Geist Mono"/>
                <a:ea typeface="Geist Mono"/>
                <a:cs typeface="Geist Mono"/>
              </a:rPr>
              <a:t>setTargetDutyCycle(0.5)</a:t>
            </a:r>
          </a:p>
        </p:txBody>
      </p:sp>
      <p:sp>
        <p:nvSpPr>
          <p:cNvPr id="45" name="Rounded Rectangle 44"/>
          <p:cNvSpPr/>
          <p:nvPr/>
        </p:nvSpPr>
        <p:spPr>
          <a:xfrm>
            <a:off x="9296400" y="2857500"/>
            <a:ext cx="80772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677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Flywheel</a:t>
            </a:r>
          </a:p>
        </p:txBody>
      </p:sp>
      <p:sp>
        <p:nvSpPr>
          <p:cNvPr id="47" name="TextBox 46"/>
          <p:cNvSpPr txBox="1"/>
          <p:nvPr/>
        </p:nvSpPr>
        <p:spPr>
          <a:xfrm>
            <a:off x="13487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FlywheelMech</a:t>
            </a:r>
          </a:p>
        </p:txBody>
      </p:sp>
      <p:cxnSp>
        <p:nvCxnSpPr>
          <p:cNvPr id="48" name="Connector 47"/>
          <p:cNvCxnSpPr/>
          <p:nvPr/>
        </p:nvCxnSpPr>
        <p:spPr>
          <a:xfrm flipH="1" flipV="1">
            <a:off x="11549091" y="6937813"/>
            <a:ext cx="176044" cy="9515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11385524" y="6822520"/>
            <a:ext cx="163567" cy="11529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11236725" y="6688709"/>
            <a:ext cx="148799" cy="13381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11104779" y="6538254"/>
            <a:ext cx="131946" cy="150455"/>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10991535" y="6373262"/>
            <a:ext cx="113244" cy="16499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10898578" y="6196045"/>
            <a:ext cx="92957" cy="17721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10827213" y="6009087"/>
            <a:ext cx="71365" cy="18695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10778437" y="5815006"/>
            <a:ext cx="48776" cy="19408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10752935" y="5616521"/>
            <a:ext cx="25502" cy="198485"/>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0705310" y="5368789"/>
            <a:ext cx="95250" cy="295358"/>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10751064" y="5217487"/>
            <a:ext cx="21786" cy="19892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0772850" y="5022528"/>
            <a:ext cx="45138" cy="194959"/>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0817988" y="4834267"/>
            <a:ext cx="67857" cy="18826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0885845" y="4655344"/>
            <a:ext cx="89627" cy="17892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1510962" y="4572000"/>
            <a:ext cx="1857375" cy="185737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flipV="1">
            <a:off x="12663911" y="5296380"/>
            <a:ext cx="538226" cy="144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2499741" y="4738201"/>
            <a:ext cx="144217" cy="5382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11881471" y="4942508"/>
            <a:ext cx="394009" cy="39400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1677163" y="5560778"/>
            <a:ext cx="538226" cy="144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2235342" y="5724948"/>
            <a:ext cx="144217" cy="5382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2603820" y="5664858"/>
            <a:ext cx="394009" cy="39400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2272486" y="5333524"/>
            <a:ext cx="334328" cy="334328"/>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3034962" y="4469576"/>
            <a:ext cx="97027" cy="624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3131989" y="4532052"/>
            <a:ext cx="90522" cy="715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3222511" y="4603628"/>
            <a:ext cx="83168" cy="800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3305679" y="4683631"/>
            <a:ext cx="75032" cy="8767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3380711" y="4771310"/>
            <a:ext cx="66192" cy="9453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446903" y="4865841"/>
            <a:ext cx="56728" cy="1004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503631" y="4966336"/>
            <a:ext cx="46734" cy="10551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550365" y="5071851"/>
            <a:ext cx="36298" cy="1095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586663" y="5181394"/>
            <a:ext cx="25524" cy="1125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612187" y="5293938"/>
            <a:ext cx="14508" cy="1144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3602882" y="5384611"/>
            <a:ext cx="47625" cy="162977"/>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1" name="Connector 80"/>
          <p:cNvCxnSpPr/>
          <p:nvPr/>
        </p:nvCxnSpPr>
        <p:spPr>
          <a:xfrm flipH="1">
            <a:off x="13622224" y="5523775"/>
            <a:ext cx="7827" cy="1151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13603288" y="5638911"/>
            <a:ext cx="18936" cy="1138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13573420" y="5752747"/>
            <a:ext cx="29868" cy="1114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13532901" y="5864216"/>
            <a:ext cx="40519" cy="10805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13482112" y="5972270"/>
            <a:ext cx="50789" cy="10362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13351722" y="6075893"/>
            <a:ext cx="130390" cy="190113"/>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1072454" y="5891202"/>
            <a:ext cx="666750" cy="66675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0936111" y="4694536"/>
            <a:ext cx="666750" cy="6667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1912424" y="413732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2626799" y="368012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3341174" y="358487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4055549" y="385157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4769924" y="4480223"/>
            <a:ext cx="142875" cy="142875"/>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963150" y="4953000"/>
            <a:ext cx="1143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hood</a:t>
            </a:r>
          </a:p>
        </p:txBody>
      </p:sp>
      <p:sp>
        <p:nvSpPr>
          <p:cNvPr id="95" name="TextBox 94"/>
          <p:cNvSpPr txBox="1"/>
          <p:nvPr/>
        </p:nvSpPr>
        <p:spPr>
          <a:xfrm>
            <a:off x="15011400" y="438150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launched</a:t>
            </a:r>
          </a:p>
        </p:txBody>
      </p:sp>
      <p:sp>
        <p:nvSpPr>
          <p:cNvPr id="96" name="TextBox 95"/>
          <p:cNvSpPr txBox="1"/>
          <p:nvPr/>
        </p:nvSpPr>
        <p:spPr>
          <a:xfrm>
            <a:off x="9677400" y="69532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shooters and launchers</a:t>
            </a:r>
          </a:p>
        </p:txBody>
      </p:sp>
      <p:sp>
        <p:nvSpPr>
          <p:cNvPr id="97" name="TextBox 96"/>
          <p:cNvSpPr txBox="1"/>
          <p:nvPr/>
        </p:nvSpPr>
        <p:spPr>
          <a:xfrm>
            <a:off x="9677400" y="7620000"/>
            <a:ext cx="7315200" cy="1047750"/>
          </a:xfrm>
          <a:prstGeom prst="rect">
            <a:avLst/>
          </a:prstGeom>
          <a:noFill/>
        </p:spPr>
        <p:txBody>
          <a:bodyPr wrap="square" lIns="0" rIns="0" tIns="0" bIns="0" anchor="t">
            <a:spAutoFit/>
          </a:bodyPr>
          <a:lstStyle/>
          <a:p>
            <a:pPr algn="l">
              <a:lnSpc>
                <a:spcPct val="130000"/>
              </a:lnSpc>
            </a:pPr>
            <a:r>
              <a:rPr sz="1950" b="1" i="0">
                <a:solidFill>
                  <a:srgbClr val="CC2200"/>
                </a:solidFill>
                <a:latin typeface="Geist"/>
                <a:ea typeface="Geist"/>
                <a:cs typeface="Geist"/>
              </a:rPr>
              <a:t>•  </a:t>
            </a:r>
            <a:r>
              <a:rPr sz="1950" b="1" i="0">
                <a:solidFill>
                  <a:srgbClr val="F0E8E8"/>
                </a:solidFill>
                <a:latin typeface="Geist"/>
                <a:ea typeface="Geist"/>
                <a:cs typeface="Geist"/>
              </a:rPr>
              <a:t>Cares about</a:t>
            </a:r>
            <a:r>
              <a:rPr sz="1950" b="0" i="0">
                <a:solidFill>
                  <a:srgbClr val="F0E8E8"/>
                </a:solidFill>
                <a:latin typeface="Geist"/>
                <a:ea typeface="Geist"/>
                <a:cs typeface="Geist"/>
              </a:rPr>
              <a:t> speed, in rad/s: </a:t>
            </a:r>
            <a:r>
              <a:rPr sz="1950" b="0" i="0">
                <a:solidFill>
                  <a:srgbClr val="F0E8E8"/>
                </a:solidFill>
                <a:latin typeface="Geist Mono"/>
                <a:ea typeface="Geist Mono"/>
                <a:cs typeface="Geist Mono"/>
              </a:rPr>
              <a:t>getCurrentVelocity()</a:t>
            </a:r>
          </a:p>
        </p:txBody>
      </p:sp>
      <p:sp>
        <p:nvSpPr>
          <p:cNvPr id="98" name="TextBox 9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9" name="TextBox 9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Things that go to a spot: arm and elevator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Arm</a:t>
            </a:r>
          </a:p>
        </p:txBody>
      </p:sp>
      <p:sp>
        <p:nvSpPr>
          <p:cNvPr id="7" name="TextBox 6"/>
          <p:cNvSpPr txBox="1"/>
          <p:nvPr/>
        </p:nvSpPr>
        <p:spPr>
          <a:xfrm>
            <a:off x="5105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ArmMech</a:t>
            </a:r>
          </a:p>
        </p:txBody>
      </p:sp>
      <p:sp>
        <p:nvSpPr>
          <p:cNvPr id="8" name="Rounded Rectangle 7"/>
          <p:cNvSpPr/>
          <p:nvPr/>
        </p:nvSpPr>
        <p:spPr>
          <a:xfrm>
            <a:off x="3383280" y="5810250"/>
            <a:ext cx="396240" cy="1143000"/>
          </a:xfrm>
          <a:prstGeom prst="roundRect">
            <a:avLst>
              <a:gd name="adj" fmla="val 1442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419350" y="6934200"/>
            <a:ext cx="37719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571875" y="5800725"/>
            <a:ext cx="21907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20700000">
            <a:off x="3542453" y="5415360"/>
            <a:ext cx="2286000" cy="198120"/>
          </a:xfrm>
          <a:prstGeom prst="roundRect">
            <a:avLst>
              <a:gd name="adj" fmla="val 45192"/>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rot="18600000">
            <a:off x="3173106" y="4820361"/>
            <a:ext cx="2286000" cy="228600"/>
          </a:xfrm>
          <a:prstGeom prst="roundRect">
            <a:avLst>
              <a:gd name="adj" fmla="val 45833"/>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852692" y="3860952"/>
            <a:ext cx="396240" cy="396240"/>
          </a:xfrm>
          <a:prstGeom prst="roundRect">
            <a:avLst>
              <a:gd name="adj" fmla="val 19230"/>
            </a:avLst>
          </a:prstGeom>
          <a:solidFill>
            <a:srgbClr val="111111"/>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459480" y="5688330"/>
            <a:ext cx="243840" cy="24384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17708" y="5726629"/>
            <a:ext cx="47625" cy="107434"/>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 name="Connector 15"/>
          <p:cNvCxnSpPr/>
          <p:nvPr/>
        </p:nvCxnSpPr>
        <p:spPr>
          <a:xfrm flipH="1" flipV="1">
            <a:off x="4534069" y="5690865"/>
            <a:ext cx="5586" cy="595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4524782" y="5631753"/>
            <a:ext cx="9287" cy="591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511830" y="5573333"/>
            <a:ext cx="12952" cy="5842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4495265" y="5515834"/>
            <a:ext cx="16565" cy="5749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4475151" y="5459479"/>
            <a:ext cx="20114" cy="563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4451564" y="5404486"/>
            <a:ext cx="23587" cy="5499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424598" y="5351069"/>
            <a:ext cx="26966" cy="5341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394357" y="5299435"/>
            <a:ext cx="30241" cy="516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360958" y="5249786"/>
            <a:ext cx="33399" cy="4964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4324531" y="5202314"/>
            <a:ext cx="36427" cy="474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285218" y="5157203"/>
            <a:ext cx="39313" cy="451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243171" y="5114628"/>
            <a:ext cx="42047" cy="4257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98553" y="5074755"/>
            <a:ext cx="44618" cy="398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22060" y="5155747"/>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angle</a:t>
            </a:r>
          </a:p>
        </p:txBody>
      </p:sp>
      <p:sp>
        <p:nvSpPr>
          <p:cNvPr id="30" name="TextBox 29"/>
          <p:cNvSpPr txBox="1"/>
          <p:nvPr/>
        </p:nvSpPr>
        <p:spPr>
          <a:xfrm>
            <a:off x="1295400" y="71437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Position</a:t>
            </a:r>
            <a:r>
              <a:rPr sz="1950" b="0" i="0">
                <a:solidFill>
                  <a:srgbClr val="F0E8E8"/>
                </a:solidFill>
                <a:latin typeface="Geist"/>
                <a:ea typeface="Geist"/>
                <a:cs typeface="Geist"/>
              </a:rPr>
              <a:t> is an angle, in radians</a:t>
            </a:r>
          </a:p>
        </p:txBody>
      </p:sp>
      <p:sp>
        <p:nvSpPr>
          <p:cNvPr id="31" name="TextBox 30"/>
          <p:cNvSpPr txBox="1"/>
          <p:nvPr/>
        </p:nvSpPr>
        <p:spPr>
          <a:xfrm>
            <a:off x="1295400" y="7637145"/>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intake pivots, hoods, climbers</a:t>
            </a:r>
          </a:p>
        </p:txBody>
      </p:sp>
      <p:sp>
        <p:nvSpPr>
          <p:cNvPr id="32" name="Rounded Rectangle 31"/>
          <p:cNvSpPr/>
          <p:nvPr/>
        </p:nvSpPr>
        <p:spPr>
          <a:xfrm>
            <a:off x="9296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677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Elevator</a:t>
            </a:r>
          </a:p>
        </p:txBody>
      </p:sp>
      <p:sp>
        <p:nvSpPr>
          <p:cNvPr id="34" name="TextBox 33"/>
          <p:cNvSpPr txBox="1"/>
          <p:nvPr/>
        </p:nvSpPr>
        <p:spPr>
          <a:xfrm>
            <a:off x="13487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ElevatorMech</a:t>
            </a:r>
          </a:p>
        </p:txBody>
      </p:sp>
      <p:sp>
        <p:nvSpPr>
          <p:cNvPr id="35" name="Rectangle 34"/>
          <p:cNvSpPr/>
          <p:nvPr/>
        </p:nvSpPr>
        <p:spPr>
          <a:xfrm>
            <a:off x="11468100" y="6648450"/>
            <a:ext cx="2895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12058650" y="6381750"/>
            <a:ext cx="1714500" cy="285750"/>
          </a:xfrm>
          <a:prstGeom prst="roundRect">
            <a:avLst>
              <a:gd name="adj" fmla="val 20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2249150" y="3714750"/>
            <a:ext cx="152400" cy="26670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3430250" y="3714750"/>
            <a:ext cx="152400" cy="26670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12134850" y="4191000"/>
            <a:ext cx="1562100" cy="666750"/>
          </a:xfrm>
          <a:prstGeom prst="roundRect">
            <a:avLst>
              <a:gd name="adj" fmla="val 11428"/>
            </a:avLst>
          </a:prstGeom>
          <a:solidFill>
            <a:srgbClr val="111111"/>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4035088" y="4932998"/>
            <a:ext cx="47625" cy="147256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Isosceles Triangle 40"/>
          <p:cNvSpPr/>
          <p:nvPr/>
        </p:nvSpPr>
        <p:spPr>
          <a:xfrm>
            <a:off x="13982700" y="48196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3687425" y="4848225"/>
            <a:ext cx="57150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4230350" y="5448300"/>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height</a:t>
            </a:r>
          </a:p>
        </p:txBody>
      </p:sp>
      <p:sp>
        <p:nvSpPr>
          <p:cNvPr id="44" name="TextBox 43"/>
          <p:cNvSpPr txBox="1"/>
          <p:nvPr/>
        </p:nvSpPr>
        <p:spPr>
          <a:xfrm>
            <a:off x="9677400" y="71437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Position</a:t>
            </a:r>
            <a:r>
              <a:rPr sz="1950" b="0" i="0">
                <a:solidFill>
                  <a:srgbClr val="F0E8E8"/>
                </a:solidFill>
                <a:latin typeface="Geist"/>
                <a:ea typeface="Geist"/>
                <a:cs typeface="Geist"/>
              </a:rPr>
              <a:t> is a height, in meters</a:t>
            </a:r>
          </a:p>
        </p:txBody>
      </p:sp>
      <p:sp>
        <p:nvSpPr>
          <p:cNvPr id="45" name="TextBox 44"/>
          <p:cNvSpPr txBox="1"/>
          <p:nvPr/>
        </p:nvSpPr>
        <p:spPr>
          <a:xfrm>
            <a:off x="9677400" y="7637145"/>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lifts and climbers</a:t>
            </a:r>
          </a:p>
        </p:txBody>
      </p:sp>
      <p:sp>
        <p:nvSpPr>
          <p:cNvPr id="46" name="Rounded Rectangle 4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333500" y="8382000"/>
            <a:ext cx="15621000" cy="76200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Both:  </a:t>
            </a:r>
            <a:r>
              <a:rPr sz="2100" b="0" i="0">
                <a:solidFill>
                  <a:srgbClr val="F0E8E8"/>
                </a:solidFill>
                <a:latin typeface="Geist"/>
                <a:ea typeface="Geist"/>
                <a:cs typeface="Geist"/>
              </a:rPr>
              <a:t>say where to go with </a:t>
            </a:r>
            <a:r>
              <a:rPr sz="2100" b="0" i="0">
                <a:solidFill>
                  <a:srgbClr val="F0E8E8"/>
                </a:solidFill>
                <a:latin typeface="Geist Mono"/>
                <a:ea typeface="Geist Mono"/>
                <a:cs typeface="Geist Mono"/>
              </a:rPr>
              <a:t>setTargetPosition(...)</a:t>
            </a:r>
            <a:r>
              <a:rPr sz="2100" b="0" i="0">
                <a:solidFill>
                  <a:srgbClr val="F0E8E8"/>
                </a:solidFill>
                <a:latin typeface="Geist"/>
                <a:ea typeface="Geist"/>
                <a:cs typeface="Geist"/>
              </a:rPr>
              <a:t>. MWLib works out the power.</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 real robots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5_shooter.jpg"/>
          <p:cNvPicPr>
            <a:picLocks noChangeAspect="1"/>
          </p:cNvPicPr>
          <p:nvPr/>
        </p:nvPicPr>
        <p:blipFill>
          <a:blip r:embed="rId3"/>
          <a:stretch>
            <a:fillRect/>
          </a:stretch>
        </p:blipFill>
        <p:spPr>
          <a:xfrm>
            <a:off x="1233697" y="3048000"/>
            <a:ext cx="4644606" cy="4000500"/>
          </a:xfrm>
          <a:prstGeom prst="rect">
            <a:avLst/>
          </a:prstGeom>
        </p:spPr>
      </p:pic>
      <p:sp>
        <p:nvSpPr>
          <p:cNvPr id="7" name="TextBox 6"/>
          <p:cNvSpPr txBox="1"/>
          <p:nvPr/>
        </p:nvSpPr>
        <p:spPr>
          <a:xfrm>
            <a:off x="1219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Flywheel</a:t>
            </a:r>
          </a:p>
        </p:txBody>
      </p:sp>
      <p:sp>
        <p:nvSpPr>
          <p:cNvPr id="8" name="TextBox 7"/>
          <p:cNvSpPr txBox="1"/>
          <p:nvPr/>
        </p:nvSpPr>
        <p:spPr>
          <a:xfrm>
            <a:off x="1219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2910's shooter</a:t>
            </a:r>
          </a:p>
        </p:txBody>
      </p:sp>
      <p:sp>
        <p:nvSpPr>
          <p:cNvPr id="9" name="TextBox 8"/>
          <p:cNvSpPr txBox="1"/>
          <p:nvPr/>
        </p:nvSpPr>
        <p:spPr>
          <a:xfrm>
            <a:off x="1219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FlywheelMech</a:t>
            </a:r>
          </a:p>
        </p:txBody>
      </p:sp>
      <p:sp>
        <p:nvSpPr>
          <p:cNvPr id="10" name="Rounded Rectangle 9"/>
          <p:cNvSpPr/>
          <p:nvPr/>
        </p:nvSpPr>
        <p:spPr>
          <a:xfrm>
            <a:off x="6502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5_pivot.jpg"/>
          <p:cNvPicPr>
            <a:picLocks noChangeAspect="1"/>
          </p:cNvPicPr>
          <p:nvPr/>
        </p:nvPicPr>
        <p:blipFill>
          <a:blip r:embed="rId4"/>
          <a:stretch>
            <a:fillRect/>
          </a:stretch>
        </p:blipFill>
        <p:spPr>
          <a:xfrm>
            <a:off x="6692900" y="3346097"/>
            <a:ext cx="4902200" cy="3404306"/>
          </a:xfrm>
          <a:prstGeom prst="rect">
            <a:avLst/>
          </a:prstGeom>
        </p:spPr>
      </p:pic>
      <p:sp>
        <p:nvSpPr>
          <p:cNvPr id="12" name="TextBox 11"/>
          <p:cNvSpPr txBox="1"/>
          <p:nvPr/>
        </p:nvSpPr>
        <p:spPr>
          <a:xfrm>
            <a:off x="6807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Arm</a:t>
            </a:r>
          </a:p>
        </p:txBody>
      </p:sp>
      <p:sp>
        <p:nvSpPr>
          <p:cNvPr id="13" name="TextBox 12"/>
          <p:cNvSpPr txBox="1"/>
          <p:nvPr/>
        </p:nvSpPr>
        <p:spPr>
          <a:xfrm>
            <a:off x="6807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6036's intake pivot</a:t>
            </a:r>
          </a:p>
        </p:txBody>
      </p:sp>
      <p:sp>
        <p:nvSpPr>
          <p:cNvPr id="14" name="TextBox 13"/>
          <p:cNvSpPr txBox="1"/>
          <p:nvPr/>
        </p:nvSpPr>
        <p:spPr>
          <a:xfrm>
            <a:off x="6807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ArmMech</a:t>
            </a:r>
          </a:p>
        </p:txBody>
      </p:sp>
      <p:sp>
        <p:nvSpPr>
          <p:cNvPr id="15" name="Rounded Rectangle 14"/>
          <p:cNvSpPr/>
          <p:nvPr/>
        </p:nvSpPr>
        <p:spPr>
          <a:xfrm>
            <a:off x="12090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5_elevator.jpg"/>
          <p:cNvPicPr>
            <a:picLocks noChangeAspect="1"/>
          </p:cNvPicPr>
          <p:nvPr/>
        </p:nvPicPr>
        <p:blipFill>
          <a:blip r:embed="rId5"/>
          <a:stretch>
            <a:fillRect/>
          </a:stretch>
        </p:blipFill>
        <p:spPr>
          <a:xfrm>
            <a:off x="12280900" y="3277345"/>
            <a:ext cx="4902200" cy="3541810"/>
          </a:xfrm>
          <a:prstGeom prst="rect">
            <a:avLst/>
          </a:prstGeom>
        </p:spPr>
      </p:pic>
      <p:sp>
        <p:nvSpPr>
          <p:cNvPr id="17" name="TextBox 16"/>
          <p:cNvSpPr txBox="1"/>
          <p:nvPr/>
        </p:nvSpPr>
        <p:spPr>
          <a:xfrm>
            <a:off x="12395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Elevator</a:t>
            </a:r>
          </a:p>
        </p:txBody>
      </p:sp>
      <p:sp>
        <p:nvSpPr>
          <p:cNvPr id="18" name="TextBox 17"/>
          <p:cNvSpPr txBox="1"/>
          <p:nvPr/>
        </p:nvSpPr>
        <p:spPr>
          <a:xfrm>
            <a:off x="12395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2468's elevator</a:t>
            </a:r>
          </a:p>
        </p:txBody>
      </p:sp>
      <p:sp>
        <p:nvSpPr>
          <p:cNvPr id="19" name="TextBox 18"/>
          <p:cNvSpPr txBox="1"/>
          <p:nvPr/>
        </p:nvSpPr>
        <p:spPr>
          <a:xfrm>
            <a:off x="12395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ElevatorMech</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ways to give an order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047750"/>
          </a:xfrm>
          <a:prstGeom prst="roundRect">
            <a:avLst>
              <a:gd name="adj" fmla="val 1090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0150" y="2857500"/>
            <a:ext cx="3429000" cy="1047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Mechanism</a:t>
            </a:r>
          </a:p>
        </p:txBody>
      </p:sp>
      <p:sp>
        <p:nvSpPr>
          <p:cNvPr id="7" name="TextBox 6"/>
          <p:cNvSpPr txBox="1"/>
          <p:nvPr/>
        </p:nvSpPr>
        <p:spPr>
          <a:xfrm>
            <a:off x="4343400" y="2990850"/>
            <a:ext cx="4343400" cy="381000"/>
          </a:xfrm>
          <a:prstGeom prst="rect">
            <a:avLst/>
          </a:prstGeom>
          <a:noFill/>
        </p:spPr>
        <p:txBody>
          <a:bodyPr wrap="square" lIns="0" rIns="0" tIns="0" bIns="0" anchor="t">
            <a:spAutoFit/>
          </a:bodyPr>
          <a:lstStyle/>
          <a:p>
            <a:pPr algn="ctr"/>
            <a:r>
              <a:rPr sz="2100" b="1" i="0">
                <a:solidFill>
                  <a:srgbClr val="CC2200"/>
                </a:solidFill>
                <a:latin typeface="Geist"/>
                <a:ea typeface="Geist"/>
                <a:cs typeface="Geist"/>
              </a:rPr>
              <a:t>Duty cycle</a:t>
            </a:r>
          </a:p>
        </p:txBody>
      </p:sp>
      <p:sp>
        <p:nvSpPr>
          <p:cNvPr id="8" name="TextBox 7"/>
          <p:cNvSpPr txBox="1"/>
          <p:nvPr/>
        </p:nvSpPr>
        <p:spPr>
          <a:xfrm>
            <a:off x="43434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setTargetDutyCycle()</a:t>
            </a:r>
          </a:p>
        </p:txBody>
      </p:sp>
      <p:sp>
        <p:nvSpPr>
          <p:cNvPr id="9" name="TextBox 8"/>
          <p:cNvSpPr txBox="1"/>
          <p:nvPr/>
        </p:nvSpPr>
        <p:spPr>
          <a:xfrm>
            <a:off x="8686800" y="2990850"/>
            <a:ext cx="43434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Velocity</a:t>
            </a:r>
          </a:p>
        </p:txBody>
      </p:sp>
      <p:sp>
        <p:nvSpPr>
          <p:cNvPr id="10" name="TextBox 9"/>
          <p:cNvSpPr txBox="1"/>
          <p:nvPr/>
        </p:nvSpPr>
        <p:spPr>
          <a:xfrm>
            <a:off x="86868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setTargetVelocity()</a:t>
            </a:r>
          </a:p>
        </p:txBody>
      </p:sp>
      <p:sp>
        <p:nvSpPr>
          <p:cNvPr id="11" name="TextBox 10"/>
          <p:cNvSpPr txBox="1"/>
          <p:nvPr/>
        </p:nvSpPr>
        <p:spPr>
          <a:xfrm>
            <a:off x="13030200" y="2990850"/>
            <a:ext cx="43434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Position</a:t>
            </a:r>
          </a:p>
        </p:txBody>
      </p:sp>
      <p:sp>
        <p:nvSpPr>
          <p:cNvPr id="12" name="TextBox 11"/>
          <p:cNvSpPr txBox="1"/>
          <p:nvPr/>
        </p:nvSpPr>
        <p:spPr>
          <a:xfrm>
            <a:off x="130302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setTargetPosition()</a:t>
            </a:r>
          </a:p>
        </p:txBody>
      </p:sp>
      <p:sp>
        <p:nvSpPr>
          <p:cNvPr id="13" name="Rectangle 12"/>
          <p:cNvSpPr/>
          <p:nvPr/>
        </p:nvSpPr>
        <p:spPr>
          <a:xfrm>
            <a:off x="904875" y="49053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00150" y="40005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Roller</a:t>
            </a:r>
          </a:p>
        </p:txBody>
      </p:sp>
      <p:pic>
        <p:nvPicPr>
          <p:cNvPr id="15" name="Picture 14" descr="check-circle-fill.png"/>
          <p:cNvPicPr>
            <a:picLocks noChangeAspect="1"/>
          </p:cNvPicPr>
          <p:nvPr/>
        </p:nvPicPr>
        <p:blipFill>
          <a:blip r:embed="rId3"/>
          <a:stretch>
            <a:fillRect/>
          </a:stretch>
        </p:blipFill>
        <p:spPr>
          <a:xfrm>
            <a:off x="6324600" y="4248150"/>
            <a:ext cx="381000" cy="381000"/>
          </a:xfrm>
          <a:prstGeom prst="rect">
            <a:avLst/>
          </a:prstGeom>
        </p:spPr>
      </p:pic>
      <p:pic>
        <p:nvPicPr>
          <p:cNvPr id="16" name="Picture 15" descr="check-circle-fill.png"/>
          <p:cNvPicPr>
            <a:picLocks noChangeAspect="1"/>
          </p:cNvPicPr>
          <p:nvPr/>
        </p:nvPicPr>
        <p:blipFill>
          <a:blip r:embed="rId3"/>
          <a:stretch>
            <a:fillRect/>
          </a:stretch>
        </p:blipFill>
        <p:spPr>
          <a:xfrm>
            <a:off x="10668000" y="4248150"/>
            <a:ext cx="381000" cy="381000"/>
          </a:xfrm>
          <a:prstGeom prst="rect">
            <a:avLst/>
          </a:prstGeom>
        </p:spPr>
      </p:pic>
      <p:pic>
        <p:nvPicPr>
          <p:cNvPr id="17" name="Picture 16" descr="check-circle-fill.png"/>
          <p:cNvPicPr>
            <a:picLocks noChangeAspect="1"/>
          </p:cNvPicPr>
          <p:nvPr/>
        </p:nvPicPr>
        <p:blipFill>
          <a:blip r:embed="rId3"/>
          <a:stretch>
            <a:fillRect/>
          </a:stretch>
        </p:blipFill>
        <p:spPr>
          <a:xfrm>
            <a:off x="15011400" y="4248150"/>
            <a:ext cx="381000" cy="381000"/>
          </a:xfrm>
          <a:prstGeom prst="rect">
            <a:avLst/>
          </a:prstGeom>
        </p:spPr>
      </p:pic>
      <p:sp>
        <p:nvSpPr>
          <p:cNvPr id="18" name="Rectangle 17"/>
          <p:cNvSpPr/>
          <p:nvPr/>
        </p:nvSpPr>
        <p:spPr>
          <a:xfrm>
            <a:off x="904875" y="58578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00150" y="49530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Flywheel</a:t>
            </a:r>
          </a:p>
        </p:txBody>
      </p:sp>
      <p:pic>
        <p:nvPicPr>
          <p:cNvPr id="20" name="Picture 19" descr="check-circle-fill.png"/>
          <p:cNvPicPr>
            <a:picLocks noChangeAspect="1"/>
          </p:cNvPicPr>
          <p:nvPr/>
        </p:nvPicPr>
        <p:blipFill>
          <a:blip r:embed="rId3"/>
          <a:stretch>
            <a:fillRect/>
          </a:stretch>
        </p:blipFill>
        <p:spPr>
          <a:xfrm>
            <a:off x="6324600" y="5200650"/>
            <a:ext cx="381000" cy="381000"/>
          </a:xfrm>
          <a:prstGeom prst="rect">
            <a:avLst/>
          </a:prstGeom>
        </p:spPr>
      </p:pic>
      <p:pic>
        <p:nvPicPr>
          <p:cNvPr id="21" name="Picture 20" descr="check-circle-fill.png"/>
          <p:cNvPicPr>
            <a:picLocks noChangeAspect="1"/>
          </p:cNvPicPr>
          <p:nvPr/>
        </p:nvPicPr>
        <p:blipFill>
          <a:blip r:embed="rId3"/>
          <a:stretch>
            <a:fillRect/>
          </a:stretch>
        </p:blipFill>
        <p:spPr>
          <a:xfrm>
            <a:off x="10668000" y="5200650"/>
            <a:ext cx="381000" cy="381000"/>
          </a:xfrm>
          <a:prstGeom prst="rect">
            <a:avLst/>
          </a:prstGeom>
        </p:spPr>
      </p:pic>
      <p:sp>
        <p:nvSpPr>
          <p:cNvPr id="22" name="TextBox 21"/>
          <p:cNvSpPr txBox="1"/>
          <p:nvPr/>
        </p:nvSpPr>
        <p:spPr>
          <a:xfrm>
            <a:off x="14249400" y="4953000"/>
            <a:ext cx="1905000" cy="876300"/>
          </a:xfrm>
          <a:prstGeom prst="rect">
            <a:avLst/>
          </a:prstGeom>
          <a:noFill/>
        </p:spPr>
        <p:txBody>
          <a:bodyPr wrap="square" lIns="0" rIns="0" tIns="0" bIns="0" anchor="ctr">
            <a:spAutoFit/>
          </a:bodyPr>
          <a:lstStyle/>
          <a:p>
            <a:pPr algn="ctr"/>
            <a:r>
              <a:rPr sz="1800" b="0" i="0">
                <a:solidFill>
                  <a:srgbClr val="9A7878"/>
                </a:solidFill>
                <a:latin typeface="Geist"/>
                <a:ea typeface="Geist"/>
                <a:cs typeface="Geist"/>
              </a:rPr>
              <a:t>none</a:t>
            </a:r>
          </a:p>
        </p:txBody>
      </p:sp>
      <p:sp>
        <p:nvSpPr>
          <p:cNvPr id="23" name="Rectangle 22"/>
          <p:cNvSpPr/>
          <p:nvPr/>
        </p:nvSpPr>
        <p:spPr>
          <a:xfrm>
            <a:off x="904875" y="68103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00150" y="59055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Arm</a:t>
            </a:r>
          </a:p>
        </p:txBody>
      </p:sp>
      <p:pic>
        <p:nvPicPr>
          <p:cNvPr id="25" name="Picture 24" descr="check-circle-fill.png"/>
          <p:cNvPicPr>
            <a:picLocks noChangeAspect="1"/>
          </p:cNvPicPr>
          <p:nvPr/>
        </p:nvPicPr>
        <p:blipFill>
          <a:blip r:embed="rId3"/>
          <a:stretch>
            <a:fillRect/>
          </a:stretch>
        </p:blipFill>
        <p:spPr>
          <a:xfrm>
            <a:off x="6324600" y="6153150"/>
            <a:ext cx="381000" cy="381000"/>
          </a:xfrm>
          <a:prstGeom prst="rect">
            <a:avLst/>
          </a:prstGeom>
        </p:spPr>
      </p:pic>
      <p:pic>
        <p:nvPicPr>
          <p:cNvPr id="26" name="Picture 25" descr="check-circle-fill.png"/>
          <p:cNvPicPr>
            <a:picLocks noChangeAspect="1"/>
          </p:cNvPicPr>
          <p:nvPr/>
        </p:nvPicPr>
        <p:blipFill>
          <a:blip r:embed="rId3"/>
          <a:stretch>
            <a:fillRect/>
          </a:stretch>
        </p:blipFill>
        <p:spPr>
          <a:xfrm>
            <a:off x="10668000" y="6153150"/>
            <a:ext cx="381000" cy="381000"/>
          </a:xfrm>
          <a:prstGeom prst="rect">
            <a:avLst/>
          </a:prstGeom>
        </p:spPr>
      </p:pic>
      <p:pic>
        <p:nvPicPr>
          <p:cNvPr id="27" name="Picture 26" descr="check-circle-fill.png"/>
          <p:cNvPicPr>
            <a:picLocks noChangeAspect="1"/>
          </p:cNvPicPr>
          <p:nvPr/>
        </p:nvPicPr>
        <p:blipFill>
          <a:blip r:embed="rId3"/>
          <a:stretch>
            <a:fillRect/>
          </a:stretch>
        </p:blipFill>
        <p:spPr>
          <a:xfrm>
            <a:off x="15011400" y="6153150"/>
            <a:ext cx="381000" cy="381000"/>
          </a:xfrm>
          <a:prstGeom prst="rect">
            <a:avLst/>
          </a:prstGeom>
        </p:spPr>
      </p:pic>
      <p:sp>
        <p:nvSpPr>
          <p:cNvPr id="28" name="Rectangle 27"/>
          <p:cNvSpPr/>
          <p:nvPr/>
        </p:nvSpPr>
        <p:spPr>
          <a:xfrm>
            <a:off x="904875" y="77628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00150" y="68580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Elevator</a:t>
            </a:r>
          </a:p>
        </p:txBody>
      </p:sp>
      <p:pic>
        <p:nvPicPr>
          <p:cNvPr id="30" name="Picture 29" descr="check-circle-fill.png"/>
          <p:cNvPicPr>
            <a:picLocks noChangeAspect="1"/>
          </p:cNvPicPr>
          <p:nvPr/>
        </p:nvPicPr>
        <p:blipFill>
          <a:blip r:embed="rId3"/>
          <a:stretch>
            <a:fillRect/>
          </a:stretch>
        </p:blipFill>
        <p:spPr>
          <a:xfrm>
            <a:off x="6324600" y="7105650"/>
            <a:ext cx="381000" cy="381000"/>
          </a:xfrm>
          <a:prstGeom prst="rect">
            <a:avLst/>
          </a:prstGeom>
        </p:spPr>
      </p:pic>
      <p:pic>
        <p:nvPicPr>
          <p:cNvPr id="31" name="Picture 30" descr="check-circle-fill.png"/>
          <p:cNvPicPr>
            <a:picLocks noChangeAspect="1"/>
          </p:cNvPicPr>
          <p:nvPr/>
        </p:nvPicPr>
        <p:blipFill>
          <a:blip r:embed="rId3"/>
          <a:stretch>
            <a:fillRect/>
          </a:stretch>
        </p:blipFill>
        <p:spPr>
          <a:xfrm>
            <a:off x="10668000" y="7105650"/>
            <a:ext cx="381000" cy="381000"/>
          </a:xfrm>
          <a:prstGeom prst="rect">
            <a:avLst/>
          </a:prstGeom>
        </p:spPr>
      </p:pic>
      <p:pic>
        <p:nvPicPr>
          <p:cNvPr id="32" name="Picture 31" descr="check-circle-fill.png"/>
          <p:cNvPicPr>
            <a:picLocks noChangeAspect="1"/>
          </p:cNvPicPr>
          <p:nvPr/>
        </p:nvPicPr>
        <p:blipFill>
          <a:blip r:embed="rId3"/>
          <a:stretch>
            <a:fillRect/>
          </a:stretch>
        </p:blipFill>
        <p:spPr>
          <a:xfrm>
            <a:off x="15011400" y="7105650"/>
            <a:ext cx="381000" cy="381000"/>
          </a:xfrm>
          <a:prstGeom prst="rect">
            <a:avLst/>
          </a:prstGeom>
        </p:spPr>
      </p:pic>
      <p:sp>
        <p:nvSpPr>
          <p:cNvPr id="33" name="Rounded Rectangle 32"/>
          <p:cNvSpPr/>
          <p:nvPr/>
        </p:nvSpPr>
        <p:spPr>
          <a:xfrm>
            <a:off x="4438650" y="2895600"/>
            <a:ext cx="4152900" cy="4838700"/>
          </a:xfrm>
          <a:prstGeom prst="roundRect">
            <a:avLst>
              <a:gd name="adj" fmla="val 3211"/>
            </a:avLst>
          </a:prstGeom>
          <a:no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duty cycle only. The next deck makes the flywheel hold an exact speed.</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Inside a mechanism</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Read, write, log: the same code, real or simulated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Tell me what to do. I'll handle the motors. Deal?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mechanism is an IO container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905500" y="3048000"/>
            <a:ext cx="6477000" cy="5334000"/>
          </a:xfrm>
          <a:prstGeom prst="roundRect">
            <a:avLst>
              <a:gd name="adj" fmla="val 357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86500" y="3333750"/>
            <a:ext cx="4762500" cy="419100"/>
          </a:xfrm>
          <a:prstGeom prst="rect">
            <a:avLst/>
          </a:prstGeom>
          <a:noFill/>
        </p:spPr>
        <p:txBody>
          <a:bodyPr wrap="square" lIns="0" rIns="0" tIns="0" bIns="0" anchor="t">
            <a:spAutoFit/>
          </a:bodyPr>
          <a:lstStyle/>
          <a:p>
            <a:pPr algn="l"/>
            <a:r>
              <a:rPr sz="2400" b="1" i="0">
                <a:solidFill>
                  <a:srgbClr val="E8C27A"/>
                </a:solidFill>
                <a:latin typeface="Geist Mono"/>
                <a:ea typeface="Geist Mono"/>
                <a:cs typeface="Geist Mono"/>
              </a:rPr>
              <a:t>FlywheelMech</a:t>
            </a:r>
          </a:p>
        </p:txBody>
      </p:sp>
      <p:pic>
        <p:nvPicPr>
          <p:cNvPr id="7" name="Picture 6" descr="lock-fill.png"/>
          <p:cNvPicPr>
            <a:picLocks noChangeAspect="1"/>
          </p:cNvPicPr>
          <p:nvPr/>
        </p:nvPicPr>
        <p:blipFill>
          <a:blip r:embed="rId3"/>
          <a:stretch>
            <a:fillRect/>
          </a:stretch>
        </p:blipFill>
        <p:spPr>
          <a:xfrm>
            <a:off x="11603831" y="3333750"/>
            <a:ext cx="261938" cy="419100"/>
          </a:xfrm>
          <a:prstGeom prst="rect">
            <a:avLst/>
          </a:prstGeom>
        </p:spPr>
      </p:pic>
      <p:sp>
        <p:nvSpPr>
          <p:cNvPr id="8" name="Rounded Rectangle 7"/>
          <p:cNvSpPr/>
          <p:nvPr/>
        </p:nvSpPr>
        <p:spPr>
          <a:xfrm>
            <a:off x="6477000" y="4191000"/>
            <a:ext cx="5334000" cy="1619250"/>
          </a:xfrm>
          <a:prstGeom prst="roundRect">
            <a:avLst>
              <a:gd name="adj" fmla="val 823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ightning-charge-fill.png"/>
          <p:cNvPicPr>
            <a:picLocks noChangeAspect="1"/>
          </p:cNvPicPr>
          <p:nvPr/>
        </p:nvPicPr>
        <p:blipFill>
          <a:blip r:embed="rId4"/>
          <a:stretch>
            <a:fillRect/>
          </a:stretch>
        </p:blipFill>
        <p:spPr>
          <a:xfrm>
            <a:off x="6974086" y="4619625"/>
            <a:ext cx="529828" cy="762000"/>
          </a:xfrm>
          <a:prstGeom prst="rect">
            <a:avLst/>
          </a:prstGeom>
        </p:spPr>
      </p:pic>
      <p:sp>
        <p:nvSpPr>
          <p:cNvPr id="10" name="TextBox 9"/>
          <p:cNvSpPr txBox="1"/>
          <p:nvPr/>
        </p:nvSpPr>
        <p:spPr>
          <a:xfrm>
            <a:off x="8001000" y="4514850"/>
            <a:ext cx="3619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Motor</a:t>
            </a:r>
          </a:p>
        </p:txBody>
      </p:sp>
      <p:sp>
        <p:nvSpPr>
          <p:cNvPr id="11" name="TextBox 10"/>
          <p:cNvSpPr txBox="1"/>
          <p:nvPr/>
        </p:nvSpPr>
        <p:spPr>
          <a:xfrm>
            <a:off x="8001000" y="506730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Output: power out</a:t>
            </a:r>
          </a:p>
        </p:txBody>
      </p:sp>
      <p:sp>
        <p:nvSpPr>
          <p:cNvPr id="12" name="Rounded Rectangle 11"/>
          <p:cNvSpPr/>
          <p:nvPr/>
        </p:nvSpPr>
        <p:spPr>
          <a:xfrm>
            <a:off x="6477000" y="6191250"/>
            <a:ext cx="5334000" cy="1619250"/>
          </a:xfrm>
          <a:prstGeom prst="roundRect">
            <a:avLst>
              <a:gd name="adj" fmla="val 823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peedometer2.png"/>
          <p:cNvPicPr>
            <a:picLocks noChangeAspect="1"/>
          </p:cNvPicPr>
          <p:nvPr/>
        </p:nvPicPr>
        <p:blipFill>
          <a:blip r:embed="rId5"/>
          <a:stretch>
            <a:fillRect/>
          </a:stretch>
        </p:blipFill>
        <p:spPr>
          <a:xfrm>
            <a:off x="6858000" y="6713637"/>
            <a:ext cx="762000" cy="574477"/>
          </a:xfrm>
          <a:prstGeom prst="rect">
            <a:avLst/>
          </a:prstGeom>
        </p:spPr>
      </p:pic>
      <p:sp>
        <p:nvSpPr>
          <p:cNvPr id="14" name="TextBox 13"/>
          <p:cNvSpPr txBox="1"/>
          <p:nvPr/>
        </p:nvSpPr>
        <p:spPr>
          <a:xfrm>
            <a:off x="8001000" y="6515100"/>
            <a:ext cx="3619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Sensor</a:t>
            </a:r>
          </a:p>
        </p:txBody>
      </p:sp>
      <p:sp>
        <p:nvSpPr>
          <p:cNvPr id="15" name="TextBox 14"/>
          <p:cNvSpPr txBox="1"/>
          <p:nvPr/>
        </p:nvSpPr>
        <p:spPr>
          <a:xfrm>
            <a:off x="8001000" y="706755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Input: speed and position</a:t>
            </a:r>
          </a:p>
        </p:txBody>
      </p:sp>
      <p:sp>
        <p:nvSpPr>
          <p:cNvPr id="16" name="TextBox 15"/>
          <p:cNvSpPr txBox="1"/>
          <p:nvPr/>
        </p:nvSpPr>
        <p:spPr>
          <a:xfrm>
            <a:off x="914400" y="2857500"/>
            <a:ext cx="4572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SETTERS: ORDERS IN</a:t>
            </a:r>
          </a:p>
        </p:txBody>
      </p:sp>
      <p:sp>
        <p:nvSpPr>
          <p:cNvPr id="17" name="Rounded Rectangle 16"/>
          <p:cNvSpPr/>
          <p:nvPr/>
        </p:nvSpPr>
        <p:spPr>
          <a:xfrm>
            <a:off x="914400" y="36195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619500"/>
            <a:ext cx="4191000" cy="7620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setTargetDutyCycle(0.5)</a:t>
            </a:r>
          </a:p>
        </p:txBody>
      </p:sp>
      <p:sp>
        <p:nvSpPr>
          <p:cNvPr id="19" name="Rectangle 18"/>
          <p:cNvSpPr/>
          <p:nvPr/>
        </p:nvSpPr>
        <p:spPr>
          <a:xfrm>
            <a:off x="5162550" y="39814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676900" y="3924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85775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485775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setTargetVelocity(300)</a:t>
            </a:r>
          </a:p>
        </p:txBody>
      </p:sp>
      <p:sp>
        <p:nvSpPr>
          <p:cNvPr id="23" name="Rectangle 22"/>
          <p:cNvSpPr/>
          <p:nvPr/>
        </p:nvSpPr>
        <p:spPr>
          <a:xfrm>
            <a:off x="5162550" y="521970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5676900" y="5162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6096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6096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setTargetPosition(1.2)</a:t>
            </a:r>
          </a:p>
        </p:txBody>
      </p:sp>
      <p:sp>
        <p:nvSpPr>
          <p:cNvPr id="27" name="Rectangle 26"/>
          <p:cNvSpPr/>
          <p:nvPr/>
        </p:nvSpPr>
        <p:spPr>
          <a:xfrm>
            <a:off x="5162550" y="6457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5676900" y="6400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0" y="2857500"/>
            <a:ext cx="4572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GETTERS: READINGS OUT</a:t>
            </a:r>
          </a:p>
        </p:txBody>
      </p:sp>
      <p:sp>
        <p:nvSpPr>
          <p:cNvPr id="30" name="Rectangle 29"/>
          <p:cNvSpPr/>
          <p:nvPr/>
        </p:nvSpPr>
        <p:spPr>
          <a:xfrm>
            <a:off x="12439650" y="4552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Isosceles Triangle 30"/>
          <p:cNvSpPr/>
          <p:nvPr/>
        </p:nvSpPr>
        <p:spPr>
          <a:xfrm rot="5400000">
            <a:off x="12954000" y="4495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3182600" y="4191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182600" y="4191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getCurrentVelocity()</a:t>
            </a:r>
          </a:p>
        </p:txBody>
      </p:sp>
      <p:sp>
        <p:nvSpPr>
          <p:cNvPr id="34" name="Rectangle 33"/>
          <p:cNvSpPr/>
          <p:nvPr/>
        </p:nvSpPr>
        <p:spPr>
          <a:xfrm>
            <a:off x="12439650" y="6076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Isosceles Triangle 34"/>
          <p:cNvSpPr/>
          <p:nvPr/>
        </p:nvSpPr>
        <p:spPr>
          <a:xfrm rot="5400000">
            <a:off x="12954000" y="6019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3182600" y="5715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182600" y="5715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getCurrentPosition()</a:t>
            </a:r>
          </a:p>
        </p:txBody>
      </p:sp>
      <p:sp>
        <p:nvSpPr>
          <p:cNvPr id="38" name="Rounded Rectangle 37"/>
          <p:cNvSpPr/>
          <p:nvPr/>
        </p:nvSpPr>
        <p:spPr>
          <a:xfrm>
            <a:off x="914400" y="85725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ock-fill.png"/>
          <p:cNvPicPr>
            <a:picLocks noChangeAspect="1"/>
          </p:cNvPicPr>
          <p:nvPr/>
        </p:nvPicPr>
        <p:blipFill>
          <a:blip r:embed="rId3"/>
          <a:stretch>
            <a:fillRect/>
          </a:stretch>
        </p:blipFill>
        <p:spPr>
          <a:xfrm>
            <a:off x="1333500" y="8686800"/>
            <a:ext cx="333375" cy="533400"/>
          </a:xfrm>
          <a:prstGeom prst="rect">
            <a:avLst/>
          </a:prstGeom>
        </p:spPr>
      </p:pic>
      <p:sp>
        <p:nvSpPr>
          <p:cNvPr id="40" name="TextBox 39"/>
          <p:cNvSpPr txBox="1"/>
          <p:nvPr/>
        </p:nvSpPr>
        <p:spPr>
          <a:xfrm>
            <a:off x="2190750" y="8572500"/>
            <a:ext cx="1480185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Getters and setters only.  </a:t>
            </a:r>
            <a:r>
              <a:rPr sz="2100" b="0" i="0">
                <a:solidFill>
                  <a:srgbClr val="F0E8E8"/>
                </a:solidFill>
                <a:latin typeface="Geist"/>
                <a:ea typeface="Geist"/>
                <a:cs typeface="Geist"/>
              </a:rPr>
              <a:t>Nothing outside the mechanism touches its motor.</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 think, write: every 20 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readInputs</a:t>
            </a:r>
          </a:p>
        </p:txBody>
      </p:sp>
      <p:sp>
        <p:nvSpPr>
          <p:cNvPr id="7" name="TextBox 6"/>
          <p:cNvSpPr txBox="1"/>
          <p:nvPr/>
        </p:nvSpPr>
        <p:spPr>
          <a:xfrm>
            <a:off x="1066800"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reads sensors</a:t>
            </a:r>
          </a:p>
        </p:txBody>
      </p:sp>
      <p:sp>
        <p:nvSpPr>
          <p:cNvPr id="8" name="Rectangle 7"/>
          <p:cNvSpPr/>
          <p:nvPr/>
        </p:nvSpPr>
        <p:spPr>
          <a:xfrm>
            <a:off x="4591050"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2857500"/>
            <a:ext cx="3614738" cy="1619250"/>
          </a:xfrm>
          <a:prstGeom prst="roundRect">
            <a:avLst>
              <a:gd name="adj" fmla="val 941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1138"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updateLogic</a:t>
            </a:r>
          </a:p>
        </p:txBody>
      </p:sp>
      <p:sp>
        <p:nvSpPr>
          <p:cNvPr id="12" name="TextBox 11"/>
          <p:cNvSpPr txBox="1"/>
          <p:nvPr/>
        </p:nvSpPr>
        <p:spPr>
          <a:xfrm>
            <a:off x="5348288"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Your code decides</a:t>
            </a:r>
          </a:p>
        </p:txBody>
      </p:sp>
      <p:sp>
        <p:nvSpPr>
          <p:cNvPr id="13" name="Rectangle 12"/>
          <p:cNvSpPr/>
          <p:nvPr/>
        </p:nvSpPr>
        <p:spPr>
          <a:xfrm>
            <a:off x="8872538"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72625"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writeOutputs</a:t>
            </a:r>
          </a:p>
        </p:txBody>
      </p:sp>
      <p:sp>
        <p:nvSpPr>
          <p:cNvPr id="17" name="TextBox 16"/>
          <p:cNvSpPr txBox="1"/>
          <p:nvPr/>
        </p:nvSpPr>
        <p:spPr>
          <a:xfrm>
            <a:off x="9629775"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sends orders</a:t>
            </a:r>
          </a:p>
        </p:txBody>
      </p:sp>
      <p:sp>
        <p:nvSpPr>
          <p:cNvPr id="18" name="Rectangle 17"/>
          <p:cNvSpPr/>
          <p:nvPr/>
        </p:nvSpPr>
        <p:spPr>
          <a:xfrm>
            <a:off x="13154025"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854112"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logData</a:t>
            </a:r>
          </a:p>
        </p:txBody>
      </p:sp>
      <p:sp>
        <p:nvSpPr>
          <p:cNvPr id="22" name="TextBox 21"/>
          <p:cNvSpPr txBox="1"/>
          <p:nvPr/>
        </p:nvSpPr>
        <p:spPr>
          <a:xfrm>
            <a:off x="13911262"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logs it all</a:t>
            </a:r>
          </a:p>
        </p:txBody>
      </p:sp>
      <p:sp>
        <p:nvSpPr>
          <p:cNvPr id="23" name="TextBox 22"/>
          <p:cNvSpPr txBox="1"/>
          <p:nvPr/>
        </p:nvSpPr>
        <p:spPr>
          <a:xfrm>
            <a:off x="914400" y="4724400"/>
            <a:ext cx="11049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SubsystemManager.java (MWLib, simplified)</a:t>
            </a:r>
          </a:p>
        </p:txBody>
      </p:sp>
      <p:sp>
        <p:nvSpPr>
          <p:cNvPr id="24" name="Rounded Rectangle 23"/>
          <p:cNvSpPr/>
          <p:nvPr/>
        </p:nvSpPr>
        <p:spPr>
          <a:xfrm>
            <a:off x="914400" y="5143500"/>
            <a:ext cx="11049000" cy="4156710"/>
          </a:xfrm>
          <a:prstGeom prst="roundRect">
            <a:avLst>
              <a:gd name="adj" fmla="val 366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5400" y="552450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for (MwSubsystemBase subsystem : subsystems) {</a:t>
            </a:r>
          </a:p>
        </p:txBody>
      </p:sp>
      <p:sp>
        <p:nvSpPr>
          <p:cNvPr id="26" name="TextBox 25"/>
          <p:cNvSpPr txBox="1"/>
          <p:nvPr/>
        </p:nvSpPr>
        <p:spPr>
          <a:xfrm>
            <a:off x="1295400" y="590169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List&lt;SubsystemIoBase&gt; ios = subsystem.getIos();</a:t>
            </a:r>
          </a:p>
        </p:txBody>
      </p:sp>
      <p:sp>
        <p:nvSpPr>
          <p:cNvPr id="27" name="TextBox 26"/>
          <p:cNvSpPr txBox="1"/>
          <p:nvPr/>
        </p:nvSpPr>
        <p:spPr>
          <a:xfrm>
            <a:off x="1295400" y="627888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(SubsystemIoBase io : ios) io.readInputs(t);</a:t>
            </a:r>
          </a:p>
        </p:txBody>
      </p:sp>
      <p:sp>
        <p:nvSpPr>
          <p:cNvPr id="28" name="TextBox 27"/>
          <p:cNvSpPr txBox="1"/>
          <p:nvPr/>
        </p:nvSpPr>
        <p:spPr>
          <a:xfrm>
            <a:off x="1295400" y="665607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subsystem.update(t);   </a:t>
            </a:r>
            <a:r>
              <a:rPr sz="1800" b="0" i="1">
                <a:solidFill>
                  <a:srgbClr val="9A7878"/>
                </a:solidFill>
                <a:latin typeface="Geist Mono"/>
                <a:ea typeface="Geist Mono"/>
                <a:cs typeface="Geist Mono"/>
              </a:rPr>
              <a:t>// runs your updateLogic</a:t>
            </a:r>
          </a:p>
        </p:txBody>
      </p:sp>
      <p:sp>
        <p:nvSpPr>
          <p:cNvPr id="29" name="TextBox 28"/>
          <p:cNvSpPr txBox="1"/>
          <p:nvPr/>
        </p:nvSpPr>
        <p:spPr>
          <a:xfrm>
            <a:off x="1295400" y="703326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(SubsystemIoBase io : ios) {</a:t>
            </a:r>
          </a:p>
        </p:txBody>
      </p:sp>
      <p:sp>
        <p:nvSpPr>
          <p:cNvPr id="30" name="TextBox 29"/>
          <p:cNvSpPr txBox="1"/>
          <p:nvPr/>
        </p:nvSpPr>
        <p:spPr>
          <a:xfrm>
            <a:off x="1295400" y="741045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io.writeOutputs(t);</a:t>
            </a:r>
          </a:p>
        </p:txBody>
      </p:sp>
      <p:sp>
        <p:nvSpPr>
          <p:cNvPr id="31" name="TextBox 30"/>
          <p:cNvSpPr txBox="1"/>
          <p:nvPr/>
        </p:nvSpPr>
        <p:spPr>
          <a:xfrm>
            <a:off x="1295400" y="778764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io.logData();</a:t>
            </a:r>
          </a:p>
        </p:txBody>
      </p:sp>
      <p:sp>
        <p:nvSpPr>
          <p:cNvPr id="32" name="TextBox 31"/>
          <p:cNvSpPr txBox="1"/>
          <p:nvPr/>
        </p:nvSpPr>
        <p:spPr>
          <a:xfrm>
            <a:off x="1295400" y="816483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33" name="TextBox 32"/>
          <p:cNvSpPr txBox="1"/>
          <p:nvPr/>
        </p:nvSpPr>
        <p:spPr>
          <a:xfrm>
            <a:off x="1295400" y="854202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34" name="Oval 33"/>
          <p:cNvSpPr/>
          <p:nvPr/>
        </p:nvSpPr>
        <p:spPr>
          <a:xfrm>
            <a:off x="11353800" y="62769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353800" y="62769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Oval 35"/>
          <p:cNvSpPr/>
          <p:nvPr/>
        </p:nvSpPr>
        <p:spPr>
          <a:xfrm>
            <a:off x="11353800" y="665416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353800" y="66541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8" name="Oval 37"/>
          <p:cNvSpPr/>
          <p:nvPr/>
        </p:nvSpPr>
        <p:spPr>
          <a:xfrm>
            <a:off x="11353800" y="740854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353800" y="740854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Oval 39"/>
          <p:cNvSpPr/>
          <p:nvPr/>
        </p:nvSpPr>
        <p:spPr>
          <a:xfrm>
            <a:off x="12382500" y="5334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382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2" name="TextBox 41"/>
          <p:cNvSpPr txBox="1"/>
          <p:nvPr/>
        </p:nvSpPr>
        <p:spPr>
          <a:xfrm>
            <a:off x="12992100" y="5295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a:t>
            </a:r>
          </a:p>
        </p:txBody>
      </p:sp>
      <p:sp>
        <p:nvSpPr>
          <p:cNvPr id="43" name="TextBox 42"/>
          <p:cNvSpPr txBox="1"/>
          <p:nvPr/>
        </p:nvSpPr>
        <p:spPr>
          <a:xfrm>
            <a:off x="12992100" y="5715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Fresh sensor values first</a:t>
            </a:r>
          </a:p>
        </p:txBody>
      </p:sp>
      <p:sp>
        <p:nvSpPr>
          <p:cNvPr id="44" name="Oval 43"/>
          <p:cNvSpPr/>
          <p:nvPr/>
        </p:nvSpPr>
        <p:spPr>
          <a:xfrm>
            <a:off x="12382500" y="666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82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6" name="TextBox 45"/>
          <p:cNvSpPr txBox="1"/>
          <p:nvPr/>
        </p:nvSpPr>
        <p:spPr>
          <a:xfrm>
            <a:off x="12992100" y="66294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Think</a:t>
            </a:r>
          </a:p>
        </p:txBody>
      </p:sp>
      <p:sp>
        <p:nvSpPr>
          <p:cNvPr id="47" name="TextBox 46"/>
          <p:cNvSpPr txBox="1"/>
          <p:nvPr/>
        </p:nvSpPr>
        <p:spPr>
          <a:xfrm>
            <a:off x="12992100" y="70485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updateLogic</a:t>
            </a:r>
          </a:p>
        </p:txBody>
      </p:sp>
      <p:sp>
        <p:nvSpPr>
          <p:cNvPr id="48" name="Oval 47"/>
          <p:cNvSpPr/>
          <p:nvPr/>
        </p:nvSpPr>
        <p:spPr>
          <a:xfrm>
            <a:off x="12382500" y="8001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382500" y="800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0" name="TextBox 49"/>
          <p:cNvSpPr txBox="1"/>
          <p:nvPr/>
        </p:nvSpPr>
        <p:spPr>
          <a:xfrm>
            <a:off x="12992100" y="7962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Write</a:t>
            </a:r>
          </a:p>
        </p:txBody>
      </p:sp>
      <p:sp>
        <p:nvSpPr>
          <p:cNvPr id="51" name="TextBox 50"/>
          <p:cNvSpPr txBox="1"/>
          <p:nvPr/>
        </p:nvSpPr>
        <p:spPr>
          <a:xfrm>
            <a:off x="12992100" y="8382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Orders go to the motors</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Same code, real robot or simulator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000500"/>
            <a:ext cx="38100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286250"/>
            <a:ext cx="3810000" cy="47625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ShooterSubsystem</a:t>
            </a:r>
          </a:p>
        </p:txBody>
      </p:sp>
      <p:sp>
        <p:nvSpPr>
          <p:cNvPr id="7" name="TextBox 6"/>
          <p:cNvSpPr txBox="1"/>
          <p:nvPr/>
        </p:nvSpPr>
        <p:spPr>
          <a:xfrm>
            <a:off x="1104900" y="4953000"/>
            <a:ext cx="3429000" cy="5715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Your code. Same either way.</a:t>
            </a:r>
          </a:p>
        </p:txBody>
      </p:sp>
      <p:sp>
        <p:nvSpPr>
          <p:cNvPr id="8" name="Rectangle 7"/>
          <p:cNvSpPr/>
          <p:nvPr/>
        </p:nvSpPr>
        <p:spPr>
          <a:xfrm>
            <a:off x="4781550" y="4933950"/>
            <a:ext cx="910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565785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86450" y="4000500"/>
            <a:ext cx="38100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886450" y="4286250"/>
            <a:ext cx="3810000" cy="476250"/>
          </a:xfrm>
          <a:prstGeom prst="rect">
            <a:avLst/>
          </a:prstGeom>
          <a:noFill/>
        </p:spPr>
        <p:txBody>
          <a:bodyPr wrap="square" lIns="0" rIns="0" tIns="0" bIns="0" anchor="t">
            <a:spAutoFit/>
          </a:bodyPr>
          <a:lstStyle/>
          <a:p>
            <a:pPr algn="ctr"/>
            <a:r>
              <a:rPr sz="2100" b="1" i="0">
                <a:solidFill>
                  <a:srgbClr val="E8C27A"/>
                </a:solidFill>
                <a:latin typeface="Geist Mono"/>
                <a:ea typeface="Geist Mono"/>
                <a:cs typeface="Geist Mono"/>
              </a:rPr>
              <a:t>FlywheelMech</a:t>
            </a:r>
          </a:p>
        </p:txBody>
      </p:sp>
      <p:sp>
        <p:nvSpPr>
          <p:cNvPr id="12" name="TextBox 11"/>
          <p:cNvSpPr txBox="1"/>
          <p:nvPr/>
        </p:nvSpPr>
        <p:spPr>
          <a:xfrm>
            <a:off x="6076950" y="4953000"/>
            <a:ext cx="3429000" cy="5715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checks </a:t>
            </a:r>
            <a:r>
              <a:rPr sz="1800" b="0" i="0">
                <a:solidFill>
                  <a:srgbClr val="9A7878"/>
                </a:solidFill>
                <a:latin typeface="Geist Mono"/>
                <a:ea typeface="Geist Mono"/>
                <a:cs typeface="Geist Mono"/>
              </a:rPr>
              <a:t>IS_SIM</a:t>
            </a:r>
          </a:p>
        </p:txBody>
      </p:sp>
      <p:sp>
        <p:nvSpPr>
          <p:cNvPr id="13" name="Rounded Rectangle 12"/>
          <p:cNvSpPr/>
          <p:nvPr/>
        </p:nvSpPr>
        <p:spPr>
          <a:xfrm>
            <a:off x="12382500" y="2857500"/>
            <a:ext cx="49911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ightning-charge-fill.png"/>
          <p:cNvPicPr>
            <a:picLocks noChangeAspect="1"/>
          </p:cNvPicPr>
          <p:nvPr/>
        </p:nvPicPr>
        <p:blipFill>
          <a:blip r:embed="rId3"/>
          <a:stretch>
            <a:fillRect/>
          </a:stretch>
        </p:blipFill>
        <p:spPr>
          <a:xfrm>
            <a:off x="12879586" y="3429000"/>
            <a:ext cx="529828" cy="762000"/>
          </a:xfrm>
          <a:prstGeom prst="rect">
            <a:avLst/>
          </a:prstGeom>
        </p:spPr>
      </p:pic>
      <p:sp>
        <p:nvSpPr>
          <p:cNvPr id="15" name="TextBox 14"/>
          <p:cNvSpPr txBox="1"/>
          <p:nvPr/>
        </p:nvSpPr>
        <p:spPr>
          <a:xfrm>
            <a:off x="13811250" y="3333750"/>
            <a:ext cx="333375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Real robot</a:t>
            </a:r>
          </a:p>
        </p:txBody>
      </p:sp>
      <p:sp>
        <p:nvSpPr>
          <p:cNvPr id="16" name="TextBox 15"/>
          <p:cNvSpPr txBox="1"/>
          <p:nvPr/>
        </p:nvSpPr>
        <p:spPr>
          <a:xfrm>
            <a:off x="13811250" y="3771900"/>
            <a:ext cx="33337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Kraken motors and their sensors</a:t>
            </a:r>
          </a:p>
        </p:txBody>
      </p:sp>
      <p:sp>
        <p:nvSpPr>
          <p:cNvPr id="17" name="TextBox 16"/>
          <p:cNvSpPr txBox="1"/>
          <p:nvPr/>
        </p:nvSpPr>
        <p:spPr>
          <a:xfrm>
            <a:off x="13811250" y="4191000"/>
            <a:ext cx="3333750" cy="3429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IS_SIM = false</a:t>
            </a:r>
          </a:p>
        </p:txBody>
      </p:sp>
      <p:cxnSp>
        <p:nvCxnSpPr>
          <p:cNvPr id="18" name="Connector 17"/>
          <p:cNvCxnSpPr/>
          <p:nvPr/>
        </p:nvCxnSpPr>
        <p:spPr>
          <a:xfrm flipV="1">
            <a:off x="9772650" y="3810000"/>
            <a:ext cx="2533650" cy="11430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2382500" y="5334000"/>
            <a:ext cx="49911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display.png"/>
          <p:cNvPicPr>
            <a:picLocks noChangeAspect="1"/>
          </p:cNvPicPr>
          <p:nvPr/>
        </p:nvPicPr>
        <p:blipFill>
          <a:blip r:embed="rId4"/>
          <a:stretch>
            <a:fillRect/>
          </a:stretch>
        </p:blipFill>
        <p:spPr>
          <a:xfrm>
            <a:off x="12763500" y="5988844"/>
            <a:ext cx="762000" cy="595312"/>
          </a:xfrm>
          <a:prstGeom prst="rect">
            <a:avLst/>
          </a:prstGeom>
        </p:spPr>
      </p:pic>
      <p:sp>
        <p:nvSpPr>
          <p:cNvPr id="21" name="TextBox 20"/>
          <p:cNvSpPr txBox="1"/>
          <p:nvPr/>
        </p:nvSpPr>
        <p:spPr>
          <a:xfrm>
            <a:off x="13811250" y="5810250"/>
            <a:ext cx="333375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Simulator</a:t>
            </a:r>
          </a:p>
        </p:txBody>
      </p:sp>
      <p:sp>
        <p:nvSpPr>
          <p:cNvPr id="22" name="TextBox 21"/>
          <p:cNvSpPr txBox="1"/>
          <p:nvPr/>
        </p:nvSpPr>
        <p:spPr>
          <a:xfrm>
            <a:off x="13811250" y="6248400"/>
            <a:ext cx="33337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 physics model of the wheel</a:t>
            </a:r>
          </a:p>
        </p:txBody>
      </p:sp>
      <p:sp>
        <p:nvSpPr>
          <p:cNvPr id="23" name="TextBox 22"/>
          <p:cNvSpPr txBox="1"/>
          <p:nvPr/>
        </p:nvSpPr>
        <p:spPr>
          <a:xfrm>
            <a:off x="13811250" y="6667500"/>
            <a:ext cx="3333750" cy="3429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IS_SIM = true</a:t>
            </a:r>
          </a:p>
        </p:txBody>
      </p:sp>
      <p:cxnSp>
        <p:nvCxnSpPr>
          <p:cNvPr id="24" name="Connector 23"/>
          <p:cNvCxnSpPr/>
          <p:nvPr/>
        </p:nvCxnSpPr>
        <p:spPr>
          <a:xfrm>
            <a:off x="9772650" y="4953000"/>
            <a:ext cx="2533650" cy="13335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display.png"/>
          <p:cNvPicPr>
            <a:picLocks noChangeAspect="1"/>
          </p:cNvPicPr>
          <p:nvPr/>
        </p:nvPicPr>
        <p:blipFill>
          <a:blip r:embed="rId4"/>
          <a:stretch>
            <a:fillRect/>
          </a:stretch>
        </p:blipFill>
        <p:spPr>
          <a:xfrm>
            <a:off x="1333500" y="8067675"/>
            <a:ext cx="682752" cy="533400"/>
          </a:xfrm>
          <a:prstGeom prst="rect">
            <a:avLst/>
          </a:prstGeom>
        </p:spPr>
      </p:pic>
      <p:sp>
        <p:nvSpPr>
          <p:cNvPr id="27" name="TextBox 26"/>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Scriptum:  </a:t>
            </a:r>
            <a:r>
              <a:rPr sz="2100" b="0" i="0">
                <a:solidFill>
                  <a:srgbClr val="F0E8E8"/>
                </a:solidFill>
                <a:latin typeface="Geist"/>
                <a:ea typeface="Geist"/>
                <a:cs typeface="Geist"/>
              </a:rPr>
              <a:t>the robot you drive is the simulator side. On the team's robot, the same subsystem drives real motors.</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Every mechanism logs itself</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47879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476625"/>
            <a:ext cx="45974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logData()</a:t>
            </a:r>
          </a:p>
        </p:txBody>
      </p:sp>
      <p:sp>
        <p:nvSpPr>
          <p:cNvPr id="7" name="TextBox 6"/>
          <p:cNvSpPr txBox="1"/>
          <p:nvPr/>
        </p:nvSpPr>
        <p:spPr>
          <a:xfrm>
            <a:off x="106680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Every loop</a:t>
            </a:r>
          </a:p>
        </p:txBody>
      </p:sp>
      <p:sp>
        <p:nvSpPr>
          <p:cNvPr id="8" name="Rectangle 7"/>
          <p:cNvSpPr/>
          <p:nvPr/>
        </p:nvSpPr>
        <p:spPr>
          <a:xfrm>
            <a:off x="5764213" y="3938588"/>
            <a:ext cx="786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652145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50050" y="3048000"/>
            <a:ext cx="47879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45300" y="3476625"/>
            <a:ext cx="4597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2" name="TextBox 11"/>
          <p:cNvSpPr txBox="1"/>
          <p:nvPr/>
        </p:nvSpPr>
        <p:spPr>
          <a:xfrm>
            <a:off x="690245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Live, while it runs</a:t>
            </a:r>
          </a:p>
        </p:txBody>
      </p:sp>
      <p:sp>
        <p:nvSpPr>
          <p:cNvPr id="13" name="Rectangle 12"/>
          <p:cNvSpPr/>
          <p:nvPr/>
        </p:nvSpPr>
        <p:spPr>
          <a:xfrm>
            <a:off x="11599863" y="3938588"/>
            <a:ext cx="786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235710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585700" y="3048000"/>
            <a:ext cx="4787900" cy="1809750"/>
          </a:xfrm>
          <a:prstGeom prst="roundRect">
            <a:avLst>
              <a:gd name="adj" fmla="val 842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680950" y="3476625"/>
            <a:ext cx="4597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7" name="TextBox 16"/>
          <p:cNvSpPr txBox="1"/>
          <p:nvPr/>
        </p:nvSpPr>
        <p:spPr>
          <a:xfrm>
            <a:off x="1273810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 it</a:t>
            </a:r>
          </a:p>
        </p:txBody>
      </p:sp>
      <p:sp>
        <p:nvSpPr>
          <p:cNvPr id="18" name="Rounded Rectangle 17"/>
          <p:cNvSpPr/>
          <p:nvPr/>
        </p:nvSpPr>
        <p:spPr>
          <a:xfrm>
            <a:off x="914400" y="5429250"/>
            <a:ext cx="8001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5715000"/>
            <a:ext cx="723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WHAT A MECHANISM LOGS</a:t>
            </a:r>
          </a:p>
        </p:txBody>
      </p:sp>
      <p:sp>
        <p:nvSpPr>
          <p:cNvPr id="20" name="TextBox 19"/>
          <p:cNvSpPr txBox="1"/>
          <p:nvPr/>
        </p:nvSpPr>
        <p:spPr>
          <a:xfrm>
            <a:off x="1295400" y="6286500"/>
            <a:ext cx="7429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Orders:</a:t>
            </a:r>
            <a:r>
              <a:rPr sz="1950" b="0" i="0">
                <a:solidFill>
                  <a:srgbClr val="F0E8E8"/>
                </a:solidFill>
                <a:latin typeface="Geist"/>
                <a:ea typeface="Geist"/>
                <a:cs typeface="Geist"/>
              </a:rPr>
              <a:t> target duty cycle, speed, position</a:t>
            </a:r>
          </a:p>
        </p:txBody>
      </p:sp>
      <p:sp>
        <p:nvSpPr>
          <p:cNvPr id="21" name="TextBox 20"/>
          <p:cNvSpPr txBox="1"/>
          <p:nvPr/>
        </p:nvSpPr>
        <p:spPr>
          <a:xfrm>
            <a:off x="1295400" y="6817995"/>
            <a:ext cx="7429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Readings:</a:t>
            </a:r>
            <a:r>
              <a:rPr sz="1950" b="0" i="0">
                <a:solidFill>
                  <a:srgbClr val="F0E8E8"/>
                </a:solidFill>
                <a:latin typeface="Geist"/>
                <a:ea typeface="Geist"/>
                <a:cs typeface="Geist"/>
              </a:rPr>
              <a:t> actual speed, position</a:t>
            </a:r>
          </a:p>
        </p:txBody>
      </p:sp>
      <p:sp>
        <p:nvSpPr>
          <p:cNvPr id="22" name="TextBox 21"/>
          <p:cNvSpPr txBox="1"/>
          <p:nvPr/>
        </p:nvSpPr>
        <p:spPr>
          <a:xfrm>
            <a:off x="1295400" y="7349490"/>
            <a:ext cx="7429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Health:</a:t>
            </a:r>
            <a:r>
              <a:rPr sz="1950" b="0" i="0">
                <a:solidFill>
                  <a:srgbClr val="F0E8E8"/>
                </a:solidFill>
                <a:latin typeface="Geist"/>
                <a:ea typeface="Geist"/>
                <a:cs typeface="Geist"/>
              </a:rPr>
              <a:t> voltage, current, temperature</a:t>
            </a:r>
          </a:p>
        </p:txBody>
      </p:sp>
      <p:sp>
        <p:nvSpPr>
          <p:cNvPr id="23" name="Rounded Rectangle 22"/>
          <p:cNvSpPr/>
          <p:nvPr/>
        </p:nvSpPr>
        <p:spPr>
          <a:xfrm>
            <a:off x="9372600" y="5429250"/>
            <a:ext cx="8001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753600" y="5715000"/>
            <a:ext cx="723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 ADDS ITS OWN</a:t>
            </a:r>
          </a:p>
        </p:txBody>
      </p:sp>
      <p:sp>
        <p:nvSpPr>
          <p:cNvPr id="25" name="TextBox 24"/>
          <p:cNvSpPr txBox="1"/>
          <p:nvPr/>
        </p:nvSpPr>
        <p:spPr>
          <a:xfrm>
            <a:off x="9753600" y="6381750"/>
            <a:ext cx="74295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Subsystem/Shooter/FlywheelVelocity</a:t>
            </a:r>
          </a:p>
        </p:txBody>
      </p:sp>
      <p:sp>
        <p:nvSpPr>
          <p:cNvPr id="26" name="TextBox 25"/>
          <p:cNvSpPr txBox="1"/>
          <p:nvPr/>
        </p:nvSpPr>
        <p:spPr>
          <a:xfrm>
            <a:off x="9753600" y="6953250"/>
            <a:ext cx="74295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Subsystem/Shooter/RollerDuty</a:t>
            </a:r>
          </a:p>
        </p:txBody>
      </p:sp>
      <p:sp>
        <p:nvSpPr>
          <p:cNvPr id="27" name="TextBox 26"/>
          <p:cNvSpPr txBox="1"/>
          <p:nvPr/>
        </p:nvSpPr>
        <p:spPr>
          <a:xfrm>
            <a:off x="9753600" y="7620000"/>
            <a:ext cx="72390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These two are what Verify checks in today's lesson.</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Subsystems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Constants, inheritance, one copy, and three methods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subsystem looks the same. Learn one, read them all!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Where the code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older-fill.png"/>
          <p:cNvPicPr>
            <a:picLocks noChangeAspect="1"/>
          </p:cNvPicPr>
          <p:nvPr/>
        </p:nvPicPr>
        <p:blipFill>
          <a:blip r:embed="rId3"/>
          <a:stretch>
            <a:fillRect/>
          </a:stretch>
        </p:blipFill>
        <p:spPr>
          <a:xfrm>
            <a:off x="1295400" y="3233928"/>
            <a:ext cx="285750" cy="237744"/>
          </a:xfrm>
          <a:prstGeom prst="rect">
            <a:avLst/>
          </a:prstGeom>
        </p:spPr>
      </p:pic>
      <p:sp>
        <p:nvSpPr>
          <p:cNvPr id="7" name="TextBox 6"/>
          <p:cNvSpPr txBox="1"/>
          <p:nvPr/>
        </p:nvSpPr>
        <p:spPr>
          <a:xfrm>
            <a:off x="1714500" y="31432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frc/robot/</a:t>
            </a:r>
          </a:p>
        </p:txBody>
      </p:sp>
      <p:pic>
        <p:nvPicPr>
          <p:cNvPr id="8" name="Picture 7" descr="folder-fill.png"/>
          <p:cNvPicPr>
            <a:picLocks noChangeAspect="1"/>
          </p:cNvPicPr>
          <p:nvPr/>
        </p:nvPicPr>
        <p:blipFill>
          <a:blip r:embed="rId3"/>
          <a:stretch>
            <a:fillRect/>
          </a:stretch>
        </p:blipFill>
        <p:spPr>
          <a:xfrm>
            <a:off x="1771650" y="3691128"/>
            <a:ext cx="285750" cy="237744"/>
          </a:xfrm>
          <a:prstGeom prst="rect">
            <a:avLst/>
          </a:prstGeom>
        </p:spPr>
      </p:pic>
      <p:sp>
        <p:nvSpPr>
          <p:cNvPr id="9" name="TextBox 8"/>
          <p:cNvSpPr txBox="1"/>
          <p:nvPr/>
        </p:nvSpPr>
        <p:spPr>
          <a:xfrm>
            <a:off x="2190750" y="36004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subsystems/</a:t>
            </a:r>
          </a:p>
        </p:txBody>
      </p:sp>
      <p:pic>
        <p:nvPicPr>
          <p:cNvPr id="10" name="Picture 9" descr="folder-fill.png"/>
          <p:cNvPicPr>
            <a:picLocks noChangeAspect="1"/>
          </p:cNvPicPr>
          <p:nvPr/>
        </p:nvPicPr>
        <p:blipFill>
          <a:blip r:embed="rId3"/>
          <a:stretch>
            <a:fillRect/>
          </a:stretch>
        </p:blipFill>
        <p:spPr>
          <a:xfrm>
            <a:off x="2247900" y="4148328"/>
            <a:ext cx="285750" cy="237744"/>
          </a:xfrm>
          <a:prstGeom prst="rect">
            <a:avLst/>
          </a:prstGeom>
        </p:spPr>
      </p:pic>
      <p:sp>
        <p:nvSpPr>
          <p:cNvPr id="11" name="TextBox 10"/>
          <p:cNvSpPr txBox="1"/>
          <p:nvPr/>
        </p:nvSpPr>
        <p:spPr>
          <a:xfrm>
            <a:off x="2667000" y="40576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drive/</a:t>
            </a:r>
          </a:p>
        </p:txBody>
      </p:sp>
      <p:pic>
        <p:nvPicPr>
          <p:cNvPr id="12" name="Picture 11" descr="file-earmark-code.png"/>
          <p:cNvPicPr>
            <a:picLocks noChangeAspect="1"/>
          </p:cNvPicPr>
          <p:nvPr/>
        </p:nvPicPr>
        <p:blipFill>
          <a:blip r:embed="rId4"/>
          <a:stretch>
            <a:fillRect/>
          </a:stretch>
        </p:blipFill>
        <p:spPr>
          <a:xfrm>
            <a:off x="2767012" y="4591050"/>
            <a:ext cx="200025" cy="266700"/>
          </a:xfrm>
          <a:prstGeom prst="rect">
            <a:avLst/>
          </a:prstGeom>
        </p:spPr>
      </p:pic>
      <p:sp>
        <p:nvSpPr>
          <p:cNvPr id="13" name="TextBox 12"/>
          <p:cNvSpPr txBox="1"/>
          <p:nvPr/>
        </p:nvSpPr>
        <p:spPr>
          <a:xfrm>
            <a:off x="3143250" y="45148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DrivetrainSubsystem.java</a:t>
            </a:r>
          </a:p>
        </p:txBody>
      </p:sp>
      <p:pic>
        <p:nvPicPr>
          <p:cNvPr id="14" name="Picture 13" descr="file-earmark-code.png"/>
          <p:cNvPicPr>
            <a:picLocks noChangeAspect="1"/>
          </p:cNvPicPr>
          <p:nvPr/>
        </p:nvPicPr>
        <p:blipFill>
          <a:blip r:embed="rId4"/>
          <a:stretch>
            <a:fillRect/>
          </a:stretch>
        </p:blipFill>
        <p:spPr>
          <a:xfrm>
            <a:off x="2767012" y="5048250"/>
            <a:ext cx="200025" cy="266700"/>
          </a:xfrm>
          <a:prstGeom prst="rect">
            <a:avLst/>
          </a:prstGeom>
        </p:spPr>
      </p:pic>
      <p:sp>
        <p:nvSpPr>
          <p:cNvPr id="15" name="TextBox 14"/>
          <p:cNvSpPr txBox="1"/>
          <p:nvPr/>
        </p:nvSpPr>
        <p:spPr>
          <a:xfrm>
            <a:off x="3143250" y="49720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DrivetrainConstants.java</a:t>
            </a:r>
          </a:p>
        </p:txBody>
      </p:sp>
      <p:pic>
        <p:nvPicPr>
          <p:cNvPr id="16" name="Picture 15" descr="file-earmark-code.png"/>
          <p:cNvPicPr>
            <a:picLocks noChangeAspect="1"/>
          </p:cNvPicPr>
          <p:nvPr/>
        </p:nvPicPr>
        <p:blipFill>
          <a:blip r:embed="rId4"/>
          <a:stretch>
            <a:fillRect/>
          </a:stretch>
        </p:blipFill>
        <p:spPr>
          <a:xfrm>
            <a:off x="2767012" y="5505450"/>
            <a:ext cx="200025" cy="266700"/>
          </a:xfrm>
          <a:prstGeom prst="rect">
            <a:avLst/>
          </a:prstGeom>
        </p:spPr>
      </p:pic>
      <p:sp>
        <p:nvSpPr>
          <p:cNvPr id="17" name="TextBox 16"/>
          <p:cNvSpPr txBox="1"/>
          <p:nvPr/>
        </p:nvSpPr>
        <p:spPr>
          <a:xfrm>
            <a:off x="3143250" y="54292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DriveMath.java</a:t>
            </a:r>
          </a:p>
        </p:txBody>
      </p:sp>
      <p:pic>
        <p:nvPicPr>
          <p:cNvPr id="18" name="Picture 17" descr="folder-fill.png"/>
          <p:cNvPicPr>
            <a:picLocks noChangeAspect="1"/>
          </p:cNvPicPr>
          <p:nvPr/>
        </p:nvPicPr>
        <p:blipFill>
          <a:blip r:embed="rId3"/>
          <a:stretch>
            <a:fillRect/>
          </a:stretch>
        </p:blipFill>
        <p:spPr>
          <a:xfrm>
            <a:off x="2247900" y="5977128"/>
            <a:ext cx="285750" cy="237744"/>
          </a:xfrm>
          <a:prstGeom prst="rect">
            <a:avLst/>
          </a:prstGeom>
        </p:spPr>
      </p:pic>
      <p:sp>
        <p:nvSpPr>
          <p:cNvPr id="19" name="TextBox 18"/>
          <p:cNvSpPr txBox="1"/>
          <p:nvPr/>
        </p:nvSpPr>
        <p:spPr>
          <a:xfrm>
            <a:off x="2667000" y="5886450"/>
            <a:ext cx="6667500" cy="419100"/>
          </a:xfrm>
          <a:prstGeom prst="rect">
            <a:avLst/>
          </a:prstGeom>
          <a:noFill/>
        </p:spPr>
        <p:txBody>
          <a:bodyPr wrap="square" lIns="0" rIns="0" tIns="0" bIns="0" anchor="ctr">
            <a:spAutoFit/>
          </a:bodyPr>
          <a:lstStyle/>
          <a:p>
            <a:pPr algn="l"/>
            <a:r>
              <a:rPr sz="1800" b="1" i="0">
                <a:solidFill>
                  <a:srgbClr val="CC2200"/>
                </a:solidFill>
                <a:latin typeface="Geist Mono"/>
                <a:ea typeface="Geist Mono"/>
                <a:cs typeface="Geist Mono"/>
              </a:rPr>
              <a:t>shooter/</a:t>
            </a:r>
          </a:p>
        </p:txBody>
      </p:sp>
      <p:pic>
        <p:nvPicPr>
          <p:cNvPr id="20" name="Picture 19" descr="file-earmark-code.png"/>
          <p:cNvPicPr>
            <a:picLocks noChangeAspect="1"/>
          </p:cNvPicPr>
          <p:nvPr/>
        </p:nvPicPr>
        <p:blipFill>
          <a:blip r:embed="rId4"/>
          <a:stretch>
            <a:fillRect/>
          </a:stretch>
        </p:blipFill>
        <p:spPr>
          <a:xfrm>
            <a:off x="2767012" y="6419850"/>
            <a:ext cx="200025" cy="266700"/>
          </a:xfrm>
          <a:prstGeom prst="rect">
            <a:avLst/>
          </a:prstGeom>
        </p:spPr>
      </p:pic>
      <p:sp>
        <p:nvSpPr>
          <p:cNvPr id="21" name="TextBox 20"/>
          <p:cNvSpPr txBox="1"/>
          <p:nvPr/>
        </p:nvSpPr>
        <p:spPr>
          <a:xfrm>
            <a:off x="3143250" y="6343650"/>
            <a:ext cx="6667500" cy="419100"/>
          </a:xfrm>
          <a:prstGeom prst="rect">
            <a:avLst/>
          </a:prstGeom>
          <a:noFill/>
        </p:spPr>
        <p:txBody>
          <a:bodyPr wrap="square" lIns="0" rIns="0" tIns="0" bIns="0" anchor="ctr">
            <a:spAutoFit/>
          </a:bodyPr>
          <a:lstStyle/>
          <a:p>
            <a:pPr algn="l"/>
            <a:r>
              <a:rPr sz="1800" b="1" i="0">
                <a:solidFill>
                  <a:srgbClr val="CC2200"/>
                </a:solidFill>
                <a:latin typeface="Geist Mono"/>
                <a:ea typeface="Geist Mono"/>
                <a:cs typeface="Geist Mono"/>
              </a:rPr>
              <a:t>ShooterSubsystem.java</a:t>
            </a:r>
          </a:p>
        </p:txBody>
      </p:sp>
      <p:pic>
        <p:nvPicPr>
          <p:cNvPr id="22" name="Picture 21" descr="file-earmark-code.png"/>
          <p:cNvPicPr>
            <a:picLocks noChangeAspect="1"/>
          </p:cNvPicPr>
          <p:nvPr/>
        </p:nvPicPr>
        <p:blipFill>
          <a:blip r:embed="rId4"/>
          <a:stretch>
            <a:fillRect/>
          </a:stretch>
        </p:blipFill>
        <p:spPr>
          <a:xfrm>
            <a:off x="2767012" y="6877050"/>
            <a:ext cx="200025" cy="266700"/>
          </a:xfrm>
          <a:prstGeom prst="rect">
            <a:avLst/>
          </a:prstGeom>
        </p:spPr>
      </p:pic>
      <p:sp>
        <p:nvSpPr>
          <p:cNvPr id="23" name="TextBox 22"/>
          <p:cNvSpPr txBox="1"/>
          <p:nvPr/>
        </p:nvSpPr>
        <p:spPr>
          <a:xfrm>
            <a:off x="3143250" y="6800850"/>
            <a:ext cx="6667500" cy="419100"/>
          </a:xfrm>
          <a:prstGeom prst="rect">
            <a:avLst/>
          </a:prstGeom>
          <a:noFill/>
        </p:spPr>
        <p:txBody>
          <a:bodyPr wrap="square" lIns="0" rIns="0" tIns="0" bIns="0" anchor="ctr">
            <a:spAutoFit/>
          </a:bodyPr>
          <a:lstStyle/>
          <a:p>
            <a:pPr algn="l"/>
            <a:r>
              <a:rPr sz="1800" b="1" i="0">
                <a:solidFill>
                  <a:srgbClr val="CC2200"/>
                </a:solidFill>
                <a:latin typeface="Geist Mono"/>
                <a:ea typeface="Geist Mono"/>
                <a:cs typeface="Geist Mono"/>
              </a:rPr>
              <a:t>ShooterConstants.java</a:t>
            </a:r>
          </a:p>
        </p:txBody>
      </p:sp>
      <p:pic>
        <p:nvPicPr>
          <p:cNvPr id="24" name="Picture 23" descr="file-earmark-code.png"/>
          <p:cNvPicPr>
            <a:picLocks noChangeAspect="1"/>
          </p:cNvPicPr>
          <p:nvPr/>
        </p:nvPicPr>
        <p:blipFill>
          <a:blip r:embed="rId4"/>
          <a:stretch>
            <a:fillRect/>
          </a:stretch>
        </p:blipFill>
        <p:spPr>
          <a:xfrm>
            <a:off x="1814512" y="7334250"/>
            <a:ext cx="200025" cy="266700"/>
          </a:xfrm>
          <a:prstGeom prst="rect">
            <a:avLst/>
          </a:prstGeom>
        </p:spPr>
      </p:pic>
      <p:sp>
        <p:nvSpPr>
          <p:cNvPr id="25" name="TextBox 24"/>
          <p:cNvSpPr txBox="1"/>
          <p:nvPr/>
        </p:nvSpPr>
        <p:spPr>
          <a:xfrm>
            <a:off x="2190750" y="72580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OI.java</a:t>
            </a:r>
          </a:p>
        </p:txBody>
      </p:sp>
      <p:pic>
        <p:nvPicPr>
          <p:cNvPr id="26" name="Picture 25" descr="file-earmark-code.png"/>
          <p:cNvPicPr>
            <a:picLocks noChangeAspect="1"/>
          </p:cNvPicPr>
          <p:nvPr/>
        </p:nvPicPr>
        <p:blipFill>
          <a:blip r:embed="rId4"/>
          <a:stretch>
            <a:fillRect/>
          </a:stretch>
        </p:blipFill>
        <p:spPr>
          <a:xfrm>
            <a:off x="1814512" y="7791450"/>
            <a:ext cx="200025" cy="266700"/>
          </a:xfrm>
          <a:prstGeom prst="rect">
            <a:avLst/>
          </a:prstGeom>
        </p:spPr>
      </p:pic>
      <p:sp>
        <p:nvSpPr>
          <p:cNvPr id="27" name="TextBox 26"/>
          <p:cNvSpPr txBox="1"/>
          <p:nvPr/>
        </p:nvSpPr>
        <p:spPr>
          <a:xfrm>
            <a:off x="2190750" y="77152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RobotContainer.java</a:t>
            </a:r>
          </a:p>
        </p:txBody>
      </p:sp>
      <p:pic>
        <p:nvPicPr>
          <p:cNvPr id="28" name="Picture 27" descr="file-earmark-code.png"/>
          <p:cNvPicPr>
            <a:picLocks noChangeAspect="1"/>
          </p:cNvPicPr>
          <p:nvPr/>
        </p:nvPicPr>
        <p:blipFill>
          <a:blip r:embed="rId4"/>
          <a:stretch>
            <a:fillRect/>
          </a:stretch>
        </p:blipFill>
        <p:spPr>
          <a:xfrm>
            <a:off x="1814512" y="8248650"/>
            <a:ext cx="200025" cy="266700"/>
          </a:xfrm>
          <a:prstGeom prst="rect">
            <a:avLst/>
          </a:prstGeom>
        </p:spPr>
      </p:pic>
      <p:sp>
        <p:nvSpPr>
          <p:cNvPr id="29" name="TextBox 28"/>
          <p:cNvSpPr txBox="1"/>
          <p:nvPr/>
        </p:nvSpPr>
        <p:spPr>
          <a:xfrm>
            <a:off x="2190750" y="81724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Robot.java</a:t>
            </a:r>
          </a:p>
        </p:txBody>
      </p:sp>
      <p:sp>
        <p:nvSpPr>
          <p:cNvPr id="30" name="Rounded Rectangle 29"/>
          <p:cNvSpPr/>
          <p:nvPr/>
        </p:nvSpPr>
        <p:spPr>
          <a:xfrm>
            <a:off x="9906000" y="2857500"/>
            <a:ext cx="7467600" cy="1314450"/>
          </a:xfrm>
          <a:prstGeom prst="roundRect">
            <a:avLst>
              <a:gd name="adj" fmla="val 1014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287000" y="3067050"/>
            <a:ext cx="6858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One folder per subsystem</a:t>
            </a:r>
          </a:p>
        </p:txBody>
      </p:sp>
      <p:sp>
        <p:nvSpPr>
          <p:cNvPr id="32" name="TextBox 31"/>
          <p:cNvSpPr txBox="1"/>
          <p:nvPr/>
        </p:nvSpPr>
        <p:spPr>
          <a:xfrm>
            <a:off x="10287000" y="358140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Its Constants and its Subsystem side by side</a:t>
            </a:r>
          </a:p>
        </p:txBody>
      </p:sp>
      <p:sp>
        <p:nvSpPr>
          <p:cNvPr id="33" name="Rounded Rectangle 32"/>
          <p:cNvSpPr/>
          <p:nvPr/>
        </p:nvSpPr>
        <p:spPr>
          <a:xfrm>
            <a:off x="9906000" y="436245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287000" y="457200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OI.java</a:t>
            </a:r>
          </a:p>
        </p:txBody>
      </p:sp>
      <p:sp>
        <p:nvSpPr>
          <p:cNvPr id="35" name="TextBox 34"/>
          <p:cNvSpPr txBox="1"/>
          <p:nvPr/>
        </p:nvSpPr>
        <p:spPr>
          <a:xfrm>
            <a:off x="10287000" y="508635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Everything the drivers press</a:t>
            </a:r>
          </a:p>
        </p:txBody>
      </p:sp>
      <p:sp>
        <p:nvSpPr>
          <p:cNvPr id="36" name="Rounded Rectangle 35"/>
          <p:cNvSpPr/>
          <p:nvPr/>
        </p:nvSpPr>
        <p:spPr>
          <a:xfrm>
            <a:off x="9906000" y="586740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287000" y="607695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RobotContainer.java</a:t>
            </a:r>
          </a:p>
        </p:txBody>
      </p:sp>
      <p:sp>
        <p:nvSpPr>
          <p:cNvPr id="38" name="TextBox 37"/>
          <p:cNvSpPr txBox="1"/>
          <p:nvPr/>
        </p:nvSpPr>
        <p:spPr>
          <a:xfrm>
            <a:off x="10287000" y="659130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list of subsystems that run</a:t>
            </a:r>
          </a:p>
        </p:txBody>
      </p:sp>
      <p:sp>
        <p:nvSpPr>
          <p:cNvPr id="39" name="Rounded Rectangle 38"/>
          <p:cNvSpPr/>
          <p:nvPr/>
        </p:nvSpPr>
        <p:spPr>
          <a:xfrm>
            <a:off x="9906000" y="737235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287000" y="758190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Robot.java</a:t>
            </a:r>
          </a:p>
        </p:txBody>
      </p:sp>
      <p:sp>
        <p:nvSpPr>
          <p:cNvPr id="41" name="TextBox 40"/>
          <p:cNvSpPr txBox="1"/>
          <p:nvPr/>
        </p:nvSpPr>
        <p:spPr>
          <a:xfrm>
            <a:off x="10287000" y="809625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Just connects things. Leave it alone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ShooterConstants: every number in one place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ShooterConstants.java</a:t>
            </a:r>
          </a:p>
        </p:txBody>
      </p:sp>
      <p:sp>
        <p:nvSpPr>
          <p:cNvPr id="6" name="Rounded Rectangle 5"/>
          <p:cNvSpPr/>
          <p:nvPr/>
        </p:nvSpPr>
        <p:spPr>
          <a:xfrm>
            <a:off x="914400" y="2857500"/>
            <a:ext cx="10668000" cy="4705350"/>
          </a:xfrm>
          <a:prstGeom prst="roundRect">
            <a:avLst>
              <a:gd name="adj" fmla="val 323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6196012"/>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619601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524625"/>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524625"/>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853238"/>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853238"/>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238500"/>
            <a:ext cx="1013460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class</a:t>
            </a:r>
            <a:r>
              <a:rPr sz="1725" b="0" i="0">
                <a:solidFill>
                  <a:srgbClr val="F0E8E8"/>
                </a:solidFill>
                <a:latin typeface="Geist Mono"/>
                <a:ea typeface="Geist Mono"/>
                <a:cs typeface="Geist Mono"/>
              </a:rPr>
              <a:t> ShooterConstants </a:t>
            </a:r>
            <a:r>
              <a:rPr sz="1725" b="0" i="0">
                <a:solidFill>
                  <a:srgbClr val="E0785F"/>
                </a:solidFill>
                <a:latin typeface="Geist Mono"/>
                <a:ea typeface="Geist Mono"/>
                <a:cs typeface="Geist Mono"/>
              </a:rPr>
              <a:t>extends</a:t>
            </a:r>
            <a:r>
              <a:rPr sz="1725" b="0" i="0">
                <a:solidFill>
                  <a:srgbClr val="F0E8E8"/>
                </a:solidFill>
                <a:latin typeface="Geist Mono"/>
                <a:ea typeface="Geist Mono"/>
                <a:cs typeface="Geist Mono"/>
              </a:rPr>
              <a:t> MwConstants {</a:t>
            </a:r>
          </a:p>
        </p:txBody>
      </p:sp>
      <p:sp>
        <p:nvSpPr>
          <p:cNvPr id="14" name="TextBox 13"/>
          <p:cNvSpPr txBox="1"/>
          <p:nvPr/>
        </p:nvSpPr>
        <p:spPr>
          <a:xfrm>
            <a:off x="1295400" y="356711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enum ShooterStates { MANUAL }</a:t>
            </a:r>
          </a:p>
        </p:txBody>
      </p:sp>
      <p:sp>
        <p:nvSpPr>
          <p:cNvPr id="15" name="TextBox 14"/>
          <p:cNvSpPr txBox="1"/>
          <p:nvPr/>
        </p:nvSpPr>
        <p:spPr>
          <a:xfrm>
            <a:off x="1295400" y="389572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6" name="TextBox 15"/>
          <p:cNvSpPr txBox="1"/>
          <p:nvPr/>
        </p:nvSpPr>
        <p:spPr>
          <a:xfrm>
            <a:off x="1295400" y="422433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int</a:t>
            </a:r>
            <a:r>
              <a:rPr sz="1725" b="0" i="0">
                <a:solidFill>
                  <a:srgbClr val="F0E8E8"/>
                </a:solidFill>
                <a:latin typeface="Geist Mono"/>
                <a:ea typeface="Geist Mono"/>
                <a:cs typeface="Geist Mono"/>
              </a:rPr>
              <a:t> FLYWHEEL_MOTOR_ID = </a:t>
            </a:r>
            <a:r>
              <a:rPr sz="1725" b="0" i="0">
                <a:solidFill>
                  <a:srgbClr val="E8C27A"/>
                </a:solidFill>
                <a:latin typeface="Geist Mono"/>
                <a:ea typeface="Geist Mono"/>
                <a:cs typeface="Geist Mono"/>
              </a:rPr>
              <a:t>20</a:t>
            </a:r>
            <a:r>
              <a:rPr sz="1725" b="0" i="0">
                <a:solidFill>
                  <a:srgbClr val="F0E8E8"/>
                </a:solidFill>
                <a:latin typeface="Geist Mono"/>
                <a:ea typeface="Geist Mono"/>
                <a:cs typeface="Geist Mono"/>
              </a:rPr>
              <a:t>;</a:t>
            </a:r>
          </a:p>
        </p:txBody>
      </p:sp>
      <p:sp>
        <p:nvSpPr>
          <p:cNvPr id="17" name="TextBox 16"/>
          <p:cNvSpPr txBox="1"/>
          <p:nvPr/>
        </p:nvSpPr>
        <p:spPr>
          <a:xfrm>
            <a:off x="1295400" y="4552950"/>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FLYWHEEL_GEAR_RATIO = </a:t>
            </a:r>
            <a:r>
              <a:rPr sz="1725" b="0" i="0">
                <a:solidFill>
                  <a:srgbClr val="E8C27A"/>
                </a:solidFill>
                <a:latin typeface="Geist Mono"/>
                <a:ea typeface="Geist Mono"/>
                <a:cs typeface="Geist Mono"/>
              </a:rPr>
              <a:t>1.0</a:t>
            </a:r>
            <a:r>
              <a:rPr sz="1725" b="0" i="0">
                <a:solidFill>
                  <a:srgbClr val="F0E8E8"/>
                </a:solidFill>
                <a:latin typeface="Geist Mono"/>
                <a:ea typeface="Geist Mono"/>
                <a:cs typeface="Geist Mono"/>
              </a:rPr>
              <a:t>;</a:t>
            </a:r>
          </a:p>
        </p:txBody>
      </p:sp>
      <p:sp>
        <p:nvSpPr>
          <p:cNvPr id="18" name="TextBox 17"/>
          <p:cNvSpPr txBox="1"/>
          <p:nvPr/>
        </p:nvSpPr>
        <p:spPr>
          <a:xfrm>
            <a:off x="1295400" y="488156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SHOOT_DUTY_CYCLE = </a:t>
            </a:r>
            <a:r>
              <a:rPr sz="1725" b="0" i="0">
                <a:solidFill>
                  <a:srgbClr val="E8C27A"/>
                </a:solidFill>
                <a:latin typeface="Geist Mono"/>
                <a:ea typeface="Geist Mono"/>
                <a:cs typeface="Geist Mono"/>
              </a:rPr>
              <a:t>0.5</a:t>
            </a:r>
            <a:r>
              <a:rPr sz="1725" b="0" i="0">
                <a:solidFill>
                  <a:srgbClr val="F0E8E8"/>
                </a:solidFill>
                <a:latin typeface="Geist Mono"/>
                <a:ea typeface="Geist Mono"/>
                <a:cs typeface="Geist Mono"/>
              </a:rPr>
              <a:t>;</a:t>
            </a:r>
          </a:p>
        </p:txBody>
      </p:sp>
      <p:sp>
        <p:nvSpPr>
          <p:cNvPr id="19" name="TextBox 18"/>
          <p:cNvSpPr txBox="1"/>
          <p:nvPr/>
        </p:nvSpPr>
        <p:spPr>
          <a:xfrm>
            <a:off x="1295400" y="521017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MotorConfig FLYWHEEL_MOTOR_CONFIG =</a:t>
            </a:r>
          </a:p>
        </p:txBody>
      </p:sp>
      <p:sp>
        <p:nvSpPr>
          <p:cNvPr id="20" name="TextBox 19"/>
          <p:cNvSpPr txBox="1"/>
          <p:nvPr/>
        </p:nvSpPr>
        <p:spPr>
          <a:xfrm>
            <a:off x="1295400" y="553878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flywheelConfig(FLYWHEEL_MOTOR_ID);</a:t>
            </a:r>
          </a:p>
        </p:txBody>
      </p:sp>
      <p:sp>
        <p:nvSpPr>
          <p:cNvPr id="21" name="TextBox 20"/>
          <p:cNvSpPr txBox="1"/>
          <p:nvPr/>
        </p:nvSpPr>
        <p:spPr>
          <a:xfrm>
            <a:off x="1295400" y="5867400"/>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2" name="TextBox 21"/>
          <p:cNvSpPr txBox="1"/>
          <p:nvPr/>
        </p:nvSpPr>
        <p:spPr>
          <a:xfrm>
            <a:off x="1295400" y="619601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MotorConfig ROLLER_MOTOR_CONFIG =</a:t>
            </a:r>
          </a:p>
        </p:txBody>
      </p:sp>
      <p:sp>
        <p:nvSpPr>
          <p:cNvPr id="23" name="TextBox 22"/>
          <p:cNvSpPr txBox="1"/>
          <p:nvPr/>
        </p:nvSpPr>
        <p:spPr>
          <a:xfrm>
            <a:off x="1295400" y="652462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rollerConfig(ROLLER_MOTOR_ID);</a:t>
            </a:r>
          </a:p>
        </p:txBody>
      </p:sp>
      <p:sp>
        <p:nvSpPr>
          <p:cNvPr id="24" name="TextBox 23"/>
          <p:cNvSpPr txBox="1"/>
          <p:nvPr/>
        </p:nvSpPr>
        <p:spPr>
          <a:xfrm>
            <a:off x="1295400" y="685323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INDEX_DUTY_CYCLE = </a:t>
            </a:r>
            <a:r>
              <a:rPr sz="1725" b="0" i="0">
                <a:solidFill>
                  <a:srgbClr val="E8C27A"/>
                </a:solidFill>
                <a:latin typeface="Geist Mono"/>
                <a:ea typeface="Geist Mono"/>
                <a:cs typeface="Geist Mono"/>
              </a:rPr>
              <a:t>0.5</a:t>
            </a:r>
            <a:r>
              <a:rPr sz="1725" b="0" i="0">
                <a:solidFill>
                  <a:srgbClr val="F0E8E8"/>
                </a:solidFill>
                <a:latin typeface="Geist Mono"/>
                <a:ea typeface="Geist Mono"/>
                <a:cs typeface="Geist Mono"/>
              </a:rPr>
              <a:t>;</a:t>
            </a:r>
          </a:p>
        </p:txBody>
      </p:sp>
      <p:sp>
        <p:nvSpPr>
          <p:cNvPr id="25" name="Oval 24"/>
          <p:cNvSpPr/>
          <p:nvPr/>
        </p:nvSpPr>
        <p:spPr>
          <a:xfrm>
            <a:off x="10972800" y="35409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0" y="35409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Oval 26"/>
          <p:cNvSpPr/>
          <p:nvPr/>
        </p:nvSpPr>
        <p:spPr>
          <a:xfrm>
            <a:off x="10972800" y="452675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4526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Oval 28"/>
          <p:cNvSpPr/>
          <p:nvPr/>
        </p:nvSpPr>
        <p:spPr>
          <a:xfrm>
            <a:off x="10972800" y="518398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0" y="51839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1" name="Oval 30"/>
          <p:cNvSpPr/>
          <p:nvPr/>
        </p:nvSpPr>
        <p:spPr>
          <a:xfrm>
            <a:off x="10972800" y="61698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0" y="61698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3" name="Oval 32"/>
          <p:cNvSpPr/>
          <p:nvPr/>
        </p:nvSpPr>
        <p:spPr>
          <a:xfrm>
            <a:off x="12096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5" name="TextBox 34"/>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States</a:t>
            </a:r>
          </a:p>
        </p:txBody>
      </p:sp>
      <p:sp>
        <p:nvSpPr>
          <p:cNvPr id="36" name="TextBox 35"/>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modes it can be in. Today: MANUAL</a:t>
            </a:r>
          </a:p>
        </p:txBody>
      </p:sp>
      <p:sp>
        <p:nvSpPr>
          <p:cNvPr id="37" name="Oval 36"/>
          <p:cNvSpPr/>
          <p:nvPr/>
        </p:nvSpPr>
        <p:spPr>
          <a:xfrm>
            <a:off x="12096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TextBox 38"/>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Numbers</a:t>
            </a:r>
          </a:p>
        </p:txBody>
      </p:sp>
      <p:sp>
        <p:nvSpPr>
          <p:cNvPr id="40" name="TextBox 39"/>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IDs, ratios, sizes, powers</a:t>
            </a:r>
          </a:p>
        </p:txBody>
      </p:sp>
      <p:sp>
        <p:nvSpPr>
          <p:cNvPr id="41" name="Oval 40"/>
          <p:cNvSpPr/>
          <p:nvPr/>
        </p:nvSpPr>
        <p:spPr>
          <a:xfrm>
            <a:off x="12096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3" name="TextBox 42"/>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Motor config</a:t>
            </a:r>
          </a:p>
        </p:txBody>
      </p:sp>
      <p:sp>
        <p:nvSpPr>
          <p:cNvPr id="44" name="TextBox 43"/>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CAN ID and motor type, built by a helper</a:t>
            </a:r>
          </a:p>
        </p:txBody>
      </p:sp>
      <p:sp>
        <p:nvSpPr>
          <p:cNvPr id="45" name="Oval 44"/>
          <p:cNvSpPr/>
          <p:nvPr/>
        </p:nvSpPr>
        <p:spPr>
          <a:xfrm>
            <a:off x="120967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7" name="TextBox 46"/>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Yours</a:t>
            </a:r>
          </a:p>
        </p:txBody>
      </p:sp>
      <p:sp>
        <p:nvSpPr>
          <p:cNvPr id="48" name="TextBox 47"/>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roller's config and its power</a:t>
            </a:r>
          </a:p>
        </p:txBody>
      </p:sp>
      <p:sp>
        <p:nvSpPr>
          <p:cNvPr id="49" name="Rounded Rectangle 48"/>
          <p:cNvSpPr/>
          <p:nvPr/>
        </p:nvSpPr>
        <p:spPr>
          <a:xfrm>
            <a:off x="914400" y="85725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333500" y="85725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magic numbers:  </a:t>
            </a:r>
            <a:r>
              <a:rPr sz="2100" b="0" i="0">
                <a:solidFill>
                  <a:srgbClr val="F0E8E8"/>
                </a:solidFill>
                <a:latin typeface="Geist"/>
                <a:ea typeface="Geist"/>
                <a:cs typeface="Geist"/>
              </a:rPr>
              <a:t>name it in Constants. The only bare number is 0.0 for stop.</a:t>
            </a:r>
          </a:p>
        </p:txBody>
      </p:sp>
      <p:sp>
        <p:nvSpPr>
          <p:cNvPr id="51" name="TextBox 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2" name="TextBox 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extends: the shooter is a subsystem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159258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class</a:t>
            </a:r>
            <a:r>
              <a:rPr sz="1950" b="0" i="0">
                <a:solidFill>
                  <a:srgbClr val="F0E8E8"/>
                </a:solidFill>
                <a:latin typeface="Geist Mono"/>
                <a:ea typeface="Geist Mono"/>
                <a:cs typeface="Geist Mono"/>
              </a:rPr>
              <a:t> ShooterSubsystem </a:t>
            </a:r>
            <a:r>
              <a:rPr sz="1950" b="0" i="0">
                <a:solidFill>
                  <a:srgbClr val="E0785F"/>
                </a:solidFill>
                <a:latin typeface="Geist Mono"/>
                <a:ea typeface="Geist Mono"/>
                <a:cs typeface="Geist Mono"/>
              </a:rPr>
              <a:t>extends</a:t>
            </a:r>
            <a:r>
              <a:rPr sz="1950" b="0" i="0">
                <a:solidFill>
                  <a:srgbClr val="F0E8E8"/>
                </a:solidFill>
                <a:latin typeface="Geist Mono"/>
                <a:ea typeface="Geist Mono"/>
                <a:cs typeface="Geist Mono"/>
              </a:rPr>
              <a:t> MwSubsystem&lt;ShooterStates, ShooterConstants&gt; {</a:t>
            </a:r>
          </a:p>
        </p:txBody>
      </p:sp>
      <p:sp>
        <p:nvSpPr>
          <p:cNvPr id="7" name="Rectangle 6"/>
          <p:cNvSpPr/>
          <p:nvPr/>
        </p:nvSpPr>
        <p:spPr>
          <a:xfrm>
            <a:off x="3212782" y="3795712"/>
            <a:ext cx="2406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846070" y="3905250"/>
            <a:ext cx="3139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this class</a:t>
            </a:r>
          </a:p>
        </p:txBody>
      </p:sp>
      <p:sp>
        <p:nvSpPr>
          <p:cNvPr id="9" name="Rectangle 8"/>
          <p:cNvSpPr/>
          <p:nvPr/>
        </p:nvSpPr>
        <p:spPr>
          <a:xfrm>
            <a:off x="5738812" y="3795712"/>
            <a:ext cx="106870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72100" y="3905250"/>
            <a:ext cx="180213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is a</a:t>
            </a:r>
          </a:p>
        </p:txBody>
      </p:sp>
      <p:sp>
        <p:nvSpPr>
          <p:cNvPr id="11" name="Rectangle 10"/>
          <p:cNvSpPr/>
          <p:nvPr/>
        </p:nvSpPr>
        <p:spPr>
          <a:xfrm>
            <a:off x="6927532" y="3795712"/>
            <a:ext cx="16630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60820" y="3905250"/>
            <a:ext cx="239649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parent</a:t>
            </a:r>
          </a:p>
        </p:txBody>
      </p:sp>
      <p:sp>
        <p:nvSpPr>
          <p:cNvPr id="13" name="Rectangle 12"/>
          <p:cNvSpPr/>
          <p:nvPr/>
        </p:nvSpPr>
        <p:spPr>
          <a:xfrm>
            <a:off x="8710612" y="3795712"/>
            <a:ext cx="196024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43900" y="3905250"/>
            <a:ext cx="269367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its states</a:t>
            </a:r>
          </a:p>
        </p:txBody>
      </p:sp>
      <p:sp>
        <p:nvSpPr>
          <p:cNvPr id="15" name="Rectangle 14"/>
          <p:cNvSpPr/>
          <p:nvPr/>
        </p:nvSpPr>
        <p:spPr>
          <a:xfrm>
            <a:off x="10939462" y="3795712"/>
            <a:ext cx="2406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572750" y="3905250"/>
            <a:ext cx="3139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its constants</a:t>
            </a:r>
          </a:p>
        </p:txBody>
      </p:sp>
      <p:sp>
        <p:nvSpPr>
          <p:cNvPr id="17" name="Rounded Rectangle 16"/>
          <p:cNvSpPr/>
          <p:nvPr/>
        </p:nvSpPr>
        <p:spPr>
          <a:xfrm>
            <a:off x="6286500" y="4572000"/>
            <a:ext cx="5715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67500" y="4762500"/>
            <a:ext cx="49530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MwSubsystem</a:t>
            </a:r>
          </a:p>
        </p:txBody>
      </p:sp>
      <p:sp>
        <p:nvSpPr>
          <p:cNvPr id="19" name="TextBox 18"/>
          <p:cNvSpPr txBox="1"/>
          <p:nvPr/>
        </p:nvSpPr>
        <p:spPr>
          <a:xfrm>
            <a:off x="6667500" y="5295900"/>
            <a:ext cx="5143500" cy="8572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Gives: the loop, CONSTANTS, system_state_, getSubsystemKey()</a:t>
            </a:r>
          </a:p>
        </p:txBody>
      </p:sp>
      <p:sp>
        <p:nvSpPr>
          <p:cNvPr id="20" name="Rounded Rectangle 19"/>
          <p:cNvSpPr/>
          <p:nvPr/>
        </p:nvSpPr>
        <p:spPr>
          <a:xfrm>
            <a:off x="1905000" y="7239000"/>
            <a:ext cx="57150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86000" y="7429500"/>
            <a:ext cx="4953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DrivetrainSubsystem</a:t>
            </a:r>
          </a:p>
        </p:txBody>
      </p:sp>
      <p:sp>
        <p:nvSpPr>
          <p:cNvPr id="22" name="TextBox 21"/>
          <p:cNvSpPr txBox="1"/>
          <p:nvPr/>
        </p:nvSpPr>
        <p:spPr>
          <a:xfrm>
            <a:off x="2286000" y="7962900"/>
            <a:ext cx="5143500" cy="666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Fills in: </a:t>
            </a:r>
            <a:r>
              <a:rPr sz="1650" b="0" i="0">
                <a:solidFill>
                  <a:srgbClr val="9A7878"/>
                </a:solidFill>
                <a:latin typeface="Geist Mono"/>
                <a:ea typeface="Geist Mono"/>
                <a:cs typeface="Geist Mono"/>
              </a:rPr>
              <a:t>updateLogic</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getIos</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reset</a:t>
            </a:r>
          </a:p>
        </p:txBody>
      </p:sp>
      <p:sp>
        <p:nvSpPr>
          <p:cNvPr id="23" name="Rectangle 22"/>
          <p:cNvSpPr/>
          <p:nvPr/>
        </p:nvSpPr>
        <p:spPr>
          <a:xfrm>
            <a:off x="4748212" y="6748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0668000" y="7239000"/>
            <a:ext cx="5715000" cy="1524000"/>
          </a:xfrm>
          <a:prstGeom prst="roundRect">
            <a:avLst>
              <a:gd name="adj" fmla="val 10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049000" y="7429500"/>
            <a:ext cx="4953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ShooterSubsystem</a:t>
            </a:r>
          </a:p>
        </p:txBody>
      </p:sp>
      <p:sp>
        <p:nvSpPr>
          <p:cNvPr id="26" name="TextBox 25"/>
          <p:cNvSpPr txBox="1"/>
          <p:nvPr/>
        </p:nvSpPr>
        <p:spPr>
          <a:xfrm>
            <a:off x="11049000" y="7962900"/>
            <a:ext cx="5143500" cy="666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Fills in: </a:t>
            </a:r>
            <a:r>
              <a:rPr sz="1650" b="0" i="0">
                <a:solidFill>
                  <a:srgbClr val="9A7878"/>
                </a:solidFill>
                <a:latin typeface="Geist Mono"/>
                <a:ea typeface="Geist Mono"/>
                <a:cs typeface="Geist Mono"/>
              </a:rPr>
              <a:t>updateLogic</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getIos</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reset</a:t>
            </a:r>
          </a:p>
        </p:txBody>
      </p:sp>
      <p:sp>
        <p:nvSpPr>
          <p:cNvPr id="27" name="Rectangle 26"/>
          <p:cNvSpPr/>
          <p:nvPr/>
        </p:nvSpPr>
        <p:spPr>
          <a:xfrm>
            <a:off x="13511212" y="6748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748212" y="6748462"/>
            <a:ext cx="8791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124950" y="6480810"/>
            <a:ext cx="38100"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a:off x="9067800" y="63627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34500" y="63817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extends</a:t>
            </a:r>
          </a:p>
        </p:txBody>
      </p:sp>
      <p:pic>
        <p:nvPicPr>
          <p:cNvPr id="32" name="Picture 31" descr="code-slash.png"/>
          <p:cNvPicPr>
            <a:picLocks noChangeAspect="1"/>
          </p:cNvPicPr>
          <p:nvPr/>
        </p:nvPicPr>
        <p:blipFill>
          <a:blip r:embed="rId3"/>
          <a:stretch>
            <a:fillRect/>
          </a:stretch>
        </p:blipFill>
        <p:spPr>
          <a:xfrm>
            <a:off x="914400" y="9086850"/>
            <a:ext cx="224518" cy="209550"/>
          </a:xfrm>
          <a:prstGeom prst="rect">
            <a:avLst/>
          </a:prstGeom>
        </p:spPr>
      </p:pic>
      <p:sp>
        <p:nvSpPr>
          <p:cNvPr id="33" name="TextBox 32"/>
          <p:cNvSpPr txBox="1"/>
          <p:nvPr/>
        </p:nvSpPr>
        <p:spPr>
          <a:xfrm>
            <a:off x="1295400" y="9048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Inheritance</a:t>
            </a:r>
          </a:p>
        </p:txBody>
      </p:sp>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getInstance(): exactly one shooter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9525000" cy="4191000"/>
          </a:xfrm>
          <a:prstGeom prst="roundRect">
            <a:avLst>
              <a:gd name="adj" fmla="val 363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2385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ShooterSubsystem instance_ = null;</a:t>
            </a:r>
          </a:p>
        </p:txBody>
      </p:sp>
      <p:sp>
        <p:nvSpPr>
          <p:cNvPr id="8" name="TextBox 7"/>
          <p:cNvSpPr txBox="1"/>
          <p:nvPr/>
        </p:nvSpPr>
        <p:spPr>
          <a:xfrm>
            <a:off x="1295400" y="35814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9" name="TextBox 8"/>
          <p:cNvSpPr txBox="1"/>
          <p:nvPr/>
        </p:nvSpPr>
        <p:spPr>
          <a:xfrm>
            <a:off x="1295400" y="39243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ShooterSubsystem getInstance() {</a:t>
            </a:r>
          </a:p>
        </p:txBody>
      </p:sp>
      <p:sp>
        <p:nvSpPr>
          <p:cNvPr id="10" name="TextBox 9"/>
          <p:cNvSpPr txBox="1"/>
          <p:nvPr/>
        </p:nvSpPr>
        <p:spPr>
          <a:xfrm>
            <a:off x="1295400" y="42672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(instance_ == null) {</a:t>
            </a:r>
          </a:p>
        </p:txBody>
      </p:sp>
      <p:sp>
        <p:nvSpPr>
          <p:cNvPr id="11" name="TextBox 10"/>
          <p:cNvSpPr txBox="1"/>
          <p:nvPr/>
        </p:nvSpPr>
        <p:spPr>
          <a:xfrm>
            <a:off x="1295400" y="46101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instance_ =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ShooterSubsystem();</a:t>
            </a:r>
          </a:p>
        </p:txBody>
      </p:sp>
      <p:sp>
        <p:nvSpPr>
          <p:cNvPr id="12" name="TextBox 11"/>
          <p:cNvSpPr txBox="1"/>
          <p:nvPr/>
        </p:nvSpPr>
        <p:spPr>
          <a:xfrm>
            <a:off x="1295400" y="49530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3" name="TextBox 12"/>
          <p:cNvSpPr txBox="1"/>
          <p:nvPr/>
        </p:nvSpPr>
        <p:spPr>
          <a:xfrm>
            <a:off x="1295400" y="52959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instance_;</a:t>
            </a:r>
          </a:p>
        </p:txBody>
      </p:sp>
      <p:sp>
        <p:nvSpPr>
          <p:cNvPr id="14" name="TextBox 13"/>
          <p:cNvSpPr txBox="1"/>
          <p:nvPr/>
        </p:nvSpPr>
        <p:spPr>
          <a:xfrm>
            <a:off x="1295400" y="56388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5" name="TextBox 14"/>
          <p:cNvSpPr txBox="1"/>
          <p:nvPr/>
        </p:nvSpPr>
        <p:spPr>
          <a:xfrm>
            <a:off x="1295400" y="59817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6" name="TextBox 15"/>
          <p:cNvSpPr txBox="1"/>
          <p:nvPr/>
        </p:nvSpPr>
        <p:spPr>
          <a:xfrm>
            <a:off x="1295400" y="63246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ShooterSubsystem() { ... }</a:t>
            </a:r>
          </a:p>
        </p:txBody>
      </p:sp>
      <p:sp>
        <p:nvSpPr>
          <p:cNvPr id="17" name="Oval 16"/>
          <p:cNvSpPr/>
          <p:nvPr/>
        </p:nvSpPr>
        <p:spPr>
          <a:xfrm>
            <a:off x="9829800" y="3219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9800" y="3219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 name="Oval 18"/>
          <p:cNvSpPr/>
          <p:nvPr/>
        </p:nvSpPr>
        <p:spPr>
          <a:xfrm>
            <a:off x="9829800" y="42481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980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Oval 20"/>
          <p:cNvSpPr/>
          <p:nvPr/>
        </p:nvSpPr>
        <p:spPr>
          <a:xfrm>
            <a:off x="9829800" y="52768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29800" y="52768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3" name="Oval 22"/>
          <p:cNvSpPr/>
          <p:nvPr/>
        </p:nvSpPr>
        <p:spPr>
          <a:xfrm>
            <a:off x="9829800" y="63055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29800" y="63055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5" name="Oval 24"/>
          <p:cNvSpPr/>
          <p:nvPr/>
        </p:nvSpPr>
        <p:spPr>
          <a:xfrm>
            <a:off x="108585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585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1468100" y="28194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one copy</a:t>
            </a:r>
          </a:p>
        </p:txBody>
      </p:sp>
      <p:sp>
        <p:nvSpPr>
          <p:cNvPr id="28" name="TextBox 27"/>
          <p:cNvSpPr txBox="1"/>
          <p:nvPr/>
        </p:nvSpPr>
        <p:spPr>
          <a:xfrm>
            <a:off x="11468100" y="32385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Starts out empty: null</a:t>
            </a:r>
          </a:p>
        </p:txBody>
      </p:sp>
      <p:sp>
        <p:nvSpPr>
          <p:cNvPr id="29" name="Oval 28"/>
          <p:cNvSpPr/>
          <p:nvPr/>
        </p:nvSpPr>
        <p:spPr>
          <a:xfrm>
            <a:off x="10858500" y="4095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58500" y="4095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1468100" y="40576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First time only</a:t>
            </a:r>
          </a:p>
        </p:txBody>
      </p:sp>
      <p:sp>
        <p:nvSpPr>
          <p:cNvPr id="32" name="TextBox 31"/>
          <p:cNvSpPr txBox="1"/>
          <p:nvPr/>
        </p:nvSpPr>
        <p:spPr>
          <a:xfrm>
            <a:off x="11468100" y="44767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Build it</a:t>
            </a:r>
          </a:p>
        </p:txBody>
      </p:sp>
      <p:sp>
        <p:nvSpPr>
          <p:cNvPr id="33" name="Oval 32"/>
          <p:cNvSpPr/>
          <p:nvPr/>
        </p:nvSpPr>
        <p:spPr>
          <a:xfrm>
            <a:off x="10858500" y="5334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58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1468100" y="52959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Everyone after</a:t>
            </a:r>
          </a:p>
        </p:txBody>
      </p:sp>
      <p:sp>
        <p:nvSpPr>
          <p:cNvPr id="36" name="TextBox 35"/>
          <p:cNvSpPr txBox="1"/>
          <p:nvPr/>
        </p:nvSpPr>
        <p:spPr>
          <a:xfrm>
            <a:off x="11468100" y="57150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Gets the same one</a:t>
            </a:r>
          </a:p>
        </p:txBody>
      </p:sp>
      <p:sp>
        <p:nvSpPr>
          <p:cNvPr id="37" name="Oval 36"/>
          <p:cNvSpPr/>
          <p:nvPr/>
        </p:nvSpPr>
        <p:spPr>
          <a:xfrm>
            <a:off x="10858500" y="657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5850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9" name="TextBox 38"/>
          <p:cNvSpPr txBox="1"/>
          <p:nvPr/>
        </p:nvSpPr>
        <p:spPr>
          <a:xfrm>
            <a:off x="11468100" y="65341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private</a:t>
            </a:r>
          </a:p>
        </p:txBody>
      </p:sp>
      <p:sp>
        <p:nvSpPr>
          <p:cNvPr id="40" name="TextBox 39"/>
          <p:cNvSpPr txBox="1"/>
          <p:nvPr/>
        </p:nvSpPr>
        <p:spPr>
          <a:xfrm>
            <a:off x="11468100" y="69532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Nobody else can use new</a:t>
            </a:r>
          </a:p>
        </p:txBody>
      </p:sp>
      <p:sp>
        <p:nvSpPr>
          <p:cNvPr id="41" name="Rounded Rectangle 40"/>
          <p:cNvSpPr/>
          <p:nvPr/>
        </p:nvSpPr>
        <p:spPr>
          <a:xfrm>
            <a:off x="914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4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RobotContainer</a:t>
            </a:r>
          </a:p>
        </p:txBody>
      </p:sp>
      <p:sp>
        <p:nvSpPr>
          <p:cNvPr id="43" name="Rectangle 42"/>
          <p:cNvSpPr/>
          <p:nvPr/>
        </p:nvSpPr>
        <p:spPr>
          <a:xfrm>
            <a:off x="2424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4343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Auto code</a:t>
            </a:r>
          </a:p>
        </p:txBody>
      </p:sp>
      <p:sp>
        <p:nvSpPr>
          <p:cNvPr id="46" name="Rectangle 45"/>
          <p:cNvSpPr/>
          <p:nvPr/>
        </p:nvSpPr>
        <p:spPr>
          <a:xfrm>
            <a:off x="5853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7772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772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Another subsystem</a:t>
            </a:r>
          </a:p>
        </p:txBody>
      </p:sp>
      <p:sp>
        <p:nvSpPr>
          <p:cNvPr id="49" name="Rectangle 48"/>
          <p:cNvSpPr/>
          <p:nvPr/>
        </p:nvSpPr>
        <p:spPr>
          <a:xfrm>
            <a:off x="9282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2424112" y="8558212"/>
            <a:ext cx="94964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1868150" y="8553450"/>
            <a:ext cx="3962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Isosceles Triangle 51"/>
          <p:cNvSpPr/>
          <p:nvPr/>
        </p:nvSpPr>
        <p:spPr>
          <a:xfrm rot="5400000">
            <a:off x="12230100" y="8496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2458700" y="8001000"/>
            <a:ext cx="4914900" cy="1143000"/>
          </a:xfrm>
          <a:prstGeom prst="roundRect">
            <a:avLst>
              <a:gd name="adj" fmla="val 13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458700" y="8115300"/>
            <a:ext cx="4914900" cy="47625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ShooterSubsystem</a:t>
            </a:r>
          </a:p>
        </p:txBody>
      </p:sp>
      <p:sp>
        <p:nvSpPr>
          <p:cNvPr id="55" name="TextBox 54"/>
          <p:cNvSpPr txBox="1"/>
          <p:nvPr/>
        </p:nvSpPr>
        <p:spPr>
          <a:xfrm>
            <a:off x="12458700" y="8572500"/>
            <a:ext cx="49149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one and only copy</a:t>
            </a:r>
          </a:p>
        </p:txBody>
      </p:sp>
      <p:sp>
        <p:nvSpPr>
          <p:cNvPr id="56" name="TextBox 55"/>
          <p:cNvSpPr txBox="1"/>
          <p:nvPr/>
        </p:nvSpPr>
        <p:spPr>
          <a:xfrm>
            <a:off x="7239000" y="8648700"/>
            <a:ext cx="4572000" cy="32385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getInstance()</a:t>
            </a:r>
          </a:p>
        </p:txBody>
      </p:sp>
      <p:pic>
        <p:nvPicPr>
          <p:cNvPr id="57" name="Picture 56" descr="code-slash.png"/>
          <p:cNvPicPr>
            <a:picLocks noChangeAspect="1"/>
          </p:cNvPicPr>
          <p:nvPr/>
        </p:nvPicPr>
        <p:blipFill>
          <a:blip r:embed="rId3"/>
          <a:stretch>
            <a:fillRect/>
          </a:stretch>
        </p:blipFill>
        <p:spPr>
          <a:xfrm>
            <a:off x="914400" y="9086850"/>
            <a:ext cx="224518" cy="209550"/>
          </a:xfrm>
          <a:prstGeom prst="rect">
            <a:avLst/>
          </a:prstGeom>
        </p:spPr>
      </p:pic>
      <p:sp>
        <p:nvSpPr>
          <p:cNvPr id="58" name="TextBox 57"/>
          <p:cNvSpPr txBox="1"/>
          <p:nvPr/>
        </p:nvSpPr>
        <p:spPr>
          <a:xfrm>
            <a:off x="1295400" y="9048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constructor builds the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10668000" cy="4573905"/>
          </a:xfrm>
          <a:prstGeom prst="roundRect">
            <a:avLst>
              <a:gd name="adj" fmla="val 333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509135"/>
            <a:ext cx="10629900" cy="317659"/>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509135"/>
            <a:ext cx="57150" cy="317659"/>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238500"/>
            <a:ext cx="10134600" cy="317659"/>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private</a:t>
            </a:r>
            <a:r>
              <a:rPr sz="1725" b="0" i="0">
                <a:solidFill>
                  <a:srgbClr val="F0E8E8"/>
                </a:solidFill>
                <a:latin typeface="Geist Mono"/>
                <a:ea typeface="Geist Mono"/>
                <a:cs typeface="Geist Mono"/>
              </a:rPr>
              <a:t> ShooterSubsystem() {</a:t>
            </a:r>
          </a:p>
        </p:txBody>
      </p:sp>
      <p:sp>
        <p:nvSpPr>
          <p:cNvPr id="10" name="TextBox 9"/>
          <p:cNvSpPr txBox="1"/>
          <p:nvPr/>
        </p:nvSpPr>
        <p:spPr>
          <a:xfrm>
            <a:off x="1295400" y="3556159"/>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super(ShooterStates.MANUAL,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ShooterConstants());</a:t>
            </a:r>
          </a:p>
        </p:txBody>
      </p:sp>
      <p:sp>
        <p:nvSpPr>
          <p:cNvPr id="11" name="TextBox 10"/>
          <p:cNvSpPr txBox="1"/>
          <p:nvPr/>
        </p:nvSpPr>
        <p:spPr>
          <a:xfrm>
            <a:off x="1295400" y="3873818"/>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2" name="TextBox 11"/>
          <p:cNvSpPr txBox="1"/>
          <p:nvPr/>
        </p:nvSpPr>
        <p:spPr>
          <a:xfrm>
            <a:off x="1295400" y="4191476"/>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 =</a:t>
            </a:r>
          </a:p>
        </p:txBody>
      </p:sp>
      <p:sp>
        <p:nvSpPr>
          <p:cNvPr id="13" name="TextBox 12"/>
          <p:cNvSpPr txBox="1"/>
          <p:nvPr/>
        </p:nvSpPr>
        <p:spPr>
          <a:xfrm>
            <a:off x="1295400" y="4509135"/>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FlywheelMech(</a:t>
            </a:r>
          </a:p>
        </p:txBody>
      </p:sp>
      <p:sp>
        <p:nvSpPr>
          <p:cNvPr id="14" name="TextBox 13"/>
          <p:cNvSpPr txBox="1"/>
          <p:nvPr/>
        </p:nvSpPr>
        <p:spPr>
          <a:xfrm>
            <a:off x="1295400" y="4826794"/>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getSubsystemKey(),</a:t>
            </a:r>
          </a:p>
        </p:txBody>
      </p:sp>
      <p:sp>
        <p:nvSpPr>
          <p:cNvPr id="15" name="TextBox 14"/>
          <p:cNvSpPr txBox="1"/>
          <p:nvPr/>
        </p:nvSpPr>
        <p:spPr>
          <a:xfrm>
            <a:off x="1295400" y="5144452"/>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9FD29A"/>
                </a:solidFill>
                <a:latin typeface="Geist Mono"/>
                <a:ea typeface="Geist Mono"/>
                <a:cs typeface="Geist Mono"/>
              </a:rPr>
              <a:t>"Flywheel"</a:t>
            </a:r>
            <a:r>
              <a:rPr sz="1725" b="0" i="0">
                <a:solidFill>
                  <a:srgbClr val="F0E8E8"/>
                </a:solidFill>
                <a:latin typeface="Geist Mono"/>
                <a:ea typeface="Geist Mono"/>
                <a:cs typeface="Geist Mono"/>
              </a:rPr>
              <a:t>,</a:t>
            </a:r>
          </a:p>
        </p:txBody>
      </p:sp>
      <p:sp>
        <p:nvSpPr>
          <p:cNvPr id="16" name="TextBox 15"/>
          <p:cNvSpPr txBox="1"/>
          <p:nvPr/>
        </p:nvSpPr>
        <p:spPr>
          <a:xfrm>
            <a:off x="1295400" y="5462111"/>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List.of(CONSTANTS.FLYWHEEL_MOTOR_CONFIG),</a:t>
            </a:r>
          </a:p>
        </p:txBody>
      </p:sp>
      <p:sp>
        <p:nvSpPr>
          <p:cNvPr id="17" name="TextBox 16"/>
          <p:cNvSpPr txBox="1"/>
          <p:nvPr/>
        </p:nvSpPr>
        <p:spPr>
          <a:xfrm>
            <a:off x="1295400" y="5779770"/>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CONSTANTS.FLYWHEEL_GEAR_RATIO,</a:t>
            </a:r>
          </a:p>
        </p:txBody>
      </p:sp>
      <p:sp>
        <p:nvSpPr>
          <p:cNvPr id="18" name="TextBox 17"/>
          <p:cNvSpPr txBox="1"/>
          <p:nvPr/>
        </p:nvSpPr>
        <p:spPr>
          <a:xfrm>
            <a:off x="1295400" y="6097429"/>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CONSTANTS.FLYWHEEL_INERTIA,</a:t>
            </a:r>
          </a:p>
        </p:txBody>
      </p:sp>
      <p:sp>
        <p:nvSpPr>
          <p:cNvPr id="19" name="TextBox 18"/>
          <p:cNvSpPr txBox="1"/>
          <p:nvPr/>
        </p:nvSpPr>
        <p:spPr>
          <a:xfrm>
            <a:off x="1295400" y="6415088"/>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CONSTANTS.FLYWHEEL_RADIUS);</a:t>
            </a:r>
          </a:p>
        </p:txBody>
      </p:sp>
      <p:sp>
        <p:nvSpPr>
          <p:cNvPr id="20" name="TextBox 19"/>
          <p:cNvSpPr txBox="1"/>
          <p:nvPr/>
        </p:nvSpPr>
        <p:spPr>
          <a:xfrm>
            <a:off x="1295400" y="6732746"/>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1" name="Oval 20"/>
          <p:cNvSpPr/>
          <p:nvPr/>
        </p:nvSpPr>
        <p:spPr>
          <a:xfrm>
            <a:off x="10972800" y="352448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0" y="35244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0972800" y="447746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0" y="44774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0972800" y="479512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0" y="479512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0972800" y="543044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543044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Oval 28"/>
          <p:cNvSpPr/>
          <p:nvPr/>
        </p:nvSpPr>
        <p:spPr>
          <a:xfrm>
            <a:off x="12096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super(...)</a:t>
            </a:r>
          </a:p>
        </p:txBody>
      </p:sp>
      <p:sp>
        <p:nvSpPr>
          <p:cNvPr id="32" name="TextBox 31"/>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 state and constants. CONSTANTS works after this</a:t>
            </a:r>
          </a:p>
        </p:txBody>
      </p:sp>
      <p:sp>
        <p:nvSpPr>
          <p:cNvPr id="33" name="Oval 32"/>
          <p:cNvSpPr/>
          <p:nvPr/>
        </p:nvSpPr>
        <p:spPr>
          <a:xfrm>
            <a:off x="12096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new FlywheelMech</a:t>
            </a:r>
          </a:p>
        </p:txBody>
      </p:sp>
      <p:sp>
        <p:nvSpPr>
          <p:cNvPr id="36" name="TextBox 35"/>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Creates one mechanism</a:t>
            </a:r>
          </a:p>
        </p:txBody>
      </p:sp>
      <p:sp>
        <p:nvSpPr>
          <p:cNvPr id="37" name="Oval 36"/>
          <p:cNvSpPr/>
          <p:nvPr/>
        </p:nvSpPr>
        <p:spPr>
          <a:xfrm>
            <a:off x="12096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Name for the logs</a:t>
            </a:r>
          </a:p>
        </p:txBody>
      </p:sp>
      <p:sp>
        <p:nvSpPr>
          <p:cNvPr id="40" name="TextBox 39"/>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Logged under the subsystem</a:t>
            </a:r>
          </a:p>
        </p:txBody>
      </p:sp>
      <p:sp>
        <p:nvSpPr>
          <p:cNvPr id="41" name="Oval 40"/>
          <p:cNvSpPr/>
          <p:nvPr/>
        </p:nvSpPr>
        <p:spPr>
          <a:xfrm>
            <a:off x="120967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3" name="TextBox 42"/>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From Constants</a:t>
            </a:r>
          </a:p>
        </p:txBody>
      </p:sp>
      <p:sp>
        <p:nvSpPr>
          <p:cNvPr id="44" name="TextBox 43"/>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Motors, gear ratio, size for the simulator</a:t>
            </a:r>
          </a:p>
        </p:txBody>
      </p:sp>
      <p:sp>
        <p:nvSpPr>
          <p:cNvPr id="45" name="Rounded Rectangle 44"/>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333500" y="83820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Your turn:  </a:t>
            </a:r>
            <a:r>
              <a:rPr sz="2100" b="0" i="0">
                <a:solidFill>
                  <a:srgbClr val="F0E8E8"/>
                </a:solidFill>
                <a:latin typeface="Geist"/>
                <a:ea typeface="Geist"/>
                <a:cs typeface="Geist"/>
              </a:rPr>
              <a:t>build the roller the same way with RollerMech: key, name, motors, gear ratio, inertia.</a:t>
            </a:r>
          </a:p>
        </p:txBody>
      </p:sp>
      <p:sp>
        <p:nvSpPr>
          <p:cNvPr id="47" name="TextBox 4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8" name="TextBox 4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three methods you fill in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953000"/>
          </a:xfrm>
          <a:prstGeom prst="roundRect">
            <a:avLst>
              <a:gd name="adj" fmla="val 307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57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updateLogic()</a:t>
            </a:r>
          </a:p>
        </p:txBody>
      </p:sp>
      <p:sp>
        <p:nvSpPr>
          <p:cNvPr id="7" name="TextBox 6"/>
          <p:cNvSpPr txBox="1"/>
          <p:nvPr/>
        </p:nvSpPr>
        <p:spPr>
          <a:xfrm>
            <a:off x="1257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Every 20 ms: decide what each mechanism does.</a:t>
            </a:r>
          </a:p>
        </p:txBody>
      </p:sp>
      <p:sp>
        <p:nvSpPr>
          <p:cNvPr id="8" name="TextBox 7"/>
          <p:cNvSpPr txBox="1"/>
          <p:nvPr/>
        </p:nvSpPr>
        <p:spPr>
          <a:xfrm>
            <a:off x="1257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9" name="Rounded Rectangle 8"/>
          <p:cNvSpPr/>
          <p:nvPr/>
        </p:nvSpPr>
        <p:spPr>
          <a:xfrm>
            <a:off x="1143000" y="5143500"/>
            <a:ext cx="4826000" cy="1922145"/>
          </a:xfrm>
          <a:prstGeom prst="roundRect">
            <a:avLst>
              <a:gd name="adj" fmla="val 792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24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void</a:t>
            </a:r>
            <a:r>
              <a:rPr sz="1575" b="0" i="0">
                <a:solidFill>
                  <a:srgbClr val="F0E8E8"/>
                </a:solidFill>
                <a:latin typeface="Geist Mono"/>
                <a:ea typeface="Geist Mono"/>
                <a:cs typeface="Geist Mono"/>
              </a:rPr>
              <a:t> updateLogic(</a:t>
            </a:r>
          </a:p>
        </p:txBody>
      </p:sp>
      <p:sp>
        <p:nvSpPr>
          <p:cNvPr id="11" name="TextBox 10"/>
          <p:cNvSpPr txBox="1"/>
          <p:nvPr/>
        </p:nvSpPr>
        <p:spPr>
          <a:xfrm>
            <a:off x="1524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double</a:t>
            </a:r>
            <a:r>
              <a:rPr sz="1575" b="0" i="0">
                <a:solidFill>
                  <a:srgbClr val="F0E8E8"/>
                </a:solidFill>
                <a:latin typeface="Geist Mono"/>
                <a:ea typeface="Geist Mono"/>
                <a:cs typeface="Geist Mono"/>
              </a:rPr>
              <a:t> timestamp) {</a:t>
            </a:r>
          </a:p>
        </p:txBody>
      </p:sp>
      <p:sp>
        <p:nvSpPr>
          <p:cNvPr id="12" name="TextBox 11"/>
          <p:cNvSpPr txBox="1"/>
          <p:nvPr/>
        </p:nvSpPr>
        <p:spPr>
          <a:xfrm>
            <a:off x="1524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1">
                <a:solidFill>
                  <a:srgbClr val="9A7878"/>
                </a:solidFill>
                <a:latin typeface="Geist Mono"/>
                <a:ea typeface="Geist Mono"/>
                <a:cs typeface="Geist Mono"/>
              </a:rPr>
              <a:t>// decide</a:t>
            </a:r>
          </a:p>
        </p:txBody>
      </p:sp>
      <p:sp>
        <p:nvSpPr>
          <p:cNvPr id="13" name="TextBox 12"/>
          <p:cNvSpPr txBox="1"/>
          <p:nvPr/>
        </p:nvSpPr>
        <p:spPr>
          <a:xfrm>
            <a:off x="1524000" y="6394609"/>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14" name="Rounded Rectangle 13"/>
          <p:cNvSpPr/>
          <p:nvPr/>
        </p:nvSpPr>
        <p:spPr>
          <a:xfrm>
            <a:off x="6502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45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getIos()</a:t>
            </a:r>
          </a:p>
        </p:txBody>
      </p:sp>
      <p:sp>
        <p:nvSpPr>
          <p:cNvPr id="16" name="TextBox 15"/>
          <p:cNvSpPr txBox="1"/>
          <p:nvPr/>
        </p:nvSpPr>
        <p:spPr>
          <a:xfrm>
            <a:off x="6845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list of mechanisms. MWLib only runs these.</a:t>
            </a:r>
          </a:p>
        </p:txBody>
      </p:sp>
      <p:sp>
        <p:nvSpPr>
          <p:cNvPr id="17" name="TextBox 16"/>
          <p:cNvSpPr txBox="1"/>
          <p:nvPr/>
        </p:nvSpPr>
        <p:spPr>
          <a:xfrm>
            <a:off x="6845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18" name="Rounded Rectangle 17"/>
          <p:cNvSpPr/>
          <p:nvPr/>
        </p:nvSpPr>
        <p:spPr>
          <a:xfrm>
            <a:off x="6731000" y="5143500"/>
            <a:ext cx="4826000" cy="2212181"/>
          </a:xfrm>
          <a:prstGeom prst="roundRect">
            <a:avLst>
              <a:gd name="adj" fmla="val 688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112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List&lt;SubsystemIoBase&gt;</a:t>
            </a:r>
          </a:p>
        </p:txBody>
      </p:sp>
      <p:sp>
        <p:nvSpPr>
          <p:cNvPr id="20" name="TextBox 19"/>
          <p:cNvSpPr txBox="1"/>
          <p:nvPr/>
        </p:nvSpPr>
        <p:spPr>
          <a:xfrm>
            <a:off x="7112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getIos() {</a:t>
            </a:r>
          </a:p>
        </p:txBody>
      </p:sp>
      <p:sp>
        <p:nvSpPr>
          <p:cNvPr id="21" name="TextBox 20"/>
          <p:cNvSpPr txBox="1"/>
          <p:nvPr/>
        </p:nvSpPr>
        <p:spPr>
          <a:xfrm>
            <a:off x="7112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return</a:t>
            </a:r>
            <a:r>
              <a:rPr sz="1575" b="0" i="0">
                <a:solidFill>
                  <a:srgbClr val="F0E8E8"/>
                </a:solidFill>
                <a:latin typeface="Geist Mono"/>
                <a:ea typeface="Geist Mono"/>
                <a:cs typeface="Geist Mono"/>
              </a:rPr>
              <a:t> List.of(</a:t>
            </a:r>
          </a:p>
        </p:txBody>
      </p:sp>
      <p:sp>
        <p:nvSpPr>
          <p:cNvPr id="22" name="TextBox 21"/>
          <p:cNvSpPr txBox="1"/>
          <p:nvPr/>
        </p:nvSpPr>
        <p:spPr>
          <a:xfrm>
            <a:off x="7112000" y="6394609"/>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flywheel_, roller_);</a:t>
            </a:r>
          </a:p>
        </p:txBody>
      </p:sp>
      <p:sp>
        <p:nvSpPr>
          <p:cNvPr id="23" name="TextBox 22"/>
          <p:cNvSpPr txBox="1"/>
          <p:nvPr/>
        </p:nvSpPr>
        <p:spPr>
          <a:xfrm>
            <a:off x="7112000" y="6684645"/>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24" name="Rounded Rectangle 23"/>
          <p:cNvSpPr/>
          <p:nvPr/>
        </p:nvSpPr>
        <p:spPr>
          <a:xfrm>
            <a:off x="12090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433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reset()</a:t>
            </a:r>
          </a:p>
        </p:txBody>
      </p:sp>
      <p:sp>
        <p:nvSpPr>
          <p:cNvPr id="26" name="TextBox 25"/>
          <p:cNvSpPr txBox="1"/>
          <p:nvPr/>
        </p:nvSpPr>
        <p:spPr>
          <a:xfrm>
            <a:off x="12433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Back to a known state.</a:t>
            </a:r>
          </a:p>
        </p:txBody>
      </p:sp>
      <p:sp>
        <p:nvSpPr>
          <p:cNvPr id="27" name="TextBox 26"/>
          <p:cNvSpPr txBox="1"/>
          <p:nvPr/>
        </p:nvSpPr>
        <p:spPr>
          <a:xfrm>
            <a:off x="12433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28" name="Rounded Rectangle 27"/>
          <p:cNvSpPr/>
          <p:nvPr/>
        </p:nvSpPr>
        <p:spPr>
          <a:xfrm>
            <a:off x="12319000" y="5143500"/>
            <a:ext cx="4826000" cy="1632109"/>
          </a:xfrm>
          <a:prstGeom prst="roundRect">
            <a:avLst>
              <a:gd name="adj" fmla="val 933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700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void</a:t>
            </a:r>
            <a:r>
              <a:rPr sz="1575" b="0" i="0">
                <a:solidFill>
                  <a:srgbClr val="F0E8E8"/>
                </a:solidFill>
                <a:latin typeface="Geist Mono"/>
                <a:ea typeface="Geist Mono"/>
                <a:cs typeface="Geist Mono"/>
              </a:rPr>
              <a:t> reset() {</a:t>
            </a:r>
          </a:p>
        </p:txBody>
      </p:sp>
      <p:sp>
        <p:nvSpPr>
          <p:cNvPr id="30" name="TextBox 29"/>
          <p:cNvSpPr txBox="1"/>
          <p:nvPr/>
        </p:nvSpPr>
        <p:spPr>
          <a:xfrm>
            <a:off x="12700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1">
                <a:solidFill>
                  <a:srgbClr val="9A7878"/>
                </a:solidFill>
                <a:latin typeface="Geist Mono"/>
                <a:ea typeface="Geist Mono"/>
                <a:cs typeface="Geist Mono"/>
              </a:rPr>
              <a:t>// start over</a:t>
            </a:r>
          </a:p>
        </p:txBody>
      </p:sp>
      <p:sp>
        <p:nvSpPr>
          <p:cNvPr id="31" name="TextBox 30"/>
          <p:cNvSpPr txBox="1"/>
          <p:nvPr/>
        </p:nvSpPr>
        <p:spPr>
          <a:xfrm>
            <a:off x="12700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32" name="Rounded Rectangle 31"/>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xclamation-circle.png"/>
          <p:cNvPicPr>
            <a:picLocks noChangeAspect="1"/>
          </p:cNvPicPr>
          <p:nvPr/>
        </p:nvPicPr>
        <p:blipFill>
          <a:blip r:embed="rId3"/>
          <a:stretch>
            <a:fillRect/>
          </a:stretch>
        </p:blipFill>
        <p:spPr>
          <a:xfrm>
            <a:off x="1333500" y="8258175"/>
            <a:ext cx="533400" cy="533400"/>
          </a:xfrm>
          <a:prstGeom prst="rect">
            <a:avLst/>
          </a:prstGeom>
        </p:spPr>
      </p:pic>
      <p:sp>
        <p:nvSpPr>
          <p:cNvPr id="34" name="TextBox 33"/>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Miss one?  </a:t>
            </a:r>
            <a:r>
              <a:rPr sz="2100" b="0" i="0">
                <a:solidFill>
                  <a:srgbClr val="F0E8E8"/>
                </a:solidFill>
                <a:latin typeface="Geist"/>
                <a:ea typeface="Geist"/>
                <a:cs typeface="Geist"/>
              </a:rPr>
              <a:t>It won't compile. Every subsystem must fill in all three.</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1: the drivetrain drives itself</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238500"/>
            <a:ext cx="10668000" cy="2346960"/>
          </a:xfrm>
          <a:prstGeom prst="roundRect">
            <a:avLst>
              <a:gd name="adj" fmla="val 649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411980"/>
            <a:ext cx="1062990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411980"/>
            <a:ext cx="57150" cy="3962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@Override</a:t>
            </a:r>
          </a:p>
        </p:txBody>
      </p:sp>
      <p:sp>
        <p:nvSpPr>
          <p:cNvPr id="10" name="TextBox 9"/>
          <p:cNvSpPr txBox="1"/>
          <p:nvPr/>
        </p:nvSpPr>
        <p:spPr>
          <a:xfrm>
            <a:off x="1295400" y="4015740"/>
            <a:ext cx="101346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updateLogic(</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timestamp) {</a:t>
            </a:r>
          </a:p>
        </p:txBody>
      </p:sp>
      <p:sp>
        <p:nvSpPr>
          <p:cNvPr id="11" name="TextBox 10"/>
          <p:cNvSpPr txBox="1"/>
          <p:nvPr/>
        </p:nvSpPr>
        <p:spPr>
          <a:xfrm>
            <a:off x="1295400" y="441198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drive_.arcadeDrive(OI.getForward(), OI.getTurn());</a:t>
            </a:r>
          </a:p>
        </p:txBody>
      </p:sp>
      <p:sp>
        <p:nvSpPr>
          <p:cNvPr id="12" name="TextBox 11"/>
          <p:cNvSpPr txBox="1"/>
          <p:nvPr/>
        </p:nvSpPr>
        <p:spPr>
          <a:xfrm>
            <a:off x="1295400" y="480822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3" name="Oval 12"/>
          <p:cNvSpPr/>
          <p:nvPr/>
        </p:nvSpPr>
        <p:spPr>
          <a:xfrm>
            <a:off x="10972800" y="402336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0" y="40233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 name="Oval 14"/>
          <p:cNvSpPr/>
          <p:nvPr/>
        </p:nvSpPr>
        <p:spPr>
          <a:xfrm>
            <a:off x="10972800" y="44196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0" y="44196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14400" y="60579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18" name="Rounded Rectangle 17"/>
          <p:cNvSpPr/>
          <p:nvPr/>
        </p:nvSpPr>
        <p:spPr>
          <a:xfrm>
            <a:off x="914400" y="6477000"/>
            <a:ext cx="1066800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6858000"/>
            <a:ext cx="10134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getForward() {</a:t>
            </a:r>
          </a:p>
        </p:txBody>
      </p:sp>
      <p:sp>
        <p:nvSpPr>
          <p:cNvPr id="20" name="TextBox 19"/>
          <p:cNvSpPr txBox="1"/>
          <p:nvPr/>
        </p:nvSpPr>
        <p:spPr>
          <a:xfrm>
            <a:off x="1295400" y="722376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MathUtil.applyDeadband(</a:t>
            </a:r>
          </a:p>
        </p:txBody>
      </p:sp>
      <p:sp>
        <p:nvSpPr>
          <p:cNvPr id="21" name="TextBox 20"/>
          <p:cNvSpPr txBox="1"/>
          <p:nvPr/>
        </p:nvSpPr>
        <p:spPr>
          <a:xfrm>
            <a:off x="1295400" y="758952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-driver_controller_.getLeftY(),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22" name="TextBox 21"/>
          <p:cNvSpPr txBox="1"/>
          <p:nvPr/>
        </p:nvSpPr>
        <p:spPr>
          <a:xfrm>
            <a:off x="1295400" y="795528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3" name="Oval 22"/>
          <p:cNvSpPr/>
          <p:nvPr/>
        </p:nvSpPr>
        <p:spPr>
          <a:xfrm>
            <a:off x="10972800" y="75819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0" y="7581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2096750" y="3238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09675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2706350" y="3200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updateLogic</a:t>
            </a:r>
          </a:p>
        </p:txBody>
      </p:sp>
      <p:sp>
        <p:nvSpPr>
          <p:cNvPr id="28" name="TextBox 27"/>
          <p:cNvSpPr txBox="1"/>
          <p:nvPr/>
        </p:nvSpPr>
        <p:spPr>
          <a:xfrm>
            <a:off x="12706350" y="3619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every 20 ms</a:t>
            </a:r>
          </a:p>
        </p:txBody>
      </p:sp>
      <p:sp>
        <p:nvSpPr>
          <p:cNvPr id="29" name="Oval 28"/>
          <p:cNvSpPr/>
          <p:nvPr/>
        </p:nvSpPr>
        <p:spPr>
          <a:xfrm>
            <a:off x="1209675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96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2706350" y="4819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arcadeDrive</a:t>
            </a:r>
          </a:p>
        </p:txBody>
      </p:sp>
      <p:sp>
        <p:nvSpPr>
          <p:cNvPr id="32" name="TextBox 31"/>
          <p:cNvSpPr txBox="1"/>
          <p:nvPr/>
        </p:nvSpPr>
        <p:spPr>
          <a:xfrm>
            <a:off x="12706350" y="5238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Forward and turn from OI</a:t>
            </a:r>
          </a:p>
        </p:txBody>
      </p:sp>
      <p:sp>
        <p:nvSpPr>
          <p:cNvPr id="33" name="Oval 32"/>
          <p:cNvSpPr/>
          <p:nvPr/>
        </p:nvSpPr>
        <p:spPr>
          <a:xfrm>
            <a:off x="1209675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2706350" y="6438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OI does the rest</a:t>
            </a:r>
          </a:p>
        </p:txBody>
      </p:sp>
      <p:sp>
        <p:nvSpPr>
          <p:cNvPr id="36" name="TextBox 35"/>
          <p:cNvSpPr txBox="1"/>
          <p:nvPr/>
        </p:nvSpPr>
        <p:spPr>
          <a:xfrm>
            <a:off x="12706350" y="6858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Flips the stick and applies the deadband</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Building the shooter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Two buttons, one if / else, and the step everyone forgets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Hold the bumper, spin the wheel. Let go, it coasts.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shooter, two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H="1" flipV="1">
            <a:off x="5334947" y="7918219"/>
            <a:ext cx="303853" cy="19916"/>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5036293" y="7858813"/>
            <a:ext cx="298654" cy="59406"/>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4747947" y="7760933"/>
            <a:ext cx="288346" cy="97880"/>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4474845" y="7626254"/>
            <a:ext cx="273102" cy="134679"/>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221658" y="7457080"/>
            <a:ext cx="253187" cy="169174"/>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992719" y="7256306"/>
            <a:ext cx="228939" cy="200774"/>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791945" y="7027367"/>
            <a:ext cx="200774" cy="228939"/>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622771" y="6774180"/>
            <a:ext cx="169174" cy="253187"/>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488092" y="6501078"/>
            <a:ext cx="134679" cy="273102"/>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3390212" y="6212732"/>
            <a:ext cx="97880" cy="288346"/>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330806" y="5914078"/>
            <a:ext cx="59406" cy="298654"/>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3310890" y="5610225"/>
            <a:ext cx="19916" cy="303853"/>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10890" y="5306372"/>
            <a:ext cx="19916" cy="303853"/>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330806" y="5007718"/>
            <a:ext cx="59406" cy="298654"/>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390212" y="4719372"/>
            <a:ext cx="97880" cy="288346"/>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488092" y="4446270"/>
            <a:ext cx="134679" cy="273102"/>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558314" y="7882414"/>
            <a:ext cx="3479482" cy="111443"/>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276725" y="4248150"/>
            <a:ext cx="2724150" cy="272415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5967716" y="5310574"/>
            <a:ext cx="789398" cy="21151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726933" y="4491911"/>
            <a:ext cx="211518" cy="78939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820137" y="4791562"/>
            <a:ext cx="577880" cy="57788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4520486" y="5698358"/>
            <a:ext cx="789398" cy="21151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339149" y="5939141"/>
            <a:ext cx="211518" cy="78939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879583" y="5851008"/>
            <a:ext cx="577880" cy="57788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393626" y="5365052"/>
            <a:ext cx="490347" cy="490347"/>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68428" y="4173268"/>
            <a:ext cx="135216" cy="8706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603644" y="4260335"/>
            <a:ext cx="126152" cy="9974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729796" y="4360083"/>
            <a:ext cx="115902" cy="1114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45698" y="4471575"/>
            <a:ext cx="104565" cy="12218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950263" y="4593764"/>
            <a:ext cx="92244" cy="13173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042507" y="4725503"/>
            <a:ext cx="79057" cy="14005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21564" y="4865553"/>
            <a:ext cx="65128" cy="14704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86692" y="5012598"/>
            <a:ext cx="50586" cy="15266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237278" y="5165258"/>
            <a:ext cx="35569" cy="15684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272847" y="5322098"/>
            <a:ext cx="20219" cy="15954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7269253" y="5457833"/>
            <a:ext cx="47625" cy="20838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H="1">
            <a:off x="7286836" y="5642400"/>
            <a:ext cx="10907" cy="1604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260446" y="5802853"/>
            <a:ext cx="26390" cy="1586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7218822" y="5961496"/>
            <a:ext cx="41624" cy="1553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7162355" y="6116839"/>
            <a:ext cx="56467" cy="15058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7091574" y="6267422"/>
            <a:ext cx="70781" cy="14441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909863" y="6411832"/>
            <a:ext cx="181711" cy="264942"/>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7607618" y="6080760"/>
            <a:ext cx="1139190" cy="113919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flipV="1">
            <a:off x="8314759" y="6525046"/>
            <a:ext cx="330112" cy="8845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8214068" y="6182696"/>
            <a:ext cx="88453" cy="33011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7834863" y="6308005"/>
            <a:ext cx="241658" cy="24165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7709554" y="6687211"/>
            <a:ext cx="330112" cy="8845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051904" y="6787902"/>
            <a:ext cx="88453" cy="33011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277904" y="6751046"/>
            <a:ext cx="241658" cy="24165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8074685" y="6547828"/>
            <a:ext cx="205054" cy="205054"/>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7432525" y="6281025"/>
            <a:ext cx="43531" cy="982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476056" y="6189534"/>
            <a:ext cx="56433" cy="914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532489" y="6106522"/>
            <a:ext cx="68294" cy="830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600783" y="6033516"/>
            <a:ext cx="78901" cy="7300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679684" y="5971860"/>
            <a:ext cx="88055" cy="6165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767739" y="5922687"/>
            <a:ext cx="95588" cy="491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7863327" y="5886903"/>
            <a:ext cx="101364" cy="3578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7964691" y="5865165"/>
            <a:ext cx="105274" cy="217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069965" y="5857875"/>
            <a:ext cx="107247" cy="72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177212" y="5857875"/>
            <a:ext cx="107248" cy="72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284460" y="5865165"/>
            <a:ext cx="105274" cy="217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389734" y="5886903"/>
            <a:ext cx="101364" cy="3578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491098" y="5922687"/>
            <a:ext cx="95588" cy="491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586686" y="5971860"/>
            <a:ext cx="88055" cy="6165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674741" y="6033516"/>
            <a:ext cx="78901" cy="7300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753642" y="6106522"/>
            <a:ext cx="68294" cy="830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821936" y="6189534"/>
            <a:ext cx="99964" cy="189777"/>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7384732" y="7046595"/>
            <a:ext cx="842010" cy="84201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351270" y="7448550"/>
            <a:ext cx="928687"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Isosceles Triangle 74"/>
          <p:cNvSpPr/>
          <p:nvPr/>
        </p:nvSpPr>
        <p:spPr>
          <a:xfrm rot="16200000">
            <a:off x="6233160" y="73914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757181" y="6211953"/>
            <a:ext cx="842010" cy="84201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564552" y="4521266"/>
            <a:ext cx="842010" cy="84201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839950" y="3914524"/>
            <a:ext cx="173355" cy="17335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5781020" y="3369694"/>
            <a:ext cx="173355" cy="17335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722090" y="3221104"/>
            <a:ext cx="173355" cy="17335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663160" y="3468754"/>
            <a:ext cx="173355" cy="17335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604230" y="4112644"/>
            <a:ext cx="173355" cy="173355"/>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129462" y="8147685"/>
            <a:ext cx="2095500" cy="3429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RollerMech</a:t>
            </a:r>
          </a:p>
        </p:txBody>
      </p:sp>
      <p:sp>
        <p:nvSpPr>
          <p:cNvPr id="84" name="TextBox 83"/>
          <p:cNvSpPr txBox="1"/>
          <p:nvPr/>
        </p:nvSpPr>
        <p:spPr>
          <a:xfrm>
            <a:off x="4400550" y="8147685"/>
            <a:ext cx="2476500" cy="3429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FlywheelMech</a:t>
            </a:r>
          </a:p>
        </p:txBody>
      </p:sp>
      <p:sp>
        <p:nvSpPr>
          <p:cNvPr id="85" name="Rounded Rectangle 84"/>
          <p:cNvSpPr/>
          <p:nvPr/>
        </p:nvSpPr>
        <p:spPr>
          <a:xfrm>
            <a:off x="11772900" y="2857500"/>
            <a:ext cx="56007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12153900" y="3143250"/>
            <a:ext cx="4953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Roller</a:t>
            </a:r>
            <a:r>
              <a:rPr sz="2550" b="0" i="0">
                <a:solidFill>
                  <a:srgbClr val="F0E8E8"/>
                </a:solidFill>
                <a:latin typeface="Geist"/>
                <a:ea typeface="Geist"/>
                <a:cs typeface="Geist"/>
              </a:rPr>
              <a:t>  feeds</a:t>
            </a:r>
          </a:p>
        </p:txBody>
      </p:sp>
      <p:pic>
        <p:nvPicPr>
          <p:cNvPr id="87" name="Picture 86" descr="controller.png"/>
          <p:cNvPicPr>
            <a:picLocks noChangeAspect="1"/>
          </p:cNvPicPr>
          <p:nvPr/>
        </p:nvPicPr>
        <p:blipFill>
          <a:blip r:embed="rId3"/>
          <a:stretch>
            <a:fillRect/>
          </a:stretch>
        </p:blipFill>
        <p:spPr>
          <a:xfrm>
            <a:off x="12153900" y="3951782"/>
            <a:ext cx="533400" cy="402236"/>
          </a:xfrm>
          <a:prstGeom prst="rect">
            <a:avLst/>
          </a:prstGeom>
        </p:spPr>
      </p:pic>
      <p:sp>
        <p:nvSpPr>
          <p:cNvPr id="88" name="TextBox 87"/>
          <p:cNvSpPr txBox="1"/>
          <p:nvPr/>
        </p:nvSpPr>
        <p:spPr>
          <a:xfrm>
            <a:off x="12858750" y="3867150"/>
            <a:ext cx="4286250" cy="5715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Left bumper  ·  E</a:t>
            </a:r>
          </a:p>
        </p:txBody>
      </p:sp>
      <p:sp>
        <p:nvSpPr>
          <p:cNvPr id="89" name="TextBox 88"/>
          <p:cNvSpPr txBox="1"/>
          <p:nvPr/>
        </p:nvSpPr>
        <p:spPr>
          <a:xfrm>
            <a:off x="12153900" y="4762500"/>
            <a:ext cx="4953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runs at  </a:t>
            </a:r>
            <a:r>
              <a:rPr sz="1800" b="0" i="0">
                <a:solidFill>
                  <a:srgbClr val="E8C27A"/>
                </a:solidFill>
                <a:latin typeface="Geist Mono"/>
                <a:ea typeface="Geist Mono"/>
                <a:cs typeface="Geist Mono"/>
              </a:rPr>
              <a:t>INDEX_DUTY_CYCLE</a:t>
            </a:r>
          </a:p>
        </p:txBody>
      </p:sp>
      <p:sp>
        <p:nvSpPr>
          <p:cNvPr id="90" name="Rounded Rectangle 89"/>
          <p:cNvSpPr/>
          <p:nvPr/>
        </p:nvSpPr>
        <p:spPr>
          <a:xfrm>
            <a:off x="11772900" y="6000750"/>
            <a:ext cx="560070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2153900" y="6286500"/>
            <a:ext cx="4953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Flywheel</a:t>
            </a:r>
            <a:r>
              <a:rPr sz="2550" b="0" i="0">
                <a:solidFill>
                  <a:srgbClr val="F0E8E8"/>
                </a:solidFill>
                <a:latin typeface="Geist"/>
                <a:ea typeface="Geist"/>
                <a:cs typeface="Geist"/>
              </a:rPr>
              <a:t>  launches</a:t>
            </a:r>
          </a:p>
        </p:txBody>
      </p:sp>
      <p:pic>
        <p:nvPicPr>
          <p:cNvPr id="92" name="Picture 91" descr="controller.png"/>
          <p:cNvPicPr>
            <a:picLocks noChangeAspect="1"/>
          </p:cNvPicPr>
          <p:nvPr/>
        </p:nvPicPr>
        <p:blipFill>
          <a:blip r:embed="rId3"/>
          <a:stretch>
            <a:fillRect/>
          </a:stretch>
        </p:blipFill>
        <p:spPr>
          <a:xfrm>
            <a:off x="12153900" y="7095032"/>
            <a:ext cx="533400" cy="402236"/>
          </a:xfrm>
          <a:prstGeom prst="rect">
            <a:avLst/>
          </a:prstGeom>
        </p:spPr>
      </p:pic>
      <p:sp>
        <p:nvSpPr>
          <p:cNvPr id="93" name="TextBox 92"/>
          <p:cNvSpPr txBox="1"/>
          <p:nvPr/>
        </p:nvSpPr>
        <p:spPr>
          <a:xfrm>
            <a:off x="12858750" y="7010400"/>
            <a:ext cx="4286250" cy="5715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Right bumper  ·  U</a:t>
            </a:r>
          </a:p>
        </p:txBody>
      </p:sp>
      <p:sp>
        <p:nvSpPr>
          <p:cNvPr id="94" name="TextBox 93"/>
          <p:cNvSpPr txBox="1"/>
          <p:nvPr/>
        </p:nvSpPr>
        <p:spPr>
          <a:xfrm>
            <a:off x="12153900" y="7905750"/>
            <a:ext cx="4953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runs at  </a:t>
            </a:r>
            <a:r>
              <a:rPr sz="1800" b="0" i="0">
                <a:solidFill>
                  <a:srgbClr val="E8C27A"/>
                </a:solidFill>
                <a:latin typeface="Geist Mono"/>
                <a:ea typeface="Geist Mono"/>
                <a:cs typeface="Geist Mono"/>
              </a:rPr>
              <a:t>SHOOT_DUTY_CYCLE</a:t>
            </a:r>
          </a:p>
        </p:txBody>
      </p:sp>
      <p:sp>
        <p:nvSpPr>
          <p:cNvPr id="95" name="TextBox 9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6" name="TextBox 9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Buttons are true or false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6" name="Rounded Rectangle 5"/>
          <p:cNvSpPr/>
          <p:nvPr/>
        </p:nvSpPr>
        <p:spPr>
          <a:xfrm>
            <a:off x="914400" y="3238500"/>
            <a:ext cx="10668000" cy="3429000"/>
          </a:xfrm>
          <a:prstGeom prst="roundRect">
            <a:avLst>
              <a:gd name="adj" fmla="val 444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000500"/>
            <a:ext cx="10629900" cy="381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000500"/>
            <a:ext cx="57150" cy="381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524500"/>
            <a:ext cx="10629900" cy="381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24500"/>
            <a:ext cx="57150" cy="381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619500"/>
            <a:ext cx="10134600" cy="381000"/>
          </a:xfrm>
          <a:prstGeom prst="rect">
            <a:avLst/>
          </a:prstGeom>
          <a:noFill/>
        </p:spPr>
        <p:txBody>
          <a:bodyPr wrap="square" lIns="0" rIns="0" tIns="0" bIns="0" anchor="ctr">
            <a:spAutoFit/>
          </a:bodyPr>
          <a:lstStyle/>
          <a:p>
            <a:pPr algn="l"/>
            <a:r>
              <a:rPr sz="1875" b="0" i="0">
                <a:solidFill>
                  <a:srgbClr val="E0785F"/>
                </a:solidFill>
                <a:latin typeface="Geist Mono"/>
                <a:ea typeface="Geist Mono"/>
                <a:cs typeface="Geist Mono"/>
              </a:rPr>
              <a:t>public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static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boolean</a:t>
            </a:r>
            <a:r>
              <a:rPr sz="1875" b="0" i="0">
                <a:solidFill>
                  <a:srgbClr val="F0E8E8"/>
                </a:solidFill>
                <a:latin typeface="Geist Mono"/>
                <a:ea typeface="Geist Mono"/>
                <a:cs typeface="Geist Mono"/>
              </a:rPr>
              <a:t> getShootButton() {</a:t>
            </a:r>
          </a:p>
        </p:txBody>
      </p:sp>
      <p:sp>
        <p:nvSpPr>
          <p:cNvPr id="12" name="TextBox 11"/>
          <p:cNvSpPr txBox="1"/>
          <p:nvPr/>
        </p:nvSpPr>
        <p:spPr>
          <a:xfrm>
            <a:off x="1295400" y="4000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return</a:t>
            </a:r>
            <a:r>
              <a:rPr sz="1875" b="0" i="0">
                <a:solidFill>
                  <a:srgbClr val="F0E8E8"/>
                </a:solidFill>
                <a:latin typeface="Geist Mono"/>
                <a:ea typeface="Geist Mono"/>
                <a:cs typeface="Geist Mono"/>
              </a:rPr>
              <a:t> driver_controller_.getRightBumperButton();</a:t>
            </a:r>
          </a:p>
        </p:txBody>
      </p:sp>
      <p:sp>
        <p:nvSpPr>
          <p:cNvPr id="13" name="TextBox 12"/>
          <p:cNvSpPr txBox="1"/>
          <p:nvPr/>
        </p:nvSpPr>
        <p:spPr>
          <a:xfrm>
            <a:off x="1295400" y="4381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a:t>
            </a:r>
          </a:p>
        </p:txBody>
      </p:sp>
      <p:sp>
        <p:nvSpPr>
          <p:cNvPr id="14" name="TextBox 13"/>
          <p:cNvSpPr txBox="1"/>
          <p:nvPr/>
        </p:nvSpPr>
        <p:spPr>
          <a:xfrm>
            <a:off x="1295400" y="4762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p>
        </p:txBody>
      </p:sp>
      <p:sp>
        <p:nvSpPr>
          <p:cNvPr id="15" name="TextBox 14"/>
          <p:cNvSpPr txBox="1"/>
          <p:nvPr/>
        </p:nvSpPr>
        <p:spPr>
          <a:xfrm>
            <a:off x="1295400" y="5143500"/>
            <a:ext cx="10134600" cy="381000"/>
          </a:xfrm>
          <a:prstGeom prst="rect">
            <a:avLst/>
          </a:prstGeom>
          <a:noFill/>
        </p:spPr>
        <p:txBody>
          <a:bodyPr wrap="square" lIns="0" rIns="0" tIns="0" bIns="0" anchor="ctr">
            <a:spAutoFit/>
          </a:bodyPr>
          <a:lstStyle/>
          <a:p>
            <a:pPr algn="l"/>
            <a:r>
              <a:rPr sz="1875" b="0" i="0">
                <a:solidFill>
                  <a:srgbClr val="E0785F"/>
                </a:solidFill>
                <a:latin typeface="Geist Mono"/>
                <a:ea typeface="Geist Mono"/>
                <a:cs typeface="Geist Mono"/>
              </a:rPr>
              <a:t>public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static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boolean</a:t>
            </a:r>
            <a:r>
              <a:rPr sz="1875" b="0" i="0">
                <a:solidFill>
                  <a:srgbClr val="F0E8E8"/>
                </a:solidFill>
                <a:latin typeface="Geist Mono"/>
                <a:ea typeface="Geist Mono"/>
                <a:cs typeface="Geist Mono"/>
              </a:rPr>
              <a:t> getIndexButton() {</a:t>
            </a:r>
          </a:p>
        </p:txBody>
      </p:sp>
      <p:sp>
        <p:nvSpPr>
          <p:cNvPr id="16" name="TextBox 15"/>
          <p:cNvSpPr txBox="1"/>
          <p:nvPr/>
        </p:nvSpPr>
        <p:spPr>
          <a:xfrm>
            <a:off x="1295400" y="5524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return</a:t>
            </a:r>
            <a:r>
              <a:rPr sz="1875" b="0" i="0">
                <a:solidFill>
                  <a:srgbClr val="F0E8E8"/>
                </a:solidFill>
                <a:latin typeface="Geist Mono"/>
                <a:ea typeface="Geist Mono"/>
                <a:cs typeface="Geist Mono"/>
              </a:rPr>
              <a:t> driver_controller_.getLeftBumperButton();</a:t>
            </a:r>
          </a:p>
        </p:txBody>
      </p:sp>
      <p:sp>
        <p:nvSpPr>
          <p:cNvPr id="17" name="TextBox 16"/>
          <p:cNvSpPr txBox="1"/>
          <p:nvPr/>
        </p:nvSpPr>
        <p:spPr>
          <a:xfrm>
            <a:off x="1295400" y="5905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a:t>
            </a:r>
          </a:p>
        </p:txBody>
      </p:sp>
      <p:sp>
        <p:nvSpPr>
          <p:cNvPr id="18" name="Oval 17"/>
          <p:cNvSpPr/>
          <p:nvPr/>
        </p:nvSpPr>
        <p:spPr>
          <a:xfrm>
            <a:off x="10972800" y="3619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0" y="3619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972800" y="4000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0" y="4000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Oval 21"/>
          <p:cNvSpPr/>
          <p:nvPr/>
        </p:nvSpPr>
        <p:spPr>
          <a:xfrm>
            <a:off x="10972800" y="5524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0" y="5524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 name="Oval 23"/>
          <p:cNvSpPr/>
          <p:nvPr/>
        </p:nvSpPr>
        <p:spPr>
          <a:xfrm>
            <a:off x="12096750" y="3238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09675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TextBox 25"/>
          <p:cNvSpPr txBox="1"/>
          <p:nvPr/>
        </p:nvSpPr>
        <p:spPr>
          <a:xfrm>
            <a:off x="12706350" y="3200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boolean</a:t>
            </a:r>
          </a:p>
        </p:txBody>
      </p:sp>
      <p:sp>
        <p:nvSpPr>
          <p:cNvPr id="27" name="TextBox 26"/>
          <p:cNvSpPr txBox="1"/>
          <p:nvPr/>
        </p:nvSpPr>
        <p:spPr>
          <a:xfrm>
            <a:off x="12706350" y="3619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Returns true or false</a:t>
            </a:r>
          </a:p>
        </p:txBody>
      </p:sp>
      <p:sp>
        <p:nvSpPr>
          <p:cNvPr id="28" name="Oval 27"/>
          <p:cNvSpPr/>
          <p:nvPr/>
        </p:nvSpPr>
        <p:spPr>
          <a:xfrm>
            <a:off x="1209675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096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TextBox 29"/>
          <p:cNvSpPr txBox="1"/>
          <p:nvPr/>
        </p:nvSpPr>
        <p:spPr>
          <a:xfrm>
            <a:off x="12706350" y="4819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bumper</a:t>
            </a:r>
          </a:p>
        </p:txBody>
      </p:sp>
      <p:sp>
        <p:nvSpPr>
          <p:cNvPr id="31" name="TextBox 30"/>
          <p:cNvSpPr txBox="1"/>
          <p:nvPr/>
        </p:nvSpPr>
        <p:spPr>
          <a:xfrm>
            <a:off x="12706350" y="5238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Held? true. Shoot</a:t>
            </a:r>
          </a:p>
        </p:txBody>
      </p:sp>
      <p:sp>
        <p:nvSpPr>
          <p:cNvPr id="32" name="Oval 31"/>
          <p:cNvSpPr/>
          <p:nvPr/>
        </p:nvSpPr>
        <p:spPr>
          <a:xfrm>
            <a:off x="1209675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0967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TextBox 33"/>
          <p:cNvSpPr txBox="1"/>
          <p:nvPr/>
        </p:nvSpPr>
        <p:spPr>
          <a:xfrm>
            <a:off x="12706350" y="6438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Left bumper</a:t>
            </a:r>
          </a:p>
        </p:txBody>
      </p:sp>
      <p:sp>
        <p:nvSpPr>
          <p:cNvPr id="35" name="TextBox 34"/>
          <p:cNvSpPr txBox="1"/>
          <p:nvPr/>
        </p:nvSpPr>
        <p:spPr>
          <a:xfrm>
            <a:off x="12706350" y="6858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Held? true. Index</a:t>
            </a:r>
          </a:p>
        </p:txBody>
      </p:sp>
      <p:sp>
        <p:nvSpPr>
          <p:cNvPr id="36" name="Rounded Rectangle 35"/>
          <p:cNvSpPr/>
          <p:nvPr/>
        </p:nvSpPr>
        <p:spPr>
          <a:xfrm>
            <a:off x="914400" y="7239000"/>
            <a:ext cx="3238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00150" y="7239000"/>
            <a:ext cx="13335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held</a:t>
            </a:r>
          </a:p>
        </p:txBody>
      </p:sp>
      <p:sp>
        <p:nvSpPr>
          <p:cNvPr id="38" name="TextBox 37"/>
          <p:cNvSpPr txBox="1"/>
          <p:nvPr/>
        </p:nvSpPr>
        <p:spPr>
          <a:xfrm>
            <a:off x="2533650" y="7239000"/>
            <a:ext cx="1428750" cy="1143000"/>
          </a:xfrm>
          <a:prstGeom prst="rect">
            <a:avLst/>
          </a:prstGeom>
          <a:noFill/>
        </p:spPr>
        <p:txBody>
          <a:bodyPr wrap="square" lIns="0" rIns="0" tIns="0" bIns="0" anchor="ctr">
            <a:spAutoFit/>
          </a:bodyPr>
          <a:lstStyle/>
          <a:p>
            <a:pPr algn="r"/>
            <a:r>
              <a:rPr sz="2400" b="1" i="0">
                <a:solidFill>
                  <a:srgbClr val="198754"/>
                </a:solidFill>
                <a:latin typeface="Geist Mono"/>
                <a:ea typeface="Geist Mono"/>
                <a:cs typeface="Geist Mono"/>
              </a:rPr>
              <a:t>true</a:t>
            </a:r>
          </a:p>
        </p:txBody>
      </p:sp>
      <p:sp>
        <p:nvSpPr>
          <p:cNvPr id="39" name="Rounded Rectangle 38"/>
          <p:cNvSpPr/>
          <p:nvPr/>
        </p:nvSpPr>
        <p:spPr>
          <a:xfrm>
            <a:off x="4533900" y="7239000"/>
            <a:ext cx="3238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819650" y="7239000"/>
            <a:ext cx="13335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not held</a:t>
            </a:r>
          </a:p>
        </p:txBody>
      </p:sp>
      <p:sp>
        <p:nvSpPr>
          <p:cNvPr id="41" name="TextBox 40"/>
          <p:cNvSpPr txBox="1"/>
          <p:nvPr/>
        </p:nvSpPr>
        <p:spPr>
          <a:xfrm>
            <a:off x="6153150" y="7239000"/>
            <a:ext cx="1428750" cy="1143000"/>
          </a:xfrm>
          <a:prstGeom prst="rect">
            <a:avLst/>
          </a:prstGeom>
          <a:noFill/>
        </p:spPr>
        <p:txBody>
          <a:bodyPr wrap="square" lIns="0" rIns="0" tIns="0" bIns="0" anchor="ctr">
            <a:spAutoFit/>
          </a:bodyPr>
          <a:lstStyle/>
          <a:p>
            <a:pPr algn="r"/>
            <a:r>
              <a:rPr sz="2400" b="1" i="0">
                <a:solidFill>
                  <a:srgbClr val="9A7878"/>
                </a:solidFill>
                <a:latin typeface="Geist Mono"/>
                <a:ea typeface="Geist Mono"/>
                <a:cs typeface="Geist Mono"/>
              </a:rPr>
              <a:t>false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shoot button logic</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11239500" cy="4376738"/>
          </a:xfrm>
          <a:prstGeom prst="roundRect">
            <a:avLst>
              <a:gd name="adj" fmla="val 34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567112"/>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56711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3895725"/>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3895725"/>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224338"/>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224338"/>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4552950"/>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4552950"/>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4881562"/>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488156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3238500"/>
            <a:ext cx="1070610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updateLogic(</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timestamp) {</a:t>
            </a:r>
          </a:p>
        </p:txBody>
      </p:sp>
      <p:sp>
        <p:nvSpPr>
          <p:cNvPr id="18" name="TextBox 17"/>
          <p:cNvSpPr txBox="1"/>
          <p:nvPr/>
        </p:nvSpPr>
        <p:spPr>
          <a:xfrm>
            <a:off x="1295400" y="356711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if</a:t>
            </a:r>
            <a:r>
              <a:rPr sz="1725" b="0" i="0">
                <a:solidFill>
                  <a:srgbClr val="F0E8E8"/>
                </a:solidFill>
                <a:latin typeface="Geist Mono"/>
                <a:ea typeface="Geist Mono"/>
                <a:cs typeface="Geist Mono"/>
              </a:rPr>
              <a:t> (OI.getShootButton()) {</a:t>
            </a:r>
          </a:p>
        </p:txBody>
      </p:sp>
      <p:sp>
        <p:nvSpPr>
          <p:cNvPr id="19" name="TextBox 18"/>
          <p:cNvSpPr txBox="1"/>
          <p:nvPr/>
        </p:nvSpPr>
        <p:spPr>
          <a:xfrm>
            <a:off x="1295400" y="389572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flywheel_.setTargetDutyCycle(CONSTANTS.SHOOT_DUTY_CYCLE);</a:t>
            </a:r>
          </a:p>
        </p:txBody>
      </p:sp>
      <p:sp>
        <p:nvSpPr>
          <p:cNvPr id="20" name="TextBox 19"/>
          <p:cNvSpPr txBox="1"/>
          <p:nvPr/>
        </p:nvSpPr>
        <p:spPr>
          <a:xfrm>
            <a:off x="1295400" y="4224338"/>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 </a:t>
            </a:r>
            <a:r>
              <a:rPr sz="1725" b="0" i="0">
                <a:solidFill>
                  <a:srgbClr val="E0785F"/>
                </a:solidFill>
                <a:latin typeface="Geist Mono"/>
                <a:ea typeface="Geist Mono"/>
                <a:cs typeface="Geist Mono"/>
              </a:rPr>
              <a:t>else</a:t>
            </a:r>
            <a:r>
              <a:rPr sz="1725" b="0" i="0">
                <a:solidFill>
                  <a:srgbClr val="F0E8E8"/>
                </a:solidFill>
                <a:latin typeface="Geist Mono"/>
                <a:ea typeface="Geist Mono"/>
                <a:cs typeface="Geist Mono"/>
              </a:rPr>
              <a:t> {</a:t>
            </a:r>
          </a:p>
        </p:txBody>
      </p:sp>
      <p:sp>
        <p:nvSpPr>
          <p:cNvPr id="21" name="TextBox 20"/>
          <p:cNvSpPr txBox="1"/>
          <p:nvPr/>
        </p:nvSpPr>
        <p:spPr>
          <a:xfrm>
            <a:off x="1295400" y="4552950"/>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flywheel_.setTargetDutyCycle(</a:t>
            </a:r>
            <a:r>
              <a:rPr sz="1725" b="0" i="0">
                <a:solidFill>
                  <a:srgbClr val="E8C27A"/>
                </a:solidFill>
                <a:latin typeface="Geist Mono"/>
                <a:ea typeface="Geist Mono"/>
                <a:cs typeface="Geist Mono"/>
              </a:rPr>
              <a:t>0.0</a:t>
            </a:r>
            <a:r>
              <a:rPr sz="1725" b="0" i="0">
                <a:solidFill>
                  <a:srgbClr val="F0E8E8"/>
                </a:solidFill>
                <a:latin typeface="Geist Mono"/>
                <a:ea typeface="Geist Mono"/>
                <a:cs typeface="Geist Mono"/>
              </a:rPr>
              <a:t>);</a:t>
            </a:r>
          </a:p>
        </p:txBody>
      </p:sp>
      <p:sp>
        <p:nvSpPr>
          <p:cNvPr id="22" name="TextBox 21"/>
          <p:cNvSpPr txBox="1"/>
          <p:nvPr/>
        </p:nvSpPr>
        <p:spPr>
          <a:xfrm>
            <a:off x="1295400" y="488156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3" name="TextBox 22"/>
          <p:cNvSpPr txBox="1"/>
          <p:nvPr/>
        </p:nvSpPr>
        <p:spPr>
          <a:xfrm>
            <a:off x="1295400" y="521017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4" name="TextBox 23"/>
          <p:cNvSpPr txBox="1"/>
          <p:nvPr/>
        </p:nvSpPr>
        <p:spPr>
          <a:xfrm>
            <a:off x="1295400" y="5538788"/>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roller_duty =</a:t>
            </a:r>
          </a:p>
        </p:txBody>
      </p:sp>
      <p:sp>
        <p:nvSpPr>
          <p:cNvPr id="25" name="TextBox 24"/>
          <p:cNvSpPr txBox="1"/>
          <p:nvPr/>
        </p:nvSpPr>
        <p:spPr>
          <a:xfrm>
            <a:off x="1295400" y="5867400"/>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OI.getIndexButton() ? CONSTANTS.INDEX_DUTY_CYCLE : </a:t>
            </a:r>
            <a:r>
              <a:rPr sz="1725" b="0" i="0">
                <a:solidFill>
                  <a:srgbClr val="E8C27A"/>
                </a:solidFill>
                <a:latin typeface="Geist Mono"/>
                <a:ea typeface="Geist Mono"/>
                <a:cs typeface="Geist Mono"/>
              </a:rPr>
              <a:t>0.0</a:t>
            </a:r>
            <a:r>
              <a:rPr sz="1725" b="0" i="0">
                <a:solidFill>
                  <a:srgbClr val="F0E8E8"/>
                </a:solidFill>
                <a:latin typeface="Geist Mono"/>
                <a:ea typeface="Geist Mono"/>
                <a:cs typeface="Geist Mono"/>
              </a:rPr>
              <a:t>;</a:t>
            </a:r>
          </a:p>
        </p:txBody>
      </p:sp>
      <p:sp>
        <p:nvSpPr>
          <p:cNvPr id="26" name="TextBox 25"/>
          <p:cNvSpPr txBox="1"/>
          <p:nvPr/>
        </p:nvSpPr>
        <p:spPr>
          <a:xfrm>
            <a:off x="1295400" y="619601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roller_.setTargetDutyCycle(roller_duty);</a:t>
            </a:r>
          </a:p>
        </p:txBody>
      </p:sp>
      <p:sp>
        <p:nvSpPr>
          <p:cNvPr id="27" name="TextBox 26"/>
          <p:cNvSpPr txBox="1"/>
          <p:nvPr/>
        </p:nvSpPr>
        <p:spPr>
          <a:xfrm>
            <a:off x="1295400" y="652462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8" name="Oval 27"/>
          <p:cNvSpPr/>
          <p:nvPr/>
        </p:nvSpPr>
        <p:spPr>
          <a:xfrm>
            <a:off x="11544300" y="35409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544300" y="35409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Oval 29"/>
          <p:cNvSpPr/>
          <p:nvPr/>
        </p:nvSpPr>
        <p:spPr>
          <a:xfrm>
            <a:off x="11544300" y="386953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544300" y="386953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Oval 31"/>
          <p:cNvSpPr/>
          <p:nvPr/>
        </p:nvSpPr>
        <p:spPr>
          <a:xfrm>
            <a:off x="11544300" y="452675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544300" y="4526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Oval 33"/>
          <p:cNvSpPr/>
          <p:nvPr/>
        </p:nvSpPr>
        <p:spPr>
          <a:xfrm>
            <a:off x="11544300" y="584120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544300" y="584120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6" name="Oval 35"/>
          <p:cNvSpPr/>
          <p:nvPr/>
        </p:nvSpPr>
        <p:spPr>
          <a:xfrm>
            <a:off x="125730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5730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8" name="TextBox 37"/>
          <p:cNvSpPr txBox="1"/>
          <p:nvPr/>
        </p:nvSpPr>
        <p:spPr>
          <a:xfrm>
            <a:off x="13182600" y="281940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OI</a:t>
            </a:r>
          </a:p>
        </p:txBody>
      </p:sp>
      <p:sp>
        <p:nvSpPr>
          <p:cNvPr id="39" name="TextBox 38"/>
          <p:cNvSpPr txBox="1"/>
          <p:nvPr/>
        </p:nvSpPr>
        <p:spPr>
          <a:xfrm>
            <a:off x="13182600" y="323850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Is the shoot button held?</a:t>
            </a:r>
          </a:p>
        </p:txBody>
      </p:sp>
      <p:sp>
        <p:nvSpPr>
          <p:cNvPr id="40" name="Oval 39"/>
          <p:cNvSpPr/>
          <p:nvPr/>
        </p:nvSpPr>
        <p:spPr>
          <a:xfrm>
            <a:off x="1257300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5730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2" name="TextBox 41"/>
          <p:cNvSpPr txBox="1"/>
          <p:nvPr/>
        </p:nvSpPr>
        <p:spPr>
          <a:xfrm>
            <a:off x="13182600" y="424815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Yes</a:t>
            </a:r>
          </a:p>
        </p:txBody>
      </p:sp>
      <p:sp>
        <p:nvSpPr>
          <p:cNvPr id="43" name="TextBox 42"/>
          <p:cNvSpPr txBox="1"/>
          <p:nvPr/>
        </p:nvSpPr>
        <p:spPr>
          <a:xfrm>
            <a:off x="13182600" y="466725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 at the shooting power</a:t>
            </a:r>
          </a:p>
        </p:txBody>
      </p:sp>
      <p:sp>
        <p:nvSpPr>
          <p:cNvPr id="44" name="Oval 43"/>
          <p:cNvSpPr/>
          <p:nvPr/>
        </p:nvSpPr>
        <p:spPr>
          <a:xfrm>
            <a:off x="125730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5730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6" name="TextBox 45"/>
          <p:cNvSpPr txBox="1"/>
          <p:nvPr/>
        </p:nvSpPr>
        <p:spPr>
          <a:xfrm>
            <a:off x="13182600" y="567690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a:t>
            </a:r>
          </a:p>
        </p:txBody>
      </p:sp>
      <p:sp>
        <p:nvSpPr>
          <p:cNvPr id="47" name="TextBox 46"/>
          <p:cNvSpPr txBox="1"/>
          <p:nvPr/>
        </p:nvSpPr>
        <p:spPr>
          <a:xfrm>
            <a:off x="13182600" y="609600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0.0: coast to a stop</a:t>
            </a:r>
          </a:p>
        </p:txBody>
      </p:sp>
      <p:sp>
        <p:nvSpPr>
          <p:cNvPr id="48" name="Oval 47"/>
          <p:cNvSpPr/>
          <p:nvPr/>
        </p:nvSpPr>
        <p:spPr>
          <a:xfrm>
            <a:off x="125730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5730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0" name="TextBox 49"/>
          <p:cNvSpPr txBox="1"/>
          <p:nvPr/>
        </p:nvSpPr>
        <p:spPr>
          <a:xfrm>
            <a:off x="13182600" y="710565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Same idea, short</a:t>
            </a:r>
          </a:p>
        </p:txBody>
      </p:sp>
      <p:sp>
        <p:nvSpPr>
          <p:cNvPr id="51" name="TextBox 50"/>
          <p:cNvSpPr txBox="1"/>
          <p:nvPr/>
        </p:nvSpPr>
        <p:spPr>
          <a:xfrm>
            <a:off x="13182600" y="752475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picks the first value if true</a:t>
            </a:r>
          </a:p>
        </p:txBody>
      </p:sp>
      <p:sp>
        <p:nvSpPr>
          <p:cNvPr id="52" name="Rounded Rectangle 5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exclamation-circle.png"/>
          <p:cNvPicPr>
            <a:picLocks noChangeAspect="1"/>
          </p:cNvPicPr>
          <p:nvPr/>
        </p:nvPicPr>
        <p:blipFill>
          <a:blip r:embed="rId3"/>
          <a:stretch>
            <a:fillRect/>
          </a:stretch>
        </p:blipFill>
        <p:spPr>
          <a:xfrm>
            <a:off x="1333500" y="8353425"/>
            <a:ext cx="533400" cy="533400"/>
          </a:xfrm>
          <a:prstGeom prst="rect">
            <a:avLst/>
          </a:prstGeom>
        </p:spPr>
      </p:pic>
      <p:sp>
        <p:nvSpPr>
          <p:cNvPr id="54" name="TextBox 53"/>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Forget the else?  </a:t>
            </a:r>
            <a:r>
              <a:rPr sz="2100" b="0" i="0">
                <a:solidFill>
                  <a:srgbClr val="F0E8E8"/>
                </a:solidFill>
                <a:latin typeface="Geist"/>
                <a:ea typeface="Geist"/>
                <a:cs typeface="Geist"/>
              </a:rPr>
              <a:t>The last order sticks. The flywheel never stops.</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Watching the flywheel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4900" y="3105150"/>
            <a:ext cx="10477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true</a:t>
            </a:r>
          </a:p>
        </p:txBody>
      </p:sp>
      <p:sp>
        <p:nvSpPr>
          <p:cNvPr id="7" name="TextBox 6"/>
          <p:cNvSpPr txBox="1"/>
          <p:nvPr/>
        </p:nvSpPr>
        <p:spPr>
          <a:xfrm>
            <a:off x="1104900" y="3562350"/>
            <a:ext cx="10477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false</a:t>
            </a:r>
          </a:p>
        </p:txBody>
      </p:sp>
      <p:sp>
        <p:nvSpPr>
          <p:cNvPr id="8" name="Rectangle 7"/>
          <p:cNvSpPr/>
          <p:nvPr/>
        </p:nvSpPr>
        <p:spPr>
          <a:xfrm>
            <a:off x="2166938" y="3786188"/>
            <a:ext cx="1178719" cy="4762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98031" y="3119438"/>
            <a:ext cx="47625" cy="71437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98031" y="3119438"/>
            <a:ext cx="4572000" cy="4762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822406" y="3119438"/>
            <a:ext cx="47625" cy="71437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822406" y="3786188"/>
            <a:ext cx="3440906" cy="4762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17094" y="2838450"/>
            <a:ext cx="3810000" cy="285750"/>
          </a:xfrm>
          <a:prstGeom prst="rect">
            <a:avLst/>
          </a:prstGeom>
          <a:noFill/>
        </p:spPr>
        <p:txBody>
          <a:bodyPr wrap="square" lIns="0" rIns="0" tIns="0" bIns="0" anchor="t">
            <a:spAutoFit/>
          </a:bodyPr>
          <a:lstStyle/>
          <a:p>
            <a:pPr algn="l"/>
            <a:r>
              <a:rPr sz="1500" b="0" i="0">
                <a:solidFill>
                  <a:srgbClr val="E05540"/>
                </a:solidFill>
                <a:latin typeface="Geist"/>
                <a:ea typeface="Geist"/>
                <a:cs typeface="Geist"/>
              </a:rPr>
              <a:t>shoot button</a:t>
            </a:r>
          </a:p>
        </p:txBody>
      </p:sp>
      <p:sp>
        <p:nvSpPr>
          <p:cNvPr id="14" name="Rectangle 13"/>
          <p:cNvSpPr/>
          <p:nvPr/>
        </p:nvSpPr>
        <p:spPr>
          <a:xfrm>
            <a:off x="2181225" y="7991475"/>
            <a:ext cx="90678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8250" y="78581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16" name="Rectangle 15"/>
          <p:cNvSpPr/>
          <p:nvPr/>
        </p:nvSpPr>
        <p:spPr>
          <a:xfrm>
            <a:off x="2181225" y="7110412"/>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38250" y="6977062"/>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8" name="Rectangle 17"/>
          <p:cNvSpPr/>
          <p:nvPr/>
        </p:nvSpPr>
        <p:spPr>
          <a:xfrm>
            <a:off x="2181225" y="6229350"/>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38250" y="6096000"/>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20" name="Rectangle 19"/>
          <p:cNvSpPr/>
          <p:nvPr/>
        </p:nvSpPr>
        <p:spPr>
          <a:xfrm>
            <a:off x="2181225" y="5348288"/>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8250" y="5214938"/>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22" name="Rectangle 21"/>
          <p:cNvSpPr/>
          <p:nvPr/>
        </p:nvSpPr>
        <p:spPr>
          <a:xfrm>
            <a:off x="2181225" y="4467225"/>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38250" y="433387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400</a:t>
            </a:r>
          </a:p>
        </p:txBody>
      </p:sp>
      <p:sp>
        <p:nvSpPr>
          <p:cNvPr id="24" name="TextBox 23"/>
          <p:cNvSpPr txBox="1"/>
          <p:nvPr/>
        </p:nvSpPr>
        <p:spPr>
          <a:xfrm>
            <a:off x="180975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5" name="TextBox 24"/>
          <p:cNvSpPr txBox="1"/>
          <p:nvPr/>
        </p:nvSpPr>
        <p:spPr>
          <a:xfrm>
            <a:off x="4071938"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6" name="TextBox 25"/>
          <p:cNvSpPr txBox="1"/>
          <p:nvPr/>
        </p:nvSpPr>
        <p:spPr>
          <a:xfrm>
            <a:off x="6334125"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7" name="TextBox 26"/>
          <p:cNvSpPr txBox="1"/>
          <p:nvPr/>
        </p:nvSpPr>
        <p:spPr>
          <a:xfrm>
            <a:off x="8596312"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28" name="TextBox 27"/>
          <p:cNvSpPr txBox="1"/>
          <p:nvPr/>
        </p:nvSpPr>
        <p:spPr>
          <a:xfrm>
            <a:off x="1085850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 s</a:t>
            </a:r>
          </a:p>
        </p:txBody>
      </p:sp>
      <p:sp>
        <p:nvSpPr>
          <p:cNvPr id="29" name="TextBox 28"/>
          <p:cNvSpPr txBox="1"/>
          <p:nvPr/>
        </p:nvSpPr>
        <p:spPr>
          <a:xfrm>
            <a:off x="1104900" y="400050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rad/s</a:t>
            </a:r>
          </a:p>
        </p:txBody>
      </p:sp>
      <p:sp>
        <p:nvSpPr>
          <p:cNvPr id="30" name="Rectangle 29"/>
          <p:cNvSpPr/>
          <p:nvPr/>
        </p:nvSpPr>
        <p:spPr>
          <a:xfrm>
            <a:off x="2162175"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218730"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275284"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331839"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388394"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444948"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501503"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558058"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614612"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671167"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727722"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2784277"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2840831"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2897386"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2953941"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010495"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3067050"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3123605"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3180159"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3236714"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0" name="Connector 49"/>
          <p:cNvCxnSpPr/>
          <p:nvPr/>
        </p:nvCxnSpPr>
        <p:spPr>
          <a:xfrm flipV="1">
            <a:off x="3321844" y="7782618"/>
            <a:ext cx="56554" cy="2183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378398" y="7581696"/>
            <a:ext cx="56555" cy="2009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434953" y="7396840"/>
            <a:ext cx="56555" cy="1848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491508" y="7226764"/>
            <a:ext cx="56554" cy="1700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548062" y="7070286"/>
            <a:ext cx="56555" cy="15647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604617" y="6926320"/>
            <a:ext cx="56555" cy="1439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661172" y="6793864"/>
            <a:ext cx="56555" cy="1324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717727" y="6671999"/>
            <a:ext cx="56554" cy="1218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774281" y="6559878"/>
            <a:ext cx="56555" cy="1121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830836" y="6456722"/>
            <a:ext cx="56555" cy="1031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887391" y="6361813"/>
            <a:ext cx="56554" cy="949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943945" y="6274493"/>
            <a:ext cx="56555" cy="873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000500" y="6194155"/>
            <a:ext cx="56555" cy="803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057055" y="6120240"/>
            <a:ext cx="56554" cy="739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13609" y="6052235"/>
            <a:ext cx="56555" cy="680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170164" y="5989667"/>
            <a:ext cx="56555" cy="625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226719" y="5932103"/>
            <a:ext cx="56554" cy="575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283273" y="5879140"/>
            <a:ext cx="56555" cy="529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339828" y="5830413"/>
            <a:ext cx="56555" cy="487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396383" y="5785581"/>
            <a:ext cx="56555" cy="448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452938" y="5744334"/>
            <a:ext cx="56554" cy="412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509492" y="5706385"/>
            <a:ext cx="56555" cy="3794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66047" y="5671470"/>
            <a:ext cx="56555" cy="349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622602" y="5639347"/>
            <a:ext cx="56554" cy="321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679156" y="5609792"/>
            <a:ext cx="56555" cy="295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735711" y="5582600"/>
            <a:ext cx="56555" cy="271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792266" y="5557582"/>
            <a:ext cx="56554" cy="250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848820" y="5534565"/>
            <a:ext cx="56555" cy="230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905375" y="5513388"/>
            <a:ext cx="56555" cy="211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4961930" y="5493904"/>
            <a:ext cx="56554" cy="194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018484" y="5475979"/>
            <a:ext cx="56555" cy="1792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075039" y="5459486"/>
            <a:ext cx="56555" cy="164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131594" y="5444312"/>
            <a:ext cx="56554" cy="151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188148" y="5430351"/>
            <a:ext cx="56555" cy="139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244703" y="5417507"/>
            <a:ext cx="56555" cy="128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301258" y="5405689"/>
            <a:ext cx="56554" cy="118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357812" y="5394817"/>
            <a:ext cx="56555" cy="108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5414367" y="5384813"/>
            <a:ext cx="56555" cy="100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470922" y="5375610"/>
            <a:ext cx="56555" cy="92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5527477" y="5367142"/>
            <a:ext cx="56554" cy="84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584031" y="5359352"/>
            <a:ext cx="56555" cy="77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640586" y="5352184"/>
            <a:ext cx="56555" cy="71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5697141" y="5345590"/>
            <a:ext cx="56554" cy="65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753695" y="5339522"/>
            <a:ext cx="56555" cy="60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810250" y="5333940"/>
            <a:ext cx="56555" cy="55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866805" y="5328804"/>
            <a:ext cx="56554" cy="51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5894784" y="530022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5951339" y="529550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6007894" y="529115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6064448" y="528715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6121003" y="528347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6177558" y="5280091"/>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6234112" y="5276976"/>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6290667" y="527411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6347222" y="527147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6403777" y="526904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6460331" y="526681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516886" y="526476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573441" y="526287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629995" y="526113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686550" y="525953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743105" y="525806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799659" y="525670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856214" y="525546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912769" y="5254318"/>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969323" y="525326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7025878" y="525229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082433" y="5251401"/>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7138988" y="525058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7195542" y="524982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7252097" y="524912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7308652" y="524849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7365206" y="5247901"/>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7421761" y="524736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7478316" y="524686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7534870" y="524640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7591425" y="524598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7647980" y="524559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7704534" y="5245238"/>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7761089" y="524490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0" name="Connector 129"/>
          <p:cNvCxnSpPr/>
          <p:nvPr/>
        </p:nvCxnSpPr>
        <p:spPr>
          <a:xfrm>
            <a:off x="7846219" y="5273188"/>
            <a:ext cx="56554" cy="839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7902773" y="5357114"/>
            <a:ext cx="56555" cy="813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7959328" y="5438458"/>
            <a:ext cx="56555" cy="788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8015883" y="5517299"/>
            <a:ext cx="56555" cy="764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8072438" y="5593714"/>
            <a:ext cx="56554" cy="740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8128992" y="5667779"/>
            <a:ext cx="56555" cy="717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8185547" y="5739564"/>
            <a:ext cx="56555" cy="695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8242102" y="5809141"/>
            <a:ext cx="56554" cy="674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8298656" y="5876578"/>
            <a:ext cx="56555" cy="653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8355211" y="5941939"/>
            <a:ext cx="56555" cy="633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8411766" y="6005290"/>
            <a:ext cx="56554" cy="614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468320" y="6066692"/>
            <a:ext cx="56555" cy="595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8524875" y="6126204"/>
            <a:ext cx="56555" cy="576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8581430" y="6183885"/>
            <a:ext cx="56554" cy="559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637984" y="6239792"/>
            <a:ext cx="56555" cy="541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8694539" y="6293979"/>
            <a:ext cx="56555" cy="525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8751094" y="6346498"/>
            <a:ext cx="56554" cy="509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8807648" y="6397402"/>
            <a:ext cx="56555" cy="493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864203" y="6446740"/>
            <a:ext cx="56555" cy="478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8920758" y="6494559"/>
            <a:ext cx="56554" cy="463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8977312" y="6540907"/>
            <a:ext cx="56555" cy="449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9033867" y="6585830"/>
            <a:ext cx="56555" cy="4354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9090422" y="6629370"/>
            <a:ext cx="56555" cy="422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9146977" y="6671571"/>
            <a:ext cx="56554" cy="409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9203531" y="6712473"/>
            <a:ext cx="56555" cy="396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9260086" y="6752117"/>
            <a:ext cx="56555" cy="384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9316641" y="6790541"/>
            <a:ext cx="56554" cy="372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9373195" y="6827783"/>
            <a:ext cx="56555" cy="360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9429750" y="6863879"/>
            <a:ext cx="56555" cy="349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9486305" y="6898864"/>
            <a:ext cx="56554" cy="339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9542859" y="6932773"/>
            <a:ext cx="56555" cy="328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9599414" y="6965639"/>
            <a:ext cx="56555" cy="318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9655969" y="6997494"/>
            <a:ext cx="56554" cy="3087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9712523" y="7028369"/>
            <a:ext cx="56555" cy="299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9769078" y="7058293"/>
            <a:ext cx="56555" cy="290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9825633" y="7087297"/>
            <a:ext cx="56555" cy="281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9882188" y="7115409"/>
            <a:ext cx="56554" cy="272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9938742" y="7142656"/>
            <a:ext cx="56555" cy="264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9995297" y="7169064"/>
            <a:ext cx="56555" cy="255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10051852" y="7194660"/>
            <a:ext cx="56554" cy="248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10108406" y="7219469"/>
            <a:ext cx="56555" cy="240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10164961" y="7243514"/>
            <a:ext cx="56555" cy="233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10221516" y="7266819"/>
            <a:ext cx="56554" cy="225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10278070" y="7289408"/>
            <a:ext cx="56555" cy="218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10334625" y="7311301"/>
            <a:ext cx="56555" cy="212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10391180" y="7332521"/>
            <a:ext cx="56554" cy="205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10447734" y="7353088"/>
            <a:ext cx="56555" cy="199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10504289" y="7373022"/>
            <a:ext cx="56555" cy="193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10560844" y="7392343"/>
            <a:ext cx="56554" cy="187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10617398" y="7411069"/>
            <a:ext cx="56555" cy="181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10673953" y="7429220"/>
            <a:ext cx="56555" cy="175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10730508" y="7446811"/>
            <a:ext cx="56554" cy="170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10787062" y="7463862"/>
            <a:ext cx="56555" cy="165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10843617" y="7480388"/>
            <a:ext cx="56555" cy="160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900172" y="7496406"/>
            <a:ext cx="56555" cy="155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0956727" y="7511930"/>
            <a:ext cx="56554" cy="150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1013281" y="7526977"/>
            <a:ext cx="56555" cy="145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1069836" y="7541561"/>
            <a:ext cx="56555" cy="141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1126391" y="7555697"/>
            <a:ext cx="56554" cy="1370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1182945" y="7569397"/>
            <a:ext cx="56555" cy="1327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90" name="Rectangle 189"/>
          <p:cNvSpPr/>
          <p:nvPr/>
        </p:nvSpPr>
        <p:spPr>
          <a:xfrm>
            <a:off x="3312319" y="3800475"/>
            <a:ext cx="19050" cy="4210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Rectangle 190"/>
          <p:cNvSpPr/>
          <p:nvPr/>
        </p:nvSpPr>
        <p:spPr>
          <a:xfrm>
            <a:off x="7836694" y="3800475"/>
            <a:ext cx="19050" cy="4210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Oval 191"/>
          <p:cNvSpPr/>
          <p:nvPr/>
        </p:nvSpPr>
        <p:spPr>
          <a:xfrm>
            <a:off x="4038600" y="608399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4038600" y="608399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4" name="Oval 193"/>
          <p:cNvSpPr/>
          <p:nvPr/>
        </p:nvSpPr>
        <p:spPr>
          <a:xfrm>
            <a:off x="6072188" y="475310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072188" y="475310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6" name="Oval 195"/>
          <p:cNvSpPr/>
          <p:nvPr/>
        </p:nvSpPr>
        <p:spPr>
          <a:xfrm>
            <a:off x="8786812" y="5988457"/>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8786812" y="598845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98" name="TextBox 197"/>
          <p:cNvSpPr txBox="1"/>
          <p:nvPr/>
        </p:nvSpPr>
        <p:spPr>
          <a:xfrm>
            <a:off x="2190750" y="8477250"/>
            <a:ext cx="5715000" cy="285750"/>
          </a:xfrm>
          <a:prstGeom prst="rect">
            <a:avLst/>
          </a:prstGeom>
          <a:noFill/>
        </p:spPr>
        <p:txBody>
          <a:bodyPr wrap="square" lIns="0" rIns="0" tIns="0" bIns="0" anchor="t">
            <a:spAutoFit/>
          </a:bodyPr>
          <a:lstStyle/>
          <a:p>
            <a:pPr algn="l"/>
            <a:r>
              <a:rPr sz="1500" b="0" i="0">
                <a:solidFill>
                  <a:srgbClr val="CC2200"/>
                </a:solidFill>
                <a:latin typeface="Geist Mono"/>
                <a:ea typeface="Geist Mono"/>
                <a:cs typeface="Geist Mono"/>
              </a:rPr>
              <a:t>Subsystem/Shooter/FlywheelVelocity</a:t>
            </a:r>
          </a:p>
        </p:txBody>
      </p:sp>
      <p:sp>
        <p:nvSpPr>
          <p:cNvPr id="199" name="Oval 198"/>
          <p:cNvSpPr/>
          <p:nvPr/>
        </p:nvSpPr>
        <p:spPr>
          <a:xfrm>
            <a:off x="12287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2287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1" name="TextBox 200"/>
          <p:cNvSpPr txBox="1"/>
          <p:nvPr/>
        </p:nvSpPr>
        <p:spPr>
          <a:xfrm>
            <a:off x="12896850" y="3009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Spins up</a:t>
            </a:r>
          </a:p>
        </p:txBody>
      </p:sp>
      <p:sp>
        <p:nvSpPr>
          <p:cNvPr id="202" name="TextBox 201"/>
          <p:cNvSpPr txBox="1"/>
          <p:nvPr/>
        </p:nvSpPr>
        <p:spPr>
          <a:xfrm>
            <a:off x="12896850" y="3429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 down: half power on</a:t>
            </a:r>
          </a:p>
        </p:txBody>
      </p:sp>
      <p:sp>
        <p:nvSpPr>
          <p:cNvPr id="203" name="Oval 202"/>
          <p:cNvSpPr/>
          <p:nvPr/>
        </p:nvSpPr>
        <p:spPr>
          <a:xfrm>
            <a:off x="1228725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12287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5" name="TextBox 204"/>
          <p:cNvSpPr txBox="1"/>
          <p:nvPr/>
        </p:nvSpPr>
        <p:spPr>
          <a:xfrm>
            <a:off x="12896850" y="4629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Levels off</a:t>
            </a:r>
          </a:p>
        </p:txBody>
      </p:sp>
      <p:sp>
        <p:nvSpPr>
          <p:cNvPr id="206" name="TextBox 205"/>
          <p:cNvSpPr txBox="1"/>
          <p:nvPr/>
        </p:nvSpPr>
        <p:spPr>
          <a:xfrm>
            <a:off x="12896850" y="5048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300 rad/s at 0.5</a:t>
            </a:r>
          </a:p>
        </p:txBody>
      </p:sp>
      <p:sp>
        <p:nvSpPr>
          <p:cNvPr id="207" name="Oval 206"/>
          <p:cNvSpPr/>
          <p:nvPr/>
        </p:nvSpPr>
        <p:spPr>
          <a:xfrm>
            <a:off x="12287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2287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09" name="TextBox 208"/>
          <p:cNvSpPr txBox="1"/>
          <p:nvPr/>
        </p:nvSpPr>
        <p:spPr>
          <a:xfrm>
            <a:off x="12896850" y="6248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Coasts down</a:t>
            </a:r>
          </a:p>
        </p:txBody>
      </p:sp>
      <p:sp>
        <p:nvSpPr>
          <p:cNvPr id="210" name="TextBox 209"/>
          <p:cNvSpPr txBox="1"/>
          <p:nvPr/>
        </p:nvSpPr>
        <p:spPr>
          <a:xfrm>
            <a:off x="12896850" y="6667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 up: the order is 0.0</a:t>
            </a:r>
          </a:p>
        </p:txBody>
      </p:sp>
      <p:sp>
        <p:nvSpPr>
          <p:cNvPr id="211" name="TextBox 21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2" name="TextBox 21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Nothing happens? Check the two lists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1238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1. getIos lists every mechanism</a:t>
            </a:r>
          </a:p>
        </p:txBody>
      </p:sp>
      <p:sp>
        <p:nvSpPr>
          <p:cNvPr id="6" name="TextBox 5"/>
          <p:cNvSpPr txBox="1"/>
          <p:nvPr/>
        </p:nvSpPr>
        <p:spPr>
          <a:xfrm>
            <a:off x="914400" y="3295650"/>
            <a:ext cx="12382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7" name="Rounded Rectangle 6"/>
          <p:cNvSpPr/>
          <p:nvPr/>
        </p:nvSpPr>
        <p:spPr>
          <a:xfrm>
            <a:off x="914400" y="3714750"/>
            <a:ext cx="12382500" cy="1977390"/>
          </a:xfrm>
          <a:prstGeom prst="roundRect">
            <a:avLst>
              <a:gd name="adj" fmla="val 77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703445"/>
            <a:ext cx="12344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703445"/>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095750"/>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@Override</a:t>
            </a:r>
          </a:p>
        </p:txBody>
      </p:sp>
      <p:sp>
        <p:nvSpPr>
          <p:cNvPr id="11" name="TextBox 10"/>
          <p:cNvSpPr txBox="1"/>
          <p:nvPr/>
        </p:nvSpPr>
        <p:spPr>
          <a:xfrm>
            <a:off x="1295400" y="4399598"/>
            <a:ext cx="11849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List&lt;SubsystemIoBase&gt; getIos() {</a:t>
            </a:r>
          </a:p>
        </p:txBody>
      </p:sp>
      <p:sp>
        <p:nvSpPr>
          <p:cNvPr id="12" name="TextBox 11"/>
          <p:cNvSpPr txBox="1"/>
          <p:nvPr/>
        </p:nvSpPr>
        <p:spPr>
          <a:xfrm>
            <a:off x="1295400" y="4703445"/>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List.of(flywheel_, roller_);</a:t>
            </a:r>
          </a:p>
        </p:txBody>
      </p:sp>
      <p:sp>
        <p:nvSpPr>
          <p:cNvPr id="13" name="TextBox 12"/>
          <p:cNvSpPr txBox="1"/>
          <p:nvPr/>
        </p:nvSpPr>
        <p:spPr>
          <a:xfrm>
            <a:off x="1295400" y="5007292"/>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4" name="TextBox 13"/>
          <p:cNvSpPr txBox="1"/>
          <p:nvPr/>
        </p:nvSpPr>
        <p:spPr>
          <a:xfrm>
            <a:off x="13525500" y="3810000"/>
            <a:ext cx="38100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Left off the list: that mechanism never moves.</a:t>
            </a:r>
          </a:p>
        </p:txBody>
      </p:sp>
      <p:sp>
        <p:nvSpPr>
          <p:cNvPr id="15" name="TextBox 14"/>
          <p:cNvSpPr txBox="1"/>
          <p:nvPr/>
        </p:nvSpPr>
        <p:spPr>
          <a:xfrm>
            <a:off x="914400" y="6000750"/>
            <a:ext cx="1238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2. RobotContainer registers it</a:t>
            </a:r>
          </a:p>
        </p:txBody>
      </p:sp>
      <p:sp>
        <p:nvSpPr>
          <p:cNvPr id="16" name="TextBox 15"/>
          <p:cNvSpPr txBox="1"/>
          <p:nvPr/>
        </p:nvSpPr>
        <p:spPr>
          <a:xfrm>
            <a:off x="914400" y="6534150"/>
            <a:ext cx="12382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RobotContainer.java</a:t>
            </a:r>
          </a:p>
        </p:txBody>
      </p:sp>
      <p:sp>
        <p:nvSpPr>
          <p:cNvPr id="17" name="Rounded Rectangle 16"/>
          <p:cNvSpPr/>
          <p:nvPr/>
        </p:nvSpPr>
        <p:spPr>
          <a:xfrm>
            <a:off x="914400" y="6953250"/>
            <a:ext cx="12382500" cy="2281238"/>
          </a:xfrm>
          <a:prstGeom prst="roundRect">
            <a:avLst>
              <a:gd name="adj" fmla="val 66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8245792"/>
            <a:ext cx="12344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8245792"/>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95400" y="7334250"/>
            <a:ext cx="11849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RobotContainer() {</a:t>
            </a:r>
          </a:p>
        </p:txBody>
      </p:sp>
      <p:sp>
        <p:nvSpPr>
          <p:cNvPr id="21" name="TextBox 20"/>
          <p:cNvSpPr txBox="1"/>
          <p:nvPr/>
        </p:nvSpPr>
        <p:spPr>
          <a:xfrm>
            <a:off x="1295400" y="7638098"/>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super(BuildConstants.</a:t>
            </a:r>
            <a:r>
              <a:rPr sz="1650" b="0" i="0">
                <a:solidFill>
                  <a:srgbClr val="E0785F"/>
                </a:solidFill>
                <a:latin typeface="Geist Mono"/>
                <a:ea typeface="Geist Mono"/>
                <a:cs typeface="Geist Mono"/>
              </a:rPr>
              <a:t>class</a:t>
            </a:r>
            <a:r>
              <a:rPr sz="1650" b="0" i="0">
                <a:solidFill>
                  <a:srgbClr val="F0E8E8"/>
                </a:solidFill>
                <a:latin typeface="Geist Mono"/>
                <a:ea typeface="Geist Mono"/>
                <a:cs typeface="Geist Mono"/>
              </a:rPr>
              <a:t>);</a:t>
            </a:r>
          </a:p>
        </p:txBody>
      </p:sp>
      <p:sp>
        <p:nvSpPr>
          <p:cNvPr id="22" name="TextBox 21"/>
          <p:cNvSpPr txBox="1"/>
          <p:nvPr/>
        </p:nvSpPr>
        <p:spPr>
          <a:xfrm>
            <a:off x="1295400" y="7941945"/>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registerSubsystem(DrivetrainSubsystem.getInstance());</a:t>
            </a:r>
          </a:p>
        </p:txBody>
      </p:sp>
      <p:sp>
        <p:nvSpPr>
          <p:cNvPr id="23" name="TextBox 22"/>
          <p:cNvSpPr txBox="1"/>
          <p:nvPr/>
        </p:nvSpPr>
        <p:spPr>
          <a:xfrm>
            <a:off x="1295400" y="8245792"/>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registerSubsystem(ShooterSubsystem.getInstance());</a:t>
            </a:r>
          </a:p>
        </p:txBody>
      </p:sp>
      <p:sp>
        <p:nvSpPr>
          <p:cNvPr id="24" name="TextBox 23"/>
          <p:cNvSpPr txBox="1"/>
          <p:nvPr/>
        </p:nvSpPr>
        <p:spPr>
          <a:xfrm>
            <a:off x="1295400" y="8549640"/>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5" name="TextBox 24"/>
          <p:cNvSpPr txBox="1"/>
          <p:nvPr/>
        </p:nvSpPr>
        <p:spPr>
          <a:xfrm>
            <a:off x="13525500" y="7048500"/>
            <a:ext cx="38100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Not registered: the subsystem never runs at all.</a:t>
            </a:r>
          </a:p>
        </p:txBody>
      </p:sp>
      <p:pic>
        <p:nvPicPr>
          <p:cNvPr id="26" name="Picture 25" descr="dozer_wide_left.png"/>
          <p:cNvPicPr>
            <a:picLocks noChangeAspect="1"/>
          </p:cNvPicPr>
          <p:nvPr/>
        </p:nvPicPr>
        <p:blipFill>
          <a:blip r:embed="rId3"/>
          <a:stretch>
            <a:fillRect/>
          </a:stretch>
        </p:blipFill>
        <p:spPr>
          <a:xfrm>
            <a:off x="15240000" y="4762500"/>
            <a:ext cx="2000250" cy="1229441"/>
          </a:xfrm>
          <a:prstGeom prst="rect">
            <a:avLst/>
          </a:prstGeom>
        </p:spPr>
      </p:pic>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Bonus: you pick a power, not a speed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81225" y="7991475"/>
            <a:ext cx="79248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38250" y="78581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81225" y="7311118"/>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8250" y="7177768"/>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81225" y="6630761"/>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8250" y="6497411"/>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81225" y="5950404"/>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38250" y="5817054"/>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81225" y="5270046"/>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8250" y="5136696"/>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400</a:t>
            </a:r>
          </a:p>
        </p:txBody>
      </p:sp>
      <p:sp>
        <p:nvSpPr>
          <p:cNvPr id="16" name="Rectangle 15"/>
          <p:cNvSpPr/>
          <p:nvPr/>
        </p:nvSpPr>
        <p:spPr>
          <a:xfrm>
            <a:off x="2181225" y="4589689"/>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38250" y="4456339"/>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500</a:t>
            </a:r>
          </a:p>
        </p:txBody>
      </p:sp>
      <p:sp>
        <p:nvSpPr>
          <p:cNvPr id="18" name="Rectangle 17"/>
          <p:cNvSpPr/>
          <p:nvPr/>
        </p:nvSpPr>
        <p:spPr>
          <a:xfrm>
            <a:off x="2181225" y="3909332"/>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38250" y="3775982"/>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600</a:t>
            </a:r>
          </a:p>
        </p:txBody>
      </p:sp>
      <p:sp>
        <p:nvSpPr>
          <p:cNvPr id="20" name="Rectangle 19"/>
          <p:cNvSpPr/>
          <p:nvPr/>
        </p:nvSpPr>
        <p:spPr>
          <a:xfrm>
            <a:off x="2181225" y="3228975"/>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8250" y="30956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700</a:t>
            </a:r>
          </a:p>
        </p:txBody>
      </p:sp>
      <p:sp>
        <p:nvSpPr>
          <p:cNvPr id="22" name="TextBox 21"/>
          <p:cNvSpPr txBox="1"/>
          <p:nvPr/>
        </p:nvSpPr>
        <p:spPr>
          <a:xfrm>
            <a:off x="180975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3" name="TextBox 22"/>
          <p:cNvSpPr txBox="1"/>
          <p:nvPr/>
        </p:nvSpPr>
        <p:spPr>
          <a:xfrm>
            <a:off x="3786188"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24" name="TextBox 23"/>
          <p:cNvSpPr txBox="1"/>
          <p:nvPr/>
        </p:nvSpPr>
        <p:spPr>
          <a:xfrm>
            <a:off x="5762625"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5" name="TextBox 24"/>
          <p:cNvSpPr txBox="1"/>
          <p:nvPr/>
        </p:nvSpPr>
        <p:spPr>
          <a:xfrm>
            <a:off x="7739062"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26" name="TextBox 25"/>
          <p:cNvSpPr txBox="1"/>
          <p:nvPr/>
        </p:nvSpPr>
        <p:spPr>
          <a:xfrm>
            <a:off x="971550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7" name="TextBox 26"/>
          <p:cNvSpPr txBox="1"/>
          <p:nvPr/>
        </p:nvSpPr>
        <p:spPr>
          <a:xfrm>
            <a:off x="1104900" y="281940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rad/s</a:t>
            </a:r>
          </a:p>
        </p:txBody>
      </p:sp>
      <p:cxnSp>
        <p:nvCxnSpPr>
          <p:cNvPr id="28" name="Connector 27"/>
          <p:cNvCxnSpPr/>
          <p:nvPr/>
        </p:nvCxnSpPr>
        <p:spPr>
          <a:xfrm flipV="1">
            <a:off x="2190750" y="7899819"/>
            <a:ext cx="98822" cy="1011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289572" y="7806728"/>
            <a:ext cx="98822" cy="930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388394" y="7721080"/>
            <a:ext cx="98822" cy="856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487216" y="7642280"/>
            <a:ext cx="98822" cy="788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586038" y="7569781"/>
            <a:ext cx="98821" cy="724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684859" y="7503079"/>
            <a:ext cx="98822" cy="667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783681" y="7441709"/>
            <a:ext cx="98822" cy="613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882503" y="7385247"/>
            <a:ext cx="98822" cy="564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981325" y="7333299"/>
            <a:ext cx="98822" cy="519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080147" y="7285504"/>
            <a:ext cx="98822" cy="477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178969" y="7241531"/>
            <a:ext cx="98822" cy="43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277791" y="7201074"/>
            <a:ext cx="98821" cy="4045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376612" y="7163852"/>
            <a:ext cx="98822" cy="372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475434" y="7129605"/>
            <a:ext cx="98822" cy="342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574256" y="7098097"/>
            <a:ext cx="98822" cy="315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73078" y="7069108"/>
            <a:ext cx="98822" cy="289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71900" y="7042437"/>
            <a:ext cx="98822" cy="266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70722" y="7017899"/>
            <a:ext cx="98822" cy="245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969544" y="6995322"/>
            <a:ext cx="98822" cy="225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068366" y="6974551"/>
            <a:ext cx="98822" cy="207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167188" y="6955440"/>
            <a:ext cx="98821" cy="191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66009" y="6937858"/>
            <a:ext cx="98822" cy="175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364831" y="6921681"/>
            <a:ext cx="98822" cy="161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463653" y="6906798"/>
            <a:ext cx="98822" cy="148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562475" y="6893104"/>
            <a:ext cx="98822" cy="136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661297" y="6880506"/>
            <a:ext cx="98822" cy="12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760119" y="6868915"/>
            <a:ext cx="98822" cy="115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858941" y="6858250"/>
            <a:ext cx="98821" cy="106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957762" y="6848439"/>
            <a:ext cx="98822" cy="98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056584" y="6839411"/>
            <a:ext cx="98822" cy="90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155406" y="6831106"/>
            <a:ext cx="98822" cy="83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254228" y="6823465"/>
            <a:ext cx="98822" cy="76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353050" y="6816434"/>
            <a:ext cx="98822" cy="7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451872" y="6809966"/>
            <a:ext cx="98822" cy="64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550694" y="6804015"/>
            <a:ext cx="98822" cy="59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649516" y="6798539"/>
            <a:ext cx="98822" cy="54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748338" y="6793502"/>
            <a:ext cx="98821" cy="5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828109" y="677445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5926931" y="676981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6025753" y="676555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6124575" y="676163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6223397" y="675802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6322219" y="675469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6421041" y="67516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6519862" y="674883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6618684" y="674624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6717506" y="674386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6816328" y="6741678"/>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6915150" y="673966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7013972" y="673781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7112794" y="673610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7211616" y="673453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7310438" y="673309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7409259" y="673176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7508081" y="67305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7606903" y="672942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7705725" y="672838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804547" y="672743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7903369" y="672655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8002191" y="672575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8101012" y="672501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8199834" y="672433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8298656" y="672370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8397478" y="672312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8496300" y="672259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8595122" y="672210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8693944" y="672165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8792766" y="67212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8891588" y="672086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8990409" y="672051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9089231" y="672019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9188053" y="671989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9286875" y="671962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9385697" y="671937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9484519" y="671914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9583341" y="671892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9682162" y="671873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9780984" y="671855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9879806" y="6718388"/>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9978628" y="671823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10248900" y="6564086"/>
            <a:ext cx="1524000" cy="342900"/>
          </a:xfrm>
          <a:prstGeom prst="rect">
            <a:avLst/>
          </a:prstGeom>
          <a:noFill/>
        </p:spPr>
        <p:txBody>
          <a:bodyPr wrap="square" lIns="0" rIns="0" tIns="0" bIns="0" anchor="t">
            <a:spAutoFit/>
          </a:bodyPr>
          <a:lstStyle/>
          <a:p>
            <a:pPr algn="l"/>
            <a:r>
              <a:rPr sz="1950" b="1" i="0">
                <a:solidFill>
                  <a:srgbClr val="9A7878"/>
                </a:solidFill>
                <a:latin typeface="Geist Mono"/>
                <a:ea typeface="Geist Mono"/>
                <a:cs typeface="Geist Mono"/>
              </a:rPr>
              <a:t>0.3</a:t>
            </a:r>
          </a:p>
        </p:txBody>
      </p:sp>
      <p:cxnSp>
        <p:nvCxnSpPr>
          <p:cNvPr id="109" name="Connector 108"/>
          <p:cNvCxnSpPr/>
          <p:nvPr/>
        </p:nvCxnSpPr>
        <p:spPr>
          <a:xfrm flipV="1">
            <a:off x="2190750" y="7832365"/>
            <a:ext cx="98822" cy="1686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289572" y="7677214"/>
            <a:ext cx="98822" cy="1551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388394" y="7534467"/>
            <a:ext cx="98822" cy="1427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2487216" y="7403134"/>
            <a:ext cx="98822" cy="13133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586038" y="7282302"/>
            <a:ext cx="98821" cy="1208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2684859" y="7171131"/>
            <a:ext cx="98822" cy="1111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2783681" y="7068849"/>
            <a:ext cx="98822" cy="1022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2882503" y="6974745"/>
            <a:ext cx="98822" cy="941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981325" y="6888165"/>
            <a:ext cx="98822" cy="865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080147" y="6808507"/>
            <a:ext cx="98822" cy="796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178969" y="6735219"/>
            <a:ext cx="98822" cy="7328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277791" y="6667790"/>
            <a:ext cx="98821" cy="674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376612" y="6605753"/>
            <a:ext cx="98822" cy="620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475434" y="6548676"/>
            <a:ext cx="98822" cy="570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574256" y="6496162"/>
            <a:ext cx="98822" cy="5251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673078" y="6447847"/>
            <a:ext cx="98822" cy="483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71900" y="6403396"/>
            <a:ext cx="98822" cy="444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870722" y="6362498"/>
            <a:ext cx="98822" cy="4089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969544" y="6324871"/>
            <a:ext cx="98822" cy="376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068366" y="6290252"/>
            <a:ext cx="98822" cy="346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167188" y="6258401"/>
            <a:ext cx="98821" cy="318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266009" y="6229096"/>
            <a:ext cx="98822" cy="293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364831" y="6202135"/>
            <a:ext cx="98822" cy="269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463653" y="6177329"/>
            <a:ext cx="98822" cy="248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562475" y="6154507"/>
            <a:ext cx="98822" cy="228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661297" y="6133510"/>
            <a:ext cx="98822" cy="2099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60119" y="6114191"/>
            <a:ext cx="98822" cy="193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858941" y="6096417"/>
            <a:ext cx="98821" cy="177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957762" y="6080064"/>
            <a:ext cx="98822" cy="1635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5056584" y="6065019"/>
            <a:ext cx="98822" cy="150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5155406" y="6051177"/>
            <a:ext cx="98822" cy="138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5254228" y="6038441"/>
            <a:ext cx="98822" cy="127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353050" y="6026724"/>
            <a:ext cx="98822" cy="117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451872" y="6015943"/>
            <a:ext cx="98822" cy="107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5550694" y="6006025"/>
            <a:ext cx="98822" cy="99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5649516" y="5996899"/>
            <a:ext cx="98822" cy="91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5748338" y="5988503"/>
            <a:ext cx="98821" cy="83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5847159" y="5980779"/>
            <a:ext cx="98822" cy="77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5945981" y="5973672"/>
            <a:ext cx="98822" cy="71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6044803" y="5967133"/>
            <a:ext cx="98822" cy="653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6143625" y="5961117"/>
            <a:ext cx="98822" cy="60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6242447" y="5955582"/>
            <a:ext cx="98822" cy="55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6341269" y="5950490"/>
            <a:ext cx="98822" cy="50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52" name="Rectangle 151"/>
          <p:cNvSpPr/>
          <p:nvPr/>
        </p:nvSpPr>
        <p:spPr>
          <a:xfrm>
            <a:off x="6411516" y="592191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6510338" y="5917230"/>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6609159" y="591291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6707981" y="590895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6806803" y="590530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6905625" y="590194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7004447" y="589885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7103269" y="589601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7202091" y="589340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7300912" y="589099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7399734" y="588878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7498556" y="588674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7597378" y="588487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7696200" y="5883151"/>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7795022" y="588156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7893844" y="5880106"/>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7992666" y="587876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8091488" y="587752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8190309" y="587639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8289131" y="587534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8387953" y="587438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8486775" y="5873501"/>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8585597" y="5872686"/>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8684419" y="587193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8783241" y="587124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8882062" y="587061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8980884" y="5870031"/>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9079706" y="586949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9178528" y="5869000"/>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9277350" y="5868546"/>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9376172" y="586812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ectangle 182"/>
          <p:cNvSpPr/>
          <p:nvPr/>
        </p:nvSpPr>
        <p:spPr>
          <a:xfrm>
            <a:off x="9474994" y="586774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ectangle 183"/>
          <p:cNvSpPr/>
          <p:nvPr/>
        </p:nvSpPr>
        <p:spPr>
          <a:xfrm>
            <a:off x="9573816" y="586738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ectangle 184"/>
          <p:cNvSpPr/>
          <p:nvPr/>
        </p:nvSpPr>
        <p:spPr>
          <a:xfrm>
            <a:off x="9672638" y="586706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ectangle 185"/>
          <p:cNvSpPr/>
          <p:nvPr/>
        </p:nvSpPr>
        <p:spPr>
          <a:xfrm>
            <a:off x="9771459" y="586676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ectangle 186"/>
          <p:cNvSpPr/>
          <p:nvPr/>
        </p:nvSpPr>
        <p:spPr>
          <a:xfrm>
            <a:off x="9870281" y="586648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Rectangle 187"/>
          <p:cNvSpPr/>
          <p:nvPr/>
        </p:nvSpPr>
        <p:spPr>
          <a:xfrm>
            <a:off x="9969103" y="586623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Box 188"/>
          <p:cNvSpPr txBox="1"/>
          <p:nvPr/>
        </p:nvSpPr>
        <p:spPr>
          <a:xfrm>
            <a:off x="10248900" y="5720443"/>
            <a:ext cx="1524000" cy="342900"/>
          </a:xfrm>
          <a:prstGeom prst="rect">
            <a:avLst/>
          </a:prstGeom>
          <a:noFill/>
        </p:spPr>
        <p:txBody>
          <a:bodyPr wrap="square" lIns="0" rIns="0" tIns="0" bIns="0" anchor="t">
            <a:spAutoFit/>
          </a:bodyPr>
          <a:lstStyle/>
          <a:p>
            <a:pPr algn="l"/>
            <a:r>
              <a:rPr sz="1950" b="1" i="0">
                <a:solidFill>
                  <a:srgbClr val="CC2200"/>
                </a:solidFill>
                <a:latin typeface="Geist Mono"/>
                <a:ea typeface="Geist Mono"/>
                <a:cs typeface="Geist Mono"/>
              </a:rPr>
              <a:t>0.5</a:t>
            </a:r>
          </a:p>
        </p:txBody>
      </p:sp>
      <p:cxnSp>
        <p:nvCxnSpPr>
          <p:cNvPr id="190" name="Connector 189"/>
          <p:cNvCxnSpPr/>
          <p:nvPr/>
        </p:nvCxnSpPr>
        <p:spPr>
          <a:xfrm flipV="1">
            <a:off x="2190750" y="7663730"/>
            <a:ext cx="98822" cy="3372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289572" y="7353427"/>
            <a:ext cx="98822" cy="3103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88394" y="7067934"/>
            <a:ext cx="98822" cy="28549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87216" y="6805268"/>
            <a:ext cx="98822" cy="2626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586038" y="6563604"/>
            <a:ext cx="98821" cy="2416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684859" y="6341262"/>
            <a:ext cx="98822" cy="22234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783681" y="6136698"/>
            <a:ext cx="98822" cy="2045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882503" y="5948489"/>
            <a:ext cx="98822" cy="1882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981325" y="5775329"/>
            <a:ext cx="98822" cy="1731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3080147" y="5616014"/>
            <a:ext cx="98822" cy="1593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3178969" y="5469437"/>
            <a:ext cx="98822" cy="1465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3277791" y="5334580"/>
            <a:ext cx="98821" cy="1348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3376612" y="5210505"/>
            <a:ext cx="98822" cy="12407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475434" y="5096351"/>
            <a:ext cx="98822" cy="11415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574256" y="4991324"/>
            <a:ext cx="98822" cy="10502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673078" y="4894695"/>
            <a:ext cx="98822" cy="9662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771900" y="4805792"/>
            <a:ext cx="98822" cy="889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870722" y="4723997"/>
            <a:ext cx="98822" cy="817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969544" y="4648741"/>
            <a:ext cx="98822" cy="7525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4068366" y="4579503"/>
            <a:ext cx="98822" cy="692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4167188" y="4515801"/>
            <a:ext cx="98821" cy="6370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4266009" y="4457193"/>
            <a:ext cx="98822" cy="5860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4364831" y="4403270"/>
            <a:ext cx="98822" cy="5392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4463653" y="4353659"/>
            <a:ext cx="98822" cy="496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4562475" y="4308014"/>
            <a:ext cx="98822" cy="4564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4661297" y="4266019"/>
            <a:ext cx="98822" cy="419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4760119" y="4227382"/>
            <a:ext cx="98822" cy="3863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4858941" y="4191834"/>
            <a:ext cx="98821" cy="3554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4957762" y="4159129"/>
            <a:ext cx="98822" cy="327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5056584" y="4129038"/>
            <a:ext cx="98822" cy="300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5155406" y="4101353"/>
            <a:ext cx="98822" cy="2768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5254228" y="4075882"/>
            <a:ext cx="98822" cy="2547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5353050" y="4052447"/>
            <a:ext cx="98822" cy="2343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5451872" y="4030886"/>
            <a:ext cx="98822" cy="2156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5550694" y="4011049"/>
            <a:ext cx="98822" cy="1983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5649516" y="3992798"/>
            <a:ext cx="98822" cy="182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5748338" y="3976007"/>
            <a:ext cx="98821" cy="167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5847159" y="3960557"/>
            <a:ext cx="98822" cy="1545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5945981" y="3946344"/>
            <a:ext cx="98822" cy="1421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6044803" y="3933266"/>
            <a:ext cx="98822" cy="1307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6143625" y="3921235"/>
            <a:ext cx="98822" cy="1203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6242447" y="3910165"/>
            <a:ext cx="98822" cy="110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6341269" y="3899980"/>
            <a:ext cx="98822" cy="1018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6440091" y="3890610"/>
            <a:ext cx="98821" cy="93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6538912" y="3881989"/>
            <a:ext cx="98822" cy="862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6637734" y="3874057"/>
            <a:ext cx="98822" cy="793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6736556" y="3866759"/>
            <a:ext cx="98822" cy="72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6835378" y="3860045"/>
            <a:ext cx="98822" cy="67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6934200" y="3853868"/>
            <a:ext cx="98822" cy="61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7033022" y="3848184"/>
            <a:ext cx="98822" cy="568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7131844" y="3842955"/>
            <a:ext cx="98822" cy="522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7230666" y="3838144"/>
            <a:ext cx="98822" cy="48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42" name="Rectangle 241"/>
          <p:cNvSpPr/>
          <p:nvPr/>
        </p:nvSpPr>
        <p:spPr>
          <a:xfrm>
            <a:off x="7310438" y="3819094"/>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Rectangle 242"/>
          <p:cNvSpPr/>
          <p:nvPr/>
        </p:nvSpPr>
        <p:spPr>
          <a:xfrm>
            <a:off x="7409259" y="381466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Rectangle 243"/>
          <p:cNvSpPr/>
          <p:nvPr/>
        </p:nvSpPr>
        <p:spPr>
          <a:xfrm>
            <a:off x="7508081" y="381059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Rectangle 244"/>
          <p:cNvSpPr/>
          <p:nvPr/>
        </p:nvSpPr>
        <p:spPr>
          <a:xfrm>
            <a:off x="7606903" y="380684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Rectangle 245"/>
          <p:cNvSpPr/>
          <p:nvPr/>
        </p:nvSpPr>
        <p:spPr>
          <a:xfrm>
            <a:off x="7705725" y="380340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7804547" y="380023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Rectangle 247"/>
          <p:cNvSpPr/>
          <p:nvPr/>
        </p:nvSpPr>
        <p:spPr>
          <a:xfrm>
            <a:off x="7903369" y="379731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Rectangle 248"/>
          <p:cNvSpPr/>
          <p:nvPr/>
        </p:nvSpPr>
        <p:spPr>
          <a:xfrm>
            <a:off x="8002191" y="37946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Rectangle 249"/>
          <p:cNvSpPr/>
          <p:nvPr/>
        </p:nvSpPr>
        <p:spPr>
          <a:xfrm>
            <a:off x="8101012" y="379215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Rectangle 250"/>
          <p:cNvSpPr/>
          <p:nvPr/>
        </p:nvSpPr>
        <p:spPr>
          <a:xfrm>
            <a:off x="8199834" y="378988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8298656" y="378779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8397478" y="378587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8496300" y="378410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8595122" y="3782473"/>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8693944" y="378097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Rectangle 256"/>
          <p:cNvSpPr/>
          <p:nvPr/>
        </p:nvSpPr>
        <p:spPr>
          <a:xfrm>
            <a:off x="8792766" y="377959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Rectangle 257"/>
          <p:cNvSpPr/>
          <p:nvPr/>
        </p:nvSpPr>
        <p:spPr>
          <a:xfrm>
            <a:off x="8891588" y="37783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Rectangle 258"/>
          <p:cNvSpPr/>
          <p:nvPr/>
        </p:nvSpPr>
        <p:spPr>
          <a:xfrm>
            <a:off x="8990409" y="377716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Rectangle 259"/>
          <p:cNvSpPr/>
          <p:nvPr/>
        </p:nvSpPr>
        <p:spPr>
          <a:xfrm>
            <a:off x="9089231" y="377608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Rectangle 260"/>
          <p:cNvSpPr/>
          <p:nvPr/>
        </p:nvSpPr>
        <p:spPr>
          <a:xfrm>
            <a:off x="9188053" y="377510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Rectangle 261"/>
          <p:cNvSpPr/>
          <p:nvPr/>
        </p:nvSpPr>
        <p:spPr>
          <a:xfrm>
            <a:off x="9286875" y="377419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Rectangle 262"/>
          <p:cNvSpPr/>
          <p:nvPr/>
        </p:nvSpPr>
        <p:spPr>
          <a:xfrm>
            <a:off x="9385697" y="377335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Rectangle 263"/>
          <p:cNvSpPr/>
          <p:nvPr/>
        </p:nvSpPr>
        <p:spPr>
          <a:xfrm>
            <a:off x="9484519" y="377258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Rectangle 264"/>
          <p:cNvSpPr/>
          <p:nvPr/>
        </p:nvSpPr>
        <p:spPr>
          <a:xfrm>
            <a:off x="9583341" y="377187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Rectangle 265"/>
          <p:cNvSpPr/>
          <p:nvPr/>
        </p:nvSpPr>
        <p:spPr>
          <a:xfrm>
            <a:off x="9682162" y="37712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7" name="Rectangle 266"/>
          <p:cNvSpPr/>
          <p:nvPr/>
        </p:nvSpPr>
        <p:spPr>
          <a:xfrm>
            <a:off x="9780984" y="377062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Rectangle 267"/>
          <p:cNvSpPr/>
          <p:nvPr/>
        </p:nvSpPr>
        <p:spPr>
          <a:xfrm>
            <a:off x="9879806" y="377007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Rectangle 268"/>
          <p:cNvSpPr/>
          <p:nvPr/>
        </p:nvSpPr>
        <p:spPr>
          <a:xfrm>
            <a:off x="9978628" y="376957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TextBox 269"/>
          <p:cNvSpPr txBox="1"/>
          <p:nvPr/>
        </p:nvSpPr>
        <p:spPr>
          <a:xfrm>
            <a:off x="10248900" y="3611336"/>
            <a:ext cx="1524000" cy="3429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1.0</a:t>
            </a:r>
          </a:p>
        </p:txBody>
      </p:sp>
      <p:sp>
        <p:nvSpPr>
          <p:cNvPr id="271" name="TextBox 270"/>
          <p:cNvSpPr txBox="1"/>
          <p:nvPr/>
        </p:nvSpPr>
        <p:spPr>
          <a:xfrm>
            <a:off x="12287250" y="3048000"/>
            <a:ext cx="50863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Change </a:t>
            </a:r>
            <a:r>
              <a:rPr sz="2100" b="0" i="0">
                <a:solidFill>
                  <a:srgbClr val="F0E8E8"/>
                </a:solidFill>
                <a:latin typeface="Geist Mono"/>
                <a:ea typeface="Geist Mono"/>
                <a:cs typeface="Geist Mono"/>
              </a:rPr>
              <a:t>SHOOT_DUTY_CYCLE</a:t>
            </a:r>
            <a:r>
              <a:rPr sz="2100" b="0" i="0">
                <a:solidFill>
                  <a:srgbClr val="F0E8E8"/>
                </a:solidFill>
                <a:latin typeface="Geist"/>
                <a:ea typeface="Geist"/>
                <a:cs typeface="Geist"/>
              </a:rPr>
              <a:t>: a different top speed</a:t>
            </a:r>
          </a:p>
        </p:txBody>
      </p:sp>
      <p:sp>
        <p:nvSpPr>
          <p:cNvPr id="272" name="TextBox 271"/>
          <p:cNvSpPr txBox="1"/>
          <p:nvPr/>
        </p:nvSpPr>
        <p:spPr>
          <a:xfrm>
            <a:off x="12287250" y="4065270"/>
            <a:ext cx="50863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A ball or a weak battery slows it, and nothing pushes it back</a:t>
            </a:r>
          </a:p>
        </p:txBody>
      </p:sp>
      <p:sp>
        <p:nvSpPr>
          <p:cNvPr id="273" name="TextBox 272"/>
          <p:cNvSpPr txBox="1"/>
          <p:nvPr/>
        </p:nvSpPr>
        <p:spPr>
          <a:xfrm>
            <a:off x="12287250" y="5082540"/>
            <a:ext cx="50863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Next deck:</a:t>
            </a:r>
            <a:r>
              <a:rPr sz="2100" b="0" i="0">
                <a:solidFill>
                  <a:srgbClr val="F0E8E8"/>
                </a:solidFill>
                <a:latin typeface="Geist"/>
                <a:ea typeface="Geist"/>
                <a:cs typeface="Geist"/>
              </a:rPr>
              <a:t> hold an exact speed</a:t>
            </a:r>
          </a:p>
        </p:txBody>
      </p:sp>
      <p:pic>
        <p:nvPicPr>
          <p:cNvPr id="274" name="Picture 273" descr="dozer_look_up_left.png"/>
          <p:cNvPicPr>
            <a:picLocks noChangeAspect="1"/>
          </p:cNvPicPr>
          <p:nvPr/>
        </p:nvPicPr>
        <p:blipFill>
          <a:blip r:embed="rId3"/>
          <a:stretch>
            <a:fillRect/>
          </a:stretch>
        </p:blipFill>
        <p:spPr>
          <a:xfrm>
            <a:off x="15049500" y="7239000"/>
            <a:ext cx="2095500" cy="1287986"/>
          </a:xfrm>
          <a:prstGeom prst="rect">
            <a:avLst/>
          </a:prstGeom>
        </p:spPr>
      </p:pic>
      <p:sp>
        <p:nvSpPr>
          <p:cNvPr id="275" name="TextBox 27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6" name="TextBox 27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Mechanisms and Subsystems</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Move the drivetrain into its subsystem, then build the shooter: a flywheel and a roller. Press Verify on each checkpoint.</a:t>
            </a:r>
          </a:p>
        </p:txBody>
      </p:sp>
      <p:sp>
        <p:nvSpPr>
          <p:cNvPr id="6" name="TextBox 5"/>
          <p:cNvSpPr txBox="1"/>
          <p:nvPr/>
        </p:nvSpPr>
        <p:spPr>
          <a:xfrm>
            <a:off x="1524000" y="40005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6 CHECKPOINTS</a:t>
            </a:r>
          </a:p>
        </p:txBody>
      </p:sp>
      <p:pic>
        <p:nvPicPr>
          <p:cNvPr id="7" name="Picture 6" descr="check-circle-fill.png"/>
          <p:cNvPicPr>
            <a:picLocks noChangeAspect="1"/>
          </p:cNvPicPr>
          <p:nvPr/>
        </p:nvPicPr>
        <p:blipFill>
          <a:blip r:embed="rId3"/>
          <a:stretch>
            <a:fillRect/>
          </a:stretch>
        </p:blipFill>
        <p:spPr>
          <a:xfrm>
            <a:off x="1524000" y="4457700"/>
            <a:ext cx="304800" cy="304800"/>
          </a:xfrm>
          <a:prstGeom prst="rect">
            <a:avLst/>
          </a:prstGeom>
        </p:spPr>
      </p:pic>
      <p:sp>
        <p:nvSpPr>
          <p:cNvPr id="8" name="TextBox 7"/>
          <p:cNvSpPr txBox="1"/>
          <p:nvPr/>
        </p:nvSpPr>
        <p:spPr>
          <a:xfrm>
            <a:off x="2000250" y="44005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Shooter registered</a:t>
            </a:r>
          </a:p>
        </p:txBody>
      </p:sp>
      <p:sp>
        <p:nvSpPr>
          <p:cNvPr id="9" name="TextBox 8"/>
          <p:cNvSpPr txBox="1"/>
          <p:nvPr/>
        </p:nvSpPr>
        <p:spPr>
          <a:xfrm>
            <a:off x="6286500" y="44386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RobotContainer registers the ShooterSubsystem</a:t>
            </a:r>
          </a:p>
        </p:txBody>
      </p:sp>
      <p:pic>
        <p:nvPicPr>
          <p:cNvPr id="10" name="Picture 9" descr="check-circle-fill.png"/>
          <p:cNvPicPr>
            <a:picLocks noChangeAspect="1"/>
          </p:cNvPicPr>
          <p:nvPr/>
        </p:nvPicPr>
        <p:blipFill>
          <a:blip r:embed="rId3"/>
          <a:stretch>
            <a:fillRect/>
          </a:stretch>
        </p:blipFill>
        <p:spPr>
          <a:xfrm>
            <a:off x="1524000" y="5067300"/>
            <a:ext cx="304800" cy="304800"/>
          </a:xfrm>
          <a:prstGeom prst="rect">
            <a:avLst/>
          </a:prstGeom>
        </p:spPr>
      </p:pic>
      <p:sp>
        <p:nvSpPr>
          <p:cNvPr id="11" name="TextBox 10"/>
          <p:cNvSpPr txBox="1"/>
          <p:nvPr/>
        </p:nvSpPr>
        <p:spPr>
          <a:xfrm>
            <a:off x="2000250" y="50101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Shooter buttons</a:t>
            </a:r>
          </a:p>
        </p:txBody>
      </p:sp>
      <p:sp>
        <p:nvSpPr>
          <p:cNvPr id="12" name="TextBox 11"/>
          <p:cNvSpPr txBox="1"/>
          <p:nvPr/>
        </p:nvSpPr>
        <p:spPr>
          <a:xfrm>
            <a:off x="6286500" y="50482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OI reads the right and left bumpers</a:t>
            </a:r>
          </a:p>
        </p:txBody>
      </p:sp>
      <p:pic>
        <p:nvPicPr>
          <p:cNvPr id="13" name="Picture 12" descr="check-circle-fill.png"/>
          <p:cNvPicPr>
            <a:picLocks noChangeAspect="1"/>
          </p:cNvPicPr>
          <p:nvPr/>
        </p:nvPicPr>
        <p:blipFill>
          <a:blip r:embed="rId3"/>
          <a:stretch>
            <a:fillRect/>
          </a:stretch>
        </p:blipFill>
        <p:spPr>
          <a:xfrm>
            <a:off x="1524000" y="5676900"/>
            <a:ext cx="304800" cy="304800"/>
          </a:xfrm>
          <a:prstGeom prst="rect">
            <a:avLst/>
          </a:prstGeom>
        </p:spPr>
      </p:pic>
      <p:sp>
        <p:nvSpPr>
          <p:cNvPr id="14" name="TextBox 13"/>
          <p:cNvSpPr txBox="1"/>
          <p:nvPr/>
        </p:nvSpPr>
        <p:spPr>
          <a:xfrm>
            <a:off x="2000250" y="56197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 button logic</a:t>
            </a:r>
          </a:p>
        </p:txBody>
      </p:sp>
      <p:sp>
        <p:nvSpPr>
          <p:cNvPr id="15" name="TextBox 14"/>
          <p:cNvSpPr txBox="1"/>
          <p:nvPr/>
        </p:nvSpPr>
        <p:spPr>
          <a:xfrm>
            <a:off x="6286500" y="56578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Flywheel runs while the button is held, else stops</a:t>
            </a:r>
          </a:p>
        </p:txBody>
      </p:sp>
      <p:pic>
        <p:nvPicPr>
          <p:cNvPr id="16" name="Picture 15" descr="check-circle-fill.png"/>
          <p:cNvPicPr>
            <a:picLocks noChangeAspect="1"/>
          </p:cNvPicPr>
          <p:nvPr/>
        </p:nvPicPr>
        <p:blipFill>
          <a:blip r:embed="rId3"/>
          <a:stretch>
            <a:fillRect/>
          </a:stretch>
        </p:blipFill>
        <p:spPr>
          <a:xfrm>
            <a:off x="1524000" y="6286500"/>
            <a:ext cx="304800" cy="304800"/>
          </a:xfrm>
          <a:prstGeom prst="rect">
            <a:avLst/>
          </a:prstGeom>
        </p:spPr>
      </p:pic>
      <p:sp>
        <p:nvSpPr>
          <p:cNvPr id="17" name="TextBox 16"/>
          <p:cNvSpPr txBox="1"/>
          <p:nvPr/>
        </p:nvSpPr>
        <p:spPr>
          <a:xfrm>
            <a:off x="2000250" y="62293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Drive from the subsystem</a:t>
            </a:r>
          </a:p>
        </p:txBody>
      </p:sp>
      <p:sp>
        <p:nvSpPr>
          <p:cNvPr id="18" name="TextBox 17"/>
          <p:cNvSpPr txBox="1"/>
          <p:nvPr/>
        </p:nvSpPr>
        <p:spPr>
          <a:xfrm>
            <a:off x="6286500" y="62674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Left stick forward drives the robot</a:t>
            </a:r>
          </a:p>
        </p:txBody>
      </p:sp>
      <p:pic>
        <p:nvPicPr>
          <p:cNvPr id="19" name="Picture 18" descr="check-circle-fill.png"/>
          <p:cNvPicPr>
            <a:picLocks noChangeAspect="1"/>
          </p:cNvPicPr>
          <p:nvPr/>
        </p:nvPicPr>
        <p:blipFill>
          <a:blip r:embed="rId3"/>
          <a:stretch>
            <a:fillRect/>
          </a:stretch>
        </p:blipFill>
        <p:spPr>
          <a:xfrm>
            <a:off x="1524000" y="6896100"/>
            <a:ext cx="304800" cy="304800"/>
          </a:xfrm>
          <a:prstGeom prst="rect">
            <a:avLst/>
          </a:prstGeom>
        </p:spPr>
      </p:pic>
      <p:sp>
        <p:nvSpPr>
          <p:cNvPr id="20" name="TextBox 19"/>
          <p:cNvSpPr txBox="1"/>
          <p:nvPr/>
        </p:nvSpPr>
        <p:spPr>
          <a:xfrm>
            <a:off x="2000250" y="68389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Flywheel spins up</a:t>
            </a:r>
          </a:p>
        </p:txBody>
      </p:sp>
      <p:sp>
        <p:nvSpPr>
          <p:cNvPr id="21" name="TextBox 20"/>
          <p:cNvSpPr txBox="1"/>
          <p:nvPr/>
        </p:nvSpPr>
        <p:spPr>
          <a:xfrm>
            <a:off x="6286500" y="68770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Hold the shoot button: it reaches speed</a:t>
            </a:r>
          </a:p>
        </p:txBody>
      </p:sp>
      <p:pic>
        <p:nvPicPr>
          <p:cNvPr id="22" name="Picture 21" descr="check-circle-fill.png"/>
          <p:cNvPicPr>
            <a:picLocks noChangeAspect="1"/>
          </p:cNvPicPr>
          <p:nvPr/>
        </p:nvPicPr>
        <p:blipFill>
          <a:blip r:embed="rId3"/>
          <a:stretch>
            <a:fillRect/>
          </a:stretch>
        </p:blipFill>
        <p:spPr>
          <a:xfrm>
            <a:off x="1524000" y="7505700"/>
            <a:ext cx="304800" cy="304800"/>
          </a:xfrm>
          <a:prstGeom prst="rect">
            <a:avLst/>
          </a:prstGeom>
        </p:spPr>
      </p:pic>
      <p:sp>
        <p:nvSpPr>
          <p:cNvPr id="23" name="TextBox 22"/>
          <p:cNvSpPr txBox="1"/>
          <p:nvPr/>
        </p:nvSpPr>
        <p:spPr>
          <a:xfrm>
            <a:off x="2000250" y="74485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Roller runs</a:t>
            </a:r>
          </a:p>
        </p:txBody>
      </p:sp>
      <p:sp>
        <p:nvSpPr>
          <p:cNvPr id="24" name="TextBox 23"/>
          <p:cNvSpPr txBox="1"/>
          <p:nvPr/>
        </p:nvSpPr>
        <p:spPr>
          <a:xfrm>
            <a:off x="6286500" y="74866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Hold the index button: INDEX_DUTY_CYCLE</a:t>
            </a:r>
          </a:p>
        </p:txBody>
      </p:sp>
      <p:sp>
        <p:nvSpPr>
          <p:cNvPr id="25" name="TextBox 24"/>
          <p:cNvSpPr txBox="1"/>
          <p:nvPr/>
        </p:nvSpPr>
        <p:spPr>
          <a:xfrm>
            <a:off x="1524000" y="81153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try other SHOOT_DUTY_CYCLE values, add a Y button that runs the roller backward</a:t>
            </a:r>
          </a:p>
        </p:txBody>
      </p:sp>
      <p:sp>
        <p:nvSpPr>
          <p:cNvPr id="26" name="TextBox 25"/>
          <p:cNvSpPr txBox="1"/>
          <p:nvPr/>
        </p:nvSpPr>
        <p:spPr>
          <a:xfrm>
            <a:off x="1524000" y="853440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Mechanisms and Subsystems</a:t>
            </a:r>
          </a:p>
        </p:txBody>
      </p:sp>
      <p:pic>
        <p:nvPicPr>
          <p:cNvPr id="27" name="Picture 26" descr="dozer.png"/>
          <p:cNvPicPr>
            <a:picLocks noChangeAspect="1"/>
          </p:cNvPicPr>
          <p:nvPr/>
        </p:nvPicPr>
        <p:blipFill>
          <a:blip r:embed="rId4"/>
          <a:stretch>
            <a:fillRect/>
          </a:stretch>
        </p:blipFill>
        <p:spPr>
          <a:xfrm>
            <a:off x="14478000" y="6096000"/>
            <a:ext cx="2476500" cy="1522165"/>
          </a:xfrm>
          <a:prstGeom prst="rect">
            <a:avLst/>
          </a:prstGeom>
        </p:spPr>
      </p:pic>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robot, subsystem, mechanism</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Name the four MWLib mechanisms</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Describe read, think, write</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Read a subsystem: extends, getInstance</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button logic with if / else</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Register a subsystem and list its mechanisms</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Classes &amp; Objects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Inheritance</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6" name="TextBox 25"/>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Control Theory</a:t>
            </a:r>
          </a:p>
        </p:txBody>
      </p:sp>
      <p:sp>
        <p:nvSpPr>
          <p:cNvPr id="27" name="TextBox 26"/>
          <p:cNvSpPr txBox="1"/>
          <p:nvPr/>
        </p:nvSpPr>
        <p:spPr>
          <a:xfrm>
            <a:off x="13716000" y="4476750"/>
            <a:ext cx="3333750" cy="20955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Hold the flywheel at speed three ways: bang-bang, feedforward and PID.</a:t>
            </a:r>
          </a:p>
        </p:txBody>
      </p:sp>
      <p:pic>
        <p:nvPicPr>
          <p:cNvPr id="28" name="Picture 27" descr="dozer.png"/>
          <p:cNvPicPr>
            <a:picLocks noChangeAspect="1"/>
          </p:cNvPicPr>
          <p:nvPr/>
        </p:nvPicPr>
        <p:blipFill>
          <a:blip r:embed="rId5"/>
          <a:stretch>
            <a:fillRect/>
          </a:stretch>
        </p:blipFill>
        <p:spPr>
          <a:xfrm>
            <a:off x="14287500" y="6858000"/>
            <a:ext cx="2476500" cy="1522165"/>
          </a:xfrm>
          <a:prstGeom prst="rect">
            <a:avLst/>
          </a:prstGeom>
        </p:spPr>
      </p:pic>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