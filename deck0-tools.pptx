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deck covers the tools every programmer on the team uses before we touch robot code: the editor, git, AdvantageScope and Elastic. Each section teaches the ideas; the hands-on practice is the matching Scriptum lesson, listed at the end. Before the tools, a few minutes on robot safety. Choreo and Arbor, the autonomous tools, are introduced later in the Autonomous deck, once you know how the robot drives.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sections. The first two are about writing and saving code. The last two are about seeing what the robot is doing. The autonomous tools, Choreo and Arbor, come later in the Autonomous deck: they make much more sense once you know how the robot drives and runs states.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team laptops each tool is its own desktop app: VS Code with the WPILib extension, AdvantageScope, Elastic, plus the FRC Driver Station (and later Choreo and Arbor for autonomous). That's what you'll use on the real robot. For training we use Scriptum, a browser workspace that bundles the same tools next to a simulated robot, so you can practice without a laptop or a robot.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touch any tools: robot safety. Everything in training runs on a simulated robot, but the first time you sit at a real Driver Station these habits have to be automatic. A robot can move fast, without warning, and it doesn't know anyone is standing next to it. Three habits: the call before every enable, the right mode, and reading the robot signal light. Ask: has anyone seen a robot move when they didn't expect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enable on a real robot follows the same routine, every time, even for a one-second test. 1: check the mode on the Driver Station. 2: look at the robot: nobody touching it or standing in its path, and on a bench the wheels are up on a cart. 3: say ENABLING loudly. 4: wait for someone near the robot to answer Clear. No answer means don't enable. 5: enable with a hand ready to stop. Enter disables. Space is an emergency stop; after it the robot has to be rebooted. Practice: have the class do the call and response out loud.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 decides what the robot does the instant you press Enable. TeleOperated: the robot only moves when a driver moves a stick, but it can still lurch if code is wrong. Autonomous: the robot starts driving by itself immediately, so it must be on the floor in its starting spot with the whole area clear. Never enable Auto with people standing around the robot. Test: runs mechanisms for checking; usually on a cart with someone watching. Practice runs a whole match, Autonomous first, so the same rule applies. Check the mode every time: the Driver Station remembers the last one. Screenshot of the FRC Driver Station.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FRC robot has an orange robot signal light, the RSL, where everyone can see it. Solid means the robot is powered on and disabled. Blinking means it is enabled and can move at any moment: stay back and keep hands off. Off means the roboRIO has no power or the light isn't connected; it does not prove the robot is safe. Before you touch the robot, disable it and check the light is solid, or better, turn the main breaker off. Ask: the light is blinking and the robot isn't moving. Is it safe to pick it up? (No: it's enabled, and code can move it at any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experience needed. These are the things every programmer does all day.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code editor is a text editor built for code. It colors the code, points out mistakes before you run it, and lets you add extensions. The WPILib extension is what lets us build and deploy robot code. The team laptops run VS Code; Scriptum's training editor is VSCodium, the open-source build of the same editor, so everything here works the same on a laptop.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Scriptum, the training workspace. On a laptop, the editor is VS Code and the tool panes and Driver Station are separate app windows. Point at each part. 1 Explorer: the project's files. 2 Editor: where you type. 3 Tool panes: AdvantageScope here; Elastic and Choreo open in the same spot. 4 Driver Station: Start builds and runs the robot code, Enable turns it on, Teleop/Auto/Test pick the mode.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isn't magic: it's words typed into files. The extension after the dot tells you and the computer what kind of file it is. These four show up in every robot project.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project is one folder with everything for a program. A path is a file's address: the folders you walk through to reach it. Every robot lesson's code is at this same path. Activity: ask students to read the path out loud as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terminal is another way to work with the same files: type a command, press Enter. Have everyone open it with Ctrl+` and run pwd and ls. Up arrow repeats the last command; Tab finishes a name for you.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Shortcuts save a lot of clicking. Click inside the editor first so it hears the keys.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Cole's tech tips. Try each live: Alt+click three lines and type; select a word and press Ctrl+D a few times; Ctrl+click a method name to jump to it. The command palette runs every WPILib command: type WPILib to see Build and Deploy. GitLens (an extension) shows who last changed each line, called blame.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press Run, the editor first compiles the Java: it checks it and turns it into instructions the computer can run. If there's a mistake, it stops and tells you where. Then the program runs and anything it prints shows in the terminal. Robot code works the same way, except the program keeps running in a loop.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is how the whole team works on the same robot code without overwriting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version control, people email files around and overwrite each other's work. Git remembers every version, like unlimited save points in a game, and lets many people work at once. Ask: who has ever lost work because they saved over something?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repository is a project folder git is watching. Each programming project is usually its own repo: the robot code, MWLib, this year's vision code. Every repo keeps its whole history inside a hidden .git folder.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commit is a saved snapshot with a message. Keep commits small so each one is one step. They act as breadcrumbs for your work, so a teammate (or you, next week) can see exactly what changed and when. Activity: have students rewrite the bad messages.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code moves through four places. You edit in the working directory. git add (the + button) stages a change: picks it for the next commit, like putting items in a box before you seal it. git commit seals the box into your local repository. git push sends it to the remote on GitHub. Edit, save, stage, message, commit is the routine every time.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branch is your own line of work that doesn't disturb anyone else's. Always branch for a new feature. Here a bugfix and a new feature both started from main and grow side by side: neither one sees the other's commits until they're merged.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conventions: main is production-ready. develop collects finished features. Every feature branch starts from develop, is named issue-&lt;number&gt;-&lt;description&gt; after its GitHub issue, and merges back into develop through a pull request. When develop is ready for competition it's merged into main. Nobody pushes straight to main or develop.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Merging brings another branch's commits into the one you're on. Stand on the branch that receives the work: here we're on develop and merge shooter into it. The merge commit (the solid dot) has two parents, so develop now has the teammate's commit and all of shooter's. On the team, merges happen through pull requests on GitHub so someone reviews the code first.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two branches changed the same line, git can't guess which one is right, so it stops and asks you. It's not an error. Analogy: two people edit the same line of a recipe, one to 2 cups and one to half a cup. The editor shows Accept Current, Accept Incoming and Accept Both above the conflict.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Rebase picks up your commits and puts them back down on top of develop's newest commit, as if you had just started. A and B become new commits A' and B' (new IDs), and history becomes one straight line. Because it rewrites your commits, only rebase a branch nobody else has copied. If you're not sure, merge: it's always safe.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project folder is the local copy. The team's shared copy lives on GitHub and is called the remote, usually named origin. Push sends your commits up; pull brings teammates' commits down. Stash puts unfinished work on a shelf so you can switch branches, and stash pop brings it back.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is where the team stores every project online (github.com/FRC-Team-4143). Beyond storage it gives us pull requests for code review, issues to track work, and project boards to see who is doing what. Feature branch names come from issue numbers.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every task on the team flows, start to finish. Find or make the issue and assign yourself. Branch from develop named after the issue. Commit small steps and comment on the issue as you go. Open a pull request linked to the issue, ask a teammate or mentor to review, merge once it's approved, then delete the branch. The project board columns follow along.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can't see inside a robot. Telemetry is how the robot tells us what it's doing.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loop (about 50 times a second) the robot code can publish values: speeds, sensor readings, where it thinks it is. Those values travel over NetworkTables to tools on the laptop. AdvantageScope graphs and draws them; Elastic shows them to drivers. AdvantageKit can also save them to a log file to replay after a match.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AdvantageScope window. Sidebar: every field the robot publishes, in folders; drag one into the view. Tab bar: one tab per view (Line Graph, 2D Field, 3D Field, Swerve and more); add tabs with +. Viewer: the graph or field itself. Control pane: which fields this tab shows and on which axis. Screenshot from the AdvantageScope docs.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published value is a field with a name and a type. The type decides how AdvantageScope can show it: numbers on a line graph, true/false as colored bands, poses on a field. Ask: what type would the battery voltage be? Is a game piece loaded?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graphs plot values over time. 1: the left and right axes each have their own scale, so flywheel speed (hundreds of rad/s) and battery voltage (about 12 V) fit on one graph. 2: lock an axis range with the lock icon so the scale stops jumping. 3: discrete fields show true/false and text as colored bands under the graph. 4: hover to read exact values at one moment; scroll to zoom in time. Ask: why does the voltage dip when the flywheel spins up?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tab shows data a different way. Line Graph for numbers over time. 2D Field for where the robot is. 3D Field to watch the whole robot and its mechanisms. Swerve for each wheel's speed and direction. Screenshots from the AdvantageScope docs.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Differentiate shows how fast a value is changing. Flywheel velocity (rad/s) differentiated is how fast the flywheel is speeding up: big while it spins up, zero once it holds speed, negative as it slows. Same idea as speed and acceleration: a car cruising at a steady 25 m/s has zero acceleration.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pose is where the robot is and which way it faces: x and y in meters from the field's origin corner (the blue alliance side), plus a rotation measured counterclockwise from the x axis. A Pose2d is flat; a Pose3d adds height, tilt and roll. The 2D and 3D Field tabs draw it so you can watch the robot drive. Ask: what happens to x as the robot drives toward the red alliance?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AdvantageScope was built by Team 6328. It reads two kinds of source. Live: anything on NetworkTables, from the robot or the simulator (File &gt; Connect to Robot / Connect to Simulator). Logs: files recorded during testing and matches, opened with File &gt; Open Log(s). It's a big app for development and match review, not for driving during competition; that's Elastic's job. The team keeps layout templates (tuning, match review) you load with File &gt; Import Layout.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values are read-only: AdvantageScope just shows them. Tuning Mode, the slider icon, lets you type new values, but only for values the code publishes under /Tuning. That's how we'll tune things like flywheel speed without redeploying code.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AdvantageScope is for programmers digging into data. Elastic is for drivers glancing at a screen.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tools read the same robot data. AdvantageScope is the analysis tool: graphs, replays, deep dives after a match. Elastic is the driver dashboard: big, simple widgets a driver can read in a glance, and controls they can set before a match. Elastic was built by Team 353 and replaces the older SmartDashboard and Shuffleboard.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competition dashboard from the Elastic docs. Everything is big and readable at a glance: the field with the robot's pose, match time, battery voltage, gyro heading, and the auto chooser the drive team sets before the match. Ask: what would you want to see in the half second you look away from the robot?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NetworkTables is a shared table of named values. The robot publishes a topic, like ClimberSpeed; any dashboard can subscribe to it by name. It also works the other way: a dashboard can publish a value and the robot reads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the widget that matches the data and what the driver needs to know. A boolean as a big green/red box is readable from across the room; a number bar shows a value against its range. To add one, click + Add Widget and drag a topic onto the grid; Elastic picks a widget from the topic's type, and right-click &gt; Edit Properties changes 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steps to every widget. Click + Add Widget, find the topic in the list (search helps), and drag it onto the grid. Elastic picks a widget that fits the data type. Then right-click it and choose Edit Properties to change the widget type, its title, or its range. Screenshots from the Elastic docs.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widgets only display. Some send values to the robot: sliders, choosers, toggles, text with a submit button. The robot reads whatever was last sent. This is how drivers pick the auto routine before a match. Elastic layouts are saved to a file, so use File &gt; Save.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Each tool has a Scriptum lesson in the Tools track; open the lesson chip and press Verify on each checkpoint. Nothing is graded and you can verify as many times as you like. The Tools track also has Choreo and Arbor lessons; those go with the Autonomous deck.</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Everything after this uses these tools: the editor every time, git for every change, AdvantageScope to check what the robot did, and Elastic to drive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6.jpg"/><Relationship Id="rId4" Type="http://schemas.openxmlformats.org/officeDocument/2006/relationships/image" Target="../media/image27.jpg"/><Relationship Id="rId5" Type="http://schemas.openxmlformats.org/officeDocument/2006/relationships/image" Target="../media/image28.jpg"/><Relationship Id="rId6" Type="http://schemas.openxmlformats.org/officeDocument/2006/relationships/image" Target="../media/image2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1.png"/><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34.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35.jpg"/><Relationship Id="rId4" Type="http://schemas.openxmlformats.org/officeDocument/2006/relationships/image" Target="../media/image3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3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TOOLS  ·  DECK 0</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The Tools</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Meet the Editor, Git Basics, AdvantageScope and Elastic: the four tools every MARS/WARS programmer uses from day one.</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Hi! I'm Dozer. I'll show you around the tools.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Four tools, four lessons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943350" cy="4953000"/>
          </a:xfrm>
          <a:prstGeom prst="roundRect">
            <a:avLst>
              <a:gd name="adj" fmla="val 38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vscode.png"/>
          <p:cNvPicPr>
            <a:picLocks noChangeAspect="1"/>
          </p:cNvPicPr>
          <p:nvPr/>
        </p:nvPicPr>
        <p:blipFill>
          <a:blip r:embed="rId3"/>
          <a:stretch>
            <a:fillRect/>
          </a:stretch>
        </p:blipFill>
        <p:spPr>
          <a:xfrm>
            <a:off x="1257300" y="3543300"/>
            <a:ext cx="998352" cy="838200"/>
          </a:xfrm>
          <a:prstGeom prst="rect">
            <a:avLst/>
          </a:prstGeom>
        </p:spPr>
      </p:pic>
      <p:sp>
        <p:nvSpPr>
          <p:cNvPr id="7" name="TextBox 6"/>
          <p:cNvSpPr txBox="1"/>
          <p:nvPr/>
        </p:nvSpPr>
        <p:spPr>
          <a:xfrm>
            <a:off x="125730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5143500"/>
            <a:ext cx="3257550" cy="7620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Meet the Editor</a:t>
            </a:r>
          </a:p>
        </p:txBody>
      </p:sp>
      <p:sp>
        <p:nvSpPr>
          <p:cNvPr id="9" name="TextBox 8"/>
          <p:cNvSpPr txBox="1"/>
          <p:nvPr/>
        </p:nvSpPr>
        <p:spPr>
          <a:xfrm>
            <a:off x="1257300" y="5810250"/>
            <a:ext cx="325755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Where code gets written, organized and run</a:t>
            </a:r>
          </a:p>
        </p:txBody>
      </p:sp>
      <p:sp>
        <p:nvSpPr>
          <p:cNvPr id="10" name="Rounded Rectangle 9"/>
          <p:cNvSpPr/>
          <p:nvPr/>
        </p:nvSpPr>
        <p:spPr>
          <a:xfrm>
            <a:off x="5086350" y="3143250"/>
            <a:ext cx="3943350" cy="4953000"/>
          </a:xfrm>
          <a:prstGeom prst="roundRect">
            <a:avLst>
              <a:gd name="adj" fmla="val 38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it.png"/>
          <p:cNvPicPr>
            <a:picLocks noChangeAspect="1"/>
          </p:cNvPicPr>
          <p:nvPr/>
        </p:nvPicPr>
        <p:blipFill>
          <a:blip r:embed="rId4"/>
          <a:stretch>
            <a:fillRect/>
          </a:stretch>
        </p:blipFill>
        <p:spPr>
          <a:xfrm>
            <a:off x="5429250" y="3543300"/>
            <a:ext cx="838200" cy="838200"/>
          </a:xfrm>
          <a:prstGeom prst="rect">
            <a:avLst/>
          </a:prstGeom>
        </p:spPr>
      </p:pic>
      <p:sp>
        <p:nvSpPr>
          <p:cNvPr id="12" name="TextBox 11"/>
          <p:cNvSpPr txBox="1"/>
          <p:nvPr/>
        </p:nvSpPr>
        <p:spPr>
          <a:xfrm>
            <a:off x="542925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5429250" y="5143500"/>
            <a:ext cx="3257550" cy="7620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Git Basics</a:t>
            </a:r>
          </a:p>
        </p:txBody>
      </p:sp>
      <p:sp>
        <p:nvSpPr>
          <p:cNvPr id="14" name="TextBox 13"/>
          <p:cNvSpPr txBox="1"/>
          <p:nvPr/>
        </p:nvSpPr>
        <p:spPr>
          <a:xfrm>
            <a:off x="5429250" y="5810250"/>
            <a:ext cx="325755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Saving versions and working as a team</a:t>
            </a:r>
          </a:p>
        </p:txBody>
      </p:sp>
      <p:sp>
        <p:nvSpPr>
          <p:cNvPr id="15" name="Rounded Rectangle 14"/>
          <p:cNvSpPr/>
          <p:nvPr/>
        </p:nvSpPr>
        <p:spPr>
          <a:xfrm>
            <a:off x="9258300" y="3143250"/>
            <a:ext cx="3943350" cy="4953000"/>
          </a:xfrm>
          <a:prstGeom prst="roundRect">
            <a:avLst>
              <a:gd name="adj" fmla="val 38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dvantagescope-logo.png"/>
          <p:cNvPicPr>
            <a:picLocks noChangeAspect="1"/>
          </p:cNvPicPr>
          <p:nvPr/>
        </p:nvPicPr>
        <p:blipFill>
          <a:blip r:embed="rId5"/>
          <a:stretch>
            <a:fillRect/>
          </a:stretch>
        </p:blipFill>
        <p:spPr>
          <a:xfrm>
            <a:off x="9601200" y="3543300"/>
            <a:ext cx="838200" cy="838200"/>
          </a:xfrm>
          <a:prstGeom prst="rect">
            <a:avLst/>
          </a:prstGeom>
        </p:spPr>
      </p:pic>
      <p:sp>
        <p:nvSpPr>
          <p:cNvPr id="17" name="TextBox 16"/>
          <p:cNvSpPr txBox="1"/>
          <p:nvPr/>
        </p:nvSpPr>
        <p:spPr>
          <a:xfrm>
            <a:off x="960120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9601200" y="5143500"/>
            <a:ext cx="3257550" cy="7620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AdvantageScope</a:t>
            </a:r>
          </a:p>
        </p:txBody>
      </p:sp>
      <p:sp>
        <p:nvSpPr>
          <p:cNvPr id="19" name="TextBox 18"/>
          <p:cNvSpPr txBox="1"/>
          <p:nvPr/>
        </p:nvSpPr>
        <p:spPr>
          <a:xfrm>
            <a:off x="9601200" y="5810250"/>
            <a:ext cx="325755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Seeing what the robot is doing</a:t>
            </a:r>
          </a:p>
        </p:txBody>
      </p:sp>
      <p:sp>
        <p:nvSpPr>
          <p:cNvPr id="20" name="Rounded Rectangle 19"/>
          <p:cNvSpPr/>
          <p:nvPr/>
        </p:nvSpPr>
        <p:spPr>
          <a:xfrm>
            <a:off x="13430250" y="3143250"/>
            <a:ext cx="3943350" cy="4953000"/>
          </a:xfrm>
          <a:prstGeom prst="roundRect">
            <a:avLst>
              <a:gd name="adj" fmla="val 38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elastic-logo.png"/>
          <p:cNvPicPr>
            <a:picLocks noChangeAspect="1"/>
          </p:cNvPicPr>
          <p:nvPr/>
        </p:nvPicPr>
        <p:blipFill>
          <a:blip r:embed="rId6"/>
          <a:stretch>
            <a:fillRect/>
          </a:stretch>
        </p:blipFill>
        <p:spPr>
          <a:xfrm>
            <a:off x="13773150" y="3543300"/>
            <a:ext cx="838200" cy="838200"/>
          </a:xfrm>
          <a:prstGeom prst="rect">
            <a:avLst/>
          </a:prstGeom>
        </p:spPr>
      </p:pic>
      <p:sp>
        <p:nvSpPr>
          <p:cNvPr id="22" name="TextBox 21"/>
          <p:cNvSpPr txBox="1"/>
          <p:nvPr/>
        </p:nvSpPr>
        <p:spPr>
          <a:xfrm>
            <a:off x="1377315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3773150" y="5143500"/>
            <a:ext cx="3257550" cy="7620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Elastic</a:t>
            </a:r>
          </a:p>
        </p:txBody>
      </p:sp>
      <p:sp>
        <p:nvSpPr>
          <p:cNvPr id="24" name="TextBox 23"/>
          <p:cNvSpPr txBox="1"/>
          <p:nvPr/>
        </p:nvSpPr>
        <p:spPr>
          <a:xfrm>
            <a:off x="13773150" y="5810250"/>
            <a:ext cx="325755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dashboard drivers use in a match</a:t>
            </a:r>
          </a:p>
        </p:txBody>
      </p:sp>
      <p:sp>
        <p:nvSpPr>
          <p:cNvPr id="25" name="Rounded Rectangle 24"/>
          <p:cNvSpPr/>
          <p:nvPr/>
        </p:nvSpPr>
        <p:spPr>
          <a:xfrm>
            <a:off x="914400" y="83820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signpost.png"/>
          <p:cNvPicPr>
            <a:picLocks noChangeAspect="1"/>
          </p:cNvPicPr>
          <p:nvPr/>
        </p:nvPicPr>
        <p:blipFill>
          <a:blip r:embed="rId7"/>
          <a:stretch>
            <a:fillRect/>
          </a:stretch>
        </p:blipFill>
        <p:spPr>
          <a:xfrm>
            <a:off x="1333500" y="8543925"/>
            <a:ext cx="490728" cy="533400"/>
          </a:xfrm>
          <a:prstGeom prst="rect">
            <a:avLst/>
          </a:prstGeom>
        </p:spPr>
      </p:pic>
      <p:sp>
        <p:nvSpPr>
          <p:cNvPr id="27" name="TextBox 26"/>
          <p:cNvSpPr txBox="1"/>
          <p:nvPr/>
        </p:nvSpPr>
        <p:spPr>
          <a:xfrm>
            <a:off x="2190750" y="83820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Later:  </a:t>
            </a:r>
            <a:r>
              <a:rPr sz="2100" b="0" i="0">
                <a:solidFill>
                  <a:srgbClr val="F0E8E8"/>
                </a:solidFill>
                <a:latin typeface="Geist"/>
                <a:ea typeface="Geist"/>
                <a:cs typeface="Geist"/>
              </a:rPr>
              <a:t>Choreo and Arbor, the autonomous tools, are introduced in the Autonomous deck.</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WHERE THESE TOOLS LIVE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Team laptops and training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5715000"/>
          </a:xfrm>
          <a:prstGeom prst="roundRect">
            <a:avLst>
              <a:gd name="adj" fmla="val 2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66675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ON THE TEAM LAPTOPS</a:t>
            </a:r>
          </a:p>
        </p:txBody>
      </p:sp>
      <p:sp>
        <p:nvSpPr>
          <p:cNvPr id="7" name="TextBox 6"/>
          <p:cNvSpPr txBox="1"/>
          <p:nvPr/>
        </p:nvSpPr>
        <p:spPr>
          <a:xfrm>
            <a:off x="1371600" y="3714750"/>
            <a:ext cx="7239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Separate desktop apps</a:t>
            </a:r>
          </a:p>
        </p:txBody>
      </p:sp>
      <p:pic>
        <p:nvPicPr>
          <p:cNvPr id="8" name="Picture 7" descr="vscode.png"/>
          <p:cNvPicPr>
            <a:picLocks noChangeAspect="1"/>
          </p:cNvPicPr>
          <p:nvPr/>
        </p:nvPicPr>
        <p:blipFill>
          <a:blip r:embed="rId3"/>
          <a:stretch>
            <a:fillRect/>
          </a:stretch>
        </p:blipFill>
        <p:spPr>
          <a:xfrm>
            <a:off x="1371600" y="4476750"/>
            <a:ext cx="635315" cy="533400"/>
          </a:xfrm>
          <a:prstGeom prst="rect">
            <a:avLst/>
          </a:prstGeom>
        </p:spPr>
      </p:pic>
      <p:sp>
        <p:nvSpPr>
          <p:cNvPr id="9" name="TextBox 8"/>
          <p:cNvSpPr txBox="1"/>
          <p:nvPr/>
        </p:nvSpPr>
        <p:spPr>
          <a:xfrm>
            <a:off x="2247900" y="4476750"/>
            <a:ext cx="5715000" cy="5334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VS Code + WPILib</a:t>
            </a:r>
          </a:p>
        </p:txBody>
      </p:sp>
      <p:pic>
        <p:nvPicPr>
          <p:cNvPr id="10" name="Picture 9" descr="advantagescope-logo.png"/>
          <p:cNvPicPr>
            <a:picLocks noChangeAspect="1"/>
          </p:cNvPicPr>
          <p:nvPr/>
        </p:nvPicPr>
        <p:blipFill>
          <a:blip r:embed="rId4"/>
          <a:stretch>
            <a:fillRect/>
          </a:stretch>
        </p:blipFill>
        <p:spPr>
          <a:xfrm>
            <a:off x="1371600" y="5181600"/>
            <a:ext cx="533400" cy="533400"/>
          </a:xfrm>
          <a:prstGeom prst="rect">
            <a:avLst/>
          </a:prstGeom>
        </p:spPr>
      </p:pic>
      <p:sp>
        <p:nvSpPr>
          <p:cNvPr id="11" name="TextBox 10"/>
          <p:cNvSpPr txBox="1"/>
          <p:nvPr/>
        </p:nvSpPr>
        <p:spPr>
          <a:xfrm>
            <a:off x="2247900" y="5181600"/>
            <a:ext cx="5715000" cy="5334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AdvantageScope</a:t>
            </a:r>
          </a:p>
        </p:txBody>
      </p:sp>
      <p:pic>
        <p:nvPicPr>
          <p:cNvPr id="12" name="Picture 11" descr="elastic-logo.png"/>
          <p:cNvPicPr>
            <a:picLocks noChangeAspect="1"/>
          </p:cNvPicPr>
          <p:nvPr/>
        </p:nvPicPr>
        <p:blipFill>
          <a:blip r:embed="rId5"/>
          <a:stretch>
            <a:fillRect/>
          </a:stretch>
        </p:blipFill>
        <p:spPr>
          <a:xfrm>
            <a:off x="1371600" y="5886450"/>
            <a:ext cx="533400" cy="533400"/>
          </a:xfrm>
          <a:prstGeom prst="rect">
            <a:avLst/>
          </a:prstGeom>
        </p:spPr>
      </p:pic>
      <p:sp>
        <p:nvSpPr>
          <p:cNvPr id="13" name="TextBox 12"/>
          <p:cNvSpPr txBox="1"/>
          <p:nvPr/>
        </p:nvSpPr>
        <p:spPr>
          <a:xfrm>
            <a:off x="2247900" y="5886450"/>
            <a:ext cx="5715000" cy="5334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Elastic</a:t>
            </a:r>
          </a:p>
        </p:txBody>
      </p:sp>
      <p:sp>
        <p:nvSpPr>
          <p:cNvPr id="14" name="TextBox 13"/>
          <p:cNvSpPr txBox="1"/>
          <p:nvPr/>
        </p:nvSpPr>
        <p:spPr>
          <a:xfrm>
            <a:off x="1371600" y="6667500"/>
            <a:ext cx="7239000" cy="5334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Later, for autonomous: Choreo and Arbor</a:t>
            </a:r>
          </a:p>
        </p:txBody>
      </p:sp>
      <p:sp>
        <p:nvSpPr>
          <p:cNvPr id="15" name="TextBox 14"/>
          <p:cNvSpPr txBox="1"/>
          <p:nvPr/>
        </p:nvSpPr>
        <p:spPr>
          <a:xfrm>
            <a:off x="1371600" y="80010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What you use on the real robot</a:t>
            </a:r>
          </a:p>
        </p:txBody>
      </p:sp>
      <p:sp>
        <p:nvSpPr>
          <p:cNvPr id="16" name="Rounded Rectangle 15"/>
          <p:cNvSpPr/>
          <p:nvPr/>
        </p:nvSpPr>
        <p:spPr>
          <a:xfrm>
            <a:off x="9334500" y="2857500"/>
            <a:ext cx="80391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791700" y="3238500"/>
            <a:ext cx="6667500" cy="38100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IN TRAINING</a:t>
            </a:r>
          </a:p>
        </p:txBody>
      </p:sp>
      <p:sp>
        <p:nvSpPr>
          <p:cNvPr id="18" name="TextBox 17"/>
          <p:cNvSpPr txBox="1"/>
          <p:nvPr/>
        </p:nvSpPr>
        <p:spPr>
          <a:xfrm>
            <a:off x="9791700" y="3714750"/>
            <a:ext cx="7239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Scriptum</a:t>
            </a:r>
          </a:p>
        </p:txBody>
      </p:sp>
      <p:sp>
        <p:nvSpPr>
          <p:cNvPr id="19" name="Rectangle 18"/>
          <p:cNvSpPr/>
          <p:nvPr/>
        </p:nvSpPr>
        <p:spPr>
          <a:xfrm>
            <a:off x="9791700" y="4572000"/>
            <a:ext cx="5731282" cy="314325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welcome.png"/>
          <p:cNvPicPr>
            <a:picLocks noChangeAspect="1"/>
          </p:cNvPicPr>
          <p:nvPr/>
        </p:nvPicPr>
        <p:blipFill>
          <a:blip r:embed="rId6"/>
          <a:stretch>
            <a:fillRect/>
          </a:stretch>
        </p:blipFill>
        <p:spPr>
          <a:xfrm>
            <a:off x="9791700" y="4572000"/>
            <a:ext cx="5731282" cy="3143250"/>
          </a:xfrm>
          <a:prstGeom prst="rect">
            <a:avLst/>
          </a:prstGeom>
        </p:spPr>
      </p:pic>
      <p:sp>
        <p:nvSpPr>
          <p:cNvPr id="21" name="Rectangle 20"/>
          <p:cNvSpPr/>
          <p:nvPr/>
        </p:nvSpPr>
        <p:spPr>
          <a:xfrm>
            <a:off x="9791700" y="4572000"/>
            <a:ext cx="5731282" cy="314325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791700" y="80010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The same tools in one browser window, with a simulated robot</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ROBOT SAFETY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real robot can hurt someone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It can move fast and without warning</a:t>
            </a:r>
          </a:p>
        </p:txBody>
      </p:sp>
      <p:sp>
        <p:nvSpPr>
          <p:cNvPr id="6" name="TextBox 5"/>
          <p:cNvSpPr txBox="1"/>
          <p:nvPr/>
        </p:nvSpPr>
        <p:spPr>
          <a:xfrm>
            <a:off x="914400" y="353949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It doesn't know anyone is standing next to it</a:t>
            </a:r>
          </a:p>
        </p:txBody>
      </p:sp>
      <p:sp>
        <p:nvSpPr>
          <p:cNvPr id="7" name="TextBox 6"/>
          <p:cNvSpPr txBox="1"/>
          <p:nvPr/>
        </p:nvSpPr>
        <p:spPr>
          <a:xfrm>
            <a:off x="914400" y="422148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Autonomous moves it with nobody driving</a:t>
            </a:r>
          </a:p>
        </p:txBody>
      </p:sp>
      <p:sp>
        <p:nvSpPr>
          <p:cNvPr id="8" name="TextBox 7"/>
          <p:cNvSpPr txBox="1"/>
          <p:nvPr/>
        </p:nvSpPr>
        <p:spPr>
          <a:xfrm>
            <a:off x="914400" y="490347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The person at the Driver Station is responsible</a:t>
            </a:r>
          </a:p>
        </p:txBody>
      </p:sp>
      <p:sp>
        <p:nvSpPr>
          <p:cNvPr id="9" name="Rounded Rectangle 8"/>
          <p:cNvSpPr/>
          <p:nvPr/>
        </p:nvSpPr>
        <p:spPr>
          <a:xfrm>
            <a:off x="10287000" y="2857500"/>
            <a:ext cx="7086600" cy="1333500"/>
          </a:xfrm>
          <a:prstGeom prst="roundRect">
            <a:avLst>
              <a:gd name="adj" fmla="val 10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at-left-text.png"/>
          <p:cNvPicPr>
            <a:picLocks noChangeAspect="1"/>
          </p:cNvPicPr>
          <p:nvPr/>
        </p:nvPicPr>
        <p:blipFill>
          <a:blip r:embed="rId3"/>
          <a:stretch>
            <a:fillRect/>
          </a:stretch>
        </p:blipFill>
        <p:spPr>
          <a:xfrm>
            <a:off x="10629900" y="3219450"/>
            <a:ext cx="636970" cy="609600"/>
          </a:xfrm>
          <a:prstGeom prst="rect">
            <a:avLst/>
          </a:prstGeom>
        </p:spPr>
      </p:pic>
      <p:sp>
        <p:nvSpPr>
          <p:cNvPr id="11" name="TextBox 10"/>
          <p:cNvSpPr txBox="1"/>
          <p:nvPr/>
        </p:nvSpPr>
        <p:spPr>
          <a:xfrm>
            <a:off x="11544300" y="3067050"/>
            <a:ext cx="5524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Call it</a:t>
            </a:r>
          </a:p>
        </p:txBody>
      </p:sp>
      <p:sp>
        <p:nvSpPr>
          <p:cNvPr id="12" name="TextBox 11"/>
          <p:cNvSpPr txBox="1"/>
          <p:nvPr/>
        </p:nvSpPr>
        <p:spPr>
          <a:xfrm>
            <a:off x="11544300" y="3562350"/>
            <a:ext cx="5524500" cy="47625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Say “ENABLING!” and wait for “Clear!”</a:t>
            </a:r>
          </a:p>
        </p:txBody>
      </p:sp>
      <p:sp>
        <p:nvSpPr>
          <p:cNvPr id="13" name="Rounded Rectangle 12"/>
          <p:cNvSpPr/>
          <p:nvPr/>
        </p:nvSpPr>
        <p:spPr>
          <a:xfrm>
            <a:off x="10287000" y="4476750"/>
            <a:ext cx="70866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ui-radios.png"/>
          <p:cNvPicPr>
            <a:picLocks noChangeAspect="1"/>
          </p:cNvPicPr>
          <p:nvPr/>
        </p:nvPicPr>
        <p:blipFill>
          <a:blip r:embed="rId4"/>
          <a:stretch>
            <a:fillRect/>
          </a:stretch>
        </p:blipFill>
        <p:spPr>
          <a:xfrm>
            <a:off x="10629900" y="4838700"/>
            <a:ext cx="653143" cy="609600"/>
          </a:xfrm>
          <a:prstGeom prst="rect">
            <a:avLst/>
          </a:prstGeom>
        </p:spPr>
      </p:pic>
      <p:sp>
        <p:nvSpPr>
          <p:cNvPr id="15" name="TextBox 14"/>
          <p:cNvSpPr txBox="1"/>
          <p:nvPr/>
        </p:nvSpPr>
        <p:spPr>
          <a:xfrm>
            <a:off x="11544300" y="4686300"/>
            <a:ext cx="5524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Pick the mode</a:t>
            </a:r>
          </a:p>
        </p:txBody>
      </p:sp>
      <p:sp>
        <p:nvSpPr>
          <p:cNvPr id="16" name="TextBox 15"/>
          <p:cNvSpPr txBox="1"/>
          <p:nvPr/>
        </p:nvSpPr>
        <p:spPr>
          <a:xfrm>
            <a:off x="11544300" y="5181600"/>
            <a:ext cx="5524500" cy="47625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Check the mode before you press Enable</a:t>
            </a:r>
          </a:p>
        </p:txBody>
      </p:sp>
      <p:sp>
        <p:nvSpPr>
          <p:cNvPr id="17" name="Rounded Rectangle 16"/>
          <p:cNvSpPr/>
          <p:nvPr/>
        </p:nvSpPr>
        <p:spPr>
          <a:xfrm>
            <a:off x="10287000" y="6096000"/>
            <a:ext cx="70866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ightbulb.png"/>
          <p:cNvPicPr>
            <a:picLocks noChangeAspect="1"/>
          </p:cNvPicPr>
          <p:nvPr/>
        </p:nvPicPr>
        <p:blipFill>
          <a:blip r:embed="rId5"/>
          <a:stretch>
            <a:fillRect/>
          </a:stretch>
        </p:blipFill>
        <p:spPr>
          <a:xfrm>
            <a:off x="10629900" y="6457950"/>
            <a:ext cx="457200" cy="609600"/>
          </a:xfrm>
          <a:prstGeom prst="rect">
            <a:avLst/>
          </a:prstGeom>
        </p:spPr>
      </p:pic>
      <p:sp>
        <p:nvSpPr>
          <p:cNvPr id="19" name="TextBox 18"/>
          <p:cNvSpPr txBox="1"/>
          <p:nvPr/>
        </p:nvSpPr>
        <p:spPr>
          <a:xfrm>
            <a:off x="11544300" y="6305550"/>
            <a:ext cx="5524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Read the light</a:t>
            </a:r>
          </a:p>
        </p:txBody>
      </p:sp>
      <p:sp>
        <p:nvSpPr>
          <p:cNvPr id="20" name="TextBox 19"/>
          <p:cNvSpPr txBox="1"/>
          <p:nvPr/>
        </p:nvSpPr>
        <p:spPr>
          <a:xfrm>
            <a:off x="11544300" y="6800850"/>
            <a:ext cx="5524500" cy="47625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Blinking means enabled: stay back</a:t>
            </a:r>
          </a:p>
        </p:txBody>
      </p:sp>
      <p:sp>
        <p:nvSpPr>
          <p:cNvPr id="21" name="TextBox 20"/>
          <p:cNvSpPr txBox="1"/>
          <p:nvPr/>
        </p:nvSpPr>
        <p:spPr>
          <a:xfrm>
            <a:off x="914400" y="7905750"/>
            <a:ext cx="133350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If you're not sure the robot is safe to enable, it isn't.</a:t>
            </a:r>
          </a:p>
        </p:txBody>
      </p:sp>
      <p:pic>
        <p:nvPicPr>
          <p:cNvPr id="22" name="Picture 21" descr="dozer_wide_left.png"/>
          <p:cNvPicPr>
            <a:picLocks noChangeAspect="1"/>
          </p:cNvPicPr>
          <p:nvPr/>
        </p:nvPicPr>
        <p:blipFill>
          <a:blip r:embed="rId6"/>
          <a:stretch>
            <a:fillRect/>
          </a:stretch>
        </p:blipFill>
        <p:spPr>
          <a:xfrm>
            <a:off x="15144750" y="7620000"/>
            <a:ext cx="2095500" cy="1287986"/>
          </a:xfrm>
          <a:prstGeom prst="rect">
            <a:avLst/>
          </a:prstGeom>
        </p:spPr>
      </p:pic>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ROBOT SAFETY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Before every enable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291084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272034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Mode</a:t>
            </a:r>
          </a:p>
        </p:txBody>
      </p:sp>
      <p:sp>
        <p:nvSpPr>
          <p:cNvPr id="7" name="TextBox 6"/>
          <p:cNvSpPr txBox="1"/>
          <p:nvPr/>
        </p:nvSpPr>
        <p:spPr>
          <a:xfrm>
            <a:off x="1066800" y="4210050"/>
            <a:ext cx="260604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Check it on the Driver Station</a:t>
            </a:r>
          </a:p>
        </p:txBody>
      </p:sp>
      <p:cxnSp>
        <p:nvCxnSpPr>
          <p:cNvPr id="8" name="Connector 7"/>
          <p:cNvCxnSpPr/>
          <p:nvPr/>
        </p:nvCxnSpPr>
        <p:spPr>
          <a:xfrm>
            <a:off x="3901440" y="4095750"/>
            <a:ext cx="32385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01490" y="3048000"/>
            <a:ext cx="291084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396740" y="3619500"/>
            <a:ext cx="272034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Look</a:t>
            </a:r>
          </a:p>
        </p:txBody>
      </p:sp>
      <p:sp>
        <p:nvSpPr>
          <p:cNvPr id="11" name="TextBox 10"/>
          <p:cNvSpPr txBox="1"/>
          <p:nvPr/>
        </p:nvSpPr>
        <p:spPr>
          <a:xfrm>
            <a:off x="4453890" y="4210050"/>
            <a:ext cx="260604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Nobody touching or in its path</a:t>
            </a:r>
          </a:p>
        </p:txBody>
      </p:sp>
      <p:cxnSp>
        <p:nvCxnSpPr>
          <p:cNvPr id="12" name="Connector 11"/>
          <p:cNvCxnSpPr/>
          <p:nvPr/>
        </p:nvCxnSpPr>
        <p:spPr>
          <a:xfrm>
            <a:off x="7288530" y="4095750"/>
            <a:ext cx="32385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688580" y="3048000"/>
            <a:ext cx="2910840" cy="2095500"/>
          </a:xfrm>
          <a:prstGeom prst="roundRect">
            <a:avLst>
              <a:gd name="adj" fmla="val 727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83830" y="3619500"/>
            <a:ext cx="272034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“ENABLING!”</a:t>
            </a:r>
          </a:p>
        </p:txBody>
      </p:sp>
      <p:sp>
        <p:nvSpPr>
          <p:cNvPr id="15" name="TextBox 14"/>
          <p:cNvSpPr txBox="1"/>
          <p:nvPr/>
        </p:nvSpPr>
        <p:spPr>
          <a:xfrm>
            <a:off x="7840980" y="4210050"/>
            <a:ext cx="260604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Say it loud</a:t>
            </a:r>
          </a:p>
        </p:txBody>
      </p:sp>
      <p:cxnSp>
        <p:nvCxnSpPr>
          <p:cNvPr id="16" name="Connector 15"/>
          <p:cNvCxnSpPr/>
          <p:nvPr/>
        </p:nvCxnSpPr>
        <p:spPr>
          <a:xfrm>
            <a:off x="10675620" y="4095750"/>
            <a:ext cx="32385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1075670" y="3048000"/>
            <a:ext cx="291084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170920" y="3619500"/>
            <a:ext cx="272034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“Clear!”</a:t>
            </a:r>
          </a:p>
        </p:txBody>
      </p:sp>
      <p:sp>
        <p:nvSpPr>
          <p:cNvPr id="19" name="TextBox 18"/>
          <p:cNvSpPr txBox="1"/>
          <p:nvPr/>
        </p:nvSpPr>
        <p:spPr>
          <a:xfrm>
            <a:off x="11228070" y="4210050"/>
            <a:ext cx="260604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Wait for the answer</a:t>
            </a:r>
          </a:p>
        </p:txBody>
      </p:sp>
      <p:cxnSp>
        <p:nvCxnSpPr>
          <p:cNvPr id="20" name="Connector 19"/>
          <p:cNvCxnSpPr/>
          <p:nvPr/>
        </p:nvCxnSpPr>
        <p:spPr>
          <a:xfrm>
            <a:off x="14062710" y="4095750"/>
            <a:ext cx="32385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4462760" y="3048000"/>
            <a:ext cx="291084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4558010" y="3619500"/>
            <a:ext cx="272034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Enable</a:t>
            </a:r>
          </a:p>
        </p:txBody>
      </p:sp>
      <p:sp>
        <p:nvSpPr>
          <p:cNvPr id="23" name="TextBox 22"/>
          <p:cNvSpPr txBox="1"/>
          <p:nvPr/>
        </p:nvSpPr>
        <p:spPr>
          <a:xfrm>
            <a:off x="14615160" y="4210050"/>
            <a:ext cx="260604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Hand ready to stop</a:t>
            </a:r>
          </a:p>
        </p:txBody>
      </p:sp>
      <p:sp>
        <p:nvSpPr>
          <p:cNvPr id="24" name="Rounded Rectangle 23"/>
          <p:cNvSpPr/>
          <p:nvPr/>
        </p:nvSpPr>
        <p:spPr>
          <a:xfrm>
            <a:off x="914400" y="5905500"/>
            <a:ext cx="1714500" cy="857250"/>
          </a:xfrm>
          <a:prstGeom prst="roundRect">
            <a:avLst>
              <a:gd name="adj" fmla="val 13333"/>
            </a:avLst>
          </a:prstGeom>
          <a:solidFill>
            <a:srgbClr val="1A0F0F"/>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4400" y="5905500"/>
            <a:ext cx="1714500" cy="857250"/>
          </a:xfrm>
          <a:prstGeom prst="rect">
            <a:avLst/>
          </a:prstGeom>
          <a:noFill/>
        </p:spPr>
        <p:txBody>
          <a:bodyPr wrap="square" lIns="0" rIns="0" tIns="0" bIns="0" anchor="ctr">
            <a:spAutoFit/>
          </a:bodyPr>
          <a:lstStyle/>
          <a:p>
            <a:pPr algn="ctr"/>
            <a:r>
              <a:rPr sz="2250" b="1" i="0">
                <a:solidFill>
                  <a:srgbClr val="E8C27A"/>
                </a:solidFill>
                <a:latin typeface="Geist Mono"/>
                <a:ea typeface="Geist Mono"/>
                <a:cs typeface="Geist Mono"/>
              </a:rPr>
              <a:t>Enter</a:t>
            </a:r>
          </a:p>
        </p:txBody>
      </p:sp>
      <p:sp>
        <p:nvSpPr>
          <p:cNvPr id="26" name="TextBox 25"/>
          <p:cNvSpPr txBox="1"/>
          <p:nvPr/>
        </p:nvSpPr>
        <p:spPr>
          <a:xfrm>
            <a:off x="2914650" y="5905500"/>
            <a:ext cx="3810000" cy="85725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Disable</a:t>
            </a:r>
          </a:p>
        </p:txBody>
      </p:sp>
      <p:sp>
        <p:nvSpPr>
          <p:cNvPr id="27" name="Rounded Rectangle 26"/>
          <p:cNvSpPr/>
          <p:nvPr/>
        </p:nvSpPr>
        <p:spPr>
          <a:xfrm>
            <a:off x="7010400" y="5905500"/>
            <a:ext cx="1714500" cy="857250"/>
          </a:xfrm>
          <a:prstGeom prst="roundRect">
            <a:avLst>
              <a:gd name="adj" fmla="val 13333"/>
            </a:avLst>
          </a:prstGeom>
          <a:solidFill>
            <a:srgbClr val="1A0F0F"/>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010400" y="5905500"/>
            <a:ext cx="1714500" cy="857250"/>
          </a:xfrm>
          <a:prstGeom prst="rect">
            <a:avLst/>
          </a:prstGeom>
          <a:noFill/>
        </p:spPr>
        <p:txBody>
          <a:bodyPr wrap="square" lIns="0" rIns="0" tIns="0" bIns="0" anchor="ctr">
            <a:spAutoFit/>
          </a:bodyPr>
          <a:lstStyle/>
          <a:p>
            <a:pPr algn="ctr"/>
            <a:r>
              <a:rPr sz="2250" b="1" i="0">
                <a:solidFill>
                  <a:srgbClr val="E8C27A"/>
                </a:solidFill>
                <a:latin typeface="Geist Mono"/>
                <a:ea typeface="Geist Mono"/>
                <a:cs typeface="Geist Mono"/>
              </a:rPr>
              <a:t>Space</a:t>
            </a:r>
          </a:p>
        </p:txBody>
      </p:sp>
      <p:sp>
        <p:nvSpPr>
          <p:cNvPr id="29" name="TextBox 28"/>
          <p:cNvSpPr txBox="1"/>
          <p:nvPr/>
        </p:nvSpPr>
        <p:spPr>
          <a:xfrm>
            <a:off x="9010650" y="5905500"/>
            <a:ext cx="3810000" cy="85725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Emergency stop, then reboot</a:t>
            </a:r>
          </a:p>
        </p:txBody>
      </p:sp>
      <p:sp>
        <p:nvSpPr>
          <p:cNvPr id="30" name="Rounded Rectangle 29"/>
          <p:cNvSpPr/>
          <p:nvPr/>
        </p:nvSpPr>
        <p:spPr>
          <a:xfrm>
            <a:off x="914400" y="7620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exclamation-triangle-fill.png"/>
          <p:cNvPicPr>
            <a:picLocks noChangeAspect="1"/>
          </p:cNvPicPr>
          <p:nvPr/>
        </p:nvPicPr>
        <p:blipFill>
          <a:blip r:embed="rId3"/>
          <a:stretch>
            <a:fillRect/>
          </a:stretch>
        </p:blipFill>
        <p:spPr>
          <a:xfrm>
            <a:off x="1333500" y="7829550"/>
            <a:ext cx="609600" cy="533400"/>
          </a:xfrm>
          <a:prstGeom prst="rect">
            <a:avLst/>
          </a:prstGeom>
        </p:spPr>
      </p:pic>
      <p:sp>
        <p:nvSpPr>
          <p:cNvPr id="32" name="TextBox 31"/>
          <p:cNvSpPr txBox="1"/>
          <p:nvPr/>
        </p:nvSpPr>
        <p:spPr>
          <a:xfrm>
            <a:off x="2190750" y="76200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No “Clear!”?  </a:t>
            </a:r>
            <a:r>
              <a:rPr sz="2100" b="0" i="0">
                <a:solidFill>
                  <a:srgbClr val="F0E8E8"/>
                </a:solidFill>
                <a:latin typeface="Geist"/>
                <a:ea typeface="Geist"/>
                <a:cs typeface="Geist"/>
              </a:rPr>
              <a:t>Don't enable. Find out why first.</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ROBOT SAFETY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right mode, every time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8001000" cy="2559272"/>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river-station-short-modes.png"/>
          <p:cNvPicPr>
            <a:picLocks noChangeAspect="1"/>
          </p:cNvPicPr>
          <p:nvPr/>
        </p:nvPicPr>
        <p:blipFill>
          <a:blip r:embed="rId3"/>
          <a:stretch>
            <a:fillRect/>
          </a:stretch>
        </p:blipFill>
        <p:spPr>
          <a:xfrm>
            <a:off x="914400" y="2857500"/>
            <a:ext cx="8001000" cy="2559272"/>
          </a:xfrm>
          <a:prstGeom prst="rect">
            <a:avLst/>
          </a:prstGeom>
        </p:spPr>
      </p:pic>
      <p:sp>
        <p:nvSpPr>
          <p:cNvPr id="7" name="Rectangle 6"/>
          <p:cNvSpPr/>
          <p:nvPr/>
        </p:nvSpPr>
        <p:spPr>
          <a:xfrm>
            <a:off x="914400" y="2857500"/>
            <a:ext cx="8001000" cy="2559272"/>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9334500" y="2857500"/>
            <a:ext cx="8039100" cy="1238250"/>
          </a:xfrm>
          <a:prstGeom prst="roundRect">
            <a:avLst>
              <a:gd name="adj" fmla="val 1076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715500" y="3028950"/>
            <a:ext cx="7239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TeleOperated</a:t>
            </a:r>
          </a:p>
        </p:txBody>
      </p:sp>
      <p:sp>
        <p:nvSpPr>
          <p:cNvPr id="10" name="TextBox 9"/>
          <p:cNvSpPr txBox="1"/>
          <p:nvPr/>
        </p:nvSpPr>
        <p:spPr>
          <a:xfrm>
            <a:off x="9715500" y="3505200"/>
            <a:ext cx="7239000" cy="47625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Moves only when a driver moves a stick.</a:t>
            </a:r>
          </a:p>
        </p:txBody>
      </p:sp>
      <p:sp>
        <p:nvSpPr>
          <p:cNvPr id="11" name="Rounded Rectangle 10"/>
          <p:cNvSpPr/>
          <p:nvPr/>
        </p:nvSpPr>
        <p:spPr>
          <a:xfrm>
            <a:off x="9334500" y="4286250"/>
            <a:ext cx="8039100" cy="1238250"/>
          </a:xfrm>
          <a:prstGeom prst="roundRect">
            <a:avLst>
              <a:gd name="adj" fmla="val 10769"/>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15500" y="4457700"/>
            <a:ext cx="7239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Autonomous</a:t>
            </a:r>
          </a:p>
        </p:txBody>
      </p:sp>
      <p:sp>
        <p:nvSpPr>
          <p:cNvPr id="13" name="TextBox 12"/>
          <p:cNvSpPr txBox="1"/>
          <p:nvPr/>
        </p:nvSpPr>
        <p:spPr>
          <a:xfrm>
            <a:off x="9715500" y="4933950"/>
            <a:ext cx="7239000" cy="47625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Starts driving itself the instant you enable. Everyone clear.</a:t>
            </a:r>
          </a:p>
        </p:txBody>
      </p:sp>
      <p:sp>
        <p:nvSpPr>
          <p:cNvPr id="14" name="Rounded Rectangle 13"/>
          <p:cNvSpPr/>
          <p:nvPr/>
        </p:nvSpPr>
        <p:spPr>
          <a:xfrm>
            <a:off x="9334500" y="5715000"/>
            <a:ext cx="8039100" cy="1238250"/>
          </a:xfrm>
          <a:prstGeom prst="roundRect">
            <a:avLst>
              <a:gd name="adj" fmla="val 1076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715500" y="5886450"/>
            <a:ext cx="7239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Test</a:t>
            </a:r>
          </a:p>
        </p:txBody>
      </p:sp>
      <p:sp>
        <p:nvSpPr>
          <p:cNvPr id="16" name="TextBox 15"/>
          <p:cNvSpPr txBox="1"/>
          <p:nvPr/>
        </p:nvSpPr>
        <p:spPr>
          <a:xfrm>
            <a:off x="9715500" y="6362700"/>
            <a:ext cx="7239000" cy="47625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Runs mechanisms for checking. Usually on a cart.</a:t>
            </a:r>
          </a:p>
        </p:txBody>
      </p:sp>
      <p:sp>
        <p:nvSpPr>
          <p:cNvPr id="17" name="Rounded Rectangle 16"/>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exclamation-triangle-fill.png"/>
          <p:cNvPicPr>
            <a:picLocks noChangeAspect="1"/>
          </p:cNvPicPr>
          <p:nvPr/>
        </p:nvPicPr>
        <p:blipFill>
          <a:blip r:embed="rId4"/>
          <a:stretch>
            <a:fillRect/>
          </a:stretch>
        </p:blipFill>
        <p:spPr>
          <a:xfrm>
            <a:off x="1333500" y="7877175"/>
            <a:ext cx="609600" cy="533400"/>
          </a:xfrm>
          <a:prstGeom prst="rect">
            <a:avLst/>
          </a:prstGeom>
        </p:spPr>
      </p:pic>
      <p:sp>
        <p:nvSpPr>
          <p:cNvPr id="19" name="TextBox 18"/>
          <p:cNvSpPr txBox="1"/>
          <p:nvPr/>
        </p:nvSpPr>
        <p:spPr>
          <a:xfrm>
            <a:off x="2190750" y="7620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Never  </a:t>
            </a:r>
            <a:r>
              <a:rPr sz="2100" b="0" i="0">
                <a:solidFill>
                  <a:srgbClr val="F0E8E8"/>
                </a:solidFill>
                <a:latin typeface="Geist"/>
                <a:ea typeface="Geist"/>
                <a:cs typeface="Geist"/>
              </a:rPr>
              <a:t>enable Autonomous with people standing around the robot.</a:t>
            </a:r>
          </a:p>
        </p:txBody>
      </p:sp>
      <p:pic>
        <p:nvPicPr>
          <p:cNvPr id="20" name="Picture 19" descr="dozer_wide_left.png"/>
          <p:cNvPicPr>
            <a:picLocks noChangeAspect="1"/>
          </p:cNvPicPr>
          <p:nvPr/>
        </p:nvPicPr>
        <p:blipFill>
          <a:blip r:embed="rId5"/>
          <a:stretch>
            <a:fillRect/>
          </a:stretch>
        </p:blipFill>
        <p:spPr>
          <a:xfrm>
            <a:off x="15621000" y="1143000"/>
            <a:ext cx="1714500" cy="1053806"/>
          </a:xfrm>
          <a:prstGeom prst="rect">
            <a:avLst/>
          </a:prstGeom>
        </p:spPr>
      </p:pic>
      <p:sp>
        <p:nvSpPr>
          <p:cNvPr id="21" name="TextBox 2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ROBOT SAFETY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the robot signal light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181600" cy="4476750"/>
          </a:xfrm>
          <a:prstGeom prst="roundRect">
            <a:avLst>
              <a:gd name="adj" fmla="val 34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3086100" y="3238500"/>
            <a:ext cx="838200" cy="1047750"/>
          </a:xfrm>
          <a:prstGeom prst="roundRect">
            <a:avLst>
              <a:gd name="adj" fmla="val 11363"/>
            </a:avLst>
          </a:prstGeom>
          <a:solidFill>
            <a:srgbClr val="2A2A2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19450" y="3371850"/>
            <a:ext cx="571500" cy="781050"/>
          </a:xfrm>
          <a:prstGeom prst="roundRect">
            <a:avLst>
              <a:gd name="adj" fmla="val 13333"/>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4667250"/>
            <a:ext cx="4419600" cy="476250"/>
          </a:xfrm>
          <a:prstGeom prst="rect">
            <a:avLst/>
          </a:prstGeom>
          <a:noFill/>
        </p:spPr>
        <p:txBody>
          <a:bodyPr wrap="square" lIns="0" rIns="0" tIns="0" bIns="0" anchor="t">
            <a:spAutoFit/>
          </a:bodyPr>
          <a:lstStyle/>
          <a:p>
            <a:pPr algn="ctr"/>
            <a:r>
              <a:rPr sz="2700" b="1" i="0">
                <a:solidFill>
                  <a:srgbClr val="F0E8E8"/>
                </a:solidFill>
                <a:latin typeface="Geist"/>
                <a:ea typeface="Geist"/>
                <a:cs typeface="Geist"/>
              </a:rPr>
              <a:t>Solid</a:t>
            </a:r>
          </a:p>
        </p:txBody>
      </p:sp>
      <p:sp>
        <p:nvSpPr>
          <p:cNvPr id="9" name="TextBox 8"/>
          <p:cNvSpPr txBox="1"/>
          <p:nvPr/>
        </p:nvSpPr>
        <p:spPr>
          <a:xfrm>
            <a:off x="1295400" y="5295900"/>
            <a:ext cx="4419600" cy="1714500"/>
          </a:xfrm>
          <a:prstGeom prst="rect">
            <a:avLst/>
          </a:prstGeom>
          <a:noFill/>
        </p:spPr>
        <p:txBody>
          <a:bodyPr wrap="square" lIns="0" rIns="0" tIns="0" bIns="0" anchor="t">
            <a:spAutoFit/>
          </a:bodyPr>
          <a:lstStyle/>
          <a:p>
            <a:pPr algn="ctr">
              <a:lnSpc>
                <a:spcPct val="130000"/>
              </a:lnSpc>
            </a:pPr>
            <a:r>
              <a:rPr sz="1875" b="0" i="0">
                <a:solidFill>
                  <a:srgbClr val="9A7878"/>
                </a:solidFill>
                <a:latin typeface="Geist"/>
                <a:ea typeface="Geist"/>
                <a:cs typeface="Geist"/>
              </a:rPr>
              <a:t>Powered on, disabled. Still treat it as live.</a:t>
            </a:r>
          </a:p>
        </p:txBody>
      </p:sp>
      <p:sp>
        <p:nvSpPr>
          <p:cNvPr id="10" name="Rounded Rectangle 9"/>
          <p:cNvSpPr/>
          <p:nvPr/>
        </p:nvSpPr>
        <p:spPr>
          <a:xfrm>
            <a:off x="6553200" y="2857500"/>
            <a:ext cx="5181600" cy="4476750"/>
          </a:xfrm>
          <a:prstGeom prst="roundRect">
            <a:avLst>
              <a:gd name="adj" fmla="val 3404"/>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7981950" y="3238500"/>
            <a:ext cx="838200" cy="1047750"/>
          </a:xfrm>
          <a:prstGeom prst="roundRect">
            <a:avLst>
              <a:gd name="adj" fmla="val 11363"/>
            </a:avLst>
          </a:prstGeom>
          <a:solidFill>
            <a:srgbClr val="2A2A2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115300" y="3371850"/>
            <a:ext cx="571500" cy="781050"/>
          </a:xfrm>
          <a:prstGeom prst="roundRect">
            <a:avLst>
              <a:gd name="adj" fmla="val 13333"/>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9467850" y="3238500"/>
            <a:ext cx="838200" cy="1047750"/>
          </a:xfrm>
          <a:prstGeom prst="roundRect">
            <a:avLst>
              <a:gd name="adj" fmla="val 11363"/>
            </a:avLst>
          </a:prstGeom>
          <a:solidFill>
            <a:srgbClr val="2A2A2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9601200" y="3371850"/>
            <a:ext cx="571500" cy="781050"/>
          </a:xfrm>
          <a:prstGeom prst="roundRect">
            <a:avLst>
              <a:gd name="adj" fmla="val 13333"/>
            </a:avLst>
          </a:prstGeom>
          <a:solidFill>
            <a:srgbClr val="3A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820150" y="3619500"/>
            <a:ext cx="647700" cy="381000"/>
          </a:xfrm>
          <a:prstGeom prst="rect">
            <a:avLst/>
          </a:prstGeom>
          <a:noFill/>
        </p:spPr>
        <p:txBody>
          <a:bodyPr wrap="square" lIns="0" rIns="0" tIns="0" bIns="0" anchor="t">
            <a:spAutoFit/>
          </a:bodyPr>
          <a:lstStyle/>
          <a:p>
            <a:pPr algn="ctr"/>
            <a:r>
              <a:rPr sz="2250" b="0" i="0">
                <a:solidFill>
                  <a:srgbClr val="9A7878"/>
                </a:solidFill>
                <a:latin typeface="Geist"/>
                <a:ea typeface="Geist"/>
                <a:cs typeface="Geist"/>
              </a:rPr>
              <a:t>↔</a:t>
            </a:r>
          </a:p>
        </p:txBody>
      </p:sp>
      <p:sp>
        <p:nvSpPr>
          <p:cNvPr id="16" name="TextBox 15"/>
          <p:cNvSpPr txBox="1"/>
          <p:nvPr/>
        </p:nvSpPr>
        <p:spPr>
          <a:xfrm>
            <a:off x="6934200" y="4667250"/>
            <a:ext cx="4419600" cy="476250"/>
          </a:xfrm>
          <a:prstGeom prst="rect">
            <a:avLst/>
          </a:prstGeom>
          <a:noFill/>
        </p:spPr>
        <p:txBody>
          <a:bodyPr wrap="square" lIns="0" rIns="0" tIns="0" bIns="0" anchor="t">
            <a:spAutoFit/>
          </a:bodyPr>
          <a:lstStyle/>
          <a:p>
            <a:pPr algn="ctr"/>
            <a:r>
              <a:rPr sz="2700" b="1" i="0">
                <a:solidFill>
                  <a:srgbClr val="F0E8E8"/>
                </a:solidFill>
                <a:latin typeface="Geist"/>
                <a:ea typeface="Geist"/>
                <a:cs typeface="Geist"/>
              </a:rPr>
              <a:t>Blinking</a:t>
            </a:r>
          </a:p>
        </p:txBody>
      </p:sp>
      <p:sp>
        <p:nvSpPr>
          <p:cNvPr id="17" name="TextBox 16"/>
          <p:cNvSpPr txBox="1"/>
          <p:nvPr/>
        </p:nvSpPr>
        <p:spPr>
          <a:xfrm>
            <a:off x="6934200" y="5295900"/>
            <a:ext cx="4419600" cy="1714500"/>
          </a:xfrm>
          <a:prstGeom prst="rect">
            <a:avLst/>
          </a:prstGeom>
          <a:noFill/>
        </p:spPr>
        <p:txBody>
          <a:bodyPr wrap="square" lIns="0" rIns="0" tIns="0" bIns="0" anchor="t">
            <a:spAutoFit/>
          </a:bodyPr>
          <a:lstStyle/>
          <a:p>
            <a:pPr algn="ctr">
              <a:lnSpc>
                <a:spcPct val="130000"/>
              </a:lnSpc>
            </a:pPr>
            <a:r>
              <a:rPr sz="1875" b="0" i="0">
                <a:solidFill>
                  <a:srgbClr val="9A7878"/>
                </a:solidFill>
                <a:latin typeface="Geist"/>
                <a:ea typeface="Geist"/>
                <a:cs typeface="Geist"/>
              </a:rPr>
              <a:t>Enabled. It can move any moment. Stay back.</a:t>
            </a:r>
          </a:p>
        </p:txBody>
      </p:sp>
      <p:sp>
        <p:nvSpPr>
          <p:cNvPr id="18" name="Rounded Rectangle 17"/>
          <p:cNvSpPr/>
          <p:nvPr/>
        </p:nvSpPr>
        <p:spPr>
          <a:xfrm>
            <a:off x="12192000" y="2857500"/>
            <a:ext cx="5181600" cy="4476750"/>
          </a:xfrm>
          <a:prstGeom prst="roundRect">
            <a:avLst>
              <a:gd name="adj" fmla="val 34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14363700" y="3238500"/>
            <a:ext cx="838200" cy="1047750"/>
          </a:xfrm>
          <a:prstGeom prst="roundRect">
            <a:avLst>
              <a:gd name="adj" fmla="val 11363"/>
            </a:avLst>
          </a:prstGeom>
          <a:solidFill>
            <a:srgbClr val="2A2A2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14497050" y="3371850"/>
            <a:ext cx="571500" cy="781050"/>
          </a:xfrm>
          <a:prstGeom prst="roundRect">
            <a:avLst>
              <a:gd name="adj" fmla="val 13333"/>
            </a:avLst>
          </a:prstGeom>
          <a:solidFill>
            <a:srgbClr val="3A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573000" y="4667250"/>
            <a:ext cx="4419600" cy="476250"/>
          </a:xfrm>
          <a:prstGeom prst="rect">
            <a:avLst/>
          </a:prstGeom>
          <a:noFill/>
        </p:spPr>
        <p:txBody>
          <a:bodyPr wrap="square" lIns="0" rIns="0" tIns="0" bIns="0" anchor="t">
            <a:spAutoFit/>
          </a:bodyPr>
          <a:lstStyle/>
          <a:p>
            <a:pPr algn="ctr"/>
            <a:r>
              <a:rPr sz="2700" b="1" i="0">
                <a:solidFill>
                  <a:srgbClr val="F0E8E8"/>
                </a:solidFill>
                <a:latin typeface="Geist"/>
                <a:ea typeface="Geist"/>
                <a:cs typeface="Geist"/>
              </a:rPr>
              <a:t>Off</a:t>
            </a:r>
          </a:p>
        </p:txBody>
      </p:sp>
      <p:sp>
        <p:nvSpPr>
          <p:cNvPr id="22" name="TextBox 21"/>
          <p:cNvSpPr txBox="1"/>
          <p:nvPr/>
        </p:nvSpPr>
        <p:spPr>
          <a:xfrm>
            <a:off x="12573000" y="5295900"/>
            <a:ext cx="4419600" cy="1714500"/>
          </a:xfrm>
          <a:prstGeom prst="rect">
            <a:avLst/>
          </a:prstGeom>
          <a:noFill/>
        </p:spPr>
        <p:txBody>
          <a:bodyPr wrap="square" lIns="0" rIns="0" tIns="0" bIns="0" anchor="t">
            <a:spAutoFit/>
          </a:bodyPr>
          <a:lstStyle/>
          <a:p>
            <a:pPr algn="ctr">
              <a:lnSpc>
                <a:spcPct val="130000"/>
              </a:lnSpc>
            </a:pPr>
            <a:r>
              <a:rPr sz="1875" b="0" i="0">
                <a:solidFill>
                  <a:srgbClr val="9A7878"/>
                </a:solidFill>
                <a:latin typeface="Geist"/>
                <a:ea typeface="Geist"/>
                <a:cs typeface="Geist"/>
              </a:rPr>
              <a:t>No power to the roboRIO, or the light is unplugged. Not proof it's safe.</a:t>
            </a:r>
          </a:p>
        </p:txBody>
      </p:sp>
      <p:sp>
        <p:nvSpPr>
          <p:cNvPr id="23" name="Rounded Rectangle 22"/>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ightbulb.png"/>
          <p:cNvPicPr>
            <a:picLocks noChangeAspect="1"/>
          </p:cNvPicPr>
          <p:nvPr/>
        </p:nvPicPr>
        <p:blipFill>
          <a:blip r:embed="rId3"/>
          <a:stretch>
            <a:fillRect/>
          </a:stretch>
        </p:blipFill>
        <p:spPr>
          <a:xfrm>
            <a:off x="1333500" y="8020050"/>
            <a:ext cx="400050" cy="533400"/>
          </a:xfrm>
          <a:prstGeom prst="rect">
            <a:avLst/>
          </a:prstGeom>
        </p:spPr>
      </p:pic>
      <p:sp>
        <p:nvSpPr>
          <p:cNvPr id="25" name="TextBox 24"/>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Before you touch it:  </a:t>
            </a:r>
            <a:r>
              <a:rPr sz="2100" b="0" i="0">
                <a:solidFill>
                  <a:srgbClr val="F0E8E8"/>
                </a:solidFill>
                <a:latin typeface="Geist"/>
                <a:ea typeface="Geist"/>
                <a:cs typeface="Geist"/>
              </a:rPr>
              <a:t>disable, check the light is solid, or turn the main breaker off.</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Meet the Editor</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Files, folders, the terminal, and running a program</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Save early, save often. Unsaved code can't run!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 code editor?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text editor</a:t>
            </a:r>
            <a:r>
              <a:rPr sz="2400" b="0" i="0">
                <a:solidFill>
                  <a:srgbClr val="F0E8E8"/>
                </a:solidFill>
                <a:latin typeface="Geist"/>
                <a:ea typeface="Geist"/>
                <a:cs typeface="Geist"/>
              </a:rPr>
              <a:t> made for writing code</a:t>
            </a:r>
          </a:p>
        </p:txBody>
      </p:sp>
      <p:sp>
        <p:nvSpPr>
          <p:cNvPr id="6" name="TextBox 5"/>
          <p:cNvSpPr txBox="1"/>
          <p:nvPr/>
        </p:nvSpPr>
        <p:spPr>
          <a:xfrm>
            <a:off x="914400" y="353949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Colors</a:t>
            </a:r>
            <a:r>
              <a:rPr sz="2400" b="0" i="0">
                <a:solidFill>
                  <a:srgbClr val="F0E8E8"/>
                </a:solidFill>
                <a:latin typeface="Geist"/>
                <a:ea typeface="Geist"/>
                <a:cs typeface="Geist"/>
              </a:rPr>
              <a:t> the code so it's easier to read</a:t>
            </a:r>
          </a:p>
        </p:txBody>
      </p:sp>
      <p:sp>
        <p:nvSpPr>
          <p:cNvPr id="7" name="TextBox 6"/>
          <p:cNvSpPr txBox="1"/>
          <p:nvPr/>
        </p:nvSpPr>
        <p:spPr>
          <a:xfrm>
            <a:off x="914400" y="422148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Catches mistakes</a:t>
            </a:r>
            <a:r>
              <a:rPr sz="2400" b="0" i="0">
                <a:solidFill>
                  <a:srgbClr val="F0E8E8"/>
                </a:solidFill>
                <a:latin typeface="Geist"/>
                <a:ea typeface="Geist"/>
                <a:cs typeface="Geist"/>
              </a:rPr>
              <a:t> before you run anything</a:t>
            </a:r>
          </a:p>
        </p:txBody>
      </p:sp>
      <p:sp>
        <p:nvSpPr>
          <p:cNvPr id="8" name="TextBox 7"/>
          <p:cNvSpPr txBox="1"/>
          <p:nvPr/>
        </p:nvSpPr>
        <p:spPr>
          <a:xfrm>
            <a:off x="914400" y="490347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Extensions</a:t>
            </a:r>
            <a:r>
              <a:rPr sz="2400" b="0" i="0">
                <a:solidFill>
                  <a:srgbClr val="F0E8E8"/>
                </a:solidFill>
                <a:latin typeface="Geist"/>
                <a:ea typeface="Geist"/>
                <a:cs typeface="Geist"/>
              </a:rPr>
              <a:t> add features, like WPILib for robots</a:t>
            </a:r>
          </a:p>
        </p:txBody>
      </p:sp>
      <p:sp>
        <p:nvSpPr>
          <p:cNvPr id="9" name="Rounded Rectangle 8"/>
          <p:cNvSpPr/>
          <p:nvPr/>
        </p:nvSpPr>
        <p:spPr>
          <a:xfrm>
            <a:off x="11430000" y="2857500"/>
            <a:ext cx="59436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scode.png"/>
          <p:cNvPicPr>
            <a:picLocks noChangeAspect="1"/>
          </p:cNvPicPr>
          <p:nvPr/>
        </p:nvPicPr>
        <p:blipFill>
          <a:blip r:embed="rId3"/>
          <a:stretch>
            <a:fillRect/>
          </a:stretch>
        </p:blipFill>
        <p:spPr>
          <a:xfrm>
            <a:off x="13544550" y="3524250"/>
            <a:ext cx="2042084" cy="1714500"/>
          </a:xfrm>
          <a:prstGeom prst="rect">
            <a:avLst/>
          </a:prstGeom>
        </p:spPr>
      </p:pic>
      <p:sp>
        <p:nvSpPr>
          <p:cNvPr id="11" name="TextBox 10"/>
          <p:cNvSpPr txBox="1"/>
          <p:nvPr/>
        </p:nvSpPr>
        <p:spPr>
          <a:xfrm>
            <a:off x="11811000" y="5715000"/>
            <a:ext cx="5181600" cy="571500"/>
          </a:xfrm>
          <a:prstGeom prst="rect">
            <a:avLst/>
          </a:prstGeom>
          <a:noFill/>
        </p:spPr>
        <p:txBody>
          <a:bodyPr wrap="square" lIns="0" rIns="0" tIns="0" bIns="0" anchor="t">
            <a:spAutoFit/>
          </a:bodyPr>
          <a:lstStyle/>
          <a:p>
            <a:pPr algn="ctr"/>
            <a:r>
              <a:rPr sz="3000" b="1" i="0">
                <a:solidFill>
                  <a:srgbClr val="F0E8E8"/>
                </a:solidFill>
                <a:latin typeface="Geist"/>
                <a:ea typeface="Geist"/>
                <a:cs typeface="Geist"/>
              </a:rPr>
              <a:t>VS Code</a:t>
            </a:r>
          </a:p>
        </p:txBody>
      </p:sp>
      <p:sp>
        <p:nvSpPr>
          <p:cNvPr id="12" name="TextBox 11"/>
          <p:cNvSpPr txBox="1"/>
          <p:nvPr/>
        </p:nvSpPr>
        <p:spPr>
          <a:xfrm>
            <a:off x="11811000" y="6343650"/>
            <a:ext cx="5181600" cy="1524000"/>
          </a:xfrm>
          <a:prstGeom prst="rect">
            <a:avLst/>
          </a:prstGeom>
          <a:noFill/>
        </p:spPr>
        <p:txBody>
          <a:bodyPr wrap="square" lIns="0" rIns="0" tIns="0" bIns="0" anchor="t">
            <a:spAutoFit/>
          </a:bodyPr>
          <a:lstStyle/>
          <a:p>
            <a:pPr algn="ctr">
              <a:lnSpc>
                <a:spcPct val="130000"/>
              </a:lnSpc>
            </a:pPr>
            <a:r>
              <a:rPr sz="1950" b="0" i="0">
                <a:solidFill>
                  <a:srgbClr val="9A7878"/>
                </a:solidFill>
                <a:latin typeface="Geist"/>
                <a:ea typeface="Geist"/>
                <a:cs typeface="Geist"/>
              </a:rPr>
              <a:t>On every team laptop, with the WPILib extension. Scriptum uses the same editor.</a:t>
            </a:r>
          </a:p>
        </p:txBody>
      </p:sp>
      <p:sp>
        <p:nvSpPr>
          <p:cNvPr id="13" name="TextBox 1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 name="TextBox 1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tour of the training workspace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762250"/>
            <a:ext cx="11239500" cy="6164163"/>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workspace.jpg"/>
          <p:cNvPicPr>
            <a:picLocks noChangeAspect="1"/>
          </p:cNvPicPr>
          <p:nvPr/>
        </p:nvPicPr>
        <p:blipFill>
          <a:blip r:embed="rId3"/>
          <a:stretch>
            <a:fillRect/>
          </a:stretch>
        </p:blipFill>
        <p:spPr>
          <a:xfrm>
            <a:off x="914400" y="2762250"/>
            <a:ext cx="11239500" cy="6164163"/>
          </a:xfrm>
          <a:prstGeom prst="rect">
            <a:avLst/>
          </a:prstGeom>
        </p:spPr>
      </p:pic>
      <p:sp>
        <p:nvSpPr>
          <p:cNvPr id="7" name="Rectangle 6"/>
          <p:cNvSpPr/>
          <p:nvPr/>
        </p:nvSpPr>
        <p:spPr>
          <a:xfrm>
            <a:off x="914400" y="2762250"/>
            <a:ext cx="11239500" cy="6164163"/>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195388" y="3318371"/>
            <a:ext cx="1404938" cy="3980656"/>
          </a:xfrm>
          <a:prstGeom prst="roundRect">
            <a:avLst>
              <a:gd name="adj" fmla="val 9491"/>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3938" y="3146921"/>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3938" y="3146921"/>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1" name="Rounded Rectangle 10"/>
          <p:cNvSpPr/>
          <p:nvPr/>
        </p:nvSpPr>
        <p:spPr>
          <a:xfrm>
            <a:off x="2612033" y="3318371"/>
            <a:ext cx="3922117" cy="3980656"/>
          </a:xfrm>
          <a:prstGeom prst="roundRect">
            <a:avLst>
              <a:gd name="adj" fmla="val 3399"/>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40583" y="3146921"/>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0583" y="3146921"/>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Rounded Rectangle 13"/>
          <p:cNvSpPr/>
          <p:nvPr/>
        </p:nvSpPr>
        <p:spPr>
          <a:xfrm>
            <a:off x="6563420" y="3084215"/>
            <a:ext cx="5561211" cy="4361160"/>
          </a:xfrm>
          <a:prstGeom prst="roundRect">
            <a:avLst>
              <a:gd name="adj" fmla="val 3057"/>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391970" y="291276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1970" y="291276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 name="Rounded Rectangle 16"/>
          <p:cNvSpPr/>
          <p:nvPr/>
        </p:nvSpPr>
        <p:spPr>
          <a:xfrm>
            <a:off x="1207095" y="7503914"/>
            <a:ext cx="3278188" cy="1404938"/>
          </a:xfrm>
          <a:prstGeom prst="roundRect">
            <a:avLst>
              <a:gd name="adj" fmla="val 9491"/>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35645" y="7332464"/>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5645" y="7332464"/>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0" name="Oval 19"/>
          <p:cNvSpPr/>
          <p:nvPr/>
        </p:nvSpPr>
        <p:spPr>
          <a:xfrm>
            <a:off x="12763500" y="2857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763500" y="2857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TextBox 21"/>
          <p:cNvSpPr txBox="1"/>
          <p:nvPr/>
        </p:nvSpPr>
        <p:spPr>
          <a:xfrm>
            <a:off x="13449300" y="281940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Explorer</a:t>
            </a:r>
          </a:p>
        </p:txBody>
      </p:sp>
      <p:sp>
        <p:nvSpPr>
          <p:cNvPr id="23" name="TextBox 22"/>
          <p:cNvSpPr txBox="1"/>
          <p:nvPr/>
        </p:nvSpPr>
        <p:spPr>
          <a:xfrm>
            <a:off x="13449300" y="327660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Your files and folders</a:t>
            </a:r>
          </a:p>
        </p:txBody>
      </p:sp>
      <p:sp>
        <p:nvSpPr>
          <p:cNvPr id="24" name="Oval 23"/>
          <p:cNvSpPr/>
          <p:nvPr/>
        </p:nvSpPr>
        <p:spPr>
          <a:xfrm>
            <a:off x="12763500" y="42862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763500" y="42862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TextBox 25"/>
          <p:cNvSpPr txBox="1"/>
          <p:nvPr/>
        </p:nvSpPr>
        <p:spPr>
          <a:xfrm>
            <a:off x="13449300" y="424815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Editor</a:t>
            </a:r>
          </a:p>
        </p:txBody>
      </p:sp>
      <p:sp>
        <p:nvSpPr>
          <p:cNvPr id="27" name="TextBox 26"/>
          <p:cNvSpPr txBox="1"/>
          <p:nvPr/>
        </p:nvSpPr>
        <p:spPr>
          <a:xfrm>
            <a:off x="13449300" y="470535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Where you type code</a:t>
            </a:r>
          </a:p>
        </p:txBody>
      </p:sp>
      <p:sp>
        <p:nvSpPr>
          <p:cNvPr id="28" name="Oval 27"/>
          <p:cNvSpPr/>
          <p:nvPr/>
        </p:nvSpPr>
        <p:spPr>
          <a:xfrm>
            <a:off x="12763500" y="57150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763500" y="57150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TextBox 29"/>
          <p:cNvSpPr txBox="1"/>
          <p:nvPr/>
        </p:nvSpPr>
        <p:spPr>
          <a:xfrm>
            <a:off x="13449300" y="567690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Tool panes</a:t>
            </a:r>
          </a:p>
        </p:txBody>
      </p:sp>
      <p:sp>
        <p:nvSpPr>
          <p:cNvPr id="31" name="TextBox 30"/>
          <p:cNvSpPr txBox="1"/>
          <p:nvPr/>
        </p:nvSpPr>
        <p:spPr>
          <a:xfrm>
            <a:off x="13449300" y="613410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AdvantageScope, Elastic, Choreo</a:t>
            </a:r>
          </a:p>
        </p:txBody>
      </p:sp>
      <p:sp>
        <p:nvSpPr>
          <p:cNvPr id="32" name="Oval 31"/>
          <p:cNvSpPr/>
          <p:nvPr/>
        </p:nvSpPr>
        <p:spPr>
          <a:xfrm>
            <a:off x="12763500" y="71437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763500" y="71437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4" name="TextBox 33"/>
          <p:cNvSpPr txBox="1"/>
          <p:nvPr/>
        </p:nvSpPr>
        <p:spPr>
          <a:xfrm>
            <a:off x="13449300" y="710565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Driver Station</a:t>
            </a:r>
          </a:p>
        </p:txBody>
      </p:sp>
      <p:sp>
        <p:nvSpPr>
          <p:cNvPr id="35" name="TextBox 34"/>
          <p:cNvSpPr txBox="1"/>
          <p:nvPr/>
        </p:nvSpPr>
        <p:spPr>
          <a:xfrm>
            <a:off x="13449300" y="756285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Start, enable and drive the robot</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Files and extensions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file</a:t>
            </a:r>
            <a:r>
              <a:rPr sz="2400" b="0" i="0">
                <a:solidFill>
                  <a:srgbClr val="F0E8E8"/>
                </a:solidFill>
                <a:latin typeface="Geist"/>
                <a:ea typeface="Geist"/>
                <a:cs typeface="Geist"/>
              </a:rPr>
              <a:t> is one saved thing, with a name</a:t>
            </a:r>
          </a:p>
        </p:txBody>
      </p:sp>
      <p:sp>
        <p:nvSpPr>
          <p:cNvPr id="6" name="TextBox 5"/>
          <p:cNvSpPr txBox="1"/>
          <p:nvPr/>
        </p:nvSpPr>
        <p:spPr>
          <a:xfrm>
            <a:off x="914400" y="353949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The extension</a:t>
            </a:r>
            <a:r>
              <a:rPr sz="2400" b="0" i="0">
                <a:solidFill>
                  <a:srgbClr val="F0E8E8"/>
                </a:solidFill>
                <a:latin typeface="Geist"/>
                <a:ea typeface="Geist"/>
                <a:cs typeface="Geist"/>
              </a:rPr>
              <a:t> after the dot says what kind</a:t>
            </a:r>
          </a:p>
        </p:txBody>
      </p:sp>
      <p:sp>
        <p:nvSpPr>
          <p:cNvPr id="7" name="TextBox 6"/>
          <p:cNvSpPr txBox="1"/>
          <p:nvPr/>
        </p:nvSpPr>
        <p:spPr>
          <a:xfrm>
            <a:off x="914400" y="422148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folder</a:t>
            </a:r>
            <a:r>
              <a:rPr sz="2400" b="0" i="0">
                <a:solidFill>
                  <a:srgbClr val="F0E8E8"/>
                </a:solidFill>
                <a:latin typeface="Geist"/>
                <a:ea typeface="Geist"/>
                <a:cs typeface="Geist"/>
              </a:rPr>
              <a:t> holds files and other folders</a:t>
            </a:r>
          </a:p>
        </p:txBody>
      </p:sp>
      <p:sp>
        <p:nvSpPr>
          <p:cNvPr id="8" name="Rounded Rectangle 7"/>
          <p:cNvSpPr/>
          <p:nvPr/>
        </p:nvSpPr>
        <p:spPr>
          <a:xfrm>
            <a:off x="9525000" y="28575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906000" y="28575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.java</a:t>
            </a:r>
          </a:p>
        </p:txBody>
      </p:sp>
      <p:sp>
        <p:nvSpPr>
          <p:cNvPr id="10" name="TextBox 9"/>
          <p:cNvSpPr txBox="1"/>
          <p:nvPr/>
        </p:nvSpPr>
        <p:spPr>
          <a:xfrm>
            <a:off x="12096750" y="28575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Java code: the robot program</a:t>
            </a:r>
          </a:p>
        </p:txBody>
      </p:sp>
      <p:sp>
        <p:nvSpPr>
          <p:cNvPr id="11" name="Rounded Rectangle 10"/>
          <p:cNvSpPr/>
          <p:nvPr/>
        </p:nvSpPr>
        <p:spPr>
          <a:xfrm>
            <a:off x="9525000" y="41910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906000" y="41910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.json</a:t>
            </a:r>
          </a:p>
        </p:txBody>
      </p:sp>
      <p:sp>
        <p:nvSpPr>
          <p:cNvPr id="13" name="TextBox 12"/>
          <p:cNvSpPr txBox="1"/>
          <p:nvPr/>
        </p:nvSpPr>
        <p:spPr>
          <a:xfrm>
            <a:off x="12096750" y="41910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Settings and data</a:t>
            </a:r>
          </a:p>
        </p:txBody>
      </p:sp>
      <p:sp>
        <p:nvSpPr>
          <p:cNvPr id="14" name="Rounded Rectangle 13"/>
          <p:cNvSpPr/>
          <p:nvPr/>
        </p:nvSpPr>
        <p:spPr>
          <a:xfrm>
            <a:off x="9525000" y="55245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906000" y="55245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.md</a:t>
            </a:r>
          </a:p>
        </p:txBody>
      </p:sp>
      <p:sp>
        <p:nvSpPr>
          <p:cNvPr id="16" name="TextBox 15"/>
          <p:cNvSpPr txBox="1"/>
          <p:nvPr/>
        </p:nvSpPr>
        <p:spPr>
          <a:xfrm>
            <a:off x="12096750" y="55245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Notes and instructions (Markdown)</a:t>
            </a:r>
          </a:p>
        </p:txBody>
      </p:sp>
      <p:sp>
        <p:nvSpPr>
          <p:cNvPr id="17" name="Rounded Rectangle 16"/>
          <p:cNvSpPr/>
          <p:nvPr/>
        </p:nvSpPr>
        <p:spPr>
          <a:xfrm>
            <a:off x="9525000" y="68580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906000" y="68580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.gradle</a:t>
            </a:r>
          </a:p>
        </p:txBody>
      </p:sp>
      <p:sp>
        <p:nvSpPr>
          <p:cNvPr id="19" name="TextBox 18"/>
          <p:cNvSpPr txBox="1"/>
          <p:nvPr/>
        </p:nvSpPr>
        <p:spPr>
          <a:xfrm>
            <a:off x="12096750" y="68580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How to build the project</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Projects and paths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810500" cy="6096000"/>
          </a:xfrm>
          <a:prstGeom prst="roundRect">
            <a:avLst>
              <a:gd name="adj" fmla="val 250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project/</a:t>
            </a:r>
          </a:p>
        </p:txBody>
      </p:sp>
      <p:sp>
        <p:nvSpPr>
          <p:cNvPr id="7" name="TextBox 6"/>
          <p:cNvSpPr txBox="1"/>
          <p:nvPr/>
        </p:nvSpPr>
        <p:spPr>
          <a:xfrm>
            <a:off x="1714500" y="36957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src/</a:t>
            </a:r>
          </a:p>
        </p:txBody>
      </p:sp>
      <p:sp>
        <p:nvSpPr>
          <p:cNvPr id="8" name="TextBox 7"/>
          <p:cNvSpPr txBox="1"/>
          <p:nvPr/>
        </p:nvSpPr>
        <p:spPr>
          <a:xfrm>
            <a:off x="2133600" y="42481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main/</a:t>
            </a:r>
          </a:p>
        </p:txBody>
      </p:sp>
      <p:sp>
        <p:nvSpPr>
          <p:cNvPr id="9" name="TextBox 8"/>
          <p:cNvSpPr txBox="1"/>
          <p:nvPr/>
        </p:nvSpPr>
        <p:spPr>
          <a:xfrm>
            <a:off x="2552700" y="48006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java/</a:t>
            </a:r>
          </a:p>
        </p:txBody>
      </p:sp>
      <p:sp>
        <p:nvSpPr>
          <p:cNvPr id="10" name="TextBox 9"/>
          <p:cNvSpPr txBox="1"/>
          <p:nvPr/>
        </p:nvSpPr>
        <p:spPr>
          <a:xfrm>
            <a:off x="2971800" y="53530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frc/</a:t>
            </a:r>
          </a:p>
        </p:txBody>
      </p:sp>
      <p:sp>
        <p:nvSpPr>
          <p:cNvPr id="11" name="TextBox 10"/>
          <p:cNvSpPr txBox="1"/>
          <p:nvPr/>
        </p:nvSpPr>
        <p:spPr>
          <a:xfrm>
            <a:off x="3390900" y="59055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robot/</a:t>
            </a:r>
          </a:p>
        </p:txBody>
      </p:sp>
      <p:sp>
        <p:nvSpPr>
          <p:cNvPr id="12" name="TextBox 11"/>
          <p:cNvSpPr txBox="1"/>
          <p:nvPr/>
        </p:nvSpPr>
        <p:spPr>
          <a:xfrm>
            <a:off x="3810000" y="6457950"/>
            <a:ext cx="6667500" cy="476250"/>
          </a:xfrm>
          <a:prstGeom prst="rect">
            <a:avLst/>
          </a:prstGeom>
          <a:noFill/>
        </p:spPr>
        <p:txBody>
          <a:bodyPr wrap="square" lIns="0" rIns="0" tIns="0" bIns="0" anchor="ctr">
            <a:spAutoFit/>
          </a:bodyPr>
          <a:lstStyle/>
          <a:p>
            <a:pPr algn="l"/>
            <a:r>
              <a:rPr sz="2100" b="1" i="0">
                <a:solidFill>
                  <a:srgbClr val="CC2200"/>
                </a:solidFill>
                <a:latin typeface="Geist Mono"/>
                <a:ea typeface="Geist Mono"/>
                <a:cs typeface="Geist Mono"/>
              </a:rPr>
              <a:t>Robot.java</a:t>
            </a:r>
          </a:p>
        </p:txBody>
      </p:sp>
      <p:sp>
        <p:nvSpPr>
          <p:cNvPr id="13" name="TextBox 12"/>
          <p:cNvSpPr txBox="1"/>
          <p:nvPr/>
        </p:nvSpPr>
        <p:spPr>
          <a:xfrm>
            <a:off x="3810000" y="70104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Constants.java</a:t>
            </a:r>
          </a:p>
        </p:txBody>
      </p:sp>
      <p:sp>
        <p:nvSpPr>
          <p:cNvPr id="14" name="TextBox 13"/>
          <p:cNvSpPr txBox="1"/>
          <p:nvPr/>
        </p:nvSpPr>
        <p:spPr>
          <a:xfrm>
            <a:off x="1714500" y="75628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build.gradle</a:t>
            </a:r>
          </a:p>
        </p:txBody>
      </p:sp>
      <p:sp>
        <p:nvSpPr>
          <p:cNvPr id="15" name="TextBox 14"/>
          <p:cNvSpPr txBox="1"/>
          <p:nvPr/>
        </p:nvSpPr>
        <p:spPr>
          <a:xfrm>
            <a:off x="1714500" y="81153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README.md</a:t>
            </a:r>
          </a:p>
        </p:txBody>
      </p:sp>
      <p:sp>
        <p:nvSpPr>
          <p:cNvPr id="16" name="TextBox 15"/>
          <p:cNvSpPr txBox="1"/>
          <p:nvPr/>
        </p:nvSpPr>
        <p:spPr>
          <a:xfrm>
            <a:off x="9525000" y="2857500"/>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A project</a:t>
            </a:r>
            <a:r>
              <a:rPr sz="2250" b="0" i="0">
                <a:solidFill>
                  <a:srgbClr val="F0E8E8"/>
                </a:solidFill>
                <a:latin typeface="Geist"/>
                <a:ea typeface="Geist"/>
                <a:cs typeface="Geist"/>
              </a:rPr>
              <a:t> is one folder with everything inside</a:t>
            </a:r>
          </a:p>
        </p:txBody>
      </p:sp>
      <p:sp>
        <p:nvSpPr>
          <p:cNvPr id="17" name="TextBox 16"/>
          <p:cNvSpPr txBox="1"/>
          <p:nvPr/>
        </p:nvSpPr>
        <p:spPr>
          <a:xfrm>
            <a:off x="9525000" y="3514725"/>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A path</a:t>
            </a:r>
            <a:r>
              <a:rPr sz="2250" b="0" i="0">
                <a:solidFill>
                  <a:srgbClr val="F0E8E8"/>
                </a:solidFill>
                <a:latin typeface="Geist"/>
                <a:ea typeface="Geist"/>
                <a:cs typeface="Geist"/>
              </a:rPr>
              <a:t> is a file's address, folder by folder</a:t>
            </a:r>
          </a:p>
        </p:txBody>
      </p:sp>
      <p:sp>
        <p:nvSpPr>
          <p:cNvPr id="18" name="TextBox 17"/>
          <p:cNvSpPr txBox="1"/>
          <p:nvPr/>
        </p:nvSpPr>
        <p:spPr>
          <a:xfrm>
            <a:off x="9525000" y="4171950"/>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Slashes separate the folders</a:t>
            </a:r>
          </a:p>
        </p:txBody>
      </p:sp>
      <p:sp>
        <p:nvSpPr>
          <p:cNvPr id="19" name="Rounded Rectangle 18"/>
          <p:cNvSpPr/>
          <p:nvPr/>
        </p:nvSpPr>
        <p:spPr>
          <a:xfrm>
            <a:off x="9525000" y="6667500"/>
            <a:ext cx="7848600" cy="1183005"/>
          </a:xfrm>
          <a:prstGeom prst="roundRect">
            <a:avLst>
              <a:gd name="adj" fmla="val 128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906000" y="7048500"/>
            <a:ext cx="73152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src</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main</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java</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frc</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robot</a:t>
            </a:r>
            <a:r>
              <a:rPr sz="1950" b="0" i="0">
                <a:solidFill>
                  <a:srgbClr val="CC2200"/>
                </a:solidFill>
                <a:latin typeface="Geist Mono"/>
                <a:ea typeface="Geist Mono"/>
                <a:cs typeface="Geist Mono"/>
              </a:rPr>
              <a:t>/</a:t>
            </a:r>
            <a:r>
              <a:rPr sz="1950" b="0" i="0">
                <a:solidFill>
                  <a:srgbClr val="E8C27A"/>
                </a:solidFill>
                <a:latin typeface="Geist Mono"/>
                <a:ea typeface="Geist Mono"/>
                <a:cs typeface="Geist Mono"/>
              </a:rPr>
              <a:t>Robot.java</a:t>
            </a:r>
          </a:p>
        </p:txBody>
      </p:sp>
      <p:sp>
        <p:nvSpPr>
          <p:cNvPr id="21" name="TextBox 2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terminal: typing commands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8575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pwd</a:t>
            </a:r>
          </a:p>
        </p:txBody>
      </p:sp>
      <p:sp>
        <p:nvSpPr>
          <p:cNvPr id="7" name="TextBox 6"/>
          <p:cNvSpPr txBox="1"/>
          <p:nvPr/>
        </p:nvSpPr>
        <p:spPr>
          <a:xfrm>
            <a:off x="4953000" y="28575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Where am I? Prints the folder you're in</a:t>
            </a:r>
          </a:p>
        </p:txBody>
      </p:sp>
      <p:sp>
        <p:nvSpPr>
          <p:cNvPr id="8" name="Rounded Rectangle 7"/>
          <p:cNvSpPr/>
          <p:nvPr/>
        </p:nvSpPr>
        <p:spPr>
          <a:xfrm>
            <a:off x="914400" y="39243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9243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ls</a:t>
            </a:r>
          </a:p>
        </p:txBody>
      </p:sp>
      <p:sp>
        <p:nvSpPr>
          <p:cNvPr id="10" name="TextBox 9"/>
          <p:cNvSpPr txBox="1"/>
          <p:nvPr/>
        </p:nvSpPr>
        <p:spPr>
          <a:xfrm>
            <a:off x="4953000" y="39243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What's here? Lists files and folders</a:t>
            </a:r>
          </a:p>
        </p:txBody>
      </p:sp>
      <p:sp>
        <p:nvSpPr>
          <p:cNvPr id="11" name="Rounded Rectangle 10"/>
          <p:cNvSpPr/>
          <p:nvPr/>
        </p:nvSpPr>
        <p:spPr>
          <a:xfrm>
            <a:off x="914400" y="49911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49911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cd robot</a:t>
            </a:r>
          </a:p>
        </p:txBody>
      </p:sp>
      <p:sp>
        <p:nvSpPr>
          <p:cNvPr id="13" name="TextBox 12"/>
          <p:cNvSpPr txBox="1"/>
          <p:nvPr/>
        </p:nvSpPr>
        <p:spPr>
          <a:xfrm>
            <a:off x="4953000" y="49911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Move into a folder</a:t>
            </a:r>
          </a:p>
        </p:txBody>
      </p:sp>
      <p:sp>
        <p:nvSpPr>
          <p:cNvPr id="14" name="Rounded Rectangle 13"/>
          <p:cNvSpPr/>
          <p:nvPr/>
        </p:nvSpPr>
        <p:spPr>
          <a:xfrm>
            <a:off x="914400" y="60579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60579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cat notes.txt</a:t>
            </a:r>
          </a:p>
        </p:txBody>
      </p:sp>
      <p:sp>
        <p:nvSpPr>
          <p:cNvPr id="16" name="TextBox 15"/>
          <p:cNvSpPr txBox="1"/>
          <p:nvPr/>
        </p:nvSpPr>
        <p:spPr>
          <a:xfrm>
            <a:off x="4953000" y="60579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Show what's in a file</a:t>
            </a:r>
          </a:p>
        </p:txBody>
      </p:sp>
      <p:sp>
        <p:nvSpPr>
          <p:cNvPr id="17" name="Rounded Rectangle 16"/>
          <p:cNvSpPr/>
          <p:nvPr/>
        </p:nvSpPr>
        <p:spPr>
          <a:xfrm>
            <a:off x="914400" y="71247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71247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mkdir practice</a:t>
            </a:r>
          </a:p>
        </p:txBody>
      </p:sp>
      <p:sp>
        <p:nvSpPr>
          <p:cNvPr id="19" name="TextBox 18"/>
          <p:cNvSpPr txBox="1"/>
          <p:nvPr/>
        </p:nvSpPr>
        <p:spPr>
          <a:xfrm>
            <a:off x="4953000" y="71247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Make a new folder</a:t>
            </a:r>
          </a:p>
        </p:txBody>
      </p:sp>
      <p:sp>
        <p:nvSpPr>
          <p:cNvPr id="20" name="Rounded Rectangle 19"/>
          <p:cNvSpPr/>
          <p:nvPr/>
        </p:nvSpPr>
        <p:spPr>
          <a:xfrm>
            <a:off x="12039600" y="2857500"/>
            <a:ext cx="5334000" cy="5181600"/>
          </a:xfrm>
          <a:prstGeom prst="roundRect">
            <a:avLst>
              <a:gd name="adj" fmla="val 2941"/>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terminal.png"/>
          <p:cNvPicPr>
            <a:picLocks noChangeAspect="1"/>
          </p:cNvPicPr>
          <p:nvPr/>
        </p:nvPicPr>
        <p:blipFill>
          <a:blip r:embed="rId3"/>
          <a:stretch>
            <a:fillRect/>
          </a:stretch>
        </p:blipFill>
        <p:spPr>
          <a:xfrm>
            <a:off x="12496800" y="3276600"/>
            <a:ext cx="696686" cy="609600"/>
          </a:xfrm>
          <a:prstGeom prst="rect">
            <a:avLst/>
          </a:prstGeom>
        </p:spPr>
      </p:pic>
      <p:sp>
        <p:nvSpPr>
          <p:cNvPr id="22" name="TextBox 21"/>
          <p:cNvSpPr txBox="1"/>
          <p:nvPr/>
        </p:nvSpPr>
        <p:spPr>
          <a:xfrm>
            <a:off x="12496800" y="4191000"/>
            <a:ext cx="4476750" cy="57150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Two tricks</a:t>
            </a:r>
          </a:p>
        </p:txBody>
      </p:sp>
      <p:sp>
        <p:nvSpPr>
          <p:cNvPr id="23" name="TextBox 22"/>
          <p:cNvSpPr txBox="1"/>
          <p:nvPr/>
        </p:nvSpPr>
        <p:spPr>
          <a:xfrm>
            <a:off x="12496800" y="4953000"/>
            <a:ext cx="447675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Up arrow</a:t>
            </a:r>
            <a:r>
              <a:rPr sz="2100" b="0" i="0">
                <a:solidFill>
                  <a:srgbClr val="F0E8E8"/>
                </a:solidFill>
                <a:latin typeface="Geist"/>
                <a:ea typeface="Geist"/>
                <a:cs typeface="Geist"/>
              </a:rPr>
              <a:t> brings back your last command</a:t>
            </a:r>
          </a:p>
        </p:txBody>
      </p:sp>
      <p:sp>
        <p:nvSpPr>
          <p:cNvPr id="24" name="TextBox 23"/>
          <p:cNvSpPr txBox="1"/>
          <p:nvPr/>
        </p:nvSpPr>
        <p:spPr>
          <a:xfrm>
            <a:off x="12496800" y="5875020"/>
            <a:ext cx="447675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Tab</a:t>
            </a:r>
            <a:r>
              <a:rPr sz="2100" b="0" i="0">
                <a:solidFill>
                  <a:srgbClr val="F0E8E8"/>
                </a:solidFill>
                <a:latin typeface="Geist"/>
                <a:ea typeface="Geist"/>
                <a:cs typeface="Geist"/>
              </a:rPr>
              <a:t> finishes a file name for you</a:t>
            </a:r>
          </a:p>
        </p:txBody>
      </p:sp>
      <p:sp>
        <p:nvSpPr>
          <p:cNvPr id="25" name="TextBox 24"/>
          <p:cNvSpPr txBox="1"/>
          <p:nvPr/>
        </p:nvSpPr>
        <p:spPr>
          <a:xfrm>
            <a:off x="12496800" y="6450330"/>
            <a:ext cx="447675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Ctrl+`</a:t>
            </a:r>
            <a:r>
              <a:rPr sz="2100" b="0" i="0">
                <a:solidFill>
                  <a:srgbClr val="F0E8E8"/>
                </a:solidFill>
                <a:latin typeface="Geist"/>
                <a:ea typeface="Geist"/>
                <a:cs typeface="Geist"/>
              </a:rPr>
              <a:t> opens the terminal</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Find things fast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573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7300" y="333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Ctrl+P</a:t>
            </a:r>
          </a:p>
        </p:txBody>
      </p:sp>
      <p:sp>
        <p:nvSpPr>
          <p:cNvPr id="8" name="TextBox 7"/>
          <p:cNvSpPr txBox="1"/>
          <p:nvPr/>
        </p:nvSpPr>
        <p:spPr>
          <a:xfrm>
            <a:off x="4343400" y="314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Open a file by typing part of its name</a:t>
            </a:r>
          </a:p>
        </p:txBody>
      </p:sp>
      <p:sp>
        <p:nvSpPr>
          <p:cNvPr id="9" name="Rounded Rectangle 8"/>
          <p:cNvSpPr/>
          <p:nvPr/>
        </p:nvSpPr>
        <p:spPr>
          <a:xfrm>
            <a:off x="9144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2573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57300" y="5238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Ctrl+Shift+F</a:t>
            </a:r>
          </a:p>
        </p:txBody>
      </p:sp>
      <p:sp>
        <p:nvSpPr>
          <p:cNvPr id="12" name="TextBox 11"/>
          <p:cNvSpPr txBox="1"/>
          <p:nvPr/>
        </p:nvSpPr>
        <p:spPr>
          <a:xfrm>
            <a:off x="4343400" y="5048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Search for a word in every file</a:t>
            </a:r>
          </a:p>
        </p:txBody>
      </p:sp>
      <p:sp>
        <p:nvSpPr>
          <p:cNvPr id="13" name="Rounded Rectangle 12"/>
          <p:cNvSpPr/>
          <p:nvPr/>
        </p:nvSpPr>
        <p:spPr>
          <a:xfrm>
            <a:off x="914400" y="666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257300" y="714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57300" y="714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Ctrl+F</a:t>
            </a:r>
          </a:p>
        </p:txBody>
      </p:sp>
      <p:sp>
        <p:nvSpPr>
          <p:cNvPr id="16" name="TextBox 15"/>
          <p:cNvSpPr txBox="1"/>
          <p:nvPr/>
        </p:nvSpPr>
        <p:spPr>
          <a:xfrm>
            <a:off x="4343400" y="695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Search in the file you're in</a:t>
            </a:r>
          </a:p>
        </p:txBody>
      </p:sp>
      <p:sp>
        <p:nvSpPr>
          <p:cNvPr id="17" name="Rounded Rectangle 16"/>
          <p:cNvSpPr/>
          <p:nvPr/>
        </p:nvSpPr>
        <p:spPr>
          <a:xfrm>
            <a:off x="93345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6774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77400" y="333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Ctrl+Shift+P</a:t>
            </a:r>
          </a:p>
        </p:txBody>
      </p:sp>
      <p:sp>
        <p:nvSpPr>
          <p:cNvPr id="20" name="TextBox 19"/>
          <p:cNvSpPr txBox="1"/>
          <p:nvPr/>
        </p:nvSpPr>
        <p:spPr>
          <a:xfrm>
            <a:off x="12763500" y="314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Find any command (the command palette)</a:t>
            </a:r>
          </a:p>
        </p:txBody>
      </p:sp>
      <p:sp>
        <p:nvSpPr>
          <p:cNvPr id="21" name="Rounded Rectangle 20"/>
          <p:cNvSpPr/>
          <p:nvPr/>
        </p:nvSpPr>
        <p:spPr>
          <a:xfrm>
            <a:off x="93345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96774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77400" y="5238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a:t>
            </a:r>
          </a:p>
        </p:txBody>
      </p:sp>
      <p:sp>
        <p:nvSpPr>
          <p:cNvPr id="24" name="TextBox 23"/>
          <p:cNvSpPr txBox="1"/>
          <p:nvPr/>
        </p:nvSpPr>
        <p:spPr>
          <a:xfrm>
            <a:off x="12763500" y="5048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Save the file</a:t>
            </a:r>
          </a:p>
        </p:txBody>
      </p:sp>
      <p:sp>
        <p:nvSpPr>
          <p:cNvPr id="25" name="Rounded Rectangle 24"/>
          <p:cNvSpPr/>
          <p:nvPr/>
        </p:nvSpPr>
        <p:spPr>
          <a:xfrm>
            <a:off x="9334500" y="666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9677400" y="714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77400" y="714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F2</a:t>
            </a:r>
          </a:p>
        </p:txBody>
      </p:sp>
      <p:sp>
        <p:nvSpPr>
          <p:cNvPr id="28" name="TextBox 27"/>
          <p:cNvSpPr txBox="1"/>
          <p:nvPr/>
        </p:nvSpPr>
        <p:spPr>
          <a:xfrm>
            <a:off x="12763500" y="695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Rename the selected file or folder</a:t>
            </a:r>
          </a:p>
        </p:txBody>
      </p:sp>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Editor power moves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573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7300" y="3333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Alt+Click</a:t>
            </a:r>
          </a:p>
        </p:txBody>
      </p:sp>
      <p:sp>
        <p:nvSpPr>
          <p:cNvPr id="8" name="TextBox 7"/>
          <p:cNvSpPr txBox="1"/>
          <p:nvPr/>
        </p:nvSpPr>
        <p:spPr>
          <a:xfrm>
            <a:off x="4343400" y="3143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Add another cursor: edit many lines at once</a:t>
            </a:r>
          </a:p>
        </p:txBody>
      </p:sp>
      <p:sp>
        <p:nvSpPr>
          <p:cNvPr id="9" name="Rounded Rectangle 8"/>
          <p:cNvSpPr/>
          <p:nvPr/>
        </p:nvSpPr>
        <p:spPr>
          <a:xfrm>
            <a:off x="9144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2573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57300" y="5238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Ctrl+D</a:t>
            </a:r>
          </a:p>
        </p:txBody>
      </p:sp>
      <p:sp>
        <p:nvSpPr>
          <p:cNvPr id="12" name="TextBox 11"/>
          <p:cNvSpPr txBox="1"/>
          <p:nvPr/>
        </p:nvSpPr>
        <p:spPr>
          <a:xfrm>
            <a:off x="4343400" y="5048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Select the next match of the same word</a:t>
            </a:r>
          </a:p>
        </p:txBody>
      </p:sp>
      <p:sp>
        <p:nvSpPr>
          <p:cNvPr id="13" name="Rounded Rectangle 12"/>
          <p:cNvSpPr/>
          <p:nvPr/>
        </p:nvSpPr>
        <p:spPr>
          <a:xfrm>
            <a:off x="93345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96774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677400" y="3333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Ctrl+Click</a:t>
            </a:r>
          </a:p>
        </p:txBody>
      </p:sp>
      <p:sp>
        <p:nvSpPr>
          <p:cNvPr id="16" name="TextBox 15"/>
          <p:cNvSpPr txBox="1"/>
          <p:nvPr/>
        </p:nvSpPr>
        <p:spPr>
          <a:xfrm>
            <a:off x="12763500" y="3143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Jump to where a method or variable is defined</a:t>
            </a:r>
          </a:p>
        </p:txBody>
      </p:sp>
      <p:sp>
        <p:nvSpPr>
          <p:cNvPr id="17" name="Rounded Rectangle 16"/>
          <p:cNvSpPr/>
          <p:nvPr/>
        </p:nvSpPr>
        <p:spPr>
          <a:xfrm>
            <a:off x="93345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6774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77400" y="5238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Ctrl+Shift+P</a:t>
            </a:r>
          </a:p>
        </p:txBody>
      </p:sp>
      <p:sp>
        <p:nvSpPr>
          <p:cNvPr id="20" name="TextBox 19"/>
          <p:cNvSpPr txBox="1"/>
          <p:nvPr/>
        </p:nvSpPr>
        <p:spPr>
          <a:xfrm>
            <a:off x="12763500" y="5048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Run a command, like WPILib: Build Robot Code</a:t>
            </a:r>
          </a:p>
        </p:txBody>
      </p:sp>
      <p:sp>
        <p:nvSpPr>
          <p:cNvPr id="21" name="Rounded Rectangle 20"/>
          <p:cNvSpPr/>
          <p:nvPr/>
        </p:nvSpPr>
        <p:spPr>
          <a:xfrm>
            <a:off x="914400" y="6858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erminal.png"/>
          <p:cNvPicPr>
            <a:picLocks noChangeAspect="1"/>
          </p:cNvPicPr>
          <p:nvPr/>
        </p:nvPicPr>
        <p:blipFill>
          <a:blip r:embed="rId3"/>
          <a:stretch>
            <a:fillRect/>
          </a:stretch>
        </p:blipFill>
        <p:spPr>
          <a:xfrm>
            <a:off x="1333500" y="7115175"/>
            <a:ext cx="609600" cy="533400"/>
          </a:xfrm>
          <a:prstGeom prst="rect">
            <a:avLst/>
          </a:prstGeom>
        </p:spPr>
      </p:pic>
      <p:sp>
        <p:nvSpPr>
          <p:cNvPr id="23" name="TextBox 22"/>
          <p:cNvSpPr txBox="1"/>
          <p:nvPr/>
        </p:nvSpPr>
        <p:spPr>
          <a:xfrm>
            <a:off x="2190750" y="6858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Build failed?  </a:t>
            </a:r>
            <a:r>
              <a:rPr sz="2100" b="0" i="0">
                <a:solidFill>
                  <a:srgbClr val="F0E8E8"/>
                </a:solidFill>
                <a:latin typeface="Geist"/>
                <a:ea typeface="Geist"/>
                <a:cs typeface="Geist"/>
              </a:rPr>
              <a:t>Read the terminal. The compiler usually says what went wrong and on which line.</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happens when you press Run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333750"/>
            <a:ext cx="33528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Main.java</a:t>
            </a:r>
          </a:p>
        </p:txBody>
      </p:sp>
      <p:sp>
        <p:nvSpPr>
          <p:cNvPr id="7" name="TextBox 6"/>
          <p:cNvSpPr txBox="1"/>
          <p:nvPr/>
        </p:nvSpPr>
        <p:spPr>
          <a:xfrm>
            <a:off x="10668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code you typed</a:t>
            </a:r>
          </a:p>
        </p:txBody>
      </p:sp>
      <p:cxnSp>
        <p:nvCxnSpPr>
          <p:cNvPr id="8" name="Connector 7"/>
          <p:cNvCxnSpPr/>
          <p:nvPr/>
        </p:nvCxnSpPr>
        <p:spPr>
          <a:xfrm>
            <a:off x="45339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2952750"/>
            <a:ext cx="3543300" cy="1714500"/>
          </a:xfrm>
          <a:prstGeom prst="roundRect">
            <a:avLst>
              <a:gd name="adj" fmla="val 888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Compile</a:t>
            </a:r>
          </a:p>
        </p:txBody>
      </p:sp>
      <p:sp>
        <p:nvSpPr>
          <p:cNvPr id="11" name="TextBox 10"/>
          <p:cNvSpPr txBox="1"/>
          <p:nvPr/>
        </p:nvSpPr>
        <p:spPr>
          <a:xfrm>
            <a:off x="53721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Check it and translate it</a:t>
            </a:r>
          </a:p>
        </p:txBody>
      </p:sp>
      <p:cxnSp>
        <p:nvCxnSpPr>
          <p:cNvPr id="12" name="Connector 11"/>
          <p:cNvCxnSpPr/>
          <p:nvPr/>
        </p:nvCxnSpPr>
        <p:spPr>
          <a:xfrm>
            <a:off x="88392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Run</a:t>
            </a:r>
          </a:p>
        </p:txBody>
      </p:sp>
      <p:sp>
        <p:nvSpPr>
          <p:cNvPr id="15" name="TextBox 14"/>
          <p:cNvSpPr txBox="1"/>
          <p:nvPr/>
        </p:nvSpPr>
        <p:spPr>
          <a:xfrm>
            <a:off x="96774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computer follows it</a:t>
            </a:r>
          </a:p>
        </p:txBody>
      </p:sp>
      <p:cxnSp>
        <p:nvCxnSpPr>
          <p:cNvPr id="16" name="Connector 15"/>
          <p:cNvCxnSpPr/>
          <p:nvPr/>
        </p:nvCxnSpPr>
        <p:spPr>
          <a:xfrm>
            <a:off x="131445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Output</a:t>
            </a:r>
          </a:p>
        </p:txBody>
      </p:sp>
      <p:sp>
        <p:nvSpPr>
          <p:cNvPr id="19" name="TextBox 18"/>
          <p:cNvSpPr txBox="1"/>
          <p:nvPr/>
        </p:nvSpPr>
        <p:spPr>
          <a:xfrm>
            <a:off x="139827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Printed in the terminal</a:t>
            </a:r>
          </a:p>
        </p:txBody>
      </p:sp>
      <p:sp>
        <p:nvSpPr>
          <p:cNvPr id="20" name="Rounded Rectangle 19"/>
          <p:cNvSpPr/>
          <p:nvPr/>
        </p:nvSpPr>
        <p:spPr>
          <a:xfrm>
            <a:off x="914400" y="5619750"/>
            <a:ext cx="10477500" cy="2867025"/>
          </a:xfrm>
          <a:prstGeom prst="roundRect">
            <a:avLst>
              <a:gd name="adj" fmla="val 531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33450" y="6842760"/>
            <a:ext cx="10439400" cy="42100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33450" y="6842760"/>
            <a:ext cx="57150" cy="42100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95400" y="6000750"/>
            <a:ext cx="99441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class </a:t>
            </a:r>
            <a:r>
              <a:rPr sz="1950" b="0" i="0">
                <a:solidFill>
                  <a:srgbClr val="F0E8E8"/>
                </a:solidFill>
                <a:latin typeface="Geist Mono"/>
                <a:ea typeface="Geist Mono"/>
                <a:cs typeface="Geist Mono"/>
              </a:rPr>
              <a:t>Main {</a:t>
            </a:r>
          </a:p>
        </p:txBody>
      </p:sp>
      <p:sp>
        <p:nvSpPr>
          <p:cNvPr id="24" name="TextBox 23"/>
          <p:cNvSpPr txBox="1"/>
          <p:nvPr/>
        </p:nvSpPr>
        <p:spPr>
          <a:xfrm>
            <a:off x="1295400" y="6421755"/>
            <a:ext cx="99441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  public static void </a:t>
            </a:r>
            <a:r>
              <a:rPr sz="1950" b="0" i="0">
                <a:solidFill>
                  <a:srgbClr val="F0E8E8"/>
                </a:solidFill>
                <a:latin typeface="Geist Mono"/>
                <a:ea typeface="Geist Mono"/>
                <a:cs typeface="Geist Mono"/>
              </a:rPr>
              <a:t>main(String[] args) {</a:t>
            </a:r>
          </a:p>
        </p:txBody>
      </p:sp>
      <p:sp>
        <p:nvSpPr>
          <p:cNvPr id="25" name="TextBox 24"/>
          <p:cNvSpPr txBox="1"/>
          <p:nvPr/>
        </p:nvSpPr>
        <p:spPr>
          <a:xfrm>
            <a:off x="1295400" y="6842760"/>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System.out.println(</a:t>
            </a:r>
            <a:r>
              <a:rPr sz="1950" b="0" i="0">
                <a:solidFill>
                  <a:srgbClr val="9FD29A"/>
                </a:solidFill>
                <a:latin typeface="Geist Mono"/>
                <a:ea typeface="Geist Mono"/>
                <a:cs typeface="Geist Mono"/>
              </a:rPr>
              <a:t>"Hello, my name is ..."</a:t>
            </a:r>
            <a:r>
              <a:rPr sz="1950" b="0" i="0">
                <a:solidFill>
                  <a:srgbClr val="F0E8E8"/>
                </a:solidFill>
                <a:latin typeface="Geist Mono"/>
                <a:ea typeface="Geist Mono"/>
                <a:cs typeface="Geist Mono"/>
              </a:rPr>
              <a:t>);</a:t>
            </a:r>
          </a:p>
        </p:txBody>
      </p:sp>
      <p:sp>
        <p:nvSpPr>
          <p:cNvPr id="26" name="TextBox 25"/>
          <p:cNvSpPr txBox="1"/>
          <p:nvPr/>
        </p:nvSpPr>
        <p:spPr>
          <a:xfrm>
            <a:off x="1295400" y="7263765"/>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27" name="TextBox 26"/>
          <p:cNvSpPr txBox="1"/>
          <p:nvPr/>
        </p:nvSpPr>
        <p:spPr>
          <a:xfrm>
            <a:off x="1295400" y="7684770"/>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28" name="Rounded Rectangle 27"/>
          <p:cNvSpPr/>
          <p:nvPr/>
        </p:nvSpPr>
        <p:spPr>
          <a:xfrm>
            <a:off x="12039600" y="5619750"/>
            <a:ext cx="5334000" cy="3162300"/>
          </a:xfrm>
          <a:prstGeom prst="roundRect">
            <a:avLst>
              <a:gd name="adj" fmla="val 4819"/>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420600" y="5905500"/>
            <a:ext cx="45720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OUTPUT</a:t>
            </a:r>
          </a:p>
        </p:txBody>
      </p:sp>
      <p:sp>
        <p:nvSpPr>
          <p:cNvPr id="30" name="TextBox 29"/>
          <p:cNvSpPr txBox="1"/>
          <p:nvPr/>
        </p:nvSpPr>
        <p:spPr>
          <a:xfrm>
            <a:off x="12420600" y="6381750"/>
            <a:ext cx="4572000" cy="571500"/>
          </a:xfrm>
          <a:prstGeom prst="rect">
            <a:avLst/>
          </a:prstGeom>
          <a:noFill/>
        </p:spPr>
        <p:txBody>
          <a:bodyPr wrap="square" lIns="0" rIns="0" tIns="0" bIns="0" anchor="t">
            <a:spAutoFit/>
          </a:bodyPr>
          <a:lstStyle/>
          <a:p>
            <a:pPr algn="l"/>
            <a:r>
              <a:rPr sz="2100" b="0" i="0">
                <a:solidFill>
                  <a:srgbClr val="9FD29A"/>
                </a:solidFill>
                <a:latin typeface="Geist Mono"/>
                <a:ea typeface="Geist Mono"/>
                <a:cs typeface="Geist Mono"/>
              </a:rPr>
              <a:t>Hello, my name is Ava</a:t>
            </a:r>
          </a:p>
        </p:txBody>
      </p:sp>
      <p:sp>
        <p:nvSpPr>
          <p:cNvPr id="31" name="TextBox 30"/>
          <p:cNvSpPr txBox="1"/>
          <p:nvPr/>
        </p:nvSpPr>
        <p:spPr>
          <a:xfrm>
            <a:off x="12420600" y="7143750"/>
            <a:ext cx="4572000" cy="142875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typo? Compiling stops and points at the line.</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Git Basics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Version control: saving history and working as a team</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Commit small steps. Future you will say thanks.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version control?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Remembers every version</a:t>
            </a:r>
            <a:r>
              <a:rPr sz="2400" b="0" i="0">
                <a:solidFill>
                  <a:srgbClr val="F0E8E8"/>
                </a:solidFill>
                <a:latin typeface="Geist"/>
                <a:ea typeface="Geist"/>
                <a:cs typeface="Geist"/>
              </a:rPr>
              <a:t> of your code</a:t>
            </a:r>
          </a:p>
        </p:txBody>
      </p:sp>
      <p:sp>
        <p:nvSpPr>
          <p:cNvPr id="6" name="TextBox 5"/>
          <p:cNvSpPr txBox="1"/>
          <p:nvPr/>
        </p:nvSpPr>
        <p:spPr>
          <a:xfrm>
            <a:off x="914400" y="353949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Undo</a:t>
            </a:r>
            <a:r>
              <a:rPr sz="2400" b="0" i="0">
                <a:solidFill>
                  <a:srgbClr val="F0E8E8"/>
                </a:solidFill>
                <a:latin typeface="Geist"/>
                <a:ea typeface="Geist"/>
                <a:cs typeface="Geist"/>
              </a:rPr>
              <a:t> back to any earlier save point</a:t>
            </a:r>
          </a:p>
        </p:txBody>
      </p:sp>
      <p:sp>
        <p:nvSpPr>
          <p:cNvPr id="7" name="TextBox 6"/>
          <p:cNvSpPr txBox="1"/>
          <p:nvPr/>
        </p:nvSpPr>
        <p:spPr>
          <a:xfrm>
            <a:off x="914400" y="422148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Many people</a:t>
            </a:r>
            <a:r>
              <a:rPr sz="2400" b="0" i="0">
                <a:solidFill>
                  <a:srgbClr val="F0E8E8"/>
                </a:solidFill>
                <a:latin typeface="Geist"/>
                <a:ea typeface="Geist"/>
                <a:cs typeface="Geist"/>
              </a:rPr>
              <a:t> work at once without overwriting</a:t>
            </a:r>
          </a:p>
        </p:txBody>
      </p:sp>
      <p:sp>
        <p:nvSpPr>
          <p:cNvPr id="8" name="TextBox 7"/>
          <p:cNvSpPr txBox="1"/>
          <p:nvPr/>
        </p:nvSpPr>
        <p:spPr>
          <a:xfrm>
            <a:off x="914400" y="490347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Built on three ideas: </a:t>
            </a:r>
            <a:r>
              <a:rPr sz="2400" b="1" i="0">
                <a:solidFill>
                  <a:srgbClr val="F0E8E8"/>
                </a:solidFill>
                <a:latin typeface="Geist"/>
                <a:ea typeface="Geist"/>
                <a:cs typeface="Geist"/>
              </a:rPr>
              <a:t>repositories, commits, branches</a:t>
            </a:r>
          </a:p>
        </p:txBody>
      </p:sp>
      <p:sp>
        <p:nvSpPr>
          <p:cNvPr id="9" name="Rounded Rectangle 8"/>
          <p:cNvSpPr/>
          <p:nvPr/>
        </p:nvSpPr>
        <p:spPr>
          <a:xfrm>
            <a:off x="11430000" y="2857500"/>
            <a:ext cx="5943600" cy="5334000"/>
          </a:xfrm>
          <a:prstGeom prst="roundRect">
            <a:avLst>
              <a:gd name="adj" fmla="val 28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811000" y="3143250"/>
            <a:ext cx="5181600" cy="381000"/>
          </a:xfrm>
          <a:prstGeom prst="rect">
            <a:avLst/>
          </a:prstGeom>
          <a:noFill/>
        </p:spPr>
        <p:txBody>
          <a:bodyPr wrap="square" lIns="0" rIns="0" tIns="0" bIns="0" anchor="t">
            <a:spAutoFit/>
          </a:bodyPr>
          <a:lstStyle/>
          <a:p>
            <a:pPr algn="l"/>
            <a:r>
              <a:rPr sz="1500" b="1" i="0" spc="130">
                <a:solidFill>
                  <a:srgbClr val="E05540"/>
                </a:solidFill>
                <a:latin typeface="Geist"/>
                <a:ea typeface="Geist"/>
                <a:cs typeface="Geist"/>
              </a:rPr>
              <a:t>WITHOUT GIT</a:t>
            </a:r>
          </a:p>
        </p:txBody>
      </p:sp>
      <p:pic>
        <p:nvPicPr>
          <p:cNvPr id="11" name="Picture 10" descr="folder2-open.png"/>
          <p:cNvPicPr>
            <a:picLocks noChangeAspect="1"/>
          </p:cNvPicPr>
          <p:nvPr/>
        </p:nvPicPr>
        <p:blipFill>
          <a:blip r:embed="rId3"/>
          <a:stretch>
            <a:fillRect/>
          </a:stretch>
        </p:blipFill>
        <p:spPr>
          <a:xfrm>
            <a:off x="11811000" y="3848100"/>
            <a:ext cx="461596" cy="381000"/>
          </a:xfrm>
          <a:prstGeom prst="rect">
            <a:avLst/>
          </a:prstGeom>
        </p:spPr>
      </p:pic>
      <p:sp>
        <p:nvSpPr>
          <p:cNvPr id="12" name="TextBox 11"/>
          <p:cNvSpPr txBox="1"/>
          <p:nvPr/>
        </p:nvSpPr>
        <p:spPr>
          <a:xfrm>
            <a:off x="12382500" y="3771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robot-code-v1</a:t>
            </a:r>
          </a:p>
        </p:txBody>
      </p:sp>
      <p:pic>
        <p:nvPicPr>
          <p:cNvPr id="13" name="Picture 12" descr="folder2-open.png"/>
          <p:cNvPicPr>
            <a:picLocks noChangeAspect="1"/>
          </p:cNvPicPr>
          <p:nvPr/>
        </p:nvPicPr>
        <p:blipFill>
          <a:blip r:embed="rId3"/>
          <a:stretch>
            <a:fillRect/>
          </a:stretch>
        </p:blipFill>
        <p:spPr>
          <a:xfrm>
            <a:off x="11811000" y="4610100"/>
            <a:ext cx="461596" cy="381000"/>
          </a:xfrm>
          <a:prstGeom prst="rect">
            <a:avLst/>
          </a:prstGeom>
        </p:spPr>
      </p:pic>
      <p:sp>
        <p:nvSpPr>
          <p:cNvPr id="14" name="TextBox 13"/>
          <p:cNvSpPr txBox="1"/>
          <p:nvPr/>
        </p:nvSpPr>
        <p:spPr>
          <a:xfrm>
            <a:off x="12382500" y="4533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robot-code-v2</a:t>
            </a:r>
          </a:p>
        </p:txBody>
      </p:sp>
      <p:pic>
        <p:nvPicPr>
          <p:cNvPr id="15" name="Picture 14" descr="folder2-open.png"/>
          <p:cNvPicPr>
            <a:picLocks noChangeAspect="1"/>
          </p:cNvPicPr>
          <p:nvPr/>
        </p:nvPicPr>
        <p:blipFill>
          <a:blip r:embed="rId3"/>
          <a:stretch>
            <a:fillRect/>
          </a:stretch>
        </p:blipFill>
        <p:spPr>
          <a:xfrm>
            <a:off x="11811000" y="5372100"/>
            <a:ext cx="461596" cy="381000"/>
          </a:xfrm>
          <a:prstGeom prst="rect">
            <a:avLst/>
          </a:prstGeom>
        </p:spPr>
      </p:pic>
      <p:sp>
        <p:nvSpPr>
          <p:cNvPr id="16" name="TextBox 15"/>
          <p:cNvSpPr txBox="1"/>
          <p:nvPr/>
        </p:nvSpPr>
        <p:spPr>
          <a:xfrm>
            <a:off x="12382500" y="5295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robot-code-final</a:t>
            </a:r>
          </a:p>
        </p:txBody>
      </p:sp>
      <p:pic>
        <p:nvPicPr>
          <p:cNvPr id="17" name="Picture 16" descr="folder2-open.png"/>
          <p:cNvPicPr>
            <a:picLocks noChangeAspect="1"/>
          </p:cNvPicPr>
          <p:nvPr/>
        </p:nvPicPr>
        <p:blipFill>
          <a:blip r:embed="rId3"/>
          <a:stretch>
            <a:fillRect/>
          </a:stretch>
        </p:blipFill>
        <p:spPr>
          <a:xfrm>
            <a:off x="11811000" y="6134100"/>
            <a:ext cx="461596" cy="381000"/>
          </a:xfrm>
          <a:prstGeom prst="rect">
            <a:avLst/>
          </a:prstGeom>
        </p:spPr>
      </p:pic>
      <p:sp>
        <p:nvSpPr>
          <p:cNvPr id="18" name="TextBox 17"/>
          <p:cNvSpPr txBox="1"/>
          <p:nvPr/>
        </p:nvSpPr>
        <p:spPr>
          <a:xfrm>
            <a:off x="12382500" y="6057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robot-code-final-2</a:t>
            </a:r>
          </a:p>
        </p:txBody>
      </p:sp>
      <p:pic>
        <p:nvPicPr>
          <p:cNvPr id="19" name="Picture 18" descr="folder2-open.png"/>
          <p:cNvPicPr>
            <a:picLocks noChangeAspect="1"/>
          </p:cNvPicPr>
          <p:nvPr/>
        </p:nvPicPr>
        <p:blipFill>
          <a:blip r:embed="rId3"/>
          <a:stretch>
            <a:fillRect/>
          </a:stretch>
        </p:blipFill>
        <p:spPr>
          <a:xfrm>
            <a:off x="11811000" y="6896100"/>
            <a:ext cx="461596" cy="381000"/>
          </a:xfrm>
          <a:prstGeom prst="rect">
            <a:avLst/>
          </a:prstGeom>
        </p:spPr>
      </p:pic>
      <p:sp>
        <p:nvSpPr>
          <p:cNvPr id="20" name="TextBox 19"/>
          <p:cNvSpPr txBox="1"/>
          <p:nvPr/>
        </p:nvSpPr>
        <p:spPr>
          <a:xfrm>
            <a:off x="12382500" y="6819900"/>
            <a:ext cx="4762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robot-code-final-really</a:t>
            </a:r>
          </a:p>
        </p:txBody>
      </p:sp>
      <p:sp>
        <p:nvSpPr>
          <p:cNvPr id="21" name="TextBox 20"/>
          <p:cNvSpPr txBox="1"/>
          <p:nvPr/>
        </p:nvSpPr>
        <p:spPr>
          <a:xfrm>
            <a:off x="11811000" y="7620000"/>
            <a:ext cx="51816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...emailed around, on a thumb drive</a:t>
            </a:r>
          </a:p>
        </p:txBody>
      </p:sp>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Repositories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repo</a:t>
            </a:r>
            <a:r>
              <a:rPr sz="2400" b="0" i="0">
                <a:solidFill>
                  <a:srgbClr val="F0E8E8"/>
                </a:solidFill>
                <a:latin typeface="Geist"/>
                <a:ea typeface="Geist"/>
                <a:cs typeface="Geist"/>
              </a:rPr>
              <a:t> is a project folder git is watching</a:t>
            </a:r>
          </a:p>
        </p:txBody>
      </p:sp>
      <p:sp>
        <p:nvSpPr>
          <p:cNvPr id="6" name="TextBox 5"/>
          <p:cNvSpPr txBox="1"/>
          <p:nvPr/>
        </p:nvSpPr>
        <p:spPr>
          <a:xfrm>
            <a:off x="914400" y="353949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Each project is usually its own repo</a:t>
            </a:r>
          </a:p>
        </p:txBody>
      </p:sp>
      <p:sp>
        <p:nvSpPr>
          <p:cNvPr id="7" name="TextBox 6"/>
          <p:cNvSpPr txBox="1"/>
          <p:nvPr/>
        </p:nvSpPr>
        <p:spPr>
          <a:xfrm>
            <a:off x="914400" y="422148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The history lives in a hidden </a:t>
            </a:r>
            <a:r>
              <a:rPr sz="2400" b="0" i="0">
                <a:solidFill>
                  <a:srgbClr val="E0785F"/>
                </a:solidFill>
                <a:latin typeface="Geist Mono"/>
                <a:ea typeface="Geist Mono"/>
                <a:cs typeface="Geist Mono"/>
              </a:rPr>
              <a:t>  .git  </a:t>
            </a:r>
            <a:r>
              <a:rPr sz="2400" b="0" i="0">
                <a:solidFill>
                  <a:srgbClr val="F0E8E8"/>
                </a:solidFill>
                <a:latin typeface="Geist"/>
                <a:ea typeface="Geist"/>
                <a:cs typeface="Geist"/>
              </a:rPr>
              <a:t> folder</a:t>
            </a:r>
          </a:p>
        </p:txBody>
      </p:sp>
      <p:sp>
        <p:nvSpPr>
          <p:cNvPr id="8" name="Rounded Rectangle 7"/>
          <p:cNvSpPr/>
          <p:nvPr/>
        </p:nvSpPr>
        <p:spPr>
          <a:xfrm>
            <a:off x="10287000" y="2857500"/>
            <a:ext cx="7086600" cy="4953000"/>
          </a:xfrm>
          <a:prstGeom prst="roundRect">
            <a:avLst>
              <a:gd name="adj" fmla="val 307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668000" y="32385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RobotCode/</a:t>
            </a:r>
          </a:p>
        </p:txBody>
      </p:sp>
      <p:sp>
        <p:nvSpPr>
          <p:cNvPr id="10" name="TextBox 9"/>
          <p:cNvSpPr txBox="1"/>
          <p:nvPr/>
        </p:nvSpPr>
        <p:spPr>
          <a:xfrm>
            <a:off x="11087100" y="3905250"/>
            <a:ext cx="6096000" cy="571500"/>
          </a:xfrm>
          <a:prstGeom prst="rect">
            <a:avLst/>
          </a:prstGeom>
          <a:noFill/>
        </p:spPr>
        <p:txBody>
          <a:bodyPr wrap="square" lIns="0" rIns="0" tIns="0" bIns="0" anchor="ctr">
            <a:spAutoFit/>
          </a:bodyPr>
          <a:lstStyle/>
          <a:p>
            <a:pPr algn="l"/>
            <a:r>
              <a:rPr sz="2250" b="0" i="0">
                <a:solidFill>
                  <a:srgbClr val="E0785F"/>
                </a:solidFill>
                <a:latin typeface="Geist Mono"/>
                <a:ea typeface="Geist Mono"/>
                <a:cs typeface="Geist Mono"/>
              </a:rPr>
              <a:t>.git/</a:t>
            </a:r>
          </a:p>
        </p:txBody>
      </p:sp>
      <p:sp>
        <p:nvSpPr>
          <p:cNvPr id="11" name="TextBox 10"/>
          <p:cNvSpPr txBox="1"/>
          <p:nvPr/>
        </p:nvSpPr>
        <p:spPr>
          <a:xfrm>
            <a:off x="11087100" y="45720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src/</a:t>
            </a:r>
          </a:p>
        </p:txBody>
      </p:sp>
      <p:sp>
        <p:nvSpPr>
          <p:cNvPr id="12" name="TextBox 11"/>
          <p:cNvSpPr txBox="1"/>
          <p:nvPr/>
        </p:nvSpPr>
        <p:spPr>
          <a:xfrm>
            <a:off x="11087100" y="523875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build.gradle</a:t>
            </a:r>
          </a:p>
        </p:txBody>
      </p:sp>
      <p:sp>
        <p:nvSpPr>
          <p:cNvPr id="13" name="TextBox 12"/>
          <p:cNvSpPr txBox="1"/>
          <p:nvPr/>
        </p:nvSpPr>
        <p:spPr>
          <a:xfrm>
            <a:off x="11087100" y="59055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README.md</a:t>
            </a:r>
          </a:p>
        </p:txBody>
      </p:sp>
      <p:sp>
        <p:nvSpPr>
          <p:cNvPr id="14" name="TextBox 13"/>
          <p:cNvSpPr txBox="1"/>
          <p:nvPr/>
        </p:nvSpPr>
        <p:spPr>
          <a:xfrm>
            <a:off x="10668000" y="6858000"/>
            <a:ext cx="60960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the .git folder holds every version</a:t>
            </a:r>
          </a:p>
        </p:txBody>
      </p:sp>
      <p:sp>
        <p:nvSpPr>
          <p:cNvPr id="15" name="TextBox 1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6" name="TextBox 1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Commits: save points with a message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 name="Connector 4"/>
          <p:cNvCxnSpPr/>
          <p:nvPr/>
        </p:nvCxnSpPr>
        <p:spPr>
          <a:xfrm>
            <a:off x="1524000" y="3238500"/>
            <a:ext cx="0" cy="342900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333500" y="3048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00250" y="2990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Created Arm subsystem</a:t>
            </a:r>
          </a:p>
        </p:txBody>
      </p:sp>
      <p:sp>
        <p:nvSpPr>
          <p:cNvPr id="8" name="Oval 7"/>
          <p:cNvSpPr/>
          <p:nvPr/>
        </p:nvSpPr>
        <p:spPr>
          <a:xfrm>
            <a:off x="1333500" y="4191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00250" y="4133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Added arm motors</a:t>
            </a:r>
          </a:p>
        </p:txBody>
      </p:sp>
      <p:sp>
        <p:nvSpPr>
          <p:cNvPr id="10" name="Oval 9"/>
          <p:cNvSpPr/>
          <p:nvPr/>
        </p:nvSpPr>
        <p:spPr>
          <a:xfrm>
            <a:off x="1333500" y="5334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0250" y="5276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Added arm PID controller</a:t>
            </a:r>
          </a:p>
        </p:txBody>
      </p:sp>
      <p:sp>
        <p:nvSpPr>
          <p:cNvPr id="12" name="Oval 11"/>
          <p:cNvSpPr/>
          <p:nvPr/>
        </p:nvSpPr>
        <p:spPr>
          <a:xfrm>
            <a:off x="1333500" y="64770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0250" y="6419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Tuned arm PID controller</a:t>
            </a:r>
          </a:p>
        </p:txBody>
      </p:sp>
      <p:sp>
        <p:nvSpPr>
          <p:cNvPr id="14" name="TextBox 13"/>
          <p:cNvSpPr txBox="1"/>
          <p:nvPr/>
        </p:nvSpPr>
        <p:spPr>
          <a:xfrm>
            <a:off x="914400" y="7810500"/>
            <a:ext cx="7810500" cy="952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Each commit gets an ID (a SHA), shortened to 7 characters: </a:t>
            </a:r>
            <a:r>
              <a:rPr sz="1950" b="0" i="0">
                <a:solidFill>
                  <a:srgbClr val="E0785F"/>
                </a:solidFill>
                <a:latin typeface="Geist Mono"/>
                <a:ea typeface="Geist Mono"/>
                <a:cs typeface="Geist Mono"/>
              </a:rPr>
              <a:t>2c37172</a:t>
            </a:r>
          </a:p>
        </p:txBody>
      </p:sp>
      <p:sp>
        <p:nvSpPr>
          <p:cNvPr id="15" name="Rounded Rectangle 14"/>
          <p:cNvSpPr/>
          <p:nvPr/>
        </p:nvSpPr>
        <p:spPr>
          <a:xfrm>
            <a:off x="9525000" y="2857500"/>
            <a:ext cx="78486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906000" y="3143250"/>
            <a:ext cx="7086600" cy="381000"/>
          </a:xfrm>
          <a:prstGeom prst="rect">
            <a:avLst/>
          </a:prstGeom>
          <a:noFill/>
        </p:spPr>
        <p:txBody>
          <a:bodyPr wrap="square" lIns="0" rIns="0" tIns="0" bIns="0" anchor="t">
            <a:spAutoFit/>
          </a:bodyPr>
          <a:lstStyle/>
          <a:p>
            <a:pPr algn="l"/>
            <a:r>
              <a:rPr sz="1500" b="1" i="0" spc="130">
                <a:solidFill>
                  <a:srgbClr val="198754"/>
                </a:solidFill>
                <a:latin typeface="Geist"/>
                <a:ea typeface="Geist"/>
                <a:cs typeface="Geist"/>
              </a:rPr>
              <a:t>GOOD MESSAGES</a:t>
            </a:r>
          </a:p>
        </p:txBody>
      </p:sp>
      <p:sp>
        <p:nvSpPr>
          <p:cNvPr id="17" name="TextBox 16"/>
          <p:cNvSpPr txBox="1"/>
          <p:nvPr/>
        </p:nvSpPr>
        <p:spPr>
          <a:xfrm>
            <a:off x="9906000" y="361950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Say what changed</a:t>
            </a:r>
          </a:p>
        </p:txBody>
      </p:sp>
      <p:sp>
        <p:nvSpPr>
          <p:cNvPr id="18" name="TextBox 17"/>
          <p:cNvSpPr txBox="1"/>
          <p:nvPr/>
        </p:nvSpPr>
        <p:spPr>
          <a:xfrm>
            <a:off x="9906000" y="411861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One small step each</a:t>
            </a:r>
          </a:p>
        </p:txBody>
      </p:sp>
      <p:sp>
        <p:nvSpPr>
          <p:cNvPr id="19" name="TextBox 18"/>
          <p:cNvSpPr txBox="1"/>
          <p:nvPr/>
        </p:nvSpPr>
        <p:spPr>
          <a:xfrm>
            <a:off x="9906000" y="461772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Fit in 52 characters, or the commit is too big</a:t>
            </a:r>
          </a:p>
        </p:txBody>
      </p:sp>
      <p:sp>
        <p:nvSpPr>
          <p:cNvPr id="20" name="Rounded Rectangle 19"/>
          <p:cNvSpPr/>
          <p:nvPr/>
        </p:nvSpPr>
        <p:spPr>
          <a:xfrm>
            <a:off x="9525000" y="6000750"/>
            <a:ext cx="7848600" cy="2762250"/>
          </a:xfrm>
          <a:prstGeom prst="roundRect">
            <a:avLst>
              <a:gd name="adj" fmla="val 55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906000" y="6286500"/>
            <a:ext cx="7086600" cy="381000"/>
          </a:xfrm>
          <a:prstGeom prst="rect">
            <a:avLst/>
          </a:prstGeom>
          <a:noFill/>
        </p:spPr>
        <p:txBody>
          <a:bodyPr wrap="square" lIns="0" rIns="0" tIns="0" bIns="0" anchor="t">
            <a:spAutoFit/>
          </a:bodyPr>
          <a:lstStyle/>
          <a:p>
            <a:pPr algn="l"/>
            <a:r>
              <a:rPr sz="1500" b="1" i="0" spc="130">
                <a:solidFill>
                  <a:srgbClr val="E05540"/>
                </a:solidFill>
                <a:latin typeface="Geist"/>
                <a:ea typeface="Geist"/>
                <a:cs typeface="Geist"/>
              </a:rPr>
              <a:t>NOT HELPFUL</a:t>
            </a:r>
          </a:p>
        </p:txBody>
      </p:sp>
      <p:sp>
        <p:nvSpPr>
          <p:cNvPr id="22" name="TextBox 21"/>
          <p:cNvSpPr txBox="1"/>
          <p:nvPr/>
        </p:nvSpPr>
        <p:spPr>
          <a:xfrm>
            <a:off x="9906000" y="6762750"/>
            <a:ext cx="7086600" cy="1905000"/>
          </a:xfrm>
          <a:prstGeom prst="rect">
            <a:avLst/>
          </a:prstGeom>
          <a:noFill/>
        </p:spPr>
        <p:txBody>
          <a:bodyPr wrap="square" lIns="0" rIns="0" tIns="0" bIns="0" anchor="t">
            <a:spAutoFit/>
          </a:bodyPr>
          <a:lstStyle/>
          <a:p>
            <a:pPr algn="l">
              <a:lnSpc>
                <a:spcPct val="140000"/>
              </a:lnSpc>
            </a:pPr>
            <a:r>
              <a:rPr sz="2100" b="0" i="0">
                <a:solidFill>
                  <a:srgbClr val="9A7878"/>
                </a:solidFill>
                <a:latin typeface="Geist Mono"/>
                <a:ea typeface="Geist Mono"/>
                <a:cs typeface="Geist Mono"/>
              </a:rPr>
              <a:t>"stuff"</a:t>
            </a:r>
          </a:p>
          <a:p>
            <a:pPr algn="l">
              <a:lnSpc>
                <a:spcPct val="140000"/>
              </a:lnSpc>
            </a:pPr>
            <a:r>
              <a:rPr sz="2100" b="0" i="0">
                <a:solidFill>
                  <a:srgbClr val="9A7878"/>
                </a:solidFill>
                <a:latin typeface="Geist Mono"/>
                <a:ea typeface="Geist Mono"/>
                <a:cs typeface="Geist Mono"/>
              </a:rPr>
              <a:t>"fixed it"</a:t>
            </a:r>
          </a:p>
          <a:p>
            <a:pPr algn="l">
              <a:lnSpc>
                <a:spcPct val="140000"/>
              </a:lnSpc>
            </a:pPr>
            <a:r>
              <a:rPr sz="2100" b="0" i="0">
                <a:solidFill>
                  <a:srgbClr val="9A7878"/>
                </a:solidFill>
                <a:latin typeface="Geist Mono"/>
                <a:ea typeface="Geist Mono"/>
                <a:cs typeface="Geist Mono"/>
              </a:rPr>
              <a:t>"asdf"</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Four places your code lives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Working</a:t>
            </a:r>
          </a:p>
        </p:txBody>
      </p:sp>
      <p:sp>
        <p:nvSpPr>
          <p:cNvPr id="7" name="TextBox 6"/>
          <p:cNvSpPr txBox="1"/>
          <p:nvPr/>
        </p:nvSpPr>
        <p:spPr>
          <a:xfrm>
            <a:off x="10668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Files you edit and save</a:t>
            </a:r>
          </a:p>
        </p:txBody>
      </p:sp>
      <p:cxnSp>
        <p:nvCxnSpPr>
          <p:cNvPr id="8" name="Connector 7"/>
          <p:cNvCxnSpPr/>
          <p:nvPr/>
        </p:nvCxnSpPr>
        <p:spPr>
          <a:xfrm>
            <a:off x="45339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2095500"/>
          </a:xfrm>
          <a:prstGeom prst="roundRect">
            <a:avLst>
              <a:gd name="adj" fmla="val 727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Staged</a:t>
            </a:r>
          </a:p>
        </p:txBody>
      </p:sp>
      <p:sp>
        <p:nvSpPr>
          <p:cNvPr id="11" name="TextBox 10"/>
          <p:cNvSpPr txBox="1"/>
          <p:nvPr/>
        </p:nvSpPr>
        <p:spPr>
          <a:xfrm>
            <a:off x="53721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Picked for the next commit</a:t>
            </a:r>
          </a:p>
        </p:txBody>
      </p:sp>
      <p:cxnSp>
        <p:nvCxnSpPr>
          <p:cNvPr id="12" name="Connector 11"/>
          <p:cNvCxnSpPr/>
          <p:nvPr/>
        </p:nvCxnSpPr>
        <p:spPr>
          <a:xfrm>
            <a:off x="88392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Local repo</a:t>
            </a:r>
          </a:p>
        </p:txBody>
      </p:sp>
      <p:sp>
        <p:nvSpPr>
          <p:cNvPr id="15" name="TextBox 14"/>
          <p:cNvSpPr txBox="1"/>
          <p:nvPr/>
        </p:nvSpPr>
        <p:spPr>
          <a:xfrm>
            <a:off x="96774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Commits on your computer</a:t>
            </a:r>
          </a:p>
        </p:txBody>
      </p:sp>
      <p:cxnSp>
        <p:nvCxnSpPr>
          <p:cNvPr id="16" name="Connector 15"/>
          <p:cNvCxnSpPr/>
          <p:nvPr/>
        </p:nvCxnSpPr>
        <p:spPr>
          <a:xfrm>
            <a:off x="131445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Remote</a:t>
            </a:r>
          </a:p>
        </p:txBody>
      </p:sp>
      <p:sp>
        <p:nvSpPr>
          <p:cNvPr id="19" name="TextBox 18"/>
          <p:cNvSpPr txBox="1"/>
          <p:nvPr/>
        </p:nvSpPr>
        <p:spPr>
          <a:xfrm>
            <a:off x="139827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team's copy on GitHub</a:t>
            </a:r>
          </a:p>
        </p:txBody>
      </p:sp>
      <p:sp>
        <p:nvSpPr>
          <p:cNvPr id="20" name="TextBox 19"/>
          <p:cNvSpPr txBox="1"/>
          <p:nvPr/>
        </p:nvSpPr>
        <p:spPr>
          <a:xfrm>
            <a:off x="40767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add</a:t>
            </a:r>
          </a:p>
        </p:txBody>
      </p:sp>
      <p:sp>
        <p:nvSpPr>
          <p:cNvPr id="21" name="TextBox 20"/>
          <p:cNvSpPr txBox="1"/>
          <p:nvPr/>
        </p:nvSpPr>
        <p:spPr>
          <a:xfrm>
            <a:off x="83820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commit</a:t>
            </a:r>
          </a:p>
        </p:txBody>
      </p:sp>
      <p:sp>
        <p:nvSpPr>
          <p:cNvPr id="22" name="TextBox 21"/>
          <p:cNvSpPr txBox="1"/>
          <p:nvPr/>
        </p:nvSpPr>
        <p:spPr>
          <a:xfrm>
            <a:off x="126873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push</a:t>
            </a:r>
          </a:p>
        </p:txBody>
      </p:sp>
      <p:sp>
        <p:nvSpPr>
          <p:cNvPr id="23" name="TextBox 22"/>
          <p:cNvSpPr txBox="1"/>
          <p:nvPr/>
        </p:nvSpPr>
        <p:spPr>
          <a:xfrm>
            <a:off x="914400" y="5715000"/>
            <a:ext cx="164592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EVERYDAY ROUTINE</a:t>
            </a:r>
          </a:p>
        </p:txBody>
      </p:sp>
      <p:sp>
        <p:nvSpPr>
          <p:cNvPr id="24" name="Rounded Rectangle 23"/>
          <p:cNvSpPr/>
          <p:nvPr/>
        </p:nvSpPr>
        <p:spPr>
          <a:xfrm>
            <a:off x="9144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44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1  Edit</a:t>
            </a:r>
          </a:p>
        </p:txBody>
      </p:sp>
      <p:sp>
        <p:nvSpPr>
          <p:cNvPr id="26" name="Rounded Rectangle 25"/>
          <p:cNvSpPr/>
          <p:nvPr/>
        </p:nvSpPr>
        <p:spPr>
          <a:xfrm>
            <a:off x="42672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2672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2  Save</a:t>
            </a:r>
          </a:p>
        </p:txBody>
      </p:sp>
      <p:sp>
        <p:nvSpPr>
          <p:cNvPr id="28" name="Rounded Rectangle 27"/>
          <p:cNvSpPr/>
          <p:nvPr/>
        </p:nvSpPr>
        <p:spPr>
          <a:xfrm>
            <a:off x="76200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6200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3  Stage +</a:t>
            </a:r>
          </a:p>
        </p:txBody>
      </p:sp>
      <p:sp>
        <p:nvSpPr>
          <p:cNvPr id="30" name="Rounded Rectangle 29"/>
          <p:cNvSpPr/>
          <p:nvPr/>
        </p:nvSpPr>
        <p:spPr>
          <a:xfrm>
            <a:off x="109728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9728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4  Message</a:t>
            </a:r>
          </a:p>
        </p:txBody>
      </p:sp>
      <p:sp>
        <p:nvSpPr>
          <p:cNvPr id="32" name="Rounded Rectangle 31"/>
          <p:cNvSpPr/>
          <p:nvPr/>
        </p:nvSpPr>
        <p:spPr>
          <a:xfrm>
            <a:off x="143256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43256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5  Commit</a:t>
            </a:r>
          </a:p>
        </p:txBody>
      </p:sp>
      <p:sp>
        <p:nvSpPr>
          <p:cNvPr id="34" name="TextBox 33"/>
          <p:cNvSpPr txBox="1"/>
          <p:nvPr/>
        </p:nvSpPr>
        <p:spPr>
          <a:xfrm>
            <a:off x="914400" y="7524750"/>
            <a:ext cx="164592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In the editor, every step is a button in Source Control (the branch icon on the left).</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Branches: parallel lines of work</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Your own line of work</a:t>
            </a:r>
          </a:p>
        </p:txBody>
      </p:sp>
      <p:sp>
        <p:nvSpPr>
          <p:cNvPr id="6" name="TextBox 5"/>
          <p:cNvSpPr txBox="1"/>
          <p:nvPr/>
        </p:nvSpPr>
        <p:spPr>
          <a:xfrm>
            <a:off x="914400" y="3514725"/>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Starts from a commit on another branch</a:t>
            </a:r>
          </a:p>
        </p:txBody>
      </p:sp>
      <p:sp>
        <p:nvSpPr>
          <p:cNvPr id="7" name="TextBox 6"/>
          <p:cNvSpPr txBox="1"/>
          <p:nvPr/>
        </p:nvSpPr>
        <p:spPr>
          <a:xfrm>
            <a:off x="914400" y="4171950"/>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Always branch for a new feature</a:t>
            </a:r>
          </a:p>
        </p:txBody>
      </p:sp>
      <p:sp>
        <p:nvSpPr>
          <p:cNvPr id="8" name="TextBox 7"/>
          <p:cNvSpPr txBox="1"/>
          <p:nvPr/>
        </p:nvSpPr>
        <p:spPr>
          <a:xfrm>
            <a:off x="914400" y="4829175"/>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Lets people work in parallel</a:t>
            </a:r>
          </a:p>
        </p:txBody>
      </p:sp>
      <p:sp>
        <p:nvSpPr>
          <p:cNvPr id="9" name="Rounded Rectangle 8"/>
          <p:cNvSpPr/>
          <p:nvPr/>
        </p:nvSpPr>
        <p:spPr>
          <a:xfrm>
            <a:off x="7239000" y="2857500"/>
            <a:ext cx="10134600" cy="5334000"/>
          </a:xfrm>
          <a:prstGeom prst="roundRect">
            <a:avLst>
              <a:gd name="adj" fmla="val 28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543800" y="3714750"/>
            <a:ext cx="2190750" cy="571500"/>
          </a:xfrm>
          <a:prstGeom prst="roundRect">
            <a:avLst>
              <a:gd name="adj" fmla="val 50000"/>
            </a:avLst>
          </a:prstGeom>
          <a:solidFill>
            <a:srgbClr val="111111"/>
          </a:solidFill>
          <a:ln w="19050">
            <a:solidFill>
              <a:srgbClr val="F0E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43800" y="3714750"/>
            <a:ext cx="2190750" cy="571500"/>
          </a:xfrm>
          <a:prstGeom prst="rect">
            <a:avLst/>
          </a:prstGeom>
          <a:noFill/>
        </p:spPr>
        <p:txBody>
          <a:bodyPr wrap="square" lIns="0" rIns="0" tIns="0" bIns="0" anchor="ctr">
            <a:spAutoFit/>
          </a:bodyPr>
          <a:lstStyle/>
          <a:p>
            <a:pPr algn="ctr"/>
            <a:r>
              <a:rPr sz="1800" b="0" i="0">
                <a:solidFill>
                  <a:srgbClr val="F0E8E8"/>
                </a:solidFill>
                <a:latin typeface="Geist Mono"/>
                <a:ea typeface="Geist Mono"/>
                <a:cs typeface="Geist Mono"/>
              </a:rPr>
              <a:t>main</a:t>
            </a:r>
          </a:p>
        </p:txBody>
      </p:sp>
      <p:cxnSp>
        <p:nvCxnSpPr>
          <p:cNvPr id="12" name="Connector 11"/>
          <p:cNvCxnSpPr/>
          <p:nvPr/>
        </p:nvCxnSpPr>
        <p:spPr>
          <a:xfrm>
            <a:off x="10287000" y="4000500"/>
            <a:ext cx="6477000" cy="0"/>
          </a:xfrm>
          <a:prstGeom prst="line">
            <a:avLst/>
          </a:prstGeom>
          <a:ln w="57150">
            <a:solidFill>
              <a:srgbClr val="F0E8E8"/>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43800" y="5238750"/>
            <a:ext cx="2190750" cy="571500"/>
          </a:xfrm>
          <a:prstGeom prst="roundRect">
            <a:avLst>
              <a:gd name="adj" fmla="val 50000"/>
            </a:avLst>
          </a:prstGeom>
          <a:solidFill>
            <a:srgbClr val="111111"/>
          </a:solidFill>
          <a:ln w="19050">
            <a:solidFill>
              <a:srgbClr val="6FA8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43800" y="5238750"/>
            <a:ext cx="2190750" cy="571500"/>
          </a:xfrm>
          <a:prstGeom prst="rect">
            <a:avLst/>
          </a:prstGeom>
          <a:noFill/>
        </p:spPr>
        <p:txBody>
          <a:bodyPr wrap="square" lIns="0" rIns="0" tIns="0" bIns="0" anchor="ctr">
            <a:spAutoFit/>
          </a:bodyPr>
          <a:lstStyle/>
          <a:p>
            <a:pPr algn="ctr"/>
            <a:r>
              <a:rPr sz="1800" b="0" i="0">
                <a:solidFill>
                  <a:srgbClr val="6FA8DC"/>
                </a:solidFill>
                <a:latin typeface="Geist Mono"/>
                <a:ea typeface="Geist Mono"/>
                <a:cs typeface="Geist Mono"/>
              </a:rPr>
              <a:t>bugfix</a:t>
            </a:r>
          </a:p>
        </p:txBody>
      </p:sp>
      <p:cxnSp>
        <p:nvCxnSpPr>
          <p:cNvPr id="15" name="Connector 14"/>
          <p:cNvCxnSpPr/>
          <p:nvPr/>
        </p:nvCxnSpPr>
        <p:spPr>
          <a:xfrm>
            <a:off x="14287500" y="5524500"/>
            <a:ext cx="1333500" cy="0"/>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543800" y="6762750"/>
            <a:ext cx="219075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543800" y="6762750"/>
            <a:ext cx="219075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new-feature</a:t>
            </a:r>
          </a:p>
        </p:txBody>
      </p:sp>
      <p:cxnSp>
        <p:nvCxnSpPr>
          <p:cNvPr id="18" name="Connector 17"/>
          <p:cNvCxnSpPr/>
          <p:nvPr/>
        </p:nvCxnSpPr>
        <p:spPr>
          <a:xfrm>
            <a:off x="12954000" y="7048500"/>
            <a:ext cx="40005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2954000" y="4000500"/>
            <a:ext cx="133156" cy="2221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087156" y="4022716"/>
            <a:ext cx="115660" cy="62204"/>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202816" y="4084920"/>
            <a:ext cx="101082" cy="95528"/>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3303898" y="4180448"/>
            <a:ext cx="89418" cy="12218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3393316" y="4302634"/>
            <a:ext cx="80671" cy="142181"/>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473987" y="4444815"/>
            <a:ext cx="74840" cy="155510"/>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548827" y="4600325"/>
            <a:ext cx="71923" cy="162175"/>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620750" y="4762500"/>
            <a:ext cx="71923" cy="162175"/>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692673" y="4924675"/>
            <a:ext cx="74840" cy="155510"/>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767513" y="5080185"/>
            <a:ext cx="80671" cy="142181"/>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848184" y="5222366"/>
            <a:ext cx="89418" cy="12218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937602" y="5344552"/>
            <a:ext cx="101082" cy="95528"/>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4038684" y="5440080"/>
            <a:ext cx="115660" cy="62204"/>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4154344" y="5502284"/>
            <a:ext cx="133156" cy="2221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3058581" y="3994141"/>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3174241" y="4056345"/>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275323" y="4151873"/>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3364741" y="4274059"/>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3445412" y="441624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3520252" y="457175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3592175" y="4733925"/>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3664098" y="489610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3738938" y="505161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3819609" y="5193791"/>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909027" y="5315977"/>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4010109" y="5411505"/>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4125769" y="5473709"/>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11620500" y="4000500"/>
            <a:ext cx="133156" cy="4443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753656" y="4044931"/>
            <a:ext cx="115660" cy="124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869316" y="4169340"/>
            <a:ext cx="101082" cy="1910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970398" y="4360395"/>
            <a:ext cx="89418" cy="2443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2059816" y="4604768"/>
            <a:ext cx="80671" cy="284362"/>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2140487" y="4889130"/>
            <a:ext cx="74840" cy="31102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2215327" y="5200150"/>
            <a:ext cx="71923" cy="3243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2287250" y="5524500"/>
            <a:ext cx="71923" cy="3243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2359173" y="5848850"/>
            <a:ext cx="74840" cy="31102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2434013" y="6159870"/>
            <a:ext cx="80671" cy="284362"/>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2514684" y="6444232"/>
            <a:ext cx="89418" cy="2443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2604102" y="6688605"/>
            <a:ext cx="101082" cy="1910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2705184" y="6879660"/>
            <a:ext cx="115660" cy="124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2820844" y="7004069"/>
            <a:ext cx="133156" cy="4443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1725081" y="401635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1840741" y="414076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1941823" y="433182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2031241" y="4576193"/>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2111912" y="486055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2186752" y="517157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2258675" y="549592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2330598" y="582027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2405438" y="613129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2486109" y="6415657"/>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2575527" y="666003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2676609" y="685108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2792269" y="697549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0077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0144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14109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14776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2744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2811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6554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6621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4077950" y="5314950"/>
            <a:ext cx="419100" cy="41910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4144625" y="5381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5411450" y="5314950"/>
            <a:ext cx="419100" cy="41910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5478125" y="5381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27444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28111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40779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41446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54114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54781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67449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68116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0096500" y="333375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older</a:t>
            </a:r>
          </a:p>
        </p:txBody>
      </p:sp>
      <p:sp>
        <p:nvSpPr>
          <p:cNvPr id="94" name="TextBox 93"/>
          <p:cNvSpPr txBox="1"/>
          <p:nvPr/>
        </p:nvSpPr>
        <p:spPr>
          <a:xfrm>
            <a:off x="15240000" y="3333750"/>
            <a:ext cx="180975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newer</a:t>
            </a:r>
          </a:p>
        </p:txBody>
      </p:sp>
      <p:cxnSp>
        <p:nvCxnSpPr>
          <p:cNvPr id="95" name="Connector 94"/>
          <p:cNvCxnSpPr/>
          <p:nvPr/>
        </p:nvCxnSpPr>
        <p:spPr>
          <a:xfrm>
            <a:off x="10953750" y="3476625"/>
            <a:ext cx="4095750" cy="0"/>
          </a:xfrm>
          <a:prstGeom prst="line">
            <a:avLst/>
          </a:prstGeom>
          <a:ln w="19050">
            <a:solidFill>
              <a:srgbClr val="2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7" name="TextBox 9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our team uses branches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4476750"/>
          </a:xfrm>
          <a:prstGeom prst="roundRect">
            <a:avLst>
              <a:gd name="adj" fmla="val 340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95400" y="3333750"/>
            <a:ext cx="3619500" cy="571500"/>
          </a:xfrm>
          <a:prstGeom prst="roundRect">
            <a:avLst>
              <a:gd name="adj" fmla="val 50000"/>
            </a:avLst>
          </a:prstGeom>
          <a:solidFill>
            <a:srgbClr val="111111"/>
          </a:solidFill>
          <a:ln w="19050">
            <a:solidFill>
              <a:srgbClr val="F0E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333750"/>
            <a:ext cx="3619500" cy="571500"/>
          </a:xfrm>
          <a:prstGeom prst="rect">
            <a:avLst/>
          </a:prstGeom>
          <a:noFill/>
        </p:spPr>
        <p:txBody>
          <a:bodyPr wrap="square" lIns="0" rIns="0" tIns="0" bIns="0" anchor="ctr">
            <a:spAutoFit/>
          </a:bodyPr>
          <a:lstStyle/>
          <a:p>
            <a:pPr algn="ctr"/>
            <a:r>
              <a:rPr sz="1800" b="0" i="0">
                <a:solidFill>
                  <a:srgbClr val="F0E8E8"/>
                </a:solidFill>
                <a:latin typeface="Geist Mono"/>
                <a:ea typeface="Geist Mono"/>
                <a:cs typeface="Geist Mono"/>
              </a:rPr>
              <a:t>main</a:t>
            </a:r>
          </a:p>
        </p:txBody>
      </p:sp>
      <p:cxnSp>
        <p:nvCxnSpPr>
          <p:cNvPr id="8" name="Connector 7"/>
          <p:cNvCxnSpPr/>
          <p:nvPr/>
        </p:nvCxnSpPr>
        <p:spPr>
          <a:xfrm>
            <a:off x="6096000" y="3619500"/>
            <a:ext cx="10477500" cy="0"/>
          </a:xfrm>
          <a:prstGeom prst="line">
            <a:avLst/>
          </a:prstGeom>
          <a:ln w="57150">
            <a:solidFill>
              <a:srgbClr val="F0E8E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295400" y="4762500"/>
            <a:ext cx="361950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4762500"/>
            <a:ext cx="361950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11" name="Connector 10"/>
          <p:cNvCxnSpPr/>
          <p:nvPr/>
        </p:nvCxnSpPr>
        <p:spPr>
          <a:xfrm>
            <a:off x="7620000" y="5048250"/>
            <a:ext cx="74295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295400" y="6191250"/>
            <a:ext cx="361950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6191250"/>
            <a:ext cx="361950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issue-12-turbo-boost</a:t>
            </a:r>
          </a:p>
        </p:txBody>
      </p:sp>
      <p:cxnSp>
        <p:nvCxnSpPr>
          <p:cNvPr id="14" name="Connector 13"/>
          <p:cNvCxnSpPr/>
          <p:nvPr/>
        </p:nvCxnSpPr>
        <p:spPr>
          <a:xfrm>
            <a:off x="9144000" y="6477000"/>
            <a:ext cx="26670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96000" y="3619500"/>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48178" y="3640327"/>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380362" y="3698644"/>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495883" y="3788201"/>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598076" y="3902751"/>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690271" y="4036045"/>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775802" y="4181836"/>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858000" y="4333875"/>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940198" y="4485914"/>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025729" y="4631705"/>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117924" y="4764999"/>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220117" y="4879549"/>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335638" y="4969106"/>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67822" y="5027423"/>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6219603" y="3611752"/>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51787" y="367006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67308" y="375962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569501" y="387417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661696" y="400747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47227" y="415326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829425" y="430530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911623" y="445733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997154" y="460313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89349" y="473642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191542" y="485097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307063" y="494053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439247" y="4998848"/>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7620000" y="5048250"/>
            <a:ext cx="152178" cy="2082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772178" y="5069077"/>
            <a:ext cx="132184" cy="5831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904362" y="5127394"/>
            <a:ext cx="115521" cy="8955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019883" y="5216951"/>
            <a:ext cx="102193" cy="1145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122076" y="5331501"/>
            <a:ext cx="92195" cy="13329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214271" y="5464795"/>
            <a:ext cx="85531" cy="14579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299802" y="5610586"/>
            <a:ext cx="82198" cy="15203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382000" y="5762625"/>
            <a:ext cx="82198" cy="15203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464198" y="5914664"/>
            <a:ext cx="85531" cy="14579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549729" y="6060455"/>
            <a:ext cx="92195" cy="13329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641924" y="6193749"/>
            <a:ext cx="102193" cy="1145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744117" y="6308299"/>
            <a:ext cx="115521" cy="8955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859638" y="6397856"/>
            <a:ext cx="132184" cy="5831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991822" y="6456173"/>
            <a:ext cx="152178" cy="2082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7743603" y="504050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7875787" y="509881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7991308" y="518837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093501" y="530292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185696" y="543622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8271227" y="558201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353425" y="57340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435623" y="588608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8521154" y="603188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613349" y="616517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8715542" y="627972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8831063" y="636928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8963247" y="642759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flipV="1">
            <a:off x="11811000" y="6456173"/>
            <a:ext cx="190222" cy="2082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12001222" y="6397856"/>
            <a:ext cx="165230" cy="5831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12166452" y="6308299"/>
            <a:ext cx="144402" cy="8955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12310854" y="6193749"/>
            <a:ext cx="127741" cy="1145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12438595" y="6060455"/>
            <a:ext cx="115244" cy="13329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12553839" y="5914664"/>
            <a:ext cx="106913" cy="14579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12660752" y="5762625"/>
            <a:ext cx="102748" cy="15203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2763500" y="5610586"/>
            <a:ext cx="102748" cy="15203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2866248" y="5464795"/>
            <a:ext cx="106913" cy="14579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2973161" y="5331501"/>
            <a:ext cx="115244" cy="13329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3088405" y="5216951"/>
            <a:ext cx="127741" cy="1145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3216146" y="5127394"/>
            <a:ext cx="144402" cy="8955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3360548" y="5069077"/>
            <a:ext cx="165230" cy="5831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3525778" y="5048250"/>
            <a:ext cx="190222" cy="2082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11972647" y="642759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2137877" y="636928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2282279" y="627972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2410020" y="616517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2525264" y="603188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2632177" y="588608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2734925" y="57340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2837673" y="558201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2944586" y="543622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3059830" y="530292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3187571" y="518837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3331973" y="509881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13497203" y="504050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6" name="Connector 95"/>
          <p:cNvCxnSpPr/>
          <p:nvPr/>
        </p:nvCxnSpPr>
        <p:spPr>
          <a:xfrm flipV="1">
            <a:off x="15049500" y="5027423"/>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5201678" y="4969106"/>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5333862" y="4879549"/>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5449383" y="4764999"/>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5551576" y="4631705"/>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5643771" y="4485914"/>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5729302" y="4333875"/>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15811500" y="4181836"/>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15893698" y="4036045"/>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15979229" y="3902751"/>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16071424" y="3788201"/>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16173617" y="3698644"/>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16289138" y="3640327"/>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16421322" y="3619500"/>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10" name="Oval 109"/>
          <p:cNvSpPr/>
          <p:nvPr/>
        </p:nvSpPr>
        <p:spPr>
          <a:xfrm>
            <a:off x="15173103" y="4998848"/>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5305287" y="494053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15420808" y="485097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15523001" y="473642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5615196" y="460313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15700727" y="445733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5782925" y="430530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5865123" y="415326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15950654" y="400747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6042849" y="387417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16145042" y="375962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6260563" y="367006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16392747" y="3611752"/>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5886450" y="3409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5953125" y="3476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857750" y="29718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competition-ready</a:t>
            </a:r>
          </a:p>
        </p:txBody>
      </p:sp>
      <p:sp>
        <p:nvSpPr>
          <p:cNvPr id="126" name="Oval 125"/>
          <p:cNvSpPr/>
          <p:nvPr/>
        </p:nvSpPr>
        <p:spPr>
          <a:xfrm>
            <a:off x="16325850" y="3371850"/>
            <a:ext cx="495300" cy="495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5335250" y="2971800"/>
            <a:ext cx="2476500" cy="34290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release</a:t>
            </a:r>
          </a:p>
        </p:txBody>
      </p:sp>
      <p:sp>
        <p:nvSpPr>
          <p:cNvPr id="128" name="Oval 127"/>
          <p:cNvSpPr/>
          <p:nvPr/>
        </p:nvSpPr>
        <p:spPr>
          <a:xfrm>
            <a:off x="7410450" y="48387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7477125" y="49053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3468350" y="4800600"/>
            <a:ext cx="495300" cy="4953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4839950" y="48387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14906625" y="49053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8934450" y="62674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90011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0267950" y="62674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103346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11601450" y="62674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116681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2668250" y="6362700"/>
            <a:ext cx="2857500" cy="342900"/>
          </a:xfrm>
          <a:prstGeom prst="rect">
            <a:avLst/>
          </a:prstGeom>
          <a:noFill/>
        </p:spPr>
        <p:txBody>
          <a:bodyPr wrap="square" lIns="0" rIns="0" tIns="0" bIns="0" anchor="t">
            <a:spAutoFit/>
          </a:bodyPr>
          <a:lstStyle/>
          <a:p>
            <a:pPr algn="l"/>
            <a:r>
              <a:rPr sz="1650" b="1" i="0">
                <a:solidFill>
                  <a:srgbClr val="E05540"/>
                </a:solidFill>
                <a:latin typeface="Geist"/>
                <a:ea typeface="Geist"/>
                <a:cs typeface="Geist"/>
              </a:rPr>
              <a:t>pull request</a:t>
            </a:r>
          </a:p>
        </p:txBody>
      </p:sp>
      <p:sp>
        <p:nvSpPr>
          <p:cNvPr id="140" name="TextBox 139"/>
          <p:cNvSpPr txBox="1"/>
          <p:nvPr/>
        </p:nvSpPr>
        <p:spPr>
          <a:xfrm>
            <a:off x="914400" y="7620000"/>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main</a:t>
            </a:r>
            <a:r>
              <a:rPr sz="1950" b="0" i="0">
                <a:solidFill>
                  <a:srgbClr val="F0E8E8"/>
                </a:solidFill>
                <a:latin typeface="Geist"/>
                <a:ea typeface="Geist"/>
                <a:cs typeface="Geist"/>
              </a:rPr>
              <a:t> is production-ready.  </a:t>
            </a:r>
            <a:r>
              <a:rPr sz="1950" b="1" i="0">
                <a:solidFill>
                  <a:srgbClr val="F0E8E8"/>
                </a:solidFill>
                <a:latin typeface="Geist"/>
                <a:ea typeface="Geist"/>
                <a:cs typeface="Geist"/>
              </a:rPr>
              <a:t>develop</a:t>
            </a:r>
            <a:r>
              <a:rPr sz="1950" b="0" i="0">
                <a:solidFill>
                  <a:srgbClr val="F0E8E8"/>
                </a:solidFill>
                <a:latin typeface="Geist"/>
                <a:ea typeface="Geist"/>
                <a:cs typeface="Geist"/>
              </a:rPr>
              <a:t> collects finished features.</a:t>
            </a:r>
          </a:p>
        </p:txBody>
      </p:sp>
      <p:sp>
        <p:nvSpPr>
          <p:cNvPr id="141" name="TextBox 140"/>
          <p:cNvSpPr txBox="1"/>
          <p:nvPr/>
        </p:nvSpPr>
        <p:spPr>
          <a:xfrm>
            <a:off x="914400" y="8056245"/>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Name branches </a:t>
            </a:r>
            <a:r>
              <a:rPr sz="1950" b="0" i="0">
                <a:solidFill>
                  <a:srgbClr val="E0785F"/>
                </a:solidFill>
                <a:latin typeface="Geist Mono"/>
                <a:ea typeface="Geist Mono"/>
                <a:cs typeface="Geist Mono"/>
              </a:rPr>
              <a:t>issue-&lt;number&gt;-&lt;description&gt;</a:t>
            </a:r>
            <a:r>
              <a:rPr sz="1950" b="0" i="0">
                <a:solidFill>
                  <a:srgbClr val="F0E8E8"/>
                </a:solidFill>
                <a:latin typeface="Geist"/>
                <a:ea typeface="Geist"/>
                <a:cs typeface="Geist"/>
              </a:rPr>
              <a:t>, starting from develop</a:t>
            </a:r>
          </a:p>
        </p:txBody>
      </p:sp>
      <p:sp>
        <p:nvSpPr>
          <p:cNvPr id="142" name="TextBox 141"/>
          <p:cNvSpPr txBox="1"/>
          <p:nvPr/>
        </p:nvSpPr>
        <p:spPr>
          <a:xfrm>
            <a:off x="914400" y="8492490"/>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Nobody pushes straight to main or develop</a:t>
            </a:r>
          </a:p>
        </p:txBody>
      </p:sp>
      <p:sp>
        <p:nvSpPr>
          <p:cNvPr id="143" name="TextBox 1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4" name="TextBox 1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Merging: bringing work together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Combines two branches into one</a:t>
            </a:r>
          </a:p>
        </p:txBody>
      </p:sp>
      <p:sp>
        <p:nvSpPr>
          <p:cNvPr id="6" name="TextBox 5"/>
          <p:cNvSpPr txBox="1"/>
          <p:nvPr/>
        </p:nvSpPr>
        <p:spPr>
          <a:xfrm>
            <a:off x="914400" y="3514725"/>
            <a:ext cx="5715000" cy="742950"/>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Stand on the branch that receives the work</a:t>
            </a:r>
          </a:p>
        </p:txBody>
      </p:sp>
      <p:sp>
        <p:nvSpPr>
          <p:cNvPr id="7" name="TextBox 6"/>
          <p:cNvSpPr txBox="1"/>
          <p:nvPr/>
        </p:nvSpPr>
        <p:spPr>
          <a:xfrm>
            <a:off x="914400" y="4543425"/>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Makes a merge commit with two parents</a:t>
            </a:r>
          </a:p>
        </p:txBody>
      </p:sp>
      <p:sp>
        <p:nvSpPr>
          <p:cNvPr id="8" name="TextBox 7"/>
          <p:cNvSpPr txBox="1"/>
          <p:nvPr/>
        </p:nvSpPr>
        <p:spPr>
          <a:xfrm>
            <a:off x="914400" y="5200650"/>
            <a:ext cx="5715000" cy="742950"/>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On the team, merges go through a pull request</a:t>
            </a:r>
          </a:p>
        </p:txBody>
      </p:sp>
      <p:sp>
        <p:nvSpPr>
          <p:cNvPr id="9" name="Rounded Rectangle 8"/>
          <p:cNvSpPr/>
          <p:nvPr/>
        </p:nvSpPr>
        <p:spPr>
          <a:xfrm>
            <a:off x="7239000" y="2857500"/>
            <a:ext cx="10134600" cy="6096000"/>
          </a:xfrm>
          <a:prstGeom prst="roundRect">
            <a:avLst>
              <a:gd name="adj" fmla="val 250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543800" y="4191000"/>
            <a:ext cx="190500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43800" y="4191000"/>
            <a:ext cx="190500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12" name="Connector 11"/>
          <p:cNvCxnSpPr/>
          <p:nvPr/>
        </p:nvCxnSpPr>
        <p:spPr>
          <a:xfrm>
            <a:off x="10096500" y="4476750"/>
            <a:ext cx="60960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43800" y="6096000"/>
            <a:ext cx="190500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43800" y="6096000"/>
            <a:ext cx="190500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shooter</a:t>
            </a:r>
          </a:p>
        </p:txBody>
      </p:sp>
      <p:cxnSp>
        <p:nvCxnSpPr>
          <p:cNvPr id="15" name="Connector 14"/>
          <p:cNvCxnSpPr/>
          <p:nvPr/>
        </p:nvCxnSpPr>
        <p:spPr>
          <a:xfrm>
            <a:off x="12382500" y="6381750"/>
            <a:ext cx="22860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430000" y="4476750"/>
            <a:ext cx="95111" cy="2777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525111" y="4504520"/>
            <a:ext cx="82615" cy="777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607726" y="4582275"/>
            <a:ext cx="72201" cy="119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679927" y="4701684"/>
            <a:ext cx="63870" cy="15273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743797" y="4854418"/>
            <a:ext cx="57622" cy="17772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801419" y="5032144"/>
            <a:ext cx="53457" cy="19438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854876" y="5226531"/>
            <a:ext cx="51374" cy="20271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906250" y="5429250"/>
            <a:ext cx="51374" cy="20271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957624" y="5631969"/>
            <a:ext cx="53457" cy="19438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011081" y="5826356"/>
            <a:ext cx="57622" cy="17772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2068703" y="6004082"/>
            <a:ext cx="63870" cy="15273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2132573" y="6156816"/>
            <a:ext cx="72201" cy="119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2204774" y="6276225"/>
            <a:ext cx="82615" cy="777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2287389" y="6353980"/>
            <a:ext cx="95111" cy="2777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1496536" y="447594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579151" y="455370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651352" y="467310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715222" y="4825843"/>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772844" y="500356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826301" y="519795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877675" y="540067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929049" y="560339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982506" y="579778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2040128" y="5975507"/>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2103998" y="612824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2176199" y="62476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2258814" y="632540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flipV="1">
            <a:off x="14668500" y="6353980"/>
            <a:ext cx="152178" cy="2777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4820678" y="6276225"/>
            <a:ext cx="132184" cy="777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4952862" y="6156816"/>
            <a:ext cx="115521" cy="119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5068383" y="6004082"/>
            <a:ext cx="102193" cy="15273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5170576" y="5826356"/>
            <a:ext cx="92195" cy="17772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5262771" y="5631969"/>
            <a:ext cx="85531" cy="19438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5348302" y="5429250"/>
            <a:ext cx="82198" cy="20271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5430500" y="5226531"/>
            <a:ext cx="82198" cy="20271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5512698" y="5032144"/>
            <a:ext cx="85531" cy="19438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15598229" y="4854418"/>
            <a:ext cx="92195" cy="17772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5690424" y="4701684"/>
            <a:ext cx="102193" cy="15273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15792617" y="4582275"/>
            <a:ext cx="115521" cy="119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15908138" y="4504520"/>
            <a:ext cx="132184" cy="777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16040322" y="4476750"/>
            <a:ext cx="152178" cy="2777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14792103" y="632540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4924287" y="62476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5039808" y="612824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5142001" y="5975507"/>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5234196" y="579778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5319727" y="560339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5401925" y="540067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5484123" y="519795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5569654" y="500356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5661849" y="4825843"/>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5764042" y="467310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5879563" y="455370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6011747" y="447594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98869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99536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12204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12871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33159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33826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2287250" y="38290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teammate's commit</a:t>
            </a:r>
          </a:p>
        </p:txBody>
      </p:sp>
      <p:sp>
        <p:nvSpPr>
          <p:cNvPr id="77" name="Oval 76"/>
          <p:cNvSpPr/>
          <p:nvPr/>
        </p:nvSpPr>
        <p:spPr>
          <a:xfrm>
            <a:off x="15944850" y="4229100"/>
            <a:ext cx="495300" cy="4953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4954250" y="3829050"/>
            <a:ext cx="2476500" cy="342900"/>
          </a:xfrm>
          <a:prstGeom prst="rect">
            <a:avLst/>
          </a:prstGeom>
          <a:noFill/>
        </p:spPr>
        <p:txBody>
          <a:bodyPr wrap="square" lIns="0" rIns="0" tIns="0" bIns="0" anchor="t">
            <a:spAutoFit/>
          </a:bodyPr>
          <a:lstStyle/>
          <a:p>
            <a:pPr algn="ctr"/>
            <a:r>
              <a:rPr sz="1650" b="1" i="0">
                <a:solidFill>
                  <a:srgbClr val="E8C27A"/>
                </a:solidFill>
                <a:latin typeface="Geist"/>
                <a:ea typeface="Geist"/>
                <a:cs typeface="Geist"/>
              </a:rPr>
              <a:t>merge commit</a:t>
            </a:r>
          </a:p>
        </p:txBody>
      </p:sp>
      <p:sp>
        <p:nvSpPr>
          <p:cNvPr id="79" name="Oval 78"/>
          <p:cNvSpPr/>
          <p:nvPr/>
        </p:nvSpPr>
        <p:spPr>
          <a:xfrm>
            <a:off x="12172950" y="6172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2239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3315950" y="6172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3382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4458950" y="6172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4525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7543800" y="7010400"/>
            <a:ext cx="9525000" cy="1447800"/>
          </a:xfrm>
          <a:prstGeom prst="roundRect">
            <a:avLst>
              <a:gd name="adj" fmla="val 1052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7924800" y="73914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git checkout </a:t>
            </a:r>
            <a:r>
              <a:rPr sz="1800" b="0" i="0">
                <a:solidFill>
                  <a:srgbClr val="F0E8E8"/>
                </a:solidFill>
                <a:latin typeface="Geist Mono"/>
                <a:ea typeface="Geist Mono"/>
                <a:cs typeface="Geist Mono"/>
              </a:rPr>
              <a:t>develop</a:t>
            </a:r>
          </a:p>
        </p:txBody>
      </p:sp>
      <p:sp>
        <p:nvSpPr>
          <p:cNvPr id="87" name="TextBox 86"/>
          <p:cNvSpPr txBox="1"/>
          <p:nvPr/>
        </p:nvSpPr>
        <p:spPr>
          <a:xfrm>
            <a:off x="7924800" y="77343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git merge </a:t>
            </a:r>
            <a:r>
              <a:rPr sz="1800" b="0" i="0">
                <a:solidFill>
                  <a:srgbClr val="F0E8E8"/>
                </a:solidFill>
                <a:latin typeface="Geist Mono"/>
                <a:ea typeface="Geist Mono"/>
                <a:cs typeface="Geist Mono"/>
              </a:rPr>
              <a:t>shooter</a:t>
            </a:r>
          </a:p>
        </p:txBody>
      </p:sp>
      <p:sp>
        <p:nvSpPr>
          <p:cNvPr id="88" name="TextBox 8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9" name="TextBox 8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Merge conflicts: when git has to ask</a:t>
            </a:r>
          </a:p>
        </p:txBody>
      </p:sp>
      <p:sp>
        <p:nvSpPr>
          <p:cNvPr id="4" name="TextBox 3"/>
          <p:cNvSpPr txBox="1"/>
          <p:nvPr/>
        </p:nvSpPr>
        <p:spPr>
          <a:xfrm>
            <a:off x="914400" y="2724150"/>
            <a:ext cx="9906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Constants.java</a:t>
            </a:r>
          </a:p>
        </p:txBody>
      </p:sp>
      <p:sp>
        <p:nvSpPr>
          <p:cNvPr id="5" name="Rounded Rectangle 4"/>
          <p:cNvSpPr/>
          <p:nvPr/>
        </p:nvSpPr>
        <p:spPr>
          <a:xfrm>
            <a:off x="914400" y="3143250"/>
            <a:ext cx="9906000" cy="2867025"/>
          </a:xfrm>
          <a:prstGeom prst="roundRect">
            <a:avLst>
              <a:gd name="adj" fmla="val 531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524250"/>
            <a:ext cx="93726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&lt;&lt;&lt;&lt;&lt;&lt;&lt; HEAD</a:t>
            </a:r>
          </a:p>
        </p:txBody>
      </p:sp>
      <p:sp>
        <p:nvSpPr>
          <p:cNvPr id="7" name="TextBox 6"/>
          <p:cNvSpPr txBox="1"/>
          <p:nvPr/>
        </p:nvSpPr>
        <p:spPr>
          <a:xfrm>
            <a:off x="1295400" y="3945255"/>
            <a:ext cx="93726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static final double </a:t>
            </a:r>
            <a:r>
              <a:rPr sz="1950" b="0" i="0">
                <a:solidFill>
                  <a:srgbClr val="F0E8E8"/>
                </a:solidFill>
                <a:latin typeface="Geist Mono"/>
                <a:ea typeface="Geist Mono"/>
                <a:cs typeface="Geist Mono"/>
              </a:rPr>
              <a:t>MAX_SPEED = </a:t>
            </a:r>
            <a:r>
              <a:rPr sz="1950" b="0" i="0">
                <a:solidFill>
                  <a:srgbClr val="E8C27A"/>
                </a:solidFill>
                <a:latin typeface="Geist Mono"/>
                <a:ea typeface="Geist Mono"/>
                <a:cs typeface="Geist Mono"/>
              </a:rPr>
              <a:t>4.0</a:t>
            </a:r>
            <a:r>
              <a:rPr sz="1950" b="0" i="0">
                <a:solidFill>
                  <a:srgbClr val="F0E8E8"/>
                </a:solidFill>
                <a:latin typeface="Geist Mono"/>
                <a:ea typeface="Geist Mono"/>
                <a:cs typeface="Geist Mono"/>
              </a:rPr>
              <a:t>;</a:t>
            </a:r>
          </a:p>
        </p:txBody>
      </p:sp>
      <p:sp>
        <p:nvSpPr>
          <p:cNvPr id="8" name="TextBox 7"/>
          <p:cNvSpPr txBox="1"/>
          <p:nvPr/>
        </p:nvSpPr>
        <p:spPr>
          <a:xfrm>
            <a:off x="1295400" y="4366260"/>
            <a:ext cx="93726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a:t>
            </a:r>
          </a:p>
        </p:txBody>
      </p:sp>
      <p:sp>
        <p:nvSpPr>
          <p:cNvPr id="9" name="TextBox 8"/>
          <p:cNvSpPr txBox="1"/>
          <p:nvPr/>
        </p:nvSpPr>
        <p:spPr>
          <a:xfrm>
            <a:off x="1295400" y="4787265"/>
            <a:ext cx="93726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static final double </a:t>
            </a:r>
            <a:r>
              <a:rPr sz="1950" b="0" i="0">
                <a:solidFill>
                  <a:srgbClr val="F0E8E8"/>
                </a:solidFill>
                <a:latin typeface="Geist Mono"/>
                <a:ea typeface="Geist Mono"/>
                <a:cs typeface="Geist Mono"/>
              </a:rPr>
              <a:t>MAX_SPEED = </a:t>
            </a:r>
            <a:r>
              <a:rPr sz="1950" b="0" i="0">
                <a:solidFill>
                  <a:srgbClr val="E8C27A"/>
                </a:solidFill>
                <a:latin typeface="Geist Mono"/>
                <a:ea typeface="Geist Mono"/>
                <a:cs typeface="Geist Mono"/>
              </a:rPr>
              <a:t>5.0</a:t>
            </a:r>
            <a:r>
              <a:rPr sz="1950" b="0" i="0">
                <a:solidFill>
                  <a:srgbClr val="F0E8E8"/>
                </a:solidFill>
                <a:latin typeface="Geist Mono"/>
                <a:ea typeface="Geist Mono"/>
                <a:cs typeface="Geist Mono"/>
              </a:rPr>
              <a:t>;</a:t>
            </a:r>
          </a:p>
        </p:txBody>
      </p:sp>
      <p:sp>
        <p:nvSpPr>
          <p:cNvPr id="10" name="TextBox 9"/>
          <p:cNvSpPr txBox="1"/>
          <p:nvPr/>
        </p:nvSpPr>
        <p:spPr>
          <a:xfrm>
            <a:off x="1295400" y="5208270"/>
            <a:ext cx="93726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&gt;&gt;&gt;&gt;&gt;&gt;&gt; issue-9-max-speed</a:t>
            </a:r>
          </a:p>
        </p:txBody>
      </p:sp>
      <p:sp>
        <p:nvSpPr>
          <p:cNvPr id="11" name="Oval 10"/>
          <p:cNvSpPr/>
          <p:nvPr/>
        </p:nvSpPr>
        <p:spPr>
          <a:xfrm>
            <a:off x="10096500" y="390715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96500" y="390715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 name="Oval 12"/>
          <p:cNvSpPr/>
          <p:nvPr/>
        </p:nvSpPr>
        <p:spPr>
          <a:xfrm>
            <a:off x="10096500" y="474916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96500" y="474916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Oval 14"/>
          <p:cNvSpPr/>
          <p:nvPr/>
        </p:nvSpPr>
        <p:spPr>
          <a:xfrm>
            <a:off x="11620500" y="31432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620500" y="31432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 name="TextBox 16"/>
          <p:cNvSpPr txBox="1"/>
          <p:nvPr/>
        </p:nvSpPr>
        <p:spPr>
          <a:xfrm>
            <a:off x="12306300" y="310515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Yours</a:t>
            </a:r>
          </a:p>
        </p:txBody>
      </p:sp>
      <p:sp>
        <p:nvSpPr>
          <p:cNvPr id="18" name="TextBox 17"/>
          <p:cNvSpPr txBox="1"/>
          <p:nvPr/>
        </p:nvSpPr>
        <p:spPr>
          <a:xfrm>
            <a:off x="12306300" y="356235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What's on the branch you're on</a:t>
            </a:r>
          </a:p>
        </p:txBody>
      </p:sp>
      <p:sp>
        <p:nvSpPr>
          <p:cNvPr id="19" name="Oval 18"/>
          <p:cNvSpPr/>
          <p:nvPr/>
        </p:nvSpPr>
        <p:spPr>
          <a:xfrm>
            <a:off x="11620500" y="4762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20500" y="4762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1" name="TextBox 20"/>
          <p:cNvSpPr txBox="1"/>
          <p:nvPr/>
        </p:nvSpPr>
        <p:spPr>
          <a:xfrm>
            <a:off x="12306300" y="472440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Incoming</a:t>
            </a:r>
          </a:p>
        </p:txBody>
      </p:sp>
      <p:sp>
        <p:nvSpPr>
          <p:cNvPr id="22" name="TextBox 21"/>
          <p:cNvSpPr txBox="1"/>
          <p:nvPr/>
        </p:nvSpPr>
        <p:spPr>
          <a:xfrm>
            <a:off x="12306300" y="518160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What the other branch changed</a:t>
            </a:r>
          </a:p>
        </p:txBody>
      </p:sp>
      <p:sp>
        <p:nvSpPr>
          <p:cNvPr id="23" name="Oval 22"/>
          <p:cNvSpPr/>
          <p:nvPr/>
        </p:nvSpPr>
        <p:spPr>
          <a:xfrm>
            <a:off x="11620500" y="63817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20500" y="63817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TextBox 24"/>
          <p:cNvSpPr txBox="1"/>
          <p:nvPr/>
        </p:nvSpPr>
        <p:spPr>
          <a:xfrm>
            <a:off x="12306300" y="634365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You decide</a:t>
            </a:r>
          </a:p>
        </p:txBody>
      </p:sp>
      <p:sp>
        <p:nvSpPr>
          <p:cNvPr id="26" name="TextBox 25"/>
          <p:cNvSpPr txBox="1"/>
          <p:nvPr/>
        </p:nvSpPr>
        <p:spPr>
          <a:xfrm>
            <a:off x="12306300" y="680085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Keep one, save, stage with +, commit</a:t>
            </a:r>
          </a:p>
        </p:txBody>
      </p:sp>
      <p:sp>
        <p:nvSpPr>
          <p:cNvPr id="27" name="Rounded Rectangle 26"/>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Why?  </a:t>
            </a:r>
            <a:r>
              <a:rPr sz="2100" b="0" i="0">
                <a:solidFill>
                  <a:srgbClr val="F0E8E8"/>
                </a:solidFill>
                <a:latin typeface="Geist"/>
                <a:ea typeface="Geist"/>
                <a:cs typeface="Geist"/>
              </a:rPr>
              <a:t>Two branches changed the same line, so git can't pick. That's normal, not an error.</a:t>
            </a:r>
          </a:p>
        </p:txBody>
      </p:sp>
      <p:pic>
        <p:nvPicPr>
          <p:cNvPr id="29" name="Picture 28" descr="dozer_wide_left.png"/>
          <p:cNvPicPr>
            <a:picLocks noChangeAspect="1"/>
          </p:cNvPicPr>
          <p:nvPr/>
        </p:nvPicPr>
        <p:blipFill>
          <a:blip r:embed="rId3"/>
          <a:stretch>
            <a:fillRect/>
          </a:stretch>
        </p:blipFill>
        <p:spPr>
          <a:xfrm>
            <a:off x="15716250" y="7705725"/>
            <a:ext cx="1428750" cy="878172"/>
          </a:xfrm>
          <a:prstGeom prst="rect">
            <a:avLst/>
          </a:prstGeom>
        </p:spPr>
      </p:pic>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Rebase: replay your work on top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334500" cy="5905500"/>
          </a:xfrm>
          <a:prstGeom prst="roundRect">
            <a:avLst>
              <a:gd name="adj" fmla="val 258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952750"/>
            <a:ext cx="3810000" cy="38100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BEFORE</a:t>
            </a:r>
          </a:p>
        </p:txBody>
      </p:sp>
      <p:sp>
        <p:nvSpPr>
          <p:cNvPr id="7" name="Rounded Rectangle 6"/>
          <p:cNvSpPr/>
          <p:nvPr/>
        </p:nvSpPr>
        <p:spPr>
          <a:xfrm>
            <a:off x="1295400" y="3524250"/>
            <a:ext cx="200025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3524250"/>
            <a:ext cx="200025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9" name="Connector 8"/>
          <p:cNvCxnSpPr/>
          <p:nvPr/>
        </p:nvCxnSpPr>
        <p:spPr>
          <a:xfrm>
            <a:off x="4000500" y="3810000"/>
            <a:ext cx="40005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295400" y="4572000"/>
            <a:ext cx="200025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4572000"/>
            <a:ext cx="200025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my-feature</a:t>
            </a:r>
          </a:p>
        </p:txBody>
      </p:sp>
      <p:cxnSp>
        <p:nvCxnSpPr>
          <p:cNvPr id="12" name="Connector 11"/>
          <p:cNvCxnSpPr/>
          <p:nvPr/>
        </p:nvCxnSpPr>
        <p:spPr>
          <a:xfrm>
            <a:off x="6667500" y="4857750"/>
            <a:ext cx="13335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334000" y="3810000"/>
            <a:ext cx="133156" cy="152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467156" y="3825273"/>
            <a:ext cx="115660" cy="4276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582816" y="3868039"/>
            <a:ext cx="101082" cy="6567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683898" y="3933714"/>
            <a:ext cx="89418" cy="8400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773316" y="4017717"/>
            <a:ext cx="80671" cy="9774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853987" y="4115466"/>
            <a:ext cx="74840" cy="10691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928827" y="4222380"/>
            <a:ext cx="71923" cy="11149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00750" y="4333875"/>
            <a:ext cx="71923" cy="11149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72673" y="4445370"/>
            <a:ext cx="74840" cy="10691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147513" y="4552284"/>
            <a:ext cx="80671" cy="9774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28184" y="4650033"/>
            <a:ext cx="89418" cy="8400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317602" y="4734036"/>
            <a:ext cx="101082" cy="6567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418684" y="4799711"/>
            <a:ext cx="115660" cy="4276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534344" y="4842477"/>
            <a:ext cx="133156" cy="152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5438581" y="379669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554241" y="383946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655323" y="390513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744741" y="398914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825412" y="408689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900252" y="419380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972175" y="430530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44098" y="441679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118938" y="452370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199609" y="462145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289027" y="470546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390109" y="477113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505769" y="481390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7909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8576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1244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1911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7914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8581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62750" y="3162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new on develop</a:t>
            </a:r>
          </a:p>
        </p:txBody>
      </p:sp>
      <p:sp>
        <p:nvSpPr>
          <p:cNvPr id="47" name="Oval 46"/>
          <p:cNvSpPr/>
          <p:nvPr/>
        </p:nvSpPr>
        <p:spPr>
          <a:xfrm>
            <a:off x="6457950" y="4648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524625" y="4714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29250" y="51625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a:t>
            </a:r>
          </a:p>
        </p:txBody>
      </p:sp>
      <p:sp>
        <p:nvSpPr>
          <p:cNvPr id="50" name="Oval 49"/>
          <p:cNvSpPr/>
          <p:nvPr/>
        </p:nvSpPr>
        <p:spPr>
          <a:xfrm>
            <a:off x="7791450" y="4648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858125" y="4714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62750" y="51625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B</a:t>
            </a:r>
          </a:p>
        </p:txBody>
      </p:sp>
      <p:cxnSp>
        <p:nvCxnSpPr>
          <p:cNvPr id="53" name="Connector 52"/>
          <p:cNvCxnSpPr/>
          <p:nvPr/>
        </p:nvCxnSpPr>
        <p:spPr>
          <a:xfrm>
            <a:off x="1295400" y="5715000"/>
            <a:ext cx="8572500" cy="0"/>
          </a:xfrm>
          <a:prstGeom prst="line">
            <a:avLst/>
          </a:prstGeom>
          <a:ln w="19050">
            <a:solidFill>
              <a:srgbClr val="2A1A1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295400" y="5905500"/>
            <a:ext cx="3810000" cy="381000"/>
          </a:xfrm>
          <a:prstGeom prst="rect">
            <a:avLst/>
          </a:prstGeom>
          <a:noFill/>
        </p:spPr>
        <p:txBody>
          <a:bodyPr wrap="square" lIns="0" rIns="0" tIns="0" bIns="0" anchor="t">
            <a:spAutoFit/>
          </a:bodyPr>
          <a:lstStyle/>
          <a:p>
            <a:pPr algn="l"/>
            <a:r>
              <a:rPr sz="1650" b="1" i="0" spc="130">
                <a:solidFill>
                  <a:srgbClr val="E05540"/>
                </a:solidFill>
                <a:latin typeface="Geist"/>
                <a:ea typeface="Geist"/>
                <a:cs typeface="Geist"/>
              </a:rPr>
              <a:t>AFTER  git rebase develop</a:t>
            </a:r>
          </a:p>
        </p:txBody>
      </p:sp>
      <p:sp>
        <p:nvSpPr>
          <p:cNvPr id="55" name="Rounded Rectangle 54"/>
          <p:cNvSpPr/>
          <p:nvPr/>
        </p:nvSpPr>
        <p:spPr>
          <a:xfrm>
            <a:off x="1295400" y="6477000"/>
            <a:ext cx="200025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295400" y="6477000"/>
            <a:ext cx="200025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57" name="Connector 56"/>
          <p:cNvCxnSpPr/>
          <p:nvPr/>
        </p:nvCxnSpPr>
        <p:spPr>
          <a:xfrm>
            <a:off x="4000500" y="6762750"/>
            <a:ext cx="26670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1295400" y="7524750"/>
            <a:ext cx="200025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295400" y="7524750"/>
            <a:ext cx="200025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my-feature</a:t>
            </a:r>
          </a:p>
        </p:txBody>
      </p:sp>
      <p:cxnSp>
        <p:nvCxnSpPr>
          <p:cNvPr id="60" name="Connector 59"/>
          <p:cNvCxnSpPr/>
          <p:nvPr/>
        </p:nvCxnSpPr>
        <p:spPr>
          <a:xfrm>
            <a:off x="8001000" y="7810500"/>
            <a:ext cx="13335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667500" y="6762750"/>
            <a:ext cx="133156" cy="152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800656" y="6778023"/>
            <a:ext cx="115660" cy="4276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916316" y="6820789"/>
            <a:ext cx="101082" cy="6567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017398" y="6886464"/>
            <a:ext cx="89418" cy="8400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106816" y="6970467"/>
            <a:ext cx="80671" cy="9774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187487" y="7068216"/>
            <a:ext cx="74840" cy="10691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262327" y="7175130"/>
            <a:ext cx="71923" cy="11149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334250" y="7286625"/>
            <a:ext cx="71923" cy="11149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406173" y="7398120"/>
            <a:ext cx="74840" cy="10691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481013" y="7505034"/>
            <a:ext cx="80671" cy="9774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561684" y="7602783"/>
            <a:ext cx="89418" cy="8400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651102" y="7686786"/>
            <a:ext cx="101082" cy="6567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752184" y="7752461"/>
            <a:ext cx="115660" cy="4276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867844" y="7795227"/>
            <a:ext cx="133156" cy="152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6772081" y="674944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887741" y="679221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988823" y="685788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7078241" y="694189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158912" y="703964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7233752" y="714655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305675" y="72580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377598" y="736954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7452438" y="747645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533109" y="757420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622527" y="765821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723609" y="772388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839269" y="776665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7909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8576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51244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51911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64579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65246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7791450" y="7600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7858125" y="766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762750" y="8115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a:t>
            </a:r>
          </a:p>
        </p:txBody>
      </p:sp>
      <p:sp>
        <p:nvSpPr>
          <p:cNvPr id="97" name="Oval 96"/>
          <p:cNvSpPr/>
          <p:nvPr/>
        </p:nvSpPr>
        <p:spPr>
          <a:xfrm>
            <a:off x="9124950" y="7600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9191625" y="766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096250" y="8115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B'</a:t>
            </a:r>
          </a:p>
        </p:txBody>
      </p:sp>
      <p:sp>
        <p:nvSpPr>
          <p:cNvPr id="100" name="Rounded Rectangle 99"/>
          <p:cNvSpPr/>
          <p:nvPr/>
        </p:nvSpPr>
        <p:spPr>
          <a:xfrm>
            <a:off x="10668000" y="2762250"/>
            <a:ext cx="67056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11049000" y="3143250"/>
            <a:ext cx="59055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Merge or rebase?</a:t>
            </a:r>
          </a:p>
        </p:txBody>
      </p:sp>
      <p:sp>
        <p:nvSpPr>
          <p:cNvPr id="102" name="TextBox 101"/>
          <p:cNvSpPr txBox="1"/>
          <p:nvPr/>
        </p:nvSpPr>
        <p:spPr>
          <a:xfrm>
            <a:off x="11049000" y="3905250"/>
            <a:ext cx="590550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Rebase</a:t>
            </a:r>
            <a:r>
              <a:rPr sz="2100" b="0" i="0">
                <a:solidFill>
                  <a:srgbClr val="F0E8E8"/>
                </a:solidFill>
                <a:latin typeface="Geist"/>
                <a:ea typeface="Geist"/>
                <a:cs typeface="Geist"/>
              </a:rPr>
              <a:t>: one straight line, but your commits get new IDs</a:t>
            </a:r>
          </a:p>
        </p:txBody>
      </p:sp>
      <p:sp>
        <p:nvSpPr>
          <p:cNvPr id="103" name="TextBox 102"/>
          <p:cNvSpPr txBox="1"/>
          <p:nvPr/>
        </p:nvSpPr>
        <p:spPr>
          <a:xfrm>
            <a:off x="11049000" y="4827270"/>
            <a:ext cx="590550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Merge</a:t>
            </a:r>
            <a:r>
              <a:rPr sz="2100" b="0" i="0">
                <a:solidFill>
                  <a:srgbClr val="F0E8E8"/>
                </a:solidFill>
                <a:latin typeface="Geist"/>
                <a:ea typeface="Geist"/>
                <a:cs typeface="Geist"/>
              </a:rPr>
              <a:t>: keeps history exactly as it was, always safe</a:t>
            </a:r>
          </a:p>
        </p:txBody>
      </p:sp>
      <p:sp>
        <p:nvSpPr>
          <p:cNvPr id="104" name="TextBox 103"/>
          <p:cNvSpPr txBox="1"/>
          <p:nvPr/>
        </p:nvSpPr>
        <p:spPr>
          <a:xfrm>
            <a:off x="11049000" y="5749290"/>
            <a:ext cx="59055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Only rebase branches nobody else has</a:t>
            </a:r>
          </a:p>
        </p:txBody>
      </p:sp>
      <p:sp>
        <p:nvSpPr>
          <p:cNvPr id="105" name="TextBox 104"/>
          <p:cNvSpPr txBox="1"/>
          <p:nvPr/>
        </p:nvSpPr>
        <p:spPr>
          <a:xfrm>
            <a:off x="11049000" y="6324600"/>
            <a:ext cx="59055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Not sure? </a:t>
            </a:r>
            <a:r>
              <a:rPr sz="2100" b="1" i="0">
                <a:solidFill>
                  <a:srgbClr val="F0E8E8"/>
                </a:solidFill>
                <a:latin typeface="Geist"/>
                <a:ea typeface="Geist"/>
                <a:cs typeface="Geist"/>
              </a:rPr>
              <a:t>Merge.</a:t>
            </a:r>
          </a:p>
        </p:txBody>
      </p:sp>
      <p:sp>
        <p:nvSpPr>
          <p:cNvPr id="106" name="TextBox 10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07" name="TextBox 10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Local and remote: push and pull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53340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isplay.png"/>
          <p:cNvPicPr>
            <a:picLocks noChangeAspect="1"/>
          </p:cNvPicPr>
          <p:nvPr/>
        </p:nvPicPr>
        <p:blipFill>
          <a:blip r:embed="rId3"/>
          <a:stretch>
            <a:fillRect/>
          </a:stretch>
        </p:blipFill>
        <p:spPr>
          <a:xfrm>
            <a:off x="1295400" y="3524250"/>
            <a:ext cx="780288" cy="609600"/>
          </a:xfrm>
          <a:prstGeom prst="rect">
            <a:avLst/>
          </a:prstGeom>
        </p:spPr>
      </p:pic>
      <p:sp>
        <p:nvSpPr>
          <p:cNvPr id="7" name="TextBox 6"/>
          <p:cNvSpPr txBox="1"/>
          <p:nvPr/>
        </p:nvSpPr>
        <p:spPr>
          <a:xfrm>
            <a:off x="1295400" y="4381500"/>
            <a:ext cx="4572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Local</a:t>
            </a:r>
          </a:p>
        </p:txBody>
      </p:sp>
      <p:sp>
        <p:nvSpPr>
          <p:cNvPr id="8" name="TextBox 7"/>
          <p:cNvSpPr txBox="1"/>
          <p:nvPr/>
        </p:nvSpPr>
        <p:spPr>
          <a:xfrm>
            <a:off x="1295400" y="4953000"/>
            <a:ext cx="4572000" cy="762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Your copy, on your computer</a:t>
            </a:r>
          </a:p>
        </p:txBody>
      </p:sp>
      <p:sp>
        <p:nvSpPr>
          <p:cNvPr id="9" name="Rounded Rectangle 8"/>
          <p:cNvSpPr/>
          <p:nvPr/>
        </p:nvSpPr>
        <p:spPr>
          <a:xfrm>
            <a:off x="12039600" y="3143250"/>
            <a:ext cx="5334000" cy="2857500"/>
          </a:xfrm>
          <a:prstGeom prst="roundRect">
            <a:avLst>
              <a:gd name="adj" fmla="val 533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ud-arrow-up.png"/>
          <p:cNvPicPr>
            <a:picLocks noChangeAspect="1"/>
          </p:cNvPicPr>
          <p:nvPr/>
        </p:nvPicPr>
        <p:blipFill>
          <a:blip r:embed="rId4"/>
          <a:stretch>
            <a:fillRect/>
          </a:stretch>
        </p:blipFill>
        <p:spPr>
          <a:xfrm>
            <a:off x="12420600" y="3524250"/>
            <a:ext cx="831273" cy="571500"/>
          </a:xfrm>
          <a:prstGeom prst="rect">
            <a:avLst/>
          </a:prstGeom>
        </p:spPr>
      </p:pic>
      <p:sp>
        <p:nvSpPr>
          <p:cNvPr id="11" name="TextBox 10"/>
          <p:cNvSpPr txBox="1"/>
          <p:nvPr/>
        </p:nvSpPr>
        <p:spPr>
          <a:xfrm>
            <a:off x="12420600" y="4381500"/>
            <a:ext cx="4572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Remote (origin)</a:t>
            </a:r>
          </a:p>
        </p:txBody>
      </p:sp>
      <p:sp>
        <p:nvSpPr>
          <p:cNvPr id="12" name="TextBox 11"/>
          <p:cNvSpPr txBox="1"/>
          <p:nvPr/>
        </p:nvSpPr>
        <p:spPr>
          <a:xfrm>
            <a:off x="12420600" y="4953000"/>
            <a:ext cx="4572000" cy="762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The shared copy on GitHub</a:t>
            </a:r>
          </a:p>
        </p:txBody>
      </p:sp>
      <p:cxnSp>
        <p:nvCxnSpPr>
          <p:cNvPr id="13" name="Connector 12"/>
          <p:cNvCxnSpPr/>
          <p:nvPr/>
        </p:nvCxnSpPr>
        <p:spPr>
          <a:xfrm>
            <a:off x="6477000" y="4000500"/>
            <a:ext cx="5334000" cy="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77000" y="3429000"/>
            <a:ext cx="53340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push: send your commits</a:t>
            </a:r>
          </a:p>
        </p:txBody>
      </p:sp>
      <p:cxnSp>
        <p:nvCxnSpPr>
          <p:cNvPr id="15" name="Connector 14"/>
          <p:cNvCxnSpPr/>
          <p:nvPr/>
        </p:nvCxnSpPr>
        <p:spPr>
          <a:xfrm flipH="1">
            <a:off x="6477000" y="5143500"/>
            <a:ext cx="5334000" cy="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77000" y="5334000"/>
            <a:ext cx="53340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pull: get teammates' commits</a:t>
            </a:r>
          </a:p>
        </p:txBody>
      </p:sp>
      <p:sp>
        <p:nvSpPr>
          <p:cNvPr id="17" name="Rounded Rectangle 16"/>
          <p:cNvSpPr/>
          <p:nvPr/>
        </p:nvSpPr>
        <p:spPr>
          <a:xfrm>
            <a:off x="914400" y="6381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exclamation-circle.png"/>
          <p:cNvPicPr>
            <a:picLocks noChangeAspect="1"/>
          </p:cNvPicPr>
          <p:nvPr/>
        </p:nvPicPr>
        <p:blipFill>
          <a:blip r:embed="rId5"/>
          <a:stretch>
            <a:fillRect/>
          </a:stretch>
        </p:blipFill>
        <p:spPr>
          <a:xfrm>
            <a:off x="1333500" y="6638925"/>
            <a:ext cx="533400" cy="533400"/>
          </a:xfrm>
          <a:prstGeom prst="rect">
            <a:avLst/>
          </a:prstGeom>
        </p:spPr>
      </p:pic>
      <p:sp>
        <p:nvSpPr>
          <p:cNvPr id="19" name="TextBox 18"/>
          <p:cNvSpPr txBox="1"/>
          <p:nvPr/>
        </p:nvSpPr>
        <p:spPr>
          <a:xfrm>
            <a:off x="2190750" y="63817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Golden rule:  </a:t>
            </a:r>
            <a:r>
              <a:rPr sz="2100" b="0" i="0">
                <a:solidFill>
                  <a:srgbClr val="F0E8E8"/>
                </a:solidFill>
                <a:latin typeface="Geist"/>
                <a:ea typeface="Geist"/>
                <a:cs typeface="Geist"/>
              </a:rPr>
              <a:t>pull when you start a session, push when you finish. Use Push and Pull, not Sync Changes.</a:t>
            </a:r>
          </a:p>
        </p:txBody>
      </p:sp>
      <p:sp>
        <p:nvSpPr>
          <p:cNvPr id="20" name="Rounded Rectangle 19"/>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archive.png"/>
          <p:cNvPicPr>
            <a:picLocks noChangeAspect="1"/>
          </p:cNvPicPr>
          <p:nvPr/>
        </p:nvPicPr>
        <p:blipFill>
          <a:blip r:embed="rId6"/>
          <a:stretch>
            <a:fillRect/>
          </a:stretch>
        </p:blipFill>
        <p:spPr>
          <a:xfrm>
            <a:off x="1333500" y="7877175"/>
            <a:ext cx="609600" cy="533400"/>
          </a:xfrm>
          <a:prstGeom prst="rect">
            <a:avLst/>
          </a:prstGeom>
        </p:spPr>
      </p:pic>
      <p:sp>
        <p:nvSpPr>
          <p:cNvPr id="22" name="TextBox 21"/>
          <p:cNvSpPr txBox="1"/>
          <p:nvPr/>
        </p:nvSpPr>
        <p:spPr>
          <a:xfrm>
            <a:off x="2190750" y="7620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Stash  </a:t>
            </a:r>
            <a:r>
              <a:rPr sz="2100" b="0" i="0">
                <a:solidFill>
                  <a:srgbClr val="F0E8E8"/>
                </a:solidFill>
                <a:latin typeface="Geist"/>
                <a:ea typeface="Geist"/>
                <a:cs typeface="Geist"/>
              </a:rPr>
              <a:t>Shelve unfinished work so you can switch branches. Stash pop brings it back.</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GitHub: how the team works together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eople-fill.png"/>
          <p:cNvPicPr>
            <a:picLocks noChangeAspect="1"/>
          </p:cNvPicPr>
          <p:nvPr/>
        </p:nvPicPr>
        <p:blipFill>
          <a:blip r:embed="rId3"/>
          <a:stretch>
            <a:fillRect/>
          </a:stretch>
        </p:blipFill>
        <p:spPr>
          <a:xfrm>
            <a:off x="1295400" y="3238500"/>
            <a:ext cx="914400" cy="685800"/>
          </a:xfrm>
          <a:prstGeom prst="rect">
            <a:avLst/>
          </a:prstGeom>
        </p:spPr>
      </p:pic>
      <p:sp>
        <p:nvSpPr>
          <p:cNvPr id="7" name="TextBox 6"/>
          <p:cNvSpPr txBox="1"/>
          <p:nvPr/>
        </p:nvSpPr>
        <p:spPr>
          <a:xfrm>
            <a:off x="1295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Pull requests</a:t>
            </a:r>
          </a:p>
        </p:txBody>
      </p:sp>
      <p:sp>
        <p:nvSpPr>
          <p:cNvPr id="8" name="TextBox 7"/>
          <p:cNvSpPr txBox="1"/>
          <p:nvPr/>
        </p:nvSpPr>
        <p:spPr>
          <a:xfrm>
            <a:off x="1295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Ask to merge a branch. Teammates review the code first.</a:t>
            </a:r>
          </a:p>
        </p:txBody>
      </p:sp>
      <p:sp>
        <p:nvSpPr>
          <p:cNvPr id="9" name="Rounded Rectangle 8"/>
          <p:cNvSpPr/>
          <p:nvPr/>
        </p:nvSpPr>
        <p:spPr>
          <a:xfrm>
            <a:off x="6502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xclamation-circle.png"/>
          <p:cNvPicPr>
            <a:picLocks noChangeAspect="1"/>
          </p:cNvPicPr>
          <p:nvPr/>
        </p:nvPicPr>
        <p:blipFill>
          <a:blip r:embed="rId4"/>
          <a:stretch>
            <a:fillRect/>
          </a:stretch>
        </p:blipFill>
        <p:spPr>
          <a:xfrm>
            <a:off x="6883400" y="3238500"/>
            <a:ext cx="685800" cy="685800"/>
          </a:xfrm>
          <a:prstGeom prst="rect">
            <a:avLst/>
          </a:prstGeom>
        </p:spPr>
      </p:pic>
      <p:sp>
        <p:nvSpPr>
          <p:cNvPr id="11" name="TextBox 10"/>
          <p:cNvSpPr txBox="1"/>
          <p:nvPr/>
        </p:nvSpPr>
        <p:spPr>
          <a:xfrm>
            <a:off x="6883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Issues</a:t>
            </a:r>
          </a:p>
        </p:txBody>
      </p:sp>
      <p:sp>
        <p:nvSpPr>
          <p:cNvPr id="12" name="TextBox 11"/>
          <p:cNvSpPr txBox="1"/>
          <p:nvPr/>
        </p:nvSpPr>
        <p:spPr>
          <a:xfrm>
            <a:off x="6883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One task or bug each. The number goes in your branch name.</a:t>
            </a:r>
          </a:p>
        </p:txBody>
      </p:sp>
      <p:sp>
        <p:nvSpPr>
          <p:cNvPr id="13" name="Rounded Rectangle 12"/>
          <p:cNvSpPr/>
          <p:nvPr/>
        </p:nvSpPr>
        <p:spPr>
          <a:xfrm>
            <a:off x="12090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kanban.png"/>
          <p:cNvPicPr>
            <a:picLocks noChangeAspect="1"/>
          </p:cNvPicPr>
          <p:nvPr/>
        </p:nvPicPr>
        <p:blipFill>
          <a:blip r:embed="rId5"/>
          <a:stretch>
            <a:fillRect/>
          </a:stretch>
        </p:blipFill>
        <p:spPr>
          <a:xfrm>
            <a:off x="12471400" y="3238500"/>
            <a:ext cx="642938" cy="685800"/>
          </a:xfrm>
          <a:prstGeom prst="rect">
            <a:avLst/>
          </a:prstGeom>
        </p:spPr>
      </p:pic>
      <p:sp>
        <p:nvSpPr>
          <p:cNvPr id="15" name="TextBox 14"/>
          <p:cNvSpPr txBox="1"/>
          <p:nvPr/>
        </p:nvSpPr>
        <p:spPr>
          <a:xfrm>
            <a:off x="12471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Projects</a:t>
            </a:r>
          </a:p>
        </p:txBody>
      </p:sp>
      <p:sp>
        <p:nvSpPr>
          <p:cNvPr id="16" name="TextBox 15"/>
          <p:cNvSpPr txBox="1"/>
          <p:nvPr/>
        </p:nvSpPr>
        <p:spPr>
          <a:xfrm>
            <a:off x="12471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board of issues by status, from Backlog to Done.</a:t>
            </a:r>
          </a:p>
        </p:txBody>
      </p:sp>
      <p:sp>
        <p:nvSpPr>
          <p:cNvPr id="17" name="TextBox 16"/>
          <p:cNvSpPr txBox="1"/>
          <p:nvPr/>
        </p:nvSpPr>
        <p:spPr>
          <a:xfrm>
            <a:off x="914400" y="7620000"/>
            <a:ext cx="16459200" cy="38100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All our code lives at github.com/FRC-Team-4143</a:t>
            </a:r>
          </a:p>
        </p:txBody>
      </p:sp>
      <p:sp>
        <p:nvSpPr>
          <p:cNvPr id="18" name="TextBox 1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9" name="TextBox 1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team workflow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430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7" name="TextBox 6"/>
          <p:cNvSpPr txBox="1"/>
          <p:nvPr/>
        </p:nvSpPr>
        <p:spPr>
          <a:xfrm>
            <a:off x="11430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Issue</a:t>
            </a:r>
          </a:p>
        </p:txBody>
      </p:sp>
      <p:sp>
        <p:nvSpPr>
          <p:cNvPr id="8" name="TextBox 7"/>
          <p:cNvSpPr txBox="1"/>
          <p:nvPr/>
        </p:nvSpPr>
        <p:spPr>
          <a:xfrm>
            <a:off x="11430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Find it, assign yourself</a:t>
            </a:r>
          </a:p>
        </p:txBody>
      </p:sp>
      <p:sp>
        <p:nvSpPr>
          <p:cNvPr id="9" name="Rounded Rectangle 8"/>
          <p:cNvSpPr/>
          <p:nvPr/>
        </p:nvSpPr>
        <p:spPr>
          <a:xfrm>
            <a:off x="36957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9243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1" name="TextBox 10"/>
          <p:cNvSpPr txBox="1"/>
          <p:nvPr/>
        </p:nvSpPr>
        <p:spPr>
          <a:xfrm>
            <a:off x="39243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Branch</a:t>
            </a:r>
          </a:p>
        </p:txBody>
      </p:sp>
      <p:sp>
        <p:nvSpPr>
          <p:cNvPr id="12" name="TextBox 11"/>
          <p:cNvSpPr txBox="1"/>
          <p:nvPr/>
        </p:nvSpPr>
        <p:spPr>
          <a:xfrm>
            <a:off x="39243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Mono"/>
                <a:ea typeface="Geist Mono"/>
                <a:cs typeface="Geist Mono"/>
              </a:rPr>
              <a:t>issue-12-turbo-boost</a:t>
            </a:r>
          </a:p>
        </p:txBody>
      </p:sp>
      <p:sp>
        <p:nvSpPr>
          <p:cNvPr id="13" name="Rounded Rectangle 12"/>
          <p:cNvSpPr/>
          <p:nvPr/>
        </p:nvSpPr>
        <p:spPr>
          <a:xfrm>
            <a:off x="64770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056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5" name="TextBox 14"/>
          <p:cNvSpPr txBox="1"/>
          <p:nvPr/>
        </p:nvSpPr>
        <p:spPr>
          <a:xfrm>
            <a:off x="67056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Commit</a:t>
            </a:r>
          </a:p>
        </p:txBody>
      </p:sp>
      <p:sp>
        <p:nvSpPr>
          <p:cNvPr id="16" name="TextBox 15"/>
          <p:cNvSpPr txBox="1"/>
          <p:nvPr/>
        </p:nvSpPr>
        <p:spPr>
          <a:xfrm>
            <a:off x="67056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Small steps, update the issue</a:t>
            </a:r>
          </a:p>
        </p:txBody>
      </p:sp>
      <p:sp>
        <p:nvSpPr>
          <p:cNvPr id="17" name="Rounded Rectangle 16"/>
          <p:cNvSpPr/>
          <p:nvPr/>
        </p:nvSpPr>
        <p:spPr>
          <a:xfrm>
            <a:off x="92583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4869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19" name="TextBox 18"/>
          <p:cNvSpPr txBox="1"/>
          <p:nvPr/>
        </p:nvSpPr>
        <p:spPr>
          <a:xfrm>
            <a:off x="9486900" y="3562350"/>
            <a:ext cx="2095500" cy="47625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Pull request</a:t>
            </a:r>
          </a:p>
        </p:txBody>
      </p:sp>
      <p:sp>
        <p:nvSpPr>
          <p:cNvPr id="20" name="TextBox 19"/>
          <p:cNvSpPr txBox="1"/>
          <p:nvPr/>
        </p:nvSpPr>
        <p:spPr>
          <a:xfrm>
            <a:off x="94869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Linked to the issue</a:t>
            </a:r>
          </a:p>
        </p:txBody>
      </p:sp>
      <p:sp>
        <p:nvSpPr>
          <p:cNvPr id="21" name="Rounded Rectangle 20"/>
          <p:cNvSpPr/>
          <p:nvPr/>
        </p:nvSpPr>
        <p:spPr>
          <a:xfrm>
            <a:off x="120396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2682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3" name="TextBox 22"/>
          <p:cNvSpPr txBox="1"/>
          <p:nvPr/>
        </p:nvSpPr>
        <p:spPr>
          <a:xfrm>
            <a:off x="122682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Review</a:t>
            </a:r>
          </a:p>
        </p:txBody>
      </p:sp>
      <p:sp>
        <p:nvSpPr>
          <p:cNvPr id="24" name="TextBox 23"/>
          <p:cNvSpPr txBox="1"/>
          <p:nvPr/>
        </p:nvSpPr>
        <p:spPr>
          <a:xfrm>
            <a:off x="122682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Teammate or mentor</a:t>
            </a:r>
          </a:p>
        </p:txBody>
      </p:sp>
      <p:sp>
        <p:nvSpPr>
          <p:cNvPr id="25" name="Rounded Rectangle 24"/>
          <p:cNvSpPr/>
          <p:nvPr/>
        </p:nvSpPr>
        <p:spPr>
          <a:xfrm>
            <a:off x="148209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50495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06</a:t>
            </a:r>
          </a:p>
        </p:txBody>
      </p:sp>
      <p:sp>
        <p:nvSpPr>
          <p:cNvPr id="27" name="TextBox 26"/>
          <p:cNvSpPr txBox="1"/>
          <p:nvPr/>
        </p:nvSpPr>
        <p:spPr>
          <a:xfrm>
            <a:off x="150495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Merge</a:t>
            </a:r>
          </a:p>
        </p:txBody>
      </p:sp>
      <p:sp>
        <p:nvSpPr>
          <p:cNvPr id="28" name="TextBox 27"/>
          <p:cNvSpPr txBox="1"/>
          <p:nvPr/>
        </p:nvSpPr>
        <p:spPr>
          <a:xfrm>
            <a:off x="150495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Then delete the branch</a:t>
            </a:r>
          </a:p>
        </p:txBody>
      </p:sp>
      <p:sp>
        <p:nvSpPr>
          <p:cNvPr id="29" name="TextBox 28"/>
          <p:cNvSpPr txBox="1"/>
          <p:nvPr/>
        </p:nvSpPr>
        <p:spPr>
          <a:xfrm>
            <a:off x="914400" y="5715000"/>
            <a:ext cx="164592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PROJECT BOARD</a:t>
            </a:r>
          </a:p>
        </p:txBody>
      </p:sp>
      <p:sp>
        <p:nvSpPr>
          <p:cNvPr id="30" name="Rounded Rectangle 29"/>
          <p:cNvSpPr/>
          <p:nvPr/>
        </p:nvSpPr>
        <p:spPr>
          <a:xfrm>
            <a:off x="91440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4300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Backlog</a:t>
            </a:r>
          </a:p>
        </p:txBody>
      </p:sp>
      <p:sp>
        <p:nvSpPr>
          <p:cNvPr id="32" name="Rounded Rectangle 31"/>
          <p:cNvSpPr/>
          <p:nvPr/>
        </p:nvSpPr>
        <p:spPr>
          <a:xfrm>
            <a:off x="114300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114300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425196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48056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Ready</a:t>
            </a:r>
          </a:p>
        </p:txBody>
      </p:sp>
      <p:sp>
        <p:nvSpPr>
          <p:cNvPr id="36" name="Rounded Rectangle 35"/>
          <p:cNvSpPr/>
          <p:nvPr/>
        </p:nvSpPr>
        <p:spPr>
          <a:xfrm>
            <a:off x="448056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448056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7589520" y="6191250"/>
            <a:ext cx="3108960" cy="2095500"/>
          </a:xfrm>
          <a:prstGeom prst="roundRect">
            <a:avLst>
              <a:gd name="adj" fmla="val 545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81812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In progress</a:t>
            </a:r>
          </a:p>
        </p:txBody>
      </p:sp>
      <p:sp>
        <p:nvSpPr>
          <p:cNvPr id="40" name="Rounded Rectangle 39"/>
          <p:cNvSpPr/>
          <p:nvPr/>
        </p:nvSpPr>
        <p:spPr>
          <a:xfrm>
            <a:off x="781812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1092708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115568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In review</a:t>
            </a:r>
          </a:p>
        </p:txBody>
      </p:sp>
      <p:sp>
        <p:nvSpPr>
          <p:cNvPr id="43" name="Rounded Rectangle 42"/>
          <p:cNvSpPr/>
          <p:nvPr/>
        </p:nvSpPr>
        <p:spPr>
          <a:xfrm>
            <a:off x="1115568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1115568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1426464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449324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Done</a:t>
            </a:r>
          </a:p>
        </p:txBody>
      </p:sp>
      <p:sp>
        <p:nvSpPr>
          <p:cNvPr id="47" name="Rounded Rectangle 46"/>
          <p:cNvSpPr/>
          <p:nvPr/>
        </p:nvSpPr>
        <p:spPr>
          <a:xfrm>
            <a:off x="1449324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1449324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AdvantageScope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Telemetry: seeing what the robot is doing</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You can't see inside me, so graph what I'm thinking.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telemetry?</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Robot code</a:t>
            </a:r>
          </a:p>
        </p:txBody>
      </p:sp>
      <p:sp>
        <p:nvSpPr>
          <p:cNvPr id="7" name="TextBox 6"/>
          <p:cNvSpPr txBox="1"/>
          <p:nvPr/>
        </p:nvSpPr>
        <p:spPr>
          <a:xfrm>
            <a:off x="10668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Publishes values every loop</a:t>
            </a:r>
          </a:p>
        </p:txBody>
      </p:sp>
      <p:cxnSp>
        <p:nvCxnSpPr>
          <p:cNvPr id="8" name="Connector 7"/>
          <p:cNvCxnSpPr/>
          <p:nvPr/>
        </p:nvCxnSpPr>
        <p:spPr>
          <a:xfrm>
            <a:off x="45339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1" name="TextBox 10"/>
          <p:cNvSpPr txBox="1"/>
          <p:nvPr/>
        </p:nvSpPr>
        <p:spPr>
          <a:xfrm>
            <a:off x="53721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Sends them to the laptop</a:t>
            </a:r>
          </a:p>
        </p:txBody>
      </p:sp>
      <p:cxnSp>
        <p:nvCxnSpPr>
          <p:cNvPr id="12" name="Connector 11"/>
          <p:cNvCxnSpPr/>
          <p:nvPr/>
        </p:nvCxnSpPr>
        <p:spPr>
          <a:xfrm>
            <a:off x="88392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AdvantageScope</a:t>
            </a:r>
          </a:p>
        </p:txBody>
      </p:sp>
      <p:sp>
        <p:nvSpPr>
          <p:cNvPr id="15" name="TextBox 14"/>
          <p:cNvSpPr txBox="1"/>
          <p:nvPr/>
        </p:nvSpPr>
        <p:spPr>
          <a:xfrm>
            <a:off x="96774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Graphs and draws them</a:t>
            </a:r>
          </a:p>
        </p:txBody>
      </p:sp>
      <p:cxnSp>
        <p:nvCxnSpPr>
          <p:cNvPr id="16" name="Connector 15"/>
          <p:cNvCxnSpPr/>
          <p:nvPr/>
        </p:nvCxnSpPr>
        <p:spPr>
          <a:xfrm>
            <a:off x="131445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Elastic</a:t>
            </a:r>
          </a:p>
        </p:txBody>
      </p:sp>
      <p:sp>
        <p:nvSpPr>
          <p:cNvPr id="19" name="TextBox 18"/>
          <p:cNvSpPr txBox="1"/>
          <p:nvPr/>
        </p:nvSpPr>
        <p:spPr>
          <a:xfrm>
            <a:off x="139827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Shows drivers what matters</a:t>
            </a:r>
          </a:p>
        </p:txBody>
      </p:sp>
      <p:sp>
        <p:nvSpPr>
          <p:cNvPr id="20" name="TextBox 19"/>
          <p:cNvSpPr txBox="1"/>
          <p:nvPr/>
        </p:nvSpPr>
        <p:spPr>
          <a:xfrm>
            <a:off x="914400" y="5810250"/>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Telemetry</a:t>
            </a:r>
            <a:r>
              <a:rPr sz="2250" b="0" i="0">
                <a:solidFill>
                  <a:srgbClr val="F0E8E8"/>
                </a:solidFill>
                <a:latin typeface="Geist"/>
                <a:ea typeface="Geist"/>
                <a:cs typeface="Geist"/>
              </a:rPr>
              <a:t>: data the robot reports about itself</a:t>
            </a:r>
          </a:p>
        </p:txBody>
      </p:sp>
      <p:sp>
        <p:nvSpPr>
          <p:cNvPr id="21" name="TextBox 20"/>
          <p:cNvSpPr txBox="1"/>
          <p:nvPr/>
        </p:nvSpPr>
        <p:spPr>
          <a:xfrm>
            <a:off x="914400" y="6410325"/>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Sent about </a:t>
            </a:r>
            <a:r>
              <a:rPr sz="2250" b="1" i="0">
                <a:solidFill>
                  <a:srgbClr val="F0E8E8"/>
                </a:solidFill>
                <a:latin typeface="Geist"/>
                <a:ea typeface="Geist"/>
                <a:cs typeface="Geist"/>
              </a:rPr>
              <a:t>50 times a second</a:t>
            </a:r>
            <a:r>
              <a:rPr sz="2250" b="0" i="0">
                <a:solidFill>
                  <a:srgbClr val="F0E8E8"/>
                </a:solidFill>
                <a:latin typeface="Geist"/>
                <a:ea typeface="Geist"/>
                <a:cs typeface="Geist"/>
              </a:rPr>
              <a:t> while it runs</a:t>
            </a:r>
          </a:p>
        </p:txBody>
      </p:sp>
      <p:sp>
        <p:nvSpPr>
          <p:cNvPr id="22" name="TextBox 21"/>
          <p:cNvSpPr txBox="1"/>
          <p:nvPr/>
        </p:nvSpPr>
        <p:spPr>
          <a:xfrm>
            <a:off x="914400" y="7010400"/>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Live while running, or saved to a </a:t>
            </a:r>
            <a:r>
              <a:rPr sz="2250" b="1" i="0">
                <a:solidFill>
                  <a:srgbClr val="F0E8E8"/>
                </a:solidFill>
                <a:latin typeface="Geist"/>
                <a:ea typeface="Geist"/>
                <a:cs typeface="Geist"/>
              </a:rPr>
              <a:t>log file</a:t>
            </a:r>
            <a:r>
              <a:rPr sz="2250" b="0" i="0">
                <a:solidFill>
                  <a:srgbClr val="F0E8E8"/>
                </a:solidFill>
                <a:latin typeface="Geist"/>
                <a:ea typeface="Geist"/>
                <a:cs typeface="Geist"/>
              </a:rPr>
              <a:t> to replay later</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tour of the window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9400140" cy="5905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as_navigation-1.jpg"/>
          <p:cNvPicPr>
            <a:picLocks noChangeAspect="1"/>
          </p:cNvPicPr>
          <p:nvPr/>
        </p:nvPicPr>
        <p:blipFill>
          <a:blip r:embed="rId3"/>
          <a:stretch>
            <a:fillRect/>
          </a:stretch>
        </p:blipFill>
        <p:spPr>
          <a:xfrm>
            <a:off x="914400" y="2857500"/>
            <a:ext cx="9400140" cy="5905500"/>
          </a:xfrm>
          <a:prstGeom prst="rect">
            <a:avLst/>
          </a:prstGeom>
        </p:spPr>
      </p:pic>
      <p:sp>
        <p:nvSpPr>
          <p:cNvPr id="7" name="Rectangle 6"/>
          <p:cNvSpPr/>
          <p:nvPr/>
        </p:nvSpPr>
        <p:spPr>
          <a:xfrm>
            <a:off x="914400" y="2857500"/>
            <a:ext cx="9400140" cy="5905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953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53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1563350" y="281940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Sidebar</a:t>
            </a:r>
          </a:p>
        </p:txBody>
      </p:sp>
      <p:sp>
        <p:nvSpPr>
          <p:cNvPr id="11" name="TextBox 10"/>
          <p:cNvSpPr txBox="1"/>
          <p:nvPr/>
        </p:nvSpPr>
        <p:spPr>
          <a:xfrm>
            <a:off x="11563350" y="323850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Every field the robot publishes</a:t>
            </a:r>
          </a:p>
        </p:txBody>
      </p:sp>
      <p:sp>
        <p:nvSpPr>
          <p:cNvPr id="12" name="Oval 11"/>
          <p:cNvSpPr/>
          <p:nvPr/>
        </p:nvSpPr>
        <p:spPr>
          <a:xfrm>
            <a:off x="10953750" y="43624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53750" y="43624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TextBox 13"/>
          <p:cNvSpPr txBox="1"/>
          <p:nvPr/>
        </p:nvSpPr>
        <p:spPr>
          <a:xfrm>
            <a:off x="11563350" y="432435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Tab bar</a:t>
            </a:r>
          </a:p>
        </p:txBody>
      </p:sp>
      <p:sp>
        <p:nvSpPr>
          <p:cNvPr id="15" name="TextBox 14"/>
          <p:cNvSpPr txBox="1"/>
          <p:nvPr/>
        </p:nvSpPr>
        <p:spPr>
          <a:xfrm>
            <a:off x="11563350" y="474345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tab per view; + adds one</a:t>
            </a:r>
          </a:p>
        </p:txBody>
      </p:sp>
      <p:sp>
        <p:nvSpPr>
          <p:cNvPr id="16" name="Oval 15"/>
          <p:cNvSpPr/>
          <p:nvPr/>
        </p:nvSpPr>
        <p:spPr>
          <a:xfrm>
            <a:off x="10953750" y="58674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53750" y="58674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 name="TextBox 17"/>
          <p:cNvSpPr txBox="1"/>
          <p:nvPr/>
        </p:nvSpPr>
        <p:spPr>
          <a:xfrm>
            <a:off x="11563350" y="582930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Viewer</a:t>
            </a:r>
          </a:p>
        </p:txBody>
      </p:sp>
      <p:sp>
        <p:nvSpPr>
          <p:cNvPr id="19" name="TextBox 18"/>
          <p:cNvSpPr txBox="1"/>
          <p:nvPr/>
        </p:nvSpPr>
        <p:spPr>
          <a:xfrm>
            <a:off x="11563350" y="624840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graph or field itself</a:t>
            </a:r>
          </a:p>
        </p:txBody>
      </p:sp>
      <p:sp>
        <p:nvSpPr>
          <p:cNvPr id="20" name="Oval 19"/>
          <p:cNvSpPr/>
          <p:nvPr/>
        </p:nvSpPr>
        <p:spPr>
          <a:xfrm>
            <a:off x="10953750" y="73723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53750" y="73723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2" name="TextBox 21"/>
          <p:cNvSpPr txBox="1"/>
          <p:nvPr/>
        </p:nvSpPr>
        <p:spPr>
          <a:xfrm>
            <a:off x="11563350" y="733425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Control pane</a:t>
            </a:r>
          </a:p>
        </p:txBody>
      </p:sp>
      <p:sp>
        <p:nvSpPr>
          <p:cNvPr id="23" name="TextBox 22"/>
          <p:cNvSpPr txBox="1"/>
          <p:nvPr/>
        </p:nvSpPr>
        <p:spPr>
          <a:xfrm>
            <a:off x="11563350" y="775335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Which fields show, on which axis</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Fields and their types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6096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TYPE</a:t>
            </a:r>
          </a:p>
        </p:txBody>
      </p:sp>
      <p:sp>
        <p:nvSpPr>
          <p:cNvPr id="7" name="TextBox 6"/>
          <p:cNvSpPr txBox="1"/>
          <p:nvPr/>
        </p:nvSpPr>
        <p:spPr>
          <a:xfrm>
            <a:off x="66675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EXAMPLE FIELD</a:t>
            </a:r>
          </a:p>
        </p:txBody>
      </p:sp>
      <p:sp>
        <p:nvSpPr>
          <p:cNvPr id="8" name="TextBox 7"/>
          <p:cNvSpPr txBox="1"/>
          <p:nvPr/>
        </p:nvSpPr>
        <p:spPr>
          <a:xfrm>
            <a:off x="120015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SHOWN AS</a:t>
            </a:r>
          </a:p>
        </p:txBody>
      </p:sp>
      <p:sp>
        <p:nvSpPr>
          <p:cNvPr id="9" name="Rounded Rectangle 8"/>
          <p:cNvSpPr/>
          <p:nvPr/>
        </p:nvSpPr>
        <p:spPr>
          <a:xfrm>
            <a:off x="914400" y="36195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36195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Number</a:t>
            </a:r>
          </a:p>
        </p:txBody>
      </p:sp>
      <p:sp>
        <p:nvSpPr>
          <p:cNvPr id="11" name="TextBox 10"/>
          <p:cNvSpPr txBox="1"/>
          <p:nvPr/>
        </p:nvSpPr>
        <p:spPr>
          <a:xfrm>
            <a:off x="6667500" y="36195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FlywheelVelocity</a:t>
            </a:r>
          </a:p>
        </p:txBody>
      </p:sp>
      <p:sp>
        <p:nvSpPr>
          <p:cNvPr id="12" name="TextBox 11"/>
          <p:cNvSpPr txBox="1"/>
          <p:nvPr/>
        </p:nvSpPr>
        <p:spPr>
          <a:xfrm>
            <a:off x="12001500" y="36195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A line on a graph</a:t>
            </a:r>
          </a:p>
        </p:txBody>
      </p:sp>
      <p:sp>
        <p:nvSpPr>
          <p:cNvPr id="13" name="Rounded Rectangle 12"/>
          <p:cNvSpPr/>
          <p:nvPr/>
        </p:nvSpPr>
        <p:spPr>
          <a:xfrm>
            <a:off x="914400" y="45339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45339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Boolean</a:t>
            </a:r>
          </a:p>
        </p:txBody>
      </p:sp>
      <p:sp>
        <p:nvSpPr>
          <p:cNvPr id="15" name="TextBox 14"/>
          <p:cNvSpPr txBox="1"/>
          <p:nvPr/>
        </p:nvSpPr>
        <p:spPr>
          <a:xfrm>
            <a:off x="6667500" y="45339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GamePieceLoaded</a:t>
            </a:r>
          </a:p>
        </p:txBody>
      </p:sp>
      <p:sp>
        <p:nvSpPr>
          <p:cNvPr id="16" name="TextBox 15"/>
          <p:cNvSpPr txBox="1"/>
          <p:nvPr/>
        </p:nvSpPr>
        <p:spPr>
          <a:xfrm>
            <a:off x="12001500" y="45339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Colored true/false bands</a:t>
            </a:r>
          </a:p>
        </p:txBody>
      </p:sp>
      <p:sp>
        <p:nvSpPr>
          <p:cNvPr id="17" name="Rounded Rectangle 16"/>
          <p:cNvSpPr/>
          <p:nvPr/>
        </p:nvSpPr>
        <p:spPr>
          <a:xfrm>
            <a:off x="914400" y="54483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54483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Pose2d</a:t>
            </a:r>
          </a:p>
        </p:txBody>
      </p:sp>
      <p:sp>
        <p:nvSpPr>
          <p:cNvPr id="19" name="TextBox 18"/>
          <p:cNvSpPr txBox="1"/>
          <p:nvPr/>
        </p:nvSpPr>
        <p:spPr>
          <a:xfrm>
            <a:off x="6667500" y="54483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RobotPose2d</a:t>
            </a:r>
          </a:p>
        </p:txBody>
      </p:sp>
      <p:sp>
        <p:nvSpPr>
          <p:cNvPr id="20" name="TextBox 19"/>
          <p:cNvSpPr txBox="1"/>
          <p:nvPr/>
        </p:nvSpPr>
        <p:spPr>
          <a:xfrm>
            <a:off x="12001500" y="54483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The robot on a 2D field</a:t>
            </a:r>
          </a:p>
        </p:txBody>
      </p:sp>
      <p:sp>
        <p:nvSpPr>
          <p:cNvPr id="21" name="Rounded Rectangle 20"/>
          <p:cNvSpPr/>
          <p:nvPr/>
        </p:nvSpPr>
        <p:spPr>
          <a:xfrm>
            <a:off x="914400" y="63627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95400" y="63627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Pose3d</a:t>
            </a:r>
          </a:p>
        </p:txBody>
      </p:sp>
      <p:sp>
        <p:nvSpPr>
          <p:cNvPr id="23" name="TextBox 22"/>
          <p:cNvSpPr txBox="1"/>
          <p:nvPr/>
        </p:nvSpPr>
        <p:spPr>
          <a:xfrm>
            <a:off x="6667500" y="63627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RobotPose3d</a:t>
            </a:r>
          </a:p>
        </p:txBody>
      </p:sp>
      <p:sp>
        <p:nvSpPr>
          <p:cNvPr id="24" name="TextBox 23"/>
          <p:cNvSpPr txBox="1"/>
          <p:nvPr/>
        </p:nvSpPr>
        <p:spPr>
          <a:xfrm>
            <a:off x="12001500" y="63627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The robot in 3D</a:t>
            </a:r>
          </a:p>
        </p:txBody>
      </p:sp>
      <p:sp>
        <p:nvSpPr>
          <p:cNvPr id="25" name="Rounded Rectangle 24"/>
          <p:cNvSpPr/>
          <p:nvPr/>
        </p:nvSpPr>
        <p:spPr>
          <a:xfrm>
            <a:off x="914400" y="72771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95400" y="72771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SwerveModuleState[]</a:t>
            </a:r>
          </a:p>
        </p:txBody>
      </p:sp>
      <p:sp>
        <p:nvSpPr>
          <p:cNvPr id="27" name="TextBox 26"/>
          <p:cNvSpPr txBox="1"/>
          <p:nvPr/>
        </p:nvSpPr>
        <p:spPr>
          <a:xfrm>
            <a:off x="6667500" y="72771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SwerveModuleStates</a:t>
            </a:r>
          </a:p>
        </p:txBody>
      </p:sp>
      <p:sp>
        <p:nvSpPr>
          <p:cNvPr id="28" name="TextBox 27"/>
          <p:cNvSpPr txBox="1"/>
          <p:nvPr/>
        </p:nvSpPr>
        <p:spPr>
          <a:xfrm>
            <a:off x="12001500" y="72771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Wheel arrows on the Swerve tab</a:t>
            </a:r>
          </a:p>
        </p:txBody>
      </p:sp>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a line graph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2190750" y="647700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47750" y="630555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0</a:t>
            </a:r>
          </a:p>
        </p:txBody>
      </p:sp>
      <p:sp>
        <p:nvSpPr>
          <p:cNvPr id="8" name="TextBox 7"/>
          <p:cNvSpPr txBox="1"/>
          <p:nvPr/>
        </p:nvSpPr>
        <p:spPr>
          <a:xfrm>
            <a:off x="10020300" y="630555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10</a:t>
            </a:r>
          </a:p>
        </p:txBody>
      </p:sp>
      <p:cxnSp>
        <p:nvCxnSpPr>
          <p:cNvPr id="9" name="Connector 8"/>
          <p:cNvCxnSpPr/>
          <p:nvPr/>
        </p:nvCxnSpPr>
        <p:spPr>
          <a:xfrm>
            <a:off x="2190750" y="542925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47750" y="525780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210</a:t>
            </a:r>
          </a:p>
        </p:txBody>
      </p:sp>
      <p:sp>
        <p:nvSpPr>
          <p:cNvPr id="11" name="TextBox 10"/>
          <p:cNvSpPr txBox="1"/>
          <p:nvPr/>
        </p:nvSpPr>
        <p:spPr>
          <a:xfrm>
            <a:off x="10020300" y="525780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11</a:t>
            </a:r>
          </a:p>
        </p:txBody>
      </p:sp>
      <p:cxnSp>
        <p:nvCxnSpPr>
          <p:cNvPr id="12" name="Connector 11"/>
          <p:cNvCxnSpPr/>
          <p:nvPr/>
        </p:nvCxnSpPr>
        <p:spPr>
          <a:xfrm>
            <a:off x="2190750" y="438150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47750" y="421005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420</a:t>
            </a:r>
          </a:p>
        </p:txBody>
      </p:sp>
      <p:sp>
        <p:nvSpPr>
          <p:cNvPr id="14" name="TextBox 13"/>
          <p:cNvSpPr txBox="1"/>
          <p:nvPr/>
        </p:nvSpPr>
        <p:spPr>
          <a:xfrm>
            <a:off x="10020300" y="421005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12</a:t>
            </a:r>
          </a:p>
        </p:txBody>
      </p:sp>
      <p:cxnSp>
        <p:nvCxnSpPr>
          <p:cNvPr id="15" name="Connector 14"/>
          <p:cNvCxnSpPr/>
          <p:nvPr/>
        </p:nvCxnSpPr>
        <p:spPr>
          <a:xfrm>
            <a:off x="2190750" y="333375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47750" y="316230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630</a:t>
            </a:r>
          </a:p>
        </p:txBody>
      </p:sp>
      <p:sp>
        <p:nvSpPr>
          <p:cNvPr id="17" name="TextBox 16"/>
          <p:cNvSpPr txBox="1"/>
          <p:nvPr/>
        </p:nvSpPr>
        <p:spPr>
          <a:xfrm>
            <a:off x="10020300" y="316230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13</a:t>
            </a:r>
          </a:p>
        </p:txBody>
      </p:sp>
      <p:sp>
        <p:nvSpPr>
          <p:cNvPr id="18" name="TextBox 17"/>
          <p:cNvSpPr txBox="1"/>
          <p:nvPr/>
        </p:nvSpPr>
        <p:spPr>
          <a:xfrm>
            <a:off x="1047750" y="2857500"/>
            <a:ext cx="19050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RAD/S</a:t>
            </a:r>
          </a:p>
        </p:txBody>
      </p:sp>
      <p:sp>
        <p:nvSpPr>
          <p:cNvPr id="19" name="TextBox 18"/>
          <p:cNvSpPr txBox="1"/>
          <p:nvPr/>
        </p:nvSpPr>
        <p:spPr>
          <a:xfrm>
            <a:off x="10020300" y="2857500"/>
            <a:ext cx="11430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VOLTS</a:t>
            </a:r>
          </a:p>
        </p:txBody>
      </p:sp>
      <p:pic>
        <p:nvPicPr>
          <p:cNvPr id="20" name="Picture 19" descr="lock-fill.png"/>
          <p:cNvPicPr>
            <a:picLocks noChangeAspect="1"/>
          </p:cNvPicPr>
          <p:nvPr/>
        </p:nvPicPr>
        <p:blipFill>
          <a:blip r:embed="rId3"/>
          <a:stretch>
            <a:fillRect/>
          </a:stretch>
        </p:blipFill>
        <p:spPr>
          <a:xfrm>
            <a:off x="1866900" y="2847975"/>
            <a:ext cx="142875" cy="228600"/>
          </a:xfrm>
          <a:prstGeom prst="rect">
            <a:avLst/>
          </a:prstGeom>
        </p:spPr>
      </p:pic>
      <p:cxnSp>
        <p:nvCxnSpPr>
          <p:cNvPr id="21" name="Connector 20"/>
          <p:cNvCxnSpPr/>
          <p:nvPr/>
        </p:nvCxnSpPr>
        <p:spPr>
          <a:xfrm flipV="1">
            <a:off x="2190750" y="6442724"/>
            <a:ext cx="128588" cy="1043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19338" y="6427789"/>
            <a:ext cx="128587" cy="149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47925" y="6406498"/>
            <a:ext cx="128587" cy="212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76512" y="6376307"/>
            <a:ext cx="128588" cy="301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705100" y="6333810"/>
            <a:ext cx="128588" cy="4249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833688" y="6274613"/>
            <a:ext cx="128587" cy="5919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962275" y="6193341"/>
            <a:ext cx="128587" cy="8127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090862" y="6083956"/>
            <a:ext cx="128588" cy="10938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219450" y="5940602"/>
            <a:ext cx="128588" cy="1433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348038" y="5759152"/>
            <a:ext cx="128587" cy="18145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476625" y="5539324"/>
            <a:ext cx="128587" cy="21982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605212" y="5286707"/>
            <a:ext cx="128588" cy="25261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733800" y="5013447"/>
            <a:ext cx="128588" cy="27326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862388" y="4736533"/>
            <a:ext cx="128587" cy="27691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990975" y="4473867"/>
            <a:ext cx="128587" cy="26266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119562" y="4239885"/>
            <a:ext cx="128588" cy="23398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248150" y="4042838"/>
            <a:ext cx="128588" cy="19704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376738" y="3884594"/>
            <a:ext cx="128587" cy="1582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505325" y="3762296"/>
            <a:ext cx="128587" cy="12229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633912" y="3670556"/>
            <a:ext cx="128588" cy="917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4762500" y="3603277"/>
            <a:ext cx="128588" cy="6727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891088" y="3554763"/>
            <a:ext cx="128587" cy="4851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019675" y="3520225"/>
            <a:ext cx="128587" cy="345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148262" y="3495888"/>
            <a:ext cx="128588" cy="2433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276850" y="3478904"/>
            <a:ext cx="128588" cy="1698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5405438" y="3467193"/>
            <a:ext cx="128587" cy="117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5534025" y="3459275"/>
            <a:ext cx="128587" cy="791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662612" y="3454128"/>
            <a:ext cx="128588" cy="514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5791200" y="3451079"/>
            <a:ext cx="128588" cy="304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5919788" y="3449723"/>
            <a:ext cx="128587" cy="135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048375" y="3449723"/>
            <a:ext cx="128587" cy="15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176962" y="3449881"/>
            <a:ext cx="128588" cy="16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305550" y="3451572"/>
            <a:ext cx="128588" cy="344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434138" y="3455019"/>
            <a:ext cx="128587" cy="56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562725" y="3460671"/>
            <a:ext cx="128587" cy="858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691312" y="3469255"/>
            <a:ext cx="128588" cy="1260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819900" y="3481855"/>
            <a:ext cx="128588" cy="1815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948488" y="3500013"/>
            <a:ext cx="128587" cy="258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077075" y="3525851"/>
            <a:ext cx="128587" cy="3633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205662" y="3562190"/>
            <a:ext cx="128588" cy="5042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334250" y="3612618"/>
            <a:ext cx="128588" cy="6878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7462838" y="3681400"/>
            <a:ext cx="128587" cy="9170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591425" y="3773109"/>
            <a:ext cx="128587" cy="1186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720012" y="3891782"/>
            <a:ext cx="128588" cy="14777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848600" y="4039560"/>
            <a:ext cx="128588" cy="17548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977188" y="4215041"/>
            <a:ext cx="128587" cy="1969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105775" y="4412037"/>
            <a:ext cx="128587" cy="20768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234362" y="4619721"/>
            <a:ext cx="128588" cy="2049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362950" y="4824665"/>
            <a:ext cx="128588" cy="18946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8491538" y="5014126"/>
            <a:ext cx="128587" cy="16487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620125" y="5178996"/>
            <a:ext cx="128587" cy="1360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8748712" y="5315084"/>
            <a:ext cx="128588" cy="10751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8877300" y="5422599"/>
            <a:ext cx="128588" cy="820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005888" y="5504637"/>
            <a:ext cx="128587" cy="609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134475" y="5565591"/>
            <a:ext cx="128587" cy="4439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9263062" y="5609989"/>
            <a:ext cx="128588" cy="318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391650" y="5641862"/>
            <a:ext cx="128588" cy="2264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20238" y="5664505"/>
            <a:ext cx="128587" cy="1596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648825" y="5680473"/>
            <a:ext cx="128587" cy="112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9777412" y="5691675"/>
            <a:ext cx="128588" cy="782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2190750" y="3755318"/>
            <a:ext cx="128588" cy="109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2319338" y="3756410"/>
            <a:ext cx="128587" cy="161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2447925" y="3758026"/>
            <a:ext cx="128587" cy="256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2576512" y="3760588"/>
            <a:ext cx="128588" cy="4664"/>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2705100" y="3765252"/>
            <a:ext cx="128588" cy="1001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2833688" y="3775265"/>
            <a:ext cx="128587" cy="2346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2962275" y="3798734"/>
            <a:ext cx="128587" cy="5361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3090862" y="3852350"/>
            <a:ext cx="128588" cy="11023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3219450" y="3962585"/>
            <a:ext cx="128588" cy="19495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3348038" y="4157542"/>
            <a:ext cx="128587" cy="28766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3476625" y="4445204"/>
            <a:ext cx="128587" cy="34223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3605212" y="4787436"/>
            <a:ext cx="128588" cy="30738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3733800" y="5094822"/>
            <a:ext cx="128588" cy="16730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862388" y="5229344"/>
            <a:ext cx="128587" cy="3278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990975" y="5020856"/>
            <a:ext cx="128587" cy="20848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4119562" y="4728116"/>
            <a:ext cx="128588" cy="292740"/>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4248150" y="4451664"/>
            <a:ext cx="128588" cy="27645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4376738" y="4251239"/>
            <a:ext cx="128587" cy="20042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4505325" y="4135286"/>
            <a:ext cx="128587" cy="11595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4633912" y="4081603"/>
            <a:ext cx="128588" cy="5368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4762500" y="4062589"/>
            <a:ext cx="128588" cy="19014"/>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4891088" y="4058611"/>
            <a:ext cx="128587" cy="397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019675" y="4058611"/>
            <a:ext cx="128587" cy="93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5148262" y="4059547"/>
            <a:ext cx="128588" cy="186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5276850" y="4061409"/>
            <a:ext cx="128588" cy="161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5405438" y="4063027"/>
            <a:ext cx="128587" cy="118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5534025" y="4064214"/>
            <a:ext cx="128587" cy="81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5662612" y="4065029"/>
            <a:ext cx="128588" cy="53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5791200" y="4065561"/>
            <a:ext cx="128588" cy="31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5919788" y="4065876"/>
            <a:ext cx="128587" cy="141"/>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6048375" y="4066000"/>
            <a:ext cx="128587" cy="1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6176962" y="4065825"/>
            <a:ext cx="128588" cy="17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6305550" y="4065469"/>
            <a:ext cx="128588" cy="35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6434138" y="4064884"/>
            <a:ext cx="128587" cy="58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6562725" y="4063996"/>
            <a:ext cx="128587" cy="88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6691312" y="4062693"/>
            <a:ext cx="128588" cy="130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6819900" y="4060814"/>
            <a:ext cx="128588" cy="187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6948488" y="4058141"/>
            <a:ext cx="128587" cy="267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7077075" y="4054382"/>
            <a:ext cx="128587" cy="375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7205662" y="4049165"/>
            <a:ext cx="128588" cy="521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7334250" y="4042050"/>
            <a:ext cx="128588" cy="711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7462838" y="4032563"/>
            <a:ext cx="128587" cy="948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7591425" y="4020286"/>
            <a:ext cx="128587" cy="1227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7720012" y="4004999"/>
            <a:ext cx="128588" cy="1528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7848600" y="3986846"/>
            <a:ext cx="128588" cy="1815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7977188" y="3966467"/>
            <a:ext cx="128587" cy="2037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8105775" y="3944982"/>
            <a:ext cx="128587" cy="2148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8234362" y="3923781"/>
            <a:ext cx="128588" cy="21201"/>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8362950" y="3904182"/>
            <a:ext cx="128588" cy="1959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8491538" y="3887126"/>
            <a:ext cx="128587" cy="1705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8620125" y="3873048"/>
            <a:ext cx="128587" cy="1407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8748712" y="3861926"/>
            <a:ext cx="128588" cy="1112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8877300" y="3853439"/>
            <a:ext cx="128588" cy="848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9005888" y="3847134"/>
            <a:ext cx="128587" cy="630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9134475" y="3842541"/>
            <a:ext cx="128587" cy="459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9263062" y="3839244"/>
            <a:ext cx="128588" cy="329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9391650" y="3836901"/>
            <a:ext cx="128588" cy="234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9520238" y="3835249"/>
            <a:ext cx="128587" cy="165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9648825" y="3834091"/>
            <a:ext cx="128587" cy="115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9777412" y="3833281"/>
            <a:ext cx="128588" cy="810"/>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2190750" y="6667500"/>
            <a:ext cx="3810000" cy="285750"/>
          </a:xfrm>
          <a:prstGeom prst="rect">
            <a:avLst/>
          </a:prstGeom>
          <a:noFill/>
        </p:spPr>
        <p:txBody>
          <a:bodyPr wrap="square" lIns="0" rIns="0" tIns="0" bIns="0" anchor="t">
            <a:spAutoFit/>
          </a:bodyPr>
          <a:lstStyle/>
          <a:p>
            <a:pPr algn="l"/>
            <a:r>
              <a:rPr sz="1350" b="0" i="0">
                <a:solidFill>
                  <a:srgbClr val="9A7878"/>
                </a:solidFill>
                <a:latin typeface="Geist Mono"/>
                <a:ea typeface="Geist Mono"/>
                <a:cs typeface="Geist Mono"/>
              </a:rPr>
              <a:t>GamePieceLoaded</a:t>
            </a:r>
          </a:p>
        </p:txBody>
      </p:sp>
      <p:sp>
        <p:nvSpPr>
          <p:cNvPr id="142" name="Rounded Rectangle 141"/>
          <p:cNvSpPr/>
          <p:nvPr/>
        </p:nvSpPr>
        <p:spPr>
          <a:xfrm>
            <a:off x="2190750" y="7010400"/>
            <a:ext cx="3433762" cy="419100"/>
          </a:xfrm>
          <a:prstGeom prst="roundRect">
            <a:avLst>
              <a:gd name="adj" fmla="val 1363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Box 142"/>
          <p:cNvSpPr txBox="1"/>
          <p:nvPr/>
        </p:nvSpPr>
        <p:spPr>
          <a:xfrm>
            <a:off x="2305050" y="7010400"/>
            <a:ext cx="3243262" cy="419100"/>
          </a:xfrm>
          <a:prstGeom prst="rect">
            <a:avLst/>
          </a:prstGeom>
          <a:noFill/>
        </p:spPr>
        <p:txBody>
          <a:bodyPr wrap="square" lIns="0" rIns="0" tIns="0" bIns="0" anchor="ctr">
            <a:spAutoFit/>
          </a:bodyPr>
          <a:lstStyle/>
          <a:p>
            <a:pPr algn="l"/>
            <a:r>
              <a:rPr sz="1500" b="0" i="0">
                <a:solidFill>
                  <a:srgbClr val="9A7878"/>
                </a:solidFill>
                <a:latin typeface="Geist Mono"/>
                <a:ea typeface="Geist Mono"/>
                <a:cs typeface="Geist Mono"/>
              </a:rPr>
              <a:t>false</a:t>
            </a:r>
          </a:p>
        </p:txBody>
      </p:sp>
      <p:sp>
        <p:nvSpPr>
          <p:cNvPr id="144" name="Rounded Rectangle 143"/>
          <p:cNvSpPr/>
          <p:nvPr/>
        </p:nvSpPr>
        <p:spPr>
          <a:xfrm>
            <a:off x="5662612" y="7010400"/>
            <a:ext cx="2662238" cy="419100"/>
          </a:xfrm>
          <a:prstGeom prst="roundRect">
            <a:avLst>
              <a:gd name="adj" fmla="val 13636"/>
            </a:avLst>
          </a:prstGeom>
          <a:solidFill>
            <a:srgbClr val="1E3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5776912" y="7010400"/>
            <a:ext cx="2471738" cy="419100"/>
          </a:xfrm>
          <a:prstGeom prst="rect">
            <a:avLst/>
          </a:prstGeom>
          <a:noFill/>
        </p:spPr>
        <p:txBody>
          <a:bodyPr wrap="square" lIns="0" rIns="0" tIns="0" bIns="0" anchor="ctr">
            <a:spAutoFit/>
          </a:bodyPr>
          <a:lstStyle/>
          <a:p>
            <a:pPr algn="l"/>
            <a:r>
              <a:rPr sz="1500" b="0" i="0">
                <a:solidFill>
                  <a:srgbClr val="7FD49B"/>
                </a:solidFill>
                <a:latin typeface="Geist Mono"/>
                <a:ea typeface="Geist Mono"/>
                <a:cs typeface="Geist Mono"/>
              </a:rPr>
              <a:t>true</a:t>
            </a:r>
          </a:p>
        </p:txBody>
      </p:sp>
      <p:sp>
        <p:nvSpPr>
          <p:cNvPr id="146" name="Rounded Rectangle 145"/>
          <p:cNvSpPr/>
          <p:nvPr/>
        </p:nvSpPr>
        <p:spPr>
          <a:xfrm>
            <a:off x="8362950" y="7010400"/>
            <a:ext cx="1504950" cy="419100"/>
          </a:xfrm>
          <a:prstGeom prst="roundRect">
            <a:avLst>
              <a:gd name="adj" fmla="val 1363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Box 146"/>
          <p:cNvSpPr txBox="1"/>
          <p:nvPr/>
        </p:nvSpPr>
        <p:spPr>
          <a:xfrm>
            <a:off x="8477250" y="7010400"/>
            <a:ext cx="1314450" cy="419100"/>
          </a:xfrm>
          <a:prstGeom prst="rect">
            <a:avLst/>
          </a:prstGeom>
          <a:noFill/>
        </p:spPr>
        <p:txBody>
          <a:bodyPr wrap="square" lIns="0" rIns="0" tIns="0" bIns="0" anchor="ctr">
            <a:spAutoFit/>
          </a:bodyPr>
          <a:lstStyle/>
          <a:p>
            <a:pPr algn="l"/>
            <a:r>
              <a:rPr sz="1500" b="0" i="0">
                <a:solidFill>
                  <a:srgbClr val="9A7878"/>
                </a:solidFill>
                <a:latin typeface="Geist Mono"/>
                <a:ea typeface="Geist Mono"/>
                <a:cs typeface="Geist Mono"/>
              </a:rPr>
              <a:t>false</a:t>
            </a:r>
          </a:p>
        </p:txBody>
      </p:sp>
      <p:cxnSp>
        <p:nvCxnSpPr>
          <p:cNvPr id="148" name="Connector 147"/>
          <p:cNvCxnSpPr/>
          <p:nvPr/>
        </p:nvCxnSpPr>
        <p:spPr>
          <a:xfrm>
            <a:off x="6434138" y="3238500"/>
            <a:ext cx="0" cy="428625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49" name="Rounded Rectangle 148"/>
          <p:cNvSpPr/>
          <p:nvPr/>
        </p:nvSpPr>
        <p:spPr>
          <a:xfrm>
            <a:off x="6586538" y="3619500"/>
            <a:ext cx="2857500" cy="876300"/>
          </a:xfrm>
          <a:prstGeom prst="roundRect">
            <a:avLst>
              <a:gd name="adj" fmla="val 1086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Box 149"/>
          <p:cNvSpPr txBox="1"/>
          <p:nvPr/>
        </p:nvSpPr>
        <p:spPr>
          <a:xfrm>
            <a:off x="6738938" y="3714750"/>
            <a:ext cx="2571750" cy="34290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t = 4.2 s</a:t>
            </a:r>
          </a:p>
        </p:txBody>
      </p:sp>
      <p:sp>
        <p:nvSpPr>
          <p:cNvPr id="151" name="TextBox 150"/>
          <p:cNvSpPr txBox="1"/>
          <p:nvPr/>
        </p:nvSpPr>
        <p:spPr>
          <a:xfrm>
            <a:off x="6738938" y="4038600"/>
            <a:ext cx="2571750" cy="34290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606</a:t>
            </a:r>
            <a:r>
              <a:rPr sz="1500" b="0" i="0">
                <a:solidFill>
                  <a:srgbClr val="9A7878"/>
                </a:solidFill>
                <a:latin typeface="Geist Mono"/>
                <a:ea typeface="Geist Mono"/>
                <a:cs typeface="Geist Mono"/>
              </a:rPr>
              <a:t> rad/s  </a:t>
            </a:r>
            <a:r>
              <a:rPr sz="1500" b="0" i="0">
                <a:solidFill>
                  <a:srgbClr val="E8C27A"/>
                </a:solidFill>
                <a:latin typeface="Geist Mono"/>
                <a:ea typeface="Geist Mono"/>
                <a:cs typeface="Geist Mono"/>
              </a:rPr>
              <a:t>12.3</a:t>
            </a:r>
            <a:r>
              <a:rPr sz="1500" b="0" i="0">
                <a:solidFill>
                  <a:srgbClr val="9A7878"/>
                </a:solidFill>
                <a:latin typeface="Geist Mono"/>
                <a:ea typeface="Geist Mono"/>
                <a:cs typeface="Geist Mono"/>
              </a:rPr>
              <a:t> V</a:t>
            </a:r>
          </a:p>
        </p:txBody>
      </p:sp>
      <p:sp>
        <p:nvSpPr>
          <p:cNvPr id="152" name="TextBox 151"/>
          <p:cNvSpPr txBox="1"/>
          <p:nvPr/>
        </p:nvSpPr>
        <p:spPr>
          <a:xfrm>
            <a:off x="2190750" y="790575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time →</a:t>
            </a:r>
          </a:p>
        </p:txBody>
      </p:sp>
      <p:sp>
        <p:nvSpPr>
          <p:cNvPr id="153" name="Oval 152"/>
          <p:cNvSpPr/>
          <p:nvPr/>
        </p:nvSpPr>
        <p:spPr>
          <a:xfrm>
            <a:off x="10668000" y="53340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10668000" y="53340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5" name="Oval 154"/>
          <p:cNvSpPr/>
          <p:nvPr/>
        </p:nvSpPr>
        <p:spPr>
          <a:xfrm>
            <a:off x="2190750" y="27813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2190750" y="27813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7" name="Oval 156"/>
          <p:cNvSpPr/>
          <p:nvPr/>
        </p:nvSpPr>
        <p:spPr>
          <a:xfrm>
            <a:off x="1676400" y="70294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676400" y="7029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59" name="Oval 158"/>
          <p:cNvSpPr/>
          <p:nvPr/>
        </p:nvSpPr>
        <p:spPr>
          <a:xfrm>
            <a:off x="6243638" y="28194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6243638" y="2819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61" name="Oval 160"/>
          <p:cNvSpPr/>
          <p:nvPr/>
        </p:nvSpPr>
        <p:spPr>
          <a:xfrm>
            <a:off x="11906250" y="2857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1906250" y="2857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63" name="TextBox 162"/>
          <p:cNvSpPr txBox="1"/>
          <p:nvPr/>
        </p:nvSpPr>
        <p:spPr>
          <a:xfrm>
            <a:off x="12592050" y="2819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Two axes</a:t>
            </a:r>
          </a:p>
        </p:txBody>
      </p:sp>
      <p:sp>
        <p:nvSpPr>
          <p:cNvPr id="164" name="TextBox 163"/>
          <p:cNvSpPr txBox="1"/>
          <p:nvPr/>
        </p:nvSpPr>
        <p:spPr>
          <a:xfrm>
            <a:off x="12592050" y="3276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Left and right each have their own scale</a:t>
            </a:r>
          </a:p>
        </p:txBody>
      </p:sp>
      <p:sp>
        <p:nvSpPr>
          <p:cNvPr id="165" name="Oval 164"/>
          <p:cNvSpPr/>
          <p:nvPr/>
        </p:nvSpPr>
        <p:spPr>
          <a:xfrm>
            <a:off x="11906250" y="4381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11906250" y="4381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67" name="TextBox 166"/>
          <p:cNvSpPr txBox="1"/>
          <p:nvPr/>
        </p:nvSpPr>
        <p:spPr>
          <a:xfrm>
            <a:off x="12592050" y="4343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Lock the range</a:t>
            </a:r>
          </a:p>
        </p:txBody>
      </p:sp>
      <p:sp>
        <p:nvSpPr>
          <p:cNvPr id="168" name="TextBox 167"/>
          <p:cNvSpPr txBox="1"/>
          <p:nvPr/>
        </p:nvSpPr>
        <p:spPr>
          <a:xfrm>
            <a:off x="12592050" y="4800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 lock stops the scale from jumping</a:t>
            </a:r>
          </a:p>
        </p:txBody>
      </p:sp>
      <p:sp>
        <p:nvSpPr>
          <p:cNvPr id="169" name="Oval 168"/>
          <p:cNvSpPr/>
          <p:nvPr/>
        </p:nvSpPr>
        <p:spPr>
          <a:xfrm>
            <a:off x="11906250" y="5905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11906250" y="5905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1" name="TextBox 170"/>
          <p:cNvSpPr txBox="1"/>
          <p:nvPr/>
        </p:nvSpPr>
        <p:spPr>
          <a:xfrm>
            <a:off x="12592050" y="5867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Discrete fields</a:t>
            </a:r>
          </a:p>
        </p:txBody>
      </p:sp>
      <p:sp>
        <p:nvSpPr>
          <p:cNvPr id="172" name="TextBox 171"/>
          <p:cNvSpPr txBox="1"/>
          <p:nvPr/>
        </p:nvSpPr>
        <p:spPr>
          <a:xfrm>
            <a:off x="12592050" y="6324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true/false and text as colored bands</a:t>
            </a:r>
          </a:p>
        </p:txBody>
      </p:sp>
      <p:sp>
        <p:nvSpPr>
          <p:cNvPr id="173" name="Oval 172"/>
          <p:cNvSpPr/>
          <p:nvPr/>
        </p:nvSpPr>
        <p:spPr>
          <a:xfrm>
            <a:off x="11906250" y="7429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11906250" y="7429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75" name="TextBox 174"/>
          <p:cNvSpPr txBox="1"/>
          <p:nvPr/>
        </p:nvSpPr>
        <p:spPr>
          <a:xfrm>
            <a:off x="12592050" y="7391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Hover and zoom</a:t>
            </a:r>
          </a:p>
        </p:txBody>
      </p:sp>
      <p:sp>
        <p:nvSpPr>
          <p:cNvPr id="176" name="TextBox 175"/>
          <p:cNvSpPr txBox="1"/>
          <p:nvPr/>
        </p:nvSpPr>
        <p:spPr>
          <a:xfrm>
            <a:off x="12592050" y="7848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Read exact values; scroll to zoom in time</a:t>
            </a:r>
          </a:p>
        </p:txBody>
      </p:sp>
      <p:sp>
        <p:nvSpPr>
          <p:cNvPr id="177" name="TextBox 17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78" name="TextBox 17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tab for every job</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19400"/>
            <a:ext cx="4556989" cy="2857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as_line-graph-1_tile.jpg"/>
          <p:cNvPicPr>
            <a:picLocks noChangeAspect="1"/>
          </p:cNvPicPr>
          <p:nvPr/>
        </p:nvPicPr>
        <p:blipFill>
          <a:blip r:embed="rId3"/>
          <a:stretch>
            <a:fillRect/>
          </a:stretch>
        </p:blipFill>
        <p:spPr>
          <a:xfrm>
            <a:off x="914400" y="2819400"/>
            <a:ext cx="4556989" cy="2857500"/>
          </a:xfrm>
          <a:prstGeom prst="rect">
            <a:avLst/>
          </a:prstGeom>
        </p:spPr>
      </p:pic>
      <p:sp>
        <p:nvSpPr>
          <p:cNvPr id="7" name="Rectangle 6"/>
          <p:cNvSpPr/>
          <p:nvPr/>
        </p:nvSpPr>
        <p:spPr>
          <a:xfrm>
            <a:off x="914400" y="2819400"/>
            <a:ext cx="4556989" cy="2857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753100" y="3581400"/>
            <a:ext cx="314325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Line Graph</a:t>
            </a:r>
          </a:p>
        </p:txBody>
      </p:sp>
      <p:sp>
        <p:nvSpPr>
          <p:cNvPr id="9" name="TextBox 8"/>
          <p:cNvSpPr txBox="1"/>
          <p:nvPr/>
        </p:nvSpPr>
        <p:spPr>
          <a:xfrm>
            <a:off x="5753100" y="4076700"/>
            <a:ext cx="314325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Numbers and true/false over time</a:t>
            </a:r>
          </a:p>
        </p:txBody>
      </p:sp>
      <p:sp>
        <p:nvSpPr>
          <p:cNvPr id="10" name="Rectangle 9"/>
          <p:cNvSpPr/>
          <p:nvPr/>
        </p:nvSpPr>
        <p:spPr>
          <a:xfrm>
            <a:off x="9334500" y="2819400"/>
            <a:ext cx="4556989" cy="2857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hot_as_2d-field-1_tile.jpg"/>
          <p:cNvPicPr>
            <a:picLocks noChangeAspect="1"/>
          </p:cNvPicPr>
          <p:nvPr/>
        </p:nvPicPr>
        <p:blipFill>
          <a:blip r:embed="rId4"/>
          <a:stretch>
            <a:fillRect/>
          </a:stretch>
        </p:blipFill>
        <p:spPr>
          <a:xfrm>
            <a:off x="9334500" y="2819400"/>
            <a:ext cx="4556989" cy="2857500"/>
          </a:xfrm>
          <a:prstGeom prst="rect">
            <a:avLst/>
          </a:prstGeom>
        </p:spPr>
      </p:pic>
      <p:sp>
        <p:nvSpPr>
          <p:cNvPr id="12" name="Rectangle 11"/>
          <p:cNvSpPr/>
          <p:nvPr/>
        </p:nvSpPr>
        <p:spPr>
          <a:xfrm>
            <a:off x="9334500" y="2819400"/>
            <a:ext cx="4556989" cy="2857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4173200" y="3581400"/>
            <a:ext cx="314325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2D Field</a:t>
            </a:r>
          </a:p>
        </p:txBody>
      </p:sp>
      <p:sp>
        <p:nvSpPr>
          <p:cNvPr id="14" name="TextBox 13"/>
          <p:cNvSpPr txBox="1"/>
          <p:nvPr/>
        </p:nvSpPr>
        <p:spPr>
          <a:xfrm>
            <a:off x="14173200" y="4076700"/>
            <a:ext cx="314325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Where the robot is, from above</a:t>
            </a:r>
          </a:p>
        </p:txBody>
      </p:sp>
      <p:sp>
        <p:nvSpPr>
          <p:cNvPr id="15" name="Rectangle 14"/>
          <p:cNvSpPr/>
          <p:nvPr/>
        </p:nvSpPr>
        <p:spPr>
          <a:xfrm>
            <a:off x="914400" y="5962650"/>
            <a:ext cx="4556989" cy="2857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ot_as_3d-field-1_tile.jpg"/>
          <p:cNvPicPr>
            <a:picLocks noChangeAspect="1"/>
          </p:cNvPicPr>
          <p:nvPr/>
        </p:nvPicPr>
        <p:blipFill>
          <a:blip r:embed="rId5"/>
          <a:stretch>
            <a:fillRect/>
          </a:stretch>
        </p:blipFill>
        <p:spPr>
          <a:xfrm>
            <a:off x="914400" y="5962650"/>
            <a:ext cx="4556989" cy="2857500"/>
          </a:xfrm>
          <a:prstGeom prst="rect">
            <a:avLst/>
          </a:prstGeom>
        </p:spPr>
      </p:pic>
      <p:sp>
        <p:nvSpPr>
          <p:cNvPr id="17" name="Rectangle 16"/>
          <p:cNvSpPr/>
          <p:nvPr/>
        </p:nvSpPr>
        <p:spPr>
          <a:xfrm>
            <a:off x="914400" y="5962650"/>
            <a:ext cx="4556989" cy="2857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53100" y="6724650"/>
            <a:ext cx="314325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3D Field</a:t>
            </a:r>
          </a:p>
        </p:txBody>
      </p:sp>
      <p:sp>
        <p:nvSpPr>
          <p:cNvPr id="19" name="TextBox 18"/>
          <p:cNvSpPr txBox="1"/>
          <p:nvPr/>
        </p:nvSpPr>
        <p:spPr>
          <a:xfrm>
            <a:off x="5753100" y="7219950"/>
            <a:ext cx="314325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 whole robot and its mechanisms</a:t>
            </a:r>
          </a:p>
        </p:txBody>
      </p:sp>
      <p:sp>
        <p:nvSpPr>
          <p:cNvPr id="20" name="Rectangle 19"/>
          <p:cNvSpPr/>
          <p:nvPr/>
        </p:nvSpPr>
        <p:spPr>
          <a:xfrm>
            <a:off x="9334500" y="5962650"/>
            <a:ext cx="4556989" cy="2857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hot_as_swerve-1_tile.jpg"/>
          <p:cNvPicPr>
            <a:picLocks noChangeAspect="1"/>
          </p:cNvPicPr>
          <p:nvPr/>
        </p:nvPicPr>
        <p:blipFill>
          <a:blip r:embed="rId6"/>
          <a:stretch>
            <a:fillRect/>
          </a:stretch>
        </p:blipFill>
        <p:spPr>
          <a:xfrm>
            <a:off x="9334500" y="5962650"/>
            <a:ext cx="4556989" cy="2857500"/>
          </a:xfrm>
          <a:prstGeom prst="rect">
            <a:avLst/>
          </a:prstGeom>
        </p:spPr>
      </p:pic>
      <p:sp>
        <p:nvSpPr>
          <p:cNvPr id="22" name="Rectangle 21"/>
          <p:cNvSpPr/>
          <p:nvPr/>
        </p:nvSpPr>
        <p:spPr>
          <a:xfrm>
            <a:off x="9334500" y="5962650"/>
            <a:ext cx="4556989" cy="2857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4173200" y="6724650"/>
            <a:ext cx="314325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Swerve</a:t>
            </a:r>
          </a:p>
        </p:txBody>
      </p:sp>
      <p:sp>
        <p:nvSpPr>
          <p:cNvPr id="24" name="TextBox 23"/>
          <p:cNvSpPr txBox="1"/>
          <p:nvPr/>
        </p:nvSpPr>
        <p:spPr>
          <a:xfrm>
            <a:off x="14173200" y="7219950"/>
            <a:ext cx="314325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Each wheel's speed and direction</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Differentiate: how fast is it changing?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6286500"/>
          </a:xfrm>
          <a:prstGeom prst="roundRect">
            <a:avLst>
              <a:gd name="adj" fmla="val 242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857500" y="2952750"/>
            <a:ext cx="5356860" cy="59055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048000" y="3028950"/>
            <a:ext cx="4975860" cy="342900"/>
          </a:xfrm>
          <a:prstGeom prst="rect">
            <a:avLst/>
          </a:prstGeom>
          <a:noFill/>
        </p:spPr>
        <p:txBody>
          <a:bodyPr wrap="square" lIns="0" rIns="0" tIns="0" bIns="0" anchor="t">
            <a:spAutoFit/>
          </a:bodyPr>
          <a:lstStyle/>
          <a:p>
            <a:pPr algn="l"/>
            <a:r>
              <a:rPr sz="1500" b="1" i="0" spc="130">
                <a:solidFill>
                  <a:srgbClr val="CC2200"/>
                </a:solidFill>
                <a:latin typeface="Geist"/>
                <a:ea typeface="Geist"/>
                <a:cs typeface="Geist"/>
              </a:rPr>
              <a:t>SPINNING UP</a:t>
            </a:r>
          </a:p>
        </p:txBody>
      </p:sp>
      <p:sp>
        <p:nvSpPr>
          <p:cNvPr id="8" name="TextBox 7"/>
          <p:cNvSpPr txBox="1"/>
          <p:nvPr/>
        </p:nvSpPr>
        <p:spPr>
          <a:xfrm>
            <a:off x="3048000" y="3352800"/>
            <a:ext cx="497586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derivative is big</a:t>
            </a:r>
          </a:p>
        </p:txBody>
      </p:sp>
      <p:sp>
        <p:nvSpPr>
          <p:cNvPr id="9" name="TextBox 8"/>
          <p:cNvSpPr txBox="1"/>
          <p:nvPr/>
        </p:nvSpPr>
        <p:spPr>
          <a:xfrm>
            <a:off x="8404860" y="3028950"/>
            <a:ext cx="3002280" cy="3429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HOLDING SPEED</a:t>
            </a:r>
          </a:p>
        </p:txBody>
      </p:sp>
      <p:sp>
        <p:nvSpPr>
          <p:cNvPr id="10" name="TextBox 9"/>
          <p:cNvSpPr txBox="1"/>
          <p:nvPr/>
        </p:nvSpPr>
        <p:spPr>
          <a:xfrm>
            <a:off x="8404860" y="3352800"/>
            <a:ext cx="300228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derivative is zero</a:t>
            </a:r>
          </a:p>
        </p:txBody>
      </p:sp>
      <p:sp>
        <p:nvSpPr>
          <p:cNvPr id="11" name="TextBox 10"/>
          <p:cNvSpPr txBox="1"/>
          <p:nvPr/>
        </p:nvSpPr>
        <p:spPr>
          <a:xfrm>
            <a:off x="11788140" y="3028950"/>
            <a:ext cx="4975860" cy="3429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SLOWING DOWN</a:t>
            </a:r>
          </a:p>
        </p:txBody>
      </p:sp>
      <p:sp>
        <p:nvSpPr>
          <p:cNvPr id="12" name="TextBox 11"/>
          <p:cNvSpPr txBox="1"/>
          <p:nvPr/>
        </p:nvSpPr>
        <p:spPr>
          <a:xfrm>
            <a:off x="11788140" y="3352800"/>
            <a:ext cx="497586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derivative is negative</a:t>
            </a:r>
          </a:p>
        </p:txBody>
      </p:sp>
      <p:cxnSp>
        <p:nvCxnSpPr>
          <p:cNvPr id="13" name="Connector 12"/>
          <p:cNvCxnSpPr/>
          <p:nvPr/>
        </p:nvCxnSpPr>
        <p:spPr>
          <a:xfrm>
            <a:off x="8214360" y="2952750"/>
            <a:ext cx="0" cy="590550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1597640" y="2952750"/>
            <a:ext cx="0" cy="590550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857500" y="5874291"/>
            <a:ext cx="176212" cy="85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033712" y="5862576"/>
            <a:ext cx="176213" cy="1171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209925" y="5846601"/>
            <a:ext cx="176213" cy="159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386138" y="5824938"/>
            <a:ext cx="176212" cy="216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562350" y="5795782"/>
            <a:ext cx="176212" cy="2915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738562" y="5756933"/>
            <a:ext cx="176213" cy="3884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914775" y="5705858"/>
            <a:ext cx="176213" cy="510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090988" y="5639880"/>
            <a:ext cx="176212" cy="6597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267200" y="5556558"/>
            <a:ext cx="176212" cy="8332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443412" y="5454293"/>
            <a:ext cx="176213" cy="10226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619625" y="5333083"/>
            <a:ext cx="176213" cy="12121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795838" y="5195220"/>
            <a:ext cx="176212" cy="1378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972050" y="5045580"/>
            <a:ext cx="176212" cy="1496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148262" y="4891180"/>
            <a:ext cx="176213" cy="15440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324475" y="4739976"/>
            <a:ext cx="176213" cy="15120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500688" y="4599289"/>
            <a:ext cx="176212" cy="14068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5676900" y="4474484"/>
            <a:ext cx="176212" cy="12480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853112" y="4368368"/>
            <a:ext cx="176213" cy="10611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029325" y="4281350"/>
            <a:ext cx="176213" cy="8701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205538" y="4212087"/>
            <a:ext cx="176212" cy="692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381750" y="4158252"/>
            <a:ext cx="176212" cy="538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557962" y="4117178"/>
            <a:ext cx="176213" cy="4107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734175" y="4086283"/>
            <a:ext cx="176213" cy="308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6910388" y="4063294"/>
            <a:ext cx="176212" cy="2298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7086600" y="4046327"/>
            <a:ext cx="176212" cy="1696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262812" y="4033883"/>
            <a:ext cx="176213" cy="124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7439025" y="4024801"/>
            <a:ext cx="176213" cy="908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7615238" y="4018202"/>
            <a:ext cx="176212" cy="65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791450" y="4013428"/>
            <a:ext cx="176212" cy="477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967662" y="4009993"/>
            <a:ext cx="176213" cy="34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8143875" y="4007542"/>
            <a:ext cx="176213" cy="245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8320088" y="4005816"/>
            <a:ext cx="176212" cy="172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496300" y="4004631"/>
            <a:ext cx="176212" cy="118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672512" y="4003854"/>
            <a:ext cx="176213" cy="77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848725" y="4003397"/>
            <a:ext cx="176213" cy="4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9024938" y="4003200"/>
            <a:ext cx="176212" cy="19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9201150" y="4003200"/>
            <a:ext cx="176212" cy="3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377362" y="4003230"/>
            <a:ext cx="176213" cy="24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553575" y="4003473"/>
            <a:ext cx="176213" cy="45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729788" y="4003931"/>
            <a:ext cx="176212" cy="6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906000" y="4004626"/>
            <a:ext cx="176212" cy="96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082212" y="4005594"/>
            <a:ext cx="176213" cy="12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258425" y="4006890"/>
            <a:ext cx="176213" cy="170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434638" y="4008590"/>
            <a:ext cx="176212" cy="220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610850" y="4010797"/>
            <a:ext cx="176212" cy="284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87062" y="4013643"/>
            <a:ext cx="176213" cy="36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0963275" y="4017295"/>
            <a:ext cx="176213" cy="46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1139488" y="4021970"/>
            <a:ext cx="176212" cy="596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1315700" y="4027938"/>
            <a:ext cx="176212" cy="75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1491912" y="4035537"/>
            <a:ext cx="176213" cy="964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1668125" y="4045186"/>
            <a:ext cx="176213" cy="1221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1844338" y="4057396"/>
            <a:ext cx="176212" cy="153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2020550" y="4072784"/>
            <a:ext cx="176212" cy="192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2196762" y="4092077"/>
            <a:ext cx="176213" cy="240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2372975" y="4116112"/>
            <a:ext cx="176213" cy="2970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2549188" y="4145815"/>
            <a:ext cx="176212" cy="363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2725400" y="4182167"/>
            <a:ext cx="176212" cy="4395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2901612" y="4226125"/>
            <a:ext cx="176213" cy="523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3077825" y="4278518"/>
            <a:ext cx="176213" cy="6137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3254038" y="4339896"/>
            <a:ext cx="176212" cy="704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3430250" y="4410367"/>
            <a:ext cx="176212" cy="7906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3606462" y="4489432"/>
            <a:ext cx="176213" cy="864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3782675" y="4575872"/>
            <a:ext cx="176213" cy="918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3958888" y="4667743"/>
            <a:ext cx="176212" cy="947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4135100" y="4762500"/>
            <a:ext cx="176212" cy="947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4311312" y="4857257"/>
            <a:ext cx="176213" cy="918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4487525" y="4949128"/>
            <a:ext cx="176213" cy="864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4663738" y="5035568"/>
            <a:ext cx="176212" cy="7906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4839950" y="5114633"/>
            <a:ext cx="176212" cy="7047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5016162" y="5185105"/>
            <a:ext cx="176213" cy="6137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5192375" y="5246484"/>
            <a:ext cx="176213" cy="5239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5368588" y="5298876"/>
            <a:ext cx="176212" cy="4395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5544800" y="5342835"/>
            <a:ext cx="176212" cy="363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5721012" y="5379187"/>
            <a:ext cx="176213" cy="2970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5897225" y="5408892"/>
            <a:ext cx="176213" cy="2403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6073438" y="5432928"/>
            <a:ext cx="176212" cy="192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6249650" y="5452223"/>
            <a:ext cx="176212" cy="153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6425862" y="5467614"/>
            <a:ext cx="176213" cy="1221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6602075" y="5479828"/>
            <a:ext cx="176213" cy="96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6778288" y="5489482"/>
            <a:ext cx="176212" cy="760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1047750" y="4762500"/>
            <a:ext cx="1714500" cy="381000"/>
          </a:xfrm>
          <a:prstGeom prst="rect">
            <a:avLst/>
          </a:prstGeom>
          <a:noFill/>
        </p:spPr>
        <p:txBody>
          <a:bodyPr wrap="square" lIns="0" rIns="0" tIns="0" bIns="0" anchor="t">
            <a:spAutoFit/>
          </a:bodyPr>
          <a:lstStyle/>
          <a:p>
            <a:pPr algn="l"/>
            <a:r>
              <a:rPr sz="1275" b="1" i="0">
                <a:solidFill>
                  <a:srgbClr val="F0E8E8"/>
                </a:solidFill>
                <a:latin typeface="Geist Mono"/>
                <a:ea typeface="Geist Mono"/>
                <a:cs typeface="Geist Mono"/>
              </a:rPr>
              <a:t>FlywheelVelocity</a:t>
            </a:r>
          </a:p>
        </p:txBody>
      </p:sp>
      <p:cxnSp>
        <p:nvCxnSpPr>
          <p:cNvPr id="96" name="Connector 95"/>
          <p:cNvCxnSpPr/>
          <p:nvPr/>
        </p:nvCxnSpPr>
        <p:spPr>
          <a:xfrm>
            <a:off x="2857500" y="7524750"/>
            <a:ext cx="14097000" cy="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2381250" y="7381875"/>
            <a:ext cx="3810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cxnSp>
        <p:nvCxnSpPr>
          <p:cNvPr id="98" name="Connector 97"/>
          <p:cNvCxnSpPr/>
          <p:nvPr/>
        </p:nvCxnSpPr>
        <p:spPr>
          <a:xfrm flipV="1">
            <a:off x="2857500" y="7450471"/>
            <a:ext cx="176212" cy="4548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033712" y="7423237"/>
            <a:ext cx="176213" cy="2723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209925" y="7386672"/>
            <a:ext cx="176213" cy="3656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386138" y="7338138"/>
            <a:ext cx="176212" cy="4853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562350" y="7274721"/>
            <a:ext cx="176212" cy="6341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38562" y="7193615"/>
            <a:ext cx="176213" cy="8110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914775" y="7092875"/>
            <a:ext cx="176213" cy="10074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4090988" y="6972622"/>
            <a:ext cx="176212" cy="12025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4267200" y="6836637"/>
            <a:ext cx="176212" cy="13598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4443412" y="6693884"/>
            <a:ext cx="176213" cy="14275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4619625" y="6559048"/>
            <a:ext cx="176213" cy="13483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4795838" y="6450863"/>
            <a:ext cx="176212" cy="10818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4972050" y="6387730"/>
            <a:ext cx="176212" cy="6313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5148262" y="6381750"/>
            <a:ext cx="176213" cy="598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5324475" y="6381750"/>
            <a:ext cx="176213" cy="523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5500688" y="6434123"/>
            <a:ext cx="176212" cy="10053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5676900" y="6534661"/>
            <a:ext cx="176212" cy="13108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5853112" y="6665741"/>
            <a:ext cx="176213" cy="14252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6029325" y="6808263"/>
            <a:ext cx="176213" cy="13825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6205538" y="6946514"/>
            <a:ext cx="176212" cy="12386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6381750" y="7070374"/>
            <a:ext cx="176212" cy="10475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6557962" y="7175132"/>
            <a:ext cx="176213" cy="8494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6734175" y="7260072"/>
            <a:ext cx="176213" cy="6676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6910388" y="7326839"/>
            <a:ext cx="176212" cy="5130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7086600" y="7378142"/>
            <a:ext cx="176212" cy="3877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7262812" y="7416914"/>
            <a:ext cx="176213" cy="2895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7439025" y="7445870"/>
            <a:ext cx="176213" cy="2144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7615238" y="7467314"/>
            <a:ext cx="176212" cy="1579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7791450" y="7483106"/>
            <a:ext cx="176212" cy="1159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7967662" y="7494701"/>
            <a:ext cx="176213" cy="850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8143875" y="7503208"/>
            <a:ext cx="176213" cy="625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8320088" y="7509466"/>
            <a:ext cx="176212" cy="463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8496300" y="7514100"/>
            <a:ext cx="176212" cy="34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8672512" y="7517576"/>
            <a:ext cx="176213" cy="26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8848725" y="7520245"/>
            <a:ext cx="176213" cy="212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9024938" y="7522370"/>
            <a:ext cx="176212" cy="178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9201150" y="7524156"/>
            <a:ext cx="176212" cy="161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9377362" y="7525767"/>
            <a:ext cx="176213" cy="15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9553575" y="7527340"/>
            <a:ext cx="176213" cy="166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9729788" y="7529002"/>
            <a:ext cx="176212" cy="18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9906000" y="7530875"/>
            <a:ext cx="176212" cy="221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10082212" y="7533087"/>
            <a:ext cx="176213" cy="269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10258425" y="7535786"/>
            <a:ext cx="176213" cy="335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10434638" y="7539140"/>
            <a:ext cx="176212" cy="421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10610850" y="7543354"/>
            <a:ext cx="176212" cy="532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10787062" y="7548678"/>
            <a:ext cx="176213" cy="674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10963275" y="7555420"/>
            <a:ext cx="176213" cy="853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11139488" y="7563953"/>
            <a:ext cx="176212" cy="1078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315700" y="7574735"/>
            <a:ext cx="176212" cy="1357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1491912" y="7588313"/>
            <a:ext cx="176213" cy="1702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1668125" y="7605333"/>
            <a:ext cx="176213" cy="2119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1844338" y="7626529"/>
            <a:ext cx="176212" cy="2618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2020550" y="7652710"/>
            <a:ext cx="176212" cy="3199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2196762" y="7684707"/>
            <a:ext cx="176213" cy="385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2372975" y="7723283"/>
            <a:ext cx="176213" cy="4571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2549188" y="7768997"/>
            <a:ext cx="176212" cy="5300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12725400" y="7821997"/>
            <a:ext cx="176212" cy="5976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12901612" y="7881761"/>
            <a:ext cx="176213" cy="6505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13077825" y="7946816"/>
            <a:ext cx="176213" cy="6768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13254038" y="8014498"/>
            <a:ext cx="176212" cy="6637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13430250" y="8080875"/>
            <a:ext cx="176212" cy="6007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13606462" y="8140945"/>
            <a:ext cx="176213" cy="482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13782675" y="8189214"/>
            <a:ext cx="176213" cy="3139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13958888" y="8220607"/>
            <a:ext cx="176212" cy="1090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14135100" y="8220608"/>
            <a:ext cx="176212" cy="1090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14311312" y="8189214"/>
            <a:ext cx="176213" cy="3139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14487525" y="8140945"/>
            <a:ext cx="176213" cy="482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14663738" y="8080876"/>
            <a:ext cx="176212" cy="600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14839950" y="8014500"/>
            <a:ext cx="176212" cy="663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15016162" y="7946818"/>
            <a:ext cx="176213" cy="6768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15192375" y="7881764"/>
            <a:ext cx="176213" cy="6505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15368588" y="7822001"/>
            <a:ext cx="176212" cy="5976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15544800" y="7769004"/>
            <a:ext cx="176212" cy="5299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15721012" y="7723293"/>
            <a:ext cx="176213" cy="4571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15897225" y="7684720"/>
            <a:ext cx="176213" cy="385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16073438" y="7652728"/>
            <a:ext cx="176212" cy="3199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16249650" y="7626553"/>
            <a:ext cx="176212" cy="2617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16425862" y="7605366"/>
            <a:ext cx="176213" cy="2118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16602075" y="7588360"/>
            <a:ext cx="176213" cy="1700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16778288" y="7550980"/>
            <a:ext cx="176212" cy="3738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1143000" y="6572250"/>
            <a:ext cx="1619250" cy="381000"/>
          </a:xfrm>
          <a:prstGeom prst="rect">
            <a:avLst/>
          </a:prstGeom>
          <a:noFill/>
        </p:spPr>
        <p:txBody>
          <a:bodyPr wrap="square" lIns="0" rIns="0" tIns="0" bIns="0" anchor="t">
            <a:spAutoFit/>
          </a:bodyPr>
          <a:lstStyle/>
          <a:p>
            <a:pPr algn="l"/>
            <a:r>
              <a:rPr sz="1500" b="1" i="0">
                <a:solidFill>
                  <a:srgbClr val="CC2200"/>
                </a:solidFill>
                <a:latin typeface="Geist Mono"/>
                <a:ea typeface="Geist Mono"/>
                <a:cs typeface="Geist Mono"/>
              </a:rPr>
              <a:t>differentiated</a:t>
            </a:r>
          </a:p>
        </p:txBody>
      </p:sp>
      <p:sp>
        <p:nvSpPr>
          <p:cNvPr id="179" name="TextBox 17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80" name="TextBox 17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Poses: where is the robot?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572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2009775" y="3048000"/>
            <a:ext cx="8382000" cy="4086225"/>
          </a:xfrm>
          <a:prstGeom prst="roundRect">
            <a:avLst>
              <a:gd name="adj" fmla="val 1398"/>
            </a:avLst>
          </a:prstGeom>
          <a:solidFill>
            <a:srgbClr val="0E1412"/>
          </a:solidFill>
          <a:ln w="28575">
            <a:solidFill>
              <a:srgbClr val="3A4A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6200775" y="3048000"/>
            <a:ext cx="0" cy="4086225"/>
          </a:xfrm>
          <a:prstGeom prst="line">
            <a:avLst/>
          </a:prstGeom>
          <a:ln w="28575">
            <a:solidFill>
              <a:srgbClr val="3A4A44"/>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009775" y="3048000"/>
            <a:ext cx="133350" cy="4086225"/>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258425" y="3048000"/>
            <a:ext cx="133350" cy="40862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 name="Connector 9"/>
          <p:cNvCxnSpPr/>
          <p:nvPr/>
        </p:nvCxnSpPr>
        <p:spPr>
          <a:xfrm>
            <a:off x="2009775" y="5613911"/>
            <a:ext cx="2787243" cy="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97018" y="5613911"/>
            <a:ext cx="0" cy="1520314"/>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295525" y="5232911"/>
            <a:ext cx="2215743" cy="323850"/>
          </a:xfrm>
          <a:prstGeom prst="rect">
            <a:avLst/>
          </a:prstGeom>
          <a:noFill/>
        </p:spPr>
        <p:txBody>
          <a:bodyPr wrap="square" lIns="0" rIns="0" tIns="0" bIns="0" anchor="t">
            <a:spAutoFit/>
          </a:bodyPr>
          <a:lstStyle/>
          <a:p>
            <a:pPr algn="ctr"/>
            <a:r>
              <a:rPr sz="1650" b="0" i="0">
                <a:solidFill>
                  <a:srgbClr val="F0E8E8"/>
                </a:solidFill>
                <a:latin typeface="Geist Mono"/>
                <a:ea typeface="Geist Mono"/>
                <a:cs typeface="Geist Mono"/>
              </a:rPr>
              <a:t>x = 5.5 m</a:t>
            </a:r>
          </a:p>
        </p:txBody>
      </p:sp>
      <p:sp>
        <p:nvSpPr>
          <p:cNvPr id="13" name="TextBox 12"/>
          <p:cNvSpPr txBox="1"/>
          <p:nvPr/>
        </p:nvSpPr>
        <p:spPr>
          <a:xfrm>
            <a:off x="4911318" y="6185411"/>
            <a:ext cx="19050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y = 3.0 m</a:t>
            </a:r>
          </a:p>
        </p:txBody>
      </p:sp>
      <p:sp>
        <p:nvSpPr>
          <p:cNvPr id="14" name="Oval 13"/>
          <p:cNvSpPr/>
          <p:nvPr/>
        </p:nvSpPr>
        <p:spPr>
          <a:xfrm>
            <a:off x="2755779" y="6487384"/>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884124" y="6486927"/>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06414" y="6477789"/>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123079" y="646065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234547" y="6436212"/>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341246" y="6405143"/>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443605" y="6368134"/>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542051" y="6325872"/>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637014" y="6279040"/>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728921" y="622832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818200" y="6174411"/>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905282" y="611798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990592" y="6059731"/>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074561" y="600033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157616" y="5940482"/>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40185" y="5880857"/>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344728" y="6230824"/>
            <a:ext cx="647700" cy="590550"/>
          </a:xfrm>
          <a:prstGeom prst="roundRect">
            <a:avLst>
              <a:gd name="adj" fmla="val 12903"/>
            </a:avLst>
          </a:prstGeom>
          <a:noFill/>
          <a:ln w="19050">
            <a:solidFill>
              <a:srgbClr val="9A7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097078" y="6888049"/>
            <a:ext cx="1143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start</a:t>
            </a:r>
          </a:p>
        </p:txBody>
      </p:sp>
      <p:cxnSp>
        <p:nvCxnSpPr>
          <p:cNvPr id="32" name="Connector 31"/>
          <p:cNvCxnSpPr/>
          <p:nvPr/>
        </p:nvCxnSpPr>
        <p:spPr>
          <a:xfrm flipV="1">
            <a:off x="4797018" y="4661411"/>
            <a:ext cx="1649778" cy="952500"/>
          </a:xfrm>
          <a:prstGeom prst="line">
            <a:avLst/>
          </a:prstGeom>
          <a:ln w="5715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33" name="Picture 32" descr="dozer_top.png"/>
          <p:cNvPicPr>
            <a:picLocks noChangeAspect="1"/>
          </p:cNvPicPr>
          <p:nvPr/>
        </p:nvPicPr>
        <p:blipFill>
          <a:blip r:embed="rId3"/>
          <a:stretch>
            <a:fillRect/>
          </a:stretch>
        </p:blipFill>
        <p:spPr>
          <a:xfrm rot="19800000">
            <a:off x="4082643" y="4956686"/>
            <a:ext cx="1428750" cy="1313311"/>
          </a:xfrm>
          <a:prstGeom prst="rect">
            <a:avLst/>
          </a:prstGeom>
        </p:spPr>
      </p:pic>
      <p:cxnSp>
        <p:nvCxnSpPr>
          <p:cNvPr id="34" name="Connector 33"/>
          <p:cNvCxnSpPr/>
          <p:nvPr/>
        </p:nvCxnSpPr>
        <p:spPr>
          <a:xfrm>
            <a:off x="4797018" y="5613911"/>
            <a:ext cx="1809750" cy="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702018" y="5451986"/>
            <a:ext cx="1905000" cy="323850"/>
          </a:xfrm>
          <a:prstGeom prst="rect">
            <a:avLst/>
          </a:prstGeom>
          <a:noFill/>
        </p:spPr>
        <p:txBody>
          <a:bodyPr wrap="square" lIns="0" rIns="0" tIns="0" bIns="0" anchor="t">
            <a:spAutoFit/>
          </a:bodyPr>
          <a:lstStyle/>
          <a:p>
            <a:pPr algn="l"/>
            <a:r>
              <a:rPr sz="1650" b="1" i="0">
                <a:solidFill>
                  <a:srgbClr val="CC2200"/>
                </a:solidFill>
                <a:latin typeface="Geist Mono"/>
                <a:ea typeface="Geist Mono"/>
                <a:cs typeface="Geist Mono"/>
              </a:rPr>
              <a:t>θ = 0.52 rad</a:t>
            </a:r>
          </a:p>
        </p:txBody>
      </p:sp>
      <p:sp>
        <p:nvSpPr>
          <p:cNvPr id="36" name="Oval 35"/>
          <p:cNvSpPr/>
          <p:nvPr/>
        </p:nvSpPr>
        <p:spPr>
          <a:xfrm>
            <a:off x="1933575" y="7058025"/>
            <a:ext cx="152400" cy="1524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724025" y="7267575"/>
            <a:ext cx="19050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(0, 0)</a:t>
            </a:r>
          </a:p>
        </p:txBody>
      </p:sp>
      <p:sp>
        <p:nvSpPr>
          <p:cNvPr id="38" name="TextBox 37"/>
          <p:cNvSpPr txBox="1"/>
          <p:nvPr/>
        </p:nvSpPr>
        <p:spPr>
          <a:xfrm>
            <a:off x="7534275" y="7267575"/>
            <a:ext cx="28575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x →</a:t>
            </a:r>
          </a:p>
        </p:txBody>
      </p:sp>
      <p:sp>
        <p:nvSpPr>
          <p:cNvPr id="39" name="Rounded Rectangle 38"/>
          <p:cNvSpPr/>
          <p:nvPr/>
        </p:nvSpPr>
        <p:spPr>
          <a:xfrm>
            <a:off x="2009775" y="7620000"/>
            <a:ext cx="8382000" cy="1055370"/>
          </a:xfrm>
          <a:prstGeom prst="roundRect">
            <a:avLst>
              <a:gd name="adj" fmla="val 1444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2390775" y="8001000"/>
            <a:ext cx="7848600" cy="29337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new </a:t>
            </a:r>
            <a:r>
              <a:rPr sz="1650" b="0" i="0">
                <a:solidFill>
                  <a:srgbClr val="F0E8E8"/>
                </a:solidFill>
                <a:latin typeface="Geist Mono"/>
                <a:ea typeface="Geist Mono"/>
                <a:cs typeface="Geist Mono"/>
              </a:rPr>
              <a:t>Pose2d(</a:t>
            </a:r>
            <a:r>
              <a:rPr sz="1650" b="0" i="0">
                <a:solidFill>
                  <a:srgbClr val="E8C27A"/>
                </a:solidFill>
                <a:latin typeface="Geist Mono"/>
                <a:ea typeface="Geist Mono"/>
                <a:cs typeface="Geist Mono"/>
              </a:rPr>
              <a:t>5.5</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3.0</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 </a:t>
            </a:r>
            <a:r>
              <a:rPr sz="1650" b="0" i="0">
                <a:solidFill>
                  <a:srgbClr val="F0E8E8"/>
                </a:solidFill>
                <a:latin typeface="Geist Mono"/>
                <a:ea typeface="Geist Mono"/>
                <a:cs typeface="Geist Mono"/>
              </a:rPr>
              <a:t>Rotation2d(</a:t>
            </a:r>
            <a:r>
              <a:rPr sz="1650" b="0" i="0">
                <a:solidFill>
                  <a:srgbClr val="E8C27A"/>
                </a:solidFill>
                <a:latin typeface="Geist Mono"/>
                <a:ea typeface="Geist Mono"/>
                <a:cs typeface="Geist Mono"/>
              </a:rPr>
              <a:t>Math.PI / 6</a:t>
            </a:r>
            <a:r>
              <a:rPr sz="1650" b="0" i="0">
                <a:solidFill>
                  <a:srgbClr val="F0E8E8"/>
                </a:solidFill>
                <a:latin typeface="Geist Mono"/>
                <a:ea typeface="Geist Mono"/>
                <a:cs typeface="Geist Mono"/>
              </a:rPr>
              <a:t>))</a:t>
            </a:r>
          </a:p>
        </p:txBody>
      </p:sp>
      <p:sp>
        <p:nvSpPr>
          <p:cNvPr id="41" name="Rounded Rectangle 40"/>
          <p:cNvSpPr/>
          <p:nvPr/>
        </p:nvSpPr>
        <p:spPr>
          <a:xfrm>
            <a:off x="11906250" y="285750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2249150" y="3028950"/>
            <a:ext cx="4762500" cy="419100"/>
          </a:xfrm>
          <a:prstGeom prst="rect">
            <a:avLst/>
          </a:prstGeom>
          <a:noFill/>
        </p:spPr>
        <p:txBody>
          <a:bodyPr wrap="square" lIns="0" rIns="0" tIns="0" bIns="0" anchor="t">
            <a:spAutoFit/>
          </a:bodyPr>
          <a:lstStyle/>
          <a:p>
            <a:pPr algn="l"/>
            <a:r>
              <a:rPr sz="2400" b="1" i="0">
                <a:solidFill>
                  <a:srgbClr val="CC2200"/>
                </a:solidFill>
                <a:latin typeface="Geist Mono"/>
                <a:ea typeface="Geist Mono"/>
                <a:cs typeface="Geist Mono"/>
              </a:rPr>
              <a:t>x</a:t>
            </a:r>
          </a:p>
        </p:txBody>
      </p:sp>
      <p:sp>
        <p:nvSpPr>
          <p:cNvPr id="43" name="TextBox 42"/>
          <p:cNvSpPr txBox="1"/>
          <p:nvPr/>
        </p:nvSpPr>
        <p:spPr>
          <a:xfrm>
            <a:off x="12249150" y="352425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Meters from the blue alliance wall</a:t>
            </a:r>
          </a:p>
        </p:txBody>
      </p:sp>
      <p:sp>
        <p:nvSpPr>
          <p:cNvPr id="44" name="Rounded Rectangle 43"/>
          <p:cNvSpPr/>
          <p:nvPr/>
        </p:nvSpPr>
        <p:spPr>
          <a:xfrm>
            <a:off x="11906250" y="436245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2249150" y="4533900"/>
            <a:ext cx="4762500" cy="419100"/>
          </a:xfrm>
          <a:prstGeom prst="rect">
            <a:avLst/>
          </a:prstGeom>
          <a:noFill/>
        </p:spPr>
        <p:txBody>
          <a:bodyPr wrap="square" lIns="0" rIns="0" tIns="0" bIns="0" anchor="t">
            <a:spAutoFit/>
          </a:bodyPr>
          <a:lstStyle/>
          <a:p>
            <a:pPr algn="l"/>
            <a:r>
              <a:rPr sz="2400" b="1" i="0">
                <a:solidFill>
                  <a:srgbClr val="CC2200"/>
                </a:solidFill>
                <a:latin typeface="Geist Mono"/>
                <a:ea typeface="Geist Mono"/>
                <a:cs typeface="Geist Mono"/>
              </a:rPr>
              <a:t>y</a:t>
            </a:r>
          </a:p>
        </p:txBody>
      </p:sp>
      <p:sp>
        <p:nvSpPr>
          <p:cNvPr id="46" name="TextBox 45"/>
          <p:cNvSpPr txBox="1"/>
          <p:nvPr/>
        </p:nvSpPr>
        <p:spPr>
          <a:xfrm>
            <a:off x="12249150" y="50292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Meters from the side of the field</a:t>
            </a:r>
          </a:p>
        </p:txBody>
      </p:sp>
      <p:sp>
        <p:nvSpPr>
          <p:cNvPr id="47" name="Rounded Rectangle 46"/>
          <p:cNvSpPr/>
          <p:nvPr/>
        </p:nvSpPr>
        <p:spPr>
          <a:xfrm>
            <a:off x="11906250" y="586740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2249150" y="6038850"/>
            <a:ext cx="4762500" cy="419100"/>
          </a:xfrm>
          <a:prstGeom prst="rect">
            <a:avLst/>
          </a:prstGeom>
          <a:noFill/>
        </p:spPr>
        <p:txBody>
          <a:bodyPr wrap="square" lIns="0" rIns="0" tIns="0" bIns="0" anchor="t">
            <a:spAutoFit/>
          </a:bodyPr>
          <a:lstStyle/>
          <a:p>
            <a:pPr algn="l"/>
            <a:r>
              <a:rPr sz="2400" b="1" i="0">
                <a:solidFill>
                  <a:srgbClr val="CC2200"/>
                </a:solidFill>
                <a:latin typeface="Geist"/>
                <a:ea typeface="Geist"/>
                <a:cs typeface="Geist"/>
              </a:rPr>
              <a:t>Rotation</a:t>
            </a:r>
          </a:p>
        </p:txBody>
      </p:sp>
      <p:sp>
        <p:nvSpPr>
          <p:cNvPr id="49" name="TextBox 48"/>
          <p:cNvSpPr txBox="1"/>
          <p:nvPr/>
        </p:nvSpPr>
        <p:spPr>
          <a:xfrm>
            <a:off x="12249150" y="653415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Which way it faces, counterclockwise</a:t>
            </a:r>
          </a:p>
        </p:txBody>
      </p:sp>
      <p:sp>
        <p:nvSpPr>
          <p:cNvPr id="50" name="Rounded Rectangle 49"/>
          <p:cNvSpPr/>
          <p:nvPr/>
        </p:nvSpPr>
        <p:spPr>
          <a:xfrm>
            <a:off x="11906250" y="7372350"/>
            <a:ext cx="5467350" cy="1314450"/>
          </a:xfrm>
          <a:prstGeom prst="roundRect">
            <a:avLst>
              <a:gd name="adj" fmla="val 1014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2249150" y="7543800"/>
            <a:ext cx="4762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Pose3d</a:t>
            </a:r>
          </a:p>
        </p:txBody>
      </p:sp>
      <p:sp>
        <p:nvSpPr>
          <p:cNvPr id="52" name="TextBox 51"/>
          <p:cNvSpPr txBox="1"/>
          <p:nvPr/>
        </p:nvSpPr>
        <p:spPr>
          <a:xfrm>
            <a:off x="12249150" y="80391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Adds height, tilt and roll</a:t>
            </a:r>
          </a:p>
        </p:txBody>
      </p:sp>
      <p:sp>
        <p:nvSpPr>
          <p:cNvPr id="53" name="TextBox 5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4" name="TextBox 5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Live data or log files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roadcast.png"/>
          <p:cNvPicPr>
            <a:picLocks noChangeAspect="1"/>
          </p:cNvPicPr>
          <p:nvPr/>
        </p:nvPicPr>
        <p:blipFill>
          <a:blip r:embed="rId3"/>
          <a:stretch>
            <a:fillRect/>
          </a:stretch>
        </p:blipFill>
        <p:spPr>
          <a:xfrm>
            <a:off x="1371600" y="3238500"/>
            <a:ext cx="839019" cy="609600"/>
          </a:xfrm>
          <a:prstGeom prst="rect">
            <a:avLst/>
          </a:prstGeom>
        </p:spPr>
      </p:pic>
      <p:sp>
        <p:nvSpPr>
          <p:cNvPr id="7" name="TextBox 6"/>
          <p:cNvSpPr txBox="1"/>
          <p:nvPr/>
        </p:nvSpPr>
        <p:spPr>
          <a:xfrm>
            <a:off x="2533650" y="3181350"/>
            <a:ext cx="5715000" cy="666750"/>
          </a:xfrm>
          <a:prstGeom prst="rect">
            <a:avLst/>
          </a:prstGeom>
          <a:noFill/>
        </p:spPr>
        <p:txBody>
          <a:bodyPr wrap="square" lIns="0" rIns="0" tIns="0" bIns="0" anchor="ctr">
            <a:spAutoFit/>
          </a:bodyPr>
          <a:lstStyle/>
          <a:p>
            <a:pPr algn="l"/>
            <a:r>
              <a:rPr sz="3300" b="1" i="0">
                <a:solidFill>
                  <a:srgbClr val="F0E8E8"/>
                </a:solidFill>
                <a:latin typeface="Geist"/>
                <a:ea typeface="Geist"/>
                <a:cs typeface="Geist"/>
              </a:rPr>
              <a:t>Live</a:t>
            </a:r>
          </a:p>
        </p:txBody>
      </p:sp>
      <p:sp>
        <p:nvSpPr>
          <p:cNvPr id="8" name="TextBox 7"/>
          <p:cNvSpPr txBox="1"/>
          <p:nvPr/>
        </p:nvSpPr>
        <p:spPr>
          <a:xfrm>
            <a:off x="1371600" y="4095750"/>
            <a:ext cx="66675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While the robot or sim runs</a:t>
            </a:r>
          </a:p>
        </p:txBody>
      </p:sp>
      <p:sp>
        <p:nvSpPr>
          <p:cNvPr id="9" name="TextBox 8"/>
          <p:cNvSpPr txBox="1"/>
          <p:nvPr/>
        </p:nvSpPr>
        <p:spPr>
          <a:xfrm>
            <a:off x="1371600" y="476250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Anything published to NetworkTables</a:t>
            </a:r>
          </a:p>
        </p:txBody>
      </p:sp>
      <p:sp>
        <p:nvSpPr>
          <p:cNvPr id="10" name="TextBox 9"/>
          <p:cNvSpPr txBox="1"/>
          <p:nvPr/>
        </p:nvSpPr>
        <p:spPr>
          <a:xfrm>
            <a:off x="1371600" y="531876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File &gt; Connect to Robot</a:t>
            </a:r>
          </a:p>
        </p:txBody>
      </p:sp>
      <p:sp>
        <p:nvSpPr>
          <p:cNvPr id="11" name="TextBox 10"/>
          <p:cNvSpPr txBox="1"/>
          <p:nvPr/>
        </p:nvSpPr>
        <p:spPr>
          <a:xfrm>
            <a:off x="1371600" y="587502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or Connect to Simulator</a:t>
            </a:r>
          </a:p>
        </p:txBody>
      </p:sp>
      <p:sp>
        <p:nvSpPr>
          <p:cNvPr id="12" name="Rounded Rectangle 11"/>
          <p:cNvSpPr/>
          <p:nvPr/>
        </p:nvSpPr>
        <p:spPr>
          <a:xfrm>
            <a:off x="93345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journal-code.png"/>
          <p:cNvPicPr>
            <a:picLocks noChangeAspect="1"/>
          </p:cNvPicPr>
          <p:nvPr/>
        </p:nvPicPr>
        <p:blipFill>
          <a:blip r:embed="rId4"/>
          <a:stretch>
            <a:fillRect/>
          </a:stretch>
        </p:blipFill>
        <p:spPr>
          <a:xfrm>
            <a:off x="9791700" y="3238500"/>
            <a:ext cx="571500" cy="609600"/>
          </a:xfrm>
          <a:prstGeom prst="rect">
            <a:avLst/>
          </a:prstGeom>
        </p:spPr>
      </p:pic>
      <p:sp>
        <p:nvSpPr>
          <p:cNvPr id="14" name="TextBox 13"/>
          <p:cNvSpPr txBox="1"/>
          <p:nvPr/>
        </p:nvSpPr>
        <p:spPr>
          <a:xfrm>
            <a:off x="10953750" y="3181350"/>
            <a:ext cx="5715000" cy="666750"/>
          </a:xfrm>
          <a:prstGeom prst="rect">
            <a:avLst/>
          </a:prstGeom>
          <a:noFill/>
        </p:spPr>
        <p:txBody>
          <a:bodyPr wrap="square" lIns="0" rIns="0" tIns="0" bIns="0" anchor="ctr">
            <a:spAutoFit/>
          </a:bodyPr>
          <a:lstStyle/>
          <a:p>
            <a:pPr algn="l"/>
            <a:r>
              <a:rPr sz="3300" b="1" i="0">
                <a:solidFill>
                  <a:srgbClr val="F0E8E8"/>
                </a:solidFill>
                <a:latin typeface="Geist"/>
                <a:ea typeface="Geist"/>
                <a:cs typeface="Geist"/>
              </a:rPr>
              <a:t>Log files</a:t>
            </a:r>
          </a:p>
        </p:txBody>
      </p:sp>
      <p:sp>
        <p:nvSpPr>
          <p:cNvPr id="15" name="TextBox 14"/>
          <p:cNvSpPr txBox="1"/>
          <p:nvPr/>
        </p:nvSpPr>
        <p:spPr>
          <a:xfrm>
            <a:off x="9791700" y="4095750"/>
            <a:ext cx="66675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After a test or a match</a:t>
            </a:r>
          </a:p>
        </p:txBody>
      </p:sp>
      <p:sp>
        <p:nvSpPr>
          <p:cNvPr id="16" name="TextBox 15"/>
          <p:cNvSpPr txBox="1"/>
          <p:nvPr/>
        </p:nvSpPr>
        <p:spPr>
          <a:xfrm>
            <a:off x="9791700" y="476250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E0785F"/>
                </a:solidFill>
                <a:latin typeface="Geist Mono"/>
                <a:ea typeface="Geist Mono"/>
                <a:cs typeface="Geist Mono"/>
              </a:rPr>
              <a:t>  .wpilog  .hoot  .dslog  </a:t>
            </a:r>
          </a:p>
        </p:txBody>
      </p:sp>
      <p:sp>
        <p:nvSpPr>
          <p:cNvPr id="17" name="TextBox 16"/>
          <p:cNvSpPr txBox="1"/>
          <p:nvPr/>
        </p:nvSpPr>
        <p:spPr>
          <a:xfrm>
            <a:off x="9791700" y="531876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File &gt; Open Log(s)</a:t>
            </a:r>
          </a:p>
        </p:txBody>
      </p:sp>
      <p:sp>
        <p:nvSpPr>
          <p:cNvPr id="18" name="TextBox 17"/>
          <p:cNvSpPr txBox="1"/>
          <p:nvPr/>
        </p:nvSpPr>
        <p:spPr>
          <a:xfrm>
            <a:off x="9791700" y="587502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Replay exactly what happened</a:t>
            </a:r>
          </a:p>
        </p:txBody>
      </p:sp>
      <p:sp>
        <p:nvSpPr>
          <p:cNvPr id="19" name="Rounded Rectangle 18"/>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For the pits, not the match.  </a:t>
            </a:r>
            <a:r>
              <a:rPr sz="2100" b="0" i="0">
                <a:solidFill>
                  <a:srgbClr val="F0E8E8"/>
                </a:solidFill>
                <a:latin typeface="Geist"/>
                <a:ea typeface="Geist"/>
                <a:cs typeface="Geist"/>
              </a:rPr>
              <a:t>Drivers use Elastic. Load the team's layouts with File &gt; Import Layout.</a:t>
            </a:r>
          </a:p>
        </p:txBody>
      </p:sp>
      <p:sp>
        <p:nvSpPr>
          <p:cNvPr id="21" name="TextBox 2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Tuning Mode: changing values live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Most fields are read-only</a:t>
            </a:r>
          </a:p>
        </p:txBody>
      </p:sp>
      <p:sp>
        <p:nvSpPr>
          <p:cNvPr id="6" name="TextBox 5"/>
          <p:cNvSpPr txBox="1"/>
          <p:nvPr/>
        </p:nvSpPr>
        <p:spPr>
          <a:xfrm>
            <a:off x="914400" y="3514725"/>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Tuning Mode</a:t>
            </a:r>
            <a:r>
              <a:rPr sz="2250" b="0" i="0">
                <a:solidFill>
                  <a:srgbClr val="F0E8E8"/>
                </a:solidFill>
                <a:latin typeface="Geist"/>
                <a:ea typeface="Geist"/>
                <a:cs typeface="Geist"/>
              </a:rPr>
              <a:t> (the slider icon) lets you type new values</a:t>
            </a:r>
          </a:p>
        </p:txBody>
      </p:sp>
      <p:sp>
        <p:nvSpPr>
          <p:cNvPr id="7" name="TextBox 6"/>
          <p:cNvSpPr txBox="1"/>
          <p:nvPr/>
        </p:nvSpPr>
        <p:spPr>
          <a:xfrm>
            <a:off x="914400" y="4171950"/>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Only for values under </a:t>
            </a:r>
            <a:r>
              <a:rPr sz="2250" b="0" i="0">
                <a:solidFill>
                  <a:srgbClr val="E0785F"/>
                </a:solidFill>
                <a:latin typeface="Geist Mono"/>
                <a:ea typeface="Geist Mono"/>
                <a:cs typeface="Geist Mono"/>
              </a:rPr>
              <a:t>/Tuning</a:t>
            </a:r>
          </a:p>
        </p:txBody>
      </p:sp>
      <p:sp>
        <p:nvSpPr>
          <p:cNvPr id="8" name="TextBox 7"/>
          <p:cNvSpPr txBox="1"/>
          <p:nvPr/>
        </p:nvSpPr>
        <p:spPr>
          <a:xfrm>
            <a:off x="914400" y="4829175"/>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Tune things like flywheel speed without redeploying</a:t>
            </a:r>
          </a:p>
        </p:txBody>
      </p:sp>
      <p:sp>
        <p:nvSpPr>
          <p:cNvPr id="9" name="Rounded Rectangle 8"/>
          <p:cNvSpPr/>
          <p:nvPr/>
        </p:nvSpPr>
        <p:spPr>
          <a:xfrm>
            <a:off x="11430000" y="2857500"/>
            <a:ext cx="59436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liders.png"/>
          <p:cNvPicPr>
            <a:picLocks noChangeAspect="1"/>
          </p:cNvPicPr>
          <p:nvPr/>
        </p:nvPicPr>
        <p:blipFill>
          <a:blip r:embed="rId3"/>
          <a:stretch>
            <a:fillRect/>
          </a:stretch>
        </p:blipFill>
        <p:spPr>
          <a:xfrm>
            <a:off x="13792200" y="3429000"/>
            <a:ext cx="1300480" cy="1219200"/>
          </a:xfrm>
          <a:prstGeom prst="rect">
            <a:avLst/>
          </a:prstGeom>
        </p:spPr>
      </p:pic>
      <p:sp>
        <p:nvSpPr>
          <p:cNvPr id="11" name="TextBox 10"/>
          <p:cNvSpPr txBox="1"/>
          <p:nvPr/>
        </p:nvSpPr>
        <p:spPr>
          <a:xfrm>
            <a:off x="11811000" y="5143500"/>
            <a:ext cx="5181600" cy="571500"/>
          </a:xfrm>
          <a:prstGeom prst="rect">
            <a:avLst/>
          </a:prstGeom>
          <a:noFill/>
        </p:spPr>
        <p:txBody>
          <a:bodyPr wrap="square" lIns="0" rIns="0" tIns="0" bIns="0" anchor="t">
            <a:spAutoFit/>
          </a:bodyPr>
          <a:lstStyle/>
          <a:p>
            <a:pPr algn="ctr"/>
            <a:r>
              <a:rPr sz="1950" b="0" i="0">
                <a:solidFill>
                  <a:srgbClr val="E0785F"/>
                </a:solidFill>
                <a:latin typeface="Geist Mono"/>
                <a:ea typeface="Geist Mono"/>
                <a:cs typeface="Geist Mono"/>
              </a:rPr>
              <a:t>/Tuning/FlywheelTargetVelocity</a:t>
            </a:r>
          </a:p>
        </p:txBody>
      </p:sp>
      <p:sp>
        <p:nvSpPr>
          <p:cNvPr id="12" name="TextBox 11"/>
          <p:cNvSpPr txBox="1"/>
          <p:nvPr/>
        </p:nvSpPr>
        <p:spPr>
          <a:xfrm>
            <a:off x="11811000" y="5810250"/>
            <a:ext cx="5181600" cy="1333500"/>
          </a:xfrm>
          <a:prstGeom prst="rect">
            <a:avLst/>
          </a:prstGeom>
          <a:noFill/>
        </p:spPr>
        <p:txBody>
          <a:bodyPr wrap="square" lIns="0" rIns="0" tIns="0" bIns="0" anchor="t">
            <a:spAutoFit/>
          </a:bodyPr>
          <a:lstStyle/>
          <a:p>
            <a:pPr algn="ctr">
              <a:lnSpc>
                <a:spcPct val="130000"/>
              </a:lnSpc>
            </a:pPr>
            <a:r>
              <a:rPr sz="1950" b="0" i="0">
                <a:solidFill>
                  <a:srgbClr val="9A7878"/>
                </a:solidFill>
                <a:latin typeface="Geist"/>
                <a:ea typeface="Geist"/>
                <a:cs typeface="Geist"/>
              </a:rPr>
              <a:t>Writable, because it's published under /Tuning</a:t>
            </a:r>
          </a:p>
        </p:txBody>
      </p:sp>
      <p:sp>
        <p:nvSpPr>
          <p:cNvPr id="13" name="TextBox 1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 name="TextBox 1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Elastic</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Dashboards: what drivers see during a match</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40</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Drivers glance, they don't read. Keep it big and simple.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Dashboard or analysis tool?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6667500" cy="666750"/>
          </a:xfrm>
          <a:prstGeom prst="rect">
            <a:avLst/>
          </a:prstGeom>
          <a:noFill/>
        </p:spPr>
        <p:txBody>
          <a:bodyPr wrap="square" lIns="0" rIns="0" tIns="0" bIns="0" anchor="t">
            <a:spAutoFit/>
          </a:bodyPr>
          <a:lstStyle/>
          <a:p>
            <a:pPr algn="l"/>
            <a:r>
              <a:rPr sz="3300" b="1" i="0">
                <a:solidFill>
                  <a:srgbClr val="F0E8E8"/>
                </a:solidFill>
                <a:latin typeface="Geist"/>
                <a:ea typeface="Geist"/>
                <a:cs typeface="Geist"/>
              </a:rPr>
              <a:t>AdvantageScope</a:t>
            </a:r>
          </a:p>
        </p:txBody>
      </p:sp>
      <p:sp>
        <p:nvSpPr>
          <p:cNvPr id="7" name="TextBox 6"/>
          <p:cNvSpPr txBox="1"/>
          <p:nvPr/>
        </p:nvSpPr>
        <p:spPr>
          <a:xfrm>
            <a:off x="13716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For programmers</a:t>
            </a:r>
          </a:p>
        </p:txBody>
      </p:sp>
      <p:sp>
        <p:nvSpPr>
          <p:cNvPr id="8" name="TextBox 7"/>
          <p:cNvSpPr txBox="1"/>
          <p:nvPr/>
        </p:nvSpPr>
        <p:spPr>
          <a:xfrm>
            <a:off x="13716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Graphs, fields, replays</a:t>
            </a:r>
          </a:p>
        </p:txBody>
      </p:sp>
      <p:sp>
        <p:nvSpPr>
          <p:cNvPr id="9" name="TextBox 8"/>
          <p:cNvSpPr txBox="1"/>
          <p:nvPr/>
        </p:nvSpPr>
        <p:spPr>
          <a:xfrm>
            <a:off x="1371600" y="52673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Digging into what happened</a:t>
            </a:r>
          </a:p>
        </p:txBody>
      </p:sp>
      <p:sp>
        <p:nvSpPr>
          <p:cNvPr id="10" name="TextBox 9"/>
          <p:cNvSpPr txBox="1"/>
          <p:nvPr/>
        </p:nvSpPr>
        <p:spPr>
          <a:xfrm>
            <a:off x="1371600" y="58674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Used in the pits and while testing</a:t>
            </a:r>
          </a:p>
        </p:txBody>
      </p:sp>
      <p:sp>
        <p:nvSpPr>
          <p:cNvPr id="11" name="Rounded Rectangle 10"/>
          <p:cNvSpPr/>
          <p:nvPr/>
        </p:nvSpPr>
        <p:spPr>
          <a:xfrm>
            <a:off x="9334500" y="2857500"/>
            <a:ext cx="8039100" cy="5334000"/>
          </a:xfrm>
          <a:prstGeom prst="roundRect">
            <a:avLst>
              <a:gd name="adj" fmla="val 2857"/>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91700" y="3238500"/>
            <a:ext cx="6667500" cy="666750"/>
          </a:xfrm>
          <a:prstGeom prst="rect">
            <a:avLst/>
          </a:prstGeom>
          <a:noFill/>
        </p:spPr>
        <p:txBody>
          <a:bodyPr wrap="square" lIns="0" rIns="0" tIns="0" bIns="0" anchor="t">
            <a:spAutoFit/>
          </a:bodyPr>
          <a:lstStyle/>
          <a:p>
            <a:pPr algn="l"/>
            <a:r>
              <a:rPr sz="3300" b="1" i="0">
                <a:solidFill>
                  <a:srgbClr val="F0E8E8"/>
                </a:solidFill>
                <a:latin typeface="Geist"/>
                <a:ea typeface="Geist"/>
                <a:cs typeface="Geist"/>
              </a:rPr>
              <a:t>Elastic</a:t>
            </a:r>
          </a:p>
        </p:txBody>
      </p:sp>
      <p:sp>
        <p:nvSpPr>
          <p:cNvPr id="13" name="TextBox 12"/>
          <p:cNvSpPr txBox="1"/>
          <p:nvPr/>
        </p:nvSpPr>
        <p:spPr>
          <a:xfrm>
            <a:off x="97917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For drivers</a:t>
            </a:r>
          </a:p>
        </p:txBody>
      </p:sp>
      <p:sp>
        <p:nvSpPr>
          <p:cNvPr id="14" name="TextBox 13"/>
          <p:cNvSpPr txBox="1"/>
          <p:nvPr/>
        </p:nvSpPr>
        <p:spPr>
          <a:xfrm>
            <a:off x="97917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Big, simple widgets</a:t>
            </a:r>
          </a:p>
        </p:txBody>
      </p:sp>
      <p:sp>
        <p:nvSpPr>
          <p:cNvPr id="15" name="TextBox 14"/>
          <p:cNvSpPr txBox="1"/>
          <p:nvPr/>
        </p:nvSpPr>
        <p:spPr>
          <a:xfrm>
            <a:off x="9791700" y="52673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Read in a glance during a match</a:t>
            </a:r>
          </a:p>
        </p:txBody>
      </p:sp>
      <p:sp>
        <p:nvSpPr>
          <p:cNvPr id="16" name="TextBox 15"/>
          <p:cNvSpPr txBox="1"/>
          <p:nvPr/>
        </p:nvSpPr>
        <p:spPr>
          <a:xfrm>
            <a:off x="9791700" y="58674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Set options like the auto routine</a:t>
            </a:r>
          </a:p>
        </p:txBody>
      </p:sp>
      <p:sp>
        <p:nvSpPr>
          <p:cNvPr id="17" name="TextBox 1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8" name="TextBox 1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a match dashboard looks like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11239500" cy="5705699"/>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el_example_layout.jpg"/>
          <p:cNvPicPr>
            <a:picLocks noChangeAspect="1"/>
          </p:cNvPicPr>
          <p:nvPr/>
        </p:nvPicPr>
        <p:blipFill>
          <a:blip r:embed="rId3"/>
          <a:stretch>
            <a:fillRect/>
          </a:stretch>
        </p:blipFill>
        <p:spPr>
          <a:xfrm>
            <a:off x="914400" y="2857500"/>
            <a:ext cx="11239500" cy="5705699"/>
          </a:xfrm>
          <a:prstGeom prst="rect">
            <a:avLst/>
          </a:prstGeom>
        </p:spPr>
      </p:pic>
      <p:sp>
        <p:nvSpPr>
          <p:cNvPr id="7" name="Rectangle 6"/>
          <p:cNvSpPr/>
          <p:nvPr/>
        </p:nvSpPr>
        <p:spPr>
          <a:xfrm>
            <a:off x="914400" y="2857500"/>
            <a:ext cx="11239500" cy="5705699"/>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272540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7254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3335000" y="2819400"/>
            <a:ext cx="40386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Field</a:t>
            </a:r>
          </a:p>
        </p:txBody>
      </p:sp>
      <p:sp>
        <p:nvSpPr>
          <p:cNvPr id="11" name="TextBox 10"/>
          <p:cNvSpPr txBox="1"/>
          <p:nvPr/>
        </p:nvSpPr>
        <p:spPr>
          <a:xfrm>
            <a:off x="13335000" y="3238500"/>
            <a:ext cx="40386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Where the robot thinks it is</a:t>
            </a:r>
          </a:p>
        </p:txBody>
      </p:sp>
      <p:sp>
        <p:nvSpPr>
          <p:cNvPr id="12" name="Oval 11"/>
          <p:cNvSpPr/>
          <p:nvPr/>
        </p:nvSpPr>
        <p:spPr>
          <a:xfrm>
            <a:off x="1272540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72540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TextBox 13"/>
          <p:cNvSpPr txBox="1"/>
          <p:nvPr/>
        </p:nvSpPr>
        <p:spPr>
          <a:xfrm>
            <a:off x="13335000" y="4248150"/>
            <a:ext cx="40386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Match time</a:t>
            </a:r>
          </a:p>
        </p:txBody>
      </p:sp>
      <p:sp>
        <p:nvSpPr>
          <p:cNvPr id="15" name="TextBox 14"/>
          <p:cNvSpPr txBox="1"/>
          <p:nvPr/>
        </p:nvSpPr>
        <p:spPr>
          <a:xfrm>
            <a:off x="13335000" y="4667250"/>
            <a:ext cx="40386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Huge, so drivers see it in a glance</a:t>
            </a:r>
          </a:p>
        </p:txBody>
      </p:sp>
      <p:sp>
        <p:nvSpPr>
          <p:cNvPr id="16" name="Oval 15"/>
          <p:cNvSpPr/>
          <p:nvPr/>
        </p:nvSpPr>
        <p:spPr>
          <a:xfrm>
            <a:off x="1272540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7254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 name="TextBox 17"/>
          <p:cNvSpPr txBox="1"/>
          <p:nvPr/>
        </p:nvSpPr>
        <p:spPr>
          <a:xfrm>
            <a:off x="13335000" y="5676900"/>
            <a:ext cx="40386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Gauges</a:t>
            </a:r>
          </a:p>
        </p:txBody>
      </p:sp>
      <p:sp>
        <p:nvSpPr>
          <p:cNvPr id="19" name="TextBox 18"/>
          <p:cNvSpPr txBox="1"/>
          <p:nvPr/>
        </p:nvSpPr>
        <p:spPr>
          <a:xfrm>
            <a:off x="13335000" y="6096000"/>
            <a:ext cx="40386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Battery voltage, gyro heading</a:t>
            </a:r>
          </a:p>
        </p:txBody>
      </p:sp>
      <p:sp>
        <p:nvSpPr>
          <p:cNvPr id="20" name="Oval 19"/>
          <p:cNvSpPr/>
          <p:nvPr/>
        </p:nvSpPr>
        <p:spPr>
          <a:xfrm>
            <a:off x="1272540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7254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2" name="TextBox 21"/>
          <p:cNvSpPr txBox="1"/>
          <p:nvPr/>
        </p:nvSpPr>
        <p:spPr>
          <a:xfrm>
            <a:off x="13335000" y="7105650"/>
            <a:ext cx="40386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Auto chooser</a:t>
            </a:r>
          </a:p>
        </p:txBody>
      </p:sp>
      <p:sp>
        <p:nvSpPr>
          <p:cNvPr id="23" name="TextBox 22"/>
          <p:cNvSpPr txBox="1"/>
          <p:nvPr/>
        </p:nvSpPr>
        <p:spPr>
          <a:xfrm>
            <a:off x="13335000" y="7524750"/>
            <a:ext cx="40386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Picked before the match starts</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Topics: values with names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49784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Robot</a:t>
            </a:r>
          </a:p>
        </p:txBody>
      </p:sp>
      <p:sp>
        <p:nvSpPr>
          <p:cNvPr id="7" name="TextBox 6"/>
          <p:cNvSpPr txBox="1"/>
          <p:nvPr/>
        </p:nvSpPr>
        <p:spPr>
          <a:xfrm>
            <a:off x="10668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Publishes ClimberSpeed</a:t>
            </a:r>
          </a:p>
        </p:txBody>
      </p:sp>
      <p:cxnSp>
        <p:nvCxnSpPr>
          <p:cNvPr id="8" name="Connector 7"/>
          <p:cNvCxnSpPr/>
          <p:nvPr/>
        </p:nvCxnSpPr>
        <p:spPr>
          <a:xfrm>
            <a:off x="59690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654800" y="3143250"/>
            <a:ext cx="49784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500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1" name="TextBox 10"/>
          <p:cNvSpPr txBox="1"/>
          <p:nvPr/>
        </p:nvSpPr>
        <p:spPr>
          <a:xfrm>
            <a:off x="68072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A shared table of topics</a:t>
            </a:r>
          </a:p>
        </p:txBody>
      </p:sp>
      <p:cxnSp>
        <p:nvCxnSpPr>
          <p:cNvPr id="12" name="Connector 11"/>
          <p:cNvCxnSpPr/>
          <p:nvPr/>
        </p:nvCxnSpPr>
        <p:spPr>
          <a:xfrm>
            <a:off x="117094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2395200" y="3143250"/>
            <a:ext cx="49784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4904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Elastic</a:t>
            </a:r>
          </a:p>
        </p:txBody>
      </p:sp>
      <p:sp>
        <p:nvSpPr>
          <p:cNvPr id="15" name="TextBox 14"/>
          <p:cNvSpPr txBox="1"/>
          <p:nvPr/>
        </p:nvSpPr>
        <p:spPr>
          <a:xfrm>
            <a:off x="125476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Subscribes by name</a:t>
            </a:r>
          </a:p>
        </p:txBody>
      </p:sp>
      <p:sp>
        <p:nvSpPr>
          <p:cNvPr id="16" name="Rounded Rectangle 15"/>
          <p:cNvSpPr/>
          <p:nvPr/>
        </p:nvSpPr>
        <p:spPr>
          <a:xfrm>
            <a:off x="914400" y="5715000"/>
            <a:ext cx="16459200" cy="2857500"/>
          </a:xfrm>
          <a:prstGeom prst="roundRect">
            <a:avLst>
              <a:gd name="adj" fmla="val 533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95400" y="60007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ClimberSpeed</a:t>
            </a:r>
          </a:p>
        </p:txBody>
      </p:sp>
      <p:sp>
        <p:nvSpPr>
          <p:cNvPr id="18" name="TextBox 17"/>
          <p:cNvSpPr txBox="1"/>
          <p:nvPr/>
        </p:nvSpPr>
        <p:spPr>
          <a:xfrm>
            <a:off x="8572500" y="6000750"/>
            <a:ext cx="6667500" cy="5334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0.65</a:t>
            </a:r>
          </a:p>
        </p:txBody>
      </p:sp>
      <p:sp>
        <p:nvSpPr>
          <p:cNvPr id="19" name="TextBox 18"/>
          <p:cNvSpPr txBox="1"/>
          <p:nvPr/>
        </p:nvSpPr>
        <p:spPr>
          <a:xfrm>
            <a:off x="1295400" y="66103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BatteryVoltage</a:t>
            </a:r>
          </a:p>
        </p:txBody>
      </p:sp>
      <p:sp>
        <p:nvSpPr>
          <p:cNvPr id="20" name="TextBox 19"/>
          <p:cNvSpPr txBox="1"/>
          <p:nvPr/>
        </p:nvSpPr>
        <p:spPr>
          <a:xfrm>
            <a:off x="8572500" y="6610350"/>
            <a:ext cx="6667500" cy="5334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12.4</a:t>
            </a:r>
          </a:p>
        </p:txBody>
      </p:sp>
      <p:sp>
        <p:nvSpPr>
          <p:cNvPr id="21" name="TextBox 20"/>
          <p:cNvSpPr txBox="1"/>
          <p:nvPr/>
        </p:nvSpPr>
        <p:spPr>
          <a:xfrm>
            <a:off x="1295400" y="72199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GamePieceLoaded</a:t>
            </a:r>
          </a:p>
        </p:txBody>
      </p:sp>
      <p:sp>
        <p:nvSpPr>
          <p:cNvPr id="22" name="TextBox 21"/>
          <p:cNvSpPr txBox="1"/>
          <p:nvPr/>
        </p:nvSpPr>
        <p:spPr>
          <a:xfrm>
            <a:off x="8572500" y="7219950"/>
            <a:ext cx="6667500" cy="5334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true</a:t>
            </a:r>
          </a:p>
        </p:txBody>
      </p:sp>
      <p:sp>
        <p:nvSpPr>
          <p:cNvPr id="23" name="TextBox 22"/>
          <p:cNvSpPr txBox="1"/>
          <p:nvPr/>
        </p:nvSpPr>
        <p:spPr>
          <a:xfrm>
            <a:off x="1295400" y="78295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AutoRoutine</a:t>
            </a:r>
          </a:p>
        </p:txBody>
      </p:sp>
      <p:sp>
        <p:nvSpPr>
          <p:cNvPr id="24" name="TextBox 23"/>
          <p:cNvSpPr txBox="1"/>
          <p:nvPr/>
        </p:nvSpPr>
        <p:spPr>
          <a:xfrm>
            <a:off x="8572500" y="7829550"/>
            <a:ext cx="6667500" cy="533400"/>
          </a:xfrm>
          <a:prstGeom prst="rect">
            <a:avLst/>
          </a:prstGeom>
          <a:noFill/>
        </p:spPr>
        <p:txBody>
          <a:bodyPr wrap="square" lIns="0" rIns="0" tIns="0" bIns="0" anchor="ctr">
            <a:spAutoFit/>
          </a:bodyPr>
          <a:lstStyle/>
          <a:p>
            <a:pPr algn="l"/>
            <a:r>
              <a:rPr sz="2100" b="0" i="0">
                <a:solidFill>
                  <a:srgbClr val="9FD29A"/>
                </a:solidFill>
                <a:latin typeface="Geist Mono"/>
                <a:ea typeface="Geist Mono"/>
                <a:cs typeface="Geist Mono"/>
              </a:rPr>
              <a:t>"Left, shoot 2"</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Widgets match the data</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242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Boolean Box</a:t>
            </a:r>
          </a:p>
        </p:txBody>
      </p:sp>
      <p:sp>
        <p:nvSpPr>
          <p:cNvPr id="7" name="TextBox 6"/>
          <p:cNvSpPr txBox="1"/>
          <p:nvPr/>
        </p:nvSpPr>
        <p:spPr>
          <a:xfrm>
            <a:off x="1295400" y="36957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Game piece loaded?  ·  </a:t>
            </a:r>
            <a:r>
              <a:rPr sz="1800" b="0" i="0">
                <a:solidFill>
                  <a:srgbClr val="E0785F"/>
                </a:solidFill>
                <a:latin typeface="Geist Mono"/>
                <a:ea typeface="Geist Mono"/>
                <a:cs typeface="Geist Mono"/>
              </a:rPr>
              <a:t>true / false</a:t>
            </a:r>
          </a:p>
        </p:txBody>
      </p:sp>
      <p:sp>
        <p:nvSpPr>
          <p:cNvPr id="8" name="Rounded Rectangle 7"/>
          <p:cNvSpPr/>
          <p:nvPr/>
        </p:nvSpPr>
        <p:spPr>
          <a:xfrm>
            <a:off x="914400" y="466725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493395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Number Bar</a:t>
            </a:r>
          </a:p>
        </p:txBody>
      </p:sp>
      <p:sp>
        <p:nvSpPr>
          <p:cNvPr id="10" name="TextBox 9"/>
          <p:cNvSpPr txBox="1"/>
          <p:nvPr/>
        </p:nvSpPr>
        <p:spPr>
          <a:xfrm>
            <a:off x="1295400" y="55054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Climber speed  ·  </a:t>
            </a:r>
            <a:r>
              <a:rPr sz="1800" b="0" i="0">
                <a:solidFill>
                  <a:srgbClr val="E0785F"/>
                </a:solidFill>
                <a:latin typeface="Geist Mono"/>
                <a:ea typeface="Geist Mono"/>
                <a:cs typeface="Geist Mono"/>
              </a:rPr>
              <a:t>number in a range</a:t>
            </a:r>
          </a:p>
        </p:txBody>
      </p:sp>
      <p:sp>
        <p:nvSpPr>
          <p:cNvPr id="11" name="Rounded Rectangle 10"/>
          <p:cNvSpPr/>
          <p:nvPr/>
        </p:nvSpPr>
        <p:spPr>
          <a:xfrm>
            <a:off x="914400" y="64770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67437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Voltage View</a:t>
            </a:r>
          </a:p>
        </p:txBody>
      </p:sp>
      <p:sp>
        <p:nvSpPr>
          <p:cNvPr id="13" name="TextBox 12"/>
          <p:cNvSpPr txBox="1"/>
          <p:nvPr/>
        </p:nvSpPr>
        <p:spPr>
          <a:xfrm>
            <a:off x="1295400" y="73152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Battery voltage  ·  </a:t>
            </a:r>
            <a:r>
              <a:rPr sz="1800" b="0" i="0">
                <a:solidFill>
                  <a:srgbClr val="E0785F"/>
                </a:solidFill>
                <a:latin typeface="Geist Mono"/>
                <a:ea typeface="Geist Mono"/>
                <a:cs typeface="Geist Mono"/>
              </a:rPr>
              <a:t>number</a:t>
            </a:r>
          </a:p>
        </p:txBody>
      </p:sp>
      <p:sp>
        <p:nvSpPr>
          <p:cNvPr id="14" name="Rounded Rectangle 13"/>
          <p:cNvSpPr/>
          <p:nvPr/>
        </p:nvSpPr>
        <p:spPr>
          <a:xfrm>
            <a:off x="9334500" y="28575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715500" y="31242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Radial Gauge</a:t>
            </a:r>
          </a:p>
        </p:txBody>
      </p:sp>
      <p:sp>
        <p:nvSpPr>
          <p:cNvPr id="16" name="TextBox 15"/>
          <p:cNvSpPr txBox="1"/>
          <p:nvPr/>
        </p:nvSpPr>
        <p:spPr>
          <a:xfrm>
            <a:off x="9715500" y="36957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Gyro heading  ·  </a:t>
            </a:r>
            <a:r>
              <a:rPr sz="1800" b="0" i="0">
                <a:solidFill>
                  <a:srgbClr val="E0785F"/>
                </a:solidFill>
                <a:latin typeface="Geist Mono"/>
                <a:ea typeface="Geist Mono"/>
                <a:cs typeface="Geist Mono"/>
              </a:rPr>
              <a:t>number in radians</a:t>
            </a:r>
          </a:p>
        </p:txBody>
      </p:sp>
      <p:sp>
        <p:nvSpPr>
          <p:cNvPr id="17" name="Rounded Rectangle 16"/>
          <p:cNvSpPr/>
          <p:nvPr/>
        </p:nvSpPr>
        <p:spPr>
          <a:xfrm>
            <a:off x="9334500" y="466725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715500" y="493395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Match Time</a:t>
            </a:r>
          </a:p>
        </p:txBody>
      </p:sp>
      <p:sp>
        <p:nvSpPr>
          <p:cNvPr id="19" name="TextBox 18"/>
          <p:cNvSpPr txBox="1"/>
          <p:nvPr/>
        </p:nvSpPr>
        <p:spPr>
          <a:xfrm>
            <a:off x="9715500" y="55054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Time left  ·  </a:t>
            </a:r>
            <a:r>
              <a:rPr sz="1800" b="0" i="0">
                <a:solidFill>
                  <a:srgbClr val="E0785F"/>
                </a:solidFill>
                <a:latin typeface="Geist Mono"/>
                <a:ea typeface="Geist Mono"/>
                <a:cs typeface="Geist Mono"/>
              </a:rPr>
              <a:t>number of seconds</a:t>
            </a:r>
          </a:p>
        </p:txBody>
      </p:sp>
      <p:sp>
        <p:nvSpPr>
          <p:cNvPr id="20" name="Rounded Rectangle 19"/>
          <p:cNvSpPr/>
          <p:nvPr/>
        </p:nvSpPr>
        <p:spPr>
          <a:xfrm>
            <a:off x="9334500" y="64770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15500" y="67437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Field</a:t>
            </a:r>
          </a:p>
        </p:txBody>
      </p:sp>
      <p:sp>
        <p:nvSpPr>
          <p:cNvPr id="22" name="TextBox 21"/>
          <p:cNvSpPr txBox="1"/>
          <p:nvPr/>
        </p:nvSpPr>
        <p:spPr>
          <a:xfrm>
            <a:off x="9715500" y="73152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Robot pose  ·  </a:t>
            </a:r>
            <a:r>
              <a:rPr sz="1800" b="0" i="0">
                <a:solidFill>
                  <a:srgbClr val="E0785F"/>
                </a:solidFill>
                <a:latin typeface="Geist Mono"/>
                <a:ea typeface="Geist Mono"/>
                <a:cs typeface="Geist Mono"/>
              </a:rPr>
              <a:t>Pose2d</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Adding a widget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8039100" cy="397699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el_dialog_dragging.jpg"/>
          <p:cNvPicPr>
            <a:picLocks noChangeAspect="1"/>
          </p:cNvPicPr>
          <p:nvPr/>
        </p:nvPicPr>
        <p:blipFill>
          <a:blip r:embed="rId3"/>
          <a:stretch>
            <a:fillRect/>
          </a:stretch>
        </p:blipFill>
        <p:spPr>
          <a:xfrm>
            <a:off x="914400" y="2857500"/>
            <a:ext cx="8039100" cy="3976990"/>
          </a:xfrm>
          <a:prstGeom prst="rect">
            <a:avLst/>
          </a:prstGeom>
        </p:spPr>
      </p:pic>
      <p:sp>
        <p:nvSpPr>
          <p:cNvPr id="7" name="Rectangle 6"/>
          <p:cNvSpPr/>
          <p:nvPr/>
        </p:nvSpPr>
        <p:spPr>
          <a:xfrm>
            <a:off x="914400" y="2857500"/>
            <a:ext cx="8039100" cy="397699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440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524000" y="7105650"/>
            <a:ext cx="742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Drag a topic in</a:t>
            </a:r>
          </a:p>
        </p:txBody>
      </p:sp>
      <p:sp>
        <p:nvSpPr>
          <p:cNvPr id="11" name="TextBox 10"/>
          <p:cNvSpPr txBox="1"/>
          <p:nvPr/>
        </p:nvSpPr>
        <p:spPr>
          <a:xfrm>
            <a:off x="1524000" y="7524750"/>
            <a:ext cx="7429500" cy="5715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 Add Widget, then drag a topic onto the grid</a:t>
            </a:r>
          </a:p>
        </p:txBody>
      </p:sp>
      <p:sp>
        <p:nvSpPr>
          <p:cNvPr id="12" name="Rectangle 11"/>
          <p:cNvSpPr/>
          <p:nvPr/>
        </p:nvSpPr>
        <p:spPr>
          <a:xfrm>
            <a:off x="9334500" y="2857500"/>
            <a:ext cx="8039100" cy="397699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shot_el_properties_menu.jpg"/>
          <p:cNvPicPr>
            <a:picLocks noChangeAspect="1"/>
          </p:cNvPicPr>
          <p:nvPr/>
        </p:nvPicPr>
        <p:blipFill>
          <a:blip r:embed="rId4"/>
          <a:stretch>
            <a:fillRect/>
          </a:stretch>
        </p:blipFill>
        <p:spPr>
          <a:xfrm>
            <a:off x="9334500" y="2857500"/>
            <a:ext cx="8039100" cy="3976990"/>
          </a:xfrm>
          <a:prstGeom prst="rect">
            <a:avLst/>
          </a:prstGeom>
        </p:spPr>
      </p:pic>
      <p:sp>
        <p:nvSpPr>
          <p:cNvPr id="14" name="Rectangle 13"/>
          <p:cNvSpPr/>
          <p:nvPr/>
        </p:nvSpPr>
        <p:spPr>
          <a:xfrm>
            <a:off x="9334500" y="2857500"/>
            <a:ext cx="8039100" cy="397699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933450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345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7" name="TextBox 16"/>
          <p:cNvSpPr txBox="1"/>
          <p:nvPr/>
        </p:nvSpPr>
        <p:spPr>
          <a:xfrm>
            <a:off x="9944100" y="7105650"/>
            <a:ext cx="742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Edit its properties</a:t>
            </a:r>
          </a:p>
        </p:txBody>
      </p:sp>
      <p:sp>
        <p:nvSpPr>
          <p:cNvPr id="18" name="TextBox 17"/>
          <p:cNvSpPr txBox="1"/>
          <p:nvPr/>
        </p:nvSpPr>
        <p:spPr>
          <a:xfrm>
            <a:off x="9944100" y="7524750"/>
            <a:ext cx="7429500" cy="5715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Right-click &gt; Edit Properties: type, title, range</a:t>
            </a:r>
          </a:p>
        </p:txBody>
      </p:sp>
      <p:sp>
        <p:nvSpPr>
          <p:cNvPr id="19" name="TextBox 1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0" name="TextBox 1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Showing values, and sending them</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3810000" cy="666750"/>
          </a:xfrm>
          <a:prstGeom prst="rect">
            <a:avLst/>
          </a:prstGeom>
          <a:noFill/>
        </p:spPr>
        <p:txBody>
          <a:bodyPr wrap="square" lIns="0" rIns="0" tIns="0" bIns="0" anchor="t">
            <a:spAutoFit/>
          </a:bodyPr>
          <a:lstStyle/>
          <a:p>
            <a:pPr algn="l"/>
            <a:r>
              <a:rPr sz="3600" b="1" i="0">
                <a:solidFill>
                  <a:srgbClr val="F0E8E8"/>
                </a:solidFill>
                <a:latin typeface="Geist"/>
                <a:ea typeface="Geist"/>
                <a:cs typeface="Geist"/>
              </a:rPr>
              <a:t>Show</a:t>
            </a:r>
          </a:p>
        </p:txBody>
      </p:sp>
      <p:sp>
        <p:nvSpPr>
          <p:cNvPr id="7" name="TextBox 6"/>
          <p:cNvSpPr txBox="1"/>
          <p:nvPr/>
        </p:nvSpPr>
        <p:spPr>
          <a:xfrm>
            <a:off x="13716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Robot → driver</a:t>
            </a:r>
          </a:p>
        </p:txBody>
      </p:sp>
      <p:sp>
        <p:nvSpPr>
          <p:cNvPr id="8" name="TextBox 7"/>
          <p:cNvSpPr txBox="1"/>
          <p:nvPr/>
        </p:nvSpPr>
        <p:spPr>
          <a:xfrm>
            <a:off x="13716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Text Display, Number Bar</a:t>
            </a:r>
          </a:p>
        </p:txBody>
      </p:sp>
      <p:sp>
        <p:nvSpPr>
          <p:cNvPr id="9" name="TextBox 8"/>
          <p:cNvSpPr txBox="1"/>
          <p:nvPr/>
        </p:nvSpPr>
        <p:spPr>
          <a:xfrm>
            <a:off x="1371600" y="52482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Voltage View, Radial Gauge</a:t>
            </a:r>
          </a:p>
        </p:txBody>
      </p:sp>
      <p:sp>
        <p:nvSpPr>
          <p:cNvPr id="10" name="TextBox 9"/>
          <p:cNvSpPr txBox="1"/>
          <p:nvPr/>
        </p:nvSpPr>
        <p:spPr>
          <a:xfrm>
            <a:off x="1371600" y="58293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Graph, Match Time, Boolean Box</a:t>
            </a:r>
          </a:p>
        </p:txBody>
      </p:sp>
      <p:sp>
        <p:nvSpPr>
          <p:cNvPr id="11" name="Rounded Rectangle 10"/>
          <p:cNvSpPr/>
          <p:nvPr/>
        </p:nvSpPr>
        <p:spPr>
          <a:xfrm>
            <a:off x="9334500" y="2857500"/>
            <a:ext cx="8039100" cy="4381500"/>
          </a:xfrm>
          <a:prstGeom prst="roundRect">
            <a:avLst>
              <a:gd name="adj" fmla="val 347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91700" y="3238500"/>
            <a:ext cx="3810000" cy="666750"/>
          </a:xfrm>
          <a:prstGeom prst="rect">
            <a:avLst/>
          </a:prstGeom>
          <a:noFill/>
        </p:spPr>
        <p:txBody>
          <a:bodyPr wrap="square" lIns="0" rIns="0" tIns="0" bIns="0" anchor="t">
            <a:spAutoFit/>
          </a:bodyPr>
          <a:lstStyle/>
          <a:p>
            <a:pPr algn="l"/>
            <a:r>
              <a:rPr sz="3600" b="1" i="0">
                <a:solidFill>
                  <a:srgbClr val="F0E8E8"/>
                </a:solidFill>
                <a:latin typeface="Geist"/>
                <a:ea typeface="Geist"/>
                <a:cs typeface="Geist"/>
              </a:rPr>
              <a:t>Send</a:t>
            </a:r>
          </a:p>
        </p:txBody>
      </p:sp>
      <p:sp>
        <p:nvSpPr>
          <p:cNvPr id="13" name="TextBox 12"/>
          <p:cNvSpPr txBox="1"/>
          <p:nvPr/>
        </p:nvSpPr>
        <p:spPr>
          <a:xfrm>
            <a:off x="97917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Driver → robot</a:t>
            </a:r>
          </a:p>
        </p:txBody>
      </p:sp>
      <p:sp>
        <p:nvSpPr>
          <p:cNvPr id="14" name="TextBox 13"/>
          <p:cNvSpPr txBox="1"/>
          <p:nvPr/>
        </p:nvSpPr>
        <p:spPr>
          <a:xfrm>
            <a:off x="97917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Number Slider, Toggle Button</a:t>
            </a:r>
          </a:p>
        </p:txBody>
      </p:sp>
      <p:sp>
        <p:nvSpPr>
          <p:cNvPr id="15" name="TextBox 14"/>
          <p:cNvSpPr txBox="1"/>
          <p:nvPr/>
        </p:nvSpPr>
        <p:spPr>
          <a:xfrm>
            <a:off x="9791700" y="52482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Choosers: pick the auto routine</a:t>
            </a:r>
          </a:p>
        </p:txBody>
      </p:sp>
      <p:sp>
        <p:nvSpPr>
          <p:cNvPr id="16" name="TextBox 15"/>
          <p:cNvSpPr txBox="1"/>
          <p:nvPr/>
        </p:nvSpPr>
        <p:spPr>
          <a:xfrm>
            <a:off x="9791700" y="58293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Text with a Submit button</a:t>
            </a:r>
          </a:p>
        </p:txBody>
      </p:sp>
      <p:sp>
        <p:nvSpPr>
          <p:cNvPr id="17" name="Rounded Rectangle 16"/>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Tabs and layouts:  </a:t>
            </a:r>
            <a:r>
              <a:rPr sz="2100" b="0" i="0">
                <a:solidFill>
                  <a:srgbClr val="F0E8E8"/>
                </a:solidFill>
                <a:latin typeface="Geist"/>
                <a:ea typeface="Geist"/>
                <a:cs typeface="Geist"/>
              </a:rPr>
              <a:t>a few tabs for competition, the rest for debugging. Use File &gt; Save.</a:t>
            </a:r>
          </a:p>
        </p:txBody>
      </p:sp>
      <p:sp>
        <p:nvSpPr>
          <p:cNvPr id="19" name="TextBox 1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0" name="TextBox 1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PRACTICE IN SCRIPTUM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Lesson checkpoints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dozer_left.png"/>
          <p:cNvPicPr>
            <a:picLocks noChangeAspect="1"/>
          </p:cNvPicPr>
          <p:nvPr/>
        </p:nvPicPr>
        <p:blipFill>
          <a:blip r:embed="rId3"/>
          <a:stretch>
            <a:fillRect/>
          </a:stretch>
        </p:blipFill>
        <p:spPr>
          <a:xfrm>
            <a:off x="15144750" y="952500"/>
            <a:ext cx="2228850" cy="1369948"/>
          </a:xfrm>
          <a:prstGeom prst="rect">
            <a:avLst/>
          </a:prstGeom>
        </p:spPr>
      </p:pic>
      <p:sp>
        <p:nvSpPr>
          <p:cNvPr id="6" name="Rounded Rectangle 5"/>
          <p:cNvSpPr/>
          <p:nvPr/>
        </p:nvSpPr>
        <p:spPr>
          <a:xfrm>
            <a:off x="914400" y="2857500"/>
            <a:ext cx="3943350" cy="5334000"/>
          </a:xfrm>
          <a:prstGeom prst="roundRect">
            <a:avLst>
              <a:gd name="adj" fmla="val 38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1100" y="3143250"/>
            <a:ext cx="340995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5</a:t>
            </a:r>
          </a:p>
        </p:txBody>
      </p:sp>
      <p:sp>
        <p:nvSpPr>
          <p:cNvPr id="8" name="TextBox 7"/>
          <p:cNvSpPr txBox="1"/>
          <p:nvPr/>
        </p:nvSpPr>
        <p:spPr>
          <a:xfrm>
            <a:off x="1181100" y="4000500"/>
            <a:ext cx="340995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9" name="TextBox 8"/>
          <p:cNvSpPr txBox="1"/>
          <p:nvPr/>
        </p:nvSpPr>
        <p:spPr>
          <a:xfrm>
            <a:off x="1181100" y="4381500"/>
            <a:ext cx="3486150" cy="7620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Meet the Editor</a:t>
            </a:r>
          </a:p>
        </p:txBody>
      </p:sp>
      <p:sp>
        <p:nvSpPr>
          <p:cNvPr id="10" name="TextBox 9"/>
          <p:cNvSpPr txBox="1"/>
          <p:nvPr/>
        </p:nvSpPr>
        <p:spPr>
          <a:xfrm>
            <a:off x="1181100" y="5238750"/>
            <a:ext cx="3486150" cy="297180"/>
          </a:xfrm>
          <a:prstGeom prst="rect">
            <a:avLst/>
          </a:prstGeom>
          <a:noFill/>
        </p:spPr>
        <p:txBody>
          <a:bodyPr wrap="square" lIns="0" rIns="0" tIns="0" bIns="0" anchor="t">
            <a:spAutoFit/>
          </a:bodyPr>
          <a:lstStyle/>
          <a:p>
            <a:pPr algn="l">
              <a:lnSpc>
                <a:spcPct val="125000"/>
              </a:lnSpc>
            </a:pPr>
            <a:r>
              <a:rPr sz="1800" b="1" i="0">
                <a:solidFill>
                  <a:srgbClr val="CC2200"/>
                </a:solidFill>
                <a:latin typeface="Geist"/>
                <a:ea typeface="Geist"/>
                <a:cs typeface="Geist"/>
              </a:rPr>
              <a:t>•  </a:t>
            </a:r>
            <a:r>
              <a:rPr sz="1800" b="0" i="0">
                <a:solidFill>
                  <a:srgbClr val="F0E8E8"/>
                </a:solidFill>
                <a:latin typeface="Geist"/>
                <a:ea typeface="Geist"/>
                <a:cs typeface="Geist"/>
              </a:rPr>
              <a:t>Make a folder and a file</a:t>
            </a:r>
          </a:p>
        </p:txBody>
      </p:sp>
      <p:sp>
        <p:nvSpPr>
          <p:cNvPr id="11" name="TextBox 10"/>
          <p:cNvSpPr txBox="1"/>
          <p:nvPr/>
        </p:nvSpPr>
        <p:spPr>
          <a:xfrm>
            <a:off x="1181100" y="5745480"/>
            <a:ext cx="3486150" cy="297180"/>
          </a:xfrm>
          <a:prstGeom prst="rect">
            <a:avLst/>
          </a:prstGeom>
          <a:noFill/>
        </p:spPr>
        <p:txBody>
          <a:bodyPr wrap="square" lIns="0" rIns="0" tIns="0" bIns="0" anchor="t">
            <a:spAutoFit/>
          </a:bodyPr>
          <a:lstStyle/>
          <a:p>
            <a:pPr algn="l">
              <a:lnSpc>
                <a:spcPct val="125000"/>
              </a:lnSpc>
            </a:pPr>
            <a:r>
              <a:rPr sz="1800" b="1" i="0">
                <a:solidFill>
                  <a:srgbClr val="CC2200"/>
                </a:solidFill>
                <a:latin typeface="Geist"/>
                <a:ea typeface="Geist"/>
                <a:cs typeface="Geist"/>
              </a:rPr>
              <a:t>•  </a:t>
            </a:r>
            <a:r>
              <a:rPr sz="1800" b="0" i="0">
                <a:solidFill>
                  <a:srgbClr val="F0E8E8"/>
                </a:solidFill>
                <a:latin typeface="Geist"/>
                <a:ea typeface="Geist"/>
                <a:cs typeface="Geist"/>
              </a:rPr>
              <a:t>Rename and delete files</a:t>
            </a:r>
          </a:p>
        </p:txBody>
      </p:sp>
      <p:sp>
        <p:nvSpPr>
          <p:cNvPr id="12" name="TextBox 11"/>
          <p:cNvSpPr txBox="1"/>
          <p:nvPr/>
        </p:nvSpPr>
        <p:spPr>
          <a:xfrm>
            <a:off x="1181100" y="6252210"/>
            <a:ext cx="3486150" cy="297180"/>
          </a:xfrm>
          <a:prstGeom prst="rect">
            <a:avLst/>
          </a:prstGeom>
          <a:noFill/>
        </p:spPr>
        <p:txBody>
          <a:bodyPr wrap="square" lIns="0" rIns="0" tIns="0" bIns="0" anchor="t">
            <a:spAutoFit/>
          </a:bodyPr>
          <a:lstStyle/>
          <a:p>
            <a:pPr algn="l">
              <a:lnSpc>
                <a:spcPct val="125000"/>
              </a:lnSpc>
            </a:pPr>
            <a:r>
              <a:rPr sz="1800" b="1" i="0">
                <a:solidFill>
                  <a:srgbClr val="CC2200"/>
                </a:solidFill>
                <a:latin typeface="Geist"/>
                <a:ea typeface="Geist"/>
                <a:cs typeface="Geist"/>
              </a:rPr>
              <a:t>•  </a:t>
            </a:r>
            <a:r>
              <a:rPr sz="1800" b="0" i="0">
                <a:solidFill>
                  <a:srgbClr val="F0E8E8"/>
                </a:solidFill>
                <a:latin typeface="Geist"/>
                <a:ea typeface="Geist"/>
                <a:cs typeface="Geist"/>
              </a:rPr>
              <a:t>Run src/Main.java</a:t>
            </a:r>
          </a:p>
        </p:txBody>
      </p:sp>
      <p:sp>
        <p:nvSpPr>
          <p:cNvPr id="13" name="Rounded Rectangle 12"/>
          <p:cNvSpPr/>
          <p:nvPr/>
        </p:nvSpPr>
        <p:spPr>
          <a:xfrm>
            <a:off x="5086350" y="2857500"/>
            <a:ext cx="3943350" cy="5334000"/>
          </a:xfrm>
          <a:prstGeom prst="roundRect">
            <a:avLst>
              <a:gd name="adj" fmla="val 38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353050" y="3143250"/>
            <a:ext cx="340995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8</a:t>
            </a:r>
          </a:p>
        </p:txBody>
      </p:sp>
      <p:sp>
        <p:nvSpPr>
          <p:cNvPr id="15" name="TextBox 14"/>
          <p:cNvSpPr txBox="1"/>
          <p:nvPr/>
        </p:nvSpPr>
        <p:spPr>
          <a:xfrm>
            <a:off x="5353050" y="4000500"/>
            <a:ext cx="340995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16" name="TextBox 15"/>
          <p:cNvSpPr txBox="1"/>
          <p:nvPr/>
        </p:nvSpPr>
        <p:spPr>
          <a:xfrm>
            <a:off x="5353050" y="4381500"/>
            <a:ext cx="3486150" cy="7620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Git Basics</a:t>
            </a:r>
          </a:p>
        </p:txBody>
      </p:sp>
      <p:sp>
        <p:nvSpPr>
          <p:cNvPr id="17" name="TextBox 16"/>
          <p:cNvSpPr txBox="1"/>
          <p:nvPr/>
        </p:nvSpPr>
        <p:spPr>
          <a:xfrm>
            <a:off x="5353050" y="5238750"/>
            <a:ext cx="3486150" cy="297180"/>
          </a:xfrm>
          <a:prstGeom prst="rect">
            <a:avLst/>
          </a:prstGeom>
          <a:noFill/>
        </p:spPr>
        <p:txBody>
          <a:bodyPr wrap="square" lIns="0" rIns="0" tIns="0" bIns="0" anchor="t">
            <a:spAutoFit/>
          </a:bodyPr>
          <a:lstStyle/>
          <a:p>
            <a:pPr algn="l">
              <a:lnSpc>
                <a:spcPct val="125000"/>
              </a:lnSpc>
            </a:pPr>
            <a:r>
              <a:rPr sz="1800" b="1" i="0">
                <a:solidFill>
                  <a:srgbClr val="CC2200"/>
                </a:solidFill>
                <a:latin typeface="Geist"/>
                <a:ea typeface="Geist"/>
                <a:cs typeface="Geist"/>
              </a:rPr>
              <a:t>•  </a:t>
            </a:r>
            <a:r>
              <a:rPr sz="1800" b="0" i="0">
                <a:solidFill>
                  <a:srgbClr val="F0E8E8"/>
                </a:solidFill>
                <a:latin typeface="Geist"/>
                <a:ea typeface="Geist"/>
                <a:cs typeface="Geist"/>
              </a:rPr>
              <a:t>First commit, feature branch</a:t>
            </a:r>
          </a:p>
        </p:txBody>
      </p:sp>
      <p:sp>
        <p:nvSpPr>
          <p:cNvPr id="18" name="TextBox 17"/>
          <p:cNvSpPr txBox="1"/>
          <p:nvPr/>
        </p:nvSpPr>
        <p:spPr>
          <a:xfrm>
            <a:off x="5353050" y="5745480"/>
            <a:ext cx="3486150" cy="297180"/>
          </a:xfrm>
          <a:prstGeom prst="rect">
            <a:avLst/>
          </a:prstGeom>
          <a:noFill/>
        </p:spPr>
        <p:txBody>
          <a:bodyPr wrap="square" lIns="0" rIns="0" tIns="0" bIns="0" anchor="t">
            <a:spAutoFit/>
          </a:bodyPr>
          <a:lstStyle/>
          <a:p>
            <a:pPr algn="l">
              <a:lnSpc>
                <a:spcPct val="125000"/>
              </a:lnSpc>
            </a:pPr>
            <a:r>
              <a:rPr sz="1800" b="1" i="0">
                <a:solidFill>
                  <a:srgbClr val="CC2200"/>
                </a:solidFill>
                <a:latin typeface="Geist"/>
                <a:ea typeface="Geist"/>
                <a:cs typeface="Geist"/>
              </a:rPr>
              <a:t>•  </a:t>
            </a:r>
            <a:r>
              <a:rPr sz="1800" b="0" i="0">
                <a:solidFill>
                  <a:srgbClr val="F0E8E8"/>
                </a:solidFill>
                <a:latin typeface="Geist"/>
                <a:ea typeface="Geist"/>
                <a:cs typeface="Geist"/>
              </a:rPr>
              <a:t>Merge and a merge conflict</a:t>
            </a:r>
          </a:p>
        </p:txBody>
      </p:sp>
      <p:sp>
        <p:nvSpPr>
          <p:cNvPr id="19" name="TextBox 18"/>
          <p:cNvSpPr txBox="1"/>
          <p:nvPr/>
        </p:nvSpPr>
        <p:spPr>
          <a:xfrm>
            <a:off x="5353050" y="6252210"/>
            <a:ext cx="3486150" cy="297180"/>
          </a:xfrm>
          <a:prstGeom prst="rect">
            <a:avLst/>
          </a:prstGeom>
          <a:noFill/>
        </p:spPr>
        <p:txBody>
          <a:bodyPr wrap="square" lIns="0" rIns="0" tIns="0" bIns="0" anchor="t">
            <a:spAutoFit/>
          </a:bodyPr>
          <a:lstStyle/>
          <a:p>
            <a:pPr algn="l">
              <a:lnSpc>
                <a:spcPct val="125000"/>
              </a:lnSpc>
            </a:pPr>
            <a:r>
              <a:rPr sz="1800" b="1" i="0">
                <a:solidFill>
                  <a:srgbClr val="CC2200"/>
                </a:solidFill>
                <a:latin typeface="Geist"/>
                <a:ea typeface="Geist"/>
                <a:cs typeface="Geist"/>
              </a:rPr>
              <a:t>•  </a:t>
            </a:r>
            <a:r>
              <a:rPr sz="1800" b="0" i="0">
                <a:solidFill>
                  <a:srgbClr val="F0E8E8"/>
                </a:solidFill>
                <a:latin typeface="Geist"/>
                <a:ea typeface="Geist"/>
                <a:cs typeface="Geist"/>
              </a:rPr>
              <a:t>Rebase, push, pull, stash</a:t>
            </a:r>
          </a:p>
        </p:txBody>
      </p:sp>
      <p:sp>
        <p:nvSpPr>
          <p:cNvPr id="20" name="Rounded Rectangle 19"/>
          <p:cNvSpPr/>
          <p:nvPr/>
        </p:nvSpPr>
        <p:spPr>
          <a:xfrm>
            <a:off x="9258300" y="2857500"/>
            <a:ext cx="3943350" cy="5334000"/>
          </a:xfrm>
          <a:prstGeom prst="roundRect">
            <a:avLst>
              <a:gd name="adj" fmla="val 38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525000" y="3143250"/>
            <a:ext cx="340995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8</a:t>
            </a:r>
          </a:p>
        </p:txBody>
      </p:sp>
      <p:sp>
        <p:nvSpPr>
          <p:cNvPr id="22" name="TextBox 21"/>
          <p:cNvSpPr txBox="1"/>
          <p:nvPr/>
        </p:nvSpPr>
        <p:spPr>
          <a:xfrm>
            <a:off x="9525000" y="4000500"/>
            <a:ext cx="340995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23" name="TextBox 22"/>
          <p:cNvSpPr txBox="1"/>
          <p:nvPr/>
        </p:nvSpPr>
        <p:spPr>
          <a:xfrm>
            <a:off x="9525000" y="4381500"/>
            <a:ext cx="3486150" cy="7620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AdvantageScope</a:t>
            </a:r>
          </a:p>
        </p:txBody>
      </p:sp>
      <p:sp>
        <p:nvSpPr>
          <p:cNvPr id="24" name="TextBox 23"/>
          <p:cNvSpPr txBox="1"/>
          <p:nvPr/>
        </p:nvSpPr>
        <p:spPr>
          <a:xfrm>
            <a:off x="9525000" y="5238750"/>
            <a:ext cx="3486150" cy="594360"/>
          </a:xfrm>
          <a:prstGeom prst="rect">
            <a:avLst/>
          </a:prstGeom>
          <a:noFill/>
        </p:spPr>
        <p:txBody>
          <a:bodyPr wrap="square" lIns="0" rIns="0" tIns="0" bIns="0" anchor="t">
            <a:spAutoFit/>
          </a:bodyPr>
          <a:lstStyle/>
          <a:p>
            <a:pPr algn="l">
              <a:lnSpc>
                <a:spcPct val="125000"/>
              </a:lnSpc>
            </a:pPr>
            <a:r>
              <a:rPr sz="1800" b="1" i="0">
                <a:solidFill>
                  <a:srgbClr val="CC2200"/>
                </a:solidFill>
                <a:latin typeface="Geist"/>
                <a:ea typeface="Geist"/>
                <a:cs typeface="Geist"/>
              </a:rPr>
              <a:t>•  </a:t>
            </a:r>
            <a:r>
              <a:rPr sz="1800" b="0" i="0">
                <a:solidFill>
                  <a:srgbClr val="F0E8E8"/>
                </a:solidFill>
                <a:latin typeface="Geist"/>
                <a:ea typeface="Geist"/>
                <a:cs typeface="Geist"/>
              </a:rPr>
              <a:t>Line graph, locked axis, differentiate</a:t>
            </a:r>
          </a:p>
        </p:txBody>
      </p:sp>
      <p:sp>
        <p:nvSpPr>
          <p:cNvPr id="25" name="TextBox 24"/>
          <p:cNvSpPr txBox="1"/>
          <p:nvPr/>
        </p:nvSpPr>
        <p:spPr>
          <a:xfrm>
            <a:off x="9525000" y="6042660"/>
            <a:ext cx="3486150" cy="594360"/>
          </a:xfrm>
          <a:prstGeom prst="rect">
            <a:avLst/>
          </a:prstGeom>
          <a:noFill/>
        </p:spPr>
        <p:txBody>
          <a:bodyPr wrap="square" lIns="0" rIns="0" tIns="0" bIns="0" anchor="t">
            <a:spAutoFit/>
          </a:bodyPr>
          <a:lstStyle/>
          <a:p>
            <a:pPr algn="l">
              <a:lnSpc>
                <a:spcPct val="125000"/>
              </a:lnSpc>
            </a:pPr>
            <a:r>
              <a:rPr sz="1800" b="1" i="0">
                <a:solidFill>
                  <a:srgbClr val="CC2200"/>
                </a:solidFill>
                <a:latin typeface="Geist"/>
                <a:ea typeface="Geist"/>
                <a:cs typeface="Geist"/>
              </a:rPr>
              <a:t>•  </a:t>
            </a:r>
            <a:r>
              <a:rPr sz="1800" b="0" i="0">
                <a:solidFill>
                  <a:srgbClr val="F0E8E8"/>
                </a:solidFill>
                <a:latin typeface="Geist"/>
                <a:ea typeface="Geist"/>
                <a:cs typeface="Geist"/>
              </a:rPr>
              <a:t>Discrete field, 2D and 3D field</a:t>
            </a:r>
          </a:p>
        </p:txBody>
      </p:sp>
      <p:sp>
        <p:nvSpPr>
          <p:cNvPr id="26" name="TextBox 25"/>
          <p:cNvSpPr txBox="1"/>
          <p:nvPr/>
        </p:nvSpPr>
        <p:spPr>
          <a:xfrm>
            <a:off x="9525000" y="6846570"/>
            <a:ext cx="3486150" cy="297180"/>
          </a:xfrm>
          <a:prstGeom prst="rect">
            <a:avLst/>
          </a:prstGeom>
          <a:noFill/>
        </p:spPr>
        <p:txBody>
          <a:bodyPr wrap="square" lIns="0" rIns="0" tIns="0" bIns="0" anchor="t">
            <a:spAutoFit/>
          </a:bodyPr>
          <a:lstStyle/>
          <a:p>
            <a:pPr algn="l">
              <a:lnSpc>
                <a:spcPct val="125000"/>
              </a:lnSpc>
            </a:pPr>
            <a:r>
              <a:rPr sz="1800" b="1" i="0">
                <a:solidFill>
                  <a:srgbClr val="CC2200"/>
                </a:solidFill>
                <a:latin typeface="Geist"/>
                <a:ea typeface="Geist"/>
                <a:cs typeface="Geist"/>
              </a:rPr>
              <a:t>•  </a:t>
            </a:r>
            <a:r>
              <a:rPr sz="1800" b="0" i="0">
                <a:solidFill>
                  <a:srgbClr val="F0E8E8"/>
                </a:solidFill>
                <a:latin typeface="Geist"/>
                <a:ea typeface="Geist"/>
                <a:cs typeface="Geist"/>
              </a:rPr>
              <a:t>Swerve tab, tuned value</a:t>
            </a:r>
          </a:p>
        </p:txBody>
      </p:sp>
      <p:sp>
        <p:nvSpPr>
          <p:cNvPr id="27" name="Rounded Rectangle 26"/>
          <p:cNvSpPr/>
          <p:nvPr/>
        </p:nvSpPr>
        <p:spPr>
          <a:xfrm>
            <a:off x="13430250" y="2857500"/>
            <a:ext cx="3943350" cy="5334000"/>
          </a:xfrm>
          <a:prstGeom prst="roundRect">
            <a:avLst>
              <a:gd name="adj" fmla="val 38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696950" y="3143250"/>
            <a:ext cx="340995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19</a:t>
            </a:r>
          </a:p>
        </p:txBody>
      </p:sp>
      <p:sp>
        <p:nvSpPr>
          <p:cNvPr id="29" name="TextBox 28"/>
          <p:cNvSpPr txBox="1"/>
          <p:nvPr/>
        </p:nvSpPr>
        <p:spPr>
          <a:xfrm>
            <a:off x="13696950" y="4000500"/>
            <a:ext cx="340995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30" name="TextBox 29"/>
          <p:cNvSpPr txBox="1"/>
          <p:nvPr/>
        </p:nvSpPr>
        <p:spPr>
          <a:xfrm>
            <a:off x="13696950" y="4381500"/>
            <a:ext cx="3486150" cy="7620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Elastic</a:t>
            </a:r>
          </a:p>
        </p:txBody>
      </p:sp>
      <p:sp>
        <p:nvSpPr>
          <p:cNvPr id="31" name="TextBox 30"/>
          <p:cNvSpPr txBox="1"/>
          <p:nvPr/>
        </p:nvSpPr>
        <p:spPr>
          <a:xfrm>
            <a:off x="13696950" y="5238750"/>
            <a:ext cx="3486150" cy="297180"/>
          </a:xfrm>
          <a:prstGeom prst="rect">
            <a:avLst/>
          </a:prstGeom>
          <a:noFill/>
        </p:spPr>
        <p:txBody>
          <a:bodyPr wrap="square" lIns="0" rIns="0" tIns="0" bIns="0" anchor="t">
            <a:spAutoFit/>
          </a:bodyPr>
          <a:lstStyle/>
          <a:p>
            <a:pPr algn="l">
              <a:lnSpc>
                <a:spcPct val="125000"/>
              </a:lnSpc>
            </a:pPr>
            <a:r>
              <a:rPr sz="1800" b="1" i="0">
                <a:solidFill>
                  <a:srgbClr val="CC2200"/>
                </a:solidFill>
                <a:latin typeface="Geist"/>
                <a:ea typeface="Geist"/>
                <a:cs typeface="Geist"/>
              </a:rPr>
              <a:t>•  </a:t>
            </a:r>
            <a:r>
              <a:rPr sz="1800" b="0" i="0">
                <a:solidFill>
                  <a:srgbClr val="F0E8E8"/>
                </a:solidFill>
                <a:latin typeface="Geist"/>
                <a:ea typeface="Geist"/>
                <a:cs typeface="Geist"/>
              </a:rPr>
              <a:t>Ten display widgets</a:t>
            </a:r>
          </a:p>
        </p:txBody>
      </p:sp>
      <p:sp>
        <p:nvSpPr>
          <p:cNvPr id="32" name="TextBox 31"/>
          <p:cNvSpPr txBox="1"/>
          <p:nvPr/>
        </p:nvSpPr>
        <p:spPr>
          <a:xfrm>
            <a:off x="13696950" y="5745480"/>
            <a:ext cx="3486150" cy="297180"/>
          </a:xfrm>
          <a:prstGeom prst="rect">
            <a:avLst/>
          </a:prstGeom>
          <a:noFill/>
        </p:spPr>
        <p:txBody>
          <a:bodyPr wrap="square" lIns="0" rIns="0" tIns="0" bIns="0" anchor="t">
            <a:spAutoFit/>
          </a:bodyPr>
          <a:lstStyle/>
          <a:p>
            <a:pPr algn="l">
              <a:lnSpc>
                <a:spcPct val="125000"/>
              </a:lnSpc>
            </a:pPr>
            <a:r>
              <a:rPr sz="1800" b="1" i="0">
                <a:solidFill>
                  <a:srgbClr val="CC2200"/>
                </a:solidFill>
                <a:latin typeface="Geist"/>
                <a:ea typeface="Geist"/>
                <a:cs typeface="Geist"/>
              </a:rPr>
              <a:t>•  </a:t>
            </a:r>
            <a:r>
              <a:rPr sz="1800" b="0" i="0">
                <a:solidFill>
                  <a:srgbClr val="F0E8E8"/>
                </a:solidFill>
                <a:latin typeface="Geist"/>
                <a:ea typeface="Geist"/>
                <a:cs typeface="Geist"/>
              </a:rPr>
              <a:t>Sliders, choosers and toggles</a:t>
            </a:r>
          </a:p>
        </p:txBody>
      </p:sp>
      <p:sp>
        <p:nvSpPr>
          <p:cNvPr id="33" name="TextBox 32"/>
          <p:cNvSpPr txBox="1"/>
          <p:nvPr/>
        </p:nvSpPr>
        <p:spPr>
          <a:xfrm>
            <a:off x="13696950" y="6252210"/>
            <a:ext cx="3486150" cy="297180"/>
          </a:xfrm>
          <a:prstGeom prst="rect">
            <a:avLst/>
          </a:prstGeom>
          <a:noFill/>
        </p:spPr>
        <p:txBody>
          <a:bodyPr wrap="square" lIns="0" rIns="0" tIns="0" bIns="0" anchor="t">
            <a:spAutoFit/>
          </a:bodyPr>
          <a:lstStyle/>
          <a:p>
            <a:pPr algn="l">
              <a:lnSpc>
                <a:spcPct val="125000"/>
              </a:lnSpc>
            </a:pPr>
            <a:r>
              <a:rPr sz="1800" b="1" i="0">
                <a:solidFill>
                  <a:srgbClr val="CC2200"/>
                </a:solidFill>
                <a:latin typeface="Geist"/>
                <a:ea typeface="Geist"/>
                <a:cs typeface="Geist"/>
              </a:rPr>
              <a:t>•  </a:t>
            </a:r>
            <a:r>
              <a:rPr sz="1800" b="0" i="0">
                <a:solidFill>
                  <a:srgbClr val="F0E8E8"/>
                </a:solidFill>
                <a:latin typeface="Geist"/>
                <a:ea typeface="Geist"/>
                <a:cs typeface="Geist"/>
              </a:rPr>
              <a:t>Live writes to the robot</a:t>
            </a:r>
          </a:p>
        </p:txBody>
      </p:sp>
      <p:sp>
        <p:nvSpPr>
          <p:cNvPr id="34" name="TextBox 33"/>
          <p:cNvSpPr txBox="1"/>
          <p:nvPr/>
        </p:nvSpPr>
        <p:spPr>
          <a:xfrm>
            <a:off x="914400" y="8572500"/>
            <a:ext cx="164592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In Scriptum: </a:t>
            </a:r>
            <a:r>
              <a:rPr sz="1950" b="1" i="0">
                <a:solidFill>
                  <a:srgbClr val="F0E8E8"/>
                </a:solidFill>
                <a:latin typeface="Geist"/>
                <a:ea typeface="Geist"/>
                <a:cs typeface="Geist"/>
              </a:rPr>
              <a:t>Tools track</a:t>
            </a:r>
            <a:r>
              <a:rPr sz="1950" b="0" i="0">
                <a:solidFill>
                  <a:srgbClr val="9A7878"/>
                </a:solidFill>
                <a:latin typeface="Geist"/>
                <a:ea typeface="Geist"/>
                <a:cs typeface="Geist"/>
              </a:rPr>
              <a:t>  ·  open the lesson chip and press Verify</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Find your way around the editor and run a program</a:t>
            </a:r>
          </a:p>
        </p:txBody>
      </p:sp>
      <p:pic>
        <p:nvPicPr>
          <p:cNvPr id="7" name="Picture 6" descr="check-circle-fill.png"/>
          <p:cNvPicPr>
            <a:picLocks noChangeAspect="1"/>
          </p:cNvPicPr>
          <p:nvPr/>
        </p:nvPicPr>
        <p:blipFill>
          <a:blip r:embed="rId3"/>
          <a:stretch>
            <a:fillRect/>
          </a:stretch>
        </p:blipFill>
        <p:spPr>
          <a:xfrm>
            <a:off x="914400" y="3695700"/>
            <a:ext cx="381000" cy="381000"/>
          </a:xfrm>
          <a:prstGeom prst="rect">
            <a:avLst/>
          </a:prstGeom>
        </p:spPr>
      </p:pic>
      <p:sp>
        <p:nvSpPr>
          <p:cNvPr id="8" name="TextBox 7"/>
          <p:cNvSpPr txBox="1"/>
          <p:nvPr/>
        </p:nvSpPr>
        <p:spPr>
          <a:xfrm>
            <a:off x="1524000" y="36576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Commit, branch, merge and resolve a conflict</a:t>
            </a:r>
          </a:p>
        </p:txBody>
      </p:sp>
      <p:pic>
        <p:nvPicPr>
          <p:cNvPr id="9" name="Picture 8" descr="check-circle-fill.png"/>
          <p:cNvPicPr>
            <a:picLocks noChangeAspect="1"/>
          </p:cNvPicPr>
          <p:nvPr/>
        </p:nvPicPr>
        <p:blipFill>
          <a:blip r:embed="rId3"/>
          <a:stretch>
            <a:fillRect/>
          </a:stretch>
        </p:blipFill>
        <p:spPr>
          <a:xfrm>
            <a:off x="914400" y="4495800"/>
            <a:ext cx="381000" cy="381000"/>
          </a:xfrm>
          <a:prstGeom prst="rect">
            <a:avLst/>
          </a:prstGeom>
        </p:spPr>
      </p:pic>
      <p:sp>
        <p:nvSpPr>
          <p:cNvPr id="10" name="TextBox 9"/>
          <p:cNvSpPr txBox="1"/>
          <p:nvPr/>
        </p:nvSpPr>
        <p:spPr>
          <a:xfrm>
            <a:off x="1524000" y="44577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Push and pull with the team's GitHub</a:t>
            </a:r>
          </a:p>
        </p:txBody>
      </p:sp>
      <p:pic>
        <p:nvPicPr>
          <p:cNvPr id="11" name="Picture 10" descr="check-circle-fill.png"/>
          <p:cNvPicPr>
            <a:picLocks noChangeAspect="1"/>
          </p:cNvPicPr>
          <p:nvPr/>
        </p:nvPicPr>
        <p:blipFill>
          <a:blip r:embed="rId3"/>
          <a:stretch>
            <a:fillRect/>
          </a:stretch>
        </p:blipFill>
        <p:spPr>
          <a:xfrm>
            <a:off x="914400" y="5295900"/>
            <a:ext cx="381000" cy="381000"/>
          </a:xfrm>
          <a:prstGeom prst="rect">
            <a:avLst/>
          </a:prstGeom>
        </p:spPr>
      </p:pic>
      <p:sp>
        <p:nvSpPr>
          <p:cNvPr id="12" name="TextBox 11"/>
          <p:cNvSpPr txBox="1"/>
          <p:nvPr/>
        </p:nvSpPr>
        <p:spPr>
          <a:xfrm>
            <a:off x="1524000" y="52578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Read robot telemetry in AdvantageScope</a:t>
            </a:r>
          </a:p>
        </p:txBody>
      </p:sp>
      <p:pic>
        <p:nvPicPr>
          <p:cNvPr id="13" name="Picture 12" descr="check-circle-fill.png"/>
          <p:cNvPicPr>
            <a:picLocks noChangeAspect="1"/>
          </p:cNvPicPr>
          <p:nvPr/>
        </p:nvPicPr>
        <p:blipFill>
          <a:blip r:embed="rId3"/>
          <a:stretch>
            <a:fillRect/>
          </a:stretch>
        </p:blipFill>
        <p:spPr>
          <a:xfrm>
            <a:off x="914400" y="6096000"/>
            <a:ext cx="381000" cy="381000"/>
          </a:xfrm>
          <a:prstGeom prst="rect">
            <a:avLst/>
          </a:prstGeom>
        </p:spPr>
      </p:pic>
      <p:sp>
        <p:nvSpPr>
          <p:cNvPr id="14" name="TextBox 13"/>
          <p:cNvSpPr txBox="1"/>
          <p:nvPr/>
        </p:nvSpPr>
        <p:spPr>
          <a:xfrm>
            <a:off x="1524000" y="60579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Build a driver dashboard in Elastic</a:t>
            </a:r>
          </a:p>
        </p:txBody>
      </p:sp>
      <p:sp>
        <p:nvSpPr>
          <p:cNvPr id="15" name="Rounded Rectangle 14"/>
          <p:cNvSpPr/>
          <p:nvPr/>
        </p:nvSpPr>
        <p:spPr>
          <a:xfrm>
            <a:off x="12039600" y="2857500"/>
            <a:ext cx="5334000" cy="55245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496800" y="3276600"/>
            <a:ext cx="438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pic>
        <p:nvPicPr>
          <p:cNvPr id="17" name="Picture 16" descr="code-slash.png"/>
          <p:cNvPicPr>
            <a:picLocks noChangeAspect="1"/>
          </p:cNvPicPr>
          <p:nvPr/>
        </p:nvPicPr>
        <p:blipFill>
          <a:blip r:embed="rId4"/>
          <a:stretch>
            <a:fillRect/>
          </a:stretch>
        </p:blipFill>
        <p:spPr>
          <a:xfrm>
            <a:off x="12496800" y="3810000"/>
            <a:ext cx="571500" cy="533400"/>
          </a:xfrm>
          <a:prstGeom prst="rect">
            <a:avLst/>
          </a:prstGeom>
        </p:spPr>
      </p:pic>
      <p:sp>
        <p:nvSpPr>
          <p:cNvPr id="18" name="TextBox 17"/>
          <p:cNvSpPr txBox="1"/>
          <p:nvPr/>
        </p:nvSpPr>
        <p:spPr>
          <a:xfrm>
            <a:off x="12496800" y="4572000"/>
            <a:ext cx="4476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Motors and Drivetrains</a:t>
            </a:r>
          </a:p>
        </p:txBody>
      </p:sp>
      <p:sp>
        <p:nvSpPr>
          <p:cNvPr id="19" name="TextBox 18"/>
          <p:cNvSpPr txBox="1"/>
          <p:nvPr/>
        </p:nvSpPr>
        <p:spPr>
          <a:xfrm>
            <a:off x="12496800" y="5810250"/>
            <a:ext cx="4476750" cy="1714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first FRC Robot lesson: tank drive, then arcade drive.</a:t>
            </a:r>
          </a:p>
        </p:txBody>
      </p:sp>
      <p:pic>
        <p:nvPicPr>
          <p:cNvPr id="20" name="Picture 19" descr="dozer.png"/>
          <p:cNvPicPr>
            <a:picLocks noChangeAspect="1"/>
          </p:cNvPicPr>
          <p:nvPr/>
        </p:nvPicPr>
        <p:blipFill>
          <a:blip r:embed="rId5"/>
          <a:stretch>
            <a:fillRect/>
          </a:stretch>
        </p:blipFill>
        <p:spPr>
          <a:xfrm>
            <a:off x="14859000" y="6667500"/>
            <a:ext cx="2190750" cy="1346530"/>
          </a:xfrm>
          <a:prstGeom prst="rect">
            <a:avLst/>
          </a:prstGeom>
        </p:spPr>
      </p:pic>
      <p:sp>
        <p:nvSpPr>
          <p:cNvPr id="21" name="TextBox 2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