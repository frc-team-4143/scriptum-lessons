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Tools deck. Before we write robot code we need the tools: the editor, git, and three tools that show us what the robot is doing or tell it where to go. Everything here runs inside Scriptum, so nobody needs to install anything.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is one Scriptum lesson in the Tools track. We'll cover them in this order, and each section ends with the checkpoints students verify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Scriptum is our browser workspace. The welcome page shows your progress across the three tracks. The top bar has the lesson chip (checkpoints live there), Preview for the lesson instructions, and one icon per tool: editor, AdvantageScope, Choreo, Elastic, Driver Station.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for this one. It's a tour of the editor and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each part as you go. 1 Explorer: the project's files and folders. 2 Editor: where you type. 3 Tool panes: AdvantageScope here, and Elastic and Choreo open in the same place. 4 Driver Station: Start builds and runs the robot code, Enable turns it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file has a name and an extension that says what kind of file it is. Folders hold files and other folders. A project is one folder with everything for a program. A path is a file's address. Robot code always lives at the same path, so students will see this one a 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shortcuts save a lot of clicking. Have everyone try Ctrl+P with a file name.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job 5. Open src/Main.java, swap the three dots for your name, and press Run, the triangle at the top right of the file. The output appears in the terminal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Dozer's guides walk through every job. Stuck: F2 renames, Delete removes, and switching lessons away and back resets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small exercises, each in its own folder that is its own git repository. Everything is done with Source Control's buttons; no terminal needed.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remembers every version of your work, like unlimited save points in a game. The Source Control icon on the left is git in the editor. The Graph is the history: who, when, and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whole routine. Edit, save with Ctrl+S, press + to stage, write a message that says what changed, press Commit. Do it often, with clear messages.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is production-ready. develop collects finished features. Each feature gets its own branch off develop, named issue-&lt;number&gt;-&lt;description&gt;, and merges back into develop when done.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develop and issue-9-max-speed changed MAX_SPEED to different numbers, so git stops and asks you. It's not an error. The editor shows Accept Current, Accept Incoming and Accept Both right above the conflict. Pick one, save, stage with +, and commit.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brings another branch's commits into the one you're on; stand on the branch that receives them. Rebase replays your commits on top of develop's newest commit for one straight line, but it rewrites commits, so only rebase a branch nobody else has copied. If you're not sure, merge.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remote is the shared copy on GitHub, usually called origin. Push sends your commits, pull brings teammates' commits in. Stash shelves unfinished work so you can switch branches, and stash pop brings it back. In this lesson origin lives on the same machine and acts like GitHub.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folder has its own section in Source Control, so click the right one first. There's no GitHub login here. The team's GitHub docs page explains why we use git the way we 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code is already written and publishing data. This lesson is about the tool, not the code.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value the robot publishes shows up as a field. Drag a field onto a tab to see it. In Scriptum it reads live data and connects by itself: press Start in the Driver Station, pick a mode, Enable, then open the Scope pane.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 left axis with a locked range, right axis with Differentiate to show how fast the flywheel speed changes, and discrete fields for true/false values. 2D Field wants a Pose2d, 3D Field wants a Pose3d. Swerve shows each wheel. Tuning Mode, the slider icon, lets you write values under /Tuning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checkpoints check the AdvantageScope layout. The tuning one needs the robot running and a value written through Tuning Mode.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 the robot code is already written: it publishes one value for every Elastic widget type.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 is the driver dashboard. Widgets bind to NetworkTables topics. It only shows live data, so press Start first and wait for Running; you don't need to Enable. The bottom left says Network Tables: Connected. Save with File &gt; Save before Verify.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a value the robot already computed. Six go the other way: the driver sets them and the robot reads the last value sent, the same way a real driver station works before a match. Nothing to arm first, unlike AdvantageScope's Tuning Mode.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checkpoints in Scriptum; the last four lines here group the live-write ones. If an old dashboard shows up, File &gt; Open Layout and pick src/main/deploy/elastic-layout.json.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Java in this one: it's all inside the Choreo pane, with a starter project for a typical swerve robot.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is one trajectory. Pose waypoints pin position and heading; use them for the start and end. Translation waypoints pin only position. Constraints like Max Velocity are rules. Generate finds the fastest path that obeys everything and saves the .traj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uses the robot's real limits. If no path can satisfy every waypoint and constraint, it stays unsolved. Fix it by editing the numbers or switching a constraint off with its checkbox,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positions don't matter. Keep In Rectangle doesn't count as the constraint, since every path usually has it. Both paths must actually generate.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before the robot lessons. Every robot deck after this uses these tools: the editor every time, AdvantageScope to check what the robot did, and Choreo again in Choreo Autonomous.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jp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1095375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Elastic and Choreo: the five tools every MARS/WARS programmer uses.</a:t>
            </a:r>
          </a:p>
        </p:txBody>
      </p:sp>
      <p:pic>
        <p:nvPicPr>
          <p:cNvPr id="7" name="Picture 6" descr="dozer.png"/>
          <p:cNvPicPr>
            <a:picLocks noChangeAspect="1"/>
          </p:cNvPicPr>
          <p:nvPr/>
        </p:nvPicPr>
        <p:blipFill>
          <a:blip r:embed="rId4"/>
          <a:stretch>
            <a:fillRect/>
          </a:stretch>
        </p:blipFill>
        <p:spPr>
          <a:xfrm>
            <a:off x="13716000" y="6667500"/>
            <a:ext cx="3429000" cy="21076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BY THE END OF THIS DECK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Five tools, five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9" name="TextBox 8"/>
          <p:cNvSpPr txBox="1"/>
          <p:nvPr/>
        </p:nvSpPr>
        <p:spPr>
          <a:xfrm>
            <a:off x="12573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Make files and folders, find things fast, run a program</a:t>
            </a:r>
          </a:p>
        </p:txBody>
      </p:sp>
      <p:sp>
        <p:nvSpPr>
          <p:cNvPr id="10" name="Rounded Rectangle 9"/>
          <p:cNvSpPr/>
          <p:nvPr/>
        </p:nvSpPr>
        <p:spPr>
          <a:xfrm>
            <a:off x="425767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4600575" y="3543300"/>
            <a:ext cx="838200" cy="838200"/>
          </a:xfrm>
          <a:prstGeom prst="rect">
            <a:avLst/>
          </a:prstGeom>
        </p:spPr>
      </p:pic>
      <p:sp>
        <p:nvSpPr>
          <p:cNvPr id="12" name="TextBox 11"/>
          <p:cNvSpPr txBox="1"/>
          <p:nvPr/>
        </p:nvSpPr>
        <p:spPr>
          <a:xfrm>
            <a:off x="4600575"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Git Basics</a:t>
            </a:r>
          </a:p>
        </p:txBody>
      </p:sp>
      <p:sp>
        <p:nvSpPr>
          <p:cNvPr id="14" name="TextBox 13"/>
          <p:cNvSpPr txBox="1"/>
          <p:nvPr/>
        </p:nvSpPr>
        <p:spPr>
          <a:xfrm>
            <a:off x="460057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Commit, branch, merge, rebase, push, pull and stash</a:t>
            </a:r>
          </a:p>
        </p:txBody>
      </p:sp>
      <p:sp>
        <p:nvSpPr>
          <p:cNvPr id="15" name="Rounded Rectangle 14"/>
          <p:cNvSpPr/>
          <p:nvPr/>
        </p:nvSpPr>
        <p:spPr>
          <a:xfrm>
            <a:off x="760095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7943850" y="3543300"/>
            <a:ext cx="838200" cy="838200"/>
          </a:xfrm>
          <a:prstGeom prst="rect">
            <a:avLst/>
          </a:prstGeom>
        </p:spPr>
      </p:pic>
      <p:sp>
        <p:nvSpPr>
          <p:cNvPr id="17" name="TextBox 16"/>
          <p:cNvSpPr txBox="1"/>
          <p:nvPr/>
        </p:nvSpPr>
        <p:spPr>
          <a:xfrm>
            <a:off x="794385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19" name="TextBox 18"/>
          <p:cNvSpPr txBox="1"/>
          <p:nvPr/>
        </p:nvSpPr>
        <p:spPr>
          <a:xfrm>
            <a:off x="794385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Graph and replay what the robot is doing</a:t>
            </a:r>
          </a:p>
        </p:txBody>
      </p:sp>
      <p:sp>
        <p:nvSpPr>
          <p:cNvPr id="20" name="Rounded Rectangle 19"/>
          <p:cNvSpPr/>
          <p:nvPr/>
        </p:nvSpPr>
        <p:spPr>
          <a:xfrm>
            <a:off x="1094422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11287125" y="3543300"/>
            <a:ext cx="838200" cy="838200"/>
          </a:xfrm>
          <a:prstGeom prst="rect">
            <a:avLst/>
          </a:prstGeom>
        </p:spPr>
      </p:pic>
      <p:sp>
        <p:nvSpPr>
          <p:cNvPr id="22" name="TextBox 21"/>
          <p:cNvSpPr txBox="1"/>
          <p:nvPr/>
        </p:nvSpPr>
        <p:spPr>
          <a:xfrm>
            <a:off x="11287125"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Elastic</a:t>
            </a:r>
          </a:p>
        </p:txBody>
      </p:sp>
      <p:sp>
        <p:nvSpPr>
          <p:cNvPr id="24" name="TextBox 23"/>
          <p:cNvSpPr txBox="1"/>
          <p:nvPr/>
        </p:nvSpPr>
        <p:spPr>
          <a:xfrm>
            <a:off x="1128712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Build the dashboard drivers use in a match</a:t>
            </a:r>
          </a:p>
        </p:txBody>
      </p:sp>
      <p:sp>
        <p:nvSpPr>
          <p:cNvPr id="25" name="Rounded Rectangle 24"/>
          <p:cNvSpPr/>
          <p:nvPr/>
        </p:nvSpPr>
        <p:spPr>
          <a:xfrm>
            <a:off x="142875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horeo-logo.png"/>
          <p:cNvPicPr>
            <a:picLocks noChangeAspect="1"/>
          </p:cNvPicPr>
          <p:nvPr/>
        </p:nvPicPr>
        <p:blipFill>
          <a:blip r:embed="rId7"/>
          <a:stretch>
            <a:fillRect/>
          </a:stretch>
        </p:blipFill>
        <p:spPr>
          <a:xfrm>
            <a:off x="14630400" y="3543300"/>
            <a:ext cx="838200" cy="838200"/>
          </a:xfrm>
          <a:prstGeom prst="rect">
            <a:avLst/>
          </a:prstGeom>
        </p:spPr>
      </p:pic>
      <p:sp>
        <p:nvSpPr>
          <p:cNvPr id="27" name="TextBox 26"/>
          <p:cNvSpPr txBox="1"/>
          <p:nvPr/>
        </p:nvSpPr>
        <p:spPr>
          <a:xfrm>
            <a:off x="14630400" y="4762500"/>
            <a:ext cx="381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Choreo</a:t>
            </a:r>
          </a:p>
        </p:txBody>
      </p:sp>
      <p:sp>
        <p:nvSpPr>
          <p:cNvPr id="29" name="TextBox 28"/>
          <p:cNvSpPr txBox="1"/>
          <p:nvPr/>
        </p:nvSpPr>
        <p:spPr>
          <a:xfrm>
            <a:off x="146304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Plan autonomous paths the robot can really follow</a:t>
            </a:r>
          </a:p>
        </p:txBody>
      </p:sp>
      <p:pic>
        <p:nvPicPr>
          <p:cNvPr id="30" name="Picture 29"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IT ALL HAPPENS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Everything runs in Scriptum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6096000" cy="5715000"/>
          </a:xfrm>
          <a:prstGeom prst="rect">
            <a:avLst/>
          </a:prstGeom>
          <a:noFill/>
        </p:spPr>
        <p:txBody>
          <a:bodyPr wrap="square" lIns="0" rIns="0" tIns="0" bIns="0" anchor="t">
            <a:spAutoFit/>
          </a:bodyPr>
          <a:lstStyle/>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Open it in a browser: nothing to install</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The lesson chip at the top holds your checkpoints</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Preview shows the lesson's instructions</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One icon per tool opens its pane</a:t>
            </a:r>
          </a:p>
        </p:txBody>
      </p:sp>
      <p:sp>
        <p:nvSpPr>
          <p:cNvPr id="6" name="Rectangle 5"/>
          <p:cNvSpPr/>
          <p:nvPr/>
        </p:nvSpPr>
        <p:spPr>
          <a:xfrm>
            <a:off x="7620000" y="2857500"/>
            <a:ext cx="9753600" cy="534924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lcome.png"/>
          <p:cNvPicPr>
            <a:picLocks noChangeAspect="1"/>
          </p:cNvPicPr>
          <p:nvPr/>
        </p:nvPicPr>
        <p:blipFill>
          <a:blip r:embed="rId3"/>
          <a:stretch>
            <a:fillRect/>
          </a:stretch>
        </p:blipFill>
        <p:spPr>
          <a:xfrm>
            <a:off x="7620000" y="2857500"/>
            <a:ext cx="9753600" cy="5349240"/>
          </a:xfrm>
          <a:prstGeom prst="rect">
            <a:avLst/>
          </a:prstGeom>
        </p:spPr>
      </p:pic>
      <p:sp>
        <p:nvSpPr>
          <p:cNvPr id="8" name="Rectangle 7"/>
          <p:cNvSpPr/>
          <p:nvPr/>
        </p:nvSpPr>
        <p:spPr>
          <a:xfrm>
            <a:off x="7620000" y="2857500"/>
            <a:ext cx="9753600" cy="534924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620000" y="8397240"/>
            <a:ext cx="97536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Scriptum welcome page and its top bar</a:t>
            </a:r>
          </a:p>
        </p:txBody>
      </p:sp>
      <p:pic>
        <p:nvPicPr>
          <p:cNvPr id="10" name="Picture 9"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1" name="TextBox 1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finding things, and running a program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Your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pic>
        <p:nvPicPr>
          <p:cNvPr id="36" name="Picture 3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folders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16459200" cy="5715000"/>
          </a:xfrm>
          <a:prstGeom prst="rect">
            <a:avLst/>
          </a:prstGeom>
          <a:noFill/>
        </p:spPr>
        <p:txBody>
          <a:bodyPr wrap="square" lIns="0" rIns="0" tIns="0" bIns="0" anchor="t">
            <a:spAutoFit/>
          </a:bodyPr>
          <a:lstStyle/>
          <a:p>
            <a:pPr algn="l">
              <a:lnSpc>
                <a:spcPct val="125000"/>
              </a:lnSpc>
              <a:spcAft>
                <a:spcPts val="1650"/>
              </a:spcAft>
            </a:pPr>
            <a:r>
              <a:rPr sz="2400" b="1" i="0">
                <a:solidFill>
                  <a:srgbClr val="CC2200"/>
                </a:solidFill>
                <a:latin typeface="Geist"/>
                <a:ea typeface="Geist"/>
                <a:cs typeface="Geist"/>
              </a:rPr>
              <a:t>•  </a:t>
            </a:r>
            <a:r>
              <a:rPr sz="2400" b="0" i="0">
                <a:solidFill>
                  <a:srgbClr val="F0E8E8"/>
                </a:solidFill>
                <a:latin typeface="Geist"/>
                <a:ea typeface="Geist"/>
                <a:cs typeface="Geist"/>
              </a:rPr>
              <a:t>A file has a name and an extension: Robot.java</a:t>
            </a:r>
          </a:p>
          <a:p>
            <a:pPr algn="l">
              <a:lnSpc>
                <a:spcPct val="125000"/>
              </a:lnSpc>
              <a:spcAft>
                <a:spcPts val="1650"/>
              </a:spcAft>
            </a:pPr>
            <a:r>
              <a:rPr sz="2400" b="1" i="0">
                <a:solidFill>
                  <a:srgbClr val="CC2200"/>
                </a:solidFill>
                <a:latin typeface="Geist"/>
                <a:ea typeface="Geist"/>
                <a:cs typeface="Geist"/>
              </a:rPr>
              <a:t>•  </a:t>
            </a:r>
            <a:r>
              <a:rPr sz="2400" b="0" i="0">
                <a:solidFill>
                  <a:srgbClr val="F0E8E8"/>
                </a:solidFill>
                <a:latin typeface="Geist"/>
                <a:ea typeface="Geist"/>
                <a:cs typeface="Geist"/>
              </a:rPr>
              <a:t>A folder holds files and other folders</a:t>
            </a:r>
          </a:p>
          <a:p>
            <a:pPr algn="l">
              <a:lnSpc>
                <a:spcPct val="125000"/>
              </a:lnSpc>
              <a:spcAft>
                <a:spcPts val="1650"/>
              </a:spcAft>
            </a:pPr>
            <a:r>
              <a:rPr sz="2400" b="1" i="0">
                <a:solidFill>
                  <a:srgbClr val="CC2200"/>
                </a:solidFill>
                <a:latin typeface="Geist"/>
                <a:ea typeface="Geist"/>
                <a:cs typeface="Geist"/>
              </a:rPr>
              <a:t>•  </a:t>
            </a:r>
            <a:r>
              <a:rPr sz="2400" b="0" i="0">
                <a:solidFill>
                  <a:srgbClr val="F0E8E8"/>
                </a:solidFill>
                <a:latin typeface="Geist"/>
                <a:ea typeface="Geist"/>
                <a:cs typeface="Geist"/>
              </a:rPr>
              <a:t>A project is one folder with everything inside</a:t>
            </a:r>
          </a:p>
          <a:p>
            <a:pPr algn="l">
              <a:lnSpc>
                <a:spcPct val="125000"/>
              </a:lnSpc>
              <a:spcAft>
                <a:spcPts val="1650"/>
              </a:spcAft>
            </a:pPr>
            <a:r>
              <a:rPr sz="2400" b="1" i="0">
                <a:solidFill>
                  <a:srgbClr val="CC2200"/>
                </a:solidFill>
                <a:latin typeface="Geist"/>
                <a:ea typeface="Geist"/>
                <a:cs typeface="Geist"/>
              </a:rPr>
              <a:t>•  </a:t>
            </a:r>
            <a:r>
              <a:rPr sz="2400" b="0" i="0">
                <a:solidFill>
                  <a:srgbClr val="F0E8E8"/>
                </a:solidFill>
                <a:latin typeface="Geist"/>
                <a:ea typeface="Geist"/>
                <a:cs typeface="Geist"/>
              </a:rPr>
              <a:t>A path is a file's address, folder by folder</a:t>
            </a:r>
          </a:p>
        </p:txBody>
      </p:sp>
      <p:sp>
        <p:nvSpPr>
          <p:cNvPr id="6" name="Rounded Rectangle 5"/>
          <p:cNvSpPr/>
          <p:nvPr/>
        </p:nvSpPr>
        <p:spPr>
          <a:xfrm>
            <a:off x="914400" y="7239000"/>
            <a:ext cx="10477500" cy="1344930"/>
          </a:xfrm>
          <a:prstGeom prst="roundRect">
            <a:avLst>
              <a:gd name="adj" fmla="val 11331"/>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7620000"/>
            <a:ext cx="9715500" cy="582930"/>
          </a:xfrm>
          <a:prstGeom prst="rect">
            <a:avLst/>
          </a:prstGeom>
          <a:noFill/>
        </p:spPr>
        <p:txBody>
          <a:bodyPr wrap="square" lIns="0" rIns="0" tIns="0" bIns="0" anchor="ctr">
            <a:spAutoFit/>
          </a:bodyPr>
          <a:lstStyle/>
          <a:p>
            <a:pPr algn="l"/>
            <a:r>
              <a:rPr sz="2700" b="0" i="0">
                <a:solidFill>
                  <a:srgbClr val="F0E8E8"/>
                </a:solidFill>
                <a:latin typeface="Geist Mono"/>
                <a:ea typeface="Geist Mono"/>
                <a:cs typeface="Geist Mono"/>
              </a:rPr>
              <a:t>src</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main</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java</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frc</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robot</a:t>
            </a:r>
            <a:r>
              <a:rPr sz="2700" b="0" i="0">
                <a:solidFill>
                  <a:srgbClr val="CC2200"/>
                </a:solidFill>
                <a:latin typeface="Geist Mono"/>
                <a:ea typeface="Geist Mono"/>
                <a:cs typeface="Geist Mono"/>
              </a:rPr>
              <a:t>/</a:t>
            </a:r>
            <a:r>
              <a:rPr sz="2700" b="0" i="0">
                <a:solidFill>
                  <a:srgbClr val="F0E8E8"/>
                </a:solidFill>
                <a:latin typeface="Geist Mono"/>
                <a:ea typeface="Geist Mono"/>
                <a:cs typeface="Geist Mono"/>
              </a:rPr>
              <a:t>Robot</a:t>
            </a:r>
            <a:r>
              <a:rPr sz="2700" b="0" i="0">
                <a:solidFill>
                  <a:srgbClr val="E8C27A"/>
                </a:solidFill>
                <a:latin typeface="Geist Mono"/>
                <a:ea typeface="Geist Mono"/>
                <a:cs typeface="Geist Mono"/>
              </a:rPr>
              <a:t>.java</a:t>
            </a:r>
          </a:p>
        </p:txBody>
      </p:sp>
      <p:sp>
        <p:nvSpPr>
          <p:cNvPr id="8" name="TextBox 7"/>
          <p:cNvSpPr txBox="1"/>
          <p:nvPr/>
        </p:nvSpPr>
        <p:spPr>
          <a:xfrm>
            <a:off x="914400" y="8734425"/>
            <a:ext cx="104775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Every robot lesson's code lives at this path</a:t>
            </a:r>
          </a:p>
        </p:txBody>
      </p:sp>
      <p:pic>
        <p:nvPicPr>
          <p:cNvPr id="9" name="Picture 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0" name="TextBox 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the terminal</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Run your first program</a:t>
            </a:r>
          </a:p>
        </p:txBody>
      </p:sp>
      <p:sp>
        <p:nvSpPr>
          <p:cNvPr id="4" name="TextBox 3"/>
          <p:cNvSpPr txBox="1"/>
          <p:nvPr/>
        </p:nvSpPr>
        <p:spPr>
          <a:xfrm>
            <a:off x="914400" y="2724150"/>
            <a:ext cx="164592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src/Main.java</a:t>
            </a:r>
          </a:p>
        </p:txBody>
      </p:sp>
      <p:sp>
        <p:nvSpPr>
          <p:cNvPr id="5" name="Rounded Rectangle 4"/>
          <p:cNvSpPr/>
          <p:nvPr/>
        </p:nvSpPr>
        <p:spPr>
          <a:xfrm>
            <a:off x="914400" y="3143250"/>
            <a:ext cx="16459200" cy="3514725"/>
          </a:xfrm>
          <a:prstGeom prst="roundRect">
            <a:avLst>
              <a:gd name="adj" fmla="val 433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933450" y="4625340"/>
            <a:ext cx="16421100" cy="55054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625340"/>
            <a:ext cx="57150" cy="55054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15697200" cy="550545"/>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public class </a:t>
            </a:r>
            <a:r>
              <a:rPr sz="2550" b="0" i="0">
                <a:solidFill>
                  <a:srgbClr val="F0E8E8"/>
                </a:solidFill>
                <a:latin typeface="Geist Mono"/>
                <a:ea typeface="Geist Mono"/>
                <a:cs typeface="Geist Mono"/>
              </a:rPr>
              <a:t>Main {</a:t>
            </a:r>
          </a:p>
        </p:txBody>
      </p:sp>
      <p:sp>
        <p:nvSpPr>
          <p:cNvPr id="9" name="TextBox 8"/>
          <p:cNvSpPr txBox="1"/>
          <p:nvPr/>
        </p:nvSpPr>
        <p:spPr>
          <a:xfrm>
            <a:off x="1295400" y="4074795"/>
            <a:ext cx="15697200" cy="550545"/>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  public static void </a:t>
            </a:r>
            <a:r>
              <a:rPr sz="2550" b="0" i="0">
                <a:solidFill>
                  <a:srgbClr val="F0E8E8"/>
                </a:solidFill>
                <a:latin typeface="Geist Mono"/>
                <a:ea typeface="Geist Mono"/>
                <a:cs typeface="Geist Mono"/>
              </a:rPr>
              <a:t>main(String[] args) {</a:t>
            </a:r>
          </a:p>
        </p:txBody>
      </p:sp>
      <p:sp>
        <p:nvSpPr>
          <p:cNvPr id="10" name="TextBox 9"/>
          <p:cNvSpPr txBox="1"/>
          <p:nvPr/>
        </p:nvSpPr>
        <p:spPr>
          <a:xfrm>
            <a:off x="1295400" y="4625340"/>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    System.out.println(</a:t>
            </a:r>
            <a:r>
              <a:rPr sz="2550" b="0" i="0">
                <a:solidFill>
                  <a:srgbClr val="9FD29A"/>
                </a:solidFill>
                <a:latin typeface="Geist Mono"/>
                <a:ea typeface="Geist Mono"/>
                <a:cs typeface="Geist Mono"/>
              </a:rPr>
              <a:t>"Hello, my name is ..."</a:t>
            </a:r>
            <a:r>
              <a:rPr sz="2550" b="0" i="0">
                <a:solidFill>
                  <a:srgbClr val="F0E8E8"/>
                </a:solidFill>
                <a:latin typeface="Geist Mono"/>
                <a:ea typeface="Geist Mono"/>
                <a:cs typeface="Geist Mono"/>
              </a:rPr>
              <a:t>);</a:t>
            </a:r>
          </a:p>
        </p:txBody>
      </p:sp>
      <p:sp>
        <p:nvSpPr>
          <p:cNvPr id="11" name="TextBox 10"/>
          <p:cNvSpPr txBox="1"/>
          <p:nvPr/>
        </p:nvSpPr>
        <p:spPr>
          <a:xfrm>
            <a:off x="1295400" y="5175885"/>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  }</a:t>
            </a:r>
          </a:p>
        </p:txBody>
      </p:sp>
      <p:sp>
        <p:nvSpPr>
          <p:cNvPr id="12" name="TextBox 11"/>
          <p:cNvSpPr txBox="1"/>
          <p:nvPr/>
        </p:nvSpPr>
        <p:spPr>
          <a:xfrm>
            <a:off x="1295400" y="5726430"/>
            <a:ext cx="15697200" cy="550545"/>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a:t>
            </a:r>
          </a:p>
        </p:txBody>
      </p:sp>
      <p:sp>
        <p:nvSpPr>
          <p:cNvPr id="13" name="TextBox 12"/>
          <p:cNvSpPr txBox="1"/>
          <p:nvPr/>
        </p:nvSpPr>
        <p:spPr>
          <a:xfrm>
            <a:off x="914400" y="6886575"/>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Replace the three dots with your name, then click Run (the triangle at the top right of the file).</a:t>
            </a:r>
          </a:p>
        </p:txBody>
      </p:sp>
      <p:pic>
        <p:nvPicPr>
          <p:cNvPr id="14" name="Picture 13"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5" name="TextBox 1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Meet the Editor</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Open the lesson chip and press Verify after each job. You can't break anything.</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66700" cy="266700"/>
          </a:xfrm>
          <a:prstGeom prst="rect">
            <a:avLst/>
          </a:prstGeom>
        </p:spPr>
      </p:pic>
      <p:sp>
        <p:nvSpPr>
          <p:cNvPr id="8" name="TextBox 7"/>
          <p:cNvSpPr txBox="1"/>
          <p:nvPr/>
        </p:nvSpPr>
        <p:spPr>
          <a:xfrm>
            <a:off x="1943100" y="44386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Make a folder called my-team</a:t>
            </a:r>
          </a:p>
        </p:txBody>
      </p:sp>
      <p:pic>
        <p:nvPicPr>
          <p:cNvPr id="9" name="Picture 8" descr="check-circle-fill.png"/>
          <p:cNvPicPr>
            <a:picLocks noChangeAspect="1"/>
          </p:cNvPicPr>
          <p:nvPr/>
        </p:nvPicPr>
        <p:blipFill>
          <a:blip r:embed="rId3"/>
          <a:stretch>
            <a:fillRect/>
          </a:stretch>
        </p:blipFill>
        <p:spPr>
          <a:xfrm>
            <a:off x="1524000" y="4991100"/>
            <a:ext cx="266700" cy="266700"/>
          </a:xfrm>
          <a:prstGeom prst="rect">
            <a:avLst/>
          </a:prstGeom>
        </p:spPr>
      </p:pic>
      <p:sp>
        <p:nvSpPr>
          <p:cNvPr id="10" name="TextBox 9"/>
          <p:cNvSpPr txBox="1"/>
          <p:nvPr/>
        </p:nvSpPr>
        <p:spPr>
          <a:xfrm>
            <a:off x="1943100" y="49339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Make a file inside it: about.txt</a:t>
            </a:r>
          </a:p>
        </p:txBody>
      </p:sp>
      <p:pic>
        <p:nvPicPr>
          <p:cNvPr id="11" name="Picture 10" descr="check-circle-fill.png"/>
          <p:cNvPicPr>
            <a:picLocks noChangeAspect="1"/>
          </p:cNvPicPr>
          <p:nvPr/>
        </p:nvPicPr>
        <p:blipFill>
          <a:blip r:embed="rId3"/>
          <a:stretch>
            <a:fillRect/>
          </a:stretch>
        </p:blipFill>
        <p:spPr>
          <a:xfrm>
            <a:off x="1524000" y="5486400"/>
            <a:ext cx="266700" cy="266700"/>
          </a:xfrm>
          <a:prstGeom prst="rect">
            <a:avLst/>
          </a:prstGeom>
        </p:spPr>
      </p:pic>
      <p:sp>
        <p:nvSpPr>
          <p:cNvPr id="12" name="TextBox 11"/>
          <p:cNvSpPr txBox="1"/>
          <p:nvPr/>
        </p:nvSpPr>
        <p:spPr>
          <a:xfrm>
            <a:off x="1943100" y="54292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Rename untitled.txt to team.txt</a:t>
            </a:r>
          </a:p>
        </p:txBody>
      </p:sp>
      <p:pic>
        <p:nvPicPr>
          <p:cNvPr id="13" name="Picture 12" descr="check-circle-fill.png"/>
          <p:cNvPicPr>
            <a:picLocks noChangeAspect="1"/>
          </p:cNvPicPr>
          <p:nvPr/>
        </p:nvPicPr>
        <p:blipFill>
          <a:blip r:embed="rId3"/>
          <a:stretch>
            <a:fillRect/>
          </a:stretch>
        </p:blipFill>
        <p:spPr>
          <a:xfrm>
            <a:off x="1524000" y="5981700"/>
            <a:ext cx="266700" cy="266700"/>
          </a:xfrm>
          <a:prstGeom prst="rect">
            <a:avLst/>
          </a:prstGeom>
        </p:spPr>
      </p:pic>
      <p:sp>
        <p:nvSpPr>
          <p:cNvPr id="14" name="TextBox 13"/>
          <p:cNvSpPr txBox="1"/>
          <p:nvPr/>
        </p:nvSpPr>
        <p:spPr>
          <a:xfrm>
            <a:off x="1943100" y="59245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Delete delete-me.txt</a:t>
            </a:r>
          </a:p>
        </p:txBody>
      </p:sp>
      <p:pic>
        <p:nvPicPr>
          <p:cNvPr id="15" name="Picture 14" descr="check-circle-fill.png"/>
          <p:cNvPicPr>
            <a:picLocks noChangeAspect="1"/>
          </p:cNvPicPr>
          <p:nvPr/>
        </p:nvPicPr>
        <p:blipFill>
          <a:blip r:embed="rId3"/>
          <a:stretch>
            <a:fillRect/>
          </a:stretch>
        </p:blipFill>
        <p:spPr>
          <a:xfrm>
            <a:off x="1524000" y="6477000"/>
            <a:ext cx="266700" cy="266700"/>
          </a:xfrm>
          <a:prstGeom prst="rect">
            <a:avLst/>
          </a:prstGeom>
        </p:spPr>
      </p:pic>
      <p:sp>
        <p:nvSpPr>
          <p:cNvPr id="16" name="TextBox 15"/>
          <p:cNvSpPr txBox="1"/>
          <p:nvPr/>
        </p:nvSpPr>
        <p:spPr>
          <a:xfrm>
            <a:off x="1943100" y="64198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Run a program: src/Main.java</a:t>
            </a:r>
          </a:p>
        </p:txBody>
      </p:sp>
      <p:sp>
        <p:nvSpPr>
          <p:cNvPr id="17" name="TextBox 16"/>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Meet the Editor</a:t>
            </a:r>
          </a:p>
        </p:txBody>
      </p:sp>
      <p:pic>
        <p:nvPicPr>
          <p:cNvPr id="18" name="Picture 17" descr="dozer.png"/>
          <p:cNvPicPr>
            <a:picLocks noChangeAspect="1"/>
          </p:cNvPicPr>
          <p:nvPr/>
        </p:nvPicPr>
        <p:blipFill>
          <a:blip r:embed="rId4"/>
          <a:stretch>
            <a:fillRect/>
          </a:stretch>
        </p:blipFill>
        <p:spPr>
          <a:xfrm>
            <a:off x="14287500" y="6572250"/>
            <a:ext cx="2476500" cy="1522165"/>
          </a:xfrm>
          <a:prstGeom prst="rect">
            <a:avLst/>
          </a:prstGeom>
        </p:spPr>
      </p:pic>
      <p:pic>
        <p:nvPicPr>
          <p:cNvPr id="19" name="Picture 18"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Save points, branches, and sharing work with the team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Unlimited save 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9525000" cy="5715000"/>
          </a:xfrm>
          <a:prstGeom prst="rect">
            <a:avLst/>
          </a:prstGeom>
          <a:noFill/>
        </p:spPr>
        <p:txBody>
          <a:bodyPr wrap="square" lIns="0" rIns="0" tIns="0" bIns="0" anchor="t">
            <a:spAutoFit/>
          </a:bodyPr>
          <a:lstStyle/>
          <a:p>
            <a:pPr algn="l">
              <a:lnSpc>
                <a:spcPct val="125000"/>
              </a:lnSpc>
              <a:spcAft>
                <a:spcPts val="2250"/>
              </a:spcAft>
            </a:pPr>
            <a:r>
              <a:rPr sz="2400" b="1" i="0">
                <a:solidFill>
                  <a:srgbClr val="CC2200"/>
                </a:solidFill>
                <a:latin typeface="Geist"/>
                <a:ea typeface="Geist"/>
                <a:cs typeface="Geist"/>
              </a:rPr>
              <a:t>•  </a:t>
            </a:r>
            <a:r>
              <a:rPr sz="2400" b="0" i="0">
                <a:solidFill>
                  <a:srgbClr val="F0E8E8"/>
                </a:solidFill>
                <a:latin typeface="Geist"/>
                <a:ea typeface="Geist"/>
                <a:cs typeface="Geist"/>
              </a:rPr>
              <a:t>A </a:t>
            </a:r>
            <a:r>
              <a:rPr sz="2400" b="1" i="0">
                <a:solidFill>
                  <a:srgbClr val="F0E8E8"/>
                </a:solidFill>
                <a:latin typeface="Geist"/>
                <a:ea typeface="Geist"/>
                <a:cs typeface="Geist"/>
              </a:rPr>
              <a:t>repository</a:t>
            </a:r>
            <a:r>
              <a:rPr sz="2400" b="0" i="0">
                <a:solidFill>
                  <a:srgbClr val="F0E8E8"/>
                </a:solidFill>
                <a:latin typeface="Geist"/>
                <a:ea typeface="Geist"/>
                <a:cs typeface="Geist"/>
              </a:rPr>
              <a:t> is a folder git is watching</a:t>
            </a:r>
          </a:p>
          <a:p>
            <a:pPr algn="l">
              <a:lnSpc>
                <a:spcPct val="125000"/>
              </a:lnSpc>
              <a:spcAft>
                <a:spcPts val="2250"/>
              </a:spcAft>
            </a:pPr>
            <a:r>
              <a:rPr sz="2400" b="1" i="0">
                <a:solidFill>
                  <a:srgbClr val="CC2200"/>
                </a:solidFill>
                <a:latin typeface="Geist"/>
                <a:ea typeface="Geist"/>
                <a:cs typeface="Geist"/>
              </a:rPr>
              <a:t>•  </a:t>
            </a:r>
            <a:r>
              <a:rPr sz="2400" b="0" i="0">
                <a:solidFill>
                  <a:srgbClr val="F0E8E8"/>
                </a:solidFill>
                <a:latin typeface="Geist"/>
                <a:ea typeface="Geist"/>
                <a:cs typeface="Geist"/>
              </a:rPr>
              <a:t>A </a:t>
            </a:r>
            <a:r>
              <a:rPr sz="2400" b="1" i="0">
                <a:solidFill>
                  <a:srgbClr val="F0E8E8"/>
                </a:solidFill>
                <a:latin typeface="Geist"/>
                <a:ea typeface="Geist"/>
                <a:cs typeface="Geist"/>
              </a:rPr>
              <a:t>commit</a:t>
            </a:r>
            <a:r>
              <a:rPr sz="2400" b="0" i="0">
                <a:solidFill>
                  <a:srgbClr val="F0E8E8"/>
                </a:solidFill>
                <a:latin typeface="Geist"/>
                <a:ea typeface="Geist"/>
                <a:cs typeface="Geist"/>
              </a:rPr>
              <a:t> is a saved snapshot, with a message</a:t>
            </a:r>
          </a:p>
          <a:p>
            <a:pPr algn="l">
              <a:lnSpc>
                <a:spcPct val="125000"/>
              </a:lnSpc>
              <a:spcAft>
                <a:spcPts val="2250"/>
              </a:spcAft>
            </a:pPr>
            <a:r>
              <a:rPr sz="2400" b="1" i="0">
                <a:solidFill>
                  <a:srgbClr val="CC2200"/>
                </a:solidFill>
                <a:latin typeface="Geist"/>
                <a:ea typeface="Geist"/>
                <a:cs typeface="Geist"/>
              </a:rPr>
              <a:t>•  </a:t>
            </a:r>
            <a:r>
              <a:rPr sz="2400" b="1" i="0">
                <a:solidFill>
                  <a:srgbClr val="F0E8E8"/>
                </a:solidFill>
                <a:latin typeface="Geist"/>
                <a:ea typeface="Geist"/>
                <a:cs typeface="Geist"/>
              </a:rPr>
              <a:t>Staging</a:t>
            </a:r>
            <a:r>
              <a:rPr sz="2400" b="0" i="0">
                <a:solidFill>
                  <a:srgbClr val="F0E8E8"/>
                </a:solidFill>
                <a:latin typeface="Geist"/>
                <a:ea typeface="Geist"/>
                <a:cs typeface="Geist"/>
              </a:rPr>
              <a:t> picks which changes go in the next commit</a:t>
            </a:r>
          </a:p>
          <a:p>
            <a:pPr algn="l">
              <a:lnSpc>
                <a:spcPct val="125000"/>
              </a:lnSpc>
              <a:spcAft>
                <a:spcPts val="2250"/>
              </a:spcAft>
            </a:pPr>
            <a:r>
              <a:rPr sz="2400" b="1" i="0">
                <a:solidFill>
                  <a:srgbClr val="CC2200"/>
                </a:solidFill>
                <a:latin typeface="Geist"/>
                <a:ea typeface="Geist"/>
                <a:cs typeface="Geist"/>
              </a:rPr>
              <a:t>•  </a:t>
            </a:r>
            <a:r>
              <a:rPr sz="2400" b="0" i="0">
                <a:solidFill>
                  <a:srgbClr val="F0E8E8"/>
                </a:solidFill>
                <a:latin typeface="Geist"/>
                <a:ea typeface="Geist"/>
                <a:cs typeface="Geist"/>
              </a:rPr>
              <a:t>The </a:t>
            </a:r>
            <a:r>
              <a:rPr sz="2400" b="1" i="0">
                <a:solidFill>
                  <a:srgbClr val="F0E8E8"/>
                </a:solidFill>
                <a:latin typeface="Geist"/>
                <a:ea typeface="Geist"/>
                <a:cs typeface="Geist"/>
              </a:rPr>
              <a:t>Graph</a:t>
            </a:r>
            <a:r>
              <a:rPr sz="2400" b="0" i="0">
                <a:solidFill>
                  <a:srgbClr val="F0E8E8"/>
                </a:solidFill>
                <a:latin typeface="Geist"/>
                <a:ea typeface="Geist"/>
                <a:cs typeface="Geist"/>
              </a:rPr>
              <a:t> is the history; commits stay forever</a:t>
            </a:r>
          </a:p>
        </p:txBody>
      </p:sp>
      <p:sp>
        <p:nvSpPr>
          <p:cNvPr id="6" name="Rounded Rectangle 5"/>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it.png"/>
          <p:cNvPicPr>
            <a:picLocks noChangeAspect="1"/>
          </p:cNvPicPr>
          <p:nvPr/>
        </p:nvPicPr>
        <p:blipFill>
          <a:blip r:embed="rId3"/>
          <a:stretch>
            <a:fillRect/>
          </a:stretch>
        </p:blipFill>
        <p:spPr>
          <a:xfrm>
            <a:off x="13544550" y="3619500"/>
            <a:ext cx="1714500" cy="1714500"/>
          </a:xfrm>
          <a:prstGeom prst="rect">
            <a:avLst/>
          </a:prstGeom>
        </p:spPr>
      </p:pic>
      <p:sp>
        <p:nvSpPr>
          <p:cNvPr id="8" name="TextBox 7"/>
          <p:cNvSpPr txBox="1"/>
          <p:nvPr/>
        </p:nvSpPr>
        <p:spPr>
          <a:xfrm>
            <a:off x="11811000" y="5715000"/>
            <a:ext cx="5181600" cy="571500"/>
          </a:xfrm>
          <a:prstGeom prst="rect">
            <a:avLst/>
          </a:prstGeom>
          <a:noFill/>
        </p:spPr>
        <p:txBody>
          <a:bodyPr wrap="square" lIns="0" rIns="0" tIns="0" bIns="0" anchor="t">
            <a:spAutoFit/>
          </a:bodyPr>
          <a:lstStyle/>
          <a:p>
            <a:pPr algn="ctr"/>
            <a:r>
              <a:rPr sz="2700" b="1" i="0">
                <a:solidFill>
                  <a:srgbClr val="F0E8E8"/>
                </a:solidFill>
                <a:latin typeface="Geist"/>
                <a:ea typeface="Geist"/>
                <a:cs typeface="Geist"/>
              </a:rPr>
              <a:t>Source Control</a:t>
            </a:r>
          </a:p>
        </p:txBody>
      </p:sp>
      <p:sp>
        <p:nvSpPr>
          <p:cNvPr id="9" name="TextBox 8"/>
          <p:cNvSpPr txBox="1"/>
          <p:nvPr/>
        </p:nvSpPr>
        <p:spPr>
          <a:xfrm>
            <a:off x="11811000" y="628650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The branch icon on the left side of the editor. Every git command has a button here.</a:t>
            </a:r>
          </a:p>
        </p:txBody>
      </p:sp>
      <p:pic>
        <p:nvPicPr>
          <p:cNvPr id="10" name="Picture 9"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1" name="TextBox 1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everyday routine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01</a:t>
            </a:r>
          </a:p>
        </p:txBody>
      </p:sp>
      <p:sp>
        <p:nvSpPr>
          <p:cNvPr id="7" name="TextBox 6"/>
          <p:cNvSpPr txBox="1"/>
          <p:nvPr/>
        </p:nvSpPr>
        <p:spPr>
          <a:xfrm>
            <a:off x="9144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Edit</a:t>
            </a:r>
          </a:p>
        </p:txBody>
      </p:sp>
      <p:sp>
        <p:nvSpPr>
          <p:cNvPr id="8" name="TextBox 7"/>
          <p:cNvSpPr txBox="1"/>
          <p:nvPr/>
        </p:nvSpPr>
        <p:spPr>
          <a:xfrm>
            <a:off x="9144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Change a file</a:t>
            </a:r>
          </a:p>
        </p:txBody>
      </p:sp>
      <p:cxnSp>
        <p:nvCxnSpPr>
          <p:cNvPr id="9" name="Connector 8"/>
          <p:cNvCxnSpPr/>
          <p:nvPr/>
        </p:nvCxnSpPr>
        <p:spPr>
          <a:xfrm>
            <a:off x="381000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2435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2435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02</a:t>
            </a:r>
          </a:p>
        </p:txBody>
      </p:sp>
      <p:sp>
        <p:nvSpPr>
          <p:cNvPr id="12" name="TextBox 11"/>
          <p:cNvSpPr txBox="1"/>
          <p:nvPr/>
        </p:nvSpPr>
        <p:spPr>
          <a:xfrm>
            <a:off x="432435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Save</a:t>
            </a:r>
          </a:p>
        </p:txBody>
      </p:sp>
      <p:sp>
        <p:nvSpPr>
          <p:cNvPr id="13" name="TextBox 12"/>
          <p:cNvSpPr txBox="1"/>
          <p:nvPr/>
        </p:nvSpPr>
        <p:spPr>
          <a:xfrm>
            <a:off x="4324350" y="5429250"/>
            <a:ext cx="2819400" cy="381000"/>
          </a:xfrm>
          <a:prstGeom prst="rect">
            <a:avLst/>
          </a:prstGeom>
          <a:noFill/>
        </p:spPr>
        <p:txBody>
          <a:bodyPr wrap="square" lIns="0" rIns="0" tIns="0" bIns="0" anchor="t">
            <a:spAutoFit/>
          </a:bodyPr>
          <a:lstStyle/>
          <a:p>
            <a:pPr algn="ctr"/>
            <a:r>
              <a:rPr sz="1800" b="0" i="0">
                <a:solidFill>
                  <a:srgbClr val="9A7878"/>
                </a:solidFill>
                <a:latin typeface="Geist Mono"/>
                <a:ea typeface="Geist Mono"/>
                <a:cs typeface="Geist Mono"/>
              </a:rPr>
              <a:t>Ctrl+S</a:t>
            </a:r>
          </a:p>
        </p:txBody>
      </p:sp>
      <p:cxnSp>
        <p:nvCxnSpPr>
          <p:cNvPr id="14" name="Connector 13"/>
          <p:cNvCxnSpPr/>
          <p:nvPr/>
        </p:nvCxnSpPr>
        <p:spPr>
          <a:xfrm>
            <a:off x="721995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3430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343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03</a:t>
            </a:r>
          </a:p>
        </p:txBody>
      </p:sp>
      <p:sp>
        <p:nvSpPr>
          <p:cNvPr id="17" name="TextBox 16"/>
          <p:cNvSpPr txBox="1"/>
          <p:nvPr/>
        </p:nvSpPr>
        <p:spPr>
          <a:xfrm>
            <a:off x="77343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Stage</a:t>
            </a:r>
          </a:p>
        </p:txBody>
      </p:sp>
      <p:sp>
        <p:nvSpPr>
          <p:cNvPr id="18" name="TextBox 17"/>
          <p:cNvSpPr txBox="1"/>
          <p:nvPr/>
        </p:nvSpPr>
        <p:spPr>
          <a:xfrm>
            <a:off x="77343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Press the +</a:t>
            </a:r>
          </a:p>
        </p:txBody>
      </p:sp>
      <p:cxnSp>
        <p:nvCxnSpPr>
          <p:cNvPr id="19" name="Connector 18"/>
          <p:cNvCxnSpPr/>
          <p:nvPr/>
        </p:nvCxnSpPr>
        <p:spPr>
          <a:xfrm>
            <a:off x="1062990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1144250" y="4000500"/>
            <a:ext cx="28194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14425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04</a:t>
            </a:r>
          </a:p>
        </p:txBody>
      </p:sp>
      <p:sp>
        <p:nvSpPr>
          <p:cNvPr id="22" name="TextBox 21"/>
          <p:cNvSpPr txBox="1"/>
          <p:nvPr/>
        </p:nvSpPr>
        <p:spPr>
          <a:xfrm>
            <a:off x="1114425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Message</a:t>
            </a:r>
          </a:p>
        </p:txBody>
      </p:sp>
      <p:sp>
        <p:nvSpPr>
          <p:cNvPr id="23" name="TextBox 22"/>
          <p:cNvSpPr txBox="1"/>
          <p:nvPr/>
        </p:nvSpPr>
        <p:spPr>
          <a:xfrm>
            <a:off x="1114425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Say what changed</a:t>
            </a:r>
          </a:p>
        </p:txBody>
      </p:sp>
      <p:cxnSp>
        <p:nvCxnSpPr>
          <p:cNvPr id="24" name="Connector 23"/>
          <p:cNvCxnSpPr/>
          <p:nvPr/>
        </p:nvCxnSpPr>
        <p:spPr>
          <a:xfrm>
            <a:off x="14039850" y="504825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554200" y="4000500"/>
            <a:ext cx="28194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554200" y="4286250"/>
            <a:ext cx="2819400" cy="381000"/>
          </a:xfrm>
          <a:prstGeom prst="rect">
            <a:avLst/>
          </a:prstGeom>
          <a:noFill/>
        </p:spPr>
        <p:txBody>
          <a:bodyPr wrap="square" lIns="0" rIns="0" tIns="0" bIns="0" anchor="t">
            <a:spAutoFit/>
          </a:bodyPr>
          <a:lstStyle/>
          <a:p>
            <a:pPr algn="ctr"/>
            <a:r>
              <a:rPr sz="1650" b="1" i="0" spc="130">
                <a:solidFill>
                  <a:srgbClr val="CC2200"/>
                </a:solidFill>
                <a:latin typeface="Geist"/>
                <a:ea typeface="Geist"/>
                <a:cs typeface="Geist"/>
              </a:rPr>
              <a:t>05</a:t>
            </a:r>
          </a:p>
        </p:txBody>
      </p:sp>
      <p:sp>
        <p:nvSpPr>
          <p:cNvPr id="27" name="TextBox 26"/>
          <p:cNvSpPr txBox="1"/>
          <p:nvPr/>
        </p:nvSpPr>
        <p:spPr>
          <a:xfrm>
            <a:off x="14554200" y="4762500"/>
            <a:ext cx="28194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Commit</a:t>
            </a:r>
          </a:p>
        </p:txBody>
      </p:sp>
      <p:sp>
        <p:nvSpPr>
          <p:cNvPr id="28" name="TextBox 27"/>
          <p:cNvSpPr txBox="1"/>
          <p:nvPr/>
        </p:nvSpPr>
        <p:spPr>
          <a:xfrm>
            <a:off x="14554200" y="5429250"/>
            <a:ext cx="28194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Save the snapshot</a:t>
            </a:r>
          </a:p>
        </p:txBody>
      </p:sp>
      <p:sp>
        <p:nvSpPr>
          <p:cNvPr id="29" name="TextBox 28"/>
          <p:cNvSpPr txBox="1"/>
          <p:nvPr/>
        </p:nvSpPr>
        <p:spPr>
          <a:xfrm>
            <a:off x="914400" y="6858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Every button is in Source Control. The Graph shows your new commit on top.</a:t>
            </a:r>
          </a:p>
        </p:txBody>
      </p:sp>
      <p:pic>
        <p:nvPicPr>
          <p:cNvPr id="30" name="Picture 29"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branches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3219450"/>
            <a:ext cx="4000500" cy="419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main</a:t>
            </a:r>
          </a:p>
        </p:txBody>
      </p:sp>
      <p:sp>
        <p:nvSpPr>
          <p:cNvPr id="6" name="TextBox 5"/>
          <p:cNvSpPr txBox="1"/>
          <p:nvPr/>
        </p:nvSpPr>
        <p:spPr>
          <a:xfrm>
            <a:off x="914400" y="4933950"/>
            <a:ext cx="4000500" cy="419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develop</a:t>
            </a:r>
          </a:p>
        </p:txBody>
      </p:sp>
      <p:sp>
        <p:nvSpPr>
          <p:cNvPr id="7" name="TextBox 6"/>
          <p:cNvSpPr txBox="1"/>
          <p:nvPr/>
        </p:nvSpPr>
        <p:spPr>
          <a:xfrm>
            <a:off x="914400" y="6648450"/>
            <a:ext cx="4000500" cy="419100"/>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issue-12-add-turbo-boost</a:t>
            </a:r>
          </a:p>
        </p:txBody>
      </p:sp>
      <p:cxnSp>
        <p:nvCxnSpPr>
          <p:cNvPr id="8" name="Connector 7"/>
          <p:cNvCxnSpPr/>
          <p:nvPr/>
        </p:nvCxnSpPr>
        <p:spPr>
          <a:xfrm>
            <a:off x="5334000" y="3429000"/>
            <a:ext cx="12039600" cy="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334000" y="5143500"/>
            <a:ext cx="12039600" cy="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191500" y="6858000"/>
            <a:ext cx="4572000" cy="0"/>
          </a:xfrm>
          <a:prstGeom prst="line">
            <a:avLst/>
          </a:prstGeom>
          <a:ln w="38100">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39000" y="5257800"/>
            <a:ext cx="9525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2763500" y="5257800"/>
            <a:ext cx="11430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5240000" y="3543300"/>
            <a:ext cx="952500" cy="148590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543550" y="3257550"/>
            <a:ext cx="342900" cy="3429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6211550" y="3257550"/>
            <a:ext cx="342900" cy="3429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43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67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7350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5068550" y="4972050"/>
            <a:ext cx="342900" cy="3429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1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06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211050"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1500" y="7334250"/>
            <a:ext cx="4953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your commits</a:t>
            </a:r>
          </a:p>
        </p:txBody>
      </p:sp>
      <p:sp>
        <p:nvSpPr>
          <p:cNvPr id="24" name="TextBox 23"/>
          <p:cNvSpPr txBox="1"/>
          <p:nvPr/>
        </p:nvSpPr>
        <p:spPr>
          <a:xfrm>
            <a:off x="13144500" y="5715000"/>
            <a:ext cx="28575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merge</a:t>
            </a:r>
          </a:p>
        </p:txBody>
      </p:sp>
      <p:sp>
        <p:nvSpPr>
          <p:cNvPr id="25" name="TextBox 24"/>
          <p:cNvSpPr txBox="1"/>
          <p:nvPr/>
        </p:nvSpPr>
        <p:spPr>
          <a:xfrm>
            <a:off x="15811500" y="4095750"/>
            <a:ext cx="28575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release</a:t>
            </a:r>
          </a:p>
        </p:txBody>
      </p:sp>
      <p:sp>
        <p:nvSpPr>
          <p:cNvPr id="26" name="TextBox 25"/>
          <p:cNvSpPr txBox="1"/>
          <p:nvPr/>
        </p:nvSpPr>
        <p:spPr>
          <a:xfrm>
            <a:off x="914400" y="8191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Branch off develop, merge back into develop. Nobody pushes straight to main or develop.</a:t>
            </a:r>
          </a:p>
        </p:txBody>
      </p:sp>
      <p:pic>
        <p:nvPicPr>
          <p:cNvPr id="27" name="Picture 26"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8" name="TextBox 2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Resolving a merge conflict</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develop,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issue-9-max-speed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Pick one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Accept Current or Incoming, then save, stage with +, and commit</a:t>
            </a:r>
          </a:p>
        </p:txBody>
      </p:sp>
      <p:sp>
        <p:nvSpPr>
          <p:cNvPr id="27" name="TextBox 26"/>
          <p:cNvSpPr txBox="1"/>
          <p:nvPr/>
        </p:nvSpPr>
        <p:spPr>
          <a:xfrm>
            <a:off x="914400" y="790575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Two branches changed the same line. Git can't guess, so it asks you.</a:t>
            </a:r>
          </a:p>
        </p:txBody>
      </p:sp>
      <p:pic>
        <p:nvPicPr>
          <p:cNvPr id="28" name="Picture 27"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or rebase?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Merge</a:t>
            </a:r>
          </a:p>
        </p:txBody>
      </p:sp>
      <p:sp>
        <p:nvSpPr>
          <p:cNvPr id="7" name="Rectangle 6"/>
          <p:cNvSpPr/>
          <p:nvPr/>
        </p:nvSpPr>
        <p:spPr>
          <a:xfrm>
            <a:off x="1371600" y="4000500"/>
            <a:ext cx="762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71600" y="4476750"/>
            <a:ext cx="7239000" cy="3429000"/>
          </a:xfrm>
          <a:prstGeom prst="rect">
            <a:avLst/>
          </a:prstGeom>
          <a:noFill/>
        </p:spPr>
        <p:txBody>
          <a:bodyPr wrap="square" lIns="0" rIns="0" tIns="0" bIns="0" anchor="t">
            <a:spAutoFit/>
          </a:bodyPr>
          <a:lstStyle/>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Joins a finished branch into the one you're on</a:t>
            </a:r>
          </a:p>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Keeps both histories as they were</a:t>
            </a:r>
          </a:p>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Always safe: if unsure, merge</a:t>
            </a:r>
          </a:p>
        </p:txBody>
      </p:sp>
      <p:sp>
        <p:nvSpPr>
          <p:cNvPr id="9" name="Rounded Rectangle 8"/>
          <p:cNvSpPr/>
          <p:nvPr/>
        </p:nvSpPr>
        <p:spPr>
          <a:xfrm>
            <a:off x="9334500" y="2857500"/>
            <a:ext cx="80391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91700" y="3238500"/>
            <a:ext cx="66675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Rebase</a:t>
            </a:r>
          </a:p>
        </p:txBody>
      </p:sp>
      <p:sp>
        <p:nvSpPr>
          <p:cNvPr id="11" name="Rectangle 10"/>
          <p:cNvSpPr/>
          <p:nvPr/>
        </p:nvSpPr>
        <p:spPr>
          <a:xfrm>
            <a:off x="9791700" y="4000500"/>
            <a:ext cx="762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4476750"/>
            <a:ext cx="7239000" cy="3429000"/>
          </a:xfrm>
          <a:prstGeom prst="rect">
            <a:avLst/>
          </a:prstGeom>
          <a:noFill/>
        </p:spPr>
        <p:txBody>
          <a:bodyPr wrap="square" lIns="0" rIns="0" tIns="0" bIns="0" anchor="t">
            <a:spAutoFit/>
          </a:bodyPr>
          <a:lstStyle/>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Replays your commits on develop's newest one</a:t>
            </a:r>
          </a:p>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History becomes one straight line</a:t>
            </a:r>
          </a:p>
          <a:p>
            <a:pPr algn="l">
              <a:lnSpc>
                <a:spcPct val="125000"/>
              </a:lnSpc>
              <a:spcAft>
                <a:spcPts val="1950"/>
              </a:spcAft>
            </a:pPr>
            <a:r>
              <a:rPr sz="2250" b="1" i="0">
                <a:solidFill>
                  <a:srgbClr val="CC2200"/>
                </a:solidFill>
                <a:latin typeface="Geist"/>
                <a:ea typeface="Geist"/>
                <a:cs typeface="Geist"/>
              </a:rPr>
              <a:t>•  </a:t>
            </a:r>
            <a:r>
              <a:rPr sz="2250" b="0" i="0">
                <a:solidFill>
                  <a:srgbClr val="F0E8E8"/>
                </a:solidFill>
                <a:latin typeface="Geist"/>
                <a:ea typeface="Geist"/>
                <a:cs typeface="Geist"/>
              </a:rPr>
              <a:t>Rewrites commits: only on branches nobody shares</a:t>
            </a:r>
          </a:p>
        </p:txBody>
      </p:sp>
      <p:pic>
        <p:nvPicPr>
          <p:cNvPr id="13" name="Picture 1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Sharing work: push, pull, stash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oud-arrow-up.png"/>
          <p:cNvPicPr>
            <a:picLocks noChangeAspect="1"/>
          </p:cNvPicPr>
          <p:nvPr/>
        </p:nvPicPr>
        <p:blipFill>
          <a:blip r:embed="rId3"/>
          <a:stretch>
            <a:fillRect/>
          </a:stretch>
        </p:blipFill>
        <p:spPr>
          <a:xfrm>
            <a:off x="1371600" y="3314700"/>
            <a:ext cx="762000" cy="762000"/>
          </a:xfrm>
          <a:prstGeom prst="rect">
            <a:avLst/>
          </a:prstGeom>
        </p:spPr>
      </p:pic>
      <p:sp>
        <p:nvSpPr>
          <p:cNvPr id="7" name="TextBox 6"/>
          <p:cNvSpPr txBox="1"/>
          <p:nvPr/>
        </p:nvSpPr>
        <p:spPr>
          <a:xfrm>
            <a:off x="1371600"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Push</a:t>
            </a:r>
          </a:p>
        </p:txBody>
      </p:sp>
      <p:sp>
        <p:nvSpPr>
          <p:cNvPr id="8" name="TextBox 7"/>
          <p:cNvSpPr txBox="1"/>
          <p:nvPr/>
        </p:nvSpPr>
        <p:spPr>
          <a:xfrm>
            <a:off x="1371600"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push</a:t>
            </a:r>
          </a:p>
        </p:txBody>
      </p:sp>
      <p:sp>
        <p:nvSpPr>
          <p:cNvPr id="9" name="TextBox 8"/>
          <p:cNvSpPr txBox="1"/>
          <p:nvPr/>
        </p:nvSpPr>
        <p:spPr>
          <a:xfrm>
            <a:off x="1371600"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Send your commits to the shared copy, origin</a:t>
            </a:r>
          </a:p>
        </p:txBody>
      </p:sp>
      <p:sp>
        <p:nvSpPr>
          <p:cNvPr id="10" name="Rounded Rectangle 9"/>
          <p:cNvSpPr/>
          <p:nvPr/>
        </p:nvSpPr>
        <p:spPr>
          <a:xfrm>
            <a:off x="6524625"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ox-arrow-in-down.png"/>
          <p:cNvPicPr>
            <a:picLocks noChangeAspect="1"/>
          </p:cNvPicPr>
          <p:nvPr/>
        </p:nvPicPr>
        <p:blipFill>
          <a:blip r:embed="rId4"/>
          <a:stretch>
            <a:fillRect/>
          </a:stretch>
        </p:blipFill>
        <p:spPr>
          <a:xfrm>
            <a:off x="6981825" y="3314700"/>
            <a:ext cx="762000" cy="762000"/>
          </a:xfrm>
          <a:prstGeom prst="rect">
            <a:avLst/>
          </a:prstGeom>
        </p:spPr>
      </p:pic>
      <p:sp>
        <p:nvSpPr>
          <p:cNvPr id="12" name="TextBox 11"/>
          <p:cNvSpPr txBox="1"/>
          <p:nvPr/>
        </p:nvSpPr>
        <p:spPr>
          <a:xfrm>
            <a:off x="6981825"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Pull</a:t>
            </a:r>
          </a:p>
        </p:txBody>
      </p:sp>
      <p:sp>
        <p:nvSpPr>
          <p:cNvPr id="13" name="TextBox 12"/>
          <p:cNvSpPr txBox="1"/>
          <p:nvPr/>
        </p:nvSpPr>
        <p:spPr>
          <a:xfrm>
            <a:off x="6981825"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pull</a:t>
            </a:r>
          </a:p>
        </p:txBody>
      </p:sp>
      <p:sp>
        <p:nvSpPr>
          <p:cNvPr id="14" name="TextBox 13"/>
          <p:cNvSpPr txBox="1"/>
          <p:nvPr/>
        </p:nvSpPr>
        <p:spPr>
          <a:xfrm>
            <a:off x="6981825"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Bring a teammate's new commits into your copy</a:t>
            </a:r>
          </a:p>
        </p:txBody>
      </p:sp>
      <p:sp>
        <p:nvSpPr>
          <p:cNvPr id="15" name="Rounded Rectangle 14"/>
          <p:cNvSpPr/>
          <p:nvPr/>
        </p:nvSpPr>
        <p:spPr>
          <a:xfrm>
            <a:off x="12134850" y="2857500"/>
            <a:ext cx="5229225"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rchive.png"/>
          <p:cNvPicPr>
            <a:picLocks noChangeAspect="1"/>
          </p:cNvPicPr>
          <p:nvPr/>
        </p:nvPicPr>
        <p:blipFill>
          <a:blip r:embed="rId5"/>
          <a:stretch>
            <a:fillRect/>
          </a:stretch>
        </p:blipFill>
        <p:spPr>
          <a:xfrm>
            <a:off x="12592050" y="3314700"/>
            <a:ext cx="762000" cy="762000"/>
          </a:xfrm>
          <a:prstGeom prst="rect">
            <a:avLst/>
          </a:prstGeom>
        </p:spPr>
      </p:pic>
      <p:sp>
        <p:nvSpPr>
          <p:cNvPr id="17" name="TextBox 16"/>
          <p:cNvSpPr txBox="1"/>
          <p:nvPr/>
        </p:nvSpPr>
        <p:spPr>
          <a:xfrm>
            <a:off x="12592050" y="4381500"/>
            <a:ext cx="4381500" cy="57150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Stash</a:t>
            </a:r>
          </a:p>
        </p:txBody>
      </p:sp>
      <p:sp>
        <p:nvSpPr>
          <p:cNvPr id="18" name="TextBox 17"/>
          <p:cNvSpPr txBox="1"/>
          <p:nvPr/>
        </p:nvSpPr>
        <p:spPr>
          <a:xfrm>
            <a:off x="12592050" y="5048250"/>
            <a:ext cx="4381500" cy="381000"/>
          </a:xfrm>
          <a:prstGeom prst="rect">
            <a:avLst/>
          </a:prstGeom>
          <a:noFill/>
        </p:spPr>
        <p:txBody>
          <a:bodyPr wrap="square" lIns="0" rIns="0" tIns="0" bIns="0" anchor="t">
            <a:spAutoFit/>
          </a:bodyPr>
          <a:lstStyle/>
          <a:p>
            <a:pPr algn="l"/>
            <a:r>
              <a:rPr sz="1950" b="0" i="0">
                <a:solidFill>
                  <a:srgbClr val="E0785F"/>
                </a:solidFill>
                <a:latin typeface="Geist Mono"/>
                <a:ea typeface="Geist Mono"/>
                <a:cs typeface="Geist Mono"/>
              </a:rPr>
              <a:t>git stash</a:t>
            </a:r>
          </a:p>
        </p:txBody>
      </p:sp>
      <p:sp>
        <p:nvSpPr>
          <p:cNvPr id="19" name="TextBox 18"/>
          <p:cNvSpPr txBox="1"/>
          <p:nvPr/>
        </p:nvSpPr>
        <p:spPr>
          <a:xfrm>
            <a:off x="12592050" y="5715000"/>
            <a:ext cx="4381500" cy="171450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Shelve unfinished work so you can switch branches</a:t>
            </a:r>
          </a:p>
        </p:txBody>
      </p:sp>
      <p:sp>
        <p:nvSpPr>
          <p:cNvPr id="20" name="TextBox 19"/>
          <p:cNvSpPr txBox="1"/>
          <p:nvPr/>
        </p:nvSpPr>
        <p:spPr>
          <a:xfrm>
            <a:off x="914400" y="809625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In Source Control, the ... menu has Pull, Push and Stash.</a:t>
            </a:r>
          </a:p>
        </p:txBody>
      </p:sp>
      <p:pic>
        <p:nvPicPr>
          <p:cNvPr id="21" name="Picture 20"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 Basics</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Eight numbered folders, one exercise each. Open each folder's README.md and do them in order.</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01  First commit</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02  Feature branch</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03  Merge</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04  Merge conflict</a:t>
            </a:r>
          </a:p>
        </p:txBody>
      </p:sp>
      <p:pic>
        <p:nvPicPr>
          <p:cNvPr id="15" name="Picture 14"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16" name="TextBox 15"/>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05  Rebase</a:t>
            </a:r>
          </a:p>
        </p:txBody>
      </p:sp>
      <p:pic>
        <p:nvPicPr>
          <p:cNvPr id="17" name="Picture 16"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18" name="TextBox 17"/>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06  Push</a:t>
            </a:r>
          </a:p>
        </p:txBody>
      </p:sp>
      <p:pic>
        <p:nvPicPr>
          <p:cNvPr id="19" name="Picture 18"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0" name="TextBox 19"/>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07  Pull</a:t>
            </a:r>
          </a:p>
        </p:txBody>
      </p:sp>
      <p:pic>
        <p:nvPicPr>
          <p:cNvPr id="21" name="Picture 20"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2" name="TextBox 21"/>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08  Stash</a:t>
            </a:r>
          </a:p>
        </p:txBody>
      </p:sp>
      <p:sp>
        <p:nvSpPr>
          <p:cNvPr id="23" name="TextBox 22"/>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Git Basics</a:t>
            </a:r>
          </a:p>
        </p:txBody>
      </p:sp>
      <p:pic>
        <p:nvPicPr>
          <p:cNvPr id="24" name="Picture 23" descr="dozer.png"/>
          <p:cNvPicPr>
            <a:picLocks noChangeAspect="1"/>
          </p:cNvPicPr>
          <p:nvPr/>
        </p:nvPicPr>
        <p:blipFill>
          <a:blip r:embed="rId4"/>
          <a:stretch>
            <a:fillRect/>
          </a:stretch>
        </p:blipFill>
        <p:spPr>
          <a:xfrm>
            <a:off x="14287500" y="6572250"/>
            <a:ext cx="2476500" cy="1522165"/>
          </a:xfrm>
          <a:prstGeom prst="rect">
            <a:avLst/>
          </a:prstGeom>
        </p:spPr>
      </p:pic>
      <p:pic>
        <p:nvPicPr>
          <p:cNvPr id="25" name="Picture 24"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See what the robot is doing, live</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See what the robot is doing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048500" cy="5715000"/>
          </a:xfrm>
          <a:prstGeom prst="rect">
            <a:avLst/>
          </a:prstGeom>
          <a:noFill/>
        </p:spPr>
        <p:txBody>
          <a:bodyPr wrap="square" lIns="0" rIns="0" tIns="0" bIns="0" anchor="t">
            <a:spAutoFit/>
          </a:bodyPr>
          <a:lstStyle/>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Every value the robot publishes is a field</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Drag a field onto a tab to graph or draw it</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Live data: Start and Enable the robot first</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Search finds a field without digging</a:t>
            </a:r>
          </a:p>
        </p:txBody>
      </p:sp>
      <p:sp>
        <p:nvSpPr>
          <p:cNvPr id="6" name="Rectangle 5"/>
          <p:cNvSpPr/>
          <p:nvPr/>
        </p:nvSpPr>
        <p:spPr>
          <a:xfrm>
            <a:off x="8572500" y="2857500"/>
            <a:ext cx="8801100" cy="4868108"/>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scope.jpg"/>
          <p:cNvPicPr>
            <a:picLocks noChangeAspect="1"/>
          </p:cNvPicPr>
          <p:nvPr/>
        </p:nvPicPr>
        <p:blipFill>
          <a:blip r:embed="rId3"/>
          <a:stretch>
            <a:fillRect/>
          </a:stretch>
        </p:blipFill>
        <p:spPr>
          <a:xfrm>
            <a:off x="8572500" y="2857500"/>
            <a:ext cx="8801100" cy="4868108"/>
          </a:xfrm>
          <a:prstGeom prst="rect">
            <a:avLst/>
          </a:prstGeom>
        </p:spPr>
      </p:pic>
      <p:sp>
        <p:nvSpPr>
          <p:cNvPr id="8" name="Rectangle 7"/>
          <p:cNvSpPr/>
          <p:nvPr/>
        </p:nvSpPr>
        <p:spPr>
          <a:xfrm>
            <a:off x="8572500" y="2857500"/>
            <a:ext cx="8801100" cy="4868108"/>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72500" y="7915008"/>
            <a:ext cx="88011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line graphs, fields, swerve and more</a:t>
            </a:r>
          </a:p>
        </p:txBody>
      </p:sp>
      <p:pic>
        <p:nvPicPr>
          <p:cNvPr id="10" name="Picture 9"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1" name="TextBox 1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tabs you'll set up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5730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25730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Line Graph</a:t>
            </a:r>
          </a:p>
        </p:txBody>
      </p:sp>
      <p:sp>
        <p:nvSpPr>
          <p:cNvPr id="8" name="TextBox 7"/>
          <p:cNvSpPr txBox="1"/>
          <p:nvPr/>
        </p:nvSpPr>
        <p:spPr>
          <a:xfrm>
            <a:off x="125730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Left and right axes, lock the range, Differentiate, discrete fields for true/false</a:t>
            </a:r>
          </a:p>
        </p:txBody>
      </p:sp>
      <p:sp>
        <p:nvSpPr>
          <p:cNvPr id="9" name="Rounded Rectangle 8"/>
          <p:cNvSpPr/>
          <p:nvPr/>
        </p:nvSpPr>
        <p:spPr>
          <a:xfrm>
            <a:off x="508635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2925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542925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2D Field</a:t>
            </a:r>
          </a:p>
        </p:txBody>
      </p:sp>
      <p:sp>
        <p:nvSpPr>
          <p:cNvPr id="12" name="TextBox 11"/>
          <p:cNvSpPr txBox="1"/>
          <p:nvPr/>
        </p:nvSpPr>
        <p:spPr>
          <a:xfrm>
            <a:off x="542925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Drag a Pose2d onto it; set the field to Evergreen</a:t>
            </a:r>
          </a:p>
        </p:txBody>
      </p:sp>
      <p:sp>
        <p:nvSpPr>
          <p:cNvPr id="13" name="Rounded Rectangle 12"/>
          <p:cNvSpPr/>
          <p:nvPr/>
        </p:nvSpPr>
        <p:spPr>
          <a:xfrm>
            <a:off x="925830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960120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3D Field</a:t>
            </a:r>
          </a:p>
        </p:txBody>
      </p:sp>
      <p:sp>
        <p:nvSpPr>
          <p:cNvPr id="16" name="TextBox 15"/>
          <p:cNvSpPr txBox="1"/>
          <p:nvPr/>
        </p:nvSpPr>
        <p:spPr>
          <a:xfrm>
            <a:off x="960120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Same path with a 3D robot; Orbit Robot follows it</a:t>
            </a:r>
          </a:p>
        </p:txBody>
      </p:sp>
      <p:sp>
        <p:nvSpPr>
          <p:cNvPr id="17" name="Rounded Rectangle 16"/>
          <p:cNvSpPr/>
          <p:nvPr/>
        </p:nvSpPr>
        <p:spPr>
          <a:xfrm>
            <a:off x="13430250" y="2857500"/>
            <a:ext cx="3886200" cy="3810000"/>
          </a:xfrm>
          <a:prstGeom prst="roundRect">
            <a:avLst>
              <a:gd name="adj" fmla="val 4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773150" y="32004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13773150" y="3619500"/>
            <a:ext cx="32385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Swerve</a:t>
            </a:r>
          </a:p>
        </p:txBody>
      </p:sp>
      <p:sp>
        <p:nvSpPr>
          <p:cNvPr id="20" name="TextBox 19"/>
          <p:cNvSpPr txBox="1"/>
          <p:nvPr/>
        </p:nvSpPr>
        <p:spPr>
          <a:xfrm>
            <a:off x="13773150" y="4286250"/>
            <a:ext cx="3238500" cy="2286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wheel's speed and angle, plus chassis speeds and heading</a:t>
            </a:r>
          </a:p>
        </p:txBody>
      </p:sp>
      <p:sp>
        <p:nvSpPr>
          <p:cNvPr id="21" name="Rounded Rectangle 20"/>
          <p:cNvSpPr/>
          <p:nvPr/>
        </p:nvSpPr>
        <p:spPr>
          <a:xfrm>
            <a:off x="914400" y="7048500"/>
            <a:ext cx="16459200" cy="1333500"/>
          </a:xfrm>
          <a:prstGeom prst="roundRect">
            <a:avLst>
              <a:gd name="adj" fmla="val 11428"/>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liders.png"/>
          <p:cNvPicPr>
            <a:picLocks noChangeAspect="1"/>
          </p:cNvPicPr>
          <p:nvPr/>
        </p:nvPicPr>
        <p:blipFill>
          <a:blip r:embed="rId3"/>
          <a:stretch>
            <a:fillRect/>
          </a:stretch>
        </p:blipFill>
        <p:spPr>
          <a:xfrm>
            <a:off x="1333500" y="7410450"/>
            <a:ext cx="609600" cy="609600"/>
          </a:xfrm>
          <a:prstGeom prst="rect">
            <a:avLst/>
          </a:prstGeom>
        </p:spPr>
      </p:pic>
      <p:sp>
        <p:nvSpPr>
          <p:cNvPr id="23" name="TextBox 22"/>
          <p:cNvSpPr txBox="1"/>
          <p:nvPr/>
        </p:nvSpPr>
        <p:spPr>
          <a:xfrm>
            <a:off x="2286000" y="7239000"/>
            <a:ext cx="147637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Tuning Mode  </a:t>
            </a:r>
            <a:r>
              <a:rPr sz="2100" b="0" i="0">
                <a:solidFill>
                  <a:srgbClr val="F0E8E8"/>
                </a:solidFill>
                <a:latin typeface="Geist"/>
                <a:ea typeface="Geist"/>
                <a:cs typeface="Geist"/>
              </a:rPr>
              <a:t>The slider icon turns purple. Only values under /Tuning can be changed, like FlywheelTargetRPM.</a:t>
            </a:r>
          </a:p>
        </p:txBody>
      </p:sp>
      <p:pic>
        <p:nvPicPr>
          <p:cNvPr id="24" name="Picture 23"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AdvantageScope</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Start the robot, open the Scope pane, and build these views. Verify any time.</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Flywheel line graph</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Locked axis scale</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Differentiated flywheel RPM</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Game piece discrete field</a:t>
            </a:r>
          </a:p>
        </p:txBody>
      </p:sp>
      <p:pic>
        <p:nvPicPr>
          <p:cNvPr id="15" name="Picture 14"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16" name="TextBox 15"/>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2D field pose</a:t>
            </a:r>
          </a:p>
        </p:txBody>
      </p:sp>
      <p:pic>
        <p:nvPicPr>
          <p:cNvPr id="17" name="Picture 16"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18" name="TextBox 17"/>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3D field pose</a:t>
            </a:r>
          </a:p>
        </p:txBody>
      </p:sp>
      <p:pic>
        <p:nvPicPr>
          <p:cNvPr id="19" name="Picture 18"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0" name="TextBox 19"/>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Swerve tab</a:t>
            </a:r>
          </a:p>
        </p:txBody>
      </p:sp>
      <p:pic>
        <p:nvPicPr>
          <p:cNvPr id="21" name="Picture 20"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2" name="TextBox 21"/>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Tuned flywheel target</a:t>
            </a:r>
          </a:p>
        </p:txBody>
      </p:sp>
      <p:sp>
        <p:nvSpPr>
          <p:cNvPr id="23" name="TextBox 22"/>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AdvantageScope</a:t>
            </a:r>
          </a:p>
        </p:txBody>
      </p:sp>
      <p:pic>
        <p:nvPicPr>
          <p:cNvPr id="24" name="Picture 23" descr="dozer.png"/>
          <p:cNvPicPr>
            <a:picLocks noChangeAspect="1"/>
          </p:cNvPicPr>
          <p:nvPr/>
        </p:nvPicPr>
        <p:blipFill>
          <a:blip r:embed="rId4"/>
          <a:stretch>
            <a:fillRect/>
          </a:stretch>
        </p:blipFill>
        <p:spPr>
          <a:xfrm>
            <a:off x="14287500" y="6572250"/>
            <a:ext cx="2476500" cy="1522165"/>
          </a:xfrm>
          <a:prstGeom prst="rect">
            <a:avLst/>
          </a:prstGeom>
        </p:spPr>
      </p:pic>
      <p:pic>
        <p:nvPicPr>
          <p:cNvPr id="25" name="Picture 24"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The dashboard drivers watch during a match</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driver's dashboard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048500" cy="5715000"/>
          </a:xfrm>
          <a:prstGeom prst="rect">
            <a:avLst/>
          </a:prstGeom>
          <a:noFill/>
        </p:spPr>
        <p:txBody>
          <a:bodyPr wrap="square" lIns="0" rIns="0" tIns="0" bIns="0" anchor="t">
            <a:spAutoFit/>
          </a:bodyPr>
          <a:lstStyle/>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Widgets show live robot values, called topics</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Start the robot; look for Connected</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Add Widget, then drag a topic onto the grid</a:t>
            </a:r>
          </a:p>
          <a:p>
            <a:pPr algn="l">
              <a:lnSpc>
                <a:spcPct val="125000"/>
              </a:lnSpc>
              <a:spcAft>
                <a:spcPts val="2550"/>
              </a:spcAft>
            </a:pPr>
            <a:r>
              <a:rPr sz="2250" b="1" i="0">
                <a:solidFill>
                  <a:srgbClr val="CC2200"/>
                </a:solidFill>
                <a:latin typeface="Geist"/>
                <a:ea typeface="Geist"/>
                <a:cs typeface="Geist"/>
              </a:rPr>
              <a:t>•  </a:t>
            </a:r>
            <a:r>
              <a:rPr sz="2250" b="0" i="0">
                <a:solidFill>
                  <a:srgbClr val="F0E8E8"/>
                </a:solidFill>
                <a:latin typeface="Geist"/>
                <a:ea typeface="Geist"/>
                <a:cs typeface="Geist"/>
              </a:rPr>
              <a:t>File &gt; Save before you Verify</a:t>
            </a:r>
          </a:p>
        </p:txBody>
      </p:sp>
      <p:sp>
        <p:nvSpPr>
          <p:cNvPr id="6" name="Rectangle 5"/>
          <p:cNvSpPr/>
          <p:nvPr/>
        </p:nvSpPr>
        <p:spPr>
          <a:xfrm>
            <a:off x="8572500" y="2857500"/>
            <a:ext cx="8801100" cy="4469309"/>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lastic.png"/>
          <p:cNvPicPr>
            <a:picLocks noChangeAspect="1"/>
          </p:cNvPicPr>
          <p:nvPr/>
        </p:nvPicPr>
        <p:blipFill>
          <a:blip r:embed="rId3"/>
          <a:stretch>
            <a:fillRect/>
          </a:stretch>
        </p:blipFill>
        <p:spPr>
          <a:xfrm>
            <a:off x="8572500" y="2857500"/>
            <a:ext cx="8801100" cy="4469309"/>
          </a:xfrm>
          <a:prstGeom prst="rect">
            <a:avLst/>
          </a:prstGeom>
        </p:spPr>
      </p:pic>
      <p:sp>
        <p:nvSpPr>
          <p:cNvPr id="8" name="Rectangle 7"/>
          <p:cNvSpPr/>
          <p:nvPr/>
        </p:nvSpPr>
        <p:spPr>
          <a:xfrm>
            <a:off x="8572500" y="2857500"/>
            <a:ext cx="8801100" cy="4469309"/>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72500" y="7517309"/>
            <a:ext cx="88011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An Elastic match dashboard</a:t>
            </a:r>
          </a:p>
        </p:txBody>
      </p:sp>
      <p:pic>
        <p:nvPicPr>
          <p:cNvPr id="10" name="Picture 9"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1" name="TextBox 1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429000"/>
          </a:xfrm>
          <a:prstGeom prst="rect">
            <a:avLst/>
          </a:prstGeom>
          <a:noFill/>
        </p:spPr>
        <p:txBody>
          <a:bodyPr wrap="square" lIns="0" rIns="0" tIns="0" bIns="0" anchor="t">
            <a:spAutoFit/>
          </a:bodyPr>
          <a:lstStyle/>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Text Display, Large Text Display</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Number Bar, Voltage View</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Radial Gauge, Graph, Match Time</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Boolean Box, Color Views</a:t>
            </a:r>
          </a:p>
        </p:txBody>
      </p:sp>
      <p:sp>
        <p:nvSpPr>
          <p:cNvPr id="9" name="Rounded Rectangle 8"/>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1" name="TextBox 10"/>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2" name="TextBox 11"/>
          <p:cNvSpPr txBox="1"/>
          <p:nvPr/>
        </p:nvSpPr>
        <p:spPr>
          <a:xfrm>
            <a:off x="9791700" y="4667250"/>
            <a:ext cx="7239000" cy="3429000"/>
          </a:xfrm>
          <a:prstGeom prst="rect">
            <a:avLst/>
          </a:prstGeom>
          <a:noFill/>
        </p:spPr>
        <p:txBody>
          <a:bodyPr wrap="square" lIns="0" rIns="0" tIns="0" bIns="0" anchor="t">
            <a:spAutoFit/>
          </a:bodyPr>
          <a:lstStyle/>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Number Slider</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ComboBox and Split Button Choosers</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Text Display with a Submit button</a:t>
            </a:r>
          </a:p>
          <a:p>
            <a:pPr algn="l">
              <a:lnSpc>
                <a:spcPct val="125000"/>
              </a:lnSpc>
              <a:spcAft>
                <a:spcPts val="1650"/>
              </a:spcAft>
            </a:pPr>
            <a:r>
              <a:rPr sz="2250" b="1" i="0">
                <a:solidFill>
                  <a:srgbClr val="CC2200"/>
                </a:solidFill>
                <a:latin typeface="Geist"/>
                <a:ea typeface="Geist"/>
                <a:cs typeface="Geist"/>
              </a:rPr>
              <a:t>•  </a:t>
            </a:r>
            <a:r>
              <a:rPr sz="2250" b="0" i="0">
                <a:solidFill>
                  <a:srgbClr val="F0E8E8"/>
                </a:solidFill>
                <a:latin typeface="Geist"/>
                <a:ea typeface="Geist"/>
                <a:cs typeface="Geist"/>
              </a:rPr>
              <a:t>Toggle Button, Toggle Switch</a:t>
            </a:r>
          </a:p>
        </p:txBody>
      </p:sp>
      <p:pic>
        <p:nvPicPr>
          <p:cNvPr id="13" name="Picture 1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Elastic</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Bind each widget in the lesson's table to its topic. Send widgets need a live change too.</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28600" cy="228600"/>
          </a:xfrm>
          <a:prstGeom prst="rect">
            <a:avLst/>
          </a:prstGeom>
        </p:spPr>
      </p:pic>
      <p:sp>
        <p:nvSpPr>
          <p:cNvPr id="8" name="TextBox 7"/>
          <p:cNvSpPr txBox="1"/>
          <p:nvPr/>
        </p:nvSpPr>
        <p:spPr>
          <a:xfrm>
            <a:off x="19050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Counter text display</a:t>
            </a:r>
          </a:p>
        </p:txBody>
      </p:sp>
      <p:pic>
        <p:nvPicPr>
          <p:cNvPr id="9" name="Picture 8" descr="check-circle-fill.png"/>
          <p:cNvPicPr>
            <a:picLocks noChangeAspect="1"/>
          </p:cNvPicPr>
          <p:nvPr/>
        </p:nvPicPr>
        <p:blipFill>
          <a:blip r:embed="rId3"/>
          <a:stretch>
            <a:fillRect/>
          </a:stretch>
        </p:blipFill>
        <p:spPr>
          <a:xfrm>
            <a:off x="1524000" y="4914900"/>
            <a:ext cx="228600" cy="228600"/>
          </a:xfrm>
          <a:prstGeom prst="rect">
            <a:avLst/>
          </a:prstGeom>
        </p:spPr>
      </p:pic>
      <p:sp>
        <p:nvSpPr>
          <p:cNvPr id="10" name="TextBox 9"/>
          <p:cNvSpPr txBox="1"/>
          <p:nvPr/>
        </p:nvSpPr>
        <p:spPr>
          <a:xfrm>
            <a:off x="19050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Status large text display</a:t>
            </a:r>
          </a:p>
        </p:txBody>
      </p:sp>
      <p:pic>
        <p:nvPicPr>
          <p:cNvPr id="11" name="Picture 10" descr="check-circle-fill.png"/>
          <p:cNvPicPr>
            <a:picLocks noChangeAspect="1"/>
          </p:cNvPicPr>
          <p:nvPr/>
        </p:nvPicPr>
        <p:blipFill>
          <a:blip r:embed="rId3"/>
          <a:stretch>
            <a:fillRect/>
          </a:stretch>
        </p:blipFill>
        <p:spPr>
          <a:xfrm>
            <a:off x="1524000" y="5334000"/>
            <a:ext cx="228600" cy="228600"/>
          </a:xfrm>
          <a:prstGeom prst="rect">
            <a:avLst/>
          </a:prstGeom>
        </p:spPr>
      </p:pic>
      <p:sp>
        <p:nvSpPr>
          <p:cNvPr id="12" name="TextBox 11"/>
          <p:cNvSpPr txBox="1"/>
          <p:nvPr/>
        </p:nvSpPr>
        <p:spPr>
          <a:xfrm>
            <a:off x="19050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Climber speed number bar</a:t>
            </a:r>
          </a:p>
        </p:txBody>
      </p:sp>
      <p:pic>
        <p:nvPicPr>
          <p:cNvPr id="13" name="Picture 12" descr="check-circle-fill.png"/>
          <p:cNvPicPr>
            <a:picLocks noChangeAspect="1"/>
          </p:cNvPicPr>
          <p:nvPr/>
        </p:nvPicPr>
        <p:blipFill>
          <a:blip r:embed="rId3"/>
          <a:stretch>
            <a:fillRect/>
          </a:stretch>
        </p:blipFill>
        <p:spPr>
          <a:xfrm>
            <a:off x="1524000" y="5753100"/>
            <a:ext cx="228600" cy="228600"/>
          </a:xfrm>
          <a:prstGeom prst="rect">
            <a:avLst/>
          </a:prstGeom>
        </p:spPr>
      </p:pic>
      <p:sp>
        <p:nvSpPr>
          <p:cNvPr id="14" name="TextBox 13"/>
          <p:cNvSpPr txBox="1"/>
          <p:nvPr/>
        </p:nvSpPr>
        <p:spPr>
          <a:xfrm>
            <a:off x="19050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Battery voltage view</a:t>
            </a:r>
          </a:p>
        </p:txBody>
      </p:sp>
      <p:pic>
        <p:nvPicPr>
          <p:cNvPr id="15" name="Picture 14" descr="check-circle-fill.png"/>
          <p:cNvPicPr>
            <a:picLocks noChangeAspect="1"/>
          </p:cNvPicPr>
          <p:nvPr/>
        </p:nvPicPr>
        <p:blipFill>
          <a:blip r:embed="rId3"/>
          <a:stretch>
            <a:fillRect/>
          </a:stretch>
        </p:blipFill>
        <p:spPr>
          <a:xfrm>
            <a:off x="1524000" y="6172200"/>
            <a:ext cx="228600" cy="228600"/>
          </a:xfrm>
          <a:prstGeom prst="rect">
            <a:avLst/>
          </a:prstGeom>
        </p:spPr>
      </p:pic>
      <p:sp>
        <p:nvSpPr>
          <p:cNvPr id="16" name="TextBox 15"/>
          <p:cNvSpPr txBox="1"/>
          <p:nvPr/>
        </p:nvSpPr>
        <p:spPr>
          <a:xfrm>
            <a:off x="1905000" y="61150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Gyro heading radial gauge</a:t>
            </a:r>
          </a:p>
        </p:txBody>
      </p:sp>
      <p:pic>
        <p:nvPicPr>
          <p:cNvPr id="17" name="Picture 16" descr="check-circle-fill.png"/>
          <p:cNvPicPr>
            <a:picLocks noChangeAspect="1"/>
          </p:cNvPicPr>
          <p:nvPr/>
        </p:nvPicPr>
        <p:blipFill>
          <a:blip r:embed="rId3"/>
          <a:stretch>
            <a:fillRect/>
          </a:stretch>
        </p:blipFill>
        <p:spPr>
          <a:xfrm>
            <a:off x="1524000" y="6591300"/>
            <a:ext cx="228600" cy="228600"/>
          </a:xfrm>
          <a:prstGeom prst="rect">
            <a:avLst/>
          </a:prstGeom>
        </p:spPr>
      </p:pic>
      <p:sp>
        <p:nvSpPr>
          <p:cNvPr id="18" name="TextBox 17"/>
          <p:cNvSpPr txBox="1"/>
          <p:nvPr/>
        </p:nvSpPr>
        <p:spPr>
          <a:xfrm>
            <a:off x="1905000" y="65341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Intake current graph</a:t>
            </a:r>
          </a:p>
        </p:txBody>
      </p:sp>
      <p:pic>
        <p:nvPicPr>
          <p:cNvPr id="19" name="Picture 18" descr="check-circle-fill.png"/>
          <p:cNvPicPr>
            <a:picLocks noChangeAspect="1"/>
          </p:cNvPicPr>
          <p:nvPr/>
        </p:nvPicPr>
        <p:blipFill>
          <a:blip r:embed="rId3"/>
          <a:stretch>
            <a:fillRect/>
          </a:stretch>
        </p:blipFill>
        <p:spPr>
          <a:xfrm>
            <a:off x="1524000" y="7010400"/>
            <a:ext cx="228600" cy="228600"/>
          </a:xfrm>
          <a:prstGeom prst="rect">
            <a:avLst/>
          </a:prstGeom>
        </p:spPr>
      </p:pic>
      <p:sp>
        <p:nvSpPr>
          <p:cNvPr id="20" name="TextBox 19"/>
          <p:cNvSpPr txBox="1"/>
          <p:nvPr/>
        </p:nvSpPr>
        <p:spPr>
          <a:xfrm>
            <a:off x="1905000" y="69532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Match time widget</a:t>
            </a:r>
          </a:p>
        </p:txBody>
      </p:sp>
      <p:pic>
        <p:nvPicPr>
          <p:cNvPr id="21" name="Picture 20" descr="check-circle-fill.png"/>
          <p:cNvPicPr>
            <a:picLocks noChangeAspect="1"/>
          </p:cNvPicPr>
          <p:nvPr/>
        </p:nvPicPr>
        <p:blipFill>
          <a:blip r:embed="rId3"/>
          <a:stretch>
            <a:fillRect/>
          </a:stretch>
        </p:blipFill>
        <p:spPr>
          <a:xfrm>
            <a:off x="7429500" y="4495800"/>
            <a:ext cx="228600" cy="228600"/>
          </a:xfrm>
          <a:prstGeom prst="rect">
            <a:avLst/>
          </a:prstGeom>
        </p:spPr>
      </p:pic>
      <p:sp>
        <p:nvSpPr>
          <p:cNvPr id="22" name="TextBox 21"/>
          <p:cNvSpPr txBox="1"/>
          <p:nvPr/>
        </p:nvSpPr>
        <p:spPr>
          <a:xfrm>
            <a:off x="7810500" y="44386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Game piece boolean box</a:t>
            </a:r>
          </a:p>
        </p:txBody>
      </p:sp>
      <p:pic>
        <p:nvPicPr>
          <p:cNvPr id="23" name="Picture 22" descr="check-circle-fill.png"/>
          <p:cNvPicPr>
            <a:picLocks noChangeAspect="1"/>
          </p:cNvPicPr>
          <p:nvPr/>
        </p:nvPicPr>
        <p:blipFill>
          <a:blip r:embed="rId3"/>
          <a:stretch>
            <a:fillRect/>
          </a:stretch>
        </p:blipFill>
        <p:spPr>
          <a:xfrm>
            <a:off x="7429500" y="4914900"/>
            <a:ext cx="228600" cy="228600"/>
          </a:xfrm>
          <a:prstGeom prst="rect">
            <a:avLst/>
          </a:prstGeom>
        </p:spPr>
      </p:pic>
      <p:sp>
        <p:nvSpPr>
          <p:cNvPr id="24" name="TextBox 23"/>
          <p:cNvSpPr txBox="1"/>
          <p:nvPr/>
        </p:nvSpPr>
        <p:spPr>
          <a:xfrm>
            <a:off x="7810500" y="48577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Status single color view</a:t>
            </a:r>
          </a:p>
        </p:txBody>
      </p:sp>
      <p:pic>
        <p:nvPicPr>
          <p:cNvPr id="25" name="Picture 24" descr="check-circle-fill.png"/>
          <p:cNvPicPr>
            <a:picLocks noChangeAspect="1"/>
          </p:cNvPicPr>
          <p:nvPr/>
        </p:nvPicPr>
        <p:blipFill>
          <a:blip r:embed="rId3"/>
          <a:stretch>
            <a:fillRect/>
          </a:stretch>
        </p:blipFill>
        <p:spPr>
          <a:xfrm>
            <a:off x="7429500" y="5334000"/>
            <a:ext cx="228600" cy="228600"/>
          </a:xfrm>
          <a:prstGeom prst="rect">
            <a:avLst/>
          </a:prstGeom>
        </p:spPr>
      </p:pic>
      <p:sp>
        <p:nvSpPr>
          <p:cNvPr id="26" name="TextBox 25"/>
          <p:cNvSpPr txBox="1"/>
          <p:nvPr/>
        </p:nvSpPr>
        <p:spPr>
          <a:xfrm>
            <a:off x="7810500" y="52768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LED strip multi color view</a:t>
            </a:r>
          </a:p>
        </p:txBody>
      </p:sp>
      <p:pic>
        <p:nvPicPr>
          <p:cNvPr id="27" name="Picture 26" descr="check-circle-fill.png"/>
          <p:cNvPicPr>
            <a:picLocks noChangeAspect="1"/>
          </p:cNvPicPr>
          <p:nvPr/>
        </p:nvPicPr>
        <p:blipFill>
          <a:blip r:embed="rId3"/>
          <a:stretch>
            <a:fillRect/>
          </a:stretch>
        </p:blipFill>
        <p:spPr>
          <a:xfrm>
            <a:off x="7429500" y="5753100"/>
            <a:ext cx="228600" cy="228600"/>
          </a:xfrm>
          <a:prstGeom prst="rect">
            <a:avLst/>
          </a:prstGeom>
        </p:spPr>
      </p:pic>
      <p:sp>
        <p:nvSpPr>
          <p:cNvPr id="28" name="TextBox 27"/>
          <p:cNvSpPr txBox="1"/>
          <p:nvPr/>
        </p:nvSpPr>
        <p:spPr>
          <a:xfrm>
            <a:off x="7810500" y="56959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Shooter angle slider + live write</a:t>
            </a:r>
          </a:p>
        </p:txBody>
      </p:sp>
      <p:pic>
        <p:nvPicPr>
          <p:cNvPr id="29" name="Picture 28" descr="check-circle-fill.png"/>
          <p:cNvPicPr>
            <a:picLocks noChangeAspect="1"/>
          </p:cNvPicPr>
          <p:nvPr/>
        </p:nvPicPr>
        <p:blipFill>
          <a:blip r:embed="rId3"/>
          <a:stretch>
            <a:fillRect/>
          </a:stretch>
        </p:blipFill>
        <p:spPr>
          <a:xfrm>
            <a:off x="7429500" y="6172200"/>
            <a:ext cx="228600" cy="228600"/>
          </a:xfrm>
          <a:prstGeom prst="rect">
            <a:avLst/>
          </a:prstGeom>
        </p:spPr>
      </p:pic>
      <p:sp>
        <p:nvSpPr>
          <p:cNvPr id="30" name="TextBox 29"/>
          <p:cNvSpPr txBox="1"/>
          <p:nvPr/>
        </p:nvSpPr>
        <p:spPr>
          <a:xfrm>
            <a:off x="7810500" y="61150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Auto routine choosers + live pick</a:t>
            </a:r>
          </a:p>
        </p:txBody>
      </p:sp>
      <p:pic>
        <p:nvPicPr>
          <p:cNvPr id="31" name="Picture 30" descr="check-circle-fill.png"/>
          <p:cNvPicPr>
            <a:picLocks noChangeAspect="1"/>
          </p:cNvPicPr>
          <p:nvPr/>
        </p:nvPicPr>
        <p:blipFill>
          <a:blip r:embed="rId3"/>
          <a:stretch>
            <a:fillRect/>
          </a:stretch>
        </p:blipFill>
        <p:spPr>
          <a:xfrm>
            <a:off x="7429500" y="6591300"/>
            <a:ext cx="228600" cy="228600"/>
          </a:xfrm>
          <a:prstGeom prst="rect">
            <a:avLst/>
          </a:prstGeom>
        </p:spPr>
      </p:pic>
      <p:sp>
        <p:nvSpPr>
          <p:cNvPr id="32" name="TextBox 31"/>
          <p:cNvSpPr txBox="1"/>
          <p:nvPr/>
        </p:nvSpPr>
        <p:spPr>
          <a:xfrm>
            <a:off x="7810500" y="65341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Auto delay text + live submit</a:t>
            </a:r>
          </a:p>
        </p:txBody>
      </p:sp>
      <p:pic>
        <p:nvPicPr>
          <p:cNvPr id="33" name="Picture 32" descr="check-circle-fill.png"/>
          <p:cNvPicPr>
            <a:picLocks noChangeAspect="1"/>
          </p:cNvPicPr>
          <p:nvPr/>
        </p:nvPicPr>
        <p:blipFill>
          <a:blip r:embed="rId3"/>
          <a:stretch>
            <a:fillRect/>
          </a:stretch>
        </p:blipFill>
        <p:spPr>
          <a:xfrm>
            <a:off x="7429500" y="7010400"/>
            <a:ext cx="228600" cy="228600"/>
          </a:xfrm>
          <a:prstGeom prst="rect">
            <a:avLst/>
          </a:prstGeom>
        </p:spPr>
      </p:pic>
      <p:sp>
        <p:nvSpPr>
          <p:cNvPr id="34" name="TextBox 33"/>
          <p:cNvSpPr txBox="1"/>
          <p:nvPr/>
        </p:nvSpPr>
        <p:spPr>
          <a:xfrm>
            <a:off x="7810500" y="6953250"/>
            <a:ext cx="5334000" cy="4191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Brake mode toggles</a:t>
            </a:r>
          </a:p>
        </p:txBody>
      </p:sp>
      <p:sp>
        <p:nvSpPr>
          <p:cNvPr id="35" name="TextBox 34"/>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Elastic</a:t>
            </a:r>
          </a:p>
        </p:txBody>
      </p:sp>
      <p:pic>
        <p:nvPicPr>
          <p:cNvPr id="36" name="Picture 35" descr="dozer.png"/>
          <p:cNvPicPr>
            <a:picLocks noChangeAspect="1"/>
          </p:cNvPicPr>
          <p:nvPr/>
        </p:nvPicPr>
        <p:blipFill>
          <a:blip r:embed="rId4"/>
          <a:stretch>
            <a:fillRect/>
          </a:stretch>
        </p:blipFill>
        <p:spPr>
          <a:xfrm>
            <a:off x="14287500" y="6572250"/>
            <a:ext cx="2476500" cy="1522165"/>
          </a:xfrm>
          <a:prstGeom prst="rect">
            <a:avLst/>
          </a:prstGeom>
        </p:spPr>
      </p:pic>
      <p:pic>
        <p:nvPicPr>
          <p:cNvPr id="37" name="Picture 36"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38" name="TextBox 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Plan autonomous paths the robot can really follow</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Plan autonomous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62250"/>
            <a:ext cx="7239000" cy="5715000"/>
          </a:xfrm>
          <a:prstGeom prst="rect">
            <a:avLst/>
          </a:prstGeom>
          <a:noFill/>
        </p:spPr>
        <p:txBody>
          <a:bodyPr wrap="square" lIns="0" rIns="0" tIns="0" bIns="0" anchor="t">
            <a:spAutoFit/>
          </a:bodyPr>
          <a:lstStyle/>
          <a:p>
            <a:pPr algn="l">
              <a:lnSpc>
                <a:spcPct val="125000"/>
              </a:lnSpc>
              <a:spcAft>
                <a:spcPts val="2550"/>
              </a:spcAft>
            </a:pPr>
            <a:r>
              <a:rPr sz="2250" b="1" i="0">
                <a:solidFill>
                  <a:srgbClr val="CC2200"/>
                </a:solidFill>
                <a:latin typeface="Geist"/>
                <a:ea typeface="Geist"/>
                <a:cs typeface="Geist"/>
              </a:rPr>
              <a:t>•  </a:t>
            </a:r>
            <a:r>
              <a:rPr sz="2250" b="1" i="0">
                <a:solidFill>
                  <a:srgbClr val="F0E8E8"/>
                </a:solidFill>
                <a:latin typeface="Geist"/>
                <a:ea typeface="Geist"/>
                <a:cs typeface="Geist"/>
              </a:rPr>
              <a:t>Waypoints</a:t>
            </a:r>
            <a:r>
              <a:rPr sz="2250" b="0" i="0">
                <a:solidFill>
                  <a:srgbClr val="F0E8E8"/>
                </a:solidFill>
                <a:latin typeface="Geist"/>
                <a:ea typeface="Geist"/>
                <a:cs typeface="Geist"/>
              </a:rPr>
              <a:t>: points the path goes through</a:t>
            </a:r>
          </a:p>
          <a:p>
            <a:pPr algn="l">
              <a:lnSpc>
                <a:spcPct val="125000"/>
              </a:lnSpc>
              <a:spcAft>
                <a:spcPts val="2550"/>
              </a:spcAft>
            </a:pPr>
            <a:r>
              <a:rPr sz="2250" b="1" i="0">
                <a:solidFill>
                  <a:srgbClr val="CC2200"/>
                </a:solidFill>
                <a:latin typeface="Geist"/>
                <a:ea typeface="Geist"/>
                <a:cs typeface="Geist"/>
              </a:rPr>
              <a:t>•  </a:t>
            </a:r>
            <a:r>
              <a:rPr sz="2250" b="1" i="0">
                <a:solidFill>
                  <a:srgbClr val="F0E8E8"/>
                </a:solidFill>
                <a:latin typeface="Geist"/>
                <a:ea typeface="Geist"/>
                <a:cs typeface="Geist"/>
              </a:rPr>
              <a:t>Pose</a:t>
            </a:r>
            <a:r>
              <a:rPr sz="2250" b="0" i="0">
                <a:solidFill>
                  <a:srgbClr val="F0E8E8"/>
                </a:solidFill>
                <a:latin typeface="Geist"/>
                <a:ea typeface="Geist"/>
                <a:cs typeface="Geist"/>
              </a:rPr>
              <a:t> pins position and heading; </a:t>
            </a:r>
            <a:r>
              <a:rPr sz="2250" b="1" i="0">
                <a:solidFill>
                  <a:srgbClr val="F0E8E8"/>
                </a:solidFill>
                <a:latin typeface="Geist"/>
                <a:ea typeface="Geist"/>
                <a:cs typeface="Geist"/>
              </a:rPr>
              <a:t>Translation</a:t>
            </a:r>
            <a:r>
              <a:rPr sz="2250" b="0" i="0">
                <a:solidFill>
                  <a:srgbClr val="F0E8E8"/>
                </a:solidFill>
                <a:latin typeface="Geist"/>
                <a:ea typeface="Geist"/>
                <a:cs typeface="Geist"/>
              </a:rPr>
              <a:t> only position</a:t>
            </a:r>
          </a:p>
          <a:p>
            <a:pPr algn="l">
              <a:lnSpc>
                <a:spcPct val="125000"/>
              </a:lnSpc>
              <a:spcAft>
                <a:spcPts val="2550"/>
              </a:spcAft>
            </a:pPr>
            <a:r>
              <a:rPr sz="2250" b="1" i="0">
                <a:solidFill>
                  <a:srgbClr val="CC2200"/>
                </a:solidFill>
                <a:latin typeface="Geist"/>
                <a:ea typeface="Geist"/>
                <a:cs typeface="Geist"/>
              </a:rPr>
              <a:t>•  </a:t>
            </a:r>
            <a:r>
              <a:rPr sz="2250" b="1" i="0">
                <a:solidFill>
                  <a:srgbClr val="F0E8E8"/>
                </a:solidFill>
                <a:latin typeface="Geist"/>
                <a:ea typeface="Geist"/>
                <a:cs typeface="Geist"/>
              </a:rPr>
              <a:t>Constraints</a:t>
            </a:r>
            <a:r>
              <a:rPr sz="2250" b="0" i="0">
                <a:solidFill>
                  <a:srgbClr val="F0E8E8"/>
                </a:solidFill>
                <a:latin typeface="Geist"/>
                <a:ea typeface="Geist"/>
                <a:cs typeface="Geist"/>
              </a:rPr>
              <a:t> are rules, like Max Velocity</a:t>
            </a:r>
          </a:p>
          <a:p>
            <a:pPr algn="l">
              <a:lnSpc>
                <a:spcPct val="125000"/>
              </a:lnSpc>
              <a:spcAft>
                <a:spcPts val="2550"/>
              </a:spcAft>
            </a:pPr>
            <a:r>
              <a:rPr sz="2250" b="1" i="0">
                <a:solidFill>
                  <a:srgbClr val="CC2200"/>
                </a:solidFill>
                <a:latin typeface="Geist"/>
                <a:ea typeface="Geist"/>
                <a:cs typeface="Geist"/>
              </a:rPr>
              <a:t>•  </a:t>
            </a:r>
            <a:r>
              <a:rPr sz="2250" b="1" i="0">
                <a:solidFill>
                  <a:srgbClr val="F0E8E8"/>
                </a:solidFill>
                <a:latin typeface="Geist"/>
                <a:ea typeface="Geist"/>
                <a:cs typeface="Geist"/>
              </a:rPr>
              <a:t>Generate</a:t>
            </a:r>
            <a:r>
              <a:rPr sz="2250" b="0" i="0">
                <a:solidFill>
                  <a:srgbClr val="F0E8E8"/>
                </a:solidFill>
                <a:latin typeface="Geist"/>
                <a:ea typeface="Geist"/>
                <a:cs typeface="Geist"/>
              </a:rPr>
              <a:t> solves the fastest path and saves it</a:t>
            </a:r>
          </a:p>
        </p:txBody>
      </p:sp>
      <p:sp>
        <p:nvSpPr>
          <p:cNvPr id="6" name="Rectangle 5"/>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horeo.png"/>
          <p:cNvPicPr>
            <a:picLocks noChangeAspect="1"/>
          </p:cNvPicPr>
          <p:nvPr/>
        </p:nvPicPr>
        <p:blipFill>
          <a:blip r:embed="rId3"/>
          <a:stretch>
            <a:fillRect/>
          </a:stretch>
        </p:blipFill>
        <p:spPr>
          <a:xfrm>
            <a:off x="9144000" y="2857500"/>
            <a:ext cx="8103949" cy="5715000"/>
          </a:xfrm>
          <a:prstGeom prst="rect">
            <a:avLst/>
          </a:prstGeom>
        </p:spPr>
      </p:pic>
      <p:sp>
        <p:nvSpPr>
          <p:cNvPr id="8" name="Rectangle 7"/>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0" name="TextBox 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waypoints to a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Waypoints</a:t>
            </a:r>
          </a:p>
        </p:txBody>
      </p:sp>
      <p:sp>
        <p:nvSpPr>
          <p:cNvPr id="7" name="TextBox 6"/>
          <p:cNvSpPr txBox="1"/>
          <p:nvPr/>
        </p:nvSpPr>
        <p:spPr>
          <a:xfrm>
            <a:off x="9144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Where to go</a:t>
            </a:r>
          </a:p>
        </p:txBody>
      </p:sp>
      <p:cxnSp>
        <p:nvCxnSpPr>
          <p:cNvPr id="8" name="Connector 7"/>
          <p:cNvCxnSpPr/>
          <p:nvPr/>
        </p:nvCxnSpPr>
        <p:spPr>
          <a:xfrm>
            <a:off x="44386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578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578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Constraints</a:t>
            </a:r>
          </a:p>
        </p:txBody>
      </p:sp>
      <p:sp>
        <p:nvSpPr>
          <p:cNvPr id="11" name="TextBox 10"/>
          <p:cNvSpPr txBox="1"/>
          <p:nvPr/>
        </p:nvSpPr>
        <p:spPr>
          <a:xfrm>
            <a:off x="52578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Rules to obey</a:t>
            </a:r>
          </a:p>
        </p:txBody>
      </p:sp>
      <p:cxnSp>
        <p:nvCxnSpPr>
          <p:cNvPr id="12" name="Connector 11"/>
          <p:cNvCxnSpPr/>
          <p:nvPr/>
        </p:nvCxnSpPr>
        <p:spPr>
          <a:xfrm>
            <a:off x="87820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601200" y="3619500"/>
            <a:ext cx="34290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0" y="4095750"/>
            <a:ext cx="3429000" cy="571500"/>
          </a:xfrm>
          <a:prstGeom prst="rect">
            <a:avLst/>
          </a:prstGeom>
          <a:noFill/>
        </p:spPr>
        <p:txBody>
          <a:bodyPr wrap="square" lIns="0" rIns="0" tIns="0" bIns="0" anchor="t">
            <a:spAutoFit/>
          </a:bodyPr>
          <a:lstStyle/>
          <a:p>
            <a:pPr algn="ctr"/>
            <a:r>
              <a:rPr sz="2850" b="1" i="0">
                <a:solidFill>
                  <a:srgbClr val="F0E8E8"/>
                </a:solidFill>
                <a:latin typeface="Geist"/>
                <a:ea typeface="Geist"/>
                <a:cs typeface="Geist"/>
              </a:rPr>
              <a:t>Generate</a:t>
            </a:r>
          </a:p>
        </p:txBody>
      </p:sp>
      <p:sp>
        <p:nvSpPr>
          <p:cNvPr id="15" name="TextBox 14"/>
          <p:cNvSpPr txBox="1"/>
          <p:nvPr/>
        </p:nvSpPr>
        <p:spPr>
          <a:xfrm>
            <a:off x="96012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Solve with real limits</a:t>
            </a:r>
          </a:p>
        </p:txBody>
      </p:sp>
      <p:cxnSp>
        <p:nvCxnSpPr>
          <p:cNvPr id="16" name="Connector 15"/>
          <p:cNvCxnSpPr/>
          <p:nvPr/>
        </p:nvCxnSpPr>
        <p:spPr>
          <a:xfrm>
            <a:off x="13125450" y="4667250"/>
            <a:ext cx="7239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944600" y="3619500"/>
            <a:ext cx="34290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44600" y="4095750"/>
            <a:ext cx="3429000" cy="571500"/>
          </a:xfrm>
          <a:prstGeom prst="rect">
            <a:avLst/>
          </a:prstGeom>
          <a:noFill/>
        </p:spPr>
        <p:txBody>
          <a:bodyPr wrap="square" lIns="0" rIns="0" tIns="0" bIns="0" anchor="t">
            <a:spAutoFit/>
          </a:bodyPr>
          <a:lstStyle/>
          <a:p>
            <a:pPr algn="ctr"/>
            <a:r>
              <a:rPr sz="2850" b="1" i="0">
                <a:solidFill>
                  <a:srgbClr val="F0E8E8"/>
                </a:solidFill>
                <a:latin typeface="Geist Mono"/>
                <a:ea typeface="Geist Mono"/>
                <a:cs typeface="Geist Mono"/>
              </a:rPr>
              <a:t>.traj file</a:t>
            </a:r>
          </a:p>
        </p:txBody>
      </p:sp>
      <p:sp>
        <p:nvSpPr>
          <p:cNvPr id="19" name="TextBox 18"/>
          <p:cNvSpPr txBox="1"/>
          <p:nvPr/>
        </p:nvSpPr>
        <p:spPr>
          <a:xfrm>
            <a:off x="13944600" y="4857750"/>
            <a:ext cx="3429000" cy="381000"/>
          </a:xfrm>
          <a:prstGeom prst="rect">
            <a:avLst/>
          </a:prstGeom>
          <a:noFill/>
        </p:spPr>
        <p:txBody>
          <a:bodyPr wrap="square" lIns="0" rIns="0" tIns="0" bIns="0" anchor="t">
            <a:spAutoFit/>
          </a:bodyPr>
          <a:lstStyle/>
          <a:p>
            <a:pPr algn="ctr"/>
            <a:r>
              <a:rPr sz="1800" b="0" i="0">
                <a:solidFill>
                  <a:srgbClr val="9A7878"/>
                </a:solidFill>
                <a:latin typeface="Geist"/>
                <a:ea typeface="Geist"/>
                <a:cs typeface="Geist"/>
              </a:rPr>
              <a:t>A path the robot follows</a:t>
            </a:r>
          </a:p>
        </p:txBody>
      </p:sp>
      <p:sp>
        <p:nvSpPr>
          <p:cNvPr id="20" name="Rounded Rectangle 19"/>
          <p:cNvSpPr/>
          <p:nvPr/>
        </p:nvSpPr>
        <p:spPr>
          <a:xfrm>
            <a:off x="914400" y="6477000"/>
            <a:ext cx="16459200" cy="1428750"/>
          </a:xfrm>
          <a:prstGeom prst="roundRect">
            <a:avLst>
              <a:gd name="adj" fmla="val 10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33500" y="6477000"/>
            <a:ext cx="15716250" cy="1428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constraint the robot can't meet leaves the path unsolved. Change the numbers or untick the constraint, then Generate again.</a:t>
            </a:r>
          </a:p>
        </p:txBody>
      </p:sp>
      <p:pic>
        <p:nvPicPr>
          <p:cNvPr id="22" name="Picture 2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Choreo</a:t>
            </a:r>
          </a:p>
        </p:txBody>
      </p:sp>
      <p:sp>
        <p:nvSpPr>
          <p:cNvPr id="5" name="TextBox 4"/>
          <p:cNvSpPr txBox="1"/>
          <p:nvPr/>
        </p:nvSpPr>
        <p:spPr>
          <a:xfrm>
            <a:off x="1524000" y="2762250"/>
            <a:ext cx="123825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Build two different paths, each with at least four waypoints and a real constraint.</a:t>
            </a:r>
          </a:p>
        </p:txBody>
      </p:sp>
      <p:sp>
        <p:nvSpPr>
          <p:cNvPr id="6" name="TextBox 5"/>
          <p:cNvSpPr txBox="1"/>
          <p:nvPr/>
        </p:nvSpPr>
        <p:spPr>
          <a:xfrm>
            <a:off x="1524000" y="4000500"/>
            <a:ext cx="114300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CHECKPOINTS TO VERIFY</a:t>
            </a:r>
          </a:p>
        </p:txBody>
      </p:sp>
      <p:pic>
        <p:nvPicPr>
          <p:cNvPr id="7" name="Picture 6" descr="check-circle-fill.png"/>
          <p:cNvPicPr>
            <a:picLocks noChangeAspect="1"/>
          </p:cNvPicPr>
          <p:nvPr/>
        </p:nvPicPr>
        <p:blipFill>
          <a:blip r:embed="rId3"/>
          <a:stretch>
            <a:fillRect/>
          </a:stretch>
        </p:blipFill>
        <p:spPr>
          <a:xfrm>
            <a:off x="1524000" y="4495800"/>
            <a:ext cx="266700" cy="266700"/>
          </a:xfrm>
          <a:prstGeom prst="rect">
            <a:avLst/>
          </a:prstGeom>
        </p:spPr>
      </p:pic>
      <p:sp>
        <p:nvSpPr>
          <p:cNvPr id="8" name="TextBox 7"/>
          <p:cNvSpPr txBox="1"/>
          <p:nvPr/>
        </p:nvSpPr>
        <p:spPr>
          <a:xfrm>
            <a:off x="1943100" y="44386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Paths have waypoints</a:t>
            </a:r>
          </a:p>
        </p:txBody>
      </p:sp>
      <p:pic>
        <p:nvPicPr>
          <p:cNvPr id="9" name="Picture 8" descr="check-circle-fill.png"/>
          <p:cNvPicPr>
            <a:picLocks noChangeAspect="1"/>
          </p:cNvPicPr>
          <p:nvPr/>
        </p:nvPicPr>
        <p:blipFill>
          <a:blip r:embed="rId3"/>
          <a:stretch>
            <a:fillRect/>
          </a:stretch>
        </p:blipFill>
        <p:spPr>
          <a:xfrm>
            <a:off x="1524000" y="4991100"/>
            <a:ext cx="266700" cy="266700"/>
          </a:xfrm>
          <a:prstGeom prst="rect">
            <a:avLst/>
          </a:prstGeom>
        </p:spPr>
      </p:pic>
      <p:sp>
        <p:nvSpPr>
          <p:cNvPr id="10" name="TextBox 9"/>
          <p:cNvSpPr txBox="1"/>
          <p:nvPr/>
        </p:nvSpPr>
        <p:spPr>
          <a:xfrm>
            <a:off x="1943100" y="49339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Two different paths</a:t>
            </a:r>
          </a:p>
        </p:txBody>
      </p:sp>
      <p:pic>
        <p:nvPicPr>
          <p:cNvPr id="11" name="Picture 10" descr="check-circle-fill.png"/>
          <p:cNvPicPr>
            <a:picLocks noChangeAspect="1"/>
          </p:cNvPicPr>
          <p:nvPr/>
        </p:nvPicPr>
        <p:blipFill>
          <a:blip r:embed="rId3"/>
          <a:stretch>
            <a:fillRect/>
          </a:stretch>
        </p:blipFill>
        <p:spPr>
          <a:xfrm>
            <a:off x="1524000" y="5486400"/>
            <a:ext cx="266700" cy="266700"/>
          </a:xfrm>
          <a:prstGeom prst="rect">
            <a:avLst/>
          </a:prstGeom>
        </p:spPr>
      </p:pic>
      <p:sp>
        <p:nvSpPr>
          <p:cNvPr id="12" name="TextBox 11"/>
          <p:cNvSpPr txBox="1"/>
          <p:nvPr/>
        </p:nvSpPr>
        <p:spPr>
          <a:xfrm>
            <a:off x="1943100" y="54292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 has a constraint</a:t>
            </a:r>
          </a:p>
        </p:txBody>
      </p:sp>
      <p:pic>
        <p:nvPicPr>
          <p:cNvPr id="13" name="Picture 12" descr="check-circle-fill.png"/>
          <p:cNvPicPr>
            <a:picLocks noChangeAspect="1"/>
          </p:cNvPicPr>
          <p:nvPr/>
        </p:nvPicPr>
        <p:blipFill>
          <a:blip r:embed="rId3"/>
          <a:stretch>
            <a:fillRect/>
          </a:stretch>
        </p:blipFill>
        <p:spPr>
          <a:xfrm>
            <a:off x="1524000" y="5981700"/>
            <a:ext cx="266700" cy="266700"/>
          </a:xfrm>
          <a:prstGeom prst="rect">
            <a:avLst/>
          </a:prstGeom>
        </p:spPr>
      </p:pic>
      <p:sp>
        <p:nvSpPr>
          <p:cNvPr id="14" name="TextBox 13"/>
          <p:cNvSpPr txBox="1"/>
          <p:nvPr/>
        </p:nvSpPr>
        <p:spPr>
          <a:xfrm>
            <a:off x="1943100" y="5924550"/>
            <a:ext cx="11239500" cy="495300"/>
          </a:xfrm>
          <a:prstGeom prst="rect">
            <a:avLst/>
          </a:prstGeom>
          <a:noFill/>
        </p:spPr>
        <p:txBody>
          <a:bodyPr wrap="square" lIns="0" rIns="0" tIns="0" bIns="0" anchor="t">
            <a:spAutoFit/>
          </a:bodyPr>
          <a:lstStyle/>
          <a:p>
            <a:pPr algn="l"/>
            <a:r>
              <a:rPr sz="2100" b="0" i="0">
                <a:solidFill>
                  <a:srgbClr val="F0E8E8"/>
                </a:solidFill>
                <a:latin typeface="Geist"/>
                <a:ea typeface="Geist"/>
                <a:cs typeface="Geist"/>
              </a:rPr>
              <a:t>Path generates</a:t>
            </a:r>
          </a:p>
        </p:txBody>
      </p:sp>
      <p:sp>
        <p:nvSpPr>
          <p:cNvPr id="15" name="TextBox 14"/>
          <p:cNvSpPr txBox="1"/>
          <p:nvPr/>
        </p:nvSpPr>
        <p:spPr>
          <a:xfrm>
            <a:off x="1524000" y="82867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Choreo</a:t>
            </a:r>
          </a:p>
        </p:txBody>
      </p:sp>
      <p:pic>
        <p:nvPicPr>
          <p:cNvPr id="16" name="Picture 15" descr="dozer.png"/>
          <p:cNvPicPr>
            <a:picLocks noChangeAspect="1"/>
          </p:cNvPicPr>
          <p:nvPr/>
        </p:nvPicPr>
        <p:blipFill>
          <a:blip r:embed="rId4"/>
          <a:stretch>
            <a:fillRect/>
          </a:stretch>
        </p:blipFill>
        <p:spPr>
          <a:xfrm>
            <a:off x="14287500" y="6572250"/>
            <a:ext cx="2476500" cy="1522165"/>
          </a:xfrm>
          <a:prstGeom prst="rect">
            <a:avLst/>
          </a:prstGeom>
        </p:spPr>
      </p:pic>
      <p:pic>
        <p:nvPicPr>
          <p:cNvPr id="17" name="Picture 16"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Make, rename and find files, and run a program</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pull, rebase and stash</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Graph live robot data in AdvantageScope</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Generate a Choreo path</a:t>
            </a:r>
          </a:p>
        </p:txBody>
      </p:sp>
      <p:sp>
        <p:nvSpPr>
          <p:cNvPr id="17" name="Rounded Rectangle 16"/>
          <p:cNvSpPr/>
          <p:nvPr/>
        </p:nvSpPr>
        <p:spPr>
          <a:xfrm>
            <a:off x="12039600" y="2857500"/>
            <a:ext cx="5334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19" name="Picture 18" descr="code-slash.png"/>
          <p:cNvPicPr>
            <a:picLocks noChangeAspect="1"/>
          </p:cNvPicPr>
          <p:nvPr/>
        </p:nvPicPr>
        <p:blipFill>
          <a:blip r:embed="rId4"/>
          <a:stretch>
            <a:fillRect/>
          </a:stretch>
        </p:blipFill>
        <p:spPr>
          <a:xfrm>
            <a:off x="12496800" y="3810000"/>
            <a:ext cx="533400" cy="533400"/>
          </a:xfrm>
          <a:prstGeom prst="rect">
            <a:avLst/>
          </a:prstGeom>
        </p:spPr>
      </p:pic>
      <p:sp>
        <p:nvSpPr>
          <p:cNvPr id="20" name="TextBox 19"/>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21" name="TextBox 20"/>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2" name="Picture 21"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