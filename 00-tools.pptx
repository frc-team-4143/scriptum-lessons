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covers the tools every programmer on the team uses before we touch robot code: the editor, git, AdvantageScope, Elastic, Choreo and Arbor. Each section teaches the ideas; the hands-on practice is the matching Scriptum lesson, listed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sections. The first two are about writing and saving code. The next two are about seeing what the robot is doing. The last two plan what it does in autonomous.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team laptops each tool is its own desktop app: VS Code with the WPILib extension, AdvantageScope, Elastic, Choreo, Arbor, plus the FRC Driver Station. That's what you'll use on the real robot. For training we use Scriptum, a browser workspace that bundles the same tools next to a simulated robot, so you can practice without a laptop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experience needed. These are the things every programmer does all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code editor is a text editor built for code. It colors the code, points out mistakes before you run it, and lets you add extensions. The WPILib extension is what lets us build and deploy robot code. The team laptops run VS Code; Scriptum's training editor is VSCodium, the open-source build of the same editor, so everything here works the same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Scriptum, the training workspace. On a laptop, the editor is VS Code and the tool panes and Driver Station are separate app windows. Point at each part. 1 Explorer: the project's files. 2 Editor: where you type. 3 Tool panes: AdvantageScope here; Elastic and Choreo open in the same spot. 4 Driver Station: Start builds and runs the robot code, Enable turns it on, Teleop/Auto/Test pick the mode.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isn't magic: it's words typed into files. The extension after the dot tells you and the computer what kind of file it is. These four show up in every robot project.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is one folder with everything for a program. A path is a file's address: the folders you walk through to reach it. Every robot lesson's code is at this same path. Activity: ask students to read the path out loud as directions.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terminal is another way to work with the same files: type a command, press Enter. Have everyone open it with Ctrl+` and run pwd and ls. Up arrow repeats the last command; Tab finishes a name for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Shortcuts save a lot of clicking. Click inside the editor first so it hears the keys.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Cole's tech tips. Try each live: Alt+click three lines and type; select a word and press Ctrl+D a few times; Ctrl+click a method name to jump to it. The command palette runs every WPILib command: type WPILib to see Build and Deploy. GitLens (an extension) shows who last changed each line, called blame.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Run, the editor first compiles the Java: it checks it and turns it into instructions the computer can run. If there's a mistake, it stops and tells you where. Then the program runs and anything it prints shows in the terminal. Robot code works the same way, except the program keeps running in a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how the whole team works on the same robot code without overwriting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version control, people email files around and overwrite each other's work. Git remembers every version, like unlimited save points in a game, and lets many people work at once. Ask: who has ever lost work because they saved over something?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repository is a project folder git is watching. Each programming project is usually its own repo: the robot code, MWLib, this year's vision code. Every repo keeps its whole history inside a hidden .git folder.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commit is a saved snapshot with a message. Keep commits small so each one is one step. They act as breadcrumbs for your work, so a teammate (or you, next week) can see exactly what changed and when. Activity: have students rewrite the bad messages.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moves through four places. You edit in the working directory. git add (the + button) stages a change: picks it for the next commit, like putting items in a box before you seal it. git commit seals the box into your local repository. git push sends it to the remote on GitHub. Edit, save, stage, message, commit is the routine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branch is your own line of work that doesn't disturb anyone else's. Always branch for a new feature. Here a bugfix and a new feature both started from main and grow side by side: neither one sees the other's commits until they're merged.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conventions: main is production-ready. develop collects finished features. Every feature branch starts from develop, is named issue-&lt;number&gt;-&lt;description&gt; after its GitHub issue, and merges back into develop through a pull request. When develop is ready for competition it's merged into main. Nobody pushes straight to main or develop.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Merging brings another branch's commits into the one you're on. Stand on the branch that receives the work: here we're on develop and merge shooter into it. The merge commit (the solid dot) has two parents, so develop now has the teammate's commit and all of shooter's. On the team, merges happen through pull requests on GitHub so someone reviews the code 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two branches changed the same line, git can't guess which one is right, so it stops and asks you. It's not an error. Analogy: two people edit the same line of a recipe, one to 2 cups and one to half a cup. The editor shows Accept Current, Accept Incoming and Accept Both above the conflict.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Rebase picks up your commits and puts them back down on top of develop's newest commit, as if you had just started. A and B become new commits A' and B' (new IDs), and history becomes one straight line. Because it rewrites your commits, only rebase a branch nobody else has copied. If you're not sure, merge: it's always safe.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project folder is the local copy. The team's shared copy lives on GitHub and is called the remote, usually named origin. Push sends your commits up; pull brings teammates' commits down. Stash puts unfinished work on a shelf so you can switch branches, and stash pop brings it 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where the team stores every project online (github.com/FRC-Team-4143). Beyond storage it gives us pull requests for code review, issues to track work, and project boards to see who is doing what. Feature branch names come from issue numbers.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every task on the team flows, start to finish. Find or make the issue and assign yourself. Branch from develop named after the issue. Commit small steps and comment on the issue as you go. Open a pull request linked to the issue, ask a teammate or mentor to review, merge once it's approved, then delete the branch. The project board columns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see inside a robot. Telemetry is how the robot tells us what it's doing.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(about 50 times a second) the robot code can publish values: speeds, sensor readings, where it thinks it is. Those values travel over NetworkTables to tools on the laptop. AdvantageScope graphs and draws them; Elastic shows them to drivers. AdvantageKit can also save them to a log file to replay after a match.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AdvantageScope window. Sidebar: every field the robot publishes, in folders; drag one into the view. Tab bar: one tab per view (Line Graph, 2D Field, 3D Field, Swerve and more); add tabs with +. Viewer: the graph or field itself. Control pane: which fields this tab shows and on which axis. Screenshot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published value is a field with a name and a type. The type decides how AdvantageScope can show it: numbers on a line graph, true/false as colored bands, poses on a field. Ask: what type would the battery voltage be? Is a game piece loaded?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graphs plot values over time. 1: the left and right axes each have their own scale, so RPM (thousands) and battery voltage (about 12) fit on one graph. 2: lock an axis range with the lock icon so the scale stops jumping. 3: discrete fields show true/false and text as colored bands under the graph. 4: hover to read exact values at one moment; scroll to zoom in time. Ask: why does the voltage dip when the flywheel spins up?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tab shows data a different way. Line Graph for numbers over time. 2D Field for where the robot is. 3D Field to watch the whole robot and its mechanisms. Swerve for each wheel's speed and direction. Screenshots from the AdvantageScope docs.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Differentiate shows how fast a value is changing. Flywheel RPM differentiated is how fast the flywheel is speeding up: big while it spins up, zero once it holds speed, negative as it slows. Same idea as speed and acceleration: a car at a steady 60 mph has zero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pose is where the robot is and which way it faces: x and y in meters from the field's origin corner (the blue alliance side), plus a rotation measured counterclockwise from the x axis. A Pose2d is flat; a Pose3d adds height, tilt and roll. The 2D and 3D Field tabs draw it so you can watch the robot drive. Ask: what happens to x as the robot drives toward the red alliance?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was built by Team 6328. It reads two kinds of source. Live: anything on NetworkTables, from the robot or the simulator (File &gt; Connect to Robot / Connect to Simulator). Logs: files recorded during testing and matches, opened with File &gt; Open Log(s). It's a big app for development and match review, not for driving during competition; that's Elastic's job. The team keeps layout templates (tuning, match review) you load with File &gt; Import Layout.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values are read-only: AdvantageScope just shows them. Tuning Mode, the slider icon, lets you type new values, but only for values the code publishes under /Tuning. That's how we'll tune things like flywheel speed without redeploying code.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is for programmers digging into data. Elastic is for drivers glancing at a screen.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tools read the same robot data. AdvantageScope is the analysis tool: graphs, replays, deep dives after a match. Elastic is the driver dashboard: big, simple widgets a driver can read in a glance, and controls they can set before a match. Elastic was built by Team 353 and replaces the older SmartDashboard and Shuffleboard.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competition dashboard from the Elastic docs. Everything is big and readable at a glance: the field with the robot's pose, match time, battery voltage, gyro heading, and the auto chooser the drive team sets before the match. Ask: what would you want to see in the half second you look away from the robot?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NetworkTables is a shared table of named values. The robot publishes a topic, like ClimberSpeed; any dashboard can subscribe to it by name. It also works the other way: a dashboard can publish a value and the robot reads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widget that matches the data and what the driver needs to know. A boolean as a big green/red box is readable from across the room; a number bar shows a value against its range. To add one, click + Add Widget and drag a topic onto the grid; Elastic picks a widget from the topic's type, and right-click &gt; Edit Properties changes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steps to every widget. Click + Add Widget, find the topic in the list (search helps), and drag it onto the grid. Elastic picks a widget that fits the data type. Then right-click it and choose Edit Properties to change the widget type, its title, or its range. Screenshots from the Elastic docs.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widgets only display. Some send values to the robot: sliders, choosers, toggles, text with a submit button. The robot reads whatever was last sent. This is how drivers pick the auto routine before a match. Elastic layouts are saved to a file, so use File &gt; Save.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autonomous nobody is driving: the robot follows the plan we give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match starts with an autonomous period: the robot drives itself with no driver input. It needs a plan of exactly where to go and how fast. Choreo is the tool we use to make that plan.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just the route. A trajectory adds timing: at every moment, where the robot should be, which way it faces and how fast it's moving. That's what the robot code follows.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Waypoints are points the path goes through. Pose waypoints pin position and heading; use them at the start and end. Translation waypoints pin only position and let Choreo pick the heading. Constraints are rules, like a max velocity in one zone. Every path starts with Stop at the start and end. Screenshot from the Choreo docs.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 works out the fastest trajectory through every waypoint that obeys every constraint, using the robot's real limits (motor speed, mass, wheel grip). If no such path exists, it fails. Fix it by changing the numbers or switching a constraint off, then generate again.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Generate, Choreo draws the trajectory on the field. Color along the path shows speed, so you can see where the robot slows for a turn. Press play or drag the timeline to watch it drive. Choreo saves it as a .traj file that the robot code loads. Screenshot from the Choreo docs.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Choreo draws where the robot drives in auto. Arbor is where we say what it does, and when.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Arbor is the editor for our autonomous routines. Choreo gives us the paths; Arbor puts the whole routine together: drive this path, aim, shoot, and what to do if something goes wrong. A routine is a behavior tree: a small tree of steps. Arbor saves it as an XML file in the robot project, and the robot runs that file. No Java to write for a new auto. On the team laptops Arbor is a desktop app; in Scriptum it's the Arbor pane. Ask: why might it help that a new auto is just a file? (You can change the order of steps or a wait time without rebuilding the code.)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whole autonomous routine as a tree. Read it from the top, left to right. The top Sequence does its three children in order: drive the ToPickup path, then the Fallback, then shoot. The Fallback is a plan B: try to aim, but only for 3 seconds (the Timeout), and if that fails, drive to the backup spot instead. Grey boxes hold other boxes and decide how to run them. Teal boxes do the real work. Deck 9 goes through exactly how the robot runs a tree, one tick at a time. Ask: what happens if aiming takes 5 seconds? (The Timeout stops it at 3 and the Fallback drives to the backup spot.)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Arbor window. 1: Trees, every tree file in the project; + New tree makes your own. 2: Nodes, every step you can use, with a search box. The robot's own steps (SetWantedState, FollowPath) are listed with the built-in ones. Drag one onto the canvas, or right-click a node and choose Add child. 3: the canvas, the tree itself; click a node to select it. 4: the selected node's settings, called ports. 5: Problems, the XML Arbor will save, and the live log. Screenshot from the Arbor project.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node's settings are called ports, and you fill them in on the right. SetWantedState needs the robot state to ask for. FollowPath needs the name of a Choreo path, spelled exactly. Sleep needs how many milliseconds to wait. Any number can be tunable: declare an input port on the tree with a default, then write its name in braces, like {wait_msec}. On the robot it shows up on the dashboard, so the drive team can change it at the field without rebuilding. Ask: why would you want the wait time tunable? (To wait for a partner robot to get out of the way.)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Save, with Ctrl+S, writes the tree to a file in the robot project's deploy/autos/trees folder. Open the XML tab to see exactly what was saved: one line per node, ports as attributes. That file is what the robot runs, so it's worth reading once. It's plain text, so git tracks it like any code: commit it, branch it, review it. Ask: how many nodes are in this tree? (Five: the Sequence and four steps.)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robot or the simulator runs an auto, Arbor can connect to it and colour the tree as it runs: orange while a node is running, green for success, red for failure. Every run is also recorded as a log file, on the robot's USB stick in /U/logs/bt (or logs/bt in simulation). Copy it off, choose Replay a log file, and step through the run after the match: Space plays, arrow keys step one change at a time. This replay is the one from the Arbor lesson. Ask: why did SHOOT never run? (AIM failed, and a Sequence stops at the first failure.)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Each tool has a Scriptum lesson in the Tools track; open the lesson chip and press Verify on each checkpoint.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Everything after this uses these tools: the editor every time, git for every change, AdvantageScope to check what the robot did, and Choreo and Arbor again in Autonomous.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1.jpg"/><Relationship Id="rId4" Type="http://schemas.openxmlformats.org/officeDocument/2006/relationships/image" Target="../media/image3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3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6.png"/><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3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8.png"/><Relationship Id="rId4" Type="http://schemas.openxmlformats.org/officeDocument/2006/relationships/image" Target="../media/image3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1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4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4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TOOLS  ·  DECK 0</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The Tools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Meet the Editor, Git Basics, AdvantageScope, Elastic, Choreo and Arbor: the six tools every MARS/WARS programmer uses.</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Hi! I'm Dozer. I'll show you around the tools.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Six tools, six lessons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2552700" cy="4953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vscode.png"/>
          <p:cNvPicPr>
            <a:picLocks noChangeAspect="1"/>
          </p:cNvPicPr>
          <p:nvPr/>
        </p:nvPicPr>
        <p:blipFill>
          <a:blip r:embed="rId3"/>
          <a:stretch>
            <a:fillRect/>
          </a:stretch>
        </p:blipFill>
        <p:spPr>
          <a:xfrm>
            <a:off x="1257300" y="3543300"/>
            <a:ext cx="998352" cy="838200"/>
          </a:xfrm>
          <a:prstGeom prst="rect">
            <a:avLst/>
          </a:prstGeom>
        </p:spPr>
      </p:pic>
      <p:sp>
        <p:nvSpPr>
          <p:cNvPr id="7" name="TextBox 6"/>
          <p:cNvSpPr txBox="1"/>
          <p:nvPr/>
        </p:nvSpPr>
        <p:spPr>
          <a:xfrm>
            <a:off x="12573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181100" y="5143500"/>
            <a:ext cx="2171700" cy="7620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Meet the Editor</a:t>
            </a:r>
          </a:p>
        </p:txBody>
      </p:sp>
      <p:sp>
        <p:nvSpPr>
          <p:cNvPr id="9" name="TextBox 8"/>
          <p:cNvSpPr txBox="1"/>
          <p:nvPr/>
        </p:nvSpPr>
        <p:spPr>
          <a:xfrm>
            <a:off x="1257300" y="6096000"/>
            <a:ext cx="1943100" cy="1905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Where code gets written, organized and run</a:t>
            </a:r>
          </a:p>
        </p:txBody>
      </p:sp>
      <p:sp>
        <p:nvSpPr>
          <p:cNvPr id="10" name="Rounded Rectangle 9"/>
          <p:cNvSpPr/>
          <p:nvPr/>
        </p:nvSpPr>
        <p:spPr>
          <a:xfrm>
            <a:off x="3695700" y="3143250"/>
            <a:ext cx="2552700" cy="4953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it.png"/>
          <p:cNvPicPr>
            <a:picLocks noChangeAspect="1"/>
          </p:cNvPicPr>
          <p:nvPr/>
        </p:nvPicPr>
        <p:blipFill>
          <a:blip r:embed="rId4"/>
          <a:stretch>
            <a:fillRect/>
          </a:stretch>
        </p:blipFill>
        <p:spPr>
          <a:xfrm>
            <a:off x="4038600" y="3543300"/>
            <a:ext cx="838200" cy="838200"/>
          </a:xfrm>
          <a:prstGeom prst="rect">
            <a:avLst/>
          </a:prstGeom>
        </p:spPr>
      </p:pic>
      <p:sp>
        <p:nvSpPr>
          <p:cNvPr id="12" name="TextBox 11"/>
          <p:cNvSpPr txBox="1"/>
          <p:nvPr/>
        </p:nvSpPr>
        <p:spPr>
          <a:xfrm>
            <a:off x="40386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3962400" y="5143500"/>
            <a:ext cx="2171700" cy="7620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Git Basics</a:t>
            </a:r>
          </a:p>
        </p:txBody>
      </p:sp>
      <p:sp>
        <p:nvSpPr>
          <p:cNvPr id="14" name="TextBox 13"/>
          <p:cNvSpPr txBox="1"/>
          <p:nvPr/>
        </p:nvSpPr>
        <p:spPr>
          <a:xfrm>
            <a:off x="4038600" y="6096000"/>
            <a:ext cx="1943100" cy="1905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Saving versions and working as a team</a:t>
            </a:r>
          </a:p>
        </p:txBody>
      </p:sp>
      <p:sp>
        <p:nvSpPr>
          <p:cNvPr id="15" name="Rounded Rectangle 14"/>
          <p:cNvSpPr/>
          <p:nvPr/>
        </p:nvSpPr>
        <p:spPr>
          <a:xfrm>
            <a:off x="6477000" y="3143250"/>
            <a:ext cx="2552700" cy="4953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dvantagescope-logo.png"/>
          <p:cNvPicPr>
            <a:picLocks noChangeAspect="1"/>
          </p:cNvPicPr>
          <p:nvPr/>
        </p:nvPicPr>
        <p:blipFill>
          <a:blip r:embed="rId5"/>
          <a:stretch>
            <a:fillRect/>
          </a:stretch>
        </p:blipFill>
        <p:spPr>
          <a:xfrm>
            <a:off x="6819900" y="3543300"/>
            <a:ext cx="838200" cy="838200"/>
          </a:xfrm>
          <a:prstGeom prst="rect">
            <a:avLst/>
          </a:prstGeom>
        </p:spPr>
      </p:pic>
      <p:sp>
        <p:nvSpPr>
          <p:cNvPr id="17" name="TextBox 16"/>
          <p:cNvSpPr txBox="1"/>
          <p:nvPr/>
        </p:nvSpPr>
        <p:spPr>
          <a:xfrm>
            <a:off x="68199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6743700" y="5143500"/>
            <a:ext cx="2171700" cy="7620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AdvantageScope</a:t>
            </a:r>
          </a:p>
        </p:txBody>
      </p:sp>
      <p:sp>
        <p:nvSpPr>
          <p:cNvPr id="19" name="TextBox 18"/>
          <p:cNvSpPr txBox="1"/>
          <p:nvPr/>
        </p:nvSpPr>
        <p:spPr>
          <a:xfrm>
            <a:off x="6819900" y="6096000"/>
            <a:ext cx="1943100" cy="1905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Seeing what the robot is doing</a:t>
            </a:r>
          </a:p>
        </p:txBody>
      </p:sp>
      <p:sp>
        <p:nvSpPr>
          <p:cNvPr id="20" name="Rounded Rectangle 19"/>
          <p:cNvSpPr/>
          <p:nvPr/>
        </p:nvSpPr>
        <p:spPr>
          <a:xfrm>
            <a:off x="9258300" y="3143250"/>
            <a:ext cx="2552700" cy="4953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lastic-logo.png"/>
          <p:cNvPicPr>
            <a:picLocks noChangeAspect="1"/>
          </p:cNvPicPr>
          <p:nvPr/>
        </p:nvPicPr>
        <p:blipFill>
          <a:blip r:embed="rId6"/>
          <a:stretch>
            <a:fillRect/>
          </a:stretch>
        </p:blipFill>
        <p:spPr>
          <a:xfrm>
            <a:off x="9601200" y="3543300"/>
            <a:ext cx="838200" cy="838200"/>
          </a:xfrm>
          <a:prstGeom prst="rect">
            <a:avLst/>
          </a:prstGeom>
        </p:spPr>
      </p:pic>
      <p:sp>
        <p:nvSpPr>
          <p:cNvPr id="22" name="TextBox 21"/>
          <p:cNvSpPr txBox="1"/>
          <p:nvPr/>
        </p:nvSpPr>
        <p:spPr>
          <a:xfrm>
            <a:off x="96012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9525000" y="5143500"/>
            <a:ext cx="2171700" cy="7620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Elastic</a:t>
            </a:r>
          </a:p>
        </p:txBody>
      </p:sp>
      <p:sp>
        <p:nvSpPr>
          <p:cNvPr id="24" name="TextBox 23"/>
          <p:cNvSpPr txBox="1"/>
          <p:nvPr/>
        </p:nvSpPr>
        <p:spPr>
          <a:xfrm>
            <a:off x="9601200" y="6096000"/>
            <a:ext cx="1943100" cy="1905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dashboard drivers use in a match</a:t>
            </a:r>
          </a:p>
        </p:txBody>
      </p:sp>
      <p:sp>
        <p:nvSpPr>
          <p:cNvPr id="25" name="Rounded Rectangle 24"/>
          <p:cNvSpPr/>
          <p:nvPr/>
        </p:nvSpPr>
        <p:spPr>
          <a:xfrm>
            <a:off x="12039600" y="3143250"/>
            <a:ext cx="2552700" cy="4953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horeo-logo.png"/>
          <p:cNvPicPr>
            <a:picLocks noChangeAspect="1"/>
          </p:cNvPicPr>
          <p:nvPr/>
        </p:nvPicPr>
        <p:blipFill>
          <a:blip r:embed="rId7"/>
          <a:stretch>
            <a:fillRect/>
          </a:stretch>
        </p:blipFill>
        <p:spPr>
          <a:xfrm>
            <a:off x="12382500" y="3543300"/>
            <a:ext cx="838200" cy="838200"/>
          </a:xfrm>
          <a:prstGeom prst="rect">
            <a:avLst/>
          </a:prstGeom>
        </p:spPr>
      </p:pic>
      <p:sp>
        <p:nvSpPr>
          <p:cNvPr id="27" name="TextBox 26"/>
          <p:cNvSpPr txBox="1"/>
          <p:nvPr/>
        </p:nvSpPr>
        <p:spPr>
          <a:xfrm>
            <a:off x="123825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2306300" y="5143500"/>
            <a:ext cx="2171700" cy="7620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Choreo</a:t>
            </a:r>
          </a:p>
        </p:txBody>
      </p:sp>
      <p:sp>
        <p:nvSpPr>
          <p:cNvPr id="29" name="TextBox 28"/>
          <p:cNvSpPr txBox="1"/>
          <p:nvPr/>
        </p:nvSpPr>
        <p:spPr>
          <a:xfrm>
            <a:off x="12382500" y="6096000"/>
            <a:ext cx="1943100" cy="1905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Planning autonomous paths</a:t>
            </a:r>
          </a:p>
        </p:txBody>
      </p:sp>
      <p:sp>
        <p:nvSpPr>
          <p:cNvPr id="30" name="Rounded Rectangle 29"/>
          <p:cNvSpPr/>
          <p:nvPr/>
        </p:nvSpPr>
        <p:spPr>
          <a:xfrm>
            <a:off x="14820900" y="3143250"/>
            <a:ext cx="2552700" cy="4953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arbor-logo.png"/>
          <p:cNvPicPr>
            <a:picLocks noChangeAspect="1"/>
          </p:cNvPicPr>
          <p:nvPr/>
        </p:nvPicPr>
        <p:blipFill>
          <a:blip r:embed="rId8"/>
          <a:stretch>
            <a:fillRect/>
          </a:stretch>
        </p:blipFill>
        <p:spPr>
          <a:xfrm>
            <a:off x="15163800" y="3543300"/>
            <a:ext cx="847165" cy="838200"/>
          </a:xfrm>
          <a:prstGeom prst="rect">
            <a:avLst/>
          </a:prstGeom>
        </p:spPr>
      </p:pic>
      <p:sp>
        <p:nvSpPr>
          <p:cNvPr id="32" name="TextBox 31"/>
          <p:cNvSpPr txBox="1"/>
          <p:nvPr/>
        </p:nvSpPr>
        <p:spPr>
          <a:xfrm>
            <a:off x="151638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06</a:t>
            </a:r>
          </a:p>
        </p:txBody>
      </p:sp>
      <p:sp>
        <p:nvSpPr>
          <p:cNvPr id="33" name="TextBox 32"/>
          <p:cNvSpPr txBox="1"/>
          <p:nvPr/>
        </p:nvSpPr>
        <p:spPr>
          <a:xfrm>
            <a:off x="15087600" y="5143500"/>
            <a:ext cx="2171700" cy="7620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Arbor</a:t>
            </a:r>
          </a:p>
        </p:txBody>
      </p:sp>
      <p:sp>
        <p:nvSpPr>
          <p:cNvPr id="34" name="TextBox 33"/>
          <p:cNvSpPr txBox="1"/>
          <p:nvPr/>
        </p:nvSpPr>
        <p:spPr>
          <a:xfrm>
            <a:off x="15163800" y="6096000"/>
            <a:ext cx="1943100" cy="1905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Building autonomous routines</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THESE TOOLS LIVE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Team laptops and training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715000"/>
          </a:xfrm>
          <a:prstGeom prst="roundRect">
            <a:avLst>
              <a:gd name="adj" fmla="val 2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ON THE TEAM LAPTOPS</a:t>
            </a:r>
          </a:p>
        </p:txBody>
      </p:sp>
      <p:sp>
        <p:nvSpPr>
          <p:cNvPr id="7" name="TextBox 6"/>
          <p:cNvSpPr txBox="1"/>
          <p:nvPr/>
        </p:nvSpPr>
        <p:spPr>
          <a:xfrm>
            <a:off x="13716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Separate desktop apps</a:t>
            </a:r>
          </a:p>
        </p:txBody>
      </p:sp>
      <p:pic>
        <p:nvPicPr>
          <p:cNvPr id="8" name="Picture 7" descr="vscode.png"/>
          <p:cNvPicPr>
            <a:picLocks noChangeAspect="1"/>
          </p:cNvPicPr>
          <p:nvPr/>
        </p:nvPicPr>
        <p:blipFill>
          <a:blip r:embed="rId3"/>
          <a:stretch>
            <a:fillRect/>
          </a:stretch>
        </p:blipFill>
        <p:spPr>
          <a:xfrm>
            <a:off x="1371600" y="4476750"/>
            <a:ext cx="635315" cy="533400"/>
          </a:xfrm>
          <a:prstGeom prst="rect">
            <a:avLst/>
          </a:prstGeom>
        </p:spPr>
      </p:pic>
      <p:sp>
        <p:nvSpPr>
          <p:cNvPr id="9" name="TextBox 8"/>
          <p:cNvSpPr txBox="1"/>
          <p:nvPr/>
        </p:nvSpPr>
        <p:spPr>
          <a:xfrm>
            <a:off x="2247900" y="447675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VS Code + WPILib</a:t>
            </a:r>
          </a:p>
        </p:txBody>
      </p:sp>
      <p:pic>
        <p:nvPicPr>
          <p:cNvPr id="10" name="Picture 9" descr="advantagescope-logo.png"/>
          <p:cNvPicPr>
            <a:picLocks noChangeAspect="1"/>
          </p:cNvPicPr>
          <p:nvPr/>
        </p:nvPicPr>
        <p:blipFill>
          <a:blip r:embed="rId4"/>
          <a:stretch>
            <a:fillRect/>
          </a:stretch>
        </p:blipFill>
        <p:spPr>
          <a:xfrm>
            <a:off x="1371600" y="5181600"/>
            <a:ext cx="533400" cy="533400"/>
          </a:xfrm>
          <a:prstGeom prst="rect">
            <a:avLst/>
          </a:prstGeom>
        </p:spPr>
      </p:pic>
      <p:sp>
        <p:nvSpPr>
          <p:cNvPr id="11" name="TextBox 10"/>
          <p:cNvSpPr txBox="1"/>
          <p:nvPr/>
        </p:nvSpPr>
        <p:spPr>
          <a:xfrm>
            <a:off x="2247900" y="518160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AdvantageScope</a:t>
            </a:r>
          </a:p>
        </p:txBody>
      </p:sp>
      <p:pic>
        <p:nvPicPr>
          <p:cNvPr id="12" name="Picture 11" descr="elastic-logo.png"/>
          <p:cNvPicPr>
            <a:picLocks noChangeAspect="1"/>
          </p:cNvPicPr>
          <p:nvPr/>
        </p:nvPicPr>
        <p:blipFill>
          <a:blip r:embed="rId5"/>
          <a:stretch>
            <a:fillRect/>
          </a:stretch>
        </p:blipFill>
        <p:spPr>
          <a:xfrm>
            <a:off x="1371600" y="5886450"/>
            <a:ext cx="533400" cy="533400"/>
          </a:xfrm>
          <a:prstGeom prst="rect">
            <a:avLst/>
          </a:prstGeom>
        </p:spPr>
      </p:pic>
      <p:sp>
        <p:nvSpPr>
          <p:cNvPr id="13" name="TextBox 12"/>
          <p:cNvSpPr txBox="1"/>
          <p:nvPr/>
        </p:nvSpPr>
        <p:spPr>
          <a:xfrm>
            <a:off x="2247900" y="588645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Elastic</a:t>
            </a:r>
          </a:p>
        </p:txBody>
      </p:sp>
      <p:pic>
        <p:nvPicPr>
          <p:cNvPr id="14" name="Picture 13" descr="choreo-logo.png"/>
          <p:cNvPicPr>
            <a:picLocks noChangeAspect="1"/>
          </p:cNvPicPr>
          <p:nvPr/>
        </p:nvPicPr>
        <p:blipFill>
          <a:blip r:embed="rId6"/>
          <a:stretch>
            <a:fillRect/>
          </a:stretch>
        </p:blipFill>
        <p:spPr>
          <a:xfrm>
            <a:off x="1371600" y="6591300"/>
            <a:ext cx="533400" cy="533400"/>
          </a:xfrm>
          <a:prstGeom prst="rect">
            <a:avLst/>
          </a:prstGeom>
        </p:spPr>
      </p:pic>
      <p:sp>
        <p:nvSpPr>
          <p:cNvPr id="15" name="TextBox 14"/>
          <p:cNvSpPr txBox="1"/>
          <p:nvPr/>
        </p:nvSpPr>
        <p:spPr>
          <a:xfrm>
            <a:off x="2247900" y="659130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Choreo</a:t>
            </a:r>
          </a:p>
        </p:txBody>
      </p:sp>
      <p:pic>
        <p:nvPicPr>
          <p:cNvPr id="16" name="Picture 15" descr="arbor-logo.png"/>
          <p:cNvPicPr>
            <a:picLocks noChangeAspect="1"/>
          </p:cNvPicPr>
          <p:nvPr/>
        </p:nvPicPr>
        <p:blipFill>
          <a:blip r:embed="rId7"/>
          <a:stretch>
            <a:fillRect/>
          </a:stretch>
        </p:blipFill>
        <p:spPr>
          <a:xfrm>
            <a:off x="1371600" y="7296150"/>
            <a:ext cx="539105" cy="533400"/>
          </a:xfrm>
          <a:prstGeom prst="rect">
            <a:avLst/>
          </a:prstGeom>
        </p:spPr>
      </p:pic>
      <p:sp>
        <p:nvSpPr>
          <p:cNvPr id="17" name="TextBox 16"/>
          <p:cNvSpPr txBox="1"/>
          <p:nvPr/>
        </p:nvSpPr>
        <p:spPr>
          <a:xfrm>
            <a:off x="2247900" y="7296150"/>
            <a:ext cx="5715000" cy="5334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Arbor</a:t>
            </a:r>
          </a:p>
        </p:txBody>
      </p:sp>
      <p:sp>
        <p:nvSpPr>
          <p:cNvPr id="18" name="TextBox 17"/>
          <p:cNvSpPr txBox="1"/>
          <p:nvPr/>
        </p:nvSpPr>
        <p:spPr>
          <a:xfrm>
            <a:off x="13716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What you use on the real robot</a:t>
            </a:r>
          </a:p>
        </p:txBody>
      </p:sp>
      <p:sp>
        <p:nvSpPr>
          <p:cNvPr id="19" name="Rounded Rectangle 18"/>
          <p:cNvSpPr/>
          <p:nvPr/>
        </p:nvSpPr>
        <p:spPr>
          <a:xfrm>
            <a:off x="9334500" y="2857500"/>
            <a:ext cx="80391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791700" y="3238500"/>
            <a:ext cx="66675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IN TRAINING</a:t>
            </a:r>
          </a:p>
        </p:txBody>
      </p:sp>
      <p:sp>
        <p:nvSpPr>
          <p:cNvPr id="21" name="TextBox 20"/>
          <p:cNvSpPr txBox="1"/>
          <p:nvPr/>
        </p:nvSpPr>
        <p:spPr>
          <a:xfrm>
            <a:off x="9791700" y="3714750"/>
            <a:ext cx="7239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Scriptum</a:t>
            </a:r>
          </a:p>
        </p:txBody>
      </p:sp>
      <p:sp>
        <p:nvSpPr>
          <p:cNvPr id="22" name="Rectangle 21"/>
          <p:cNvSpPr/>
          <p:nvPr/>
        </p:nvSpPr>
        <p:spPr>
          <a:xfrm>
            <a:off x="9791700" y="4572000"/>
            <a:ext cx="5731282" cy="314325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welcome.png"/>
          <p:cNvPicPr>
            <a:picLocks noChangeAspect="1"/>
          </p:cNvPicPr>
          <p:nvPr/>
        </p:nvPicPr>
        <p:blipFill>
          <a:blip r:embed="rId8"/>
          <a:stretch>
            <a:fillRect/>
          </a:stretch>
        </p:blipFill>
        <p:spPr>
          <a:xfrm>
            <a:off x="9791700" y="4572000"/>
            <a:ext cx="5731282" cy="3143250"/>
          </a:xfrm>
          <a:prstGeom prst="rect">
            <a:avLst/>
          </a:prstGeom>
        </p:spPr>
      </p:pic>
      <p:sp>
        <p:nvSpPr>
          <p:cNvPr id="24" name="Rectangle 23"/>
          <p:cNvSpPr/>
          <p:nvPr/>
        </p:nvSpPr>
        <p:spPr>
          <a:xfrm>
            <a:off x="9791700" y="4572000"/>
            <a:ext cx="5731282" cy="314325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791700" y="8001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same tools in one browser window, with a simulated robot</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Meet the Editor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Files, folders, the terminal, and running a program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Save early, save often. Unsaved code can't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 code editor?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text editor</a:t>
            </a:r>
            <a:r>
              <a:rPr sz="2400" b="0" i="0">
                <a:solidFill>
                  <a:srgbClr val="F0E8E8"/>
                </a:solidFill>
                <a:latin typeface="Geist"/>
                <a:ea typeface="Geist"/>
                <a:cs typeface="Geist"/>
              </a:rPr>
              <a:t> made for writing code</a:t>
            </a:r>
          </a:p>
        </p:txBody>
      </p:sp>
      <p:sp>
        <p:nvSpPr>
          <p:cNvPr id="6" name="TextBox 5"/>
          <p:cNvSpPr txBox="1"/>
          <p:nvPr/>
        </p:nvSpPr>
        <p:spPr>
          <a:xfrm>
            <a:off x="914400" y="353949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Colors</a:t>
            </a:r>
            <a:r>
              <a:rPr sz="2400" b="0" i="0">
                <a:solidFill>
                  <a:srgbClr val="F0E8E8"/>
                </a:solidFill>
                <a:latin typeface="Geist"/>
                <a:ea typeface="Geist"/>
                <a:cs typeface="Geist"/>
              </a:rPr>
              <a:t> the code so it's easier to read</a:t>
            </a:r>
          </a:p>
        </p:txBody>
      </p:sp>
      <p:sp>
        <p:nvSpPr>
          <p:cNvPr id="7" name="TextBox 6"/>
          <p:cNvSpPr txBox="1"/>
          <p:nvPr/>
        </p:nvSpPr>
        <p:spPr>
          <a:xfrm>
            <a:off x="914400" y="422148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Catches mistakes</a:t>
            </a:r>
            <a:r>
              <a:rPr sz="2400" b="0" i="0">
                <a:solidFill>
                  <a:srgbClr val="F0E8E8"/>
                </a:solidFill>
                <a:latin typeface="Geist"/>
                <a:ea typeface="Geist"/>
                <a:cs typeface="Geist"/>
              </a:rPr>
              <a:t> before you run anything</a:t>
            </a:r>
          </a:p>
        </p:txBody>
      </p:sp>
      <p:sp>
        <p:nvSpPr>
          <p:cNvPr id="8" name="TextBox 7"/>
          <p:cNvSpPr txBox="1"/>
          <p:nvPr/>
        </p:nvSpPr>
        <p:spPr>
          <a:xfrm>
            <a:off x="914400" y="490347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Extensions</a:t>
            </a:r>
            <a:r>
              <a:rPr sz="2400" b="0" i="0">
                <a:solidFill>
                  <a:srgbClr val="F0E8E8"/>
                </a:solidFill>
                <a:latin typeface="Geist"/>
                <a:ea typeface="Geist"/>
                <a:cs typeface="Geist"/>
              </a:rPr>
              <a:t> add features, like WPILib for robots</a:t>
            </a:r>
          </a:p>
        </p:txBody>
      </p:sp>
      <p:sp>
        <p:nvSpPr>
          <p:cNvPr id="9" name="Rounded Rectangle 8"/>
          <p:cNvSpPr/>
          <p:nvPr/>
        </p:nvSpPr>
        <p:spPr>
          <a:xfrm>
            <a:off x="11430000" y="2857500"/>
            <a:ext cx="5943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scode.png"/>
          <p:cNvPicPr>
            <a:picLocks noChangeAspect="1"/>
          </p:cNvPicPr>
          <p:nvPr/>
        </p:nvPicPr>
        <p:blipFill>
          <a:blip r:embed="rId3"/>
          <a:stretch>
            <a:fillRect/>
          </a:stretch>
        </p:blipFill>
        <p:spPr>
          <a:xfrm>
            <a:off x="13544550" y="3524250"/>
            <a:ext cx="2042084" cy="1714500"/>
          </a:xfrm>
          <a:prstGeom prst="rect">
            <a:avLst/>
          </a:prstGeom>
        </p:spPr>
      </p:pic>
      <p:sp>
        <p:nvSpPr>
          <p:cNvPr id="11" name="TextBox 10"/>
          <p:cNvSpPr txBox="1"/>
          <p:nvPr/>
        </p:nvSpPr>
        <p:spPr>
          <a:xfrm>
            <a:off x="11811000" y="5715000"/>
            <a:ext cx="5181600" cy="571500"/>
          </a:xfrm>
          <a:prstGeom prst="rect">
            <a:avLst/>
          </a:prstGeom>
          <a:noFill/>
        </p:spPr>
        <p:txBody>
          <a:bodyPr wrap="square" lIns="0" rIns="0" tIns="0" bIns="0" anchor="t">
            <a:spAutoFit/>
          </a:bodyPr>
          <a:lstStyle/>
          <a:p>
            <a:pPr algn="ctr"/>
            <a:r>
              <a:rPr sz="3000" b="1" i="0">
                <a:solidFill>
                  <a:srgbClr val="F0E8E8"/>
                </a:solidFill>
                <a:latin typeface="Geist"/>
                <a:ea typeface="Geist"/>
                <a:cs typeface="Geist"/>
              </a:rPr>
              <a:t>VS Code</a:t>
            </a:r>
          </a:p>
        </p:txBody>
      </p:sp>
      <p:sp>
        <p:nvSpPr>
          <p:cNvPr id="12" name="TextBox 11"/>
          <p:cNvSpPr txBox="1"/>
          <p:nvPr/>
        </p:nvSpPr>
        <p:spPr>
          <a:xfrm>
            <a:off x="11811000" y="6343650"/>
            <a:ext cx="5181600" cy="15240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On every team laptop, with the WPILib extension. Scriptum uses the same editor.</a:t>
            </a:r>
          </a:p>
        </p:txBody>
      </p:sp>
      <p:sp>
        <p:nvSpPr>
          <p:cNvPr id="13" name="TextBox 1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training workspace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762250"/>
            <a:ext cx="11239500" cy="6164163"/>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workspace.jpg"/>
          <p:cNvPicPr>
            <a:picLocks noChangeAspect="1"/>
          </p:cNvPicPr>
          <p:nvPr/>
        </p:nvPicPr>
        <p:blipFill>
          <a:blip r:embed="rId3"/>
          <a:stretch>
            <a:fillRect/>
          </a:stretch>
        </p:blipFill>
        <p:spPr>
          <a:xfrm>
            <a:off x="914400" y="2762250"/>
            <a:ext cx="11239500" cy="6164163"/>
          </a:xfrm>
          <a:prstGeom prst="rect">
            <a:avLst/>
          </a:prstGeom>
        </p:spPr>
      </p:pic>
      <p:sp>
        <p:nvSpPr>
          <p:cNvPr id="7" name="Rectangle 6"/>
          <p:cNvSpPr/>
          <p:nvPr/>
        </p:nvSpPr>
        <p:spPr>
          <a:xfrm>
            <a:off x="914400" y="2762250"/>
            <a:ext cx="11239500" cy="6164163"/>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195388" y="3318371"/>
            <a:ext cx="1404938" cy="3980656"/>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3938"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3938"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Rounded Rectangle 10"/>
          <p:cNvSpPr/>
          <p:nvPr/>
        </p:nvSpPr>
        <p:spPr>
          <a:xfrm>
            <a:off x="2612033" y="3318371"/>
            <a:ext cx="3922117" cy="3980656"/>
          </a:xfrm>
          <a:prstGeom prst="roundRect">
            <a:avLst>
              <a:gd name="adj" fmla="val 3399"/>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40583"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0583"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Rounded Rectangle 13"/>
          <p:cNvSpPr/>
          <p:nvPr/>
        </p:nvSpPr>
        <p:spPr>
          <a:xfrm>
            <a:off x="6563420" y="3084215"/>
            <a:ext cx="5561211" cy="4361160"/>
          </a:xfrm>
          <a:prstGeom prst="roundRect">
            <a:avLst>
              <a:gd name="adj" fmla="val 3057"/>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391970" y="29127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970" y="29127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Rounded Rectangle 16"/>
          <p:cNvSpPr/>
          <p:nvPr/>
        </p:nvSpPr>
        <p:spPr>
          <a:xfrm>
            <a:off x="1207095" y="7503914"/>
            <a:ext cx="3278188" cy="1404938"/>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35645" y="7332464"/>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5645" y="733246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0" name="Oval 19"/>
          <p:cNvSpPr/>
          <p:nvPr/>
        </p:nvSpPr>
        <p:spPr>
          <a:xfrm>
            <a:off x="1276350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6350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3449300" y="28194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Explorer</a:t>
            </a:r>
          </a:p>
        </p:txBody>
      </p:sp>
      <p:sp>
        <p:nvSpPr>
          <p:cNvPr id="23" name="TextBox 22"/>
          <p:cNvSpPr txBox="1"/>
          <p:nvPr/>
        </p:nvSpPr>
        <p:spPr>
          <a:xfrm>
            <a:off x="13449300" y="32766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Your files and folders</a:t>
            </a:r>
          </a:p>
        </p:txBody>
      </p:sp>
      <p:sp>
        <p:nvSpPr>
          <p:cNvPr id="24" name="Oval 23"/>
          <p:cNvSpPr/>
          <p:nvPr/>
        </p:nvSpPr>
        <p:spPr>
          <a:xfrm>
            <a:off x="12763500" y="4286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763500" y="4286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3449300" y="42481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Editor</a:t>
            </a:r>
          </a:p>
        </p:txBody>
      </p:sp>
      <p:sp>
        <p:nvSpPr>
          <p:cNvPr id="27" name="TextBox 26"/>
          <p:cNvSpPr txBox="1"/>
          <p:nvPr/>
        </p:nvSpPr>
        <p:spPr>
          <a:xfrm>
            <a:off x="13449300" y="47053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Where you type code</a:t>
            </a:r>
          </a:p>
        </p:txBody>
      </p:sp>
      <p:sp>
        <p:nvSpPr>
          <p:cNvPr id="28" name="Oval 27"/>
          <p:cNvSpPr/>
          <p:nvPr/>
        </p:nvSpPr>
        <p:spPr>
          <a:xfrm>
            <a:off x="12763500" y="57150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763500" y="57150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TextBox 29"/>
          <p:cNvSpPr txBox="1"/>
          <p:nvPr/>
        </p:nvSpPr>
        <p:spPr>
          <a:xfrm>
            <a:off x="13449300" y="56769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Tool panes</a:t>
            </a:r>
          </a:p>
        </p:txBody>
      </p:sp>
      <p:sp>
        <p:nvSpPr>
          <p:cNvPr id="31" name="TextBox 30"/>
          <p:cNvSpPr txBox="1"/>
          <p:nvPr/>
        </p:nvSpPr>
        <p:spPr>
          <a:xfrm>
            <a:off x="13449300" y="61341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AdvantageScope, Elastic, Choreo</a:t>
            </a:r>
          </a:p>
        </p:txBody>
      </p:sp>
      <p:sp>
        <p:nvSpPr>
          <p:cNvPr id="32" name="Oval 31"/>
          <p:cNvSpPr/>
          <p:nvPr/>
        </p:nvSpPr>
        <p:spPr>
          <a:xfrm>
            <a:off x="12763500" y="7143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763500" y="7143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TextBox 33"/>
          <p:cNvSpPr txBox="1"/>
          <p:nvPr/>
        </p:nvSpPr>
        <p:spPr>
          <a:xfrm>
            <a:off x="13449300" y="71056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Driver Station</a:t>
            </a:r>
          </a:p>
        </p:txBody>
      </p:sp>
      <p:sp>
        <p:nvSpPr>
          <p:cNvPr id="35" name="TextBox 34"/>
          <p:cNvSpPr txBox="1"/>
          <p:nvPr/>
        </p:nvSpPr>
        <p:spPr>
          <a:xfrm>
            <a:off x="13449300" y="75628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Start, enable and drive the robot</a:t>
            </a:r>
          </a:p>
        </p:txBody>
      </p:sp>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Files and extensions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file</a:t>
            </a:r>
            <a:r>
              <a:rPr sz="2400" b="0" i="0">
                <a:solidFill>
                  <a:srgbClr val="F0E8E8"/>
                </a:solidFill>
                <a:latin typeface="Geist"/>
                <a:ea typeface="Geist"/>
                <a:cs typeface="Geist"/>
              </a:rPr>
              <a:t> is one saved thing, with a name</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The extension</a:t>
            </a:r>
            <a:r>
              <a:rPr sz="2400" b="0" i="0">
                <a:solidFill>
                  <a:srgbClr val="F0E8E8"/>
                </a:solidFill>
                <a:latin typeface="Geist"/>
                <a:ea typeface="Geist"/>
                <a:cs typeface="Geist"/>
              </a:rPr>
              <a:t> after the dot says what kind</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folder</a:t>
            </a:r>
            <a:r>
              <a:rPr sz="2400" b="0" i="0">
                <a:solidFill>
                  <a:srgbClr val="F0E8E8"/>
                </a:solidFill>
                <a:latin typeface="Geist"/>
                <a:ea typeface="Geist"/>
                <a:cs typeface="Geist"/>
              </a:rPr>
              <a:t> holds files and other folders</a:t>
            </a:r>
          </a:p>
        </p:txBody>
      </p:sp>
      <p:sp>
        <p:nvSpPr>
          <p:cNvPr id="8" name="Rounded Rectangle 7"/>
          <p:cNvSpPr/>
          <p:nvPr/>
        </p:nvSpPr>
        <p:spPr>
          <a:xfrm>
            <a:off x="9525000" y="2857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06000" y="2857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.java</a:t>
            </a:r>
          </a:p>
        </p:txBody>
      </p:sp>
      <p:sp>
        <p:nvSpPr>
          <p:cNvPr id="10" name="TextBox 9"/>
          <p:cNvSpPr txBox="1"/>
          <p:nvPr/>
        </p:nvSpPr>
        <p:spPr>
          <a:xfrm>
            <a:off x="12096750" y="2857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Java code: the robot program</a:t>
            </a:r>
          </a:p>
        </p:txBody>
      </p:sp>
      <p:sp>
        <p:nvSpPr>
          <p:cNvPr id="11" name="Rounded Rectangle 10"/>
          <p:cNvSpPr/>
          <p:nvPr/>
        </p:nvSpPr>
        <p:spPr>
          <a:xfrm>
            <a:off x="9525000" y="4191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06000" y="4191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.json</a:t>
            </a:r>
          </a:p>
        </p:txBody>
      </p:sp>
      <p:sp>
        <p:nvSpPr>
          <p:cNvPr id="13" name="TextBox 12"/>
          <p:cNvSpPr txBox="1"/>
          <p:nvPr/>
        </p:nvSpPr>
        <p:spPr>
          <a:xfrm>
            <a:off x="12096750" y="4191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Settings and data</a:t>
            </a:r>
          </a:p>
        </p:txBody>
      </p:sp>
      <p:sp>
        <p:nvSpPr>
          <p:cNvPr id="14" name="Rounded Rectangle 13"/>
          <p:cNvSpPr/>
          <p:nvPr/>
        </p:nvSpPr>
        <p:spPr>
          <a:xfrm>
            <a:off x="9525000" y="5524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06000" y="5524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.md</a:t>
            </a:r>
          </a:p>
        </p:txBody>
      </p:sp>
      <p:sp>
        <p:nvSpPr>
          <p:cNvPr id="16" name="TextBox 15"/>
          <p:cNvSpPr txBox="1"/>
          <p:nvPr/>
        </p:nvSpPr>
        <p:spPr>
          <a:xfrm>
            <a:off x="12096750" y="5524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Notes and instructions (Markdown)</a:t>
            </a:r>
          </a:p>
        </p:txBody>
      </p:sp>
      <p:sp>
        <p:nvSpPr>
          <p:cNvPr id="17" name="Rounded Rectangle 16"/>
          <p:cNvSpPr/>
          <p:nvPr/>
        </p:nvSpPr>
        <p:spPr>
          <a:xfrm>
            <a:off x="9525000" y="6858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06000" y="6858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.gradle</a:t>
            </a:r>
          </a:p>
        </p:txBody>
      </p:sp>
      <p:sp>
        <p:nvSpPr>
          <p:cNvPr id="19" name="TextBox 18"/>
          <p:cNvSpPr txBox="1"/>
          <p:nvPr/>
        </p:nvSpPr>
        <p:spPr>
          <a:xfrm>
            <a:off x="12096750" y="6858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How to build the project</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Projects and paths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8105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project/</a:t>
            </a:r>
          </a:p>
        </p:txBody>
      </p:sp>
      <p:sp>
        <p:nvSpPr>
          <p:cNvPr id="7" name="TextBox 6"/>
          <p:cNvSpPr txBox="1"/>
          <p:nvPr/>
        </p:nvSpPr>
        <p:spPr>
          <a:xfrm>
            <a:off x="1714500" y="36957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src/</a:t>
            </a:r>
          </a:p>
        </p:txBody>
      </p:sp>
      <p:sp>
        <p:nvSpPr>
          <p:cNvPr id="8" name="TextBox 7"/>
          <p:cNvSpPr txBox="1"/>
          <p:nvPr/>
        </p:nvSpPr>
        <p:spPr>
          <a:xfrm>
            <a:off x="2133600" y="42481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main/</a:t>
            </a:r>
          </a:p>
        </p:txBody>
      </p:sp>
      <p:sp>
        <p:nvSpPr>
          <p:cNvPr id="9" name="TextBox 8"/>
          <p:cNvSpPr txBox="1"/>
          <p:nvPr/>
        </p:nvSpPr>
        <p:spPr>
          <a:xfrm>
            <a:off x="2552700" y="48006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java/</a:t>
            </a:r>
          </a:p>
        </p:txBody>
      </p:sp>
      <p:sp>
        <p:nvSpPr>
          <p:cNvPr id="10" name="TextBox 9"/>
          <p:cNvSpPr txBox="1"/>
          <p:nvPr/>
        </p:nvSpPr>
        <p:spPr>
          <a:xfrm>
            <a:off x="2971800" y="53530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frc/</a:t>
            </a:r>
          </a:p>
        </p:txBody>
      </p:sp>
      <p:sp>
        <p:nvSpPr>
          <p:cNvPr id="11" name="TextBox 10"/>
          <p:cNvSpPr txBox="1"/>
          <p:nvPr/>
        </p:nvSpPr>
        <p:spPr>
          <a:xfrm>
            <a:off x="3390900" y="59055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a:t>
            </a:r>
          </a:p>
        </p:txBody>
      </p:sp>
      <p:sp>
        <p:nvSpPr>
          <p:cNvPr id="12" name="TextBox 11"/>
          <p:cNvSpPr txBox="1"/>
          <p:nvPr/>
        </p:nvSpPr>
        <p:spPr>
          <a:xfrm>
            <a:off x="3810000" y="6457950"/>
            <a:ext cx="6667500" cy="476250"/>
          </a:xfrm>
          <a:prstGeom prst="rect">
            <a:avLst/>
          </a:prstGeom>
          <a:noFill/>
        </p:spPr>
        <p:txBody>
          <a:bodyPr wrap="square" lIns="0" rIns="0" tIns="0" bIns="0" anchor="ctr">
            <a:spAutoFit/>
          </a:bodyPr>
          <a:lstStyle/>
          <a:p>
            <a:pPr algn="l"/>
            <a:r>
              <a:rPr sz="2100" b="1" i="0">
                <a:solidFill>
                  <a:srgbClr val="CC2200"/>
                </a:solidFill>
                <a:latin typeface="Geist Mono"/>
                <a:ea typeface="Geist Mono"/>
                <a:cs typeface="Geist Mono"/>
              </a:rPr>
              <a:t>Robot.java</a:t>
            </a:r>
          </a:p>
        </p:txBody>
      </p:sp>
      <p:sp>
        <p:nvSpPr>
          <p:cNvPr id="13" name="TextBox 12"/>
          <p:cNvSpPr txBox="1"/>
          <p:nvPr/>
        </p:nvSpPr>
        <p:spPr>
          <a:xfrm>
            <a:off x="3810000" y="70104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Constants.java</a:t>
            </a:r>
          </a:p>
        </p:txBody>
      </p:sp>
      <p:sp>
        <p:nvSpPr>
          <p:cNvPr id="14" name="TextBox 13"/>
          <p:cNvSpPr txBox="1"/>
          <p:nvPr/>
        </p:nvSpPr>
        <p:spPr>
          <a:xfrm>
            <a:off x="1714500" y="75628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build.gradle</a:t>
            </a:r>
          </a:p>
        </p:txBody>
      </p:sp>
      <p:sp>
        <p:nvSpPr>
          <p:cNvPr id="15" name="TextBox 14"/>
          <p:cNvSpPr txBox="1"/>
          <p:nvPr/>
        </p:nvSpPr>
        <p:spPr>
          <a:xfrm>
            <a:off x="1714500" y="81153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README.md</a:t>
            </a:r>
          </a:p>
        </p:txBody>
      </p:sp>
      <p:sp>
        <p:nvSpPr>
          <p:cNvPr id="16" name="TextBox 15"/>
          <p:cNvSpPr txBox="1"/>
          <p:nvPr/>
        </p:nvSpPr>
        <p:spPr>
          <a:xfrm>
            <a:off x="9525000" y="285750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project</a:t>
            </a:r>
            <a:r>
              <a:rPr sz="2250" b="0" i="0">
                <a:solidFill>
                  <a:srgbClr val="F0E8E8"/>
                </a:solidFill>
                <a:latin typeface="Geist"/>
                <a:ea typeface="Geist"/>
                <a:cs typeface="Geist"/>
              </a:rPr>
              <a:t> is one folder with everything inside</a:t>
            </a:r>
          </a:p>
        </p:txBody>
      </p:sp>
      <p:sp>
        <p:nvSpPr>
          <p:cNvPr id="17" name="TextBox 16"/>
          <p:cNvSpPr txBox="1"/>
          <p:nvPr/>
        </p:nvSpPr>
        <p:spPr>
          <a:xfrm>
            <a:off x="9525000" y="3514725"/>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path</a:t>
            </a:r>
            <a:r>
              <a:rPr sz="2250" b="0" i="0">
                <a:solidFill>
                  <a:srgbClr val="F0E8E8"/>
                </a:solidFill>
                <a:latin typeface="Geist"/>
                <a:ea typeface="Geist"/>
                <a:cs typeface="Geist"/>
              </a:rPr>
              <a:t> is a file's address, folder by folder</a:t>
            </a:r>
          </a:p>
        </p:txBody>
      </p:sp>
      <p:sp>
        <p:nvSpPr>
          <p:cNvPr id="18" name="TextBox 17"/>
          <p:cNvSpPr txBox="1"/>
          <p:nvPr/>
        </p:nvSpPr>
        <p:spPr>
          <a:xfrm>
            <a:off x="9525000" y="417195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Slashes separate the folders</a:t>
            </a:r>
          </a:p>
        </p:txBody>
      </p:sp>
      <p:sp>
        <p:nvSpPr>
          <p:cNvPr id="19" name="Rounded Rectangle 18"/>
          <p:cNvSpPr/>
          <p:nvPr/>
        </p:nvSpPr>
        <p:spPr>
          <a:xfrm>
            <a:off x="9525000" y="6667500"/>
            <a:ext cx="7848600" cy="1183005"/>
          </a:xfrm>
          <a:prstGeom prst="roundRect">
            <a:avLst>
              <a:gd name="adj" fmla="val 12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906000" y="7048500"/>
            <a:ext cx="73152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main</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java</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frc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robot</a:t>
            </a:r>
            <a:r>
              <a:rPr sz="1950" b="0" i="0">
                <a:solidFill>
                  <a:srgbClr val="CC2200"/>
                </a:solidFill>
                <a:latin typeface="Geist Mono"/>
                <a:ea typeface="Geist Mono"/>
                <a:cs typeface="Geist Mono"/>
              </a:rPr>
              <a:t>/</a:t>
            </a:r>
            <a:r>
              <a:rPr sz="1950" b="0" i="0">
                <a:solidFill>
                  <a:srgbClr val="E8C27A"/>
                </a:solidFill>
                <a:latin typeface="Geist Mono"/>
                <a:ea typeface="Geist Mono"/>
                <a:cs typeface="Geist Mono"/>
              </a:rPr>
              <a:t>Robot.java</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terminal: typing commands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pwd</a:t>
            </a:r>
          </a:p>
        </p:txBody>
      </p:sp>
      <p:sp>
        <p:nvSpPr>
          <p:cNvPr id="7" name="TextBox 6"/>
          <p:cNvSpPr txBox="1"/>
          <p:nvPr/>
        </p:nvSpPr>
        <p:spPr>
          <a:xfrm>
            <a:off x="4953000" y="28575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Where am I? Prints the folder you're in</a:t>
            </a:r>
          </a:p>
        </p:txBody>
      </p:sp>
      <p:sp>
        <p:nvSpPr>
          <p:cNvPr id="8" name="Rounded Rectangle 7"/>
          <p:cNvSpPr/>
          <p:nvPr/>
        </p:nvSpPr>
        <p:spPr>
          <a:xfrm>
            <a:off x="914400" y="39243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9243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ls</a:t>
            </a:r>
          </a:p>
        </p:txBody>
      </p:sp>
      <p:sp>
        <p:nvSpPr>
          <p:cNvPr id="10" name="TextBox 9"/>
          <p:cNvSpPr txBox="1"/>
          <p:nvPr/>
        </p:nvSpPr>
        <p:spPr>
          <a:xfrm>
            <a:off x="4953000" y="39243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What's here? Lists files and folders</a:t>
            </a:r>
          </a:p>
        </p:txBody>
      </p:sp>
      <p:sp>
        <p:nvSpPr>
          <p:cNvPr id="11" name="Rounded Rectangle 10"/>
          <p:cNvSpPr/>
          <p:nvPr/>
        </p:nvSpPr>
        <p:spPr>
          <a:xfrm>
            <a:off x="914400" y="49911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49911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cd robot</a:t>
            </a:r>
          </a:p>
        </p:txBody>
      </p:sp>
      <p:sp>
        <p:nvSpPr>
          <p:cNvPr id="13" name="TextBox 12"/>
          <p:cNvSpPr txBox="1"/>
          <p:nvPr/>
        </p:nvSpPr>
        <p:spPr>
          <a:xfrm>
            <a:off x="4953000" y="49911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Move into a folder</a:t>
            </a:r>
          </a:p>
        </p:txBody>
      </p:sp>
      <p:sp>
        <p:nvSpPr>
          <p:cNvPr id="14" name="Rounded Rectangle 13"/>
          <p:cNvSpPr/>
          <p:nvPr/>
        </p:nvSpPr>
        <p:spPr>
          <a:xfrm>
            <a:off x="914400" y="60579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60579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cat notes.txt</a:t>
            </a:r>
          </a:p>
        </p:txBody>
      </p:sp>
      <p:sp>
        <p:nvSpPr>
          <p:cNvPr id="16" name="TextBox 15"/>
          <p:cNvSpPr txBox="1"/>
          <p:nvPr/>
        </p:nvSpPr>
        <p:spPr>
          <a:xfrm>
            <a:off x="4953000" y="60579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Show what's in a file</a:t>
            </a:r>
          </a:p>
        </p:txBody>
      </p:sp>
      <p:sp>
        <p:nvSpPr>
          <p:cNvPr id="17" name="Rounded Rectangle 16"/>
          <p:cNvSpPr/>
          <p:nvPr/>
        </p:nvSpPr>
        <p:spPr>
          <a:xfrm>
            <a:off x="914400" y="71247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71247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mkdir practice</a:t>
            </a:r>
          </a:p>
        </p:txBody>
      </p:sp>
      <p:sp>
        <p:nvSpPr>
          <p:cNvPr id="19" name="TextBox 18"/>
          <p:cNvSpPr txBox="1"/>
          <p:nvPr/>
        </p:nvSpPr>
        <p:spPr>
          <a:xfrm>
            <a:off x="4953000" y="71247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Make a new folder</a:t>
            </a:r>
          </a:p>
        </p:txBody>
      </p:sp>
      <p:sp>
        <p:nvSpPr>
          <p:cNvPr id="20" name="Rounded Rectangle 19"/>
          <p:cNvSpPr/>
          <p:nvPr/>
        </p:nvSpPr>
        <p:spPr>
          <a:xfrm>
            <a:off x="12039600" y="2857500"/>
            <a:ext cx="5334000" cy="5181600"/>
          </a:xfrm>
          <a:prstGeom prst="roundRect">
            <a:avLst>
              <a:gd name="adj" fmla="val 294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terminal.png"/>
          <p:cNvPicPr>
            <a:picLocks noChangeAspect="1"/>
          </p:cNvPicPr>
          <p:nvPr/>
        </p:nvPicPr>
        <p:blipFill>
          <a:blip r:embed="rId3"/>
          <a:stretch>
            <a:fillRect/>
          </a:stretch>
        </p:blipFill>
        <p:spPr>
          <a:xfrm>
            <a:off x="12496800" y="3276600"/>
            <a:ext cx="696686" cy="609600"/>
          </a:xfrm>
          <a:prstGeom prst="rect">
            <a:avLst/>
          </a:prstGeom>
        </p:spPr>
      </p:pic>
      <p:sp>
        <p:nvSpPr>
          <p:cNvPr id="22" name="TextBox 21"/>
          <p:cNvSpPr txBox="1"/>
          <p:nvPr/>
        </p:nvSpPr>
        <p:spPr>
          <a:xfrm>
            <a:off x="12496800" y="4191000"/>
            <a:ext cx="4476750" cy="57150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Two tricks</a:t>
            </a:r>
          </a:p>
        </p:txBody>
      </p:sp>
      <p:sp>
        <p:nvSpPr>
          <p:cNvPr id="23" name="TextBox 22"/>
          <p:cNvSpPr txBox="1"/>
          <p:nvPr/>
        </p:nvSpPr>
        <p:spPr>
          <a:xfrm>
            <a:off x="12496800" y="4953000"/>
            <a:ext cx="44767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Up arrow</a:t>
            </a:r>
            <a:r>
              <a:rPr sz="2100" b="0" i="0">
                <a:solidFill>
                  <a:srgbClr val="F0E8E8"/>
                </a:solidFill>
                <a:latin typeface="Geist"/>
                <a:ea typeface="Geist"/>
                <a:cs typeface="Geist"/>
              </a:rPr>
              <a:t> brings back your last command</a:t>
            </a:r>
          </a:p>
        </p:txBody>
      </p:sp>
      <p:sp>
        <p:nvSpPr>
          <p:cNvPr id="24" name="TextBox 23"/>
          <p:cNvSpPr txBox="1"/>
          <p:nvPr/>
        </p:nvSpPr>
        <p:spPr>
          <a:xfrm>
            <a:off x="12496800" y="587502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Tab</a:t>
            </a:r>
            <a:r>
              <a:rPr sz="2100" b="0" i="0">
                <a:solidFill>
                  <a:srgbClr val="F0E8E8"/>
                </a:solidFill>
                <a:latin typeface="Geist"/>
                <a:ea typeface="Geist"/>
                <a:cs typeface="Geist"/>
              </a:rPr>
              <a:t> finishes a file name for you</a:t>
            </a:r>
          </a:p>
        </p:txBody>
      </p:sp>
      <p:sp>
        <p:nvSpPr>
          <p:cNvPr id="25" name="TextBox 24"/>
          <p:cNvSpPr txBox="1"/>
          <p:nvPr/>
        </p:nvSpPr>
        <p:spPr>
          <a:xfrm>
            <a:off x="12496800" y="645033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Ctrl+`</a:t>
            </a:r>
            <a:r>
              <a:rPr sz="2100" b="0" i="0">
                <a:solidFill>
                  <a:srgbClr val="F0E8E8"/>
                </a:solidFill>
                <a:latin typeface="Geist"/>
                <a:ea typeface="Geist"/>
                <a:cs typeface="Geist"/>
              </a:rPr>
              <a:t> opens the terminal</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 things fast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Ctrl+P</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Open a file by typing part of its name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Ctrl+Shift+F</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for a word in every file</a:t>
            </a:r>
          </a:p>
        </p:txBody>
      </p:sp>
      <p:sp>
        <p:nvSpPr>
          <p:cNvPr id="13" name="Rounded Rectangle 12"/>
          <p:cNvSpPr/>
          <p:nvPr/>
        </p:nvSpPr>
        <p:spPr>
          <a:xfrm>
            <a:off x="9144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2573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573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Ctrl+F</a:t>
            </a:r>
          </a:p>
        </p:txBody>
      </p:sp>
      <p:sp>
        <p:nvSpPr>
          <p:cNvPr id="16" name="TextBox 15"/>
          <p:cNvSpPr txBox="1"/>
          <p:nvPr/>
        </p:nvSpPr>
        <p:spPr>
          <a:xfrm>
            <a:off x="43434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in the file you're in</a:t>
            </a:r>
          </a:p>
        </p:txBody>
      </p:sp>
      <p:sp>
        <p:nvSpPr>
          <p:cNvPr id="17" name="Rounded Rectangle 16"/>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Ctrl+Shift+P</a:t>
            </a:r>
          </a:p>
        </p:txBody>
      </p:sp>
      <p:sp>
        <p:nvSpPr>
          <p:cNvPr id="20" name="TextBox 19"/>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Find any command (the command palette)</a:t>
            </a:r>
          </a:p>
        </p:txBody>
      </p:sp>
      <p:sp>
        <p:nvSpPr>
          <p:cNvPr id="21" name="Rounded Rectangle 20"/>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774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a:t>
            </a:r>
          </a:p>
        </p:txBody>
      </p:sp>
      <p:sp>
        <p:nvSpPr>
          <p:cNvPr id="24" name="TextBox 23"/>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Save the file</a:t>
            </a:r>
          </a:p>
        </p:txBody>
      </p:sp>
      <p:sp>
        <p:nvSpPr>
          <p:cNvPr id="25" name="Rounded Rectangle 24"/>
          <p:cNvSpPr/>
          <p:nvPr/>
        </p:nvSpPr>
        <p:spPr>
          <a:xfrm>
            <a:off x="93345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96774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774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F2</a:t>
            </a:r>
          </a:p>
        </p:txBody>
      </p:sp>
      <p:sp>
        <p:nvSpPr>
          <p:cNvPr id="28" name="TextBox 27"/>
          <p:cNvSpPr txBox="1"/>
          <p:nvPr/>
        </p:nvSpPr>
        <p:spPr>
          <a:xfrm>
            <a:off x="127635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Rename the selected file or folder</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Editor power moves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Alt+Click</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Add another cursor: edit many lines at once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Ctrl+D</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Select the next match of the same word</a:t>
            </a:r>
          </a:p>
        </p:txBody>
      </p:sp>
      <p:sp>
        <p:nvSpPr>
          <p:cNvPr id="13" name="Rounded Rectangle 12"/>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774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Ctrl+Click</a:t>
            </a:r>
          </a:p>
        </p:txBody>
      </p:sp>
      <p:sp>
        <p:nvSpPr>
          <p:cNvPr id="16" name="TextBox 15"/>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Jump to where a method or variable is defined</a:t>
            </a:r>
          </a:p>
        </p:txBody>
      </p:sp>
      <p:sp>
        <p:nvSpPr>
          <p:cNvPr id="17" name="Rounded Rectangle 16"/>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Ctrl+Shift+P</a:t>
            </a:r>
          </a:p>
        </p:txBody>
      </p:sp>
      <p:sp>
        <p:nvSpPr>
          <p:cNvPr id="20" name="TextBox 19"/>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Run a command, like WPILib: Build Robot Code</a:t>
            </a:r>
          </a:p>
        </p:txBody>
      </p:sp>
      <p:sp>
        <p:nvSpPr>
          <p:cNvPr id="21" name="Rounded Rectangle 20"/>
          <p:cNvSpPr/>
          <p:nvPr/>
        </p:nvSpPr>
        <p:spPr>
          <a:xfrm>
            <a:off x="914400" y="6858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erminal.png"/>
          <p:cNvPicPr>
            <a:picLocks noChangeAspect="1"/>
          </p:cNvPicPr>
          <p:nvPr/>
        </p:nvPicPr>
        <p:blipFill>
          <a:blip r:embed="rId3"/>
          <a:stretch>
            <a:fillRect/>
          </a:stretch>
        </p:blipFill>
        <p:spPr>
          <a:xfrm>
            <a:off x="1333500" y="7115175"/>
            <a:ext cx="609600" cy="533400"/>
          </a:xfrm>
          <a:prstGeom prst="rect">
            <a:avLst/>
          </a:prstGeom>
        </p:spPr>
      </p:pic>
      <p:sp>
        <p:nvSpPr>
          <p:cNvPr id="23" name="TextBox 22"/>
          <p:cNvSpPr txBox="1"/>
          <p:nvPr/>
        </p:nvSpPr>
        <p:spPr>
          <a:xfrm>
            <a:off x="2190750" y="6858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Build failed?  </a:t>
            </a:r>
            <a:r>
              <a:rPr sz="2100" b="0" i="0">
                <a:solidFill>
                  <a:srgbClr val="F0E8E8"/>
                </a:solidFill>
                <a:latin typeface="Geist"/>
                <a:ea typeface="Geist"/>
                <a:cs typeface="Geist"/>
              </a:rPr>
              <a:t>Read the terminal. The compiler usually says what went wrong and on which line.</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happens when you press Run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33375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Main.java</a:t>
            </a:r>
          </a:p>
        </p:txBody>
      </p:sp>
      <p:sp>
        <p:nvSpPr>
          <p:cNvPr id="7" name="TextBox 6"/>
          <p:cNvSpPr txBox="1"/>
          <p:nvPr/>
        </p:nvSpPr>
        <p:spPr>
          <a:xfrm>
            <a:off x="10668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code you typed</a:t>
            </a:r>
          </a:p>
        </p:txBody>
      </p:sp>
      <p:cxnSp>
        <p:nvCxnSpPr>
          <p:cNvPr id="8" name="Connector 7"/>
          <p:cNvCxnSpPr/>
          <p:nvPr/>
        </p:nvCxnSpPr>
        <p:spPr>
          <a:xfrm>
            <a:off x="45339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2952750"/>
            <a:ext cx="3543300" cy="1714500"/>
          </a:xfrm>
          <a:prstGeom prst="roundRect">
            <a:avLst>
              <a:gd name="adj" fmla="val 888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Compile</a:t>
            </a:r>
          </a:p>
        </p:txBody>
      </p:sp>
      <p:sp>
        <p:nvSpPr>
          <p:cNvPr id="11" name="TextBox 10"/>
          <p:cNvSpPr txBox="1"/>
          <p:nvPr/>
        </p:nvSpPr>
        <p:spPr>
          <a:xfrm>
            <a:off x="53721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Check it and translate it</a:t>
            </a:r>
          </a:p>
        </p:txBody>
      </p:sp>
      <p:cxnSp>
        <p:nvCxnSpPr>
          <p:cNvPr id="12" name="Connector 11"/>
          <p:cNvCxnSpPr/>
          <p:nvPr/>
        </p:nvCxnSpPr>
        <p:spPr>
          <a:xfrm>
            <a:off x="88392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Run</a:t>
            </a:r>
          </a:p>
        </p:txBody>
      </p:sp>
      <p:sp>
        <p:nvSpPr>
          <p:cNvPr id="15" name="TextBox 14"/>
          <p:cNvSpPr txBox="1"/>
          <p:nvPr/>
        </p:nvSpPr>
        <p:spPr>
          <a:xfrm>
            <a:off x="96774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computer follows it</a:t>
            </a:r>
          </a:p>
        </p:txBody>
      </p:sp>
      <p:cxnSp>
        <p:nvCxnSpPr>
          <p:cNvPr id="16" name="Connector 15"/>
          <p:cNvCxnSpPr/>
          <p:nvPr/>
        </p:nvCxnSpPr>
        <p:spPr>
          <a:xfrm>
            <a:off x="131445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Output</a:t>
            </a:r>
          </a:p>
        </p:txBody>
      </p:sp>
      <p:sp>
        <p:nvSpPr>
          <p:cNvPr id="19" name="TextBox 18"/>
          <p:cNvSpPr txBox="1"/>
          <p:nvPr/>
        </p:nvSpPr>
        <p:spPr>
          <a:xfrm>
            <a:off x="139827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Printed in the terminal</a:t>
            </a:r>
          </a:p>
        </p:txBody>
      </p:sp>
      <p:sp>
        <p:nvSpPr>
          <p:cNvPr id="20" name="Rounded Rectangle 19"/>
          <p:cNvSpPr/>
          <p:nvPr/>
        </p:nvSpPr>
        <p:spPr>
          <a:xfrm>
            <a:off x="914400" y="5619750"/>
            <a:ext cx="104775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33450" y="684276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33450" y="6842760"/>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95400" y="6000750"/>
            <a:ext cx="99441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class </a:t>
            </a:r>
            <a:r>
              <a:rPr sz="1950" b="0" i="0">
                <a:solidFill>
                  <a:srgbClr val="F0E8E8"/>
                </a:solidFill>
                <a:latin typeface="Geist Mono"/>
                <a:ea typeface="Geist Mono"/>
                <a:cs typeface="Geist Mono"/>
              </a:rPr>
              <a:t>Main {</a:t>
            </a:r>
          </a:p>
        </p:txBody>
      </p:sp>
      <p:sp>
        <p:nvSpPr>
          <p:cNvPr id="24" name="TextBox 23"/>
          <p:cNvSpPr txBox="1"/>
          <p:nvPr/>
        </p:nvSpPr>
        <p:spPr>
          <a:xfrm>
            <a:off x="1295400" y="6421755"/>
            <a:ext cx="99441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  public static void </a:t>
            </a:r>
            <a:r>
              <a:rPr sz="1950" b="0" i="0">
                <a:solidFill>
                  <a:srgbClr val="F0E8E8"/>
                </a:solidFill>
                <a:latin typeface="Geist Mono"/>
                <a:ea typeface="Geist Mono"/>
                <a:cs typeface="Geist Mono"/>
              </a:rPr>
              <a:t>main(String[] args) {</a:t>
            </a:r>
          </a:p>
        </p:txBody>
      </p:sp>
      <p:sp>
        <p:nvSpPr>
          <p:cNvPr id="25" name="TextBox 24"/>
          <p:cNvSpPr txBox="1"/>
          <p:nvPr/>
        </p:nvSpPr>
        <p:spPr>
          <a:xfrm>
            <a:off x="1295400" y="684276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System.out.println(</a:t>
            </a:r>
            <a:r>
              <a:rPr sz="1950" b="0" i="0">
                <a:solidFill>
                  <a:srgbClr val="9FD29A"/>
                </a:solidFill>
                <a:latin typeface="Geist Mono"/>
                <a:ea typeface="Geist Mono"/>
                <a:cs typeface="Geist Mono"/>
              </a:rPr>
              <a:t>"Hello, my name is ..."</a:t>
            </a:r>
            <a:r>
              <a:rPr sz="1950" b="0" i="0">
                <a:solidFill>
                  <a:srgbClr val="F0E8E8"/>
                </a:solidFill>
                <a:latin typeface="Geist Mono"/>
                <a:ea typeface="Geist Mono"/>
                <a:cs typeface="Geist Mono"/>
              </a:rPr>
              <a:t>);</a:t>
            </a:r>
          </a:p>
        </p:txBody>
      </p:sp>
      <p:sp>
        <p:nvSpPr>
          <p:cNvPr id="26" name="TextBox 25"/>
          <p:cNvSpPr txBox="1"/>
          <p:nvPr/>
        </p:nvSpPr>
        <p:spPr>
          <a:xfrm>
            <a:off x="1295400" y="7263765"/>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7" name="TextBox 26"/>
          <p:cNvSpPr txBox="1"/>
          <p:nvPr/>
        </p:nvSpPr>
        <p:spPr>
          <a:xfrm>
            <a:off x="1295400" y="7684770"/>
            <a:ext cx="99441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8" name="Rounded Rectangle 27"/>
          <p:cNvSpPr/>
          <p:nvPr/>
        </p:nvSpPr>
        <p:spPr>
          <a:xfrm>
            <a:off x="12039600" y="5619750"/>
            <a:ext cx="5334000" cy="3162300"/>
          </a:xfrm>
          <a:prstGeom prst="roundRect">
            <a:avLst>
              <a:gd name="adj" fmla="val 481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420600" y="5905500"/>
            <a:ext cx="45720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OUTPUT</a:t>
            </a:r>
          </a:p>
        </p:txBody>
      </p:sp>
      <p:sp>
        <p:nvSpPr>
          <p:cNvPr id="30" name="TextBox 29"/>
          <p:cNvSpPr txBox="1"/>
          <p:nvPr/>
        </p:nvSpPr>
        <p:spPr>
          <a:xfrm>
            <a:off x="12420600" y="6381750"/>
            <a:ext cx="4572000" cy="571500"/>
          </a:xfrm>
          <a:prstGeom prst="rect">
            <a:avLst/>
          </a:prstGeom>
          <a:noFill/>
        </p:spPr>
        <p:txBody>
          <a:bodyPr wrap="square" lIns="0" rIns="0" tIns="0" bIns="0" anchor="t">
            <a:spAutoFit/>
          </a:bodyPr>
          <a:lstStyle/>
          <a:p>
            <a:pPr algn="l"/>
            <a:r>
              <a:rPr sz="2100" b="0" i="0">
                <a:solidFill>
                  <a:srgbClr val="9FD29A"/>
                </a:solidFill>
                <a:latin typeface="Geist Mono"/>
                <a:ea typeface="Geist Mono"/>
                <a:cs typeface="Geist Mono"/>
              </a:rPr>
              <a:t>Hello, my name is Ava</a:t>
            </a:r>
          </a:p>
        </p:txBody>
      </p:sp>
      <p:sp>
        <p:nvSpPr>
          <p:cNvPr id="31" name="TextBox 30"/>
          <p:cNvSpPr txBox="1"/>
          <p:nvPr/>
        </p:nvSpPr>
        <p:spPr>
          <a:xfrm>
            <a:off x="12420600" y="7143750"/>
            <a:ext cx="4572000" cy="14287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typo? Compiling stops and points at the line.</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Git Basics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Version control: saving history and working as a team</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Commit small steps. Future you will say thanks.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version control?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Remembers every version</a:t>
            </a:r>
            <a:r>
              <a:rPr sz="2400" b="0" i="0">
                <a:solidFill>
                  <a:srgbClr val="F0E8E8"/>
                </a:solidFill>
                <a:latin typeface="Geist"/>
                <a:ea typeface="Geist"/>
                <a:cs typeface="Geist"/>
              </a:rPr>
              <a:t> of your code</a:t>
            </a:r>
          </a:p>
        </p:txBody>
      </p:sp>
      <p:sp>
        <p:nvSpPr>
          <p:cNvPr id="6" name="TextBox 5"/>
          <p:cNvSpPr txBox="1"/>
          <p:nvPr/>
        </p:nvSpPr>
        <p:spPr>
          <a:xfrm>
            <a:off x="914400" y="353949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Undo</a:t>
            </a:r>
            <a:r>
              <a:rPr sz="2400" b="0" i="0">
                <a:solidFill>
                  <a:srgbClr val="F0E8E8"/>
                </a:solidFill>
                <a:latin typeface="Geist"/>
                <a:ea typeface="Geist"/>
                <a:cs typeface="Geist"/>
              </a:rPr>
              <a:t> back to any earlier save point</a:t>
            </a:r>
          </a:p>
        </p:txBody>
      </p:sp>
      <p:sp>
        <p:nvSpPr>
          <p:cNvPr id="7" name="TextBox 6"/>
          <p:cNvSpPr txBox="1"/>
          <p:nvPr/>
        </p:nvSpPr>
        <p:spPr>
          <a:xfrm>
            <a:off x="914400" y="422148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Many people</a:t>
            </a:r>
            <a:r>
              <a:rPr sz="2400" b="0" i="0">
                <a:solidFill>
                  <a:srgbClr val="F0E8E8"/>
                </a:solidFill>
                <a:latin typeface="Geist"/>
                <a:ea typeface="Geist"/>
                <a:cs typeface="Geist"/>
              </a:rPr>
              <a:t> work at once without overwriting</a:t>
            </a:r>
          </a:p>
        </p:txBody>
      </p:sp>
      <p:sp>
        <p:nvSpPr>
          <p:cNvPr id="8" name="TextBox 7"/>
          <p:cNvSpPr txBox="1"/>
          <p:nvPr/>
        </p:nvSpPr>
        <p:spPr>
          <a:xfrm>
            <a:off x="914400" y="490347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Built on three ideas: </a:t>
            </a:r>
            <a:r>
              <a:rPr sz="2400" b="1" i="0">
                <a:solidFill>
                  <a:srgbClr val="F0E8E8"/>
                </a:solidFill>
                <a:latin typeface="Geist"/>
                <a:ea typeface="Geist"/>
                <a:cs typeface="Geist"/>
              </a:rPr>
              <a:t>repositories, commits, branches</a:t>
            </a:r>
          </a:p>
        </p:txBody>
      </p:sp>
      <p:sp>
        <p:nvSpPr>
          <p:cNvPr id="9" name="Rounded Rectangle 8"/>
          <p:cNvSpPr/>
          <p:nvPr/>
        </p:nvSpPr>
        <p:spPr>
          <a:xfrm>
            <a:off x="11430000" y="2857500"/>
            <a:ext cx="5943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0" y="3143250"/>
            <a:ext cx="5181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WITHOUT GIT</a:t>
            </a:r>
          </a:p>
        </p:txBody>
      </p:sp>
      <p:pic>
        <p:nvPicPr>
          <p:cNvPr id="11" name="Picture 10" descr="folder2-open.png"/>
          <p:cNvPicPr>
            <a:picLocks noChangeAspect="1"/>
          </p:cNvPicPr>
          <p:nvPr/>
        </p:nvPicPr>
        <p:blipFill>
          <a:blip r:embed="rId3"/>
          <a:stretch>
            <a:fillRect/>
          </a:stretch>
        </p:blipFill>
        <p:spPr>
          <a:xfrm>
            <a:off x="11811000" y="3848100"/>
            <a:ext cx="461596" cy="381000"/>
          </a:xfrm>
          <a:prstGeom prst="rect">
            <a:avLst/>
          </a:prstGeom>
        </p:spPr>
      </p:pic>
      <p:sp>
        <p:nvSpPr>
          <p:cNvPr id="12" name="TextBox 11"/>
          <p:cNvSpPr txBox="1"/>
          <p:nvPr/>
        </p:nvSpPr>
        <p:spPr>
          <a:xfrm>
            <a:off x="12382500" y="3771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robot-code-v1</a:t>
            </a:r>
          </a:p>
        </p:txBody>
      </p:sp>
      <p:pic>
        <p:nvPicPr>
          <p:cNvPr id="13" name="Picture 12" descr="folder2-open.png"/>
          <p:cNvPicPr>
            <a:picLocks noChangeAspect="1"/>
          </p:cNvPicPr>
          <p:nvPr/>
        </p:nvPicPr>
        <p:blipFill>
          <a:blip r:embed="rId3"/>
          <a:stretch>
            <a:fillRect/>
          </a:stretch>
        </p:blipFill>
        <p:spPr>
          <a:xfrm>
            <a:off x="11811000" y="4610100"/>
            <a:ext cx="461596" cy="381000"/>
          </a:xfrm>
          <a:prstGeom prst="rect">
            <a:avLst/>
          </a:prstGeom>
        </p:spPr>
      </p:pic>
      <p:sp>
        <p:nvSpPr>
          <p:cNvPr id="14" name="TextBox 13"/>
          <p:cNvSpPr txBox="1"/>
          <p:nvPr/>
        </p:nvSpPr>
        <p:spPr>
          <a:xfrm>
            <a:off x="12382500" y="4533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robot-code-v2</a:t>
            </a:r>
          </a:p>
        </p:txBody>
      </p:sp>
      <p:pic>
        <p:nvPicPr>
          <p:cNvPr id="15" name="Picture 14" descr="folder2-open.png"/>
          <p:cNvPicPr>
            <a:picLocks noChangeAspect="1"/>
          </p:cNvPicPr>
          <p:nvPr/>
        </p:nvPicPr>
        <p:blipFill>
          <a:blip r:embed="rId3"/>
          <a:stretch>
            <a:fillRect/>
          </a:stretch>
        </p:blipFill>
        <p:spPr>
          <a:xfrm>
            <a:off x="11811000" y="5372100"/>
            <a:ext cx="461596" cy="381000"/>
          </a:xfrm>
          <a:prstGeom prst="rect">
            <a:avLst/>
          </a:prstGeom>
        </p:spPr>
      </p:pic>
      <p:sp>
        <p:nvSpPr>
          <p:cNvPr id="16" name="TextBox 15"/>
          <p:cNvSpPr txBox="1"/>
          <p:nvPr/>
        </p:nvSpPr>
        <p:spPr>
          <a:xfrm>
            <a:off x="12382500" y="5295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a:t>
            </a:r>
          </a:p>
        </p:txBody>
      </p:sp>
      <p:pic>
        <p:nvPicPr>
          <p:cNvPr id="17" name="Picture 16" descr="folder2-open.png"/>
          <p:cNvPicPr>
            <a:picLocks noChangeAspect="1"/>
          </p:cNvPicPr>
          <p:nvPr/>
        </p:nvPicPr>
        <p:blipFill>
          <a:blip r:embed="rId3"/>
          <a:stretch>
            <a:fillRect/>
          </a:stretch>
        </p:blipFill>
        <p:spPr>
          <a:xfrm>
            <a:off x="11811000" y="6134100"/>
            <a:ext cx="461596" cy="381000"/>
          </a:xfrm>
          <a:prstGeom prst="rect">
            <a:avLst/>
          </a:prstGeom>
        </p:spPr>
      </p:pic>
      <p:sp>
        <p:nvSpPr>
          <p:cNvPr id="18" name="TextBox 17"/>
          <p:cNvSpPr txBox="1"/>
          <p:nvPr/>
        </p:nvSpPr>
        <p:spPr>
          <a:xfrm>
            <a:off x="12382500" y="6057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robot-code-final-2</a:t>
            </a:r>
          </a:p>
        </p:txBody>
      </p:sp>
      <p:pic>
        <p:nvPicPr>
          <p:cNvPr id="19" name="Picture 18" descr="folder2-open.png"/>
          <p:cNvPicPr>
            <a:picLocks noChangeAspect="1"/>
          </p:cNvPicPr>
          <p:nvPr/>
        </p:nvPicPr>
        <p:blipFill>
          <a:blip r:embed="rId3"/>
          <a:stretch>
            <a:fillRect/>
          </a:stretch>
        </p:blipFill>
        <p:spPr>
          <a:xfrm>
            <a:off x="11811000" y="6896100"/>
            <a:ext cx="461596" cy="381000"/>
          </a:xfrm>
          <a:prstGeom prst="rect">
            <a:avLst/>
          </a:prstGeom>
        </p:spPr>
      </p:pic>
      <p:sp>
        <p:nvSpPr>
          <p:cNvPr id="20" name="TextBox 19"/>
          <p:cNvSpPr txBox="1"/>
          <p:nvPr/>
        </p:nvSpPr>
        <p:spPr>
          <a:xfrm>
            <a:off x="12382500" y="6819900"/>
            <a:ext cx="4762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robot-code-final-really</a:t>
            </a:r>
          </a:p>
        </p:txBody>
      </p:sp>
      <p:sp>
        <p:nvSpPr>
          <p:cNvPr id="21" name="TextBox 20"/>
          <p:cNvSpPr txBox="1"/>
          <p:nvPr/>
        </p:nvSpPr>
        <p:spPr>
          <a:xfrm>
            <a:off x="11811000" y="7620000"/>
            <a:ext cx="51816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...emailed around, on a thumb drive</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Repositories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repo</a:t>
            </a:r>
            <a:r>
              <a:rPr sz="2400" b="0" i="0">
                <a:solidFill>
                  <a:srgbClr val="F0E8E8"/>
                </a:solidFill>
                <a:latin typeface="Geist"/>
                <a:ea typeface="Geist"/>
                <a:cs typeface="Geist"/>
              </a:rPr>
              <a:t> is a project folder git is watching</a:t>
            </a:r>
          </a:p>
        </p:txBody>
      </p:sp>
      <p:sp>
        <p:nvSpPr>
          <p:cNvPr id="6" name="TextBox 5"/>
          <p:cNvSpPr txBox="1"/>
          <p:nvPr/>
        </p:nvSpPr>
        <p:spPr>
          <a:xfrm>
            <a:off x="914400" y="353949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Each project is usually its own repo</a:t>
            </a:r>
          </a:p>
        </p:txBody>
      </p:sp>
      <p:sp>
        <p:nvSpPr>
          <p:cNvPr id="7" name="TextBox 6"/>
          <p:cNvSpPr txBox="1"/>
          <p:nvPr/>
        </p:nvSpPr>
        <p:spPr>
          <a:xfrm>
            <a:off x="914400" y="422148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history lives in a hidden </a:t>
            </a:r>
            <a:r>
              <a:rPr sz="2400" b="0" i="0">
                <a:solidFill>
                  <a:srgbClr val="E0785F"/>
                </a:solidFill>
                <a:latin typeface="Geist Mono"/>
                <a:ea typeface="Geist Mono"/>
                <a:cs typeface="Geist Mono"/>
              </a:rPr>
              <a:t>  .git  </a:t>
            </a:r>
            <a:r>
              <a:rPr sz="2400" b="0" i="0">
                <a:solidFill>
                  <a:srgbClr val="F0E8E8"/>
                </a:solidFill>
                <a:latin typeface="Geist"/>
                <a:ea typeface="Geist"/>
                <a:cs typeface="Geist"/>
              </a:rPr>
              <a:t> folder</a:t>
            </a:r>
          </a:p>
        </p:txBody>
      </p:sp>
      <p:sp>
        <p:nvSpPr>
          <p:cNvPr id="8" name="Rounded Rectangle 7"/>
          <p:cNvSpPr/>
          <p:nvPr/>
        </p:nvSpPr>
        <p:spPr>
          <a:xfrm>
            <a:off x="10287000" y="2857500"/>
            <a:ext cx="7086600" cy="4953000"/>
          </a:xfrm>
          <a:prstGeom prst="roundRect">
            <a:avLst>
              <a:gd name="adj" fmla="val 307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68000" y="3238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RobotCode/</a:t>
            </a:r>
          </a:p>
        </p:txBody>
      </p:sp>
      <p:sp>
        <p:nvSpPr>
          <p:cNvPr id="10" name="TextBox 9"/>
          <p:cNvSpPr txBox="1"/>
          <p:nvPr/>
        </p:nvSpPr>
        <p:spPr>
          <a:xfrm>
            <a:off x="11087100" y="3905250"/>
            <a:ext cx="6096000" cy="571500"/>
          </a:xfrm>
          <a:prstGeom prst="rect">
            <a:avLst/>
          </a:prstGeom>
          <a:noFill/>
        </p:spPr>
        <p:txBody>
          <a:bodyPr wrap="square" lIns="0" rIns="0" tIns="0" bIns="0" anchor="ctr">
            <a:spAutoFit/>
          </a:bodyPr>
          <a:lstStyle/>
          <a:p>
            <a:pPr algn="l"/>
            <a:r>
              <a:rPr sz="2250" b="0" i="0">
                <a:solidFill>
                  <a:srgbClr val="E0785F"/>
                </a:solidFill>
                <a:latin typeface="Geist Mono"/>
                <a:ea typeface="Geist Mono"/>
                <a:cs typeface="Geist Mono"/>
              </a:rPr>
              <a:t>.git/</a:t>
            </a:r>
          </a:p>
        </p:txBody>
      </p:sp>
      <p:sp>
        <p:nvSpPr>
          <p:cNvPr id="11" name="TextBox 10"/>
          <p:cNvSpPr txBox="1"/>
          <p:nvPr/>
        </p:nvSpPr>
        <p:spPr>
          <a:xfrm>
            <a:off x="11087100" y="45720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src/</a:t>
            </a:r>
          </a:p>
        </p:txBody>
      </p:sp>
      <p:sp>
        <p:nvSpPr>
          <p:cNvPr id="12" name="TextBox 11"/>
          <p:cNvSpPr txBox="1"/>
          <p:nvPr/>
        </p:nvSpPr>
        <p:spPr>
          <a:xfrm>
            <a:off x="11087100" y="523875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build.gradle</a:t>
            </a:r>
          </a:p>
        </p:txBody>
      </p:sp>
      <p:sp>
        <p:nvSpPr>
          <p:cNvPr id="13" name="TextBox 12"/>
          <p:cNvSpPr txBox="1"/>
          <p:nvPr/>
        </p:nvSpPr>
        <p:spPr>
          <a:xfrm>
            <a:off x="11087100" y="5905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README.md</a:t>
            </a:r>
          </a:p>
        </p:txBody>
      </p:sp>
      <p:sp>
        <p:nvSpPr>
          <p:cNvPr id="14" name="TextBox 13"/>
          <p:cNvSpPr txBox="1"/>
          <p:nvPr/>
        </p:nvSpPr>
        <p:spPr>
          <a:xfrm>
            <a:off x="10668000" y="6858000"/>
            <a:ext cx="60960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the .git folder holds every version</a:t>
            </a:r>
          </a:p>
        </p:txBody>
      </p:sp>
      <p:sp>
        <p:nvSpPr>
          <p:cNvPr id="15" name="TextBox 1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 name="TextBox 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Commits: save points with a message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a:off x="1524000" y="3238500"/>
            <a:ext cx="0" cy="34290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33500" y="3048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00250" y="2990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Created Arm subsystem</a:t>
            </a:r>
          </a:p>
        </p:txBody>
      </p:sp>
      <p:sp>
        <p:nvSpPr>
          <p:cNvPr id="8" name="Oval 7"/>
          <p:cNvSpPr/>
          <p:nvPr/>
        </p:nvSpPr>
        <p:spPr>
          <a:xfrm>
            <a:off x="1333500" y="4191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0" y="4133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motors</a:t>
            </a:r>
          </a:p>
        </p:txBody>
      </p:sp>
      <p:sp>
        <p:nvSpPr>
          <p:cNvPr id="10" name="Oval 9"/>
          <p:cNvSpPr/>
          <p:nvPr/>
        </p:nvSpPr>
        <p:spPr>
          <a:xfrm>
            <a:off x="1333500" y="5334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0250" y="5276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PID controller</a:t>
            </a:r>
          </a:p>
        </p:txBody>
      </p:sp>
      <p:sp>
        <p:nvSpPr>
          <p:cNvPr id="12" name="Oval 11"/>
          <p:cNvSpPr/>
          <p:nvPr/>
        </p:nvSpPr>
        <p:spPr>
          <a:xfrm>
            <a:off x="1333500" y="6477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0250" y="6419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Tuned arm PID controller</a:t>
            </a:r>
          </a:p>
        </p:txBody>
      </p:sp>
      <p:sp>
        <p:nvSpPr>
          <p:cNvPr id="14" name="TextBox 13"/>
          <p:cNvSpPr txBox="1"/>
          <p:nvPr/>
        </p:nvSpPr>
        <p:spPr>
          <a:xfrm>
            <a:off x="914400" y="7810500"/>
            <a:ext cx="7810500" cy="952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Each commit gets an ID (a SHA), shortened to 7 characters: </a:t>
            </a:r>
            <a:r>
              <a:rPr sz="1950" b="0" i="0">
                <a:solidFill>
                  <a:srgbClr val="E0785F"/>
                </a:solidFill>
                <a:latin typeface="Geist Mono"/>
                <a:ea typeface="Geist Mono"/>
                <a:cs typeface="Geist Mono"/>
              </a:rPr>
              <a:t>2c37172</a:t>
            </a:r>
          </a:p>
        </p:txBody>
      </p:sp>
      <p:sp>
        <p:nvSpPr>
          <p:cNvPr id="15" name="Rounded Rectangle 14"/>
          <p:cNvSpPr/>
          <p:nvPr/>
        </p:nvSpPr>
        <p:spPr>
          <a:xfrm>
            <a:off x="9525000" y="2857500"/>
            <a:ext cx="78486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3143250"/>
            <a:ext cx="7086600" cy="381000"/>
          </a:xfrm>
          <a:prstGeom prst="rect">
            <a:avLst/>
          </a:prstGeom>
          <a:noFill/>
        </p:spPr>
        <p:txBody>
          <a:bodyPr wrap="square" lIns="0" rIns="0" tIns="0" bIns="0" anchor="t">
            <a:spAutoFit/>
          </a:bodyPr>
          <a:lstStyle/>
          <a:p>
            <a:pPr algn="l"/>
            <a:r>
              <a:rPr sz="1500" b="1" i="0" spc="130">
                <a:solidFill>
                  <a:srgbClr val="198754"/>
                </a:solidFill>
                <a:latin typeface="Geist"/>
                <a:ea typeface="Geist"/>
                <a:cs typeface="Geist"/>
              </a:rPr>
              <a:t>GOOD MESSAGES</a:t>
            </a:r>
          </a:p>
        </p:txBody>
      </p:sp>
      <p:sp>
        <p:nvSpPr>
          <p:cNvPr id="17" name="TextBox 16"/>
          <p:cNvSpPr txBox="1"/>
          <p:nvPr/>
        </p:nvSpPr>
        <p:spPr>
          <a:xfrm>
            <a:off x="9906000" y="361950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Say what changed</a:t>
            </a:r>
          </a:p>
        </p:txBody>
      </p:sp>
      <p:sp>
        <p:nvSpPr>
          <p:cNvPr id="18" name="TextBox 17"/>
          <p:cNvSpPr txBox="1"/>
          <p:nvPr/>
        </p:nvSpPr>
        <p:spPr>
          <a:xfrm>
            <a:off x="9906000" y="411861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One small step each</a:t>
            </a:r>
          </a:p>
        </p:txBody>
      </p:sp>
      <p:sp>
        <p:nvSpPr>
          <p:cNvPr id="19" name="TextBox 18"/>
          <p:cNvSpPr txBox="1"/>
          <p:nvPr/>
        </p:nvSpPr>
        <p:spPr>
          <a:xfrm>
            <a:off x="9906000" y="461772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Fit in 52 characters, or the commit is too big</a:t>
            </a:r>
          </a:p>
        </p:txBody>
      </p:sp>
      <p:sp>
        <p:nvSpPr>
          <p:cNvPr id="20" name="Rounded Rectangle 19"/>
          <p:cNvSpPr/>
          <p:nvPr/>
        </p:nvSpPr>
        <p:spPr>
          <a:xfrm>
            <a:off x="9525000" y="6000750"/>
            <a:ext cx="78486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06000" y="6286500"/>
            <a:ext cx="7086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NOT HELPFUL</a:t>
            </a:r>
          </a:p>
        </p:txBody>
      </p:sp>
      <p:sp>
        <p:nvSpPr>
          <p:cNvPr id="22" name="TextBox 21"/>
          <p:cNvSpPr txBox="1"/>
          <p:nvPr/>
        </p:nvSpPr>
        <p:spPr>
          <a:xfrm>
            <a:off x="9906000" y="6762750"/>
            <a:ext cx="7086600" cy="1905000"/>
          </a:xfrm>
          <a:prstGeom prst="rect">
            <a:avLst/>
          </a:prstGeom>
          <a:noFill/>
        </p:spPr>
        <p:txBody>
          <a:bodyPr wrap="square" lIns="0" rIns="0" tIns="0" bIns="0" anchor="t">
            <a:spAutoFit/>
          </a:bodyPr>
          <a:lstStyle/>
          <a:p>
            <a:pPr algn="l">
              <a:lnSpc>
                <a:spcPct val="140000"/>
              </a:lnSpc>
            </a:pPr>
            <a:r>
              <a:rPr sz="2100" b="0" i="0">
                <a:solidFill>
                  <a:srgbClr val="9A7878"/>
                </a:solidFill>
                <a:latin typeface="Geist Mono"/>
                <a:ea typeface="Geist Mono"/>
                <a:cs typeface="Geist Mono"/>
              </a:rPr>
              <a:t>"stuff"</a:t>
            </a:r>
          </a:p>
          <a:p>
            <a:pPr algn="l">
              <a:lnSpc>
                <a:spcPct val="140000"/>
              </a:lnSpc>
            </a:pPr>
            <a:r>
              <a:rPr sz="2100" b="0" i="0">
                <a:solidFill>
                  <a:srgbClr val="9A7878"/>
                </a:solidFill>
                <a:latin typeface="Geist Mono"/>
                <a:ea typeface="Geist Mono"/>
                <a:cs typeface="Geist Mono"/>
              </a:rPr>
              <a:t>"fixed it"</a:t>
            </a:r>
          </a:p>
          <a:p>
            <a:pPr algn="l">
              <a:lnSpc>
                <a:spcPct val="140000"/>
              </a:lnSpc>
            </a:pPr>
            <a:r>
              <a:rPr sz="2100" b="0" i="0">
                <a:solidFill>
                  <a:srgbClr val="9A7878"/>
                </a:solidFill>
                <a:latin typeface="Geist Mono"/>
                <a:ea typeface="Geist Mono"/>
                <a:cs typeface="Geist Mono"/>
              </a:rPr>
              <a:t>"asdf"</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places your code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Working</a:t>
            </a:r>
          </a:p>
        </p:txBody>
      </p:sp>
      <p:sp>
        <p:nvSpPr>
          <p:cNvPr id="7" name="TextBox 6"/>
          <p:cNvSpPr txBox="1"/>
          <p:nvPr/>
        </p:nvSpPr>
        <p:spPr>
          <a:xfrm>
            <a:off x="10668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Files you edit and save</a:t>
            </a:r>
          </a:p>
        </p:txBody>
      </p:sp>
      <p:cxnSp>
        <p:nvCxnSpPr>
          <p:cNvPr id="8" name="Connector 7"/>
          <p:cNvCxnSpPr/>
          <p:nvPr/>
        </p:nvCxnSpPr>
        <p:spPr>
          <a:xfrm>
            <a:off x="45339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Staged</a:t>
            </a:r>
          </a:p>
        </p:txBody>
      </p:sp>
      <p:sp>
        <p:nvSpPr>
          <p:cNvPr id="11" name="TextBox 10"/>
          <p:cNvSpPr txBox="1"/>
          <p:nvPr/>
        </p:nvSpPr>
        <p:spPr>
          <a:xfrm>
            <a:off x="53721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Picked for the next commit</a:t>
            </a:r>
          </a:p>
        </p:txBody>
      </p:sp>
      <p:cxnSp>
        <p:nvCxnSpPr>
          <p:cNvPr id="12" name="Connector 11"/>
          <p:cNvCxnSpPr/>
          <p:nvPr/>
        </p:nvCxnSpPr>
        <p:spPr>
          <a:xfrm>
            <a:off x="88392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Local repo</a:t>
            </a:r>
          </a:p>
        </p:txBody>
      </p:sp>
      <p:sp>
        <p:nvSpPr>
          <p:cNvPr id="15" name="TextBox 14"/>
          <p:cNvSpPr txBox="1"/>
          <p:nvPr/>
        </p:nvSpPr>
        <p:spPr>
          <a:xfrm>
            <a:off x="96774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Commits on your computer</a:t>
            </a:r>
          </a:p>
        </p:txBody>
      </p:sp>
      <p:cxnSp>
        <p:nvCxnSpPr>
          <p:cNvPr id="16" name="Connector 15"/>
          <p:cNvCxnSpPr/>
          <p:nvPr/>
        </p:nvCxnSpPr>
        <p:spPr>
          <a:xfrm>
            <a:off x="131445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Remote</a:t>
            </a:r>
          </a:p>
        </p:txBody>
      </p:sp>
      <p:sp>
        <p:nvSpPr>
          <p:cNvPr id="19" name="TextBox 18"/>
          <p:cNvSpPr txBox="1"/>
          <p:nvPr/>
        </p:nvSpPr>
        <p:spPr>
          <a:xfrm>
            <a:off x="139827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team's copy on GitHub</a:t>
            </a:r>
          </a:p>
        </p:txBody>
      </p:sp>
      <p:sp>
        <p:nvSpPr>
          <p:cNvPr id="20" name="TextBox 19"/>
          <p:cNvSpPr txBox="1"/>
          <p:nvPr/>
        </p:nvSpPr>
        <p:spPr>
          <a:xfrm>
            <a:off x="40767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add</a:t>
            </a:r>
          </a:p>
        </p:txBody>
      </p:sp>
      <p:sp>
        <p:nvSpPr>
          <p:cNvPr id="21" name="TextBox 20"/>
          <p:cNvSpPr txBox="1"/>
          <p:nvPr/>
        </p:nvSpPr>
        <p:spPr>
          <a:xfrm>
            <a:off x="83820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commit</a:t>
            </a:r>
          </a:p>
        </p:txBody>
      </p:sp>
      <p:sp>
        <p:nvSpPr>
          <p:cNvPr id="22" name="TextBox 21"/>
          <p:cNvSpPr txBox="1"/>
          <p:nvPr/>
        </p:nvSpPr>
        <p:spPr>
          <a:xfrm>
            <a:off x="126873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push</a:t>
            </a:r>
          </a:p>
        </p:txBody>
      </p:sp>
      <p:sp>
        <p:nvSpPr>
          <p:cNvPr id="23" name="TextBox 22"/>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EVERYDAY ROUTINE</a:t>
            </a:r>
          </a:p>
        </p:txBody>
      </p:sp>
      <p:sp>
        <p:nvSpPr>
          <p:cNvPr id="24" name="Rounded Rectangle 23"/>
          <p:cNvSpPr/>
          <p:nvPr/>
        </p:nvSpPr>
        <p:spPr>
          <a:xfrm>
            <a:off x="9144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1  Edit</a:t>
            </a:r>
          </a:p>
        </p:txBody>
      </p:sp>
      <p:sp>
        <p:nvSpPr>
          <p:cNvPr id="26" name="Rounded Rectangle 25"/>
          <p:cNvSpPr/>
          <p:nvPr/>
        </p:nvSpPr>
        <p:spPr>
          <a:xfrm>
            <a:off x="42672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672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2  Save</a:t>
            </a:r>
          </a:p>
        </p:txBody>
      </p:sp>
      <p:sp>
        <p:nvSpPr>
          <p:cNvPr id="28" name="Rounded Rectangle 27"/>
          <p:cNvSpPr/>
          <p:nvPr/>
        </p:nvSpPr>
        <p:spPr>
          <a:xfrm>
            <a:off x="76200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200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3  Stage +</a:t>
            </a:r>
          </a:p>
        </p:txBody>
      </p:sp>
      <p:sp>
        <p:nvSpPr>
          <p:cNvPr id="30" name="Rounded Rectangle 29"/>
          <p:cNvSpPr/>
          <p:nvPr/>
        </p:nvSpPr>
        <p:spPr>
          <a:xfrm>
            <a:off x="109728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4  Message</a:t>
            </a:r>
          </a:p>
        </p:txBody>
      </p:sp>
      <p:sp>
        <p:nvSpPr>
          <p:cNvPr id="32" name="Rounded Rectangle 31"/>
          <p:cNvSpPr/>
          <p:nvPr/>
        </p:nvSpPr>
        <p:spPr>
          <a:xfrm>
            <a:off x="143256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3256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5  Commit</a:t>
            </a:r>
          </a:p>
        </p:txBody>
      </p:sp>
      <p:sp>
        <p:nvSpPr>
          <p:cNvPr id="34" name="TextBox 33"/>
          <p:cNvSpPr txBox="1"/>
          <p:nvPr/>
        </p:nvSpPr>
        <p:spPr>
          <a:xfrm>
            <a:off x="914400" y="752475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the editor, every step is a button in Source Control (the branch icon on the left).</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Branches: parallel lines of work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Your own line of work</a:t>
            </a:r>
          </a:p>
        </p:txBody>
      </p:sp>
      <p:sp>
        <p:nvSpPr>
          <p:cNvPr id="6" name="TextBox 5"/>
          <p:cNvSpPr txBox="1"/>
          <p:nvPr/>
        </p:nvSpPr>
        <p:spPr>
          <a:xfrm>
            <a:off x="914400" y="35147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Starts from a commit on another branch</a:t>
            </a:r>
          </a:p>
        </p:txBody>
      </p:sp>
      <p:sp>
        <p:nvSpPr>
          <p:cNvPr id="7" name="TextBox 6"/>
          <p:cNvSpPr txBox="1"/>
          <p:nvPr/>
        </p:nvSpPr>
        <p:spPr>
          <a:xfrm>
            <a:off x="914400" y="417195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Always branch for a new feature</a:t>
            </a:r>
          </a:p>
        </p:txBody>
      </p:sp>
      <p:sp>
        <p:nvSpPr>
          <p:cNvPr id="8" name="TextBox 7"/>
          <p:cNvSpPr txBox="1"/>
          <p:nvPr/>
        </p:nvSpPr>
        <p:spPr>
          <a:xfrm>
            <a:off x="914400" y="482917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Lets people work in parallel</a:t>
            </a:r>
          </a:p>
        </p:txBody>
      </p:sp>
      <p:sp>
        <p:nvSpPr>
          <p:cNvPr id="9" name="Rounded Rectangle 8"/>
          <p:cNvSpPr/>
          <p:nvPr/>
        </p:nvSpPr>
        <p:spPr>
          <a:xfrm>
            <a:off x="7239000" y="2857500"/>
            <a:ext cx="10134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3714750"/>
            <a:ext cx="219075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3714750"/>
            <a:ext cx="219075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12" name="Connector 11"/>
          <p:cNvCxnSpPr/>
          <p:nvPr/>
        </p:nvCxnSpPr>
        <p:spPr>
          <a:xfrm>
            <a:off x="10287000" y="4000500"/>
            <a:ext cx="64770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5238750"/>
            <a:ext cx="2190750" cy="571500"/>
          </a:xfrm>
          <a:prstGeom prst="roundRect">
            <a:avLst>
              <a:gd name="adj" fmla="val 50000"/>
            </a:avLst>
          </a:prstGeom>
          <a:solidFill>
            <a:srgbClr val="111111"/>
          </a:solidFill>
          <a:ln w="19050">
            <a:solidFill>
              <a:srgbClr val="6FA8D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5238750"/>
            <a:ext cx="2190750" cy="571500"/>
          </a:xfrm>
          <a:prstGeom prst="rect">
            <a:avLst/>
          </a:prstGeom>
          <a:noFill/>
        </p:spPr>
        <p:txBody>
          <a:bodyPr wrap="square" lIns="0" rIns="0" tIns="0" bIns="0" anchor="ctr">
            <a:spAutoFit/>
          </a:bodyPr>
          <a:lstStyle/>
          <a:p>
            <a:pPr algn="ctr"/>
            <a:r>
              <a:rPr sz="1800" b="0" i="0">
                <a:solidFill>
                  <a:srgbClr val="6FA8DC"/>
                </a:solidFill>
                <a:latin typeface="Geist Mono"/>
                <a:ea typeface="Geist Mono"/>
                <a:cs typeface="Geist Mono"/>
              </a:rPr>
              <a:t>bugfix</a:t>
            </a:r>
          </a:p>
        </p:txBody>
      </p:sp>
      <p:cxnSp>
        <p:nvCxnSpPr>
          <p:cNvPr id="15" name="Connector 14"/>
          <p:cNvCxnSpPr/>
          <p:nvPr/>
        </p:nvCxnSpPr>
        <p:spPr>
          <a:xfrm>
            <a:off x="14287500" y="5524500"/>
            <a:ext cx="1333500" cy="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543800" y="6762750"/>
            <a:ext cx="21907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43800" y="6762750"/>
            <a:ext cx="21907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new-feature</a:t>
            </a:r>
          </a:p>
        </p:txBody>
      </p:sp>
      <p:cxnSp>
        <p:nvCxnSpPr>
          <p:cNvPr id="18" name="Connector 17"/>
          <p:cNvCxnSpPr/>
          <p:nvPr/>
        </p:nvCxnSpPr>
        <p:spPr>
          <a:xfrm>
            <a:off x="12954000" y="7048500"/>
            <a:ext cx="4000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2954000" y="4000500"/>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087156" y="4022716"/>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202816" y="4084920"/>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303898" y="4180448"/>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3393316" y="4302634"/>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473987" y="444481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548827" y="4600325"/>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620750" y="4762500"/>
            <a:ext cx="71923" cy="162175"/>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692673" y="4924675"/>
            <a:ext cx="74840" cy="155510"/>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767513" y="5080185"/>
            <a:ext cx="80671" cy="142181"/>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48184" y="5222366"/>
            <a:ext cx="89418" cy="12218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937602" y="5344552"/>
            <a:ext cx="101082" cy="95528"/>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038684" y="5440080"/>
            <a:ext cx="115660" cy="62204"/>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154344" y="5502284"/>
            <a:ext cx="133156" cy="22216"/>
          </a:xfrm>
          <a:prstGeom prst="line">
            <a:avLst/>
          </a:prstGeom>
          <a:ln w="57150">
            <a:solidFill>
              <a:srgbClr val="6FA8DC"/>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3058581" y="399414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3174241" y="405634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3275323" y="4151873"/>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3364741" y="427405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3445412" y="441624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3520252" y="457175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3592175" y="473392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3664098" y="489610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3738938" y="5051610"/>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3819609" y="5193791"/>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909027" y="5315977"/>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4010109" y="5411505"/>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4125769" y="5473709"/>
            <a:ext cx="57150" cy="5715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11620500" y="4000500"/>
            <a:ext cx="133156" cy="4443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753656" y="4044931"/>
            <a:ext cx="115660" cy="124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869316" y="4169340"/>
            <a:ext cx="101082" cy="1910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970398" y="4360395"/>
            <a:ext cx="89418" cy="2443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059816" y="4604768"/>
            <a:ext cx="80671" cy="284362"/>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2140487" y="4889130"/>
            <a:ext cx="74840" cy="31102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2215327" y="5200150"/>
            <a:ext cx="71923" cy="3243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2287250" y="5524500"/>
            <a:ext cx="71923" cy="3243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2359173" y="5848850"/>
            <a:ext cx="74840" cy="31102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2434013" y="6159870"/>
            <a:ext cx="80671" cy="284362"/>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2514684" y="6444232"/>
            <a:ext cx="89418" cy="2443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2604102" y="6688605"/>
            <a:ext cx="101082" cy="1910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2705184" y="6879660"/>
            <a:ext cx="115660" cy="124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2820844" y="7004069"/>
            <a:ext cx="133156" cy="4443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1725081" y="40163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1840741" y="414076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1941823" y="43318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2031241" y="457619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2111912" y="486055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2186752" y="51715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2258675" y="549592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2330598" y="58202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2405438" y="613129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2486109" y="641565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12575527" y="666003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2676609" y="685108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2792269" y="69754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077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0144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14109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14776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274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281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6554450" y="3790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6621125" y="385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40779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41446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5411450" y="5314950"/>
            <a:ext cx="419100" cy="419100"/>
          </a:xfrm>
          <a:prstGeom prst="ellipse">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5478125" y="5381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744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811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4077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4144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54114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54781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6744950" y="6838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6811625" y="6905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0096500" y="3333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older</a:t>
            </a:r>
          </a:p>
        </p:txBody>
      </p:sp>
      <p:sp>
        <p:nvSpPr>
          <p:cNvPr id="94" name="TextBox 93"/>
          <p:cNvSpPr txBox="1"/>
          <p:nvPr/>
        </p:nvSpPr>
        <p:spPr>
          <a:xfrm>
            <a:off x="15240000" y="3333750"/>
            <a:ext cx="180975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newer</a:t>
            </a:r>
          </a:p>
        </p:txBody>
      </p:sp>
      <p:cxnSp>
        <p:nvCxnSpPr>
          <p:cNvPr id="95" name="Connector 94"/>
          <p:cNvCxnSpPr/>
          <p:nvPr/>
        </p:nvCxnSpPr>
        <p:spPr>
          <a:xfrm>
            <a:off x="10953750" y="3476625"/>
            <a:ext cx="4095750" cy="0"/>
          </a:xfrm>
          <a:prstGeom prst="line">
            <a:avLst/>
          </a:prstGeom>
          <a:ln w="19050">
            <a:solidFill>
              <a:srgbClr val="2A1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7" name="TextBox 9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our team uses branches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4476750"/>
          </a:xfrm>
          <a:prstGeom prst="roundRect">
            <a:avLst>
              <a:gd name="adj" fmla="val 34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95400" y="3333750"/>
            <a:ext cx="3619500" cy="571500"/>
          </a:xfrm>
          <a:prstGeom prst="roundRect">
            <a:avLst>
              <a:gd name="adj" fmla="val 50000"/>
            </a:avLst>
          </a:prstGeom>
          <a:solidFill>
            <a:srgbClr val="111111"/>
          </a:solidFill>
          <a:ln w="19050">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333750"/>
            <a:ext cx="3619500" cy="571500"/>
          </a:xfrm>
          <a:prstGeom prst="rect">
            <a:avLst/>
          </a:prstGeom>
          <a:noFill/>
        </p:spPr>
        <p:txBody>
          <a:bodyPr wrap="square" lIns="0" rIns="0" tIns="0" bIns="0" anchor="ctr">
            <a:spAutoFit/>
          </a:bodyPr>
          <a:lstStyle/>
          <a:p>
            <a:pPr algn="ctr"/>
            <a:r>
              <a:rPr sz="1800" b="0" i="0">
                <a:solidFill>
                  <a:srgbClr val="F0E8E8"/>
                </a:solidFill>
                <a:latin typeface="Geist Mono"/>
                <a:ea typeface="Geist Mono"/>
                <a:cs typeface="Geist Mono"/>
              </a:rPr>
              <a:t>main</a:t>
            </a:r>
          </a:p>
        </p:txBody>
      </p:sp>
      <p:cxnSp>
        <p:nvCxnSpPr>
          <p:cNvPr id="8" name="Connector 7"/>
          <p:cNvCxnSpPr/>
          <p:nvPr/>
        </p:nvCxnSpPr>
        <p:spPr>
          <a:xfrm>
            <a:off x="6096000" y="3619500"/>
            <a:ext cx="10477500" cy="0"/>
          </a:xfrm>
          <a:prstGeom prst="line">
            <a:avLst/>
          </a:prstGeom>
          <a:ln w="57150">
            <a:solidFill>
              <a:srgbClr val="F0E8E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295400" y="4762500"/>
            <a:ext cx="36195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4762500"/>
            <a:ext cx="36195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1" name="Connector 10"/>
          <p:cNvCxnSpPr/>
          <p:nvPr/>
        </p:nvCxnSpPr>
        <p:spPr>
          <a:xfrm>
            <a:off x="7620000" y="5048250"/>
            <a:ext cx="7429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95400" y="6191250"/>
            <a:ext cx="36195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6191250"/>
            <a:ext cx="36195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issue-12-turbo-boost</a:t>
            </a:r>
          </a:p>
        </p:txBody>
      </p:sp>
      <p:cxnSp>
        <p:nvCxnSpPr>
          <p:cNvPr id="14" name="Connector 13"/>
          <p:cNvCxnSpPr/>
          <p:nvPr/>
        </p:nvCxnSpPr>
        <p:spPr>
          <a:xfrm>
            <a:off x="9144000" y="6477000"/>
            <a:ext cx="2667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96000"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4817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80362"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495883"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98076"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690271"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775802"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858000"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940198"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025729"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17924"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220117"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33563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67822"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6219603"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351787"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67308"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69501"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61696"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47227"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8294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911623"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997154"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89349"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191542"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307063"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439247"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7620000" y="5048250"/>
            <a:ext cx="152178"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772178" y="5069077"/>
            <a:ext cx="132184"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904362" y="5127394"/>
            <a:ext cx="115521"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8019883" y="5216951"/>
            <a:ext cx="102193"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8122076" y="5331501"/>
            <a:ext cx="92195"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214271" y="5464795"/>
            <a:ext cx="85531"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8299802" y="5610586"/>
            <a:ext cx="8219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382000" y="5762625"/>
            <a:ext cx="8219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464198" y="5914664"/>
            <a:ext cx="85531"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549729" y="6060455"/>
            <a:ext cx="92195"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641924" y="6193749"/>
            <a:ext cx="102193"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744117" y="6308299"/>
            <a:ext cx="115521"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859638" y="6397856"/>
            <a:ext cx="132184"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991822" y="6456173"/>
            <a:ext cx="152178"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7743603" y="50405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875787" y="509881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991308" y="518837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093501" y="530292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185696" y="54362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271227" y="55820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353425" y="5734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435623" y="58860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521154" y="603188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613349" y="616517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715542" y="627972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831063" y="63692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8963247" y="64275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flipV="1">
            <a:off x="11811000" y="6456173"/>
            <a:ext cx="190222"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2001222" y="6397856"/>
            <a:ext cx="165230"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12166452" y="6308299"/>
            <a:ext cx="144402"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2310854" y="6193749"/>
            <a:ext cx="127741"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2438595" y="6060455"/>
            <a:ext cx="115244"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2553839" y="5914664"/>
            <a:ext cx="106913"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12660752" y="5762625"/>
            <a:ext cx="10274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2763500" y="5610586"/>
            <a:ext cx="102748" cy="15203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12866248" y="5464795"/>
            <a:ext cx="106913" cy="145791"/>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2973161" y="5331501"/>
            <a:ext cx="115244" cy="13329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3088405" y="5216951"/>
            <a:ext cx="127741" cy="11455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3216146" y="5127394"/>
            <a:ext cx="144402" cy="8955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3360548" y="5069077"/>
            <a:ext cx="165230" cy="5831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3525778" y="5048250"/>
            <a:ext cx="190222" cy="2082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11972647" y="64275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2137877" y="63692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2282279" y="627972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2410020" y="616517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2525264" y="603188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2632177" y="58860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2734925" y="5734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2837673" y="55820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2944586" y="543622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3059830" y="530292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3187571" y="518837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3331973" y="509881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13497203" y="50405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flipV="1">
            <a:off x="15049500" y="5027423"/>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5201678" y="4969106"/>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5333862" y="4879549"/>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5449383" y="4764999"/>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5551576" y="4631705"/>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5643771" y="4485914"/>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5729302" y="4333875"/>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15811500" y="4181836"/>
            <a:ext cx="82198" cy="152039"/>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5893698" y="4036045"/>
            <a:ext cx="85531" cy="145791"/>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15979229" y="3902751"/>
            <a:ext cx="92195" cy="133294"/>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6071424" y="3788201"/>
            <a:ext cx="102193" cy="11455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16173617" y="3698644"/>
            <a:ext cx="115521" cy="8955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16289138" y="3640327"/>
            <a:ext cx="132184" cy="5831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6421322" y="3619500"/>
            <a:ext cx="152178" cy="20827"/>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10" name="Oval 109"/>
          <p:cNvSpPr/>
          <p:nvPr/>
        </p:nvSpPr>
        <p:spPr>
          <a:xfrm>
            <a:off x="15173103" y="4998848"/>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5305287" y="494053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5420808" y="485097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15523001" y="4736424"/>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5615196" y="460313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5700727" y="445733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5782925" y="430530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15865123" y="4153261"/>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5950654" y="4007470"/>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16042849" y="387417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6145042" y="3759626"/>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6260563" y="3670069"/>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16392747" y="3611752"/>
            <a:ext cx="57150" cy="571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886450" y="3409950"/>
            <a:ext cx="419100" cy="4191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5953125" y="3476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857750" y="29718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competition-ready</a:t>
            </a:r>
          </a:p>
        </p:txBody>
      </p:sp>
      <p:sp>
        <p:nvSpPr>
          <p:cNvPr id="126" name="Oval 125"/>
          <p:cNvSpPr/>
          <p:nvPr/>
        </p:nvSpPr>
        <p:spPr>
          <a:xfrm>
            <a:off x="16325850" y="3371850"/>
            <a:ext cx="495300" cy="4953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5335250" y="2971800"/>
            <a:ext cx="2476500" cy="34290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release</a:t>
            </a:r>
          </a:p>
        </p:txBody>
      </p:sp>
      <p:sp>
        <p:nvSpPr>
          <p:cNvPr id="128" name="Oval 127"/>
          <p:cNvSpPr/>
          <p:nvPr/>
        </p:nvSpPr>
        <p:spPr>
          <a:xfrm>
            <a:off x="74104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74771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13468350" y="48006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4839950" y="48387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4906625" y="49053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934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9001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102679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03346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1601450" y="62674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1668125" y="6334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2668250" y="6362700"/>
            <a:ext cx="2857500" cy="342900"/>
          </a:xfrm>
          <a:prstGeom prst="rect">
            <a:avLst/>
          </a:prstGeom>
          <a:noFill/>
        </p:spPr>
        <p:txBody>
          <a:bodyPr wrap="square" lIns="0" rIns="0" tIns="0" bIns="0" anchor="t">
            <a:spAutoFit/>
          </a:bodyPr>
          <a:lstStyle/>
          <a:p>
            <a:pPr algn="l"/>
            <a:r>
              <a:rPr sz="1650" b="1" i="0">
                <a:solidFill>
                  <a:srgbClr val="E05540"/>
                </a:solidFill>
                <a:latin typeface="Geist"/>
                <a:ea typeface="Geist"/>
                <a:cs typeface="Geist"/>
              </a:rPr>
              <a:t>pull request</a:t>
            </a:r>
          </a:p>
        </p:txBody>
      </p:sp>
      <p:sp>
        <p:nvSpPr>
          <p:cNvPr id="140" name="TextBox 139"/>
          <p:cNvSpPr txBox="1"/>
          <p:nvPr/>
        </p:nvSpPr>
        <p:spPr>
          <a:xfrm>
            <a:off x="914400" y="762000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main</a:t>
            </a:r>
            <a:r>
              <a:rPr sz="1950" b="0" i="0">
                <a:solidFill>
                  <a:srgbClr val="F0E8E8"/>
                </a:solidFill>
                <a:latin typeface="Geist"/>
                <a:ea typeface="Geist"/>
                <a:cs typeface="Geist"/>
              </a:rPr>
              <a:t> is production-ready.  </a:t>
            </a:r>
            <a:r>
              <a:rPr sz="1950" b="1" i="0">
                <a:solidFill>
                  <a:srgbClr val="F0E8E8"/>
                </a:solidFill>
                <a:latin typeface="Geist"/>
                <a:ea typeface="Geist"/>
                <a:cs typeface="Geist"/>
              </a:rPr>
              <a:t>develop</a:t>
            </a:r>
            <a:r>
              <a:rPr sz="1950" b="0" i="0">
                <a:solidFill>
                  <a:srgbClr val="F0E8E8"/>
                </a:solidFill>
                <a:latin typeface="Geist"/>
                <a:ea typeface="Geist"/>
                <a:cs typeface="Geist"/>
              </a:rPr>
              <a:t> collects finished features.</a:t>
            </a:r>
          </a:p>
        </p:txBody>
      </p:sp>
      <p:sp>
        <p:nvSpPr>
          <p:cNvPr id="141" name="TextBox 140"/>
          <p:cNvSpPr txBox="1"/>
          <p:nvPr/>
        </p:nvSpPr>
        <p:spPr>
          <a:xfrm>
            <a:off x="914400" y="8056245"/>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Name branches </a:t>
            </a:r>
            <a:r>
              <a:rPr sz="1950" b="0" i="0">
                <a:solidFill>
                  <a:srgbClr val="E0785F"/>
                </a:solidFill>
                <a:latin typeface="Geist Mono"/>
                <a:ea typeface="Geist Mono"/>
                <a:cs typeface="Geist Mono"/>
              </a:rPr>
              <a:t>issue-&lt;number&gt;-&lt;description&gt;</a:t>
            </a:r>
            <a:r>
              <a:rPr sz="1950" b="0" i="0">
                <a:solidFill>
                  <a:srgbClr val="F0E8E8"/>
                </a:solidFill>
                <a:latin typeface="Geist"/>
                <a:ea typeface="Geist"/>
                <a:cs typeface="Geist"/>
              </a:rPr>
              <a:t>, starting from develop</a:t>
            </a:r>
          </a:p>
        </p:txBody>
      </p:sp>
      <p:sp>
        <p:nvSpPr>
          <p:cNvPr id="142" name="TextBox 141"/>
          <p:cNvSpPr txBox="1"/>
          <p:nvPr/>
        </p:nvSpPr>
        <p:spPr>
          <a:xfrm>
            <a:off x="914400" y="849249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Nobody pushes straight to main or develop</a:t>
            </a:r>
          </a:p>
        </p:txBody>
      </p:sp>
      <p:sp>
        <p:nvSpPr>
          <p:cNvPr id="143" name="TextBox 1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4" name="TextBox 1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Merging: bringing work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Combines two branches into one</a:t>
            </a:r>
          </a:p>
        </p:txBody>
      </p:sp>
      <p:sp>
        <p:nvSpPr>
          <p:cNvPr id="6" name="TextBox 5"/>
          <p:cNvSpPr txBox="1"/>
          <p:nvPr/>
        </p:nvSpPr>
        <p:spPr>
          <a:xfrm>
            <a:off x="914400" y="3514725"/>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Stand on the branch that receives the work</a:t>
            </a:r>
          </a:p>
        </p:txBody>
      </p:sp>
      <p:sp>
        <p:nvSpPr>
          <p:cNvPr id="7" name="TextBox 6"/>
          <p:cNvSpPr txBox="1"/>
          <p:nvPr/>
        </p:nvSpPr>
        <p:spPr>
          <a:xfrm>
            <a:off x="914400" y="4543425"/>
            <a:ext cx="571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Makes a merge commit with two parents</a:t>
            </a:r>
          </a:p>
        </p:txBody>
      </p:sp>
      <p:sp>
        <p:nvSpPr>
          <p:cNvPr id="8" name="TextBox 7"/>
          <p:cNvSpPr txBox="1"/>
          <p:nvPr/>
        </p:nvSpPr>
        <p:spPr>
          <a:xfrm>
            <a:off x="914400" y="5200650"/>
            <a:ext cx="5715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 the team, merges go through a pull request</a:t>
            </a:r>
          </a:p>
        </p:txBody>
      </p:sp>
      <p:sp>
        <p:nvSpPr>
          <p:cNvPr id="9" name="Rounded Rectangle 8"/>
          <p:cNvSpPr/>
          <p:nvPr/>
        </p:nvSpPr>
        <p:spPr>
          <a:xfrm>
            <a:off x="7239000" y="2857500"/>
            <a:ext cx="101346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7543800" y="4191000"/>
            <a:ext cx="190500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43800" y="4191000"/>
            <a:ext cx="190500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12" name="Connector 11"/>
          <p:cNvCxnSpPr/>
          <p:nvPr/>
        </p:nvCxnSpPr>
        <p:spPr>
          <a:xfrm>
            <a:off x="10096500" y="4476750"/>
            <a:ext cx="6096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543800" y="6096000"/>
            <a:ext cx="190500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43800" y="6096000"/>
            <a:ext cx="190500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shooter</a:t>
            </a:r>
          </a:p>
        </p:txBody>
      </p:sp>
      <p:cxnSp>
        <p:nvCxnSpPr>
          <p:cNvPr id="15" name="Connector 14"/>
          <p:cNvCxnSpPr/>
          <p:nvPr/>
        </p:nvCxnSpPr>
        <p:spPr>
          <a:xfrm>
            <a:off x="12382500" y="6381750"/>
            <a:ext cx="22860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430000" y="4476750"/>
            <a:ext cx="95111"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525111" y="4504520"/>
            <a:ext cx="82615"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07726" y="4582275"/>
            <a:ext cx="7220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679927" y="4701684"/>
            <a:ext cx="63870"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43797" y="4854418"/>
            <a:ext cx="57622"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801419" y="5032144"/>
            <a:ext cx="53457"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854876" y="5226531"/>
            <a:ext cx="51374"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906250" y="5429250"/>
            <a:ext cx="51374"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957624" y="5631969"/>
            <a:ext cx="53457"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011081" y="5826356"/>
            <a:ext cx="57622"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068703" y="6004082"/>
            <a:ext cx="63870"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2132573" y="6156816"/>
            <a:ext cx="7220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2204774" y="6276225"/>
            <a:ext cx="82615"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2287389" y="6353980"/>
            <a:ext cx="95111"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1496536" y="44759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579151" y="45537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1651352" y="46731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1715222" y="482584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1772844" y="500356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1826301" y="51979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877675" y="54006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1929049" y="56033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1982506" y="57977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2040128" y="597550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2103998" y="61282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2176199" y="62476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2258814" y="63254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flipV="1">
            <a:off x="14668500" y="6353980"/>
            <a:ext cx="152178"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4820678" y="6276225"/>
            <a:ext cx="132184"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4952862" y="6156816"/>
            <a:ext cx="11552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5068383" y="6004082"/>
            <a:ext cx="102193"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5170576" y="5826356"/>
            <a:ext cx="92195"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5262771" y="5631969"/>
            <a:ext cx="85531"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5348302" y="5429250"/>
            <a:ext cx="82198"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5430500" y="5226531"/>
            <a:ext cx="82198" cy="20271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5512698" y="5032144"/>
            <a:ext cx="85531" cy="194387"/>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15598229" y="4854418"/>
            <a:ext cx="92195" cy="17772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15690424" y="4701684"/>
            <a:ext cx="102193" cy="15273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15792617" y="4582275"/>
            <a:ext cx="115521" cy="11940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5908138" y="4504520"/>
            <a:ext cx="132184" cy="7775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6040322" y="4476750"/>
            <a:ext cx="152178" cy="2777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4792103" y="63254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4924287" y="62476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5039808" y="61282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5142001" y="5975507"/>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5234196" y="579778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5319727" y="560339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5401925" y="540067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5484123" y="519795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5569654" y="500356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5661849" y="4825843"/>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5764042" y="46731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5879563" y="45537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6011747" y="44759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9886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9953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112204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12871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3315950" y="4267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13382625" y="4333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2287250" y="38290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teammate's commit</a:t>
            </a:r>
          </a:p>
        </p:txBody>
      </p:sp>
      <p:sp>
        <p:nvSpPr>
          <p:cNvPr id="77" name="Oval 76"/>
          <p:cNvSpPr/>
          <p:nvPr/>
        </p:nvSpPr>
        <p:spPr>
          <a:xfrm>
            <a:off x="15944850" y="4229100"/>
            <a:ext cx="495300" cy="4953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4954250" y="3829050"/>
            <a:ext cx="2476500" cy="342900"/>
          </a:xfrm>
          <a:prstGeom prst="rect">
            <a:avLst/>
          </a:prstGeom>
          <a:noFill/>
        </p:spPr>
        <p:txBody>
          <a:bodyPr wrap="square" lIns="0" rIns="0" tIns="0" bIns="0" anchor="t">
            <a:spAutoFit/>
          </a:bodyPr>
          <a:lstStyle/>
          <a:p>
            <a:pPr algn="ctr"/>
            <a:r>
              <a:rPr sz="1650" b="1" i="0">
                <a:solidFill>
                  <a:srgbClr val="E8C27A"/>
                </a:solidFill>
                <a:latin typeface="Geist"/>
                <a:ea typeface="Geist"/>
                <a:cs typeface="Geist"/>
              </a:rPr>
              <a:t>merge commit</a:t>
            </a:r>
          </a:p>
        </p:txBody>
      </p:sp>
      <p:sp>
        <p:nvSpPr>
          <p:cNvPr id="79" name="Oval 78"/>
          <p:cNvSpPr/>
          <p:nvPr/>
        </p:nvSpPr>
        <p:spPr>
          <a:xfrm>
            <a:off x="12172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2239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3315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3382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4458950" y="6172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4525625" y="6238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543800" y="7010400"/>
            <a:ext cx="9525000" cy="1447800"/>
          </a:xfrm>
          <a:prstGeom prst="roundRect">
            <a:avLst>
              <a:gd name="adj" fmla="val 1052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7924800" y="73914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checkout </a:t>
            </a:r>
            <a:r>
              <a:rPr sz="1800" b="0" i="0">
                <a:solidFill>
                  <a:srgbClr val="F0E8E8"/>
                </a:solidFill>
                <a:latin typeface="Geist Mono"/>
                <a:ea typeface="Geist Mono"/>
                <a:cs typeface="Geist Mono"/>
              </a:rPr>
              <a:t>develop</a:t>
            </a:r>
          </a:p>
        </p:txBody>
      </p:sp>
      <p:sp>
        <p:nvSpPr>
          <p:cNvPr id="87" name="TextBox 86"/>
          <p:cNvSpPr txBox="1"/>
          <p:nvPr/>
        </p:nvSpPr>
        <p:spPr>
          <a:xfrm>
            <a:off x="7924800" y="7734300"/>
            <a:ext cx="89916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git merge </a:t>
            </a:r>
            <a:r>
              <a:rPr sz="1800" b="0" i="0">
                <a:solidFill>
                  <a:srgbClr val="F0E8E8"/>
                </a:solidFill>
                <a:latin typeface="Geist Mono"/>
                <a:ea typeface="Geist Mono"/>
                <a:cs typeface="Geist Mono"/>
              </a:rPr>
              <a:t>shooter</a:t>
            </a:r>
          </a:p>
        </p:txBody>
      </p:sp>
      <p:sp>
        <p:nvSpPr>
          <p:cNvPr id="88" name="TextBox 8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9" name="TextBox 8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Merge conflicts: when git has to ask</a:t>
            </a:r>
          </a:p>
        </p:txBody>
      </p:sp>
      <p:sp>
        <p:nvSpPr>
          <p:cNvPr id="4" name="TextBox 3"/>
          <p:cNvSpPr txBox="1"/>
          <p:nvPr/>
        </p:nvSpPr>
        <p:spPr>
          <a:xfrm>
            <a:off x="914400" y="2724150"/>
            <a:ext cx="9906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5" name="Rounded Rectangle 4"/>
          <p:cNvSpPr/>
          <p:nvPr/>
        </p:nvSpPr>
        <p:spPr>
          <a:xfrm>
            <a:off x="914400" y="3143250"/>
            <a:ext cx="99060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524250"/>
            <a:ext cx="93726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&lt;&lt;&lt;&lt;&lt;&lt;&lt; HEAD</a:t>
            </a:r>
          </a:p>
        </p:txBody>
      </p:sp>
      <p:sp>
        <p:nvSpPr>
          <p:cNvPr id="7" name="TextBox 6"/>
          <p:cNvSpPr txBox="1"/>
          <p:nvPr/>
        </p:nvSpPr>
        <p:spPr>
          <a:xfrm>
            <a:off x="1295400" y="3945255"/>
            <a:ext cx="93726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4.0</a:t>
            </a:r>
            <a:r>
              <a:rPr sz="1950" b="0" i="0">
                <a:solidFill>
                  <a:srgbClr val="F0E8E8"/>
                </a:solidFill>
                <a:latin typeface="Geist Mono"/>
                <a:ea typeface="Geist Mono"/>
                <a:cs typeface="Geist Mono"/>
              </a:rPr>
              <a:t>;</a:t>
            </a:r>
          </a:p>
        </p:txBody>
      </p:sp>
      <p:sp>
        <p:nvSpPr>
          <p:cNvPr id="8" name="TextBox 7"/>
          <p:cNvSpPr txBox="1"/>
          <p:nvPr/>
        </p:nvSpPr>
        <p:spPr>
          <a:xfrm>
            <a:off x="1295400" y="4366260"/>
            <a:ext cx="93726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a:t>
            </a:r>
          </a:p>
        </p:txBody>
      </p:sp>
      <p:sp>
        <p:nvSpPr>
          <p:cNvPr id="9" name="TextBox 8"/>
          <p:cNvSpPr txBox="1"/>
          <p:nvPr/>
        </p:nvSpPr>
        <p:spPr>
          <a:xfrm>
            <a:off x="1295400" y="4787265"/>
            <a:ext cx="93726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5.0</a:t>
            </a:r>
            <a:r>
              <a:rPr sz="1950" b="0" i="0">
                <a:solidFill>
                  <a:srgbClr val="F0E8E8"/>
                </a:solidFill>
                <a:latin typeface="Geist Mono"/>
                <a:ea typeface="Geist Mono"/>
                <a:cs typeface="Geist Mono"/>
              </a:rPr>
              <a:t>;</a:t>
            </a:r>
          </a:p>
        </p:txBody>
      </p:sp>
      <p:sp>
        <p:nvSpPr>
          <p:cNvPr id="10" name="TextBox 9"/>
          <p:cNvSpPr txBox="1"/>
          <p:nvPr/>
        </p:nvSpPr>
        <p:spPr>
          <a:xfrm>
            <a:off x="1295400" y="5208270"/>
            <a:ext cx="93726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&gt;&gt;&gt;&gt;&gt;&gt;&gt; issue-9-max-speed</a:t>
            </a:r>
          </a:p>
        </p:txBody>
      </p:sp>
      <p:sp>
        <p:nvSpPr>
          <p:cNvPr id="11" name="Oval 10"/>
          <p:cNvSpPr/>
          <p:nvPr/>
        </p:nvSpPr>
        <p:spPr>
          <a:xfrm>
            <a:off x="10096500" y="390715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96500" y="390715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 name="Oval 12"/>
          <p:cNvSpPr/>
          <p:nvPr/>
        </p:nvSpPr>
        <p:spPr>
          <a:xfrm>
            <a:off x="10096500" y="47491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96500" y="47491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Oval 14"/>
          <p:cNvSpPr/>
          <p:nvPr/>
        </p:nvSpPr>
        <p:spPr>
          <a:xfrm>
            <a:off x="11620500" y="3143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20500" y="3143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TextBox 16"/>
          <p:cNvSpPr txBox="1"/>
          <p:nvPr/>
        </p:nvSpPr>
        <p:spPr>
          <a:xfrm>
            <a:off x="12306300" y="31051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Yours</a:t>
            </a:r>
          </a:p>
        </p:txBody>
      </p:sp>
      <p:sp>
        <p:nvSpPr>
          <p:cNvPr id="18" name="TextBox 17"/>
          <p:cNvSpPr txBox="1"/>
          <p:nvPr/>
        </p:nvSpPr>
        <p:spPr>
          <a:xfrm>
            <a:off x="12306300" y="35623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What's on the branch you're on</a:t>
            </a:r>
          </a:p>
        </p:txBody>
      </p:sp>
      <p:sp>
        <p:nvSpPr>
          <p:cNvPr id="19" name="Oval 18"/>
          <p:cNvSpPr/>
          <p:nvPr/>
        </p:nvSpPr>
        <p:spPr>
          <a:xfrm>
            <a:off x="11620500" y="4762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20500" y="4762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TextBox 20"/>
          <p:cNvSpPr txBox="1"/>
          <p:nvPr/>
        </p:nvSpPr>
        <p:spPr>
          <a:xfrm>
            <a:off x="12306300" y="472440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Incoming</a:t>
            </a:r>
          </a:p>
        </p:txBody>
      </p:sp>
      <p:sp>
        <p:nvSpPr>
          <p:cNvPr id="22" name="TextBox 21"/>
          <p:cNvSpPr txBox="1"/>
          <p:nvPr/>
        </p:nvSpPr>
        <p:spPr>
          <a:xfrm>
            <a:off x="12306300" y="518160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 the other branch changed</a:t>
            </a:r>
          </a:p>
        </p:txBody>
      </p:sp>
      <p:sp>
        <p:nvSpPr>
          <p:cNvPr id="23" name="Oval 22"/>
          <p:cNvSpPr/>
          <p:nvPr/>
        </p:nvSpPr>
        <p:spPr>
          <a:xfrm>
            <a:off x="11620500" y="6381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20500" y="6381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TextBox 24"/>
          <p:cNvSpPr txBox="1"/>
          <p:nvPr/>
        </p:nvSpPr>
        <p:spPr>
          <a:xfrm>
            <a:off x="12306300" y="63436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 decide</a:t>
            </a:r>
          </a:p>
        </p:txBody>
      </p:sp>
      <p:sp>
        <p:nvSpPr>
          <p:cNvPr id="26" name="TextBox 25"/>
          <p:cNvSpPr txBox="1"/>
          <p:nvPr/>
        </p:nvSpPr>
        <p:spPr>
          <a:xfrm>
            <a:off x="12306300" y="68008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Keep one, save, stage with +, commit</a:t>
            </a:r>
          </a:p>
        </p:txBody>
      </p:sp>
      <p:sp>
        <p:nvSpPr>
          <p:cNvPr id="27" name="Rounded Rectangle 2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Why?  </a:t>
            </a:r>
            <a:r>
              <a:rPr sz="2100" b="0" i="0">
                <a:solidFill>
                  <a:srgbClr val="F0E8E8"/>
                </a:solidFill>
                <a:latin typeface="Geist"/>
                <a:ea typeface="Geist"/>
                <a:cs typeface="Geist"/>
              </a:rPr>
              <a:t>Two branches changed the same line, so git can't pick. That's normal, not an error.</a:t>
            </a:r>
          </a:p>
        </p:txBody>
      </p:sp>
      <p:pic>
        <p:nvPicPr>
          <p:cNvPr id="29" name="Picture 28" descr="dozer_wide_left.png"/>
          <p:cNvPicPr>
            <a:picLocks noChangeAspect="1"/>
          </p:cNvPicPr>
          <p:nvPr/>
        </p:nvPicPr>
        <p:blipFill>
          <a:blip r:embed="rId3"/>
          <a:stretch>
            <a:fillRect/>
          </a:stretch>
        </p:blipFill>
        <p:spPr>
          <a:xfrm>
            <a:off x="15716250" y="7705725"/>
            <a:ext cx="1428750" cy="878172"/>
          </a:xfrm>
          <a:prstGeom prst="rect">
            <a:avLst/>
          </a:prstGeom>
        </p:spPr>
      </p:pic>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Rebase: replay your work on top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9334500" cy="5905500"/>
          </a:xfrm>
          <a:prstGeom prst="roundRect">
            <a:avLst>
              <a:gd name="adj" fmla="val 258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952750"/>
            <a:ext cx="38100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BEFORE</a:t>
            </a:r>
          </a:p>
        </p:txBody>
      </p:sp>
      <p:sp>
        <p:nvSpPr>
          <p:cNvPr id="7" name="Rounded Rectangle 6"/>
          <p:cNvSpPr/>
          <p:nvPr/>
        </p:nvSpPr>
        <p:spPr>
          <a:xfrm>
            <a:off x="1295400" y="352425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52425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9" name="Connector 8"/>
          <p:cNvCxnSpPr/>
          <p:nvPr/>
        </p:nvCxnSpPr>
        <p:spPr>
          <a:xfrm>
            <a:off x="4000500" y="3810000"/>
            <a:ext cx="40005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295400" y="457200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457200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12" name="Connector 11"/>
          <p:cNvCxnSpPr/>
          <p:nvPr/>
        </p:nvCxnSpPr>
        <p:spPr>
          <a:xfrm>
            <a:off x="6667500" y="485775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334000" y="3810000"/>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467156" y="3825273"/>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582816" y="3868039"/>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83898" y="3933714"/>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773316" y="4017717"/>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853987" y="4115466"/>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928827" y="4222380"/>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000750" y="4333875"/>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72673" y="4445370"/>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147513" y="4552284"/>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28184" y="4650033"/>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317602" y="4734036"/>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418684" y="4799711"/>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534344" y="4842477"/>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438581" y="379669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554241" y="383946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655323" y="390513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44741" y="398914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825412" y="408689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900252" y="419380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72175" y="430530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44098" y="441679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118938" y="452370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199609" y="462145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289027" y="470546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390109" y="477113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505769" y="481390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909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8576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124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191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791450" y="360045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58125" y="36671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2750" y="3162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new on develop</a:t>
            </a:r>
          </a:p>
        </p:txBody>
      </p:sp>
      <p:sp>
        <p:nvSpPr>
          <p:cNvPr id="47" name="Oval 46"/>
          <p:cNvSpPr/>
          <p:nvPr/>
        </p:nvSpPr>
        <p:spPr>
          <a:xfrm>
            <a:off x="64579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5246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292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50" name="Oval 49"/>
          <p:cNvSpPr/>
          <p:nvPr/>
        </p:nvSpPr>
        <p:spPr>
          <a:xfrm>
            <a:off x="7791450" y="464820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858125" y="4714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62750" y="516255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cxnSp>
        <p:nvCxnSpPr>
          <p:cNvPr id="53" name="Connector 52"/>
          <p:cNvCxnSpPr/>
          <p:nvPr/>
        </p:nvCxnSpPr>
        <p:spPr>
          <a:xfrm>
            <a:off x="1295400" y="5715000"/>
            <a:ext cx="8572500" cy="0"/>
          </a:xfrm>
          <a:prstGeom prst="line">
            <a:avLst/>
          </a:prstGeom>
          <a:ln w="19050">
            <a:solidFill>
              <a:srgbClr val="2A1A1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295400" y="5905500"/>
            <a:ext cx="3810000" cy="381000"/>
          </a:xfrm>
          <a:prstGeom prst="rect">
            <a:avLst/>
          </a:prstGeom>
          <a:noFill/>
        </p:spPr>
        <p:txBody>
          <a:bodyPr wrap="square" lIns="0" rIns="0" tIns="0" bIns="0" anchor="t">
            <a:spAutoFit/>
          </a:bodyPr>
          <a:lstStyle/>
          <a:p>
            <a:pPr algn="l"/>
            <a:r>
              <a:rPr sz="1650" b="1" i="0" spc="130">
                <a:solidFill>
                  <a:srgbClr val="E05540"/>
                </a:solidFill>
                <a:latin typeface="Geist"/>
                <a:ea typeface="Geist"/>
                <a:cs typeface="Geist"/>
              </a:rPr>
              <a:t>AFTER  git rebase develop</a:t>
            </a:r>
          </a:p>
        </p:txBody>
      </p:sp>
      <p:sp>
        <p:nvSpPr>
          <p:cNvPr id="55" name="Rounded Rectangle 54"/>
          <p:cNvSpPr/>
          <p:nvPr/>
        </p:nvSpPr>
        <p:spPr>
          <a:xfrm>
            <a:off x="1295400" y="6477000"/>
            <a:ext cx="2000250" cy="571500"/>
          </a:xfrm>
          <a:prstGeom prst="roundRect">
            <a:avLst>
              <a:gd name="adj" fmla="val 50000"/>
            </a:avLst>
          </a:prstGeom>
          <a:solidFill>
            <a:srgbClr val="111111"/>
          </a:solidFill>
          <a:ln w="19050">
            <a:solidFill>
              <a:srgbClr val="E8C2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295400" y="6477000"/>
            <a:ext cx="2000250" cy="571500"/>
          </a:xfrm>
          <a:prstGeom prst="rect">
            <a:avLst/>
          </a:prstGeom>
          <a:noFill/>
        </p:spPr>
        <p:txBody>
          <a:bodyPr wrap="square" lIns="0" rIns="0" tIns="0" bIns="0" anchor="ctr">
            <a:spAutoFit/>
          </a:bodyPr>
          <a:lstStyle/>
          <a:p>
            <a:pPr algn="ctr"/>
            <a:r>
              <a:rPr sz="1800" b="0" i="0">
                <a:solidFill>
                  <a:srgbClr val="E8C27A"/>
                </a:solidFill>
                <a:latin typeface="Geist Mono"/>
                <a:ea typeface="Geist Mono"/>
                <a:cs typeface="Geist Mono"/>
              </a:rPr>
              <a:t>develop</a:t>
            </a:r>
          </a:p>
        </p:txBody>
      </p:sp>
      <p:cxnSp>
        <p:nvCxnSpPr>
          <p:cNvPr id="57" name="Connector 56"/>
          <p:cNvCxnSpPr/>
          <p:nvPr/>
        </p:nvCxnSpPr>
        <p:spPr>
          <a:xfrm>
            <a:off x="4000500" y="6762750"/>
            <a:ext cx="2667000" cy="0"/>
          </a:xfrm>
          <a:prstGeom prst="line">
            <a:avLst/>
          </a:prstGeom>
          <a:ln w="57150">
            <a:solidFill>
              <a:srgbClr val="E8C27A"/>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1295400" y="7524750"/>
            <a:ext cx="2000250" cy="571500"/>
          </a:xfrm>
          <a:prstGeom prst="roundRect">
            <a:avLst>
              <a:gd name="adj" fmla="val 50000"/>
            </a:avLst>
          </a:prstGeom>
          <a:solidFill>
            <a:srgbClr val="111111"/>
          </a:solidFill>
          <a:ln w="19050">
            <a:solidFill>
              <a:srgbClr val="E055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295400" y="7524750"/>
            <a:ext cx="2000250" cy="571500"/>
          </a:xfrm>
          <a:prstGeom prst="rect">
            <a:avLst/>
          </a:prstGeom>
          <a:noFill/>
        </p:spPr>
        <p:txBody>
          <a:bodyPr wrap="square" lIns="0" rIns="0" tIns="0" bIns="0" anchor="ctr">
            <a:spAutoFit/>
          </a:bodyPr>
          <a:lstStyle/>
          <a:p>
            <a:pPr algn="ctr"/>
            <a:r>
              <a:rPr sz="1800" b="0" i="0">
                <a:solidFill>
                  <a:srgbClr val="E05540"/>
                </a:solidFill>
                <a:latin typeface="Geist Mono"/>
                <a:ea typeface="Geist Mono"/>
                <a:cs typeface="Geist Mono"/>
              </a:rPr>
              <a:t>my-feature</a:t>
            </a:r>
          </a:p>
        </p:txBody>
      </p:sp>
      <p:cxnSp>
        <p:nvCxnSpPr>
          <p:cNvPr id="60" name="Connector 59"/>
          <p:cNvCxnSpPr/>
          <p:nvPr/>
        </p:nvCxnSpPr>
        <p:spPr>
          <a:xfrm>
            <a:off x="8001000" y="7810500"/>
            <a:ext cx="1333500" cy="0"/>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667500" y="6762750"/>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800656" y="6778023"/>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916316" y="6820789"/>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017398" y="6886464"/>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106816" y="6970467"/>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187487" y="7068216"/>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262327" y="7175130"/>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334250" y="7286625"/>
            <a:ext cx="71923" cy="11149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406173" y="7398120"/>
            <a:ext cx="74840" cy="106914"/>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481013" y="7505034"/>
            <a:ext cx="80671" cy="97749"/>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561684" y="7602783"/>
            <a:ext cx="89418" cy="8400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651102" y="7686786"/>
            <a:ext cx="101082" cy="65675"/>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752184" y="7752461"/>
            <a:ext cx="115660" cy="42766"/>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7867844" y="7795227"/>
            <a:ext cx="133156" cy="15273"/>
          </a:xfrm>
          <a:prstGeom prst="line">
            <a:avLst/>
          </a:prstGeom>
          <a:ln w="57150">
            <a:solidFill>
              <a:srgbClr val="E055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6772081" y="674944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887741" y="6792214"/>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988823" y="685788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078241" y="694189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158912" y="703964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233752" y="714655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305675" y="7258050"/>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377598" y="7369545"/>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452438" y="7476459"/>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533109" y="7574208"/>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622527" y="7658211"/>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723609" y="7723886"/>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839269" y="7766652"/>
            <a:ext cx="57150" cy="5715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790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857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1244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1911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6457950" y="6553200"/>
            <a:ext cx="419100" cy="4191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524625" y="661987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77914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8581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627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a:t>
            </a:r>
          </a:p>
        </p:txBody>
      </p:sp>
      <p:sp>
        <p:nvSpPr>
          <p:cNvPr id="97" name="Oval 96"/>
          <p:cNvSpPr/>
          <p:nvPr/>
        </p:nvSpPr>
        <p:spPr>
          <a:xfrm>
            <a:off x="9124950" y="7600950"/>
            <a:ext cx="419100" cy="4191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9191625" y="7667625"/>
            <a:ext cx="285750" cy="285750"/>
          </a:xfrm>
          <a:prstGeom prst="ellipse">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096250" y="8115300"/>
            <a:ext cx="2476500" cy="3429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B'</a:t>
            </a:r>
          </a:p>
        </p:txBody>
      </p:sp>
      <p:sp>
        <p:nvSpPr>
          <p:cNvPr id="100" name="Rounded Rectangle 99"/>
          <p:cNvSpPr/>
          <p:nvPr/>
        </p:nvSpPr>
        <p:spPr>
          <a:xfrm>
            <a:off x="10668000" y="2762250"/>
            <a:ext cx="67056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11049000" y="3143250"/>
            <a:ext cx="5905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Merge or rebase?</a:t>
            </a:r>
          </a:p>
        </p:txBody>
      </p:sp>
      <p:sp>
        <p:nvSpPr>
          <p:cNvPr id="102" name="TextBox 101"/>
          <p:cNvSpPr txBox="1"/>
          <p:nvPr/>
        </p:nvSpPr>
        <p:spPr>
          <a:xfrm>
            <a:off x="11049000" y="390525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Rebase</a:t>
            </a:r>
            <a:r>
              <a:rPr sz="2100" b="0" i="0">
                <a:solidFill>
                  <a:srgbClr val="F0E8E8"/>
                </a:solidFill>
                <a:latin typeface="Geist"/>
                <a:ea typeface="Geist"/>
                <a:cs typeface="Geist"/>
              </a:rPr>
              <a:t>: one straight line, but your commits get new IDs</a:t>
            </a:r>
          </a:p>
        </p:txBody>
      </p:sp>
      <p:sp>
        <p:nvSpPr>
          <p:cNvPr id="103" name="TextBox 102"/>
          <p:cNvSpPr txBox="1"/>
          <p:nvPr/>
        </p:nvSpPr>
        <p:spPr>
          <a:xfrm>
            <a:off x="11049000" y="482727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Merge</a:t>
            </a:r>
            <a:r>
              <a:rPr sz="2100" b="0" i="0">
                <a:solidFill>
                  <a:srgbClr val="F0E8E8"/>
                </a:solidFill>
                <a:latin typeface="Geist"/>
                <a:ea typeface="Geist"/>
                <a:cs typeface="Geist"/>
              </a:rPr>
              <a:t>: keeps history exactly as it was, always safe</a:t>
            </a:r>
          </a:p>
        </p:txBody>
      </p:sp>
      <p:sp>
        <p:nvSpPr>
          <p:cNvPr id="104" name="TextBox 103"/>
          <p:cNvSpPr txBox="1"/>
          <p:nvPr/>
        </p:nvSpPr>
        <p:spPr>
          <a:xfrm>
            <a:off x="11049000" y="574929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Only rebase branches nobody else has</a:t>
            </a:r>
          </a:p>
        </p:txBody>
      </p:sp>
      <p:sp>
        <p:nvSpPr>
          <p:cNvPr id="105" name="TextBox 104"/>
          <p:cNvSpPr txBox="1"/>
          <p:nvPr/>
        </p:nvSpPr>
        <p:spPr>
          <a:xfrm>
            <a:off x="11049000" y="632460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Not sure? </a:t>
            </a:r>
            <a:r>
              <a:rPr sz="2100" b="1" i="0">
                <a:solidFill>
                  <a:srgbClr val="F0E8E8"/>
                </a:solidFill>
                <a:latin typeface="Geist"/>
                <a:ea typeface="Geist"/>
                <a:cs typeface="Geist"/>
              </a:rPr>
              <a:t>Merge.</a:t>
            </a:r>
          </a:p>
        </p:txBody>
      </p:sp>
      <p:sp>
        <p:nvSpPr>
          <p:cNvPr id="106" name="TextBox 10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7" name="TextBox 10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Local and remote: push and pull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53340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splay.png"/>
          <p:cNvPicPr>
            <a:picLocks noChangeAspect="1"/>
          </p:cNvPicPr>
          <p:nvPr/>
        </p:nvPicPr>
        <p:blipFill>
          <a:blip r:embed="rId3"/>
          <a:stretch>
            <a:fillRect/>
          </a:stretch>
        </p:blipFill>
        <p:spPr>
          <a:xfrm>
            <a:off x="1295400" y="3524250"/>
            <a:ext cx="780288" cy="609600"/>
          </a:xfrm>
          <a:prstGeom prst="rect">
            <a:avLst/>
          </a:prstGeom>
        </p:spPr>
      </p:pic>
      <p:sp>
        <p:nvSpPr>
          <p:cNvPr id="7" name="TextBox 6"/>
          <p:cNvSpPr txBox="1"/>
          <p:nvPr/>
        </p:nvSpPr>
        <p:spPr>
          <a:xfrm>
            <a:off x="12954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Local</a:t>
            </a:r>
          </a:p>
        </p:txBody>
      </p:sp>
      <p:sp>
        <p:nvSpPr>
          <p:cNvPr id="8" name="TextBox 7"/>
          <p:cNvSpPr txBox="1"/>
          <p:nvPr/>
        </p:nvSpPr>
        <p:spPr>
          <a:xfrm>
            <a:off x="12954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Your copy, on your computer</a:t>
            </a:r>
          </a:p>
        </p:txBody>
      </p:sp>
      <p:sp>
        <p:nvSpPr>
          <p:cNvPr id="9" name="Rounded Rectangle 8"/>
          <p:cNvSpPr/>
          <p:nvPr/>
        </p:nvSpPr>
        <p:spPr>
          <a:xfrm>
            <a:off x="12039600" y="3143250"/>
            <a:ext cx="533400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ud-arrow-up.png"/>
          <p:cNvPicPr>
            <a:picLocks noChangeAspect="1"/>
          </p:cNvPicPr>
          <p:nvPr/>
        </p:nvPicPr>
        <p:blipFill>
          <a:blip r:embed="rId4"/>
          <a:stretch>
            <a:fillRect/>
          </a:stretch>
        </p:blipFill>
        <p:spPr>
          <a:xfrm>
            <a:off x="12420600" y="3524250"/>
            <a:ext cx="831273" cy="571500"/>
          </a:xfrm>
          <a:prstGeom prst="rect">
            <a:avLst/>
          </a:prstGeom>
        </p:spPr>
      </p:pic>
      <p:sp>
        <p:nvSpPr>
          <p:cNvPr id="11" name="TextBox 10"/>
          <p:cNvSpPr txBox="1"/>
          <p:nvPr/>
        </p:nvSpPr>
        <p:spPr>
          <a:xfrm>
            <a:off x="124206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Remote (origin)</a:t>
            </a:r>
          </a:p>
        </p:txBody>
      </p:sp>
      <p:sp>
        <p:nvSpPr>
          <p:cNvPr id="12" name="TextBox 11"/>
          <p:cNvSpPr txBox="1"/>
          <p:nvPr/>
        </p:nvSpPr>
        <p:spPr>
          <a:xfrm>
            <a:off x="124206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The shared copy on GitHub</a:t>
            </a:r>
          </a:p>
        </p:txBody>
      </p:sp>
      <p:cxnSp>
        <p:nvCxnSpPr>
          <p:cNvPr id="13" name="Connector 12"/>
          <p:cNvCxnSpPr/>
          <p:nvPr/>
        </p:nvCxnSpPr>
        <p:spPr>
          <a:xfrm>
            <a:off x="6477000" y="4000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77000" y="3429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push: send your commits</a:t>
            </a:r>
          </a:p>
        </p:txBody>
      </p:sp>
      <p:cxnSp>
        <p:nvCxnSpPr>
          <p:cNvPr id="15" name="Connector 14"/>
          <p:cNvCxnSpPr/>
          <p:nvPr/>
        </p:nvCxnSpPr>
        <p:spPr>
          <a:xfrm flipH="1">
            <a:off x="6477000" y="5143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77000" y="5334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pull: get teammates' commits</a:t>
            </a:r>
          </a:p>
        </p:txBody>
      </p:sp>
      <p:sp>
        <p:nvSpPr>
          <p:cNvPr id="17" name="Rounded Rectangle 16"/>
          <p:cNvSpPr/>
          <p:nvPr/>
        </p:nvSpPr>
        <p:spPr>
          <a:xfrm>
            <a:off x="914400" y="6381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xclamation-circle.png"/>
          <p:cNvPicPr>
            <a:picLocks noChangeAspect="1"/>
          </p:cNvPicPr>
          <p:nvPr/>
        </p:nvPicPr>
        <p:blipFill>
          <a:blip r:embed="rId5"/>
          <a:stretch>
            <a:fillRect/>
          </a:stretch>
        </p:blipFill>
        <p:spPr>
          <a:xfrm>
            <a:off x="1333500" y="6638925"/>
            <a:ext cx="533400" cy="533400"/>
          </a:xfrm>
          <a:prstGeom prst="rect">
            <a:avLst/>
          </a:prstGeom>
        </p:spPr>
      </p:pic>
      <p:sp>
        <p:nvSpPr>
          <p:cNvPr id="19" name="TextBox 18"/>
          <p:cNvSpPr txBox="1"/>
          <p:nvPr/>
        </p:nvSpPr>
        <p:spPr>
          <a:xfrm>
            <a:off x="2190750" y="6381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Golden rule:  </a:t>
            </a:r>
            <a:r>
              <a:rPr sz="2100" b="0" i="0">
                <a:solidFill>
                  <a:srgbClr val="F0E8E8"/>
                </a:solidFill>
                <a:latin typeface="Geist"/>
                <a:ea typeface="Geist"/>
                <a:cs typeface="Geist"/>
              </a:rPr>
              <a:t>pull when you start a session, push when you finish. Use Push and Pull, not Sync Changes.</a:t>
            </a:r>
          </a:p>
        </p:txBody>
      </p:sp>
      <p:sp>
        <p:nvSpPr>
          <p:cNvPr id="20" name="Rounded Rectangle 19"/>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rchive.png"/>
          <p:cNvPicPr>
            <a:picLocks noChangeAspect="1"/>
          </p:cNvPicPr>
          <p:nvPr/>
        </p:nvPicPr>
        <p:blipFill>
          <a:blip r:embed="rId6"/>
          <a:stretch>
            <a:fillRect/>
          </a:stretch>
        </p:blipFill>
        <p:spPr>
          <a:xfrm>
            <a:off x="1333500" y="7877175"/>
            <a:ext cx="609600" cy="533400"/>
          </a:xfrm>
          <a:prstGeom prst="rect">
            <a:avLst/>
          </a:prstGeom>
        </p:spPr>
      </p:pic>
      <p:sp>
        <p:nvSpPr>
          <p:cNvPr id="22" name="TextBox 21"/>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Stash  </a:t>
            </a:r>
            <a:r>
              <a:rPr sz="2100" b="0" i="0">
                <a:solidFill>
                  <a:srgbClr val="F0E8E8"/>
                </a:solidFill>
                <a:latin typeface="Geist"/>
                <a:ea typeface="Geist"/>
                <a:cs typeface="Geist"/>
              </a:rPr>
              <a:t>Shelve unfinished work so you can switch branches. Stash pop brings it back.</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GitHub: how the team works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fill.png"/>
          <p:cNvPicPr>
            <a:picLocks noChangeAspect="1"/>
          </p:cNvPicPr>
          <p:nvPr/>
        </p:nvPicPr>
        <p:blipFill>
          <a:blip r:embed="rId3"/>
          <a:stretch>
            <a:fillRect/>
          </a:stretch>
        </p:blipFill>
        <p:spPr>
          <a:xfrm>
            <a:off x="1295400" y="3238500"/>
            <a:ext cx="914400" cy="685800"/>
          </a:xfrm>
          <a:prstGeom prst="rect">
            <a:avLst/>
          </a:prstGeom>
        </p:spPr>
      </p:pic>
      <p:sp>
        <p:nvSpPr>
          <p:cNvPr id="7" name="TextBox 6"/>
          <p:cNvSpPr txBox="1"/>
          <p:nvPr/>
        </p:nvSpPr>
        <p:spPr>
          <a:xfrm>
            <a:off x="1295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Pull requests</a:t>
            </a:r>
          </a:p>
        </p:txBody>
      </p:sp>
      <p:sp>
        <p:nvSpPr>
          <p:cNvPr id="8" name="TextBox 7"/>
          <p:cNvSpPr txBox="1"/>
          <p:nvPr/>
        </p:nvSpPr>
        <p:spPr>
          <a:xfrm>
            <a:off x="1295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Ask to merge a branch. Teammates review the code first.</a:t>
            </a:r>
          </a:p>
        </p:txBody>
      </p:sp>
      <p:sp>
        <p:nvSpPr>
          <p:cNvPr id="9" name="Rounded Rectangle 8"/>
          <p:cNvSpPr/>
          <p:nvPr/>
        </p:nvSpPr>
        <p:spPr>
          <a:xfrm>
            <a:off x="6502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circle.png"/>
          <p:cNvPicPr>
            <a:picLocks noChangeAspect="1"/>
          </p:cNvPicPr>
          <p:nvPr/>
        </p:nvPicPr>
        <p:blipFill>
          <a:blip r:embed="rId4"/>
          <a:stretch>
            <a:fillRect/>
          </a:stretch>
        </p:blipFill>
        <p:spPr>
          <a:xfrm>
            <a:off x="6883400" y="3238500"/>
            <a:ext cx="685800" cy="685800"/>
          </a:xfrm>
          <a:prstGeom prst="rect">
            <a:avLst/>
          </a:prstGeom>
        </p:spPr>
      </p:pic>
      <p:sp>
        <p:nvSpPr>
          <p:cNvPr id="11" name="TextBox 10"/>
          <p:cNvSpPr txBox="1"/>
          <p:nvPr/>
        </p:nvSpPr>
        <p:spPr>
          <a:xfrm>
            <a:off x="6883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Issues</a:t>
            </a:r>
          </a:p>
        </p:txBody>
      </p:sp>
      <p:sp>
        <p:nvSpPr>
          <p:cNvPr id="12" name="TextBox 11"/>
          <p:cNvSpPr txBox="1"/>
          <p:nvPr/>
        </p:nvSpPr>
        <p:spPr>
          <a:xfrm>
            <a:off x="6883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One task or bug each. The number goes in your branch name.</a:t>
            </a:r>
          </a:p>
        </p:txBody>
      </p:sp>
      <p:sp>
        <p:nvSpPr>
          <p:cNvPr id="13" name="Rounded Rectangle 12"/>
          <p:cNvSpPr/>
          <p:nvPr/>
        </p:nvSpPr>
        <p:spPr>
          <a:xfrm>
            <a:off x="12090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png"/>
          <p:cNvPicPr>
            <a:picLocks noChangeAspect="1"/>
          </p:cNvPicPr>
          <p:nvPr/>
        </p:nvPicPr>
        <p:blipFill>
          <a:blip r:embed="rId5"/>
          <a:stretch>
            <a:fillRect/>
          </a:stretch>
        </p:blipFill>
        <p:spPr>
          <a:xfrm>
            <a:off x="12471400" y="3238500"/>
            <a:ext cx="642938" cy="685800"/>
          </a:xfrm>
          <a:prstGeom prst="rect">
            <a:avLst/>
          </a:prstGeom>
        </p:spPr>
      </p:pic>
      <p:sp>
        <p:nvSpPr>
          <p:cNvPr id="15" name="TextBox 14"/>
          <p:cNvSpPr txBox="1"/>
          <p:nvPr/>
        </p:nvSpPr>
        <p:spPr>
          <a:xfrm>
            <a:off x="12471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Projects</a:t>
            </a:r>
          </a:p>
        </p:txBody>
      </p:sp>
      <p:sp>
        <p:nvSpPr>
          <p:cNvPr id="16" name="TextBox 15"/>
          <p:cNvSpPr txBox="1"/>
          <p:nvPr/>
        </p:nvSpPr>
        <p:spPr>
          <a:xfrm>
            <a:off x="12471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board of issues by status, from Backlog to Done.</a:t>
            </a:r>
          </a:p>
        </p:txBody>
      </p:sp>
      <p:sp>
        <p:nvSpPr>
          <p:cNvPr id="17" name="TextBox 16"/>
          <p:cNvSpPr txBox="1"/>
          <p:nvPr/>
        </p:nvSpPr>
        <p:spPr>
          <a:xfrm>
            <a:off x="914400" y="76200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All our code lives at github.com/FRC-Team-4143</a:t>
            </a:r>
          </a:p>
        </p:txBody>
      </p:sp>
      <p:sp>
        <p:nvSpPr>
          <p:cNvPr id="18" name="TextBox 1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team workflow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7" name="TextBox 6"/>
          <p:cNvSpPr txBox="1"/>
          <p:nvPr/>
        </p:nvSpPr>
        <p:spPr>
          <a:xfrm>
            <a:off x="11430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Issue</a:t>
            </a:r>
          </a:p>
        </p:txBody>
      </p:sp>
      <p:sp>
        <p:nvSpPr>
          <p:cNvPr id="8" name="TextBox 7"/>
          <p:cNvSpPr txBox="1"/>
          <p:nvPr/>
        </p:nvSpPr>
        <p:spPr>
          <a:xfrm>
            <a:off x="11430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Find it, assign yourself</a:t>
            </a:r>
          </a:p>
        </p:txBody>
      </p:sp>
      <p:sp>
        <p:nvSpPr>
          <p:cNvPr id="9" name="Rounded Rectangle 8"/>
          <p:cNvSpPr/>
          <p:nvPr/>
        </p:nvSpPr>
        <p:spPr>
          <a:xfrm>
            <a:off x="36957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243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1" name="TextBox 10"/>
          <p:cNvSpPr txBox="1"/>
          <p:nvPr/>
        </p:nvSpPr>
        <p:spPr>
          <a:xfrm>
            <a:off x="39243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Branch</a:t>
            </a:r>
          </a:p>
        </p:txBody>
      </p:sp>
      <p:sp>
        <p:nvSpPr>
          <p:cNvPr id="12" name="TextBox 11"/>
          <p:cNvSpPr txBox="1"/>
          <p:nvPr/>
        </p:nvSpPr>
        <p:spPr>
          <a:xfrm>
            <a:off x="39243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Mono"/>
                <a:ea typeface="Geist Mono"/>
                <a:cs typeface="Geist Mono"/>
              </a:rPr>
              <a:t>issue-12-turbo-boost</a:t>
            </a:r>
          </a:p>
        </p:txBody>
      </p:sp>
      <p:sp>
        <p:nvSpPr>
          <p:cNvPr id="13" name="Rounded Rectangle 12"/>
          <p:cNvSpPr/>
          <p:nvPr/>
        </p:nvSpPr>
        <p:spPr>
          <a:xfrm>
            <a:off x="64770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056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5" name="TextBox 14"/>
          <p:cNvSpPr txBox="1"/>
          <p:nvPr/>
        </p:nvSpPr>
        <p:spPr>
          <a:xfrm>
            <a:off x="67056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Commit</a:t>
            </a:r>
          </a:p>
        </p:txBody>
      </p:sp>
      <p:sp>
        <p:nvSpPr>
          <p:cNvPr id="16" name="TextBox 15"/>
          <p:cNvSpPr txBox="1"/>
          <p:nvPr/>
        </p:nvSpPr>
        <p:spPr>
          <a:xfrm>
            <a:off x="67056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Small steps, update the issue</a:t>
            </a:r>
          </a:p>
        </p:txBody>
      </p:sp>
      <p:sp>
        <p:nvSpPr>
          <p:cNvPr id="17" name="Rounded Rectangle 16"/>
          <p:cNvSpPr/>
          <p:nvPr/>
        </p:nvSpPr>
        <p:spPr>
          <a:xfrm>
            <a:off x="92583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4869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19" name="TextBox 18"/>
          <p:cNvSpPr txBox="1"/>
          <p:nvPr/>
        </p:nvSpPr>
        <p:spPr>
          <a:xfrm>
            <a:off x="9486900" y="3562350"/>
            <a:ext cx="2095500" cy="47625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Pull request</a:t>
            </a:r>
          </a:p>
        </p:txBody>
      </p:sp>
      <p:sp>
        <p:nvSpPr>
          <p:cNvPr id="20" name="TextBox 19"/>
          <p:cNvSpPr txBox="1"/>
          <p:nvPr/>
        </p:nvSpPr>
        <p:spPr>
          <a:xfrm>
            <a:off x="94869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Linked to the issue</a:t>
            </a:r>
          </a:p>
        </p:txBody>
      </p:sp>
      <p:sp>
        <p:nvSpPr>
          <p:cNvPr id="21" name="Rounded Rectangle 20"/>
          <p:cNvSpPr/>
          <p:nvPr/>
        </p:nvSpPr>
        <p:spPr>
          <a:xfrm>
            <a:off x="120396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682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3" name="TextBox 22"/>
          <p:cNvSpPr txBox="1"/>
          <p:nvPr/>
        </p:nvSpPr>
        <p:spPr>
          <a:xfrm>
            <a:off x="122682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Review</a:t>
            </a:r>
          </a:p>
        </p:txBody>
      </p:sp>
      <p:sp>
        <p:nvSpPr>
          <p:cNvPr id="24" name="TextBox 23"/>
          <p:cNvSpPr txBox="1"/>
          <p:nvPr/>
        </p:nvSpPr>
        <p:spPr>
          <a:xfrm>
            <a:off x="122682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Teammate or mentor</a:t>
            </a:r>
          </a:p>
        </p:txBody>
      </p:sp>
      <p:sp>
        <p:nvSpPr>
          <p:cNvPr id="25" name="Rounded Rectangle 24"/>
          <p:cNvSpPr/>
          <p:nvPr/>
        </p:nvSpPr>
        <p:spPr>
          <a:xfrm>
            <a:off x="148209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50495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06</a:t>
            </a:r>
          </a:p>
        </p:txBody>
      </p:sp>
      <p:sp>
        <p:nvSpPr>
          <p:cNvPr id="27" name="TextBox 26"/>
          <p:cNvSpPr txBox="1"/>
          <p:nvPr/>
        </p:nvSpPr>
        <p:spPr>
          <a:xfrm>
            <a:off x="150495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Merge</a:t>
            </a:r>
          </a:p>
        </p:txBody>
      </p:sp>
      <p:sp>
        <p:nvSpPr>
          <p:cNvPr id="28" name="TextBox 27"/>
          <p:cNvSpPr txBox="1"/>
          <p:nvPr/>
        </p:nvSpPr>
        <p:spPr>
          <a:xfrm>
            <a:off x="150495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Then delete the branch</a:t>
            </a:r>
          </a:p>
        </p:txBody>
      </p:sp>
      <p:sp>
        <p:nvSpPr>
          <p:cNvPr id="29" name="TextBox 28"/>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PROJECT BOARD</a:t>
            </a:r>
          </a:p>
        </p:txBody>
      </p:sp>
      <p:sp>
        <p:nvSpPr>
          <p:cNvPr id="30" name="Rounded Rectangle 29"/>
          <p:cNvSpPr/>
          <p:nvPr/>
        </p:nvSpPr>
        <p:spPr>
          <a:xfrm>
            <a:off x="91440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4300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Backlog</a:t>
            </a:r>
          </a:p>
        </p:txBody>
      </p:sp>
      <p:sp>
        <p:nvSpPr>
          <p:cNvPr id="32" name="Rounded Rectangle 31"/>
          <p:cNvSpPr/>
          <p:nvPr/>
        </p:nvSpPr>
        <p:spPr>
          <a:xfrm>
            <a:off x="114300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14300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25196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8056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Ready</a:t>
            </a:r>
          </a:p>
        </p:txBody>
      </p:sp>
      <p:sp>
        <p:nvSpPr>
          <p:cNvPr id="36" name="Rounded Rectangle 35"/>
          <p:cNvSpPr/>
          <p:nvPr/>
        </p:nvSpPr>
        <p:spPr>
          <a:xfrm>
            <a:off x="448056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448056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589520" y="6191250"/>
            <a:ext cx="3108960" cy="2095500"/>
          </a:xfrm>
          <a:prstGeom prst="roundRect">
            <a:avLst>
              <a:gd name="adj" fmla="val 545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1812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progress</a:t>
            </a:r>
          </a:p>
        </p:txBody>
      </p:sp>
      <p:sp>
        <p:nvSpPr>
          <p:cNvPr id="40" name="Rounded Rectangle 39"/>
          <p:cNvSpPr/>
          <p:nvPr/>
        </p:nvSpPr>
        <p:spPr>
          <a:xfrm>
            <a:off x="781812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92708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15568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review</a:t>
            </a:r>
          </a:p>
        </p:txBody>
      </p:sp>
      <p:sp>
        <p:nvSpPr>
          <p:cNvPr id="43" name="Rounded Rectangle 42"/>
          <p:cNvSpPr/>
          <p:nvPr/>
        </p:nvSpPr>
        <p:spPr>
          <a:xfrm>
            <a:off x="1115568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115568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426464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449324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Done</a:t>
            </a:r>
          </a:p>
        </p:txBody>
      </p:sp>
      <p:sp>
        <p:nvSpPr>
          <p:cNvPr id="47" name="Rounded Rectangle 46"/>
          <p:cNvSpPr/>
          <p:nvPr/>
        </p:nvSpPr>
        <p:spPr>
          <a:xfrm>
            <a:off x="1449324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49324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AdvantageScope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Telemetry: seeing what the robot is doing</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You can't see inside me, so graph what I'm thinking.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telemetry?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 code</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values every loop</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Sends them to the laptop</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Graphs and draws them</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Shows drivers what matters</a:t>
            </a:r>
          </a:p>
        </p:txBody>
      </p:sp>
      <p:sp>
        <p:nvSpPr>
          <p:cNvPr id="20" name="TextBox 19"/>
          <p:cNvSpPr txBox="1"/>
          <p:nvPr/>
        </p:nvSpPr>
        <p:spPr>
          <a:xfrm>
            <a:off x="914400" y="581025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Telemetry</a:t>
            </a:r>
            <a:r>
              <a:rPr sz="2250" b="0" i="0">
                <a:solidFill>
                  <a:srgbClr val="F0E8E8"/>
                </a:solidFill>
                <a:latin typeface="Geist"/>
                <a:ea typeface="Geist"/>
                <a:cs typeface="Geist"/>
              </a:rPr>
              <a:t>: data the robot reports about itself</a:t>
            </a:r>
          </a:p>
        </p:txBody>
      </p:sp>
      <p:sp>
        <p:nvSpPr>
          <p:cNvPr id="21" name="TextBox 20"/>
          <p:cNvSpPr txBox="1"/>
          <p:nvPr/>
        </p:nvSpPr>
        <p:spPr>
          <a:xfrm>
            <a:off x="914400" y="6410325"/>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Sent about </a:t>
            </a:r>
            <a:r>
              <a:rPr sz="2250" b="1" i="0">
                <a:solidFill>
                  <a:srgbClr val="F0E8E8"/>
                </a:solidFill>
                <a:latin typeface="Geist"/>
                <a:ea typeface="Geist"/>
                <a:cs typeface="Geist"/>
              </a:rPr>
              <a:t>50 times a second</a:t>
            </a:r>
            <a:r>
              <a:rPr sz="2250" b="0" i="0">
                <a:solidFill>
                  <a:srgbClr val="F0E8E8"/>
                </a:solidFill>
                <a:latin typeface="Geist"/>
                <a:ea typeface="Geist"/>
                <a:cs typeface="Geist"/>
              </a:rPr>
              <a:t> while it runs</a:t>
            </a:r>
          </a:p>
        </p:txBody>
      </p:sp>
      <p:sp>
        <p:nvSpPr>
          <p:cNvPr id="22" name="TextBox 21"/>
          <p:cNvSpPr txBox="1"/>
          <p:nvPr/>
        </p:nvSpPr>
        <p:spPr>
          <a:xfrm>
            <a:off x="914400" y="701040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Live while running, or saved to a </a:t>
            </a:r>
            <a:r>
              <a:rPr sz="2250" b="1" i="0">
                <a:solidFill>
                  <a:srgbClr val="F0E8E8"/>
                </a:solidFill>
                <a:latin typeface="Geist"/>
                <a:ea typeface="Geist"/>
                <a:cs typeface="Geist"/>
              </a:rPr>
              <a:t>log file</a:t>
            </a:r>
            <a:r>
              <a:rPr sz="2250" b="0" i="0">
                <a:solidFill>
                  <a:srgbClr val="F0E8E8"/>
                </a:solidFill>
                <a:latin typeface="Geist"/>
                <a:ea typeface="Geist"/>
                <a:cs typeface="Geist"/>
              </a:rPr>
              <a:t> to replay later</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window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9400140" cy="5905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navigation-1.jpg"/>
          <p:cNvPicPr>
            <a:picLocks noChangeAspect="1"/>
          </p:cNvPicPr>
          <p:nvPr/>
        </p:nvPicPr>
        <p:blipFill>
          <a:blip r:embed="rId3"/>
          <a:stretch>
            <a:fillRect/>
          </a:stretch>
        </p:blipFill>
        <p:spPr>
          <a:xfrm>
            <a:off x="914400" y="2857500"/>
            <a:ext cx="9400140" cy="5905500"/>
          </a:xfrm>
          <a:prstGeom prst="rect">
            <a:avLst/>
          </a:prstGeom>
        </p:spPr>
      </p:pic>
      <p:sp>
        <p:nvSpPr>
          <p:cNvPr id="7" name="Rectangle 6"/>
          <p:cNvSpPr/>
          <p:nvPr/>
        </p:nvSpPr>
        <p:spPr>
          <a:xfrm>
            <a:off x="914400" y="2857500"/>
            <a:ext cx="9400140" cy="5905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9537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537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1563350" y="28194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Sidebar</a:t>
            </a:r>
          </a:p>
        </p:txBody>
      </p:sp>
      <p:sp>
        <p:nvSpPr>
          <p:cNvPr id="11" name="TextBox 10"/>
          <p:cNvSpPr txBox="1"/>
          <p:nvPr/>
        </p:nvSpPr>
        <p:spPr>
          <a:xfrm>
            <a:off x="11563350" y="32385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field the robot publishes</a:t>
            </a:r>
          </a:p>
        </p:txBody>
      </p:sp>
      <p:sp>
        <p:nvSpPr>
          <p:cNvPr id="12" name="Oval 11"/>
          <p:cNvSpPr/>
          <p:nvPr/>
        </p:nvSpPr>
        <p:spPr>
          <a:xfrm>
            <a:off x="10953750" y="43624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53750" y="4362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1563350" y="43243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Tab bar</a:t>
            </a:r>
          </a:p>
        </p:txBody>
      </p:sp>
      <p:sp>
        <p:nvSpPr>
          <p:cNvPr id="15" name="TextBox 14"/>
          <p:cNvSpPr txBox="1"/>
          <p:nvPr/>
        </p:nvSpPr>
        <p:spPr>
          <a:xfrm>
            <a:off x="11563350" y="47434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tab per view; + adds one</a:t>
            </a:r>
          </a:p>
        </p:txBody>
      </p:sp>
      <p:sp>
        <p:nvSpPr>
          <p:cNvPr id="16" name="Oval 15"/>
          <p:cNvSpPr/>
          <p:nvPr/>
        </p:nvSpPr>
        <p:spPr>
          <a:xfrm>
            <a:off x="10953750" y="58674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53750" y="58674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1563350" y="582930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Viewer</a:t>
            </a:r>
          </a:p>
        </p:txBody>
      </p:sp>
      <p:sp>
        <p:nvSpPr>
          <p:cNvPr id="19" name="TextBox 18"/>
          <p:cNvSpPr txBox="1"/>
          <p:nvPr/>
        </p:nvSpPr>
        <p:spPr>
          <a:xfrm>
            <a:off x="11563350" y="624840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graph or field itself</a:t>
            </a:r>
          </a:p>
        </p:txBody>
      </p:sp>
      <p:sp>
        <p:nvSpPr>
          <p:cNvPr id="20" name="Oval 19"/>
          <p:cNvSpPr/>
          <p:nvPr/>
        </p:nvSpPr>
        <p:spPr>
          <a:xfrm>
            <a:off x="10953750" y="73723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53750" y="73723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1563350" y="7334250"/>
            <a:ext cx="5810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Control pane</a:t>
            </a:r>
          </a:p>
        </p:txBody>
      </p:sp>
      <p:sp>
        <p:nvSpPr>
          <p:cNvPr id="23" name="TextBox 22"/>
          <p:cNvSpPr txBox="1"/>
          <p:nvPr/>
        </p:nvSpPr>
        <p:spPr>
          <a:xfrm>
            <a:off x="11563350" y="7753350"/>
            <a:ext cx="5810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Which fields show, on which axis</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Fields and their types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096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TYPE</a:t>
            </a:r>
          </a:p>
        </p:txBody>
      </p:sp>
      <p:sp>
        <p:nvSpPr>
          <p:cNvPr id="7" name="TextBox 6"/>
          <p:cNvSpPr txBox="1"/>
          <p:nvPr/>
        </p:nvSpPr>
        <p:spPr>
          <a:xfrm>
            <a:off x="6667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EXAMPLE FIELD</a:t>
            </a:r>
          </a:p>
        </p:txBody>
      </p:sp>
      <p:sp>
        <p:nvSpPr>
          <p:cNvPr id="8" name="TextBox 7"/>
          <p:cNvSpPr txBox="1"/>
          <p:nvPr/>
        </p:nvSpPr>
        <p:spPr>
          <a:xfrm>
            <a:off x="12001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SHOWN AS</a:t>
            </a:r>
          </a:p>
        </p:txBody>
      </p:sp>
      <p:sp>
        <p:nvSpPr>
          <p:cNvPr id="9" name="Rounded Rectangle 8"/>
          <p:cNvSpPr/>
          <p:nvPr/>
        </p:nvSpPr>
        <p:spPr>
          <a:xfrm>
            <a:off x="914400" y="36195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36195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Number</a:t>
            </a:r>
          </a:p>
        </p:txBody>
      </p:sp>
      <p:sp>
        <p:nvSpPr>
          <p:cNvPr id="11" name="TextBox 10"/>
          <p:cNvSpPr txBox="1"/>
          <p:nvPr/>
        </p:nvSpPr>
        <p:spPr>
          <a:xfrm>
            <a:off x="6667500" y="36195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FlywheelRPM</a:t>
            </a:r>
          </a:p>
        </p:txBody>
      </p:sp>
      <p:sp>
        <p:nvSpPr>
          <p:cNvPr id="12" name="TextBox 11"/>
          <p:cNvSpPr txBox="1"/>
          <p:nvPr/>
        </p:nvSpPr>
        <p:spPr>
          <a:xfrm>
            <a:off x="12001500" y="36195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A line on a graph</a:t>
            </a:r>
          </a:p>
        </p:txBody>
      </p:sp>
      <p:sp>
        <p:nvSpPr>
          <p:cNvPr id="13" name="Rounded Rectangle 12"/>
          <p:cNvSpPr/>
          <p:nvPr/>
        </p:nvSpPr>
        <p:spPr>
          <a:xfrm>
            <a:off x="914400" y="45339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45339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Boolean</a:t>
            </a:r>
          </a:p>
        </p:txBody>
      </p:sp>
      <p:sp>
        <p:nvSpPr>
          <p:cNvPr id="15" name="TextBox 14"/>
          <p:cNvSpPr txBox="1"/>
          <p:nvPr/>
        </p:nvSpPr>
        <p:spPr>
          <a:xfrm>
            <a:off x="6667500" y="45339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GamePieceLoaded</a:t>
            </a:r>
          </a:p>
        </p:txBody>
      </p:sp>
      <p:sp>
        <p:nvSpPr>
          <p:cNvPr id="16" name="TextBox 15"/>
          <p:cNvSpPr txBox="1"/>
          <p:nvPr/>
        </p:nvSpPr>
        <p:spPr>
          <a:xfrm>
            <a:off x="12001500" y="45339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Colored true/false bands</a:t>
            </a:r>
          </a:p>
        </p:txBody>
      </p:sp>
      <p:sp>
        <p:nvSpPr>
          <p:cNvPr id="17" name="Rounded Rectangle 16"/>
          <p:cNvSpPr/>
          <p:nvPr/>
        </p:nvSpPr>
        <p:spPr>
          <a:xfrm>
            <a:off x="914400" y="54483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54483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Pose2d</a:t>
            </a:r>
          </a:p>
        </p:txBody>
      </p:sp>
      <p:sp>
        <p:nvSpPr>
          <p:cNvPr id="19" name="TextBox 18"/>
          <p:cNvSpPr txBox="1"/>
          <p:nvPr/>
        </p:nvSpPr>
        <p:spPr>
          <a:xfrm>
            <a:off x="6667500" y="54483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RobotPose2d</a:t>
            </a:r>
          </a:p>
        </p:txBody>
      </p:sp>
      <p:sp>
        <p:nvSpPr>
          <p:cNvPr id="20" name="TextBox 19"/>
          <p:cNvSpPr txBox="1"/>
          <p:nvPr/>
        </p:nvSpPr>
        <p:spPr>
          <a:xfrm>
            <a:off x="12001500" y="54483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on a 2D field</a:t>
            </a:r>
          </a:p>
        </p:txBody>
      </p:sp>
      <p:sp>
        <p:nvSpPr>
          <p:cNvPr id="21" name="Rounded Rectangle 20"/>
          <p:cNvSpPr/>
          <p:nvPr/>
        </p:nvSpPr>
        <p:spPr>
          <a:xfrm>
            <a:off x="914400" y="63627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63627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Pose3d</a:t>
            </a:r>
          </a:p>
        </p:txBody>
      </p:sp>
      <p:sp>
        <p:nvSpPr>
          <p:cNvPr id="23" name="TextBox 22"/>
          <p:cNvSpPr txBox="1"/>
          <p:nvPr/>
        </p:nvSpPr>
        <p:spPr>
          <a:xfrm>
            <a:off x="6667500" y="63627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RobotPose3d</a:t>
            </a:r>
          </a:p>
        </p:txBody>
      </p:sp>
      <p:sp>
        <p:nvSpPr>
          <p:cNvPr id="24" name="TextBox 23"/>
          <p:cNvSpPr txBox="1"/>
          <p:nvPr/>
        </p:nvSpPr>
        <p:spPr>
          <a:xfrm>
            <a:off x="12001500" y="63627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in 3D</a:t>
            </a:r>
          </a:p>
        </p:txBody>
      </p:sp>
      <p:sp>
        <p:nvSpPr>
          <p:cNvPr id="25" name="Rounded Rectangle 24"/>
          <p:cNvSpPr/>
          <p:nvPr/>
        </p:nvSpPr>
        <p:spPr>
          <a:xfrm>
            <a:off x="914400" y="72771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72771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SwerveModuleState[]</a:t>
            </a:r>
          </a:p>
        </p:txBody>
      </p:sp>
      <p:sp>
        <p:nvSpPr>
          <p:cNvPr id="27" name="TextBox 26"/>
          <p:cNvSpPr txBox="1"/>
          <p:nvPr/>
        </p:nvSpPr>
        <p:spPr>
          <a:xfrm>
            <a:off x="6667500" y="72771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SwerveModuleStates</a:t>
            </a:r>
          </a:p>
        </p:txBody>
      </p:sp>
      <p:sp>
        <p:nvSpPr>
          <p:cNvPr id="28" name="TextBox 27"/>
          <p:cNvSpPr txBox="1"/>
          <p:nvPr/>
        </p:nvSpPr>
        <p:spPr>
          <a:xfrm>
            <a:off x="12001500" y="72771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Wheel arrows on the Swerve tab</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a line graph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477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2190750" y="64770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47750" y="63055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0</a:t>
            </a:r>
          </a:p>
        </p:txBody>
      </p:sp>
      <p:sp>
        <p:nvSpPr>
          <p:cNvPr id="8" name="TextBox 7"/>
          <p:cNvSpPr txBox="1"/>
          <p:nvPr/>
        </p:nvSpPr>
        <p:spPr>
          <a:xfrm>
            <a:off x="10020300" y="63055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10</a:t>
            </a:r>
          </a:p>
        </p:txBody>
      </p:sp>
      <p:cxnSp>
        <p:nvCxnSpPr>
          <p:cNvPr id="9" name="Connector 8"/>
          <p:cNvCxnSpPr/>
          <p:nvPr/>
        </p:nvCxnSpPr>
        <p:spPr>
          <a:xfrm>
            <a:off x="2190750" y="54292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47750" y="52578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2,000</a:t>
            </a:r>
          </a:p>
        </p:txBody>
      </p:sp>
      <p:sp>
        <p:nvSpPr>
          <p:cNvPr id="11" name="TextBox 10"/>
          <p:cNvSpPr txBox="1"/>
          <p:nvPr/>
        </p:nvSpPr>
        <p:spPr>
          <a:xfrm>
            <a:off x="10020300" y="52578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11</a:t>
            </a:r>
          </a:p>
        </p:txBody>
      </p:sp>
      <p:cxnSp>
        <p:nvCxnSpPr>
          <p:cNvPr id="12" name="Connector 11"/>
          <p:cNvCxnSpPr/>
          <p:nvPr/>
        </p:nvCxnSpPr>
        <p:spPr>
          <a:xfrm>
            <a:off x="2190750" y="438150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47750" y="421005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4,000</a:t>
            </a:r>
          </a:p>
        </p:txBody>
      </p:sp>
      <p:sp>
        <p:nvSpPr>
          <p:cNvPr id="14" name="TextBox 13"/>
          <p:cNvSpPr txBox="1"/>
          <p:nvPr/>
        </p:nvSpPr>
        <p:spPr>
          <a:xfrm>
            <a:off x="10020300" y="421005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12</a:t>
            </a:r>
          </a:p>
        </p:txBody>
      </p:sp>
      <p:cxnSp>
        <p:nvCxnSpPr>
          <p:cNvPr id="15" name="Connector 14"/>
          <p:cNvCxnSpPr/>
          <p:nvPr/>
        </p:nvCxnSpPr>
        <p:spPr>
          <a:xfrm>
            <a:off x="2190750" y="3333750"/>
            <a:ext cx="7715250" cy="0"/>
          </a:xfrm>
          <a:prstGeom prst="line">
            <a:avLst/>
          </a:prstGeom>
          <a:ln w="9525">
            <a:solidFill>
              <a:srgbClr val="2A1A1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7750" y="3162300"/>
            <a:ext cx="1000125" cy="342900"/>
          </a:xfrm>
          <a:prstGeom prst="rect">
            <a:avLst/>
          </a:prstGeom>
          <a:noFill/>
        </p:spPr>
        <p:txBody>
          <a:bodyPr wrap="square" lIns="0" rIns="0" tIns="0" bIns="0" anchor="t">
            <a:spAutoFit/>
          </a:bodyPr>
          <a:lstStyle/>
          <a:p>
            <a:pPr algn="r"/>
            <a:r>
              <a:rPr sz="1500" b="0" i="0">
                <a:solidFill>
                  <a:srgbClr val="F0E8E8"/>
                </a:solidFill>
                <a:latin typeface="Geist Mono"/>
                <a:ea typeface="Geist Mono"/>
                <a:cs typeface="Geist Mono"/>
              </a:rPr>
              <a:t>6,000</a:t>
            </a:r>
          </a:p>
        </p:txBody>
      </p:sp>
      <p:sp>
        <p:nvSpPr>
          <p:cNvPr id="17" name="TextBox 16"/>
          <p:cNvSpPr txBox="1"/>
          <p:nvPr/>
        </p:nvSpPr>
        <p:spPr>
          <a:xfrm>
            <a:off x="10020300" y="3162300"/>
            <a:ext cx="1143000" cy="34290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13</a:t>
            </a:r>
          </a:p>
        </p:txBody>
      </p:sp>
      <p:sp>
        <p:nvSpPr>
          <p:cNvPr id="18" name="TextBox 17"/>
          <p:cNvSpPr txBox="1"/>
          <p:nvPr/>
        </p:nvSpPr>
        <p:spPr>
          <a:xfrm>
            <a:off x="1047750" y="2857500"/>
            <a:ext cx="1905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RPM</a:t>
            </a:r>
          </a:p>
        </p:txBody>
      </p:sp>
      <p:sp>
        <p:nvSpPr>
          <p:cNvPr id="19" name="TextBox 18"/>
          <p:cNvSpPr txBox="1"/>
          <p:nvPr/>
        </p:nvSpPr>
        <p:spPr>
          <a:xfrm>
            <a:off x="10020300" y="2857500"/>
            <a:ext cx="11430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VOLTS</a:t>
            </a:r>
          </a:p>
        </p:txBody>
      </p:sp>
      <p:pic>
        <p:nvPicPr>
          <p:cNvPr id="20" name="Picture 19" descr="lock-fill.png"/>
          <p:cNvPicPr>
            <a:picLocks noChangeAspect="1"/>
          </p:cNvPicPr>
          <p:nvPr/>
        </p:nvPicPr>
        <p:blipFill>
          <a:blip r:embed="rId3"/>
          <a:stretch>
            <a:fillRect/>
          </a:stretch>
        </p:blipFill>
        <p:spPr>
          <a:xfrm>
            <a:off x="1638300" y="2847975"/>
            <a:ext cx="142875" cy="228600"/>
          </a:xfrm>
          <a:prstGeom prst="rect">
            <a:avLst/>
          </a:prstGeom>
        </p:spPr>
      </p:pic>
      <p:cxnSp>
        <p:nvCxnSpPr>
          <p:cNvPr id="21" name="Connector 20"/>
          <p:cNvCxnSpPr/>
          <p:nvPr/>
        </p:nvCxnSpPr>
        <p:spPr>
          <a:xfrm flipV="1">
            <a:off x="2190750" y="6442724"/>
            <a:ext cx="128588" cy="104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19338" y="6427789"/>
            <a:ext cx="128587" cy="149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47925" y="6406498"/>
            <a:ext cx="128587" cy="212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76512" y="6376307"/>
            <a:ext cx="128588" cy="301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05100" y="6333810"/>
            <a:ext cx="128588" cy="424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33688" y="6274613"/>
            <a:ext cx="128587" cy="591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962275" y="6193341"/>
            <a:ext cx="128587" cy="812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090862" y="6083956"/>
            <a:ext cx="128588" cy="1093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219450" y="5940602"/>
            <a:ext cx="128588" cy="1433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348038" y="5759152"/>
            <a:ext cx="128587" cy="18145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76625" y="5539324"/>
            <a:ext cx="128587" cy="2198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605212" y="5286707"/>
            <a:ext cx="128588" cy="25261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733800" y="5013447"/>
            <a:ext cx="128588" cy="27326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862388" y="4736533"/>
            <a:ext cx="128587" cy="2769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990975" y="4473867"/>
            <a:ext cx="128587" cy="26266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119562" y="4239885"/>
            <a:ext cx="128588" cy="2339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248150" y="4042838"/>
            <a:ext cx="128588" cy="1970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376738" y="3884594"/>
            <a:ext cx="128587" cy="1582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505325" y="3762296"/>
            <a:ext cx="128587" cy="1222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633912" y="3670556"/>
            <a:ext cx="128588" cy="917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762500" y="3603277"/>
            <a:ext cx="128588" cy="672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891088" y="3554763"/>
            <a:ext cx="128587" cy="485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019675" y="3520225"/>
            <a:ext cx="128587" cy="345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148262" y="3495888"/>
            <a:ext cx="128588" cy="2433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276850" y="3478904"/>
            <a:ext cx="128588" cy="169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05438" y="3467193"/>
            <a:ext cx="128587" cy="1171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5534025" y="3459275"/>
            <a:ext cx="128587" cy="79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662612" y="3454128"/>
            <a:ext cx="128588" cy="51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791200" y="3451079"/>
            <a:ext cx="128588" cy="30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5919788" y="3449723"/>
            <a:ext cx="128587" cy="13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48375" y="3449723"/>
            <a:ext cx="128587" cy="1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176962" y="3449881"/>
            <a:ext cx="128588" cy="16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305550" y="3451572"/>
            <a:ext cx="128588" cy="344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434138" y="3455019"/>
            <a:ext cx="128587" cy="56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562725" y="3460671"/>
            <a:ext cx="128587" cy="85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691312" y="3469255"/>
            <a:ext cx="128588" cy="126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819900" y="3481855"/>
            <a:ext cx="128588" cy="181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948488" y="3500013"/>
            <a:ext cx="128587" cy="258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077075" y="3525851"/>
            <a:ext cx="128587" cy="3633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205662" y="3562190"/>
            <a:ext cx="128588" cy="5042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334250" y="3612618"/>
            <a:ext cx="128588" cy="687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462838" y="3681400"/>
            <a:ext cx="128587" cy="9170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7591425" y="3773109"/>
            <a:ext cx="128587" cy="1186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7720012" y="3891782"/>
            <a:ext cx="128588" cy="1477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7848600" y="4039560"/>
            <a:ext cx="128588" cy="17548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977188" y="4215041"/>
            <a:ext cx="128587" cy="1969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8105775" y="4412037"/>
            <a:ext cx="128587" cy="20768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234362" y="4619721"/>
            <a:ext cx="128588" cy="2049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362950" y="4824665"/>
            <a:ext cx="128588" cy="18946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8491538" y="5014126"/>
            <a:ext cx="128587" cy="16487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620125" y="5178996"/>
            <a:ext cx="128587" cy="1360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748712" y="5315084"/>
            <a:ext cx="128588" cy="10751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877300" y="5422599"/>
            <a:ext cx="128588" cy="820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005888" y="5504637"/>
            <a:ext cx="128587" cy="609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134475" y="5565591"/>
            <a:ext cx="128587" cy="4439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263062" y="5609989"/>
            <a:ext cx="128588" cy="3187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391650" y="5641862"/>
            <a:ext cx="128588" cy="226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20238" y="5664505"/>
            <a:ext cx="128587" cy="15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648825" y="5680473"/>
            <a:ext cx="128587" cy="1120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777412" y="5691675"/>
            <a:ext cx="128588" cy="782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2190750" y="3755318"/>
            <a:ext cx="128588" cy="109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2319338" y="3756410"/>
            <a:ext cx="128587" cy="161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2447925" y="3758026"/>
            <a:ext cx="128587" cy="25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2576512" y="3760588"/>
            <a:ext cx="128588" cy="4664"/>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2705100" y="3765252"/>
            <a:ext cx="128588" cy="1001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2833688" y="3775265"/>
            <a:ext cx="128587" cy="2346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2962275" y="3798734"/>
            <a:ext cx="128587" cy="5361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3090862" y="3852350"/>
            <a:ext cx="128588" cy="11023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219450" y="3962585"/>
            <a:ext cx="128588" cy="19495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3348038" y="4157542"/>
            <a:ext cx="128587" cy="2876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3476625" y="4445204"/>
            <a:ext cx="128587" cy="34223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3605212" y="4787436"/>
            <a:ext cx="128588" cy="30738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3733800" y="5094822"/>
            <a:ext cx="128588" cy="16730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862388" y="5229344"/>
            <a:ext cx="128587" cy="3278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990975" y="5020856"/>
            <a:ext cx="128587" cy="20848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4119562" y="4728116"/>
            <a:ext cx="128588" cy="292740"/>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4248150" y="4451664"/>
            <a:ext cx="128588" cy="27645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4376738" y="4251239"/>
            <a:ext cx="128587" cy="20042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4505325" y="4135286"/>
            <a:ext cx="128587" cy="11595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4633912" y="4081603"/>
            <a:ext cx="128588" cy="5368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4762500" y="4062589"/>
            <a:ext cx="128588" cy="19014"/>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4891088" y="4058611"/>
            <a:ext cx="128587" cy="397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019675" y="4058611"/>
            <a:ext cx="128587" cy="93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148262" y="4059547"/>
            <a:ext cx="128588" cy="186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276850" y="4061409"/>
            <a:ext cx="128588" cy="161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5405438" y="4063027"/>
            <a:ext cx="128587" cy="11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5534025" y="4064214"/>
            <a:ext cx="128587" cy="8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5662612" y="4065029"/>
            <a:ext cx="128588" cy="53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5791200" y="4065561"/>
            <a:ext cx="128588" cy="3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5919788" y="4065876"/>
            <a:ext cx="128587" cy="141"/>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048375" y="4066000"/>
            <a:ext cx="128587" cy="1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176962" y="4065825"/>
            <a:ext cx="128588" cy="17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305550" y="4065469"/>
            <a:ext cx="128588" cy="35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6434138" y="4064884"/>
            <a:ext cx="128587" cy="58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562725" y="4063996"/>
            <a:ext cx="128587" cy="88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691312" y="4062693"/>
            <a:ext cx="128588" cy="130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819900" y="4060814"/>
            <a:ext cx="128588" cy="187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948488" y="4058141"/>
            <a:ext cx="128587" cy="267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7077075" y="4054382"/>
            <a:ext cx="128587" cy="375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205662" y="4049165"/>
            <a:ext cx="128588" cy="521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334250" y="4042050"/>
            <a:ext cx="128588" cy="711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7462838" y="4032563"/>
            <a:ext cx="128587" cy="94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591425" y="4020286"/>
            <a:ext cx="128587" cy="1227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720012" y="4004999"/>
            <a:ext cx="128588" cy="152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848600" y="3986846"/>
            <a:ext cx="128588" cy="1815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977188" y="3966467"/>
            <a:ext cx="128587" cy="2037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8105775" y="3944982"/>
            <a:ext cx="128587" cy="2148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8234362" y="3923781"/>
            <a:ext cx="128588" cy="21201"/>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8362950" y="3904182"/>
            <a:ext cx="128588" cy="19599"/>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8491538" y="3887126"/>
            <a:ext cx="128587" cy="17056"/>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8620125" y="3873048"/>
            <a:ext cx="128587" cy="1407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8748712" y="3861926"/>
            <a:ext cx="128588" cy="1112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8877300" y="3853439"/>
            <a:ext cx="128588" cy="848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9005888" y="3847134"/>
            <a:ext cx="128587" cy="6305"/>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9134475" y="3842541"/>
            <a:ext cx="128587" cy="459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9263062" y="3839244"/>
            <a:ext cx="128588" cy="3297"/>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9391650" y="3836901"/>
            <a:ext cx="128588" cy="2343"/>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9520238" y="3835249"/>
            <a:ext cx="128587" cy="1652"/>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9648825" y="3834091"/>
            <a:ext cx="128587" cy="1158"/>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9777412" y="3833281"/>
            <a:ext cx="128588" cy="810"/>
          </a:xfrm>
          <a:prstGeom prst="line">
            <a:avLst/>
          </a:prstGeom>
          <a:ln w="38100" cap="rnd">
            <a:solidFill>
              <a:srgbClr val="E8C27A"/>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2190750" y="6667500"/>
            <a:ext cx="3810000" cy="285750"/>
          </a:xfrm>
          <a:prstGeom prst="rect">
            <a:avLst/>
          </a:prstGeom>
          <a:noFill/>
        </p:spPr>
        <p:txBody>
          <a:bodyPr wrap="square" lIns="0" rIns="0" tIns="0" bIns="0" anchor="t">
            <a:spAutoFit/>
          </a:bodyPr>
          <a:lstStyle/>
          <a:p>
            <a:pPr algn="l"/>
            <a:r>
              <a:rPr sz="1350" b="0" i="0">
                <a:solidFill>
                  <a:srgbClr val="9A7878"/>
                </a:solidFill>
                <a:latin typeface="Geist Mono"/>
                <a:ea typeface="Geist Mono"/>
                <a:cs typeface="Geist Mono"/>
              </a:rPr>
              <a:t>GamePieceLoaded</a:t>
            </a:r>
          </a:p>
        </p:txBody>
      </p:sp>
      <p:sp>
        <p:nvSpPr>
          <p:cNvPr id="142" name="Rounded Rectangle 141"/>
          <p:cNvSpPr/>
          <p:nvPr/>
        </p:nvSpPr>
        <p:spPr>
          <a:xfrm>
            <a:off x="2190750" y="7010400"/>
            <a:ext cx="3433762"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2305050" y="7010400"/>
            <a:ext cx="3243262"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sp>
        <p:nvSpPr>
          <p:cNvPr id="144" name="Rounded Rectangle 143"/>
          <p:cNvSpPr/>
          <p:nvPr/>
        </p:nvSpPr>
        <p:spPr>
          <a:xfrm>
            <a:off x="5662612" y="7010400"/>
            <a:ext cx="2662238" cy="419100"/>
          </a:xfrm>
          <a:prstGeom prst="roundRect">
            <a:avLst>
              <a:gd name="adj" fmla="val 13636"/>
            </a:avLst>
          </a:prstGeom>
          <a:solidFill>
            <a:srgbClr val="1E3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5776912" y="7010400"/>
            <a:ext cx="2471738" cy="419100"/>
          </a:xfrm>
          <a:prstGeom prst="rect">
            <a:avLst/>
          </a:prstGeom>
          <a:noFill/>
        </p:spPr>
        <p:txBody>
          <a:bodyPr wrap="square" lIns="0" rIns="0" tIns="0" bIns="0" anchor="ctr">
            <a:spAutoFit/>
          </a:bodyPr>
          <a:lstStyle/>
          <a:p>
            <a:pPr algn="l"/>
            <a:r>
              <a:rPr sz="1500" b="0" i="0">
                <a:solidFill>
                  <a:srgbClr val="7FD49B"/>
                </a:solidFill>
                <a:latin typeface="Geist Mono"/>
                <a:ea typeface="Geist Mono"/>
                <a:cs typeface="Geist Mono"/>
              </a:rPr>
              <a:t>true</a:t>
            </a:r>
          </a:p>
        </p:txBody>
      </p:sp>
      <p:sp>
        <p:nvSpPr>
          <p:cNvPr id="146" name="Rounded Rectangle 145"/>
          <p:cNvSpPr/>
          <p:nvPr/>
        </p:nvSpPr>
        <p:spPr>
          <a:xfrm>
            <a:off x="8362950" y="7010400"/>
            <a:ext cx="1504950" cy="419100"/>
          </a:xfrm>
          <a:prstGeom prst="roundRect">
            <a:avLst>
              <a:gd name="adj" fmla="val 1363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8477250" y="7010400"/>
            <a:ext cx="1314450" cy="419100"/>
          </a:xfrm>
          <a:prstGeom prst="rect">
            <a:avLst/>
          </a:prstGeom>
          <a:noFill/>
        </p:spPr>
        <p:txBody>
          <a:bodyPr wrap="square" lIns="0" rIns="0" tIns="0" bIns="0" anchor="ctr">
            <a:spAutoFit/>
          </a:bodyPr>
          <a:lstStyle/>
          <a:p>
            <a:pPr algn="l"/>
            <a:r>
              <a:rPr sz="1500" b="0" i="0">
                <a:solidFill>
                  <a:srgbClr val="9A7878"/>
                </a:solidFill>
                <a:latin typeface="Geist Mono"/>
                <a:ea typeface="Geist Mono"/>
                <a:cs typeface="Geist Mono"/>
              </a:rPr>
              <a:t>false</a:t>
            </a:r>
          </a:p>
        </p:txBody>
      </p:sp>
      <p:cxnSp>
        <p:nvCxnSpPr>
          <p:cNvPr id="148" name="Connector 147"/>
          <p:cNvCxnSpPr/>
          <p:nvPr/>
        </p:nvCxnSpPr>
        <p:spPr>
          <a:xfrm>
            <a:off x="6434138" y="3238500"/>
            <a:ext cx="0" cy="428625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49" name="Rounded Rectangle 148"/>
          <p:cNvSpPr/>
          <p:nvPr/>
        </p:nvSpPr>
        <p:spPr>
          <a:xfrm>
            <a:off x="6586538" y="3619500"/>
            <a:ext cx="2857500" cy="876300"/>
          </a:xfrm>
          <a:prstGeom prst="roundRect">
            <a:avLst>
              <a:gd name="adj" fmla="val 1086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Box 149"/>
          <p:cNvSpPr txBox="1"/>
          <p:nvPr/>
        </p:nvSpPr>
        <p:spPr>
          <a:xfrm>
            <a:off x="6738938" y="3714750"/>
            <a:ext cx="2571750" cy="342900"/>
          </a:xfrm>
          <a:prstGeom prst="rect">
            <a:avLst/>
          </a:prstGeom>
          <a:noFill/>
        </p:spPr>
        <p:txBody>
          <a:bodyPr wrap="square" lIns="0" rIns="0" tIns="0" bIns="0" anchor="t">
            <a:spAutoFit/>
          </a:bodyPr>
          <a:lstStyle/>
          <a:p>
            <a:pPr algn="l"/>
            <a:r>
              <a:rPr sz="1500" b="0" i="0">
                <a:solidFill>
                  <a:srgbClr val="9A7878"/>
                </a:solidFill>
                <a:latin typeface="Geist Mono"/>
                <a:ea typeface="Geist Mono"/>
                <a:cs typeface="Geist Mono"/>
              </a:rPr>
              <a:t>t = 4.2 s</a:t>
            </a:r>
          </a:p>
        </p:txBody>
      </p:sp>
      <p:sp>
        <p:nvSpPr>
          <p:cNvPr id="151" name="TextBox 150"/>
          <p:cNvSpPr txBox="1"/>
          <p:nvPr/>
        </p:nvSpPr>
        <p:spPr>
          <a:xfrm>
            <a:off x="6738938" y="4038600"/>
            <a:ext cx="2571750" cy="34290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5,790</a:t>
            </a:r>
            <a:r>
              <a:rPr sz="1500" b="0" i="0">
                <a:solidFill>
                  <a:srgbClr val="9A7878"/>
                </a:solidFill>
                <a:latin typeface="Geist Mono"/>
                <a:ea typeface="Geist Mono"/>
                <a:cs typeface="Geist Mono"/>
              </a:rPr>
              <a:t>  RPM   </a:t>
            </a:r>
            <a:r>
              <a:rPr sz="1500" b="0" i="0">
                <a:solidFill>
                  <a:srgbClr val="E8C27A"/>
                </a:solidFill>
                <a:latin typeface="Geist Mono"/>
                <a:ea typeface="Geist Mono"/>
                <a:cs typeface="Geist Mono"/>
              </a:rPr>
              <a:t>12.3</a:t>
            </a:r>
            <a:r>
              <a:rPr sz="1500" b="0" i="0">
                <a:solidFill>
                  <a:srgbClr val="9A7878"/>
                </a:solidFill>
                <a:latin typeface="Geist Mono"/>
                <a:ea typeface="Geist Mono"/>
                <a:cs typeface="Geist Mono"/>
              </a:rPr>
              <a:t> V</a:t>
            </a:r>
          </a:p>
        </p:txBody>
      </p:sp>
      <p:sp>
        <p:nvSpPr>
          <p:cNvPr id="152" name="TextBox 151"/>
          <p:cNvSpPr txBox="1"/>
          <p:nvPr/>
        </p:nvSpPr>
        <p:spPr>
          <a:xfrm>
            <a:off x="2190750" y="79057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time →</a:t>
            </a:r>
          </a:p>
        </p:txBody>
      </p:sp>
      <p:sp>
        <p:nvSpPr>
          <p:cNvPr id="153" name="Oval 152"/>
          <p:cNvSpPr/>
          <p:nvPr/>
        </p:nvSpPr>
        <p:spPr>
          <a:xfrm>
            <a:off x="10668000" y="5334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0668000" y="5334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55" name="Oval 154"/>
          <p:cNvSpPr/>
          <p:nvPr/>
        </p:nvSpPr>
        <p:spPr>
          <a:xfrm>
            <a:off x="1962150" y="27813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962150" y="2781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7" name="Oval 156"/>
          <p:cNvSpPr/>
          <p:nvPr/>
        </p:nvSpPr>
        <p:spPr>
          <a:xfrm>
            <a:off x="1676400" y="70294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676400" y="7029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9" name="Oval 158"/>
          <p:cNvSpPr/>
          <p:nvPr/>
        </p:nvSpPr>
        <p:spPr>
          <a:xfrm>
            <a:off x="6243638" y="28194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6243638" y="2819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1" name="Oval 160"/>
          <p:cNvSpPr/>
          <p:nvPr/>
        </p:nvSpPr>
        <p:spPr>
          <a:xfrm>
            <a:off x="1190625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90625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63" name="TextBox 162"/>
          <p:cNvSpPr txBox="1"/>
          <p:nvPr/>
        </p:nvSpPr>
        <p:spPr>
          <a:xfrm>
            <a:off x="12592050" y="2819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Two axes</a:t>
            </a:r>
          </a:p>
        </p:txBody>
      </p:sp>
      <p:sp>
        <p:nvSpPr>
          <p:cNvPr id="164" name="TextBox 163"/>
          <p:cNvSpPr txBox="1"/>
          <p:nvPr/>
        </p:nvSpPr>
        <p:spPr>
          <a:xfrm>
            <a:off x="12592050" y="3276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Left and right each have their own scale</a:t>
            </a:r>
          </a:p>
        </p:txBody>
      </p:sp>
      <p:sp>
        <p:nvSpPr>
          <p:cNvPr id="165" name="Oval 164"/>
          <p:cNvSpPr/>
          <p:nvPr/>
        </p:nvSpPr>
        <p:spPr>
          <a:xfrm>
            <a:off x="11906250" y="4381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1906250" y="4381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67" name="TextBox 166"/>
          <p:cNvSpPr txBox="1"/>
          <p:nvPr/>
        </p:nvSpPr>
        <p:spPr>
          <a:xfrm>
            <a:off x="12592050" y="4343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Lock the range</a:t>
            </a:r>
          </a:p>
        </p:txBody>
      </p:sp>
      <p:sp>
        <p:nvSpPr>
          <p:cNvPr id="168" name="TextBox 167"/>
          <p:cNvSpPr txBox="1"/>
          <p:nvPr/>
        </p:nvSpPr>
        <p:spPr>
          <a:xfrm>
            <a:off x="12592050" y="4800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lock stops the scale from jumping</a:t>
            </a:r>
          </a:p>
        </p:txBody>
      </p:sp>
      <p:sp>
        <p:nvSpPr>
          <p:cNvPr id="169" name="Oval 168"/>
          <p:cNvSpPr/>
          <p:nvPr/>
        </p:nvSpPr>
        <p:spPr>
          <a:xfrm>
            <a:off x="11906250" y="5905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1906250" y="5905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1" name="TextBox 170"/>
          <p:cNvSpPr txBox="1"/>
          <p:nvPr/>
        </p:nvSpPr>
        <p:spPr>
          <a:xfrm>
            <a:off x="12592050" y="5867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Discrete fields</a:t>
            </a:r>
          </a:p>
        </p:txBody>
      </p:sp>
      <p:sp>
        <p:nvSpPr>
          <p:cNvPr id="172" name="TextBox 171"/>
          <p:cNvSpPr txBox="1"/>
          <p:nvPr/>
        </p:nvSpPr>
        <p:spPr>
          <a:xfrm>
            <a:off x="12592050" y="6324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true/false and text as colored bands</a:t>
            </a:r>
          </a:p>
        </p:txBody>
      </p:sp>
      <p:sp>
        <p:nvSpPr>
          <p:cNvPr id="173" name="Oval 172"/>
          <p:cNvSpPr/>
          <p:nvPr/>
        </p:nvSpPr>
        <p:spPr>
          <a:xfrm>
            <a:off x="11906250" y="7429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1906250" y="7429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75" name="TextBox 174"/>
          <p:cNvSpPr txBox="1"/>
          <p:nvPr/>
        </p:nvSpPr>
        <p:spPr>
          <a:xfrm>
            <a:off x="12592050" y="7391400"/>
            <a:ext cx="4762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Hover and zoom</a:t>
            </a:r>
          </a:p>
        </p:txBody>
      </p:sp>
      <p:sp>
        <p:nvSpPr>
          <p:cNvPr id="176" name="TextBox 175"/>
          <p:cNvSpPr txBox="1"/>
          <p:nvPr/>
        </p:nvSpPr>
        <p:spPr>
          <a:xfrm>
            <a:off x="12592050" y="7848600"/>
            <a:ext cx="4762500" cy="762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Read exact values; scroll to zoom in time</a:t>
            </a:r>
          </a:p>
        </p:txBody>
      </p:sp>
      <p:sp>
        <p:nvSpPr>
          <p:cNvPr id="177" name="TextBox 17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78" name="TextBox 17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tab for every job</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1940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s_line-graph-1_tile.jpg"/>
          <p:cNvPicPr>
            <a:picLocks noChangeAspect="1"/>
          </p:cNvPicPr>
          <p:nvPr/>
        </p:nvPicPr>
        <p:blipFill>
          <a:blip r:embed="rId3"/>
          <a:stretch>
            <a:fillRect/>
          </a:stretch>
        </p:blipFill>
        <p:spPr>
          <a:xfrm>
            <a:off x="914400" y="2819400"/>
            <a:ext cx="4556989" cy="2857500"/>
          </a:xfrm>
          <a:prstGeom prst="rect">
            <a:avLst/>
          </a:prstGeom>
        </p:spPr>
      </p:pic>
      <p:sp>
        <p:nvSpPr>
          <p:cNvPr id="7" name="Rectangle 6"/>
          <p:cNvSpPr/>
          <p:nvPr/>
        </p:nvSpPr>
        <p:spPr>
          <a:xfrm>
            <a:off x="914400" y="281940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753100" y="358140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Line Graph</a:t>
            </a:r>
          </a:p>
        </p:txBody>
      </p:sp>
      <p:sp>
        <p:nvSpPr>
          <p:cNvPr id="9" name="TextBox 8"/>
          <p:cNvSpPr txBox="1"/>
          <p:nvPr/>
        </p:nvSpPr>
        <p:spPr>
          <a:xfrm>
            <a:off x="5753100" y="407670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Numbers and true/false over time</a:t>
            </a:r>
          </a:p>
        </p:txBody>
      </p:sp>
      <p:sp>
        <p:nvSpPr>
          <p:cNvPr id="10" name="Rectangle 9"/>
          <p:cNvSpPr/>
          <p:nvPr/>
        </p:nvSpPr>
        <p:spPr>
          <a:xfrm>
            <a:off x="9334500" y="281940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hot_as_2d-field-1_tile.jpg"/>
          <p:cNvPicPr>
            <a:picLocks noChangeAspect="1"/>
          </p:cNvPicPr>
          <p:nvPr/>
        </p:nvPicPr>
        <p:blipFill>
          <a:blip r:embed="rId4"/>
          <a:stretch>
            <a:fillRect/>
          </a:stretch>
        </p:blipFill>
        <p:spPr>
          <a:xfrm>
            <a:off x="9334500" y="2819400"/>
            <a:ext cx="4556989" cy="2857500"/>
          </a:xfrm>
          <a:prstGeom prst="rect">
            <a:avLst/>
          </a:prstGeom>
        </p:spPr>
      </p:pic>
      <p:sp>
        <p:nvSpPr>
          <p:cNvPr id="12" name="Rectangle 11"/>
          <p:cNvSpPr/>
          <p:nvPr/>
        </p:nvSpPr>
        <p:spPr>
          <a:xfrm>
            <a:off x="9334500" y="281940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173200" y="358140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2D Field</a:t>
            </a:r>
          </a:p>
        </p:txBody>
      </p:sp>
      <p:sp>
        <p:nvSpPr>
          <p:cNvPr id="14" name="TextBox 13"/>
          <p:cNvSpPr txBox="1"/>
          <p:nvPr/>
        </p:nvSpPr>
        <p:spPr>
          <a:xfrm>
            <a:off x="14173200" y="407670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Where the robot is, from above</a:t>
            </a:r>
          </a:p>
        </p:txBody>
      </p:sp>
      <p:sp>
        <p:nvSpPr>
          <p:cNvPr id="15" name="Rectangle 14"/>
          <p:cNvSpPr/>
          <p:nvPr/>
        </p:nvSpPr>
        <p:spPr>
          <a:xfrm>
            <a:off x="914400" y="596265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ot_as_3d-field-1_tile.jpg"/>
          <p:cNvPicPr>
            <a:picLocks noChangeAspect="1"/>
          </p:cNvPicPr>
          <p:nvPr/>
        </p:nvPicPr>
        <p:blipFill>
          <a:blip r:embed="rId5"/>
          <a:stretch>
            <a:fillRect/>
          </a:stretch>
        </p:blipFill>
        <p:spPr>
          <a:xfrm>
            <a:off x="914400" y="5962650"/>
            <a:ext cx="4556989" cy="2857500"/>
          </a:xfrm>
          <a:prstGeom prst="rect">
            <a:avLst/>
          </a:prstGeom>
        </p:spPr>
      </p:pic>
      <p:sp>
        <p:nvSpPr>
          <p:cNvPr id="17" name="Rectangle 16"/>
          <p:cNvSpPr/>
          <p:nvPr/>
        </p:nvSpPr>
        <p:spPr>
          <a:xfrm>
            <a:off x="914400" y="596265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53100" y="672465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3D Field</a:t>
            </a:r>
          </a:p>
        </p:txBody>
      </p:sp>
      <p:sp>
        <p:nvSpPr>
          <p:cNvPr id="19" name="TextBox 18"/>
          <p:cNvSpPr txBox="1"/>
          <p:nvPr/>
        </p:nvSpPr>
        <p:spPr>
          <a:xfrm>
            <a:off x="5753100" y="721995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whole robot and its mechanisms</a:t>
            </a:r>
          </a:p>
        </p:txBody>
      </p:sp>
      <p:sp>
        <p:nvSpPr>
          <p:cNvPr id="20" name="Rectangle 19"/>
          <p:cNvSpPr/>
          <p:nvPr/>
        </p:nvSpPr>
        <p:spPr>
          <a:xfrm>
            <a:off x="9334500" y="5962650"/>
            <a:ext cx="4556989" cy="2857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hot_as_swerve-1_tile.jpg"/>
          <p:cNvPicPr>
            <a:picLocks noChangeAspect="1"/>
          </p:cNvPicPr>
          <p:nvPr/>
        </p:nvPicPr>
        <p:blipFill>
          <a:blip r:embed="rId6"/>
          <a:stretch>
            <a:fillRect/>
          </a:stretch>
        </p:blipFill>
        <p:spPr>
          <a:xfrm>
            <a:off x="9334500" y="5962650"/>
            <a:ext cx="4556989" cy="2857500"/>
          </a:xfrm>
          <a:prstGeom prst="rect">
            <a:avLst/>
          </a:prstGeom>
        </p:spPr>
      </p:pic>
      <p:sp>
        <p:nvSpPr>
          <p:cNvPr id="22" name="Rectangle 21"/>
          <p:cNvSpPr/>
          <p:nvPr/>
        </p:nvSpPr>
        <p:spPr>
          <a:xfrm>
            <a:off x="9334500" y="5962650"/>
            <a:ext cx="4556989" cy="2857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4173200" y="6724650"/>
            <a:ext cx="314325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Swerve</a:t>
            </a:r>
          </a:p>
        </p:txBody>
      </p:sp>
      <p:sp>
        <p:nvSpPr>
          <p:cNvPr id="24" name="TextBox 23"/>
          <p:cNvSpPr txBox="1"/>
          <p:nvPr/>
        </p:nvSpPr>
        <p:spPr>
          <a:xfrm>
            <a:off x="14173200" y="7219950"/>
            <a:ext cx="314325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Each wheel's speed and direction</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Differentiate: how fast is it changing?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857500" y="2952750"/>
            <a:ext cx="5356860" cy="59055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048000" y="3028950"/>
            <a:ext cx="4975860" cy="342900"/>
          </a:xfrm>
          <a:prstGeom prst="rect">
            <a:avLst/>
          </a:prstGeom>
          <a:noFill/>
        </p:spPr>
        <p:txBody>
          <a:bodyPr wrap="square" lIns="0" rIns="0" tIns="0" bIns="0" anchor="t">
            <a:spAutoFit/>
          </a:bodyPr>
          <a:lstStyle/>
          <a:p>
            <a:pPr algn="l"/>
            <a:r>
              <a:rPr sz="1500" b="1" i="0" spc="130">
                <a:solidFill>
                  <a:srgbClr val="CC2200"/>
                </a:solidFill>
                <a:latin typeface="Geist"/>
                <a:ea typeface="Geist"/>
                <a:cs typeface="Geist"/>
              </a:rPr>
              <a:t>SPINNING UP</a:t>
            </a:r>
          </a:p>
        </p:txBody>
      </p:sp>
      <p:sp>
        <p:nvSpPr>
          <p:cNvPr id="8" name="TextBox 7"/>
          <p:cNvSpPr txBox="1"/>
          <p:nvPr/>
        </p:nvSpPr>
        <p:spPr>
          <a:xfrm>
            <a:off x="304800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big</a:t>
            </a:r>
          </a:p>
        </p:txBody>
      </p:sp>
      <p:sp>
        <p:nvSpPr>
          <p:cNvPr id="9" name="TextBox 8"/>
          <p:cNvSpPr txBox="1"/>
          <p:nvPr/>
        </p:nvSpPr>
        <p:spPr>
          <a:xfrm>
            <a:off x="8404860" y="3028950"/>
            <a:ext cx="300228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HOLDING SPEED</a:t>
            </a:r>
          </a:p>
        </p:txBody>
      </p:sp>
      <p:sp>
        <p:nvSpPr>
          <p:cNvPr id="10" name="TextBox 9"/>
          <p:cNvSpPr txBox="1"/>
          <p:nvPr/>
        </p:nvSpPr>
        <p:spPr>
          <a:xfrm>
            <a:off x="8404860" y="3352800"/>
            <a:ext cx="300228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zero</a:t>
            </a:r>
          </a:p>
        </p:txBody>
      </p:sp>
      <p:sp>
        <p:nvSpPr>
          <p:cNvPr id="11" name="TextBox 10"/>
          <p:cNvSpPr txBox="1"/>
          <p:nvPr/>
        </p:nvSpPr>
        <p:spPr>
          <a:xfrm>
            <a:off x="11788140" y="3028950"/>
            <a:ext cx="4975860" cy="3429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SLOWING DOWN</a:t>
            </a:r>
          </a:p>
        </p:txBody>
      </p:sp>
      <p:sp>
        <p:nvSpPr>
          <p:cNvPr id="12" name="TextBox 11"/>
          <p:cNvSpPr txBox="1"/>
          <p:nvPr/>
        </p:nvSpPr>
        <p:spPr>
          <a:xfrm>
            <a:off x="11788140" y="3352800"/>
            <a:ext cx="497586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derivative is negative</a:t>
            </a:r>
          </a:p>
        </p:txBody>
      </p:sp>
      <p:cxnSp>
        <p:nvCxnSpPr>
          <p:cNvPr id="13" name="Connector 12"/>
          <p:cNvCxnSpPr/>
          <p:nvPr/>
        </p:nvCxnSpPr>
        <p:spPr>
          <a:xfrm>
            <a:off x="821436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597640" y="2952750"/>
            <a:ext cx="0" cy="590550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57500" y="5874291"/>
            <a:ext cx="176212" cy="85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33712" y="5862576"/>
            <a:ext cx="176213" cy="1171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209925" y="5846601"/>
            <a:ext cx="176213" cy="159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386138" y="5824938"/>
            <a:ext cx="176212" cy="216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562350" y="5795782"/>
            <a:ext cx="176212" cy="2915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738562" y="5756933"/>
            <a:ext cx="176213" cy="388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14775" y="5705858"/>
            <a:ext cx="176213" cy="510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090988" y="5639880"/>
            <a:ext cx="176212" cy="659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267200" y="5556558"/>
            <a:ext cx="176212" cy="8332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4443412" y="5454293"/>
            <a:ext cx="176213" cy="1022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619625" y="5333083"/>
            <a:ext cx="176213" cy="1212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4795838" y="5195220"/>
            <a:ext cx="176212" cy="1378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972050" y="5045580"/>
            <a:ext cx="176212" cy="1496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148262" y="4891180"/>
            <a:ext cx="176213" cy="1544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324475" y="4739976"/>
            <a:ext cx="176213" cy="15120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500688" y="4599289"/>
            <a:ext cx="176212" cy="14068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676900" y="4474484"/>
            <a:ext cx="176212" cy="1248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853112" y="4368368"/>
            <a:ext cx="176213" cy="10611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029325" y="4281350"/>
            <a:ext cx="176213" cy="8701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205538" y="4212087"/>
            <a:ext cx="176212" cy="6926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381750" y="4158252"/>
            <a:ext cx="176212" cy="538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557962" y="4117178"/>
            <a:ext cx="176213" cy="410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734175" y="4086283"/>
            <a:ext cx="176213" cy="308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6910388" y="4063294"/>
            <a:ext cx="176212" cy="2298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086600" y="4046327"/>
            <a:ext cx="176212" cy="169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262812" y="4033883"/>
            <a:ext cx="176213" cy="124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439025" y="4024801"/>
            <a:ext cx="176213" cy="908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615238" y="4018202"/>
            <a:ext cx="176212" cy="6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791450" y="4013428"/>
            <a:ext cx="176212" cy="477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967662" y="4009993"/>
            <a:ext cx="176213" cy="34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143875" y="4007542"/>
            <a:ext cx="176213" cy="24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320088" y="4005816"/>
            <a:ext cx="176212" cy="172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496300" y="4004631"/>
            <a:ext cx="176212" cy="118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672512" y="4003854"/>
            <a:ext cx="176213" cy="77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848725" y="4003397"/>
            <a:ext cx="176213" cy="4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024938" y="4003200"/>
            <a:ext cx="176212" cy="19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9201150" y="4003200"/>
            <a:ext cx="176212" cy="3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377362" y="4003230"/>
            <a:ext cx="176213" cy="24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553575" y="4003473"/>
            <a:ext cx="176213" cy="4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729788" y="4003931"/>
            <a:ext cx="176212" cy="6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9906000" y="4004626"/>
            <a:ext cx="176212" cy="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0082212" y="4005594"/>
            <a:ext cx="176213" cy="12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258425" y="4006890"/>
            <a:ext cx="176213" cy="170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434638" y="4008590"/>
            <a:ext cx="176212" cy="22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0610850" y="4010797"/>
            <a:ext cx="176212" cy="284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87062" y="4013643"/>
            <a:ext cx="176213" cy="36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963275" y="4017295"/>
            <a:ext cx="176213" cy="46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1139488" y="4021970"/>
            <a:ext cx="176212" cy="596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1315700" y="4027938"/>
            <a:ext cx="176212" cy="759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1491912" y="4035537"/>
            <a:ext cx="176213" cy="964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1668125" y="4045186"/>
            <a:ext cx="176213" cy="1221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1844338" y="4057396"/>
            <a:ext cx="176212" cy="1538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2020550" y="4072784"/>
            <a:ext cx="176212" cy="192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2196762" y="4092077"/>
            <a:ext cx="176213" cy="2403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2372975" y="4116112"/>
            <a:ext cx="176213" cy="2970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2549188" y="4145815"/>
            <a:ext cx="176212" cy="363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2725400" y="4182167"/>
            <a:ext cx="176212" cy="4395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2901612" y="4226125"/>
            <a:ext cx="176213" cy="523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3077825" y="4278518"/>
            <a:ext cx="176213" cy="6137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3254038" y="4339896"/>
            <a:ext cx="176212" cy="704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430250" y="4410367"/>
            <a:ext cx="176212" cy="790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606462" y="4489432"/>
            <a:ext cx="176213" cy="864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782675" y="4575872"/>
            <a:ext cx="176213" cy="918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958888" y="4667743"/>
            <a:ext cx="176212" cy="947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4135100" y="4762500"/>
            <a:ext cx="176212" cy="947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4311312" y="4857257"/>
            <a:ext cx="176213" cy="9187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4487525" y="4949128"/>
            <a:ext cx="176213" cy="864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4663738" y="5035568"/>
            <a:ext cx="176212" cy="7906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4839950" y="5114633"/>
            <a:ext cx="176212" cy="7047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5016162" y="5185105"/>
            <a:ext cx="176213" cy="6137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5192375" y="5246484"/>
            <a:ext cx="176213" cy="5239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5368588" y="5298876"/>
            <a:ext cx="176212" cy="4395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5544800" y="5342835"/>
            <a:ext cx="176212" cy="3635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5721012" y="5379187"/>
            <a:ext cx="176213" cy="297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5897225" y="5408892"/>
            <a:ext cx="176213" cy="2403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6073438" y="5432928"/>
            <a:ext cx="176212" cy="192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6249650" y="5452223"/>
            <a:ext cx="176212" cy="1539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6425862" y="5467614"/>
            <a:ext cx="176213" cy="1221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6602075" y="5479828"/>
            <a:ext cx="176213" cy="96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6778288" y="5489482"/>
            <a:ext cx="176212" cy="760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1143000" y="4762500"/>
            <a:ext cx="1619250" cy="381000"/>
          </a:xfrm>
          <a:prstGeom prst="rect">
            <a:avLst/>
          </a:prstGeom>
          <a:noFill/>
        </p:spPr>
        <p:txBody>
          <a:bodyPr wrap="square" lIns="0" rIns="0" tIns="0" bIns="0" anchor="t">
            <a:spAutoFit/>
          </a:bodyPr>
          <a:lstStyle/>
          <a:p>
            <a:pPr algn="l"/>
            <a:r>
              <a:rPr sz="1500" b="1" i="0">
                <a:solidFill>
                  <a:srgbClr val="F0E8E8"/>
                </a:solidFill>
                <a:latin typeface="Geist Mono"/>
                <a:ea typeface="Geist Mono"/>
                <a:cs typeface="Geist Mono"/>
              </a:rPr>
              <a:t>FlywheelRPM</a:t>
            </a:r>
          </a:p>
        </p:txBody>
      </p:sp>
      <p:cxnSp>
        <p:nvCxnSpPr>
          <p:cNvPr id="96" name="Connector 95"/>
          <p:cNvCxnSpPr/>
          <p:nvPr/>
        </p:nvCxnSpPr>
        <p:spPr>
          <a:xfrm>
            <a:off x="2857500" y="7524750"/>
            <a:ext cx="14097000"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2381250" y="7381875"/>
            <a:ext cx="3810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cxnSp>
        <p:nvCxnSpPr>
          <p:cNvPr id="98" name="Connector 97"/>
          <p:cNvCxnSpPr/>
          <p:nvPr/>
        </p:nvCxnSpPr>
        <p:spPr>
          <a:xfrm flipV="1">
            <a:off x="2857500" y="7450471"/>
            <a:ext cx="176212" cy="4548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033712" y="7423237"/>
            <a:ext cx="176213" cy="272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209925" y="7386672"/>
            <a:ext cx="176213" cy="3656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386138" y="7338138"/>
            <a:ext cx="176212" cy="485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562350" y="7274721"/>
            <a:ext cx="176212" cy="6341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38562" y="7193615"/>
            <a:ext cx="176213" cy="8110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914775" y="7092875"/>
            <a:ext cx="176213" cy="10074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4090988" y="6972622"/>
            <a:ext cx="176212" cy="1202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4267200" y="6836637"/>
            <a:ext cx="176212" cy="1359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4443412" y="6693884"/>
            <a:ext cx="176213" cy="14275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4619625" y="6559048"/>
            <a:ext cx="176213" cy="13483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4795838" y="6450863"/>
            <a:ext cx="176212" cy="10818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4972050" y="6387730"/>
            <a:ext cx="176212" cy="631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5148262" y="6381750"/>
            <a:ext cx="176213" cy="598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5324475" y="6381750"/>
            <a:ext cx="176213" cy="523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5500688" y="6434123"/>
            <a:ext cx="176212" cy="10053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5676900" y="6534661"/>
            <a:ext cx="176212" cy="13108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5853112" y="6665741"/>
            <a:ext cx="176213" cy="14252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6029325" y="6808263"/>
            <a:ext cx="176213" cy="13825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6205538" y="6946514"/>
            <a:ext cx="176212" cy="12386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381750" y="7070374"/>
            <a:ext cx="176212" cy="1047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557962" y="7175132"/>
            <a:ext cx="176213" cy="8494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734175" y="7260072"/>
            <a:ext cx="176213" cy="6676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6910388" y="7326839"/>
            <a:ext cx="176212" cy="513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7086600" y="7378142"/>
            <a:ext cx="176212" cy="3877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7262812" y="7416914"/>
            <a:ext cx="176213" cy="2895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7439025" y="7445870"/>
            <a:ext cx="176213" cy="2144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7615238" y="7467314"/>
            <a:ext cx="176212" cy="157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7791450" y="7483106"/>
            <a:ext cx="176212" cy="1159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967662" y="7494701"/>
            <a:ext cx="176213" cy="850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8143875" y="7503208"/>
            <a:ext cx="176213" cy="625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8320088" y="7509466"/>
            <a:ext cx="176212" cy="463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8496300" y="7514100"/>
            <a:ext cx="176212" cy="34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8672512" y="7517576"/>
            <a:ext cx="176213" cy="26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8848725" y="7520245"/>
            <a:ext cx="176213" cy="212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024938" y="7522370"/>
            <a:ext cx="176212" cy="178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9201150" y="7524156"/>
            <a:ext cx="176212" cy="16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9377362" y="7525767"/>
            <a:ext cx="176213" cy="15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9553575" y="7527340"/>
            <a:ext cx="176213" cy="166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9729788" y="7529002"/>
            <a:ext cx="176212" cy="18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9906000" y="7530875"/>
            <a:ext cx="176212" cy="221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10082212" y="7533087"/>
            <a:ext cx="176213" cy="269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10258425" y="7535786"/>
            <a:ext cx="176213" cy="335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10434638" y="7539140"/>
            <a:ext cx="176212" cy="42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610850" y="7543354"/>
            <a:ext cx="176212" cy="532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10787062" y="7548678"/>
            <a:ext cx="176213" cy="674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0963275" y="7555420"/>
            <a:ext cx="176213" cy="853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11139488" y="7563953"/>
            <a:ext cx="176212" cy="107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315700" y="7574735"/>
            <a:ext cx="176212" cy="13578"/>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1491912" y="7588313"/>
            <a:ext cx="176213" cy="1702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1668125" y="7605333"/>
            <a:ext cx="176213" cy="2119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1844338" y="7626529"/>
            <a:ext cx="176212" cy="2618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2020550" y="7652710"/>
            <a:ext cx="176212" cy="3199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2196762" y="7684707"/>
            <a:ext cx="176213" cy="385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2372975" y="7723283"/>
            <a:ext cx="176213" cy="4571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2549188" y="7768997"/>
            <a:ext cx="176212" cy="5300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2725400" y="7821997"/>
            <a:ext cx="176212" cy="5976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2901612" y="7881761"/>
            <a:ext cx="176213" cy="6505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3077825" y="7946816"/>
            <a:ext cx="176213" cy="676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13254038" y="8014498"/>
            <a:ext cx="176212" cy="6637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13430250" y="8080875"/>
            <a:ext cx="176212" cy="6007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13606462" y="8140945"/>
            <a:ext cx="176213" cy="482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3782675" y="8189214"/>
            <a:ext cx="176213" cy="3139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3958888" y="8220607"/>
            <a:ext cx="176212" cy="1090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14135100" y="8220608"/>
            <a:ext cx="176212" cy="1090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14311312" y="8189214"/>
            <a:ext cx="176213" cy="3139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14487525" y="8140945"/>
            <a:ext cx="176213" cy="482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14663738" y="8080876"/>
            <a:ext cx="176212" cy="60069"/>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14839950" y="8014500"/>
            <a:ext cx="176212" cy="6637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15016162" y="7946818"/>
            <a:ext cx="176213" cy="6768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15192375" y="7881764"/>
            <a:ext cx="176213" cy="65054"/>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15368588" y="7822001"/>
            <a:ext cx="176212" cy="5976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15544800" y="7769004"/>
            <a:ext cx="176212" cy="5299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15721012" y="7723293"/>
            <a:ext cx="176213" cy="45711"/>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15897225" y="7684720"/>
            <a:ext cx="176213" cy="38573"/>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16073438" y="7652728"/>
            <a:ext cx="176212" cy="31992"/>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16249650" y="7626553"/>
            <a:ext cx="176212" cy="26175"/>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16425862" y="7605366"/>
            <a:ext cx="176213" cy="21187"/>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16602075" y="7588360"/>
            <a:ext cx="176213" cy="17006"/>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16778288" y="7550980"/>
            <a:ext cx="176212" cy="37380"/>
          </a:xfrm>
          <a:prstGeom prst="line">
            <a:avLst/>
          </a:prstGeom>
          <a:ln w="47625"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143000" y="6572250"/>
            <a:ext cx="1619250" cy="381000"/>
          </a:xfrm>
          <a:prstGeom prst="rect">
            <a:avLst/>
          </a:prstGeom>
          <a:noFill/>
        </p:spPr>
        <p:txBody>
          <a:bodyPr wrap="square" lIns="0" rIns="0" tIns="0" bIns="0" anchor="t">
            <a:spAutoFit/>
          </a:bodyPr>
          <a:lstStyle/>
          <a:p>
            <a:pPr algn="l"/>
            <a:r>
              <a:rPr sz="1500" b="1" i="0">
                <a:solidFill>
                  <a:srgbClr val="CC2200"/>
                </a:solidFill>
                <a:latin typeface="Geist Mono"/>
                <a:ea typeface="Geist Mono"/>
                <a:cs typeface="Geist Mono"/>
              </a:rPr>
              <a:t>differentiated</a:t>
            </a:r>
          </a:p>
        </p:txBody>
      </p:sp>
      <p:sp>
        <p:nvSpPr>
          <p:cNvPr id="179" name="TextBox 17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0" name="TextBox 17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Poses: where is the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191250"/>
          </a:xfrm>
          <a:prstGeom prst="roundRect">
            <a:avLst>
              <a:gd name="adj" fmla="val 2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009775" y="3048000"/>
            <a:ext cx="8382000" cy="4086225"/>
          </a:xfrm>
          <a:prstGeom prst="roundRect">
            <a:avLst>
              <a:gd name="adj" fmla="val 1398"/>
            </a:avLst>
          </a:prstGeom>
          <a:solidFill>
            <a:srgbClr val="0E1412"/>
          </a:solidFill>
          <a:ln w="28575">
            <a:solidFill>
              <a:srgbClr val="3A4A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 name="Connector 6"/>
          <p:cNvCxnSpPr/>
          <p:nvPr/>
        </p:nvCxnSpPr>
        <p:spPr>
          <a:xfrm>
            <a:off x="6200775" y="3048000"/>
            <a:ext cx="0" cy="4086225"/>
          </a:xfrm>
          <a:prstGeom prst="line">
            <a:avLst/>
          </a:prstGeom>
          <a:ln w="28575">
            <a:solidFill>
              <a:srgbClr val="3A4A44"/>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009775" y="3048000"/>
            <a:ext cx="133350" cy="4086225"/>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258425" y="3048000"/>
            <a:ext cx="133350" cy="408622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a:off x="2009775" y="5613911"/>
            <a:ext cx="2787243" cy="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97018" y="5613911"/>
            <a:ext cx="0" cy="1520314"/>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295525" y="5232911"/>
            <a:ext cx="2215743" cy="323850"/>
          </a:xfrm>
          <a:prstGeom prst="rect">
            <a:avLst/>
          </a:prstGeom>
          <a:noFill/>
        </p:spPr>
        <p:txBody>
          <a:bodyPr wrap="square" lIns="0" rIns="0" tIns="0" bIns="0" anchor="t">
            <a:spAutoFit/>
          </a:bodyPr>
          <a:lstStyle/>
          <a:p>
            <a:pPr algn="ctr"/>
            <a:r>
              <a:rPr sz="1650" b="0" i="0">
                <a:solidFill>
                  <a:srgbClr val="F0E8E8"/>
                </a:solidFill>
                <a:latin typeface="Geist Mono"/>
                <a:ea typeface="Geist Mono"/>
                <a:cs typeface="Geist Mono"/>
              </a:rPr>
              <a:t>x = 5.5 m</a:t>
            </a:r>
          </a:p>
        </p:txBody>
      </p:sp>
      <p:sp>
        <p:nvSpPr>
          <p:cNvPr id="13" name="TextBox 12"/>
          <p:cNvSpPr txBox="1"/>
          <p:nvPr/>
        </p:nvSpPr>
        <p:spPr>
          <a:xfrm>
            <a:off x="4911318" y="6185411"/>
            <a:ext cx="19050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y = 3.0 m</a:t>
            </a:r>
          </a:p>
        </p:txBody>
      </p:sp>
      <p:sp>
        <p:nvSpPr>
          <p:cNvPr id="14" name="Oval 13"/>
          <p:cNvSpPr/>
          <p:nvPr/>
        </p:nvSpPr>
        <p:spPr>
          <a:xfrm>
            <a:off x="2755779" y="648738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884124" y="648692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06414" y="6477789"/>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23079" y="646065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234547" y="643621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341246" y="6405143"/>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43605" y="6368134"/>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542051" y="632587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637014" y="6279040"/>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28921" y="622832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818200" y="617441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905282" y="611798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990592" y="6059731"/>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074561" y="6000335"/>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57616" y="5940482"/>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40185" y="5880857"/>
            <a:ext cx="95250" cy="952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344728" y="6230824"/>
            <a:ext cx="647700" cy="590550"/>
          </a:xfrm>
          <a:prstGeom prst="roundRect">
            <a:avLst>
              <a:gd name="adj" fmla="val 12903"/>
            </a:avLst>
          </a:prstGeom>
          <a:noFill/>
          <a:ln w="19050">
            <a:solidFill>
              <a:srgbClr val="9A78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097078" y="6888049"/>
            <a:ext cx="1143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start</a:t>
            </a:r>
          </a:p>
        </p:txBody>
      </p:sp>
      <p:cxnSp>
        <p:nvCxnSpPr>
          <p:cNvPr id="32" name="Connector 31"/>
          <p:cNvCxnSpPr/>
          <p:nvPr/>
        </p:nvCxnSpPr>
        <p:spPr>
          <a:xfrm flipV="1">
            <a:off x="4797018" y="4661411"/>
            <a:ext cx="1649778" cy="952500"/>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3" name="Picture 32" descr="dozer_top.png"/>
          <p:cNvPicPr>
            <a:picLocks noChangeAspect="1"/>
          </p:cNvPicPr>
          <p:nvPr/>
        </p:nvPicPr>
        <p:blipFill>
          <a:blip r:embed="rId3"/>
          <a:stretch>
            <a:fillRect/>
          </a:stretch>
        </p:blipFill>
        <p:spPr>
          <a:xfrm rot="19800000">
            <a:off x="4082643" y="4956686"/>
            <a:ext cx="1428750" cy="1313311"/>
          </a:xfrm>
          <a:prstGeom prst="rect">
            <a:avLst/>
          </a:prstGeom>
        </p:spPr>
      </p:pic>
      <p:cxnSp>
        <p:nvCxnSpPr>
          <p:cNvPr id="34" name="Connector 33"/>
          <p:cNvCxnSpPr/>
          <p:nvPr/>
        </p:nvCxnSpPr>
        <p:spPr>
          <a:xfrm>
            <a:off x="4797018" y="5613911"/>
            <a:ext cx="1809750" cy="0"/>
          </a:xfrm>
          <a:prstGeom prst="line">
            <a:avLst/>
          </a:prstGeom>
          <a:ln w="19050">
            <a:solidFill>
              <a:srgbClr val="2A1A1A"/>
            </a:solidFill>
            <a:prstDash val="dash"/>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702018" y="5451986"/>
            <a:ext cx="1905000" cy="323850"/>
          </a:xfrm>
          <a:prstGeom prst="rect">
            <a:avLst/>
          </a:prstGeom>
          <a:noFill/>
        </p:spPr>
        <p:txBody>
          <a:bodyPr wrap="square" lIns="0" rIns="0" tIns="0" bIns="0" anchor="t">
            <a:spAutoFit/>
          </a:bodyPr>
          <a:lstStyle/>
          <a:p>
            <a:pPr algn="l"/>
            <a:r>
              <a:rPr sz="1650" b="1" i="0">
                <a:solidFill>
                  <a:srgbClr val="CC2200"/>
                </a:solidFill>
                <a:latin typeface="Geist Mono"/>
                <a:ea typeface="Geist Mono"/>
                <a:cs typeface="Geist Mono"/>
              </a:rPr>
              <a:t>θ = 30°</a:t>
            </a:r>
          </a:p>
        </p:txBody>
      </p:sp>
      <p:sp>
        <p:nvSpPr>
          <p:cNvPr id="36" name="Oval 35"/>
          <p:cNvSpPr/>
          <p:nvPr/>
        </p:nvSpPr>
        <p:spPr>
          <a:xfrm>
            <a:off x="1933575" y="7058025"/>
            <a:ext cx="152400" cy="1524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24025" y="7267575"/>
            <a:ext cx="1905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(0, 0)</a:t>
            </a:r>
          </a:p>
        </p:txBody>
      </p:sp>
      <p:sp>
        <p:nvSpPr>
          <p:cNvPr id="38" name="TextBox 37"/>
          <p:cNvSpPr txBox="1"/>
          <p:nvPr/>
        </p:nvSpPr>
        <p:spPr>
          <a:xfrm>
            <a:off x="7534275" y="7267575"/>
            <a:ext cx="2857500" cy="28575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x →</a:t>
            </a:r>
          </a:p>
        </p:txBody>
      </p:sp>
      <p:sp>
        <p:nvSpPr>
          <p:cNvPr id="39" name="Rounded Rectangle 38"/>
          <p:cNvSpPr/>
          <p:nvPr/>
        </p:nvSpPr>
        <p:spPr>
          <a:xfrm>
            <a:off x="2009775" y="7620000"/>
            <a:ext cx="8382000" cy="1055370"/>
          </a:xfrm>
          <a:prstGeom prst="roundRect">
            <a:avLst>
              <a:gd name="adj" fmla="val 1444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390775" y="8001000"/>
            <a:ext cx="7848600" cy="29337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new </a:t>
            </a:r>
            <a:r>
              <a:rPr sz="1650" b="0" i="0">
                <a:solidFill>
                  <a:srgbClr val="F0E8E8"/>
                </a:solidFill>
                <a:latin typeface="Geist Mono"/>
                <a:ea typeface="Geist Mono"/>
                <a:cs typeface="Geist Mono"/>
              </a:rPr>
              <a:t>Pose2d(</a:t>
            </a:r>
            <a:r>
              <a:rPr sz="1650" b="0" i="0">
                <a:solidFill>
                  <a:srgbClr val="E8C27A"/>
                </a:solidFill>
                <a:latin typeface="Geist Mono"/>
                <a:ea typeface="Geist Mono"/>
                <a:cs typeface="Geist Mono"/>
              </a:rPr>
              <a:t>5.5</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 Rotation2d.fromDegrees(</a:t>
            </a:r>
            <a:r>
              <a:rPr sz="1650" b="0" i="0">
                <a:solidFill>
                  <a:srgbClr val="E8C27A"/>
                </a:solidFill>
                <a:latin typeface="Geist Mono"/>
                <a:ea typeface="Geist Mono"/>
                <a:cs typeface="Geist Mono"/>
              </a:rPr>
              <a:t>30</a:t>
            </a:r>
            <a:r>
              <a:rPr sz="1650" b="0" i="0">
                <a:solidFill>
                  <a:srgbClr val="F0E8E8"/>
                </a:solidFill>
                <a:latin typeface="Geist Mono"/>
                <a:ea typeface="Geist Mono"/>
                <a:cs typeface="Geist Mono"/>
              </a:rPr>
              <a:t>))</a:t>
            </a:r>
          </a:p>
        </p:txBody>
      </p:sp>
      <p:sp>
        <p:nvSpPr>
          <p:cNvPr id="41" name="Rounded Rectangle 40"/>
          <p:cNvSpPr/>
          <p:nvPr/>
        </p:nvSpPr>
        <p:spPr>
          <a:xfrm>
            <a:off x="11906250" y="28575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2249150" y="302895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x</a:t>
            </a:r>
          </a:p>
        </p:txBody>
      </p:sp>
      <p:sp>
        <p:nvSpPr>
          <p:cNvPr id="43" name="TextBox 42"/>
          <p:cNvSpPr txBox="1"/>
          <p:nvPr/>
        </p:nvSpPr>
        <p:spPr>
          <a:xfrm>
            <a:off x="12249150" y="35242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blue alliance wall</a:t>
            </a:r>
          </a:p>
        </p:txBody>
      </p:sp>
      <p:sp>
        <p:nvSpPr>
          <p:cNvPr id="44" name="Rounded Rectangle 43"/>
          <p:cNvSpPr/>
          <p:nvPr/>
        </p:nvSpPr>
        <p:spPr>
          <a:xfrm>
            <a:off x="11906250" y="436245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2249150" y="4533900"/>
            <a:ext cx="4762500" cy="419100"/>
          </a:xfrm>
          <a:prstGeom prst="rect">
            <a:avLst/>
          </a:prstGeom>
          <a:noFill/>
        </p:spPr>
        <p:txBody>
          <a:bodyPr wrap="square" lIns="0" rIns="0" tIns="0" bIns="0" anchor="t">
            <a:spAutoFit/>
          </a:bodyPr>
          <a:lstStyle/>
          <a:p>
            <a:pPr algn="l"/>
            <a:r>
              <a:rPr sz="2400" b="1" i="0">
                <a:solidFill>
                  <a:srgbClr val="CC2200"/>
                </a:solidFill>
                <a:latin typeface="Geist Mono"/>
                <a:ea typeface="Geist Mono"/>
                <a:cs typeface="Geist Mono"/>
              </a:rPr>
              <a:t>y</a:t>
            </a:r>
          </a:p>
        </p:txBody>
      </p:sp>
      <p:sp>
        <p:nvSpPr>
          <p:cNvPr id="46" name="TextBox 45"/>
          <p:cNvSpPr txBox="1"/>
          <p:nvPr/>
        </p:nvSpPr>
        <p:spPr>
          <a:xfrm>
            <a:off x="12249150" y="50292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Meters from the side of the field</a:t>
            </a:r>
          </a:p>
        </p:txBody>
      </p:sp>
      <p:sp>
        <p:nvSpPr>
          <p:cNvPr id="47" name="Rounded Rectangle 46"/>
          <p:cNvSpPr/>
          <p:nvPr/>
        </p:nvSpPr>
        <p:spPr>
          <a:xfrm>
            <a:off x="11906250" y="5867400"/>
            <a:ext cx="5467350" cy="1314450"/>
          </a:xfrm>
          <a:prstGeom prst="roundRect">
            <a:avLst>
              <a:gd name="adj" fmla="val 1014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249150" y="6038850"/>
            <a:ext cx="4762500" cy="419100"/>
          </a:xfrm>
          <a:prstGeom prst="rect">
            <a:avLst/>
          </a:prstGeom>
          <a:noFill/>
        </p:spPr>
        <p:txBody>
          <a:bodyPr wrap="square" lIns="0" rIns="0" tIns="0" bIns="0" anchor="t">
            <a:spAutoFit/>
          </a:bodyPr>
          <a:lstStyle/>
          <a:p>
            <a:pPr algn="l"/>
            <a:r>
              <a:rPr sz="2400" b="1" i="0">
                <a:solidFill>
                  <a:srgbClr val="CC2200"/>
                </a:solidFill>
                <a:latin typeface="Geist"/>
                <a:ea typeface="Geist"/>
                <a:cs typeface="Geist"/>
              </a:rPr>
              <a:t>Rotation</a:t>
            </a:r>
          </a:p>
        </p:txBody>
      </p:sp>
      <p:sp>
        <p:nvSpPr>
          <p:cNvPr id="49" name="TextBox 48"/>
          <p:cNvSpPr txBox="1"/>
          <p:nvPr/>
        </p:nvSpPr>
        <p:spPr>
          <a:xfrm>
            <a:off x="12249150" y="653415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Which way it faces, counterclockwise</a:t>
            </a:r>
          </a:p>
        </p:txBody>
      </p:sp>
      <p:sp>
        <p:nvSpPr>
          <p:cNvPr id="50" name="Rounded Rectangle 49"/>
          <p:cNvSpPr/>
          <p:nvPr/>
        </p:nvSpPr>
        <p:spPr>
          <a:xfrm>
            <a:off x="11906250" y="7372350"/>
            <a:ext cx="5467350" cy="1314450"/>
          </a:xfrm>
          <a:prstGeom prst="roundRect">
            <a:avLst>
              <a:gd name="adj" fmla="val 1014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2249150" y="7543800"/>
            <a:ext cx="47625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Pose3d</a:t>
            </a:r>
          </a:p>
        </p:txBody>
      </p:sp>
      <p:sp>
        <p:nvSpPr>
          <p:cNvPr id="52" name="TextBox 51"/>
          <p:cNvSpPr txBox="1"/>
          <p:nvPr/>
        </p:nvSpPr>
        <p:spPr>
          <a:xfrm>
            <a:off x="12249150" y="8039100"/>
            <a:ext cx="485775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Adds height, tilt and roll</a:t>
            </a:r>
          </a:p>
        </p:txBody>
      </p:sp>
      <p:sp>
        <p:nvSpPr>
          <p:cNvPr id="53" name="TextBox 5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4" name="TextBox 5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Live data or log files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371600" y="3238500"/>
            <a:ext cx="839019" cy="609600"/>
          </a:xfrm>
          <a:prstGeom prst="rect">
            <a:avLst/>
          </a:prstGeom>
        </p:spPr>
      </p:pic>
      <p:sp>
        <p:nvSpPr>
          <p:cNvPr id="7" name="TextBox 6"/>
          <p:cNvSpPr txBox="1"/>
          <p:nvPr/>
        </p:nvSpPr>
        <p:spPr>
          <a:xfrm>
            <a:off x="25336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Live</a:t>
            </a:r>
          </a:p>
        </p:txBody>
      </p:sp>
      <p:sp>
        <p:nvSpPr>
          <p:cNvPr id="8" name="TextBox 7"/>
          <p:cNvSpPr txBox="1"/>
          <p:nvPr/>
        </p:nvSpPr>
        <p:spPr>
          <a:xfrm>
            <a:off x="13716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While the robot or sim runs</a:t>
            </a:r>
          </a:p>
        </p:txBody>
      </p:sp>
      <p:sp>
        <p:nvSpPr>
          <p:cNvPr id="9" name="TextBox 8"/>
          <p:cNvSpPr txBox="1"/>
          <p:nvPr/>
        </p:nvSpPr>
        <p:spPr>
          <a:xfrm>
            <a:off x="13716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Anything published to NetworkTables</a:t>
            </a:r>
          </a:p>
        </p:txBody>
      </p:sp>
      <p:sp>
        <p:nvSpPr>
          <p:cNvPr id="10" name="TextBox 9"/>
          <p:cNvSpPr txBox="1"/>
          <p:nvPr/>
        </p:nvSpPr>
        <p:spPr>
          <a:xfrm>
            <a:off x="13716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Connect to Robot</a:t>
            </a:r>
          </a:p>
        </p:txBody>
      </p:sp>
      <p:sp>
        <p:nvSpPr>
          <p:cNvPr id="11" name="TextBox 10"/>
          <p:cNvSpPr txBox="1"/>
          <p:nvPr/>
        </p:nvSpPr>
        <p:spPr>
          <a:xfrm>
            <a:off x="13716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or Connect to Simulator</a:t>
            </a:r>
          </a:p>
        </p:txBody>
      </p:sp>
      <p:sp>
        <p:nvSpPr>
          <p:cNvPr id="12" name="Rounded Rectangle 11"/>
          <p:cNvSpPr/>
          <p:nvPr/>
        </p:nvSpPr>
        <p:spPr>
          <a:xfrm>
            <a:off x="93345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journal-code.png"/>
          <p:cNvPicPr>
            <a:picLocks noChangeAspect="1"/>
          </p:cNvPicPr>
          <p:nvPr/>
        </p:nvPicPr>
        <p:blipFill>
          <a:blip r:embed="rId4"/>
          <a:stretch>
            <a:fillRect/>
          </a:stretch>
        </p:blipFill>
        <p:spPr>
          <a:xfrm>
            <a:off x="9791700" y="3238500"/>
            <a:ext cx="571500" cy="609600"/>
          </a:xfrm>
          <a:prstGeom prst="rect">
            <a:avLst/>
          </a:prstGeom>
        </p:spPr>
      </p:pic>
      <p:sp>
        <p:nvSpPr>
          <p:cNvPr id="14" name="TextBox 13"/>
          <p:cNvSpPr txBox="1"/>
          <p:nvPr/>
        </p:nvSpPr>
        <p:spPr>
          <a:xfrm>
            <a:off x="109537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Log files</a:t>
            </a:r>
          </a:p>
        </p:txBody>
      </p:sp>
      <p:sp>
        <p:nvSpPr>
          <p:cNvPr id="15" name="TextBox 14"/>
          <p:cNvSpPr txBox="1"/>
          <p:nvPr/>
        </p:nvSpPr>
        <p:spPr>
          <a:xfrm>
            <a:off x="97917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After a test or a match</a:t>
            </a:r>
          </a:p>
        </p:txBody>
      </p:sp>
      <p:sp>
        <p:nvSpPr>
          <p:cNvPr id="16" name="TextBox 15"/>
          <p:cNvSpPr txBox="1"/>
          <p:nvPr/>
        </p:nvSpPr>
        <p:spPr>
          <a:xfrm>
            <a:off x="97917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E0785F"/>
                </a:solidFill>
                <a:latin typeface="Geist Mono"/>
                <a:ea typeface="Geist Mono"/>
                <a:cs typeface="Geist Mono"/>
              </a:rPr>
              <a:t>  .wpilog  .hoot  .dslog  </a:t>
            </a:r>
          </a:p>
        </p:txBody>
      </p:sp>
      <p:sp>
        <p:nvSpPr>
          <p:cNvPr id="17" name="TextBox 16"/>
          <p:cNvSpPr txBox="1"/>
          <p:nvPr/>
        </p:nvSpPr>
        <p:spPr>
          <a:xfrm>
            <a:off x="97917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Open Log(s)</a:t>
            </a:r>
          </a:p>
        </p:txBody>
      </p:sp>
      <p:sp>
        <p:nvSpPr>
          <p:cNvPr id="18" name="TextBox 17"/>
          <p:cNvSpPr txBox="1"/>
          <p:nvPr/>
        </p:nvSpPr>
        <p:spPr>
          <a:xfrm>
            <a:off x="97917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Replay exactly what happened</a:t>
            </a:r>
          </a:p>
        </p:txBody>
      </p:sp>
      <p:sp>
        <p:nvSpPr>
          <p:cNvPr id="19" name="Rounded Rectangle 18"/>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 the pits, not the match.  </a:t>
            </a:r>
            <a:r>
              <a:rPr sz="2100" b="0" i="0">
                <a:solidFill>
                  <a:srgbClr val="F0E8E8"/>
                </a:solidFill>
                <a:latin typeface="Geist"/>
                <a:ea typeface="Geist"/>
                <a:cs typeface="Geist"/>
              </a:rPr>
              <a:t>Drivers use Elastic. Load the team's layouts with File &gt; Import Layout.</a:t>
            </a:r>
          </a:p>
        </p:txBody>
      </p:sp>
      <p:sp>
        <p:nvSpPr>
          <p:cNvPr id="21" name="TextBox 2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Mode: changing values live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Most fields are read-only</a:t>
            </a:r>
          </a:p>
        </p:txBody>
      </p:sp>
      <p:sp>
        <p:nvSpPr>
          <p:cNvPr id="6" name="TextBox 5"/>
          <p:cNvSpPr txBox="1"/>
          <p:nvPr/>
        </p:nvSpPr>
        <p:spPr>
          <a:xfrm>
            <a:off x="914400" y="351472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Tuning Mode</a:t>
            </a:r>
            <a:r>
              <a:rPr sz="2250" b="0" i="0">
                <a:solidFill>
                  <a:srgbClr val="F0E8E8"/>
                </a:solidFill>
                <a:latin typeface="Geist"/>
                <a:ea typeface="Geist"/>
                <a:cs typeface="Geist"/>
              </a:rPr>
              <a:t> (the slider icon) lets you type new values</a:t>
            </a:r>
          </a:p>
        </p:txBody>
      </p:sp>
      <p:sp>
        <p:nvSpPr>
          <p:cNvPr id="7" name="TextBox 6"/>
          <p:cNvSpPr txBox="1"/>
          <p:nvPr/>
        </p:nvSpPr>
        <p:spPr>
          <a:xfrm>
            <a:off x="914400" y="417195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Only for values under </a:t>
            </a:r>
            <a:r>
              <a:rPr sz="2250" b="0" i="0">
                <a:solidFill>
                  <a:srgbClr val="E0785F"/>
                </a:solidFill>
                <a:latin typeface="Geist Mono"/>
                <a:ea typeface="Geist Mono"/>
                <a:cs typeface="Geist Mono"/>
              </a:rPr>
              <a:t>/Tuning</a:t>
            </a:r>
          </a:p>
        </p:txBody>
      </p:sp>
      <p:sp>
        <p:nvSpPr>
          <p:cNvPr id="8" name="TextBox 7"/>
          <p:cNvSpPr txBox="1"/>
          <p:nvPr/>
        </p:nvSpPr>
        <p:spPr>
          <a:xfrm>
            <a:off x="914400" y="482917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Tune things like flywheel speed without redeploying</a:t>
            </a:r>
          </a:p>
        </p:txBody>
      </p:sp>
      <p:sp>
        <p:nvSpPr>
          <p:cNvPr id="9" name="Rounded Rectangle 8"/>
          <p:cNvSpPr/>
          <p:nvPr/>
        </p:nvSpPr>
        <p:spPr>
          <a:xfrm>
            <a:off x="11430000" y="2857500"/>
            <a:ext cx="59436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iders.png"/>
          <p:cNvPicPr>
            <a:picLocks noChangeAspect="1"/>
          </p:cNvPicPr>
          <p:nvPr/>
        </p:nvPicPr>
        <p:blipFill>
          <a:blip r:embed="rId3"/>
          <a:stretch>
            <a:fillRect/>
          </a:stretch>
        </p:blipFill>
        <p:spPr>
          <a:xfrm>
            <a:off x="13792200" y="3429000"/>
            <a:ext cx="1300480" cy="1219200"/>
          </a:xfrm>
          <a:prstGeom prst="rect">
            <a:avLst/>
          </a:prstGeom>
        </p:spPr>
      </p:pic>
      <p:sp>
        <p:nvSpPr>
          <p:cNvPr id="11" name="TextBox 10"/>
          <p:cNvSpPr txBox="1"/>
          <p:nvPr/>
        </p:nvSpPr>
        <p:spPr>
          <a:xfrm>
            <a:off x="11811000" y="5143500"/>
            <a:ext cx="5181600" cy="571500"/>
          </a:xfrm>
          <a:prstGeom prst="rect">
            <a:avLst/>
          </a:prstGeom>
          <a:noFill/>
        </p:spPr>
        <p:txBody>
          <a:bodyPr wrap="square" lIns="0" rIns="0" tIns="0" bIns="0" anchor="t">
            <a:spAutoFit/>
          </a:bodyPr>
          <a:lstStyle/>
          <a:p>
            <a:pPr algn="ctr"/>
            <a:r>
              <a:rPr sz="1950" b="0" i="0">
                <a:solidFill>
                  <a:srgbClr val="E0785F"/>
                </a:solidFill>
                <a:latin typeface="Geist Mono"/>
                <a:ea typeface="Geist Mono"/>
                <a:cs typeface="Geist Mono"/>
              </a:rPr>
              <a:t>/Tuning/FlywheelTargetRPM</a:t>
            </a:r>
          </a:p>
        </p:txBody>
      </p:sp>
      <p:sp>
        <p:nvSpPr>
          <p:cNvPr id="12" name="TextBox 11"/>
          <p:cNvSpPr txBox="1"/>
          <p:nvPr/>
        </p:nvSpPr>
        <p:spPr>
          <a:xfrm>
            <a:off x="11811000" y="5810250"/>
            <a:ext cx="5181600" cy="13335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Writable, because it's published under /Tuning</a:t>
            </a:r>
          </a:p>
        </p:txBody>
      </p:sp>
      <p:sp>
        <p:nvSpPr>
          <p:cNvPr id="13" name="TextBox 1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Elastic</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Dashboards: what drivers see during a match</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Drivers glance, they don't read. Keep it big and simple.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Dashboard or analysis tool?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AdvantageScope</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programmers</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Graphs, fields, replays</a:t>
            </a:r>
          </a:p>
        </p:txBody>
      </p:sp>
      <p:sp>
        <p:nvSpPr>
          <p:cNvPr id="9" name="TextBox 8"/>
          <p:cNvSpPr txBox="1"/>
          <p:nvPr/>
        </p:nvSpPr>
        <p:spPr>
          <a:xfrm>
            <a:off x="13716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Digging into what happened</a:t>
            </a:r>
          </a:p>
        </p:txBody>
      </p:sp>
      <p:sp>
        <p:nvSpPr>
          <p:cNvPr id="10" name="TextBox 9"/>
          <p:cNvSpPr txBox="1"/>
          <p:nvPr/>
        </p:nvSpPr>
        <p:spPr>
          <a:xfrm>
            <a:off x="13716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Used in the pits and while testing</a:t>
            </a:r>
          </a:p>
        </p:txBody>
      </p:sp>
      <p:sp>
        <p:nvSpPr>
          <p:cNvPr id="11" name="Rounded Rectangle 10"/>
          <p:cNvSpPr/>
          <p:nvPr/>
        </p:nvSpPr>
        <p:spPr>
          <a:xfrm>
            <a:off x="9334500" y="2857500"/>
            <a:ext cx="8039100" cy="5334000"/>
          </a:xfrm>
          <a:prstGeom prst="roundRect">
            <a:avLst>
              <a:gd name="adj" fmla="val 285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Elastic</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drivers</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Big, simple widgets</a:t>
            </a:r>
          </a:p>
        </p:txBody>
      </p:sp>
      <p:sp>
        <p:nvSpPr>
          <p:cNvPr id="15" name="TextBox 14"/>
          <p:cNvSpPr txBox="1"/>
          <p:nvPr/>
        </p:nvSpPr>
        <p:spPr>
          <a:xfrm>
            <a:off x="97917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Read in a glance during a match</a:t>
            </a:r>
          </a:p>
        </p:txBody>
      </p:sp>
      <p:sp>
        <p:nvSpPr>
          <p:cNvPr id="16" name="TextBox 15"/>
          <p:cNvSpPr txBox="1"/>
          <p:nvPr/>
        </p:nvSpPr>
        <p:spPr>
          <a:xfrm>
            <a:off x="97917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Set options like the auto routine</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a match dashboard looks like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11239500" cy="5705699"/>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el_example_layout.jpg"/>
          <p:cNvPicPr>
            <a:picLocks noChangeAspect="1"/>
          </p:cNvPicPr>
          <p:nvPr/>
        </p:nvPicPr>
        <p:blipFill>
          <a:blip r:embed="rId3"/>
          <a:stretch>
            <a:fillRect/>
          </a:stretch>
        </p:blipFill>
        <p:spPr>
          <a:xfrm>
            <a:off x="914400" y="2857500"/>
            <a:ext cx="11239500" cy="5705699"/>
          </a:xfrm>
          <a:prstGeom prst="rect">
            <a:avLst/>
          </a:prstGeom>
        </p:spPr>
      </p:pic>
      <p:sp>
        <p:nvSpPr>
          <p:cNvPr id="7" name="Rectangle 6"/>
          <p:cNvSpPr/>
          <p:nvPr/>
        </p:nvSpPr>
        <p:spPr>
          <a:xfrm>
            <a:off x="914400" y="2857500"/>
            <a:ext cx="11239500" cy="5705699"/>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72540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7254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3335000" y="281940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Field</a:t>
            </a:r>
          </a:p>
        </p:txBody>
      </p:sp>
      <p:sp>
        <p:nvSpPr>
          <p:cNvPr id="11" name="TextBox 10"/>
          <p:cNvSpPr txBox="1"/>
          <p:nvPr/>
        </p:nvSpPr>
        <p:spPr>
          <a:xfrm>
            <a:off x="13335000" y="323850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robot thinks it is</a:t>
            </a:r>
          </a:p>
        </p:txBody>
      </p:sp>
      <p:sp>
        <p:nvSpPr>
          <p:cNvPr id="12" name="Oval 11"/>
          <p:cNvSpPr/>
          <p:nvPr/>
        </p:nvSpPr>
        <p:spPr>
          <a:xfrm>
            <a:off x="1272540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254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3335000" y="424815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Match time</a:t>
            </a:r>
          </a:p>
        </p:txBody>
      </p:sp>
      <p:sp>
        <p:nvSpPr>
          <p:cNvPr id="15" name="TextBox 14"/>
          <p:cNvSpPr txBox="1"/>
          <p:nvPr/>
        </p:nvSpPr>
        <p:spPr>
          <a:xfrm>
            <a:off x="13335000" y="466725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Huge, so drivers see it in a glance</a:t>
            </a:r>
          </a:p>
        </p:txBody>
      </p:sp>
      <p:sp>
        <p:nvSpPr>
          <p:cNvPr id="16" name="Oval 15"/>
          <p:cNvSpPr/>
          <p:nvPr/>
        </p:nvSpPr>
        <p:spPr>
          <a:xfrm>
            <a:off x="1272540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72540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3335000" y="567690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Gauges</a:t>
            </a:r>
          </a:p>
        </p:txBody>
      </p:sp>
      <p:sp>
        <p:nvSpPr>
          <p:cNvPr id="19" name="TextBox 18"/>
          <p:cNvSpPr txBox="1"/>
          <p:nvPr/>
        </p:nvSpPr>
        <p:spPr>
          <a:xfrm>
            <a:off x="13335000" y="609600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Battery voltage, gyro heading</a:t>
            </a:r>
          </a:p>
        </p:txBody>
      </p:sp>
      <p:sp>
        <p:nvSpPr>
          <p:cNvPr id="20" name="Oval 19"/>
          <p:cNvSpPr/>
          <p:nvPr/>
        </p:nvSpPr>
        <p:spPr>
          <a:xfrm>
            <a:off x="127254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25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2" name="TextBox 21"/>
          <p:cNvSpPr txBox="1"/>
          <p:nvPr/>
        </p:nvSpPr>
        <p:spPr>
          <a:xfrm>
            <a:off x="13335000" y="7105650"/>
            <a:ext cx="40386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 chooser</a:t>
            </a:r>
          </a:p>
        </p:txBody>
      </p:sp>
      <p:sp>
        <p:nvSpPr>
          <p:cNvPr id="23" name="TextBox 22"/>
          <p:cNvSpPr txBox="1"/>
          <p:nvPr/>
        </p:nvSpPr>
        <p:spPr>
          <a:xfrm>
            <a:off x="13335000" y="7524750"/>
            <a:ext cx="40386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Picked before the match starts</a:t>
            </a:r>
          </a:p>
        </p:txBody>
      </p:sp>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Topics: values with names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a:t>
            </a:r>
          </a:p>
        </p:txBody>
      </p:sp>
      <p:sp>
        <p:nvSpPr>
          <p:cNvPr id="7" name="TextBox 6"/>
          <p:cNvSpPr txBox="1"/>
          <p:nvPr/>
        </p:nvSpPr>
        <p:spPr>
          <a:xfrm>
            <a:off x="10668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ClimberSpeed</a:t>
            </a:r>
          </a:p>
        </p:txBody>
      </p:sp>
      <p:cxnSp>
        <p:nvCxnSpPr>
          <p:cNvPr id="8" name="Connector 7"/>
          <p:cNvCxnSpPr/>
          <p:nvPr/>
        </p:nvCxnSpPr>
        <p:spPr>
          <a:xfrm>
            <a:off x="59690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54800" y="3143250"/>
            <a:ext cx="49784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500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68072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A shared table of topics</a:t>
            </a:r>
          </a:p>
        </p:txBody>
      </p:sp>
      <p:cxnSp>
        <p:nvCxnSpPr>
          <p:cNvPr id="12" name="Connector 11"/>
          <p:cNvCxnSpPr/>
          <p:nvPr/>
        </p:nvCxnSpPr>
        <p:spPr>
          <a:xfrm>
            <a:off x="117094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3952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4904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5" name="TextBox 14"/>
          <p:cNvSpPr txBox="1"/>
          <p:nvPr/>
        </p:nvSpPr>
        <p:spPr>
          <a:xfrm>
            <a:off x="125476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Subscribes by name</a:t>
            </a:r>
          </a:p>
        </p:txBody>
      </p:sp>
      <p:sp>
        <p:nvSpPr>
          <p:cNvPr id="16" name="Rounded Rectangle 15"/>
          <p:cNvSpPr/>
          <p:nvPr/>
        </p:nvSpPr>
        <p:spPr>
          <a:xfrm>
            <a:off x="914400" y="5715000"/>
            <a:ext cx="16459200" cy="2857500"/>
          </a:xfrm>
          <a:prstGeom prst="roundRect">
            <a:avLst>
              <a:gd name="adj" fmla="val 533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60007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ClimberSpeed</a:t>
            </a:r>
          </a:p>
        </p:txBody>
      </p:sp>
      <p:sp>
        <p:nvSpPr>
          <p:cNvPr id="18" name="TextBox 17"/>
          <p:cNvSpPr txBox="1"/>
          <p:nvPr/>
        </p:nvSpPr>
        <p:spPr>
          <a:xfrm>
            <a:off x="8572500" y="60007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0.65</a:t>
            </a:r>
          </a:p>
        </p:txBody>
      </p:sp>
      <p:sp>
        <p:nvSpPr>
          <p:cNvPr id="19" name="TextBox 18"/>
          <p:cNvSpPr txBox="1"/>
          <p:nvPr/>
        </p:nvSpPr>
        <p:spPr>
          <a:xfrm>
            <a:off x="1295400" y="66103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BatteryVoltage</a:t>
            </a:r>
          </a:p>
        </p:txBody>
      </p:sp>
      <p:sp>
        <p:nvSpPr>
          <p:cNvPr id="20" name="TextBox 19"/>
          <p:cNvSpPr txBox="1"/>
          <p:nvPr/>
        </p:nvSpPr>
        <p:spPr>
          <a:xfrm>
            <a:off x="8572500" y="66103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12.4</a:t>
            </a:r>
          </a:p>
        </p:txBody>
      </p:sp>
      <p:sp>
        <p:nvSpPr>
          <p:cNvPr id="21" name="TextBox 20"/>
          <p:cNvSpPr txBox="1"/>
          <p:nvPr/>
        </p:nvSpPr>
        <p:spPr>
          <a:xfrm>
            <a:off x="1295400" y="72199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GamePieceLoaded</a:t>
            </a:r>
          </a:p>
        </p:txBody>
      </p:sp>
      <p:sp>
        <p:nvSpPr>
          <p:cNvPr id="22" name="TextBox 21"/>
          <p:cNvSpPr txBox="1"/>
          <p:nvPr/>
        </p:nvSpPr>
        <p:spPr>
          <a:xfrm>
            <a:off x="8572500" y="7219950"/>
            <a:ext cx="6667500" cy="5334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true</a:t>
            </a:r>
          </a:p>
        </p:txBody>
      </p:sp>
      <p:sp>
        <p:nvSpPr>
          <p:cNvPr id="23" name="TextBox 22"/>
          <p:cNvSpPr txBox="1"/>
          <p:nvPr/>
        </p:nvSpPr>
        <p:spPr>
          <a:xfrm>
            <a:off x="1295400" y="78295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AutoRoutine</a:t>
            </a:r>
          </a:p>
        </p:txBody>
      </p:sp>
      <p:sp>
        <p:nvSpPr>
          <p:cNvPr id="24" name="TextBox 23"/>
          <p:cNvSpPr txBox="1"/>
          <p:nvPr/>
        </p:nvSpPr>
        <p:spPr>
          <a:xfrm>
            <a:off x="8572500" y="7829550"/>
            <a:ext cx="6667500" cy="533400"/>
          </a:xfrm>
          <a:prstGeom prst="rect">
            <a:avLst/>
          </a:prstGeom>
          <a:noFill/>
        </p:spPr>
        <p:txBody>
          <a:bodyPr wrap="square" lIns="0" rIns="0" tIns="0" bIns="0" anchor="ctr">
            <a:spAutoFit/>
          </a:bodyPr>
          <a:lstStyle/>
          <a:p>
            <a:pPr algn="l"/>
            <a:r>
              <a:rPr sz="2100" b="0" i="0">
                <a:solidFill>
                  <a:srgbClr val="9FD29A"/>
                </a:solidFill>
                <a:latin typeface="Geist Mono"/>
                <a:ea typeface="Geist Mono"/>
                <a:cs typeface="Geist Mono"/>
              </a:rPr>
              <a:t>"Left, shoot 2"</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Widgets match the data</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Boolean Box</a:t>
            </a:r>
          </a:p>
        </p:txBody>
      </p:sp>
      <p:sp>
        <p:nvSpPr>
          <p:cNvPr id="7" name="TextBox 6"/>
          <p:cNvSpPr txBox="1"/>
          <p:nvPr/>
        </p:nvSpPr>
        <p:spPr>
          <a:xfrm>
            <a:off x="12954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Game piece loaded?  ·  </a:t>
            </a:r>
            <a:r>
              <a:rPr sz="1800" b="0" i="0">
                <a:solidFill>
                  <a:srgbClr val="E0785F"/>
                </a:solidFill>
                <a:latin typeface="Geist Mono"/>
                <a:ea typeface="Geist Mono"/>
                <a:cs typeface="Geist Mono"/>
              </a:rPr>
              <a:t>true / false</a:t>
            </a:r>
          </a:p>
        </p:txBody>
      </p:sp>
      <p:sp>
        <p:nvSpPr>
          <p:cNvPr id="8" name="Rounded Rectangle 7"/>
          <p:cNvSpPr/>
          <p:nvPr/>
        </p:nvSpPr>
        <p:spPr>
          <a:xfrm>
            <a:off x="9144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Number Bar</a:t>
            </a:r>
          </a:p>
        </p:txBody>
      </p:sp>
      <p:sp>
        <p:nvSpPr>
          <p:cNvPr id="10" name="TextBox 9"/>
          <p:cNvSpPr txBox="1"/>
          <p:nvPr/>
        </p:nvSpPr>
        <p:spPr>
          <a:xfrm>
            <a:off x="12954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Climber speed  ·  </a:t>
            </a:r>
            <a:r>
              <a:rPr sz="1800" b="0" i="0">
                <a:solidFill>
                  <a:srgbClr val="E0785F"/>
                </a:solidFill>
                <a:latin typeface="Geist Mono"/>
                <a:ea typeface="Geist Mono"/>
                <a:cs typeface="Geist Mono"/>
              </a:rPr>
              <a:t>number in a range</a:t>
            </a:r>
          </a:p>
        </p:txBody>
      </p:sp>
      <p:sp>
        <p:nvSpPr>
          <p:cNvPr id="11" name="Rounded Rectangle 10"/>
          <p:cNvSpPr/>
          <p:nvPr/>
        </p:nvSpPr>
        <p:spPr>
          <a:xfrm>
            <a:off x="9144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Voltage View</a:t>
            </a:r>
          </a:p>
        </p:txBody>
      </p:sp>
      <p:sp>
        <p:nvSpPr>
          <p:cNvPr id="13" name="TextBox 12"/>
          <p:cNvSpPr txBox="1"/>
          <p:nvPr/>
        </p:nvSpPr>
        <p:spPr>
          <a:xfrm>
            <a:off x="12954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Battery voltage  ·  </a:t>
            </a:r>
            <a:r>
              <a:rPr sz="1800" b="0" i="0">
                <a:solidFill>
                  <a:srgbClr val="E0785F"/>
                </a:solidFill>
                <a:latin typeface="Geist Mono"/>
                <a:ea typeface="Geist Mono"/>
                <a:cs typeface="Geist Mono"/>
              </a:rPr>
              <a:t>number</a:t>
            </a:r>
          </a:p>
        </p:txBody>
      </p:sp>
      <p:sp>
        <p:nvSpPr>
          <p:cNvPr id="14" name="Rounded Rectangle 13"/>
          <p:cNvSpPr/>
          <p:nvPr/>
        </p:nvSpPr>
        <p:spPr>
          <a:xfrm>
            <a:off x="93345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Radial Gauge</a:t>
            </a:r>
          </a:p>
        </p:txBody>
      </p:sp>
      <p:sp>
        <p:nvSpPr>
          <p:cNvPr id="16" name="TextBox 15"/>
          <p:cNvSpPr txBox="1"/>
          <p:nvPr/>
        </p:nvSpPr>
        <p:spPr>
          <a:xfrm>
            <a:off x="97155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Gyro heading  ·  </a:t>
            </a:r>
            <a:r>
              <a:rPr sz="1800" b="0" i="0">
                <a:solidFill>
                  <a:srgbClr val="E0785F"/>
                </a:solidFill>
                <a:latin typeface="Geist Mono"/>
                <a:ea typeface="Geist Mono"/>
                <a:cs typeface="Geist Mono"/>
              </a:rPr>
              <a:t>number in degrees</a:t>
            </a:r>
          </a:p>
        </p:txBody>
      </p:sp>
      <p:sp>
        <p:nvSpPr>
          <p:cNvPr id="17" name="Rounded Rectangle 16"/>
          <p:cNvSpPr/>
          <p:nvPr/>
        </p:nvSpPr>
        <p:spPr>
          <a:xfrm>
            <a:off x="93345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155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Match Time</a:t>
            </a:r>
          </a:p>
        </p:txBody>
      </p:sp>
      <p:sp>
        <p:nvSpPr>
          <p:cNvPr id="19" name="TextBox 18"/>
          <p:cNvSpPr txBox="1"/>
          <p:nvPr/>
        </p:nvSpPr>
        <p:spPr>
          <a:xfrm>
            <a:off x="97155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Time left  ·  </a:t>
            </a:r>
            <a:r>
              <a:rPr sz="1800" b="0" i="0">
                <a:solidFill>
                  <a:srgbClr val="E0785F"/>
                </a:solidFill>
                <a:latin typeface="Geist Mono"/>
                <a:ea typeface="Geist Mono"/>
                <a:cs typeface="Geist Mono"/>
              </a:rPr>
              <a:t>number of seconds</a:t>
            </a:r>
          </a:p>
        </p:txBody>
      </p:sp>
      <p:sp>
        <p:nvSpPr>
          <p:cNvPr id="20" name="Rounded Rectangle 19"/>
          <p:cNvSpPr/>
          <p:nvPr/>
        </p:nvSpPr>
        <p:spPr>
          <a:xfrm>
            <a:off x="93345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55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Field</a:t>
            </a:r>
          </a:p>
        </p:txBody>
      </p:sp>
      <p:sp>
        <p:nvSpPr>
          <p:cNvPr id="22" name="TextBox 21"/>
          <p:cNvSpPr txBox="1"/>
          <p:nvPr/>
        </p:nvSpPr>
        <p:spPr>
          <a:xfrm>
            <a:off x="97155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pose  ·  </a:t>
            </a:r>
            <a:r>
              <a:rPr sz="1800" b="0" i="0">
                <a:solidFill>
                  <a:srgbClr val="E0785F"/>
                </a:solidFill>
                <a:latin typeface="Geist Mono"/>
                <a:ea typeface="Geist Mono"/>
                <a:cs typeface="Geist Mono"/>
              </a:rPr>
              <a:t>Pose2d</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Adding a widget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8039100" cy="397699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el_dialog_dragging.jpg"/>
          <p:cNvPicPr>
            <a:picLocks noChangeAspect="1"/>
          </p:cNvPicPr>
          <p:nvPr/>
        </p:nvPicPr>
        <p:blipFill>
          <a:blip r:embed="rId3"/>
          <a:stretch>
            <a:fillRect/>
          </a:stretch>
        </p:blipFill>
        <p:spPr>
          <a:xfrm>
            <a:off x="914400" y="2857500"/>
            <a:ext cx="8039100" cy="3976990"/>
          </a:xfrm>
          <a:prstGeom prst="rect">
            <a:avLst/>
          </a:prstGeom>
        </p:spPr>
      </p:pic>
      <p:sp>
        <p:nvSpPr>
          <p:cNvPr id="7" name="Rectangle 6"/>
          <p:cNvSpPr/>
          <p:nvPr/>
        </p:nvSpPr>
        <p:spPr>
          <a:xfrm>
            <a:off x="914400" y="2857500"/>
            <a:ext cx="8039100" cy="397699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44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524000" y="7105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Drag a topic in</a:t>
            </a:r>
          </a:p>
        </p:txBody>
      </p:sp>
      <p:sp>
        <p:nvSpPr>
          <p:cNvPr id="11" name="TextBox 10"/>
          <p:cNvSpPr txBox="1"/>
          <p:nvPr/>
        </p:nvSpPr>
        <p:spPr>
          <a:xfrm>
            <a:off x="1524000" y="7524750"/>
            <a:ext cx="7429500" cy="5715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 Add Widget, then drag a topic onto the grid</a:t>
            </a:r>
          </a:p>
        </p:txBody>
      </p:sp>
      <p:sp>
        <p:nvSpPr>
          <p:cNvPr id="12" name="Rectangle 11"/>
          <p:cNvSpPr/>
          <p:nvPr/>
        </p:nvSpPr>
        <p:spPr>
          <a:xfrm>
            <a:off x="9334500" y="2857500"/>
            <a:ext cx="8039100" cy="397699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shot_el_properties_menu.jpg"/>
          <p:cNvPicPr>
            <a:picLocks noChangeAspect="1"/>
          </p:cNvPicPr>
          <p:nvPr/>
        </p:nvPicPr>
        <p:blipFill>
          <a:blip r:embed="rId4"/>
          <a:stretch>
            <a:fillRect/>
          </a:stretch>
        </p:blipFill>
        <p:spPr>
          <a:xfrm>
            <a:off x="9334500" y="2857500"/>
            <a:ext cx="8039100" cy="3976990"/>
          </a:xfrm>
          <a:prstGeom prst="rect">
            <a:avLst/>
          </a:prstGeom>
        </p:spPr>
      </p:pic>
      <p:sp>
        <p:nvSpPr>
          <p:cNvPr id="14" name="Rectangle 13"/>
          <p:cNvSpPr/>
          <p:nvPr/>
        </p:nvSpPr>
        <p:spPr>
          <a:xfrm>
            <a:off x="9334500" y="2857500"/>
            <a:ext cx="8039100" cy="397699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33450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345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7" name="TextBox 16"/>
          <p:cNvSpPr txBox="1"/>
          <p:nvPr/>
        </p:nvSpPr>
        <p:spPr>
          <a:xfrm>
            <a:off x="9944100" y="7105650"/>
            <a:ext cx="742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Edit its properties</a:t>
            </a:r>
          </a:p>
        </p:txBody>
      </p:sp>
      <p:sp>
        <p:nvSpPr>
          <p:cNvPr id="18" name="TextBox 17"/>
          <p:cNvSpPr txBox="1"/>
          <p:nvPr/>
        </p:nvSpPr>
        <p:spPr>
          <a:xfrm>
            <a:off x="9944100" y="7524750"/>
            <a:ext cx="7429500" cy="5715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Right-click &gt; Edit Properties: type, title, range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Showing values, and sending them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Show</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 driver</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Display, Number Bar</a:t>
            </a:r>
          </a:p>
        </p:txBody>
      </p:sp>
      <p:sp>
        <p:nvSpPr>
          <p:cNvPr id="9" name="TextBox 8"/>
          <p:cNvSpPr txBox="1"/>
          <p:nvPr/>
        </p:nvSpPr>
        <p:spPr>
          <a:xfrm>
            <a:off x="13716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Voltage View, Radial Gauge</a:t>
            </a:r>
          </a:p>
        </p:txBody>
      </p:sp>
      <p:sp>
        <p:nvSpPr>
          <p:cNvPr id="10" name="TextBox 9"/>
          <p:cNvSpPr txBox="1"/>
          <p:nvPr/>
        </p:nvSpPr>
        <p:spPr>
          <a:xfrm>
            <a:off x="13716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 Match Time, Boolean Box</a:t>
            </a:r>
          </a:p>
        </p:txBody>
      </p:sp>
      <p:sp>
        <p:nvSpPr>
          <p:cNvPr id="11" name="Rounded Rectangle 10"/>
          <p:cNvSpPr/>
          <p:nvPr/>
        </p:nvSpPr>
        <p:spPr>
          <a:xfrm>
            <a:off x="9334500" y="2857500"/>
            <a:ext cx="8039100" cy="4381500"/>
          </a:xfrm>
          <a:prstGeom prst="roundRect">
            <a:avLst>
              <a:gd name="adj" fmla="val 347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Send</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Driver → robot</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Number Slider, Toggle Button</a:t>
            </a:r>
          </a:p>
        </p:txBody>
      </p:sp>
      <p:sp>
        <p:nvSpPr>
          <p:cNvPr id="15" name="TextBox 14"/>
          <p:cNvSpPr txBox="1"/>
          <p:nvPr/>
        </p:nvSpPr>
        <p:spPr>
          <a:xfrm>
            <a:off x="97917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Choosers: pick the auto routine</a:t>
            </a:r>
          </a:p>
        </p:txBody>
      </p:sp>
      <p:sp>
        <p:nvSpPr>
          <p:cNvPr id="16" name="TextBox 15"/>
          <p:cNvSpPr txBox="1"/>
          <p:nvPr/>
        </p:nvSpPr>
        <p:spPr>
          <a:xfrm>
            <a:off x="97917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with a Submit button</a:t>
            </a:r>
          </a:p>
        </p:txBody>
      </p:sp>
      <p:sp>
        <p:nvSpPr>
          <p:cNvPr id="17" name="Rounded Rectangle 1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Tabs and layouts:  </a:t>
            </a:r>
            <a:r>
              <a:rPr sz="2100" b="0" i="0">
                <a:solidFill>
                  <a:srgbClr val="F0E8E8"/>
                </a:solidFill>
                <a:latin typeface="Geist"/>
                <a:ea typeface="Geist"/>
                <a:cs typeface="Geist"/>
              </a:rPr>
              <a:t>a few tabs for competition, the rest for debugging. Use File &gt; Save.</a:t>
            </a:r>
          </a:p>
        </p:txBody>
      </p:sp>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Choreo</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Planning paths for autonomous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Nobody drives me in auto. I just follow the plan!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autonomous?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start of every match</a:t>
            </a:r>
          </a:p>
        </p:txBody>
      </p:sp>
      <p:sp>
        <p:nvSpPr>
          <p:cNvPr id="6" name="TextBox 5"/>
          <p:cNvSpPr txBox="1"/>
          <p:nvPr/>
        </p:nvSpPr>
        <p:spPr>
          <a:xfrm>
            <a:off x="914400" y="35147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No driver: the robot follows a plan</a:t>
            </a:r>
          </a:p>
        </p:txBody>
      </p:sp>
      <p:sp>
        <p:nvSpPr>
          <p:cNvPr id="7" name="TextBox 6"/>
          <p:cNvSpPr txBox="1"/>
          <p:nvPr/>
        </p:nvSpPr>
        <p:spPr>
          <a:xfrm>
            <a:off x="914400" y="41719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Points scored here often decide matches</a:t>
            </a:r>
          </a:p>
        </p:txBody>
      </p:sp>
      <p:sp>
        <p:nvSpPr>
          <p:cNvPr id="8" name="TextBox 7"/>
          <p:cNvSpPr txBox="1"/>
          <p:nvPr/>
        </p:nvSpPr>
        <p:spPr>
          <a:xfrm>
            <a:off x="914400" y="48291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Choreo makes the plan: a trajectory</a:t>
            </a:r>
          </a:p>
        </p:txBody>
      </p:sp>
      <p:sp>
        <p:nvSpPr>
          <p:cNvPr id="9" name="Rectangle 8"/>
          <p:cNvSpPr/>
          <p:nvPr/>
        </p:nvSpPr>
        <p:spPr>
          <a:xfrm>
            <a:off x="9144000" y="2857500"/>
            <a:ext cx="8103949" cy="57150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oreo.png"/>
          <p:cNvPicPr>
            <a:picLocks noChangeAspect="1"/>
          </p:cNvPicPr>
          <p:nvPr/>
        </p:nvPicPr>
        <p:blipFill>
          <a:blip r:embed="rId3"/>
          <a:stretch>
            <a:fillRect/>
          </a:stretch>
        </p:blipFill>
        <p:spPr>
          <a:xfrm>
            <a:off x="9144000" y="2857500"/>
            <a:ext cx="8103949" cy="5715000"/>
          </a:xfrm>
          <a:prstGeom prst="rect">
            <a:avLst/>
          </a:prstGeom>
        </p:spPr>
      </p:pic>
      <p:sp>
        <p:nvSpPr>
          <p:cNvPr id="11" name="Rectangle 10"/>
          <p:cNvSpPr/>
          <p:nvPr/>
        </p:nvSpPr>
        <p:spPr>
          <a:xfrm>
            <a:off x="9144000" y="2857500"/>
            <a:ext cx="8103949" cy="57150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Path vs trajectory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in-map.png"/>
          <p:cNvPicPr>
            <a:picLocks noChangeAspect="1"/>
          </p:cNvPicPr>
          <p:nvPr/>
        </p:nvPicPr>
        <p:blipFill>
          <a:blip r:embed="rId3"/>
          <a:stretch>
            <a:fillRect/>
          </a:stretch>
        </p:blipFill>
        <p:spPr>
          <a:xfrm>
            <a:off x="1295400" y="3238500"/>
            <a:ext cx="685800" cy="685800"/>
          </a:xfrm>
          <a:prstGeom prst="rect">
            <a:avLst/>
          </a:prstGeom>
        </p:spPr>
      </p:pic>
      <p:sp>
        <p:nvSpPr>
          <p:cNvPr id="7" name="TextBox 6"/>
          <p:cNvSpPr txBox="1"/>
          <p:nvPr/>
        </p:nvSpPr>
        <p:spPr>
          <a:xfrm>
            <a:off x="1295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Path</a:t>
            </a:r>
          </a:p>
        </p:txBody>
      </p:sp>
      <p:sp>
        <p:nvSpPr>
          <p:cNvPr id="8" name="TextBox 7"/>
          <p:cNvSpPr txBox="1"/>
          <p:nvPr/>
        </p:nvSpPr>
        <p:spPr>
          <a:xfrm>
            <a:off x="1295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the points the robot drives through.</a:t>
            </a:r>
          </a:p>
        </p:txBody>
      </p:sp>
      <p:sp>
        <p:nvSpPr>
          <p:cNvPr id="9" name="Rounded Rectangle 8"/>
          <p:cNvSpPr/>
          <p:nvPr/>
        </p:nvSpPr>
        <p:spPr>
          <a:xfrm>
            <a:off x="9296400" y="2857500"/>
            <a:ext cx="8077200" cy="4000500"/>
          </a:xfrm>
          <a:prstGeom prst="roundRect">
            <a:avLst>
              <a:gd name="adj" fmla="val 380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pwatch.png"/>
          <p:cNvPicPr>
            <a:picLocks noChangeAspect="1"/>
          </p:cNvPicPr>
          <p:nvPr/>
        </p:nvPicPr>
        <p:blipFill>
          <a:blip r:embed="rId4"/>
          <a:stretch>
            <a:fillRect/>
          </a:stretch>
        </p:blipFill>
        <p:spPr>
          <a:xfrm>
            <a:off x="9677400" y="3238500"/>
            <a:ext cx="619432" cy="685800"/>
          </a:xfrm>
          <a:prstGeom prst="rect">
            <a:avLst/>
          </a:prstGeom>
        </p:spPr>
      </p:pic>
      <p:sp>
        <p:nvSpPr>
          <p:cNvPr id="11" name="TextBox 10"/>
          <p:cNvSpPr txBox="1"/>
          <p:nvPr/>
        </p:nvSpPr>
        <p:spPr>
          <a:xfrm>
            <a:off x="9677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Trajectory</a:t>
            </a:r>
          </a:p>
        </p:txBody>
      </p:sp>
      <p:sp>
        <p:nvSpPr>
          <p:cNvPr id="12" name="TextBox 11"/>
          <p:cNvSpPr txBox="1"/>
          <p:nvPr/>
        </p:nvSpPr>
        <p:spPr>
          <a:xfrm>
            <a:off x="9677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plus timing: position, heading and speed at every moment.</a:t>
            </a:r>
          </a:p>
        </p:txBody>
      </p:sp>
      <p:sp>
        <p:nvSpPr>
          <p:cNvPr id="13" name="Rounded Rectangle 12"/>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png"/>
          <p:cNvPicPr>
            <a:picLocks noChangeAspect="1"/>
          </p:cNvPicPr>
          <p:nvPr/>
        </p:nvPicPr>
        <p:blipFill>
          <a:blip r:embed="rId5"/>
          <a:stretch>
            <a:fillRect/>
          </a:stretch>
        </p:blipFill>
        <p:spPr>
          <a:xfrm>
            <a:off x="1333500" y="7686675"/>
            <a:ext cx="568960" cy="533400"/>
          </a:xfrm>
          <a:prstGeom prst="rect">
            <a:avLst/>
          </a:prstGeom>
        </p:spPr>
      </p:pic>
      <p:sp>
        <p:nvSpPr>
          <p:cNvPr id="15" name="TextBox 14"/>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Robot code  </a:t>
            </a:r>
            <a:r>
              <a:rPr sz="2100" b="0" i="0">
                <a:solidFill>
                  <a:srgbClr val="F0E8E8"/>
                </a:solidFill>
                <a:latin typeface="Geist"/>
                <a:ea typeface="Geist"/>
                <a:cs typeface="Geist"/>
              </a:rPr>
              <a:t>follows the trajectory, checking every loop where it should be right now.</a:t>
            </a:r>
          </a:p>
        </p:txBody>
      </p:sp>
      <p:sp>
        <p:nvSpPr>
          <p:cNvPr id="16" name="TextBox 1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7" name="TextBox 1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Waypoints and constraints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8374081" cy="5905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ch_keep-out-constraints.jpg"/>
          <p:cNvPicPr>
            <a:picLocks noChangeAspect="1"/>
          </p:cNvPicPr>
          <p:nvPr/>
        </p:nvPicPr>
        <p:blipFill>
          <a:blip r:embed="rId3"/>
          <a:stretch>
            <a:fillRect/>
          </a:stretch>
        </p:blipFill>
        <p:spPr>
          <a:xfrm>
            <a:off x="914400" y="2857500"/>
            <a:ext cx="8374081" cy="5905500"/>
          </a:xfrm>
          <a:prstGeom prst="rect">
            <a:avLst/>
          </a:prstGeom>
        </p:spPr>
      </p:pic>
      <p:sp>
        <p:nvSpPr>
          <p:cNvPr id="7" name="Rectangle 6"/>
          <p:cNvSpPr/>
          <p:nvPr/>
        </p:nvSpPr>
        <p:spPr>
          <a:xfrm>
            <a:off x="914400" y="2857500"/>
            <a:ext cx="8374081" cy="5905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9867900" y="2857500"/>
            <a:ext cx="75057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210800" y="3048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Pose waypoint</a:t>
            </a:r>
          </a:p>
        </p:txBody>
      </p:sp>
      <p:sp>
        <p:nvSpPr>
          <p:cNvPr id="10" name="TextBox 9"/>
          <p:cNvSpPr txBox="1"/>
          <p:nvPr/>
        </p:nvSpPr>
        <p:spPr>
          <a:xfrm>
            <a:off x="10210800" y="3524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Pins position and heading. Use for start and end.</a:t>
            </a:r>
          </a:p>
        </p:txBody>
      </p:sp>
      <p:sp>
        <p:nvSpPr>
          <p:cNvPr id="11" name="Rounded Rectangle 10"/>
          <p:cNvSpPr/>
          <p:nvPr/>
        </p:nvSpPr>
        <p:spPr>
          <a:xfrm>
            <a:off x="9867900" y="4381500"/>
            <a:ext cx="75057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210800" y="4572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Translation waypoint</a:t>
            </a:r>
          </a:p>
        </p:txBody>
      </p:sp>
      <p:sp>
        <p:nvSpPr>
          <p:cNvPr id="13" name="TextBox 12"/>
          <p:cNvSpPr txBox="1"/>
          <p:nvPr/>
        </p:nvSpPr>
        <p:spPr>
          <a:xfrm>
            <a:off x="10210800" y="5048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Pins only position. Choreo picks the heading.</a:t>
            </a:r>
          </a:p>
        </p:txBody>
      </p:sp>
      <p:sp>
        <p:nvSpPr>
          <p:cNvPr id="14" name="Rounded Rectangle 13"/>
          <p:cNvSpPr/>
          <p:nvPr/>
        </p:nvSpPr>
        <p:spPr>
          <a:xfrm>
            <a:off x="9867900" y="5905500"/>
            <a:ext cx="7505700" cy="1333500"/>
          </a:xfrm>
          <a:prstGeom prst="roundRect">
            <a:avLst>
              <a:gd name="adj" fmla="val 1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210800" y="6096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Constraint</a:t>
            </a:r>
          </a:p>
        </p:txBody>
      </p:sp>
      <p:sp>
        <p:nvSpPr>
          <p:cNvPr id="16" name="TextBox 15"/>
          <p:cNvSpPr txBox="1"/>
          <p:nvPr/>
        </p:nvSpPr>
        <p:spPr>
          <a:xfrm>
            <a:off x="10210800" y="6572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A rule the path obeys, like Max Velocity in one zone.</a:t>
            </a:r>
          </a:p>
        </p:txBody>
      </p:sp>
      <p:sp>
        <p:nvSpPr>
          <p:cNvPr id="17" name="Rounded Rectangle 16"/>
          <p:cNvSpPr/>
          <p:nvPr/>
        </p:nvSpPr>
        <p:spPr>
          <a:xfrm>
            <a:off x="9867900" y="7429500"/>
            <a:ext cx="7505700" cy="1333500"/>
          </a:xfrm>
          <a:prstGeom prst="roundRect">
            <a:avLst>
              <a:gd name="adj" fmla="val 1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10800" y="7620000"/>
            <a:ext cx="6858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Starter rule</a:t>
            </a:r>
          </a:p>
        </p:txBody>
      </p:sp>
      <p:sp>
        <p:nvSpPr>
          <p:cNvPr id="19" name="TextBox 18"/>
          <p:cNvSpPr txBox="1"/>
          <p:nvPr/>
        </p:nvSpPr>
        <p:spPr>
          <a:xfrm>
            <a:off x="10210800" y="8096250"/>
            <a:ext cx="6858000" cy="571500"/>
          </a:xfrm>
          <a:prstGeom prst="rect">
            <a:avLst/>
          </a:prstGeom>
          <a:noFill/>
        </p:spPr>
        <p:txBody>
          <a:bodyPr wrap="square" lIns="0" rIns="0" tIns="0" bIns="0" anchor="t">
            <a:spAutoFit/>
          </a:bodyPr>
          <a:lstStyle/>
          <a:p>
            <a:pPr algn="l"/>
            <a:r>
              <a:rPr sz="1725" b="0" i="0">
                <a:solidFill>
                  <a:srgbClr val="9A7878"/>
                </a:solidFill>
                <a:latin typeface="Geist"/>
                <a:ea typeface="Geist"/>
                <a:cs typeface="Geist"/>
              </a:rPr>
              <a:t>Every path begins with Stop at the start and end.</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Generate: solving for the fastest path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Waypoints</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Where to go</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Constraints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Rules to obey</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Generate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Solve with real limits</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.traj file</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robot follows it</a:t>
            </a:r>
          </a:p>
        </p:txBody>
      </p:sp>
      <p:sp>
        <p:nvSpPr>
          <p:cNvPr id="20" name="Rounded Rectangle 19"/>
          <p:cNvSpPr/>
          <p:nvPr/>
        </p:nvSpPr>
        <p:spPr>
          <a:xfrm>
            <a:off x="914400" y="5715000"/>
            <a:ext cx="16459200" cy="1238250"/>
          </a:xfrm>
          <a:prstGeom prst="roundRect">
            <a:avLst>
              <a:gd name="adj" fmla="val 1230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xclamation-circle.png"/>
          <p:cNvPicPr>
            <a:picLocks noChangeAspect="1"/>
          </p:cNvPicPr>
          <p:nvPr/>
        </p:nvPicPr>
        <p:blipFill>
          <a:blip r:embed="rId3"/>
          <a:stretch>
            <a:fillRect/>
          </a:stretch>
        </p:blipFill>
        <p:spPr>
          <a:xfrm>
            <a:off x="1333500" y="6067425"/>
            <a:ext cx="533400" cy="533400"/>
          </a:xfrm>
          <a:prstGeom prst="rect">
            <a:avLst/>
          </a:prstGeom>
        </p:spPr>
      </p:pic>
      <p:sp>
        <p:nvSpPr>
          <p:cNvPr id="22" name="TextBox 21"/>
          <p:cNvSpPr txBox="1"/>
          <p:nvPr/>
        </p:nvSpPr>
        <p:spPr>
          <a:xfrm>
            <a:off x="2190750" y="5715000"/>
            <a:ext cx="14801850" cy="1238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Won't generate?  </a:t>
            </a:r>
            <a:r>
              <a:rPr sz="2100" b="0" i="0">
                <a:solidFill>
                  <a:srgbClr val="F0E8E8"/>
                </a:solidFill>
                <a:latin typeface="Geist"/>
                <a:ea typeface="Geist"/>
                <a:cs typeface="Geist"/>
              </a:rPr>
              <a:t>A rule the robot can't meet leaves it unsolved. Change the numbers or untick the constraint.</a:t>
            </a:r>
          </a:p>
        </p:txBody>
      </p:sp>
      <p:pic>
        <p:nvPicPr>
          <p:cNvPr id="23" name="Picture 22" descr="dozer_wide_left.png"/>
          <p:cNvPicPr>
            <a:picLocks noChangeAspect="1"/>
          </p:cNvPicPr>
          <p:nvPr/>
        </p:nvPicPr>
        <p:blipFill>
          <a:blip r:embed="rId4"/>
          <a:stretch>
            <a:fillRect/>
          </a:stretch>
        </p:blipFill>
        <p:spPr>
          <a:xfrm>
            <a:off x="15240000" y="7239000"/>
            <a:ext cx="1905000" cy="1170896"/>
          </a:xfrm>
          <a:prstGeom prst="rect">
            <a:avLst/>
          </a:prstGeom>
        </p:spPr>
      </p:pic>
      <p:sp>
        <p:nvSpPr>
          <p:cNvPr id="24" name="TextBox 23"/>
          <p:cNvSpPr txBox="1"/>
          <p:nvPr/>
        </p:nvSpPr>
        <p:spPr>
          <a:xfrm>
            <a:off x="914400" y="74295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You'll make robots follow these in the Autonomous lesson.</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a generated path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10096500" cy="5844092"/>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ch_path_gradient_velocity.jpg"/>
          <p:cNvPicPr>
            <a:picLocks noChangeAspect="1"/>
          </p:cNvPicPr>
          <p:nvPr/>
        </p:nvPicPr>
        <p:blipFill>
          <a:blip r:embed="rId3"/>
          <a:stretch>
            <a:fillRect/>
          </a:stretch>
        </p:blipFill>
        <p:spPr>
          <a:xfrm>
            <a:off x="914400" y="2857500"/>
            <a:ext cx="10096500" cy="5844092"/>
          </a:xfrm>
          <a:prstGeom prst="rect">
            <a:avLst/>
          </a:prstGeom>
        </p:spPr>
      </p:pic>
      <p:sp>
        <p:nvSpPr>
          <p:cNvPr id="7" name="Rectangle 6"/>
          <p:cNvSpPr/>
          <p:nvPr/>
        </p:nvSpPr>
        <p:spPr>
          <a:xfrm>
            <a:off x="914400" y="2857500"/>
            <a:ext cx="10096500" cy="5844092"/>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776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TextBox 9"/>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Color = speed</a:t>
            </a:r>
          </a:p>
        </p:txBody>
      </p:sp>
      <p:sp>
        <p:nvSpPr>
          <p:cNvPr id="11" name="TextBox 10"/>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See where the robot slows for a turn</a:t>
            </a:r>
          </a:p>
        </p:txBody>
      </p:sp>
      <p:sp>
        <p:nvSpPr>
          <p:cNvPr id="12" name="Oval 11"/>
          <p:cNvSpPr/>
          <p:nvPr/>
        </p:nvSpPr>
        <p:spPr>
          <a:xfrm>
            <a:off x="116776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TextBox 13"/>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Timeline</a:t>
            </a:r>
          </a:p>
        </p:txBody>
      </p:sp>
      <p:sp>
        <p:nvSpPr>
          <p:cNvPr id="15" name="TextBox 14"/>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Press play or drag to watch it drive</a:t>
            </a:r>
          </a:p>
        </p:txBody>
      </p:sp>
      <p:sp>
        <p:nvSpPr>
          <p:cNvPr id="16" name="Oval 15"/>
          <p:cNvSpPr/>
          <p:nvPr/>
        </p:nvSpPr>
        <p:spPr>
          <a:xfrm>
            <a:off x="116776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.traj file</a:t>
            </a:r>
          </a:p>
        </p:txBody>
      </p:sp>
      <p:sp>
        <p:nvSpPr>
          <p:cNvPr id="19" name="TextBox 18"/>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the robot code loads in auto</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06</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Arbor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Building autonomous routines as behavior trees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An auto is a tree of steps. I climb it one tick at a time!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Arbor?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editor for our autonomous routines</a:t>
            </a:r>
          </a:p>
        </p:txBody>
      </p:sp>
      <p:sp>
        <p:nvSpPr>
          <p:cNvPr id="6" name="TextBox 5"/>
          <p:cNvSpPr txBox="1"/>
          <p:nvPr/>
        </p:nvSpPr>
        <p:spPr>
          <a:xfrm>
            <a:off x="914400" y="3514725"/>
            <a:ext cx="8572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An auto is a behavior tree: steps the robot works through</a:t>
            </a:r>
          </a:p>
        </p:txBody>
      </p:sp>
      <p:sp>
        <p:nvSpPr>
          <p:cNvPr id="7" name="TextBox 6"/>
          <p:cNvSpPr txBox="1"/>
          <p:nvPr/>
        </p:nvSpPr>
        <p:spPr>
          <a:xfrm>
            <a:off x="914400" y="4171950"/>
            <a:ext cx="8572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Saved as an XML file the robot runs</a:t>
            </a:r>
          </a:p>
        </p:txBody>
      </p:sp>
      <p:sp>
        <p:nvSpPr>
          <p:cNvPr id="8" name="TextBox 7"/>
          <p:cNvSpPr txBox="1"/>
          <p:nvPr/>
        </p:nvSpPr>
        <p:spPr>
          <a:xfrm>
            <a:off x="914400" y="4829175"/>
            <a:ext cx="8572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Watch it run live, and replay a run afterwards</a:t>
            </a:r>
          </a:p>
        </p:txBody>
      </p:sp>
      <p:sp>
        <p:nvSpPr>
          <p:cNvPr id="9" name="Rounded Rectangle 8"/>
          <p:cNvSpPr/>
          <p:nvPr/>
        </p:nvSpPr>
        <p:spPr>
          <a:xfrm>
            <a:off x="10287000" y="2857500"/>
            <a:ext cx="70866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rbor-logo.png"/>
          <p:cNvPicPr>
            <a:picLocks noChangeAspect="1"/>
          </p:cNvPicPr>
          <p:nvPr/>
        </p:nvPicPr>
        <p:blipFill>
          <a:blip r:embed="rId3"/>
          <a:stretch>
            <a:fillRect/>
          </a:stretch>
        </p:blipFill>
        <p:spPr>
          <a:xfrm>
            <a:off x="12782550" y="3238500"/>
            <a:ext cx="2117912" cy="2095500"/>
          </a:xfrm>
          <a:prstGeom prst="rect">
            <a:avLst/>
          </a:prstGeom>
        </p:spPr>
      </p:pic>
      <p:pic>
        <p:nvPicPr>
          <p:cNvPr id="11" name="Picture 10" descr="arbor-wordmark.png"/>
          <p:cNvPicPr>
            <a:picLocks noChangeAspect="1"/>
          </p:cNvPicPr>
          <p:nvPr/>
        </p:nvPicPr>
        <p:blipFill>
          <a:blip r:embed="rId4"/>
          <a:stretch>
            <a:fillRect/>
          </a:stretch>
        </p:blipFill>
        <p:spPr>
          <a:xfrm>
            <a:off x="12211050" y="5619750"/>
            <a:ext cx="3238500" cy="596665"/>
          </a:xfrm>
          <a:prstGeom prst="rect">
            <a:avLst/>
          </a:prstGeom>
        </p:spPr>
      </p:pic>
      <p:sp>
        <p:nvSpPr>
          <p:cNvPr id="12" name="Rounded Rectangle 11"/>
          <p:cNvSpPr/>
          <p:nvPr/>
        </p:nvSpPr>
        <p:spPr>
          <a:xfrm>
            <a:off x="914400" y="7429500"/>
            <a:ext cx="4978400" cy="1333500"/>
          </a:xfrm>
          <a:prstGeom prst="roundRect">
            <a:avLst>
              <a:gd name="adj" fmla="val 1142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76200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Choreo</a:t>
            </a:r>
          </a:p>
        </p:txBody>
      </p:sp>
      <p:sp>
        <p:nvSpPr>
          <p:cNvPr id="14" name="TextBox 13"/>
          <p:cNvSpPr txBox="1"/>
          <p:nvPr/>
        </p:nvSpPr>
        <p:spPr>
          <a:xfrm>
            <a:off x="1066800" y="82105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Draws the paths</a:t>
            </a:r>
          </a:p>
        </p:txBody>
      </p:sp>
      <p:cxnSp>
        <p:nvCxnSpPr>
          <p:cNvPr id="15" name="Connector 14"/>
          <p:cNvCxnSpPr/>
          <p:nvPr/>
        </p:nvCxnSpPr>
        <p:spPr>
          <a:xfrm>
            <a:off x="5969000" y="80962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654800" y="7429500"/>
            <a:ext cx="4978400" cy="1333500"/>
          </a:xfrm>
          <a:prstGeom prst="roundRect">
            <a:avLst>
              <a:gd name="adj" fmla="val 1142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50050" y="76200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Arbor</a:t>
            </a:r>
          </a:p>
        </p:txBody>
      </p:sp>
      <p:sp>
        <p:nvSpPr>
          <p:cNvPr id="18" name="TextBox 17"/>
          <p:cNvSpPr txBox="1"/>
          <p:nvPr/>
        </p:nvSpPr>
        <p:spPr>
          <a:xfrm>
            <a:off x="6807200" y="82105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Builds the routine</a:t>
            </a:r>
          </a:p>
        </p:txBody>
      </p:sp>
      <p:cxnSp>
        <p:nvCxnSpPr>
          <p:cNvPr id="19" name="Connector 18"/>
          <p:cNvCxnSpPr/>
          <p:nvPr/>
        </p:nvCxnSpPr>
        <p:spPr>
          <a:xfrm>
            <a:off x="11709400" y="80962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2395200" y="7429500"/>
            <a:ext cx="4978400" cy="1333500"/>
          </a:xfrm>
          <a:prstGeom prst="roundRect">
            <a:avLst>
              <a:gd name="adj" fmla="val 1142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490450" y="76200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a:t>
            </a:r>
          </a:p>
        </p:txBody>
      </p:sp>
      <p:sp>
        <p:nvSpPr>
          <p:cNvPr id="22" name="TextBox 21"/>
          <p:cNvSpPr txBox="1"/>
          <p:nvPr/>
        </p:nvSpPr>
        <p:spPr>
          <a:xfrm>
            <a:off x="12547600" y="82105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Runs the XML file</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An auto is a tree of steps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5574506" y="7524750"/>
            <a:ext cx="38100" cy="40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74506" y="7896225"/>
            <a:ext cx="38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574506" y="7896225"/>
            <a:ext cx="38100" cy="40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134225" y="5715000"/>
            <a:ext cx="38100" cy="40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574506" y="6086475"/>
            <a:ext cx="3157538"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574506" y="6086475"/>
            <a:ext cx="38100" cy="40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693944" y="6086475"/>
            <a:ext cx="38100" cy="40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134225" y="3905250"/>
            <a:ext cx="38100" cy="40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455069" y="4276725"/>
            <a:ext cx="9396412"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455069" y="4276725"/>
            <a:ext cx="38100" cy="40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134225" y="4276725"/>
            <a:ext cx="38100" cy="40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813381" y="4276725"/>
            <a:ext cx="38100" cy="409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1028700" y="4667250"/>
            <a:ext cx="2890838" cy="1066800"/>
          </a:xfrm>
          <a:prstGeom prst="roundRect">
            <a:avLst>
              <a:gd name="adj" fmla="val 10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1066800" y="4762500"/>
            <a:ext cx="66675" cy="8763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57300" y="4781550"/>
            <a:ext cx="2547938" cy="347186"/>
          </a:xfrm>
          <a:prstGeom prst="rect">
            <a:avLst/>
          </a:prstGeom>
          <a:noFill/>
        </p:spPr>
        <p:txBody>
          <a:bodyPr wrap="square" lIns="0" rIns="0" tIns="0" bIns="0" anchor="t">
            <a:spAutoFit/>
          </a:bodyPr>
          <a:lstStyle/>
          <a:p>
            <a:pPr algn="l"/>
            <a:r>
              <a:rPr sz="2025" b="1" i="0">
                <a:solidFill>
                  <a:srgbClr val="2DD4BF"/>
                </a:solidFill>
                <a:latin typeface="Geist"/>
                <a:ea typeface="Geist"/>
                <a:cs typeface="Geist"/>
              </a:rPr>
              <a:t>▶  </a:t>
            </a:r>
            <a:r>
              <a:rPr sz="2025" b="1" i="0">
                <a:solidFill>
                  <a:srgbClr val="F0E8E8"/>
                </a:solidFill>
                <a:latin typeface="Geist"/>
                <a:ea typeface="Geist"/>
                <a:cs typeface="Geist"/>
              </a:rPr>
              <a:t>FollowPath</a:t>
            </a:r>
          </a:p>
        </p:txBody>
      </p:sp>
      <p:sp>
        <p:nvSpPr>
          <p:cNvPr id="20" name="TextBox 19"/>
          <p:cNvSpPr txBox="1"/>
          <p:nvPr/>
        </p:nvSpPr>
        <p:spPr>
          <a:xfrm>
            <a:off x="1257300" y="5147786"/>
            <a:ext cx="2547938" cy="308610"/>
          </a:xfrm>
          <a:prstGeom prst="rect">
            <a:avLst/>
          </a:prstGeom>
          <a:noFill/>
        </p:spPr>
        <p:txBody>
          <a:bodyPr wrap="square" lIns="0" rIns="0" tIns="0" bIns="0" anchor="t">
            <a:spAutoFit/>
          </a:bodyPr>
          <a:lstStyle/>
          <a:p>
            <a:pPr algn="l"/>
            <a:r>
              <a:rPr sz="1579" b="0" i="0">
                <a:solidFill>
                  <a:srgbClr val="E8C27A"/>
                </a:solidFill>
                <a:latin typeface="Geist Mono"/>
                <a:ea typeface="Geist Mono"/>
                <a:cs typeface="Geist Mono"/>
              </a:rPr>
              <a:t>ToPickup</a:t>
            </a:r>
          </a:p>
        </p:txBody>
      </p:sp>
      <p:sp>
        <p:nvSpPr>
          <p:cNvPr id="21" name="Rounded Rectangle 20"/>
          <p:cNvSpPr/>
          <p:nvPr/>
        </p:nvSpPr>
        <p:spPr>
          <a:xfrm>
            <a:off x="4148138" y="8286750"/>
            <a:ext cx="2890838" cy="1066800"/>
          </a:xfrm>
          <a:prstGeom prst="roundRect">
            <a:avLst>
              <a:gd name="adj" fmla="val 10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4186238" y="8382000"/>
            <a:ext cx="66675" cy="8763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376738" y="8401050"/>
            <a:ext cx="2547938" cy="347186"/>
          </a:xfrm>
          <a:prstGeom prst="rect">
            <a:avLst/>
          </a:prstGeom>
          <a:noFill/>
        </p:spPr>
        <p:txBody>
          <a:bodyPr wrap="square" lIns="0" rIns="0" tIns="0" bIns="0" anchor="t">
            <a:spAutoFit/>
          </a:bodyPr>
          <a:lstStyle/>
          <a:p>
            <a:pPr algn="l"/>
            <a:r>
              <a:rPr sz="2025" b="1" i="0">
                <a:solidFill>
                  <a:srgbClr val="2DD4BF"/>
                </a:solidFill>
                <a:latin typeface="Geist"/>
                <a:ea typeface="Geist"/>
                <a:cs typeface="Geist"/>
              </a:rPr>
              <a:t>▶  </a:t>
            </a:r>
            <a:r>
              <a:rPr sz="2025" b="1" i="0">
                <a:solidFill>
                  <a:srgbClr val="F0E8E8"/>
                </a:solidFill>
                <a:latin typeface="Geist"/>
                <a:ea typeface="Geist"/>
                <a:cs typeface="Geist"/>
              </a:rPr>
              <a:t>SetWantedState</a:t>
            </a:r>
          </a:p>
        </p:txBody>
      </p:sp>
      <p:sp>
        <p:nvSpPr>
          <p:cNvPr id="24" name="TextBox 23"/>
          <p:cNvSpPr txBox="1"/>
          <p:nvPr/>
        </p:nvSpPr>
        <p:spPr>
          <a:xfrm>
            <a:off x="4376738" y="8767286"/>
            <a:ext cx="2547938" cy="308610"/>
          </a:xfrm>
          <a:prstGeom prst="rect">
            <a:avLst/>
          </a:prstGeom>
          <a:noFill/>
        </p:spPr>
        <p:txBody>
          <a:bodyPr wrap="square" lIns="0" rIns="0" tIns="0" bIns="0" anchor="t">
            <a:spAutoFit/>
          </a:bodyPr>
          <a:lstStyle/>
          <a:p>
            <a:pPr algn="l"/>
            <a:r>
              <a:rPr sz="1579" b="0" i="0">
                <a:solidFill>
                  <a:srgbClr val="E8C27A"/>
                </a:solidFill>
                <a:latin typeface="Geist Mono"/>
                <a:ea typeface="Geist Mono"/>
                <a:cs typeface="Geist Mono"/>
              </a:rPr>
              <a:t>AIM</a:t>
            </a:r>
          </a:p>
        </p:txBody>
      </p:sp>
      <p:sp>
        <p:nvSpPr>
          <p:cNvPr id="25" name="Rounded Rectangle 24"/>
          <p:cNvSpPr/>
          <p:nvPr/>
        </p:nvSpPr>
        <p:spPr>
          <a:xfrm>
            <a:off x="4069556" y="6477000"/>
            <a:ext cx="3048000" cy="1066800"/>
          </a:xfrm>
          <a:prstGeom prst="roundRect">
            <a:avLst>
              <a:gd name="adj" fmla="val 10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4107656" y="6572250"/>
            <a:ext cx="66675" cy="8763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98156" y="6591300"/>
            <a:ext cx="2705100" cy="347186"/>
          </a:xfrm>
          <a:prstGeom prst="rect">
            <a:avLst/>
          </a:prstGeom>
          <a:noFill/>
        </p:spPr>
        <p:txBody>
          <a:bodyPr wrap="square" lIns="0" rIns="0" tIns="0" bIns="0" anchor="t">
            <a:spAutoFit/>
          </a:bodyPr>
          <a:lstStyle/>
          <a:p>
            <a:pPr algn="l"/>
            <a:r>
              <a:rPr sz="2025" b="1" i="0">
                <a:solidFill>
                  <a:srgbClr val="7C93C3"/>
                </a:solidFill>
                <a:latin typeface="Geist"/>
                <a:ea typeface="Geist"/>
                <a:cs typeface="Geist"/>
              </a:rPr>
              <a:t>⏱  </a:t>
            </a:r>
            <a:r>
              <a:rPr sz="2025" b="1" i="0">
                <a:solidFill>
                  <a:srgbClr val="F0E8E8"/>
                </a:solidFill>
                <a:latin typeface="Geist"/>
                <a:ea typeface="Geist"/>
                <a:cs typeface="Geist"/>
              </a:rPr>
              <a:t>Timeout</a:t>
            </a:r>
          </a:p>
        </p:txBody>
      </p:sp>
      <p:sp>
        <p:nvSpPr>
          <p:cNvPr id="28" name="TextBox 27"/>
          <p:cNvSpPr txBox="1"/>
          <p:nvPr/>
        </p:nvSpPr>
        <p:spPr>
          <a:xfrm>
            <a:off x="4298156" y="6957536"/>
            <a:ext cx="2705100" cy="308610"/>
          </a:xfrm>
          <a:prstGeom prst="rect">
            <a:avLst/>
          </a:prstGeom>
          <a:noFill/>
        </p:spPr>
        <p:txBody>
          <a:bodyPr wrap="square" lIns="0" rIns="0" tIns="0" bIns="0" anchor="t">
            <a:spAutoFit/>
          </a:bodyPr>
          <a:lstStyle/>
          <a:p>
            <a:pPr algn="l"/>
            <a:r>
              <a:rPr sz="1579" b="0" i="0">
                <a:solidFill>
                  <a:srgbClr val="E8C27A"/>
                </a:solidFill>
                <a:latin typeface="Geist Mono"/>
                <a:ea typeface="Geist Mono"/>
                <a:cs typeface="Geist Mono"/>
              </a:rPr>
              <a:t>3000 ms</a:t>
            </a:r>
          </a:p>
        </p:txBody>
      </p:sp>
      <p:sp>
        <p:nvSpPr>
          <p:cNvPr id="29" name="Rounded Rectangle 28"/>
          <p:cNvSpPr/>
          <p:nvPr/>
        </p:nvSpPr>
        <p:spPr>
          <a:xfrm>
            <a:off x="7267575" y="6477000"/>
            <a:ext cx="2890838" cy="1066800"/>
          </a:xfrm>
          <a:prstGeom prst="roundRect">
            <a:avLst>
              <a:gd name="adj" fmla="val 10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7305675" y="6572250"/>
            <a:ext cx="66675" cy="8763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96175" y="6591300"/>
            <a:ext cx="2547938" cy="347186"/>
          </a:xfrm>
          <a:prstGeom prst="rect">
            <a:avLst/>
          </a:prstGeom>
          <a:noFill/>
        </p:spPr>
        <p:txBody>
          <a:bodyPr wrap="square" lIns="0" rIns="0" tIns="0" bIns="0" anchor="t">
            <a:spAutoFit/>
          </a:bodyPr>
          <a:lstStyle/>
          <a:p>
            <a:pPr algn="l"/>
            <a:r>
              <a:rPr sz="2025" b="1" i="0">
                <a:solidFill>
                  <a:srgbClr val="2DD4BF"/>
                </a:solidFill>
                <a:latin typeface="Geist"/>
                <a:ea typeface="Geist"/>
                <a:cs typeface="Geist"/>
              </a:rPr>
              <a:t>▶  </a:t>
            </a:r>
            <a:r>
              <a:rPr sz="2025" b="1" i="0">
                <a:solidFill>
                  <a:srgbClr val="F0E8E8"/>
                </a:solidFill>
                <a:latin typeface="Geist"/>
                <a:ea typeface="Geist"/>
                <a:cs typeface="Geist"/>
              </a:rPr>
              <a:t>FollowPath</a:t>
            </a:r>
          </a:p>
        </p:txBody>
      </p:sp>
      <p:sp>
        <p:nvSpPr>
          <p:cNvPr id="32" name="TextBox 31"/>
          <p:cNvSpPr txBox="1"/>
          <p:nvPr/>
        </p:nvSpPr>
        <p:spPr>
          <a:xfrm>
            <a:off x="7496175" y="6957536"/>
            <a:ext cx="2547938" cy="308610"/>
          </a:xfrm>
          <a:prstGeom prst="rect">
            <a:avLst/>
          </a:prstGeom>
          <a:noFill/>
        </p:spPr>
        <p:txBody>
          <a:bodyPr wrap="square" lIns="0" rIns="0" tIns="0" bIns="0" anchor="t">
            <a:spAutoFit/>
          </a:bodyPr>
          <a:lstStyle/>
          <a:p>
            <a:pPr algn="l"/>
            <a:r>
              <a:rPr sz="1579" b="0" i="0">
                <a:solidFill>
                  <a:srgbClr val="E8C27A"/>
                </a:solidFill>
                <a:latin typeface="Geist Mono"/>
                <a:ea typeface="Geist Mono"/>
                <a:cs typeface="Geist Mono"/>
              </a:rPr>
              <a:t>ToBackup</a:t>
            </a:r>
          </a:p>
        </p:txBody>
      </p:sp>
      <p:sp>
        <p:nvSpPr>
          <p:cNvPr id="33" name="Rounded Rectangle 32"/>
          <p:cNvSpPr/>
          <p:nvPr/>
        </p:nvSpPr>
        <p:spPr>
          <a:xfrm>
            <a:off x="5629275" y="4667250"/>
            <a:ext cx="3048000" cy="1066800"/>
          </a:xfrm>
          <a:prstGeom prst="roundRect">
            <a:avLst>
              <a:gd name="adj" fmla="val 10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5667375" y="4762500"/>
            <a:ext cx="66675" cy="8763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5857875" y="5020628"/>
            <a:ext cx="2705100" cy="347186"/>
          </a:xfrm>
          <a:prstGeom prst="rect">
            <a:avLst/>
          </a:prstGeom>
          <a:noFill/>
        </p:spPr>
        <p:txBody>
          <a:bodyPr wrap="square" lIns="0" rIns="0" tIns="0" bIns="0" anchor="t">
            <a:spAutoFit/>
          </a:bodyPr>
          <a:lstStyle/>
          <a:p>
            <a:pPr algn="l"/>
            <a:r>
              <a:rPr sz="2025" b="1" i="0">
                <a:solidFill>
                  <a:srgbClr val="7C93C3"/>
                </a:solidFill>
                <a:latin typeface="Geist"/>
                <a:ea typeface="Geist"/>
                <a:cs typeface="Geist"/>
              </a:rPr>
              <a:t>?  </a:t>
            </a:r>
            <a:r>
              <a:rPr sz="2025" b="1" i="0">
                <a:solidFill>
                  <a:srgbClr val="F0E8E8"/>
                </a:solidFill>
                <a:latin typeface="Geist"/>
                <a:ea typeface="Geist"/>
                <a:cs typeface="Geist"/>
              </a:rPr>
              <a:t>Fallback</a:t>
            </a:r>
          </a:p>
        </p:txBody>
      </p:sp>
      <p:sp>
        <p:nvSpPr>
          <p:cNvPr id="36" name="Rounded Rectangle 35"/>
          <p:cNvSpPr/>
          <p:nvPr/>
        </p:nvSpPr>
        <p:spPr>
          <a:xfrm>
            <a:off x="10387012" y="4667250"/>
            <a:ext cx="2890838" cy="1066800"/>
          </a:xfrm>
          <a:prstGeom prst="roundRect">
            <a:avLst>
              <a:gd name="adj" fmla="val 10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10425112" y="4762500"/>
            <a:ext cx="66675" cy="8763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615612" y="4781550"/>
            <a:ext cx="2547938" cy="347186"/>
          </a:xfrm>
          <a:prstGeom prst="rect">
            <a:avLst/>
          </a:prstGeom>
          <a:noFill/>
        </p:spPr>
        <p:txBody>
          <a:bodyPr wrap="square" lIns="0" rIns="0" tIns="0" bIns="0" anchor="t">
            <a:spAutoFit/>
          </a:bodyPr>
          <a:lstStyle/>
          <a:p>
            <a:pPr algn="l"/>
            <a:r>
              <a:rPr sz="2025" b="1" i="0">
                <a:solidFill>
                  <a:srgbClr val="2DD4BF"/>
                </a:solidFill>
                <a:latin typeface="Geist"/>
                <a:ea typeface="Geist"/>
                <a:cs typeface="Geist"/>
              </a:rPr>
              <a:t>▶  </a:t>
            </a:r>
            <a:r>
              <a:rPr sz="2025" b="1" i="0">
                <a:solidFill>
                  <a:srgbClr val="F0E8E8"/>
                </a:solidFill>
                <a:latin typeface="Geist"/>
                <a:ea typeface="Geist"/>
                <a:cs typeface="Geist"/>
              </a:rPr>
              <a:t>SetWantedState</a:t>
            </a:r>
          </a:p>
        </p:txBody>
      </p:sp>
      <p:sp>
        <p:nvSpPr>
          <p:cNvPr id="39" name="TextBox 38"/>
          <p:cNvSpPr txBox="1"/>
          <p:nvPr/>
        </p:nvSpPr>
        <p:spPr>
          <a:xfrm>
            <a:off x="10615612" y="5147786"/>
            <a:ext cx="2547938" cy="308610"/>
          </a:xfrm>
          <a:prstGeom prst="rect">
            <a:avLst/>
          </a:prstGeom>
          <a:noFill/>
        </p:spPr>
        <p:txBody>
          <a:bodyPr wrap="square" lIns="0" rIns="0" tIns="0" bIns="0" anchor="t">
            <a:spAutoFit/>
          </a:bodyPr>
          <a:lstStyle/>
          <a:p>
            <a:pPr algn="l"/>
            <a:r>
              <a:rPr sz="1579" b="0" i="0">
                <a:solidFill>
                  <a:srgbClr val="E8C27A"/>
                </a:solidFill>
                <a:latin typeface="Geist Mono"/>
                <a:ea typeface="Geist Mono"/>
                <a:cs typeface="Geist Mono"/>
              </a:rPr>
              <a:t>SHOOT</a:t>
            </a:r>
          </a:p>
        </p:txBody>
      </p:sp>
      <p:sp>
        <p:nvSpPr>
          <p:cNvPr id="40" name="Rounded Rectangle 39"/>
          <p:cNvSpPr/>
          <p:nvPr/>
        </p:nvSpPr>
        <p:spPr>
          <a:xfrm>
            <a:off x="5629275" y="2857500"/>
            <a:ext cx="3048000" cy="1066800"/>
          </a:xfrm>
          <a:prstGeom prst="roundRect">
            <a:avLst>
              <a:gd name="adj" fmla="val 10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5667375" y="2952750"/>
            <a:ext cx="66675" cy="8763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857875" y="3210878"/>
            <a:ext cx="2705100" cy="347186"/>
          </a:xfrm>
          <a:prstGeom prst="rect">
            <a:avLst/>
          </a:prstGeom>
          <a:noFill/>
        </p:spPr>
        <p:txBody>
          <a:bodyPr wrap="square" lIns="0" rIns="0" tIns="0" bIns="0" anchor="t">
            <a:spAutoFit/>
          </a:bodyPr>
          <a:lstStyle/>
          <a:p>
            <a:pPr algn="l"/>
            <a:r>
              <a:rPr sz="2025" b="1" i="0">
                <a:solidFill>
                  <a:srgbClr val="7C93C3"/>
                </a:solidFill>
                <a:latin typeface="Geist"/>
                <a:ea typeface="Geist"/>
                <a:cs typeface="Geist"/>
              </a:rPr>
              <a:t>→  </a:t>
            </a:r>
            <a:r>
              <a:rPr sz="2025" b="1" i="0">
                <a:solidFill>
                  <a:srgbClr val="F0E8E8"/>
                </a:solidFill>
                <a:latin typeface="Geist"/>
                <a:ea typeface="Geist"/>
                <a:cs typeface="Geist"/>
              </a:rPr>
              <a:t>Sequence</a:t>
            </a:r>
          </a:p>
        </p:txBody>
      </p:sp>
      <p:sp>
        <p:nvSpPr>
          <p:cNvPr id="43" name="Rounded Rectangle 42"/>
          <p:cNvSpPr/>
          <p:nvPr/>
        </p:nvSpPr>
        <p:spPr>
          <a:xfrm>
            <a:off x="13811250" y="2857500"/>
            <a:ext cx="3562350" cy="5334000"/>
          </a:xfrm>
          <a:prstGeom prst="roundRect">
            <a:avLst>
              <a:gd name="adj" fmla="val 42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4192250" y="3295650"/>
            <a:ext cx="95250" cy="666750"/>
          </a:xfrm>
          <a:prstGeom prst="roundRect">
            <a:avLst>
              <a:gd name="adj" fmla="val 40000"/>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4516100" y="3238500"/>
            <a:ext cx="257175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Decide how</a:t>
            </a:r>
          </a:p>
        </p:txBody>
      </p:sp>
      <p:sp>
        <p:nvSpPr>
          <p:cNvPr id="46" name="TextBox 45"/>
          <p:cNvSpPr txBox="1"/>
          <p:nvPr/>
        </p:nvSpPr>
        <p:spPr>
          <a:xfrm>
            <a:off x="14516100" y="3657600"/>
            <a:ext cx="2571750" cy="9525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Sequence, Fallback, Timeout hold other steps</a:t>
            </a:r>
          </a:p>
        </p:txBody>
      </p:sp>
      <p:sp>
        <p:nvSpPr>
          <p:cNvPr id="47" name="Rounded Rectangle 46"/>
          <p:cNvSpPr/>
          <p:nvPr/>
        </p:nvSpPr>
        <p:spPr>
          <a:xfrm>
            <a:off x="14192250" y="4914900"/>
            <a:ext cx="95250" cy="666750"/>
          </a:xfrm>
          <a:prstGeom prst="roundRect">
            <a:avLst>
              <a:gd name="adj" fmla="val 40000"/>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4516100" y="4857750"/>
            <a:ext cx="257175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Do the work</a:t>
            </a:r>
          </a:p>
        </p:txBody>
      </p:sp>
      <p:sp>
        <p:nvSpPr>
          <p:cNvPr id="49" name="TextBox 48"/>
          <p:cNvSpPr txBox="1"/>
          <p:nvPr/>
        </p:nvSpPr>
        <p:spPr>
          <a:xfrm>
            <a:off x="14516100" y="5276850"/>
            <a:ext cx="2571750" cy="9525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Drive a path, ask the robot for a state</a:t>
            </a:r>
          </a:p>
        </p:txBody>
      </p:sp>
      <p:sp>
        <p:nvSpPr>
          <p:cNvPr id="50" name="Rounded Rectangle 49"/>
          <p:cNvSpPr/>
          <p:nvPr/>
        </p:nvSpPr>
        <p:spPr>
          <a:xfrm>
            <a:off x="14192250" y="6534150"/>
            <a:ext cx="95250" cy="666750"/>
          </a:xfrm>
          <a:prstGeom prst="roundRect">
            <a:avLst>
              <a:gd name="adj" fmla="val 4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4516100" y="6477000"/>
            <a:ext cx="2571750" cy="3810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Read it</a:t>
            </a:r>
          </a:p>
        </p:txBody>
      </p:sp>
      <p:sp>
        <p:nvSpPr>
          <p:cNvPr id="52" name="TextBox 51"/>
          <p:cNvSpPr txBox="1"/>
          <p:nvPr/>
        </p:nvSpPr>
        <p:spPr>
          <a:xfrm>
            <a:off x="14516100" y="6896100"/>
            <a:ext cx="2571750" cy="9525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Top to bottom, left to right</a:t>
            </a:r>
          </a:p>
        </p:txBody>
      </p:sp>
      <p:sp>
        <p:nvSpPr>
          <p:cNvPr id="53" name="TextBox 5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4" name="TextBox 5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Arbor window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9243391" cy="59055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hot_ar_editor.png"/>
          <p:cNvPicPr>
            <a:picLocks noChangeAspect="1"/>
          </p:cNvPicPr>
          <p:nvPr/>
        </p:nvPicPr>
        <p:blipFill>
          <a:blip r:embed="rId3"/>
          <a:stretch>
            <a:fillRect/>
          </a:stretch>
        </p:blipFill>
        <p:spPr>
          <a:xfrm>
            <a:off x="914400" y="2857500"/>
            <a:ext cx="9243391" cy="5905500"/>
          </a:xfrm>
          <a:prstGeom prst="rect">
            <a:avLst/>
          </a:prstGeom>
        </p:spPr>
      </p:pic>
      <p:sp>
        <p:nvSpPr>
          <p:cNvPr id="7" name="Rectangle 6"/>
          <p:cNvSpPr/>
          <p:nvPr/>
        </p:nvSpPr>
        <p:spPr>
          <a:xfrm>
            <a:off x="914400" y="2857500"/>
            <a:ext cx="9243391" cy="59055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757570" y="2945793"/>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57570" y="2945793"/>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 name="Oval 9"/>
          <p:cNvSpPr/>
          <p:nvPr/>
        </p:nvSpPr>
        <p:spPr>
          <a:xfrm>
            <a:off x="1757570" y="4008783"/>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57570" y="4008783"/>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 name="Oval 11"/>
          <p:cNvSpPr/>
          <p:nvPr/>
        </p:nvSpPr>
        <p:spPr>
          <a:xfrm>
            <a:off x="5121137" y="418851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1137" y="418851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4" name="Oval 13"/>
          <p:cNvSpPr/>
          <p:nvPr/>
        </p:nvSpPr>
        <p:spPr>
          <a:xfrm>
            <a:off x="8715789" y="3752022"/>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15789" y="3752022"/>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16" name="Oval 15"/>
          <p:cNvSpPr/>
          <p:nvPr/>
        </p:nvSpPr>
        <p:spPr>
          <a:xfrm>
            <a:off x="3375163" y="7444243"/>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75163" y="7444243"/>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18" name="Oval 17"/>
          <p:cNvSpPr/>
          <p:nvPr/>
        </p:nvSpPr>
        <p:spPr>
          <a:xfrm>
            <a:off x="10763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63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TextBox 19"/>
          <p:cNvSpPr txBox="1"/>
          <p:nvPr/>
        </p:nvSpPr>
        <p:spPr>
          <a:xfrm>
            <a:off x="11372850" y="28194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Trees</a:t>
            </a:r>
          </a:p>
        </p:txBody>
      </p:sp>
      <p:sp>
        <p:nvSpPr>
          <p:cNvPr id="21" name="TextBox 20"/>
          <p:cNvSpPr txBox="1"/>
          <p:nvPr/>
        </p:nvSpPr>
        <p:spPr>
          <a:xfrm>
            <a:off x="11372850" y="32385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tree files. + New tree makes one</a:t>
            </a:r>
          </a:p>
        </p:txBody>
      </p:sp>
      <p:sp>
        <p:nvSpPr>
          <p:cNvPr id="22" name="Oval 21"/>
          <p:cNvSpPr/>
          <p:nvPr/>
        </p:nvSpPr>
        <p:spPr>
          <a:xfrm>
            <a:off x="10763250" y="40386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63250" y="4038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TextBox 23"/>
          <p:cNvSpPr txBox="1"/>
          <p:nvPr/>
        </p:nvSpPr>
        <p:spPr>
          <a:xfrm>
            <a:off x="11372850" y="40005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Nodes</a:t>
            </a:r>
          </a:p>
        </p:txBody>
      </p:sp>
      <p:sp>
        <p:nvSpPr>
          <p:cNvPr id="25" name="TextBox 24"/>
          <p:cNvSpPr txBox="1"/>
          <p:nvPr/>
        </p:nvSpPr>
        <p:spPr>
          <a:xfrm>
            <a:off x="11372850" y="44196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step you can use</a:t>
            </a:r>
          </a:p>
        </p:txBody>
      </p:sp>
      <p:sp>
        <p:nvSpPr>
          <p:cNvPr id="26" name="Oval 25"/>
          <p:cNvSpPr/>
          <p:nvPr/>
        </p:nvSpPr>
        <p:spPr>
          <a:xfrm>
            <a:off x="10763250" y="52197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63250" y="52197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TextBox 27"/>
          <p:cNvSpPr txBox="1"/>
          <p:nvPr/>
        </p:nvSpPr>
        <p:spPr>
          <a:xfrm>
            <a:off x="11372850" y="51816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Canvas</a:t>
            </a:r>
          </a:p>
        </p:txBody>
      </p:sp>
      <p:sp>
        <p:nvSpPr>
          <p:cNvPr id="29" name="TextBox 28"/>
          <p:cNvSpPr txBox="1"/>
          <p:nvPr/>
        </p:nvSpPr>
        <p:spPr>
          <a:xfrm>
            <a:off x="11372850" y="56007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tree. Click a node to select it</a:t>
            </a:r>
          </a:p>
        </p:txBody>
      </p:sp>
      <p:sp>
        <p:nvSpPr>
          <p:cNvPr id="30" name="Oval 29"/>
          <p:cNvSpPr/>
          <p:nvPr/>
        </p:nvSpPr>
        <p:spPr>
          <a:xfrm>
            <a:off x="10763250" y="64008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63250" y="64008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2" name="TextBox 31"/>
          <p:cNvSpPr txBox="1"/>
          <p:nvPr/>
        </p:nvSpPr>
        <p:spPr>
          <a:xfrm>
            <a:off x="11372850" y="63627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Ports</a:t>
            </a:r>
          </a:p>
        </p:txBody>
      </p:sp>
      <p:sp>
        <p:nvSpPr>
          <p:cNvPr id="33" name="TextBox 32"/>
          <p:cNvSpPr txBox="1"/>
          <p:nvPr/>
        </p:nvSpPr>
        <p:spPr>
          <a:xfrm>
            <a:off x="11372850" y="67818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selected node's settings</a:t>
            </a:r>
          </a:p>
        </p:txBody>
      </p:sp>
      <p:sp>
        <p:nvSpPr>
          <p:cNvPr id="34" name="Oval 33"/>
          <p:cNvSpPr/>
          <p:nvPr/>
        </p:nvSpPr>
        <p:spPr>
          <a:xfrm>
            <a:off x="10763250" y="75819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63250" y="75819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36" name="TextBox 35"/>
          <p:cNvSpPr txBox="1"/>
          <p:nvPr/>
        </p:nvSpPr>
        <p:spPr>
          <a:xfrm>
            <a:off x="11372850" y="7543800"/>
            <a:ext cx="6000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Problems, XML, Live log</a:t>
            </a:r>
          </a:p>
        </p:txBody>
      </p:sp>
      <p:sp>
        <p:nvSpPr>
          <p:cNvPr id="37" name="TextBox 36"/>
          <p:cNvSpPr txBox="1"/>
          <p:nvPr/>
        </p:nvSpPr>
        <p:spPr>
          <a:xfrm>
            <a:off x="11372850" y="7962900"/>
            <a:ext cx="6000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Mistakes, the saved file, the robot</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Ports: a node's settings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4953000" cy="990600"/>
          </a:xfrm>
          <a:prstGeom prst="roundRect">
            <a:avLst>
              <a:gd name="adj" fmla="val 115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952500" y="3048000"/>
            <a:ext cx="66675" cy="8001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43000" y="306705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SetWantedState</a:t>
            </a:r>
          </a:p>
        </p:txBody>
      </p:sp>
      <p:sp>
        <p:nvSpPr>
          <p:cNvPr id="8" name="TextBox 7"/>
          <p:cNvSpPr txBox="1"/>
          <p:nvPr/>
        </p:nvSpPr>
        <p:spPr>
          <a:xfrm>
            <a:off x="1143000" y="344614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state = AIM</a:t>
            </a:r>
          </a:p>
        </p:txBody>
      </p:sp>
      <p:sp>
        <p:nvSpPr>
          <p:cNvPr id="9" name="TextBox 8"/>
          <p:cNvSpPr txBox="1"/>
          <p:nvPr/>
        </p:nvSpPr>
        <p:spPr>
          <a:xfrm>
            <a:off x="6286500" y="2952750"/>
            <a:ext cx="4191000" cy="9906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Which robot state to ask for</a:t>
            </a:r>
          </a:p>
        </p:txBody>
      </p:sp>
      <p:sp>
        <p:nvSpPr>
          <p:cNvPr id="10" name="Rounded Rectangle 9"/>
          <p:cNvSpPr/>
          <p:nvPr/>
        </p:nvSpPr>
        <p:spPr>
          <a:xfrm>
            <a:off x="914400" y="4381500"/>
            <a:ext cx="4953000" cy="990600"/>
          </a:xfrm>
          <a:prstGeom prst="roundRect">
            <a:avLst>
              <a:gd name="adj" fmla="val 115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952500" y="4476750"/>
            <a:ext cx="66675" cy="8001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3000" y="449580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FollowPath</a:t>
            </a:r>
          </a:p>
        </p:txBody>
      </p:sp>
      <p:sp>
        <p:nvSpPr>
          <p:cNvPr id="13" name="TextBox 12"/>
          <p:cNvSpPr txBox="1"/>
          <p:nvPr/>
        </p:nvSpPr>
        <p:spPr>
          <a:xfrm>
            <a:off x="1143000" y="487489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trajectory = ToScore</a:t>
            </a:r>
          </a:p>
        </p:txBody>
      </p:sp>
      <p:sp>
        <p:nvSpPr>
          <p:cNvPr id="14" name="TextBox 13"/>
          <p:cNvSpPr txBox="1"/>
          <p:nvPr/>
        </p:nvSpPr>
        <p:spPr>
          <a:xfrm>
            <a:off x="6286500" y="4381500"/>
            <a:ext cx="4191000" cy="9906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A Choreo path, by its exact name</a:t>
            </a:r>
          </a:p>
        </p:txBody>
      </p:sp>
      <p:sp>
        <p:nvSpPr>
          <p:cNvPr id="15" name="Rounded Rectangle 14"/>
          <p:cNvSpPr/>
          <p:nvPr/>
        </p:nvSpPr>
        <p:spPr>
          <a:xfrm>
            <a:off x="914400" y="5810250"/>
            <a:ext cx="4953000" cy="990600"/>
          </a:xfrm>
          <a:prstGeom prst="roundRect">
            <a:avLst>
              <a:gd name="adj" fmla="val 115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952500" y="5905500"/>
            <a:ext cx="66675" cy="8001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43000" y="592455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Sleep</a:t>
            </a:r>
          </a:p>
        </p:txBody>
      </p:sp>
      <p:sp>
        <p:nvSpPr>
          <p:cNvPr id="18" name="TextBox 17"/>
          <p:cNvSpPr txBox="1"/>
          <p:nvPr/>
        </p:nvSpPr>
        <p:spPr>
          <a:xfrm>
            <a:off x="1143000" y="630364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msec = 500</a:t>
            </a:r>
          </a:p>
        </p:txBody>
      </p:sp>
      <p:sp>
        <p:nvSpPr>
          <p:cNvPr id="19" name="TextBox 18"/>
          <p:cNvSpPr txBox="1"/>
          <p:nvPr/>
        </p:nvSpPr>
        <p:spPr>
          <a:xfrm>
            <a:off x="6286500" y="5810250"/>
            <a:ext cx="4191000" cy="99060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How long to wait, in milliseconds</a:t>
            </a:r>
          </a:p>
        </p:txBody>
      </p:sp>
      <p:sp>
        <p:nvSpPr>
          <p:cNvPr id="20" name="Rounded Rectangle 19"/>
          <p:cNvSpPr/>
          <p:nvPr/>
        </p:nvSpPr>
        <p:spPr>
          <a:xfrm>
            <a:off x="10858500" y="2857500"/>
            <a:ext cx="6515100" cy="4476750"/>
          </a:xfrm>
          <a:prstGeom prst="roundRect">
            <a:avLst>
              <a:gd name="adj" fmla="val 340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239500" y="3143250"/>
            <a:ext cx="5715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TUNABLE VALUES</a:t>
            </a:r>
          </a:p>
        </p:txBody>
      </p:sp>
      <p:sp>
        <p:nvSpPr>
          <p:cNvPr id="22" name="TextBox 21"/>
          <p:cNvSpPr txBox="1"/>
          <p:nvPr/>
        </p:nvSpPr>
        <p:spPr>
          <a:xfrm>
            <a:off x="11239500" y="3619500"/>
            <a:ext cx="5810250" cy="11430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Declare an input port on the tree, then use its name in braces:</a:t>
            </a:r>
          </a:p>
        </p:txBody>
      </p:sp>
      <p:sp>
        <p:nvSpPr>
          <p:cNvPr id="23" name="Rounded Rectangle 22"/>
          <p:cNvSpPr/>
          <p:nvPr/>
        </p:nvSpPr>
        <p:spPr>
          <a:xfrm>
            <a:off x="11239500" y="4762500"/>
            <a:ext cx="4953000" cy="990600"/>
          </a:xfrm>
          <a:prstGeom prst="roundRect">
            <a:avLst>
              <a:gd name="adj" fmla="val 115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11277600" y="4857750"/>
            <a:ext cx="66675" cy="8001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468100" y="4876800"/>
            <a:ext cx="4610100" cy="360045"/>
          </a:xfrm>
          <a:prstGeom prst="rect">
            <a:avLst/>
          </a:prstGeom>
          <a:noFill/>
        </p:spPr>
        <p:txBody>
          <a:bodyPr wrap="square" lIns="0" rIns="0" tIns="0" bIns="0" anchor="t">
            <a:spAutoFit/>
          </a:bodyPr>
          <a:lstStyle/>
          <a:p>
            <a:pPr algn="l"/>
            <a:r>
              <a:rPr sz="2100" b="1" i="0">
                <a:solidFill>
                  <a:srgbClr val="2DD4BF"/>
                </a:solidFill>
                <a:latin typeface="Geist"/>
                <a:ea typeface="Geist"/>
                <a:cs typeface="Geist"/>
              </a:rPr>
              <a:t>▶  </a:t>
            </a:r>
            <a:r>
              <a:rPr sz="2100" b="1" i="0">
                <a:solidFill>
                  <a:srgbClr val="F0E8E8"/>
                </a:solidFill>
                <a:latin typeface="Geist"/>
                <a:ea typeface="Geist"/>
                <a:cs typeface="Geist"/>
              </a:rPr>
              <a:t>Sleep</a:t>
            </a:r>
          </a:p>
        </p:txBody>
      </p:sp>
      <p:sp>
        <p:nvSpPr>
          <p:cNvPr id="26" name="TextBox 25"/>
          <p:cNvSpPr txBox="1"/>
          <p:nvPr/>
        </p:nvSpPr>
        <p:spPr>
          <a:xfrm>
            <a:off x="11468100" y="5255895"/>
            <a:ext cx="4610100" cy="320040"/>
          </a:xfrm>
          <a:prstGeom prst="rect">
            <a:avLst/>
          </a:prstGeom>
          <a:noFill/>
        </p:spPr>
        <p:txBody>
          <a:bodyPr wrap="square" lIns="0" rIns="0" tIns="0" bIns="0" anchor="t">
            <a:spAutoFit/>
          </a:bodyPr>
          <a:lstStyle/>
          <a:p>
            <a:pPr algn="l"/>
            <a:r>
              <a:rPr sz="1638" b="0" i="0">
                <a:solidFill>
                  <a:srgbClr val="E8C27A"/>
                </a:solidFill>
                <a:latin typeface="Geist Mono"/>
                <a:ea typeface="Geist Mono"/>
                <a:cs typeface="Geist Mono"/>
              </a:rPr>
              <a:t>msec = {wait_msec}</a:t>
            </a:r>
          </a:p>
        </p:txBody>
      </p:sp>
      <p:sp>
        <p:nvSpPr>
          <p:cNvPr id="27" name="TextBox 26"/>
          <p:cNvSpPr txBox="1"/>
          <p:nvPr/>
        </p:nvSpPr>
        <p:spPr>
          <a:xfrm>
            <a:off x="11239500" y="6096000"/>
            <a:ext cx="5810250" cy="1047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 the robot it appears on the dashboard. Change it at the field, no rebuild.</a:t>
            </a:r>
          </a:p>
        </p:txBody>
      </p:sp>
      <p:sp>
        <p:nvSpPr>
          <p:cNvPr id="28" name="Rounded Rectangle 27"/>
          <p:cNvSpPr/>
          <p:nvPr/>
        </p:nvSpPr>
        <p:spPr>
          <a:xfrm>
            <a:off x="914400" y="77152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exclamation-circle.png"/>
          <p:cNvPicPr>
            <a:picLocks noChangeAspect="1"/>
          </p:cNvPicPr>
          <p:nvPr/>
        </p:nvPicPr>
        <p:blipFill>
          <a:blip r:embed="rId3"/>
          <a:stretch>
            <a:fillRect/>
          </a:stretch>
        </p:blipFill>
        <p:spPr>
          <a:xfrm>
            <a:off x="1333500" y="7972425"/>
            <a:ext cx="533400" cy="533400"/>
          </a:xfrm>
          <a:prstGeom prst="rect">
            <a:avLst/>
          </a:prstGeom>
        </p:spPr>
      </p:pic>
      <p:sp>
        <p:nvSpPr>
          <p:cNvPr id="30" name="TextBox 29"/>
          <p:cNvSpPr txBox="1"/>
          <p:nvPr/>
        </p:nvSpPr>
        <p:spPr>
          <a:xfrm>
            <a:off x="2190750" y="77152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Spelling counts.  </a:t>
            </a:r>
            <a:r>
              <a:rPr sz="2100" b="0" i="0">
                <a:solidFill>
                  <a:srgbClr val="F0E8E8"/>
                </a:solidFill>
                <a:latin typeface="Geist"/>
                <a:ea typeface="Geist"/>
                <a:cs typeface="Geist"/>
              </a:rPr>
              <a:t>A path name or tunable that doesn't match stops the auto from loading. Check Arbor's Problems tab.</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Save writes the XML the robot runs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1940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deploy/autos/trees/MyFirstAuto.xml</a:t>
            </a:r>
          </a:p>
        </p:txBody>
      </p:sp>
      <p:sp>
        <p:nvSpPr>
          <p:cNvPr id="6" name="Rounded Rectangle 5"/>
          <p:cNvSpPr/>
          <p:nvPr/>
        </p:nvSpPr>
        <p:spPr>
          <a:xfrm>
            <a:off x="914400" y="3238500"/>
            <a:ext cx="11239500" cy="4419600"/>
          </a:xfrm>
          <a:prstGeom prst="roundRect">
            <a:avLst>
              <a:gd name="adj" fmla="val 344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351020"/>
            <a:ext cx="11201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35102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716780"/>
            <a:ext cx="11201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71678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5082540"/>
            <a:ext cx="11201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508254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448300"/>
            <a:ext cx="11201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44830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5814060"/>
            <a:ext cx="11201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581406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6179820"/>
            <a:ext cx="112014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617982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3619500"/>
            <a:ext cx="107061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&lt;root</a:t>
            </a:r>
            <a:r>
              <a:rPr sz="1800" b="0" i="0">
                <a:solidFill>
                  <a:srgbClr val="F0E8E8"/>
                </a:solidFill>
                <a:latin typeface="Geist Mono"/>
                <a:ea typeface="Geist Mono"/>
                <a:cs typeface="Geist Mono"/>
              </a:rPr>
              <a:t> BTCPP_format=</a:t>
            </a:r>
            <a:r>
              <a:rPr sz="1800" b="0" i="0">
                <a:solidFill>
                  <a:srgbClr val="9FD29A"/>
                </a:solidFill>
                <a:latin typeface="Geist Mono"/>
                <a:ea typeface="Geist Mono"/>
                <a:cs typeface="Geist Mono"/>
              </a:rPr>
              <a:t>"4"</a:t>
            </a:r>
            <a:r>
              <a:rPr sz="1800" b="0" i="0">
                <a:solidFill>
                  <a:srgbClr val="F0E8E8"/>
                </a:solidFill>
                <a:latin typeface="Geist Mono"/>
                <a:ea typeface="Geist Mono"/>
                <a:cs typeface="Geist Mono"/>
              </a:rPr>
              <a:t> main_tree_to_execute=</a:t>
            </a:r>
            <a:r>
              <a:rPr sz="1800" b="0" i="0">
                <a:solidFill>
                  <a:srgbClr val="9FD29A"/>
                </a:solidFill>
                <a:latin typeface="Geist Mono"/>
                <a:ea typeface="Geist Mono"/>
                <a:cs typeface="Geist Mono"/>
              </a:rPr>
              <a:t>"MyFirstAuto"</a:t>
            </a:r>
            <a:r>
              <a:rPr sz="1800" b="0" i="0">
                <a:solidFill>
                  <a:srgbClr val="E0785F"/>
                </a:solidFill>
                <a:latin typeface="Geist Mono"/>
                <a:ea typeface="Geist Mono"/>
                <a:cs typeface="Geist Mono"/>
              </a:rPr>
              <a:t>&gt;</a:t>
            </a:r>
          </a:p>
        </p:txBody>
      </p:sp>
      <p:sp>
        <p:nvSpPr>
          <p:cNvPr id="20" name="TextBox 19"/>
          <p:cNvSpPr txBox="1"/>
          <p:nvPr/>
        </p:nvSpPr>
        <p:spPr>
          <a:xfrm>
            <a:off x="1295400" y="398526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&lt;BehaviorTree</a:t>
            </a:r>
            <a:r>
              <a:rPr sz="1800" b="0" i="0">
                <a:solidFill>
                  <a:srgbClr val="F0E8E8"/>
                </a:solidFill>
                <a:latin typeface="Geist Mono"/>
                <a:ea typeface="Geist Mono"/>
                <a:cs typeface="Geist Mono"/>
              </a:rPr>
              <a:t> ID=</a:t>
            </a:r>
            <a:r>
              <a:rPr sz="1800" b="0" i="0">
                <a:solidFill>
                  <a:srgbClr val="9FD29A"/>
                </a:solidFill>
                <a:latin typeface="Geist Mono"/>
                <a:ea typeface="Geist Mono"/>
                <a:cs typeface="Geist Mono"/>
              </a:rPr>
              <a:t>"MyFirstAuto"</a:t>
            </a:r>
            <a:r>
              <a:rPr sz="1800" b="0" i="0">
                <a:solidFill>
                  <a:srgbClr val="E0785F"/>
                </a:solidFill>
                <a:latin typeface="Geist Mono"/>
                <a:ea typeface="Geist Mono"/>
                <a:cs typeface="Geist Mono"/>
              </a:rPr>
              <a:t>&gt;</a:t>
            </a:r>
          </a:p>
        </p:txBody>
      </p:sp>
      <p:sp>
        <p:nvSpPr>
          <p:cNvPr id="21" name="TextBox 20"/>
          <p:cNvSpPr txBox="1"/>
          <p:nvPr/>
        </p:nvSpPr>
        <p:spPr>
          <a:xfrm>
            <a:off x="1295400" y="435102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&lt;Sequence&gt;</a:t>
            </a:r>
          </a:p>
        </p:txBody>
      </p:sp>
      <p:sp>
        <p:nvSpPr>
          <p:cNvPr id="22" name="TextBox 21"/>
          <p:cNvSpPr txBox="1"/>
          <p:nvPr/>
        </p:nvSpPr>
        <p:spPr>
          <a:xfrm>
            <a:off x="1295400" y="471678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&lt;SetWantedState</a:t>
            </a:r>
            <a:r>
              <a:rPr sz="1800" b="0" i="0">
                <a:solidFill>
                  <a:srgbClr val="F0E8E8"/>
                </a:solidFill>
                <a:latin typeface="Geist Mono"/>
                <a:ea typeface="Geist Mono"/>
                <a:cs typeface="Geist Mono"/>
              </a:rPr>
              <a:t> state=</a:t>
            </a:r>
            <a:r>
              <a:rPr sz="1800" b="0" i="0">
                <a:solidFill>
                  <a:srgbClr val="9FD29A"/>
                </a:solidFill>
                <a:latin typeface="Geist Mono"/>
                <a:ea typeface="Geist Mono"/>
                <a:cs typeface="Geist Mono"/>
              </a:rPr>
              <a:t>"DRIVE"</a:t>
            </a:r>
            <a:r>
              <a:rPr sz="1800" b="0" i="0">
                <a:solidFill>
                  <a:srgbClr val="E0785F"/>
                </a:solidFill>
                <a:latin typeface="Geist Mono"/>
                <a:ea typeface="Geist Mono"/>
                <a:cs typeface="Geist Mono"/>
              </a:rPr>
              <a:t>/&gt;</a:t>
            </a:r>
          </a:p>
        </p:txBody>
      </p:sp>
      <p:sp>
        <p:nvSpPr>
          <p:cNvPr id="23" name="TextBox 22"/>
          <p:cNvSpPr txBox="1"/>
          <p:nvPr/>
        </p:nvSpPr>
        <p:spPr>
          <a:xfrm>
            <a:off x="1295400" y="508254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&lt;Sleep</a:t>
            </a:r>
            <a:r>
              <a:rPr sz="1800" b="0" i="0">
                <a:solidFill>
                  <a:srgbClr val="F0E8E8"/>
                </a:solidFill>
                <a:latin typeface="Geist Mono"/>
                <a:ea typeface="Geist Mono"/>
                <a:cs typeface="Geist Mono"/>
              </a:rPr>
              <a:t> msec=</a:t>
            </a:r>
            <a:r>
              <a:rPr sz="1800" b="0" i="0">
                <a:solidFill>
                  <a:srgbClr val="9FD29A"/>
                </a:solidFill>
                <a:latin typeface="Geist Mono"/>
                <a:ea typeface="Geist Mono"/>
                <a:cs typeface="Geist Mono"/>
              </a:rPr>
              <a:t>"500"</a:t>
            </a:r>
            <a:r>
              <a:rPr sz="1800" b="0" i="0">
                <a:solidFill>
                  <a:srgbClr val="E0785F"/>
                </a:solidFill>
                <a:latin typeface="Geist Mono"/>
                <a:ea typeface="Geist Mono"/>
                <a:cs typeface="Geist Mono"/>
              </a:rPr>
              <a:t>/&gt;</a:t>
            </a:r>
          </a:p>
        </p:txBody>
      </p:sp>
      <p:sp>
        <p:nvSpPr>
          <p:cNvPr id="24" name="TextBox 23"/>
          <p:cNvSpPr txBox="1"/>
          <p:nvPr/>
        </p:nvSpPr>
        <p:spPr>
          <a:xfrm>
            <a:off x="1295400" y="544830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&lt;FollowPath</a:t>
            </a:r>
            <a:r>
              <a:rPr sz="1800" b="0" i="0">
                <a:solidFill>
                  <a:srgbClr val="F0E8E8"/>
                </a:solidFill>
                <a:latin typeface="Geist Mono"/>
                <a:ea typeface="Geist Mono"/>
                <a:cs typeface="Geist Mono"/>
              </a:rPr>
              <a:t> trajectory=</a:t>
            </a:r>
            <a:r>
              <a:rPr sz="1800" b="0" i="0">
                <a:solidFill>
                  <a:srgbClr val="9FD29A"/>
                </a:solidFill>
                <a:latin typeface="Geist Mono"/>
                <a:ea typeface="Geist Mono"/>
                <a:cs typeface="Geist Mono"/>
              </a:rPr>
              <a:t>"ToScore"</a:t>
            </a:r>
            <a:r>
              <a:rPr sz="1800" b="0" i="0">
                <a:solidFill>
                  <a:srgbClr val="E0785F"/>
                </a:solidFill>
                <a:latin typeface="Geist Mono"/>
                <a:ea typeface="Geist Mono"/>
                <a:cs typeface="Geist Mono"/>
              </a:rPr>
              <a:t>/&gt;</a:t>
            </a:r>
          </a:p>
        </p:txBody>
      </p:sp>
      <p:sp>
        <p:nvSpPr>
          <p:cNvPr id="25" name="TextBox 24"/>
          <p:cNvSpPr txBox="1"/>
          <p:nvPr/>
        </p:nvSpPr>
        <p:spPr>
          <a:xfrm>
            <a:off x="1295400" y="581406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&lt;SetWantedState</a:t>
            </a:r>
            <a:r>
              <a:rPr sz="1800" b="0" i="0">
                <a:solidFill>
                  <a:srgbClr val="F0E8E8"/>
                </a:solidFill>
                <a:latin typeface="Geist Mono"/>
                <a:ea typeface="Geist Mono"/>
                <a:cs typeface="Geist Mono"/>
              </a:rPr>
              <a:t> state=</a:t>
            </a:r>
            <a:r>
              <a:rPr sz="1800" b="0" i="0">
                <a:solidFill>
                  <a:srgbClr val="9FD29A"/>
                </a:solidFill>
                <a:latin typeface="Geist Mono"/>
                <a:ea typeface="Geist Mono"/>
                <a:cs typeface="Geist Mono"/>
              </a:rPr>
              <a:t>"AIM"</a:t>
            </a:r>
            <a:r>
              <a:rPr sz="1800" b="0" i="0">
                <a:solidFill>
                  <a:srgbClr val="E0785F"/>
                </a:solidFill>
                <a:latin typeface="Geist Mono"/>
                <a:ea typeface="Geist Mono"/>
                <a:cs typeface="Geist Mono"/>
              </a:rPr>
              <a:t>/&gt;</a:t>
            </a:r>
          </a:p>
        </p:txBody>
      </p:sp>
      <p:sp>
        <p:nvSpPr>
          <p:cNvPr id="26" name="TextBox 25"/>
          <p:cNvSpPr txBox="1"/>
          <p:nvPr/>
        </p:nvSpPr>
        <p:spPr>
          <a:xfrm>
            <a:off x="1295400" y="617982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&lt;/Sequence&gt;</a:t>
            </a:r>
          </a:p>
        </p:txBody>
      </p:sp>
      <p:sp>
        <p:nvSpPr>
          <p:cNvPr id="27" name="TextBox 26"/>
          <p:cNvSpPr txBox="1"/>
          <p:nvPr/>
        </p:nvSpPr>
        <p:spPr>
          <a:xfrm>
            <a:off x="1295400" y="6545580"/>
            <a:ext cx="107061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&lt;/BehaviorTree&gt;</a:t>
            </a:r>
          </a:p>
        </p:txBody>
      </p:sp>
      <p:sp>
        <p:nvSpPr>
          <p:cNvPr id="28" name="TextBox 27"/>
          <p:cNvSpPr txBox="1"/>
          <p:nvPr/>
        </p:nvSpPr>
        <p:spPr>
          <a:xfrm>
            <a:off x="1295400" y="6911340"/>
            <a:ext cx="10706100" cy="36576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&lt;/root&gt;</a:t>
            </a:r>
          </a:p>
        </p:txBody>
      </p:sp>
      <p:sp>
        <p:nvSpPr>
          <p:cNvPr id="29" name="Oval 28"/>
          <p:cNvSpPr/>
          <p:nvPr/>
        </p:nvSpPr>
        <p:spPr>
          <a:xfrm>
            <a:off x="12668250" y="3143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13277850" y="31051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file per auto</a:t>
            </a:r>
          </a:p>
        </p:txBody>
      </p:sp>
      <p:sp>
        <p:nvSpPr>
          <p:cNvPr id="32" name="TextBox 31"/>
          <p:cNvSpPr txBox="1"/>
          <p:nvPr/>
        </p:nvSpPr>
        <p:spPr>
          <a:xfrm>
            <a:off x="13277850" y="35242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Its name is the auto's name</a:t>
            </a:r>
          </a:p>
        </p:txBody>
      </p:sp>
      <p:sp>
        <p:nvSpPr>
          <p:cNvPr id="33" name="Oval 32"/>
          <p:cNvSpPr/>
          <p:nvPr/>
        </p:nvSpPr>
        <p:spPr>
          <a:xfrm>
            <a:off x="12668250" y="4762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68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13277850" y="47244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tag per node</a:t>
            </a:r>
          </a:p>
        </p:txBody>
      </p:sp>
      <p:sp>
        <p:nvSpPr>
          <p:cNvPr id="36" name="TextBox 35"/>
          <p:cNvSpPr txBox="1"/>
          <p:nvPr/>
        </p:nvSpPr>
        <p:spPr>
          <a:xfrm>
            <a:off x="13277850" y="51435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Ports are attributes</a:t>
            </a:r>
          </a:p>
        </p:txBody>
      </p:sp>
      <p:sp>
        <p:nvSpPr>
          <p:cNvPr id="37" name="Oval 36"/>
          <p:cNvSpPr/>
          <p:nvPr/>
        </p:nvSpPr>
        <p:spPr>
          <a:xfrm>
            <a:off x="12668250" y="6381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66825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9" name="TextBox 38"/>
          <p:cNvSpPr txBox="1"/>
          <p:nvPr/>
        </p:nvSpPr>
        <p:spPr>
          <a:xfrm>
            <a:off x="13277850" y="63436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Plain text</a:t>
            </a:r>
          </a:p>
        </p:txBody>
      </p:sp>
      <p:sp>
        <p:nvSpPr>
          <p:cNvPr id="40" name="TextBox 39"/>
          <p:cNvSpPr txBox="1"/>
          <p:nvPr/>
        </p:nvSpPr>
        <p:spPr>
          <a:xfrm>
            <a:off x="13277850" y="67627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Git tracks it like any code</a:t>
            </a:r>
          </a:p>
        </p:txBody>
      </p:sp>
      <p:sp>
        <p:nvSpPr>
          <p:cNvPr id="41" name="Rounded Rectangle 40"/>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file-earmark-code.png"/>
          <p:cNvPicPr>
            <a:picLocks noChangeAspect="1"/>
          </p:cNvPicPr>
          <p:nvPr/>
        </p:nvPicPr>
        <p:blipFill>
          <a:blip r:embed="rId3"/>
          <a:stretch>
            <a:fillRect/>
          </a:stretch>
        </p:blipFill>
        <p:spPr>
          <a:xfrm>
            <a:off x="1333500" y="8258175"/>
            <a:ext cx="400050" cy="533400"/>
          </a:xfrm>
          <a:prstGeom prst="rect">
            <a:avLst/>
          </a:prstGeom>
        </p:spPr>
      </p:pic>
      <p:sp>
        <p:nvSpPr>
          <p:cNvPr id="43" name="TextBox 42"/>
          <p:cNvSpPr txBox="1"/>
          <p:nvPr/>
        </p:nvSpPr>
        <p:spPr>
          <a:xfrm>
            <a:off x="2190750" y="80962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Ctrl+S  </a:t>
            </a:r>
            <a:r>
              <a:rPr sz="2100" b="0" i="0">
                <a:solidFill>
                  <a:srgbClr val="F0E8E8"/>
                </a:solidFill>
                <a:latin typeface="Geist"/>
                <a:ea typeface="Geist"/>
                <a:cs typeface="Geist"/>
              </a:rPr>
              <a:t>saves. The XML tab at the bottom shows exactly what was written.</a:t>
            </a:r>
          </a:p>
        </p:txBody>
      </p:sp>
      <p:sp>
        <p:nvSpPr>
          <p:cNvPr id="44" name="TextBox 4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5" name="TextBox 4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ARBOR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Watch it run, then replay it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096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6667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REPLAY: THE END OF A RUN</a:t>
            </a:r>
          </a:p>
        </p:txBody>
      </p:sp>
      <p:sp>
        <p:nvSpPr>
          <p:cNvPr id="7" name="Rectangle 6"/>
          <p:cNvSpPr/>
          <p:nvPr/>
        </p:nvSpPr>
        <p:spPr>
          <a:xfrm>
            <a:off x="5943600" y="4857750"/>
            <a:ext cx="38100" cy="600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705100" y="5419725"/>
            <a:ext cx="65151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2705100" y="5419725"/>
            <a:ext cx="38100" cy="600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943600" y="5419725"/>
            <a:ext cx="38100" cy="600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182100" y="5419725"/>
            <a:ext cx="38100" cy="6000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219200" y="6000750"/>
            <a:ext cx="3009900" cy="1066800"/>
          </a:xfrm>
          <a:prstGeom prst="roundRect">
            <a:avLst>
              <a:gd name="adj" fmla="val 10714"/>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257300" y="6096000"/>
            <a:ext cx="66675" cy="8763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47800" y="6115050"/>
            <a:ext cx="2667000" cy="321469"/>
          </a:xfrm>
          <a:prstGeom prst="rect">
            <a:avLst/>
          </a:prstGeom>
          <a:noFill/>
        </p:spPr>
        <p:txBody>
          <a:bodyPr wrap="square" lIns="0" rIns="0" tIns="0" bIns="0" anchor="t">
            <a:spAutoFit/>
          </a:bodyPr>
          <a:lstStyle/>
          <a:p>
            <a:pPr algn="l"/>
            <a:r>
              <a:rPr sz="1875" b="1" i="0">
                <a:solidFill>
                  <a:srgbClr val="2DD4BF"/>
                </a:solidFill>
                <a:latin typeface="Geist"/>
                <a:ea typeface="Geist"/>
                <a:cs typeface="Geist"/>
              </a:rPr>
              <a:t>▶  </a:t>
            </a:r>
            <a:r>
              <a:rPr sz="1875" b="1" i="0">
                <a:solidFill>
                  <a:srgbClr val="F0E8E8"/>
                </a:solidFill>
                <a:latin typeface="Geist"/>
                <a:ea typeface="Geist"/>
                <a:cs typeface="Geist"/>
              </a:rPr>
              <a:t>FollowPath</a:t>
            </a:r>
          </a:p>
        </p:txBody>
      </p:sp>
      <p:sp>
        <p:nvSpPr>
          <p:cNvPr id="15" name="TextBox 14"/>
          <p:cNvSpPr txBox="1"/>
          <p:nvPr/>
        </p:nvSpPr>
        <p:spPr>
          <a:xfrm>
            <a:off x="1447800" y="6455569"/>
            <a:ext cx="2667000" cy="285750"/>
          </a:xfrm>
          <a:prstGeom prst="rect">
            <a:avLst/>
          </a:prstGeom>
          <a:noFill/>
        </p:spPr>
        <p:txBody>
          <a:bodyPr wrap="square" lIns="0" rIns="0" tIns="0" bIns="0" anchor="t">
            <a:spAutoFit/>
          </a:bodyPr>
          <a:lstStyle/>
          <a:p>
            <a:pPr algn="l"/>
            <a:r>
              <a:rPr sz="1462" b="0" i="0">
                <a:solidFill>
                  <a:srgbClr val="E8C27A"/>
                </a:solidFill>
                <a:latin typeface="Geist Mono"/>
                <a:ea typeface="Geist Mono"/>
                <a:cs typeface="Geist Mono"/>
              </a:rPr>
              <a:t>ToPickup</a:t>
            </a:r>
          </a:p>
        </p:txBody>
      </p:sp>
      <p:sp>
        <p:nvSpPr>
          <p:cNvPr id="16" name="Rounded Rectangle 15"/>
          <p:cNvSpPr/>
          <p:nvPr/>
        </p:nvSpPr>
        <p:spPr>
          <a:xfrm>
            <a:off x="3152775" y="5848350"/>
            <a:ext cx="981075" cy="285750"/>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152775" y="584835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SUCCESS</a:t>
            </a:r>
          </a:p>
        </p:txBody>
      </p:sp>
      <p:sp>
        <p:nvSpPr>
          <p:cNvPr id="18" name="Rounded Rectangle 17"/>
          <p:cNvSpPr/>
          <p:nvPr/>
        </p:nvSpPr>
        <p:spPr>
          <a:xfrm>
            <a:off x="4457700" y="6000750"/>
            <a:ext cx="3009900" cy="1066800"/>
          </a:xfrm>
          <a:prstGeom prst="roundRect">
            <a:avLst>
              <a:gd name="adj" fmla="val 10714"/>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4495800" y="6096000"/>
            <a:ext cx="66675" cy="8763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686300" y="6115050"/>
            <a:ext cx="2667000" cy="321469"/>
          </a:xfrm>
          <a:prstGeom prst="rect">
            <a:avLst/>
          </a:prstGeom>
          <a:noFill/>
        </p:spPr>
        <p:txBody>
          <a:bodyPr wrap="square" lIns="0" rIns="0" tIns="0" bIns="0" anchor="t">
            <a:spAutoFit/>
          </a:bodyPr>
          <a:lstStyle/>
          <a:p>
            <a:pPr algn="l"/>
            <a:r>
              <a:rPr sz="1875" b="1" i="0">
                <a:solidFill>
                  <a:srgbClr val="2DD4BF"/>
                </a:solidFill>
                <a:latin typeface="Geist"/>
                <a:ea typeface="Geist"/>
                <a:cs typeface="Geist"/>
              </a:rPr>
              <a:t>▶  </a:t>
            </a:r>
            <a:r>
              <a:rPr sz="1875" b="1" i="0">
                <a:solidFill>
                  <a:srgbClr val="F0E8E8"/>
                </a:solidFill>
                <a:latin typeface="Geist"/>
                <a:ea typeface="Geist"/>
                <a:cs typeface="Geist"/>
              </a:rPr>
              <a:t>SetWantedState</a:t>
            </a:r>
          </a:p>
        </p:txBody>
      </p:sp>
      <p:sp>
        <p:nvSpPr>
          <p:cNvPr id="21" name="TextBox 20"/>
          <p:cNvSpPr txBox="1"/>
          <p:nvPr/>
        </p:nvSpPr>
        <p:spPr>
          <a:xfrm>
            <a:off x="4686300" y="6455569"/>
            <a:ext cx="2667000" cy="285750"/>
          </a:xfrm>
          <a:prstGeom prst="rect">
            <a:avLst/>
          </a:prstGeom>
          <a:noFill/>
        </p:spPr>
        <p:txBody>
          <a:bodyPr wrap="square" lIns="0" rIns="0" tIns="0" bIns="0" anchor="t">
            <a:spAutoFit/>
          </a:bodyPr>
          <a:lstStyle/>
          <a:p>
            <a:pPr algn="l"/>
            <a:r>
              <a:rPr sz="1462" b="0" i="0">
                <a:solidFill>
                  <a:srgbClr val="E8C27A"/>
                </a:solidFill>
                <a:latin typeface="Geist Mono"/>
                <a:ea typeface="Geist Mono"/>
                <a:cs typeface="Geist Mono"/>
              </a:rPr>
              <a:t>AIM</a:t>
            </a:r>
          </a:p>
        </p:txBody>
      </p:sp>
      <p:sp>
        <p:nvSpPr>
          <p:cNvPr id="22" name="Rounded Rectangle 21"/>
          <p:cNvSpPr/>
          <p:nvPr/>
        </p:nvSpPr>
        <p:spPr>
          <a:xfrm>
            <a:off x="6391275" y="5848350"/>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91275" y="584835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24" name="Rounded Rectangle 23"/>
          <p:cNvSpPr/>
          <p:nvPr/>
        </p:nvSpPr>
        <p:spPr>
          <a:xfrm>
            <a:off x="7696200" y="6000750"/>
            <a:ext cx="3009900" cy="1066800"/>
          </a:xfrm>
          <a:prstGeom prst="roundRect">
            <a:avLst>
              <a:gd name="adj" fmla="val 10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7734300" y="6096000"/>
            <a:ext cx="66675" cy="876300"/>
          </a:xfrm>
          <a:prstGeom prst="roundRect">
            <a:avLst>
              <a:gd name="adj" fmla="val 42857"/>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924800" y="6115050"/>
            <a:ext cx="2667000" cy="321469"/>
          </a:xfrm>
          <a:prstGeom prst="rect">
            <a:avLst/>
          </a:prstGeom>
          <a:noFill/>
        </p:spPr>
        <p:txBody>
          <a:bodyPr wrap="square" lIns="0" rIns="0" tIns="0" bIns="0" anchor="t">
            <a:spAutoFit/>
          </a:bodyPr>
          <a:lstStyle/>
          <a:p>
            <a:pPr algn="l"/>
            <a:r>
              <a:rPr sz="1875" b="1" i="0">
                <a:solidFill>
                  <a:srgbClr val="2DD4BF"/>
                </a:solidFill>
                <a:latin typeface="Geist"/>
                <a:ea typeface="Geist"/>
                <a:cs typeface="Geist"/>
              </a:rPr>
              <a:t>▶  </a:t>
            </a:r>
            <a:r>
              <a:rPr sz="1875" b="1" i="0">
                <a:solidFill>
                  <a:srgbClr val="F0E8E8"/>
                </a:solidFill>
                <a:latin typeface="Geist"/>
                <a:ea typeface="Geist"/>
                <a:cs typeface="Geist"/>
              </a:rPr>
              <a:t>SetWantedState</a:t>
            </a:r>
          </a:p>
        </p:txBody>
      </p:sp>
      <p:sp>
        <p:nvSpPr>
          <p:cNvPr id="27" name="TextBox 26"/>
          <p:cNvSpPr txBox="1"/>
          <p:nvPr/>
        </p:nvSpPr>
        <p:spPr>
          <a:xfrm>
            <a:off x="7924800" y="6455569"/>
            <a:ext cx="2667000" cy="285750"/>
          </a:xfrm>
          <a:prstGeom prst="rect">
            <a:avLst/>
          </a:prstGeom>
          <a:noFill/>
        </p:spPr>
        <p:txBody>
          <a:bodyPr wrap="square" lIns="0" rIns="0" tIns="0" bIns="0" anchor="t">
            <a:spAutoFit/>
          </a:bodyPr>
          <a:lstStyle/>
          <a:p>
            <a:pPr algn="l"/>
            <a:r>
              <a:rPr sz="1462" b="0" i="0">
                <a:solidFill>
                  <a:srgbClr val="E8C27A"/>
                </a:solidFill>
                <a:latin typeface="Geist Mono"/>
                <a:ea typeface="Geist Mono"/>
                <a:cs typeface="Geist Mono"/>
              </a:rPr>
              <a:t>SHOOT</a:t>
            </a:r>
          </a:p>
        </p:txBody>
      </p:sp>
      <p:sp>
        <p:nvSpPr>
          <p:cNvPr id="28" name="Rounded Rectangle 27"/>
          <p:cNvSpPr/>
          <p:nvPr/>
        </p:nvSpPr>
        <p:spPr>
          <a:xfrm>
            <a:off x="4438650" y="3810000"/>
            <a:ext cx="3048000" cy="1066800"/>
          </a:xfrm>
          <a:prstGeom prst="roundRect">
            <a:avLst>
              <a:gd name="adj" fmla="val 10714"/>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4476750" y="3905250"/>
            <a:ext cx="66675" cy="876300"/>
          </a:xfrm>
          <a:prstGeom prst="roundRect">
            <a:avLst>
              <a:gd name="adj" fmla="val 42857"/>
            </a:avLst>
          </a:prstGeom>
          <a:solidFill>
            <a:srgbClr val="7C9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667250" y="4176712"/>
            <a:ext cx="2705100" cy="321469"/>
          </a:xfrm>
          <a:prstGeom prst="rect">
            <a:avLst/>
          </a:prstGeom>
          <a:noFill/>
        </p:spPr>
        <p:txBody>
          <a:bodyPr wrap="square" lIns="0" rIns="0" tIns="0" bIns="0" anchor="t">
            <a:spAutoFit/>
          </a:bodyPr>
          <a:lstStyle/>
          <a:p>
            <a:pPr algn="l"/>
            <a:r>
              <a:rPr sz="1875" b="1" i="0">
                <a:solidFill>
                  <a:srgbClr val="7C93C3"/>
                </a:solidFill>
                <a:latin typeface="Geist"/>
                <a:ea typeface="Geist"/>
                <a:cs typeface="Geist"/>
              </a:rPr>
              <a:t>→  </a:t>
            </a:r>
            <a:r>
              <a:rPr sz="1875" b="1" i="0">
                <a:solidFill>
                  <a:srgbClr val="F0E8E8"/>
                </a:solidFill>
                <a:latin typeface="Geist"/>
                <a:ea typeface="Geist"/>
                <a:cs typeface="Geist"/>
              </a:rPr>
              <a:t>Sequence</a:t>
            </a:r>
          </a:p>
        </p:txBody>
      </p:sp>
      <p:sp>
        <p:nvSpPr>
          <p:cNvPr id="31" name="Rounded Rectangle 30"/>
          <p:cNvSpPr/>
          <p:nvPr/>
        </p:nvSpPr>
        <p:spPr>
          <a:xfrm>
            <a:off x="6410325" y="3657600"/>
            <a:ext cx="981075" cy="285750"/>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10325" y="3657600"/>
            <a:ext cx="981075" cy="285750"/>
          </a:xfrm>
          <a:prstGeom prst="rect">
            <a:avLst/>
          </a:prstGeom>
          <a:noFill/>
        </p:spPr>
        <p:txBody>
          <a:bodyPr wrap="square" lIns="0" rIns="0" tIns="0" bIns="0" anchor="ctr">
            <a:spAutoFit/>
          </a:bodyPr>
          <a:lstStyle/>
          <a:p>
            <a:pPr algn="ctr"/>
            <a:r>
              <a:rPr sz="1125" b="1" i="0" spc="60">
                <a:solidFill>
                  <a:srgbClr val="FFFFFF"/>
                </a:solidFill>
                <a:latin typeface="Geist"/>
                <a:ea typeface="Geist"/>
                <a:cs typeface="Geist"/>
              </a:rPr>
              <a:t>FAILURE</a:t>
            </a:r>
          </a:p>
        </p:txBody>
      </p:sp>
      <p:sp>
        <p:nvSpPr>
          <p:cNvPr id="33" name="Rounded Rectangle 32"/>
          <p:cNvSpPr/>
          <p:nvPr/>
        </p:nvSpPr>
        <p:spPr>
          <a:xfrm>
            <a:off x="1524000" y="7943850"/>
            <a:ext cx="323850" cy="323850"/>
          </a:xfrm>
          <a:prstGeom prst="roundRect">
            <a:avLst>
              <a:gd name="adj" fmla="val 23529"/>
            </a:avLst>
          </a:prstGeom>
          <a:solidFill>
            <a:srgbClr val="111111"/>
          </a:solidFill>
          <a:ln w="381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981200" y="7905750"/>
            <a:ext cx="2476500" cy="400050"/>
          </a:xfrm>
          <a:prstGeom prst="rect">
            <a:avLst/>
          </a:prstGeom>
          <a:noFill/>
        </p:spPr>
        <p:txBody>
          <a:bodyPr wrap="square" lIns="0" rIns="0" tIns="0" bIns="0" anchor="ctr">
            <a:spAutoFit/>
          </a:bodyPr>
          <a:lstStyle/>
          <a:p>
            <a:pPr algn="l"/>
            <a:r>
              <a:rPr sz="1650" b="1" i="0">
                <a:solidFill>
                  <a:srgbClr val="F0E8E8"/>
                </a:solidFill>
                <a:latin typeface="Geist"/>
                <a:ea typeface="Geist"/>
                <a:cs typeface="Geist"/>
              </a:rPr>
              <a:t>RUNNING</a:t>
            </a:r>
          </a:p>
        </p:txBody>
      </p:sp>
      <p:sp>
        <p:nvSpPr>
          <p:cNvPr id="35" name="Rounded Rectangle 34"/>
          <p:cNvSpPr/>
          <p:nvPr/>
        </p:nvSpPr>
        <p:spPr>
          <a:xfrm>
            <a:off x="4476750" y="7943850"/>
            <a:ext cx="323850" cy="323850"/>
          </a:xfrm>
          <a:prstGeom prst="roundRect">
            <a:avLst>
              <a:gd name="adj" fmla="val 23529"/>
            </a:avLst>
          </a:prstGeom>
          <a:solidFill>
            <a:srgbClr val="111111"/>
          </a:solidFill>
          <a:ln w="3810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933950" y="7905750"/>
            <a:ext cx="2476500" cy="400050"/>
          </a:xfrm>
          <a:prstGeom prst="rect">
            <a:avLst/>
          </a:prstGeom>
          <a:noFill/>
        </p:spPr>
        <p:txBody>
          <a:bodyPr wrap="square" lIns="0" rIns="0" tIns="0" bIns="0" anchor="ctr">
            <a:spAutoFit/>
          </a:bodyPr>
          <a:lstStyle/>
          <a:p>
            <a:pPr algn="l"/>
            <a:r>
              <a:rPr sz="1650" b="1" i="0">
                <a:solidFill>
                  <a:srgbClr val="F0E8E8"/>
                </a:solidFill>
                <a:latin typeface="Geist"/>
                <a:ea typeface="Geist"/>
                <a:cs typeface="Geist"/>
              </a:rPr>
              <a:t>SUCCESS</a:t>
            </a:r>
          </a:p>
        </p:txBody>
      </p:sp>
      <p:sp>
        <p:nvSpPr>
          <p:cNvPr id="37" name="Rounded Rectangle 36"/>
          <p:cNvSpPr/>
          <p:nvPr/>
        </p:nvSpPr>
        <p:spPr>
          <a:xfrm>
            <a:off x="7429500" y="7943850"/>
            <a:ext cx="323850" cy="323850"/>
          </a:xfrm>
          <a:prstGeom prst="roundRect">
            <a:avLst>
              <a:gd name="adj" fmla="val 23529"/>
            </a:avLst>
          </a:prstGeom>
          <a:solidFill>
            <a:srgbClr val="111111"/>
          </a:solidFill>
          <a:ln w="381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886700" y="7905750"/>
            <a:ext cx="2476500" cy="400050"/>
          </a:xfrm>
          <a:prstGeom prst="rect">
            <a:avLst/>
          </a:prstGeom>
          <a:noFill/>
        </p:spPr>
        <p:txBody>
          <a:bodyPr wrap="square" lIns="0" rIns="0" tIns="0" bIns="0" anchor="ctr">
            <a:spAutoFit/>
          </a:bodyPr>
          <a:lstStyle/>
          <a:p>
            <a:pPr algn="l"/>
            <a:r>
              <a:rPr sz="1650" b="1" i="0">
                <a:solidFill>
                  <a:srgbClr val="F0E8E8"/>
                </a:solidFill>
                <a:latin typeface="Geist"/>
                <a:ea typeface="Geist"/>
                <a:cs typeface="Geist"/>
              </a:rPr>
              <a:t>FAILURE</a:t>
            </a:r>
          </a:p>
        </p:txBody>
      </p:sp>
      <p:sp>
        <p:nvSpPr>
          <p:cNvPr id="39" name="TextBox 38"/>
          <p:cNvSpPr txBox="1"/>
          <p:nvPr/>
        </p:nvSpPr>
        <p:spPr>
          <a:xfrm>
            <a:off x="11525250" y="2857500"/>
            <a:ext cx="584835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Live: connect to the robot or simulator</a:t>
            </a:r>
          </a:p>
        </p:txBody>
      </p:sp>
      <p:sp>
        <p:nvSpPr>
          <p:cNvPr id="40" name="TextBox 39"/>
          <p:cNvSpPr txBox="1"/>
          <p:nvPr/>
        </p:nvSpPr>
        <p:spPr>
          <a:xfrm>
            <a:off x="11525250" y="3427095"/>
            <a:ext cx="584835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Every run saved as a .btlog file</a:t>
            </a:r>
          </a:p>
        </p:txBody>
      </p:sp>
      <p:sp>
        <p:nvSpPr>
          <p:cNvPr id="41" name="TextBox 40"/>
          <p:cNvSpPr txBox="1"/>
          <p:nvPr/>
        </p:nvSpPr>
        <p:spPr>
          <a:xfrm>
            <a:off x="11525250" y="3996690"/>
            <a:ext cx="584835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Robot: /U/logs/bt on the USB stick</a:t>
            </a:r>
          </a:p>
        </p:txBody>
      </p:sp>
      <p:sp>
        <p:nvSpPr>
          <p:cNvPr id="42" name="TextBox 41"/>
          <p:cNvSpPr txBox="1"/>
          <p:nvPr/>
        </p:nvSpPr>
        <p:spPr>
          <a:xfrm>
            <a:off x="11525250" y="4566285"/>
            <a:ext cx="584835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Replay it: Space plays, arrows step</a:t>
            </a:r>
          </a:p>
        </p:txBody>
      </p:sp>
      <p:pic>
        <p:nvPicPr>
          <p:cNvPr id="43" name="Picture 42" descr="dozer_wide_left.png"/>
          <p:cNvPicPr>
            <a:picLocks noChangeAspect="1"/>
          </p:cNvPicPr>
          <p:nvPr/>
        </p:nvPicPr>
        <p:blipFill>
          <a:blip r:embed="rId3"/>
          <a:stretch>
            <a:fillRect/>
          </a:stretch>
        </p:blipFill>
        <p:spPr>
          <a:xfrm>
            <a:off x="14859000" y="6667500"/>
            <a:ext cx="2190750" cy="1346530"/>
          </a:xfrm>
          <a:prstGeom prst="rect">
            <a:avLst/>
          </a:prstGeom>
        </p:spPr>
      </p:pic>
      <p:sp>
        <p:nvSpPr>
          <p:cNvPr id="44" name="TextBox 4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5" name="TextBox 4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PRACTICE IN SCRIPTUM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Lesson checkpoints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dozer_left.png"/>
          <p:cNvPicPr>
            <a:picLocks noChangeAspect="1"/>
          </p:cNvPicPr>
          <p:nvPr/>
        </p:nvPicPr>
        <p:blipFill>
          <a:blip r:embed="rId3"/>
          <a:stretch>
            <a:fillRect/>
          </a:stretch>
        </p:blipFill>
        <p:spPr>
          <a:xfrm>
            <a:off x="15144750" y="952500"/>
            <a:ext cx="2228850" cy="1369948"/>
          </a:xfrm>
          <a:prstGeom prst="rect">
            <a:avLst/>
          </a:prstGeom>
        </p:spPr>
      </p:pic>
      <p:sp>
        <p:nvSpPr>
          <p:cNvPr id="6" name="Rounded Rectangle 5"/>
          <p:cNvSpPr/>
          <p:nvPr/>
        </p:nvSpPr>
        <p:spPr>
          <a:xfrm>
            <a:off x="914400" y="2857500"/>
            <a:ext cx="2552700" cy="5334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1100" y="3143250"/>
            <a:ext cx="201930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5</a:t>
            </a:r>
          </a:p>
        </p:txBody>
      </p:sp>
      <p:sp>
        <p:nvSpPr>
          <p:cNvPr id="8" name="TextBox 7"/>
          <p:cNvSpPr txBox="1"/>
          <p:nvPr/>
        </p:nvSpPr>
        <p:spPr>
          <a:xfrm>
            <a:off x="1181100" y="4000500"/>
            <a:ext cx="20193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9" name="TextBox 8"/>
          <p:cNvSpPr txBox="1"/>
          <p:nvPr/>
        </p:nvSpPr>
        <p:spPr>
          <a:xfrm>
            <a:off x="1181100" y="4381500"/>
            <a:ext cx="2095500" cy="762000"/>
          </a:xfrm>
          <a:prstGeom prst="rect">
            <a:avLst/>
          </a:prstGeom>
          <a:noFill/>
        </p:spPr>
        <p:txBody>
          <a:bodyPr wrap="square" lIns="0" rIns="0" tIns="0" bIns="0" anchor="t">
            <a:spAutoFit/>
          </a:bodyPr>
          <a:lstStyle/>
          <a:p>
            <a:pPr algn="l">
              <a:lnSpc>
                <a:spcPct val="110000"/>
              </a:lnSpc>
            </a:pPr>
            <a:r>
              <a:rPr sz="1875" b="1" i="0">
                <a:solidFill>
                  <a:srgbClr val="F0E8E8"/>
                </a:solidFill>
                <a:latin typeface="Geist"/>
                <a:ea typeface="Geist"/>
                <a:cs typeface="Geist"/>
              </a:rPr>
              <a:t>Meet the Editor</a:t>
            </a:r>
          </a:p>
        </p:txBody>
      </p:sp>
      <p:sp>
        <p:nvSpPr>
          <p:cNvPr id="10" name="TextBox 9"/>
          <p:cNvSpPr txBox="1"/>
          <p:nvPr/>
        </p:nvSpPr>
        <p:spPr>
          <a:xfrm>
            <a:off x="1181100" y="523875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Make a folder and a file</a:t>
            </a:r>
          </a:p>
        </p:txBody>
      </p:sp>
      <p:sp>
        <p:nvSpPr>
          <p:cNvPr id="11" name="TextBox 10"/>
          <p:cNvSpPr txBox="1"/>
          <p:nvPr/>
        </p:nvSpPr>
        <p:spPr>
          <a:xfrm>
            <a:off x="1181100" y="593598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Rename and delete files</a:t>
            </a:r>
          </a:p>
        </p:txBody>
      </p:sp>
      <p:sp>
        <p:nvSpPr>
          <p:cNvPr id="12" name="TextBox 11"/>
          <p:cNvSpPr txBox="1"/>
          <p:nvPr/>
        </p:nvSpPr>
        <p:spPr>
          <a:xfrm>
            <a:off x="1181100" y="6633210"/>
            <a:ext cx="201930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Run src/Main.java</a:t>
            </a:r>
          </a:p>
        </p:txBody>
      </p:sp>
      <p:sp>
        <p:nvSpPr>
          <p:cNvPr id="13" name="Rounded Rectangle 12"/>
          <p:cNvSpPr/>
          <p:nvPr/>
        </p:nvSpPr>
        <p:spPr>
          <a:xfrm>
            <a:off x="3695700" y="2857500"/>
            <a:ext cx="2552700" cy="5334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962400" y="3143250"/>
            <a:ext cx="201930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15" name="TextBox 14"/>
          <p:cNvSpPr txBox="1"/>
          <p:nvPr/>
        </p:nvSpPr>
        <p:spPr>
          <a:xfrm>
            <a:off x="3962400" y="4000500"/>
            <a:ext cx="20193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16" name="TextBox 15"/>
          <p:cNvSpPr txBox="1"/>
          <p:nvPr/>
        </p:nvSpPr>
        <p:spPr>
          <a:xfrm>
            <a:off x="3962400" y="4381500"/>
            <a:ext cx="20955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Git Basics</a:t>
            </a:r>
          </a:p>
        </p:txBody>
      </p:sp>
      <p:sp>
        <p:nvSpPr>
          <p:cNvPr id="17" name="TextBox 16"/>
          <p:cNvSpPr txBox="1"/>
          <p:nvPr/>
        </p:nvSpPr>
        <p:spPr>
          <a:xfrm>
            <a:off x="3962400" y="523875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First commit, feature branch</a:t>
            </a:r>
          </a:p>
        </p:txBody>
      </p:sp>
      <p:sp>
        <p:nvSpPr>
          <p:cNvPr id="18" name="TextBox 17"/>
          <p:cNvSpPr txBox="1"/>
          <p:nvPr/>
        </p:nvSpPr>
        <p:spPr>
          <a:xfrm>
            <a:off x="3962400" y="593598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Merge and a merge conflict</a:t>
            </a:r>
          </a:p>
        </p:txBody>
      </p:sp>
      <p:sp>
        <p:nvSpPr>
          <p:cNvPr id="19" name="TextBox 18"/>
          <p:cNvSpPr txBox="1"/>
          <p:nvPr/>
        </p:nvSpPr>
        <p:spPr>
          <a:xfrm>
            <a:off x="3962400" y="663321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Rebase, push, pull, stash</a:t>
            </a:r>
          </a:p>
        </p:txBody>
      </p:sp>
      <p:sp>
        <p:nvSpPr>
          <p:cNvPr id="20" name="Rounded Rectangle 19"/>
          <p:cNvSpPr/>
          <p:nvPr/>
        </p:nvSpPr>
        <p:spPr>
          <a:xfrm>
            <a:off x="6477000" y="2857500"/>
            <a:ext cx="2552700" cy="5334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43700" y="3143250"/>
            <a:ext cx="201930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22" name="TextBox 21"/>
          <p:cNvSpPr txBox="1"/>
          <p:nvPr/>
        </p:nvSpPr>
        <p:spPr>
          <a:xfrm>
            <a:off x="6743700" y="4000500"/>
            <a:ext cx="20193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23" name="TextBox 22"/>
          <p:cNvSpPr txBox="1"/>
          <p:nvPr/>
        </p:nvSpPr>
        <p:spPr>
          <a:xfrm>
            <a:off x="6743700" y="4381500"/>
            <a:ext cx="2095500" cy="762000"/>
          </a:xfrm>
          <a:prstGeom prst="rect">
            <a:avLst/>
          </a:prstGeom>
          <a:noFill/>
        </p:spPr>
        <p:txBody>
          <a:bodyPr wrap="square" lIns="0" rIns="0" tIns="0" bIns="0" anchor="t">
            <a:spAutoFit/>
          </a:bodyPr>
          <a:lstStyle/>
          <a:p>
            <a:pPr algn="l">
              <a:lnSpc>
                <a:spcPct val="110000"/>
              </a:lnSpc>
            </a:pPr>
            <a:r>
              <a:rPr sz="1875" b="1" i="0">
                <a:solidFill>
                  <a:srgbClr val="F0E8E8"/>
                </a:solidFill>
                <a:latin typeface="Geist"/>
                <a:ea typeface="Geist"/>
                <a:cs typeface="Geist"/>
              </a:rPr>
              <a:t>AdvantageScope</a:t>
            </a:r>
          </a:p>
        </p:txBody>
      </p:sp>
      <p:sp>
        <p:nvSpPr>
          <p:cNvPr id="24" name="TextBox 23"/>
          <p:cNvSpPr txBox="1"/>
          <p:nvPr/>
        </p:nvSpPr>
        <p:spPr>
          <a:xfrm>
            <a:off x="6743700" y="523875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Line graph, locked axis, differentiate</a:t>
            </a:r>
          </a:p>
        </p:txBody>
      </p:sp>
      <p:sp>
        <p:nvSpPr>
          <p:cNvPr id="25" name="TextBox 24"/>
          <p:cNvSpPr txBox="1"/>
          <p:nvPr/>
        </p:nvSpPr>
        <p:spPr>
          <a:xfrm>
            <a:off x="6743700" y="593598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Discrete field, 2D and 3D field</a:t>
            </a:r>
          </a:p>
        </p:txBody>
      </p:sp>
      <p:sp>
        <p:nvSpPr>
          <p:cNvPr id="26" name="TextBox 25"/>
          <p:cNvSpPr txBox="1"/>
          <p:nvPr/>
        </p:nvSpPr>
        <p:spPr>
          <a:xfrm>
            <a:off x="6743700" y="663321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Swerve tab, tuned value</a:t>
            </a:r>
          </a:p>
        </p:txBody>
      </p:sp>
      <p:sp>
        <p:nvSpPr>
          <p:cNvPr id="27" name="Rounded Rectangle 26"/>
          <p:cNvSpPr/>
          <p:nvPr/>
        </p:nvSpPr>
        <p:spPr>
          <a:xfrm>
            <a:off x="9258300" y="2857500"/>
            <a:ext cx="2552700" cy="5334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525000" y="3143250"/>
            <a:ext cx="201930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19</a:t>
            </a:r>
          </a:p>
        </p:txBody>
      </p:sp>
      <p:sp>
        <p:nvSpPr>
          <p:cNvPr id="29" name="TextBox 28"/>
          <p:cNvSpPr txBox="1"/>
          <p:nvPr/>
        </p:nvSpPr>
        <p:spPr>
          <a:xfrm>
            <a:off x="9525000" y="4000500"/>
            <a:ext cx="20193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0" name="TextBox 29"/>
          <p:cNvSpPr txBox="1"/>
          <p:nvPr/>
        </p:nvSpPr>
        <p:spPr>
          <a:xfrm>
            <a:off x="9525000" y="4381500"/>
            <a:ext cx="20955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Elastic</a:t>
            </a:r>
          </a:p>
        </p:txBody>
      </p:sp>
      <p:sp>
        <p:nvSpPr>
          <p:cNvPr id="31" name="TextBox 30"/>
          <p:cNvSpPr txBox="1"/>
          <p:nvPr/>
        </p:nvSpPr>
        <p:spPr>
          <a:xfrm>
            <a:off x="9525000" y="523875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Ten display widgets</a:t>
            </a:r>
          </a:p>
        </p:txBody>
      </p:sp>
      <p:sp>
        <p:nvSpPr>
          <p:cNvPr id="32" name="TextBox 31"/>
          <p:cNvSpPr txBox="1"/>
          <p:nvPr/>
        </p:nvSpPr>
        <p:spPr>
          <a:xfrm>
            <a:off x="9525000" y="593598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Sliders, choosers and toggles</a:t>
            </a:r>
          </a:p>
        </p:txBody>
      </p:sp>
      <p:sp>
        <p:nvSpPr>
          <p:cNvPr id="33" name="TextBox 32"/>
          <p:cNvSpPr txBox="1"/>
          <p:nvPr/>
        </p:nvSpPr>
        <p:spPr>
          <a:xfrm>
            <a:off x="9525000" y="663321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Live writes to the robot</a:t>
            </a:r>
          </a:p>
        </p:txBody>
      </p:sp>
      <p:sp>
        <p:nvSpPr>
          <p:cNvPr id="34" name="Rounded Rectangle 33"/>
          <p:cNvSpPr/>
          <p:nvPr/>
        </p:nvSpPr>
        <p:spPr>
          <a:xfrm>
            <a:off x="12039600" y="2857500"/>
            <a:ext cx="2552700" cy="5334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2306300" y="3143250"/>
            <a:ext cx="201930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4</a:t>
            </a:r>
          </a:p>
        </p:txBody>
      </p:sp>
      <p:sp>
        <p:nvSpPr>
          <p:cNvPr id="36" name="TextBox 35"/>
          <p:cNvSpPr txBox="1"/>
          <p:nvPr/>
        </p:nvSpPr>
        <p:spPr>
          <a:xfrm>
            <a:off x="12306300" y="4000500"/>
            <a:ext cx="20193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7" name="TextBox 36"/>
          <p:cNvSpPr txBox="1"/>
          <p:nvPr/>
        </p:nvSpPr>
        <p:spPr>
          <a:xfrm>
            <a:off x="12306300" y="4381500"/>
            <a:ext cx="20955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Choreo</a:t>
            </a:r>
          </a:p>
        </p:txBody>
      </p:sp>
      <p:sp>
        <p:nvSpPr>
          <p:cNvPr id="38" name="TextBox 37"/>
          <p:cNvSpPr txBox="1"/>
          <p:nvPr/>
        </p:nvSpPr>
        <p:spPr>
          <a:xfrm>
            <a:off x="12306300" y="523875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Waypoints on two paths</a:t>
            </a:r>
          </a:p>
        </p:txBody>
      </p:sp>
      <p:sp>
        <p:nvSpPr>
          <p:cNvPr id="39" name="TextBox 38"/>
          <p:cNvSpPr txBox="1"/>
          <p:nvPr/>
        </p:nvSpPr>
        <p:spPr>
          <a:xfrm>
            <a:off x="12306300" y="5935980"/>
            <a:ext cx="201930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A real constraint</a:t>
            </a:r>
          </a:p>
        </p:txBody>
      </p:sp>
      <p:sp>
        <p:nvSpPr>
          <p:cNvPr id="40" name="TextBox 39"/>
          <p:cNvSpPr txBox="1"/>
          <p:nvPr/>
        </p:nvSpPr>
        <p:spPr>
          <a:xfrm>
            <a:off x="12306300" y="6360795"/>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Both paths generate</a:t>
            </a:r>
          </a:p>
        </p:txBody>
      </p:sp>
      <p:sp>
        <p:nvSpPr>
          <p:cNvPr id="41" name="Rounded Rectangle 40"/>
          <p:cNvSpPr/>
          <p:nvPr/>
        </p:nvSpPr>
        <p:spPr>
          <a:xfrm>
            <a:off x="14820900" y="2857500"/>
            <a:ext cx="2552700" cy="5334000"/>
          </a:xfrm>
          <a:prstGeom prst="roundRect">
            <a:avLst>
              <a:gd name="adj" fmla="val 597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5087600" y="3143250"/>
            <a:ext cx="201930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5</a:t>
            </a:r>
          </a:p>
        </p:txBody>
      </p:sp>
      <p:sp>
        <p:nvSpPr>
          <p:cNvPr id="43" name="TextBox 42"/>
          <p:cNvSpPr txBox="1"/>
          <p:nvPr/>
        </p:nvSpPr>
        <p:spPr>
          <a:xfrm>
            <a:off x="15087600" y="4000500"/>
            <a:ext cx="201930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44" name="TextBox 43"/>
          <p:cNvSpPr txBox="1"/>
          <p:nvPr/>
        </p:nvSpPr>
        <p:spPr>
          <a:xfrm>
            <a:off x="15087600" y="4381500"/>
            <a:ext cx="20955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Arbor</a:t>
            </a:r>
          </a:p>
        </p:txBody>
      </p:sp>
      <p:sp>
        <p:nvSpPr>
          <p:cNvPr id="45" name="TextBox 44"/>
          <p:cNvSpPr txBox="1"/>
          <p:nvPr/>
        </p:nvSpPr>
        <p:spPr>
          <a:xfrm>
            <a:off x="15087600" y="5238750"/>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Your own tree, a Sequence</a:t>
            </a:r>
          </a:p>
        </p:txBody>
      </p:sp>
      <p:sp>
        <p:nvSpPr>
          <p:cNvPr id="46" name="TextBox 45"/>
          <p:cNvSpPr txBox="1"/>
          <p:nvPr/>
        </p:nvSpPr>
        <p:spPr>
          <a:xfrm>
            <a:off x="15087600" y="5935980"/>
            <a:ext cx="201930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Ports filled in</a:t>
            </a:r>
          </a:p>
        </p:txBody>
      </p:sp>
      <p:sp>
        <p:nvSpPr>
          <p:cNvPr id="47" name="TextBox 46"/>
          <p:cNvSpPr txBox="1"/>
          <p:nvPr/>
        </p:nvSpPr>
        <p:spPr>
          <a:xfrm>
            <a:off x="15087600" y="6360795"/>
            <a:ext cx="201930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Timeout, Fallback, a tunable</a:t>
            </a:r>
          </a:p>
        </p:txBody>
      </p:sp>
      <p:sp>
        <p:nvSpPr>
          <p:cNvPr id="48" name="TextBox 47"/>
          <p:cNvSpPr txBox="1"/>
          <p:nvPr/>
        </p:nvSpPr>
        <p:spPr>
          <a:xfrm>
            <a:off x="914400" y="857250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Scriptum: </a:t>
            </a:r>
            <a:r>
              <a:rPr sz="1950" b="1" i="0">
                <a:solidFill>
                  <a:srgbClr val="F0E8E8"/>
                </a:solidFill>
                <a:latin typeface="Geist"/>
                <a:ea typeface="Geist"/>
                <a:cs typeface="Geist"/>
              </a:rPr>
              <a:t>Tools track</a:t>
            </a:r>
            <a:r>
              <a:rPr sz="1950" b="0" i="0">
                <a:solidFill>
                  <a:srgbClr val="9A7878"/>
                </a:solidFill>
                <a:latin typeface="Geist"/>
                <a:ea typeface="Geist"/>
                <a:cs typeface="Geist"/>
              </a:rPr>
              <a:t>  ·  open the lesson chip and press Verify</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Find your way around the editor and run a program</a:t>
            </a:r>
          </a:p>
        </p:txBody>
      </p:sp>
      <p:pic>
        <p:nvPicPr>
          <p:cNvPr id="7" name="Picture 6" descr="check-circle-fill.png"/>
          <p:cNvPicPr>
            <a:picLocks noChangeAspect="1"/>
          </p:cNvPicPr>
          <p:nvPr/>
        </p:nvPicPr>
        <p:blipFill>
          <a:blip r:embed="rId3"/>
          <a:stretch>
            <a:fillRect/>
          </a:stretch>
        </p:blipFill>
        <p:spPr>
          <a:xfrm>
            <a:off x="914400" y="3695700"/>
            <a:ext cx="381000" cy="381000"/>
          </a:xfrm>
          <a:prstGeom prst="rect">
            <a:avLst/>
          </a:prstGeom>
        </p:spPr>
      </p:pic>
      <p:sp>
        <p:nvSpPr>
          <p:cNvPr id="8" name="TextBox 7"/>
          <p:cNvSpPr txBox="1"/>
          <p:nvPr/>
        </p:nvSpPr>
        <p:spPr>
          <a:xfrm>
            <a:off x="1524000" y="36576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Commit, branch, merge and resolve a conflict</a:t>
            </a:r>
          </a:p>
        </p:txBody>
      </p:sp>
      <p:pic>
        <p:nvPicPr>
          <p:cNvPr id="9" name="Picture 8" descr="check-circle-fill.png"/>
          <p:cNvPicPr>
            <a:picLocks noChangeAspect="1"/>
          </p:cNvPicPr>
          <p:nvPr/>
        </p:nvPicPr>
        <p:blipFill>
          <a:blip r:embed="rId3"/>
          <a:stretch>
            <a:fillRect/>
          </a:stretch>
        </p:blipFill>
        <p:spPr>
          <a:xfrm>
            <a:off x="914400" y="4495800"/>
            <a:ext cx="381000" cy="381000"/>
          </a:xfrm>
          <a:prstGeom prst="rect">
            <a:avLst/>
          </a:prstGeom>
        </p:spPr>
      </p:pic>
      <p:sp>
        <p:nvSpPr>
          <p:cNvPr id="10" name="TextBox 9"/>
          <p:cNvSpPr txBox="1"/>
          <p:nvPr/>
        </p:nvSpPr>
        <p:spPr>
          <a:xfrm>
            <a:off x="1524000" y="44577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Push and pull with the team's GitHub</a:t>
            </a:r>
          </a:p>
        </p:txBody>
      </p:sp>
      <p:pic>
        <p:nvPicPr>
          <p:cNvPr id="11" name="Picture 10" descr="check-circle-fill.png"/>
          <p:cNvPicPr>
            <a:picLocks noChangeAspect="1"/>
          </p:cNvPicPr>
          <p:nvPr/>
        </p:nvPicPr>
        <p:blipFill>
          <a:blip r:embed="rId3"/>
          <a:stretch>
            <a:fillRect/>
          </a:stretch>
        </p:blipFill>
        <p:spPr>
          <a:xfrm>
            <a:off x="914400" y="5295900"/>
            <a:ext cx="381000" cy="381000"/>
          </a:xfrm>
          <a:prstGeom prst="rect">
            <a:avLst/>
          </a:prstGeom>
        </p:spPr>
      </p:pic>
      <p:sp>
        <p:nvSpPr>
          <p:cNvPr id="12" name="TextBox 11"/>
          <p:cNvSpPr txBox="1"/>
          <p:nvPr/>
        </p:nvSpPr>
        <p:spPr>
          <a:xfrm>
            <a:off x="1524000" y="52578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Read robot telemetry in AdvantageScope</a:t>
            </a:r>
          </a:p>
        </p:txBody>
      </p:sp>
      <p:pic>
        <p:nvPicPr>
          <p:cNvPr id="13" name="Picture 12" descr="check-circle-fill.png"/>
          <p:cNvPicPr>
            <a:picLocks noChangeAspect="1"/>
          </p:cNvPicPr>
          <p:nvPr/>
        </p:nvPicPr>
        <p:blipFill>
          <a:blip r:embed="rId3"/>
          <a:stretch>
            <a:fillRect/>
          </a:stretch>
        </p:blipFill>
        <p:spPr>
          <a:xfrm>
            <a:off x="914400" y="6096000"/>
            <a:ext cx="381000" cy="381000"/>
          </a:xfrm>
          <a:prstGeom prst="rect">
            <a:avLst/>
          </a:prstGeom>
        </p:spPr>
      </p:pic>
      <p:sp>
        <p:nvSpPr>
          <p:cNvPr id="14" name="TextBox 13"/>
          <p:cNvSpPr txBox="1"/>
          <p:nvPr/>
        </p:nvSpPr>
        <p:spPr>
          <a:xfrm>
            <a:off x="1524000" y="60579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Build a driver dashboard in Elastic</a:t>
            </a:r>
          </a:p>
        </p:txBody>
      </p:sp>
      <p:pic>
        <p:nvPicPr>
          <p:cNvPr id="15" name="Picture 14" descr="check-circle-fill.png"/>
          <p:cNvPicPr>
            <a:picLocks noChangeAspect="1"/>
          </p:cNvPicPr>
          <p:nvPr/>
        </p:nvPicPr>
        <p:blipFill>
          <a:blip r:embed="rId3"/>
          <a:stretch>
            <a:fillRect/>
          </a:stretch>
        </p:blipFill>
        <p:spPr>
          <a:xfrm>
            <a:off x="914400" y="6896100"/>
            <a:ext cx="381000" cy="381000"/>
          </a:xfrm>
          <a:prstGeom prst="rect">
            <a:avLst/>
          </a:prstGeom>
        </p:spPr>
      </p:pic>
      <p:sp>
        <p:nvSpPr>
          <p:cNvPr id="16" name="TextBox 15"/>
          <p:cNvSpPr txBox="1"/>
          <p:nvPr/>
        </p:nvSpPr>
        <p:spPr>
          <a:xfrm>
            <a:off x="1524000" y="68580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Plan and generate a Choreo path</a:t>
            </a:r>
          </a:p>
        </p:txBody>
      </p:sp>
      <p:pic>
        <p:nvPicPr>
          <p:cNvPr id="17" name="Picture 16" descr="check-circle-fill.png"/>
          <p:cNvPicPr>
            <a:picLocks noChangeAspect="1"/>
          </p:cNvPicPr>
          <p:nvPr/>
        </p:nvPicPr>
        <p:blipFill>
          <a:blip r:embed="rId3"/>
          <a:stretch>
            <a:fillRect/>
          </a:stretch>
        </p:blipFill>
        <p:spPr>
          <a:xfrm>
            <a:off x="914400" y="7696200"/>
            <a:ext cx="381000" cy="381000"/>
          </a:xfrm>
          <a:prstGeom prst="rect">
            <a:avLst/>
          </a:prstGeom>
        </p:spPr>
      </p:pic>
      <p:sp>
        <p:nvSpPr>
          <p:cNvPr id="18" name="TextBox 17"/>
          <p:cNvSpPr txBox="1"/>
          <p:nvPr/>
        </p:nvSpPr>
        <p:spPr>
          <a:xfrm>
            <a:off x="1524000" y="7658100"/>
            <a:ext cx="100965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Build an auto as a behavior tree in Arbor</a:t>
            </a:r>
          </a:p>
        </p:txBody>
      </p:sp>
      <p:sp>
        <p:nvSpPr>
          <p:cNvPr id="19" name="Rounded Rectangle 18"/>
          <p:cNvSpPr/>
          <p:nvPr/>
        </p:nvSpPr>
        <p:spPr>
          <a:xfrm>
            <a:off x="12039600" y="2857500"/>
            <a:ext cx="5334000" cy="55245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496800" y="3276600"/>
            <a:ext cx="438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pic>
        <p:nvPicPr>
          <p:cNvPr id="21" name="Picture 20" descr="code-slash.png"/>
          <p:cNvPicPr>
            <a:picLocks noChangeAspect="1"/>
          </p:cNvPicPr>
          <p:nvPr/>
        </p:nvPicPr>
        <p:blipFill>
          <a:blip r:embed="rId4"/>
          <a:stretch>
            <a:fillRect/>
          </a:stretch>
        </p:blipFill>
        <p:spPr>
          <a:xfrm>
            <a:off x="12496800" y="3810000"/>
            <a:ext cx="571500" cy="533400"/>
          </a:xfrm>
          <a:prstGeom prst="rect">
            <a:avLst/>
          </a:prstGeom>
        </p:spPr>
      </p:pic>
      <p:sp>
        <p:nvSpPr>
          <p:cNvPr id="22" name="TextBox 21"/>
          <p:cNvSpPr txBox="1"/>
          <p:nvPr/>
        </p:nvSpPr>
        <p:spPr>
          <a:xfrm>
            <a:off x="12496800" y="4572000"/>
            <a:ext cx="4476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Motors and Drivetrains</a:t>
            </a:r>
          </a:p>
        </p:txBody>
      </p:sp>
      <p:sp>
        <p:nvSpPr>
          <p:cNvPr id="23" name="TextBox 22"/>
          <p:cNvSpPr txBox="1"/>
          <p:nvPr/>
        </p:nvSpPr>
        <p:spPr>
          <a:xfrm>
            <a:off x="12496800" y="5810250"/>
            <a:ext cx="4476750" cy="1714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first FRC Robot lesson: tank drive, then arcade drive.</a:t>
            </a:r>
          </a:p>
        </p:txBody>
      </p:sp>
      <p:pic>
        <p:nvPicPr>
          <p:cNvPr id="24" name="Picture 23" descr="dozer.png"/>
          <p:cNvPicPr>
            <a:picLocks noChangeAspect="1"/>
          </p:cNvPicPr>
          <p:nvPr/>
        </p:nvPicPr>
        <p:blipFill>
          <a:blip r:embed="rId5"/>
          <a:stretch>
            <a:fillRect/>
          </a:stretch>
        </p:blipFill>
        <p:spPr>
          <a:xfrm>
            <a:off x="14859000" y="6667500"/>
            <a:ext cx="2190750" cy="1346530"/>
          </a:xfrm>
          <a:prstGeom prst="rect">
            <a:avLst/>
          </a:prstGeom>
        </p:spPr>
      </p:pic>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