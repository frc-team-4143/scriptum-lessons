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deck covers the tools every programmer on the team uses before we touch robot code: the editor, git, AdvantageScope, Elastic, Choreo and Arbor. Each section teaches the ideas; the hands-on practice is the matching Scriptum lesson, listed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sections. The first two are about writing and saving code. The next two are about seeing what the robot is doing. The last two plan what it does in autonomous.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team laptops each tool is its own desktop app: VS Code with the WPILib extension, AdvantageScope, Elastic, Choreo, Arbor, plus the FRC Driver Station. That's what you'll use on the real robot. For training we use Scriptum, a browser workspace that bundles the same tools next to a simulated robot, so you can practice without a laptop or a robot.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experience needed. These are the things every programmer does all 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code editor is a text editor built for code. It colors the code, points out mistakes before you run it, and lets you add extensions. The WPILib extension is what lets us build and deploy robot code. The team laptops run VS Code; Scriptum's training editor is VSCodium, the open-source build of the same editor, so everything here works the same on a laptop.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Scriptum, the training workspace. On a laptop, the editor is VS Code and the tool panes and Driver Station are separate app windows. Point at each part. 1 Explorer: the project's files. 2 Editor: where you type. 3 Tool panes: AdvantageScope here; Elastic and Choreo open in the same spot. 4 Driver Station: Start builds and runs the robot code, Enable turns it on, Teleop/Auto/Test pick the mode.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isn't magic: it's words typed into files. The extension after the dot tells you and the computer what kind of file it is. These four show up in every robot project.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project is one folder with everything for a program. A path is a file's address: the folders you walk through to reach it. Every robot lesson's code is at this same path. Activity: ask students to read the path out loud as directions.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terminal is another way to work with the same files: type a command, press Enter. Have everyone open it with Ctrl+` and run pwd and ls. Up arrow repeats the last command; Tab finishes a name for you.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Shortcuts save a lot of clicking. Click inside the editor first so it hears the keys.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Cole's tech tips. Try each live: Alt+click three lines and type; select a word and press Ctrl+D a few times; Ctrl+click a method name to jump to it. The command palette runs every WPILib command: type WPILib to see Build and Deploy. GitLens (an extension) shows who last changed each line, called blame.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you press Run, the editor first compiles the Java: it checks it and turns it into instructions the computer can run. If there's a mistake, it stops and tells you where. Then the program runs and anything it prints shows in the terminal. Robot code works the same way, except the program keeps running in a loop.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 is how the whole team works on the same robot code without overwriting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Without version control, people email files around and overwrite each other's work. Git remembers every version, like unlimited save points in a game, and lets many people work at once. Ask: who has ever lost work because they saved over something?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repository is a project folder git is watching. Each programming project is usually its own repo: the robot code, MWLib, this year's vision code. Every repo keeps its whole history inside a hidden .git folder.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commit is a saved snapshot with a message. Keep commits small so each one is one step. They act as breadcrumbs for your work, so a teammate (or you, next week) can see exactly what changed and when. Activity: have students rewrite the bad messages.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code moves through four places. You edit in the working directory. git add (the + button) stages a change: picks it for the next commit, like putting items in a box before you seal it. git commit seals the box into your local repository. git push sends it to the remote on GitHub. Edit, save, stage, message, commit is the routine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branch is your own line of work that doesn't disturb anyone else's. Always branch for a new feature. Here a bugfix and a new feature both started from main and grow side by side: neither one sees the other's commits until they're merged.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conventions: main is production-ready. develop collects finished features. Every feature branch starts from develop, is named issue-&lt;number&gt;-&lt;description&gt; after its GitHub issue, and merges back into develop through a pull request. When develop is ready for competition it's merged into main. Nobody pushes straight to main or develop.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Merging brings another branch's commits into the one you're on. Stand on the branch that receives the work: here we're on develop and merge shooter into it. The merge commit (the solid dot) has two parents, so develop now has the teammate's commit and all of shooter's. On the team, merges happen through pull requests on GitHub so someone reviews the code first.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two branches changed the same line, git can't guess which one is right, so it stops and asks you. It's not an error. Analogy: two people edit the same line of a recipe, one to 2 cups and one to half a cup. The editor shows Accept Current, Accept Incoming and Accept Both above the conflict.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Rebase picks up your commits and puts them back down on top of develop's newest commit, as if you had just started. A and B become new commits A' and B' (new IDs), and history becomes one straight line. Because it rewrites your commits, only rebase a branch nobody else has copied. If you're not sure, merge: it's always safe.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project folder is the local copy. The team's shared copy lives on GitHub and is called the remote, usually named origin. Push sends your commits up; pull brings teammates' commits down. Stash puts unfinished work on a shelf so you can switch branches, and stash pop brings it back.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is where the team stores every project online (github.com/FRC-Team-4143). Beyond storage it gives us pull requests for code review, issues to track work, and project boards to see who is doing what. Feature branch names come from issue numbers.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every task on the team flows, start to finish. Find or make the issue and assign yourself. Branch from develop named after the issue. Commit small steps and comment on the issue as you go. Open a pull request linked to the issue, ask a teammate or mentor to review, merge once it's approved, then delete the branch. The project board columns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can't see inside a robot. Telemetry is how the robot tells us what it's doing.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loop (about 50 times a second) the robot code can publish values: speeds, sensor readings, where it thinks it is. Those values travel over NetworkTables to tools on the laptop. AdvantageScope graphs and draws them; Elastic shows them to drivers. AdvantageKit can also save them to a log file to replay after a match.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AdvantageScope window. Sidebar: every field the robot publishes, in folders; drag one into the view. Tab bar: one tab per view (Line Graph, 2D Field, 3D Field, Swerve and more); add tabs with +. Viewer: the graph or field itself. Control pane: which fields this tab shows and on which axis. Screenshot from the AdvantageScope docs.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published value is a field with a name and a type. The type decides how AdvantageScope can show it: numbers on a line graph, true/false as colored bands, poses on a field. Ask: what type would the battery voltage be? Is a game piece loaded?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 graphs plot values over time. 1: the left and right axes each have their own scale, so RPM (thousands) and battery voltage (about 12) fit on one graph. 2: lock an axis range with the lock icon so the scale stops jumping. 3: discrete fields show true/false and text as colored bands under the graph. 4: hover to read exact values at one moment; scroll to zoom in time. Ask: why does the voltage dip when the flywheel spins up?</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tab shows data a different way. Line Graph for numbers over time. 2D Field for where the robot is. 3D Field to watch the whole robot and its mechanisms. Swerve for each wheel's speed and direction. Screenshots from the AdvantageScope docs.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Differentiate shows how fast a value is changing. Flywheel RPM differentiated is how fast the flywheel is speeding up: big while it spins up, zero once it holds speed, negative as it slows. Same idea as speed and acceleration: a car at a steady 60 mph has zero acceleration.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pose is where the robot is and which way it faces: x and y in meters from the field's origin corner (the blue alliance side), plus a rotation measured counterclockwise from the x axis. A Pose2d is flat; a Pose3d adds height, tilt and roll. The 2D and 3D Field tabs draw it so you can watch the robot drive. Ask: what happens to x as the robot drives toward the red alliance?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AdvantageScope was built by Team 6328. It reads two kinds of source. Live: anything on NetworkTables, from the robot or the simulator (File &gt; Connect to Robot / Connect to Simulator). Logs: files recorded during testing and matches, opened with File &gt; Open Log(s). It's a big app for development and match review, not for driving during competition; that's Elastic's job. The team keeps layout templates (tuning, match review) you load with File &gt; Import Layout.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values are read-only: AdvantageScope just shows them. Tuning Mode, the slider icon, lets you type new values, but only for values the code publishes under /Tuning. That's how we'll tune things like flywheel speed without redeploying code.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AdvantageScope is for programmers digging into data. Elastic is for drivers glancing at a screen.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tools read the same robot data. AdvantageScope is the analysis tool: graphs, replays, deep dives after a match. Elastic is the driver dashboard: big, simple widgets a driver can read in a glance, and controls they can set before a match. Elastic was built by Team 353 and replaces the older SmartDashboard and Shuffleboard.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competition dashboard from the Elastic docs. Everything is big and readable at a glance: the field with the robot's pose, match time, battery voltage, gyro heading, and the auto chooser the drive team sets before the match. Ask: what would you want to see in the half second you look away from the robot?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NetworkTables is a shared table of named values. The robot publishes a topic, like ClimberSpeed; any dashboard can subscribe to it by name. It also works the other way: a dashboard can publish a value and the robot reads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Pick the widget that matches the data and what the driver needs to know. A boolean as a big green/red box is readable from across the room; a number bar shows a value against its range. To add one, click + Add Widget and drag a topic onto the grid; Elastic picks a widget from the topic's type, and right-click &gt; Edit Properties changes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steps to every widget. Click + Add Widget, find the topic in the list (search helps), and drag it onto the grid. Elastic picks a widget that fits the data type. Then right-click it and choose Edit Properties to change the widget type, its title, or its range. Screenshots from the Elastic docs.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widgets only display. Some send values to the robot: sliders, choosers, toggles, text with a submit button. The robot reads whatever was last sent. This is how drivers pick the auto routine before a match. Elastic layouts are saved to a file, so use File &gt; Save.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autonomous nobody is driving: the robot follows the plan we give 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match starts with an autonomous period: the robot drives itself with no driver input. It needs a plan of exactly where to go and how fast. Choreo is the tool we use to make that plan.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path is just the route. A trajectory adds timing: at every moment, where the robot should be, which way it faces and how fast it's moving. That's what the robot code follows.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Waypoints are points the path goes through. Pose waypoints pin position and heading; use them at the start and end. Translation waypoints pin only position and let Choreo pick the heading. Constraints are rules, like a max velocity in one zone. Every path starts with Stop at the start and end. Screenshot from the Choreo docs.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Generate works out the fastest trajectory through every waypoint that obeys every constraint, using the robot's real limits (motor speed, mass, wheel grip). If no such path exists, it fails. Fix it by changing the numbers or switching a constraint off, then generate again.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Generate, Choreo draws the trajectory on the field. Color along the path shows speed, so you can see where the robot slows for a turn. Press play or drag the timeline to watch it drive. Choreo saves it as a .traj file that the robot code loads. Screenshot from the Choreo docs.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Choreo draws where the robot drives in auto. Arbor is where we say what it does, and when.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Arbor is the editor for our autonomous routines. Choreo gives us the paths; Arbor puts the whole routine together: drive this path, aim, shoot, and what to do if something goes wrong. A routine is a behavior tree: a small tree of steps. Arbor saves it as an XML file in the robot project, and the robot runs that file. No Java to write for a new auto. On the team laptops Arbor is a desktop app; in Scriptum it's the Arbor pane. Ask: why might it help that a new auto is just a file? (You can change the order of steps or a wait time without rebuilding the code.)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a whole autonomous routine as a tree. Read it from the top, left to right. The top Sequence does its children in order: drive the ToPickup path, ask the robot to aim, then the Fallback, then shoot. The Fallback is a plan B: wait for the robot to be aimed (retry the IsSystemState check), but only for 3 seconds (the Timeout), and if that fails, drive to the backup spot instead. Grey boxes hold other boxes and decide how to run them. Teal boxes do the real work. Purple boxes are checks. Deck 9 goes through exactly how the robot runs a tree, one tick at a time. Ask: what happens if aiming takes 5 seconds? (The Timeout stops it at 3 and the Fallback drives to the backup spot.)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Arbor window. 1: Trees, every tree file in the project; + New tree makes your own. 2: Nodes, every step you can use, with a search box. The robot's own steps (SetWantedState, FollowPath) are listed with the built-in ones. Drag one onto the canvas, or right-click a node and choose Add child. 3: the canvas, the tree itself; click a node to select it. 4: the selected node's settings, called ports. 5: Problems, the XML Arbor will save, and the live log. Screenshot from the Arbor project.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node's settings are called ports, and you fill them in on the right. SetWantedState needs the robot state to ask for. FollowPath needs the name of a Choreo path, spelled exactly. Sleep needs how many milliseconds to wait. Any number can be tunable: declare an input port on the tree with a default, then write its name in braces, like {wait_msec}. On the robot it shows up on the dashboard, so the drive team can change it at the field without rebuilding. Ask: why would you want the wait time tunable? (To wait for a partner robot to get out of the way.)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Save, with Ctrl+S, writes the tree to a file in the robot project's deploy/autos/trees folder. Open the XML tab to see exactly what was saved: one line per node, ports as attributes. That file is what the robot runs, so it's worth reading once. It's plain text, so git tracks it like any code: commit it, branch it, review it. Ask: how many nodes are in this tree? (Five: the Sequence and four steps.)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robot or the simulator runs an auto, Arbor can connect to it and colour the tree as it runs: orange while a node is running, green for success, red for failure. Every run is also recorded as a log file, on the robot's USB stick in /U/logs/bt (or logs/bt in simulation). Copy it off, choose Replay a log file, and step through the run after the match: Space plays, arrow keys step one change at a time. Ask: why did SHOOT never run? (The robot never reached AIM, so the Timeout failed after 3 seconds, and a Sequence stops at the first failure.)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hands-on part. Each tool has a Scriptum lesson in the Tools track; open the lesson chip and press Verify on each checkpoint. Nothing is graded and you can verify as many times as you like.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Everything after this uses these tools: the editor every time, git for every change, AdvantageScope to check what the robot did, and Choreo and Arbor again in Autonomous.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8.png"/><Relationship Id="rId4" Type="http://schemas.openxmlformats.org/officeDocument/2006/relationships/image" Target="../media/image16.png"/><Relationship Id="rId5"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2.jpg"/><Relationship Id="rId4" Type="http://schemas.openxmlformats.org/officeDocument/2006/relationships/image" Target="../media/image23.jpg"/><Relationship Id="rId5" Type="http://schemas.openxmlformats.org/officeDocument/2006/relationships/image" Target="../media/image24.jpg"/><Relationship Id="rId6" Type="http://schemas.openxmlformats.org/officeDocument/2006/relationships/image" Target="../media/image25.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7.png"/><Relationship Id="rId4" Type="http://schemas.openxmlformats.org/officeDocument/2006/relationships/image" Target="../media/image2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0.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31.jpg"/><Relationship Id="rId4" Type="http://schemas.openxmlformats.org/officeDocument/2006/relationships/image" Target="../media/image32.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37.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16.png"/><Relationship Id="rId4" Type="http://schemas.openxmlformats.org/officeDocument/2006/relationships/image" Target="../media/image1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38.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8.png"/><Relationship Id="rId4" Type="http://schemas.openxmlformats.org/officeDocument/2006/relationships/image" Target="../media/image3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1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4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1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4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ectangle 1"/>
          <p:cNvSpPr/>
          <p:nvPr/>
        </p:nvSpPr>
        <p:spPr>
          <a:xfrm>
            <a:off x="0" y="0"/>
            <a:ext cx="114300" cy="1028700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TOOLS  ·  DECK 0</a:t>
            </a:r>
          </a:p>
        </p:txBody>
      </p:sp>
      <p:pic>
        <p:nvPicPr>
          <p:cNvPr id="4" name="Picture 3" descr="mw_logo_small.png"/>
          <p:cNvPicPr>
            <a:picLocks noChangeAspect="1"/>
          </p:cNvPicPr>
          <p:nvPr/>
        </p:nvPicPr>
        <p:blipFill>
          <a:blip r:embed="rId3"/>
          <a:stretch>
            <a:fillRect/>
          </a:stretch>
        </p:blipFill>
        <p:spPr>
          <a:xfrm>
            <a:off x="15801975" y="685800"/>
            <a:ext cx="1571134" cy="1333500"/>
          </a:xfrm>
          <a:prstGeom prst="rect">
            <a:avLst/>
          </a:prstGeom>
        </p:spPr>
      </p:pic>
      <p:sp>
        <p:nvSpPr>
          <p:cNvPr id="5" name="TextBox 4"/>
          <p:cNvSpPr txBox="1"/>
          <p:nvPr/>
        </p:nvSpPr>
        <p:spPr>
          <a:xfrm>
            <a:off x="914400" y="3619500"/>
            <a:ext cx="14287500" cy="1333500"/>
          </a:xfrm>
          <a:prstGeom prst="rect">
            <a:avLst/>
          </a:prstGeom>
          <a:noFill/>
        </p:spPr>
        <p:txBody>
          <a:bodyPr wrap="square" lIns="0" rIns="0" tIns="0" bIns="0" anchor="t">
            <a:spAutoFit/>
          </a:bodyPr>
          <a:lstStyle/>
          <a:p>
            <a:pPr algn="l"/>
            <a:r>
              <a:rPr sz="7200" b="1" i="1">
                <a:solidFill>
                  <a:srgbClr val="CC2200"/>
                </a:solidFill>
                <a:latin typeface="Geist"/>
                <a:ea typeface="Geist"/>
                <a:cs typeface="Geist"/>
              </a:rPr>
              <a:t>The Tools</a:t>
            </a:r>
          </a:p>
        </p:txBody>
      </p:sp>
      <p:sp>
        <p:nvSpPr>
          <p:cNvPr id="6" name="TextBox 5"/>
          <p:cNvSpPr txBox="1"/>
          <p:nvPr/>
        </p:nvSpPr>
        <p:spPr>
          <a:xfrm>
            <a:off x="914400" y="4953000"/>
            <a:ext cx="9525000" cy="1143000"/>
          </a:xfrm>
          <a:prstGeom prst="rect">
            <a:avLst/>
          </a:prstGeom>
          <a:noFill/>
        </p:spPr>
        <p:txBody>
          <a:bodyPr wrap="square" lIns="0" rIns="0" tIns="0" bIns="0" anchor="t">
            <a:spAutoFit/>
          </a:bodyPr>
          <a:lstStyle/>
          <a:p>
            <a:pPr algn="l">
              <a:lnSpc>
                <a:spcPct val="130000"/>
              </a:lnSpc>
            </a:pPr>
            <a:r>
              <a:rPr sz="2400" b="0" i="0">
                <a:solidFill>
                  <a:srgbClr val="9A7878"/>
                </a:solidFill>
                <a:latin typeface="Geist"/>
                <a:ea typeface="Geist"/>
                <a:cs typeface="Geist"/>
              </a:rPr>
              <a:t>Meet the Editor, Git Basics, AdvantageScope, Elastic, Choreo and Arbor: the six tools every MARS/WARS programmer uses.</a:t>
            </a:r>
          </a:p>
        </p:txBody>
      </p:sp>
      <p:pic>
        <p:nvPicPr>
          <p:cNvPr id="7" name="Picture 6" descr="dozer_look_up.png"/>
          <p:cNvPicPr>
            <a:picLocks noChangeAspect="1"/>
          </p:cNvPicPr>
          <p:nvPr/>
        </p:nvPicPr>
        <p:blipFill>
          <a:blip r:embed="rId4"/>
          <a:stretch>
            <a:fillRect/>
          </a:stretch>
        </p:blipFill>
        <p:spPr>
          <a:xfrm>
            <a:off x="13716000" y="6858000"/>
            <a:ext cx="3429000" cy="2107613"/>
          </a:xfrm>
          <a:prstGeom prst="rect">
            <a:avLst/>
          </a:prstGeom>
        </p:spPr>
      </p:pic>
      <p:sp>
        <p:nvSpPr>
          <p:cNvPr id="8" name="Isosceles Triangle 7"/>
          <p:cNvSpPr/>
          <p:nvPr/>
        </p:nvSpPr>
        <p:spPr>
          <a:xfrm rot="10800000">
            <a:off x="16356330" y="63817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1811000" y="5276850"/>
            <a:ext cx="4953000" cy="1143000"/>
          </a:xfrm>
          <a:prstGeom prst="roundRect">
            <a:avLst>
              <a:gd name="adj" fmla="val 16666"/>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2077700" y="5276850"/>
            <a:ext cx="4419600" cy="114300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Hi! I'm Dozer. I'll show you around the tools.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TODAY</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Six tools, six lessons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2552700" cy="4953000"/>
          </a:xfrm>
          <a:prstGeom prst="roundRect">
            <a:avLst>
              <a:gd name="adj" fmla="val 597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vscode.png"/>
          <p:cNvPicPr>
            <a:picLocks noChangeAspect="1"/>
          </p:cNvPicPr>
          <p:nvPr/>
        </p:nvPicPr>
        <p:blipFill>
          <a:blip r:embed="rId3"/>
          <a:stretch>
            <a:fillRect/>
          </a:stretch>
        </p:blipFill>
        <p:spPr>
          <a:xfrm>
            <a:off x="1257300" y="3543300"/>
            <a:ext cx="998352" cy="838200"/>
          </a:xfrm>
          <a:prstGeom prst="rect">
            <a:avLst/>
          </a:prstGeom>
        </p:spPr>
      </p:pic>
      <p:sp>
        <p:nvSpPr>
          <p:cNvPr id="7" name="TextBox 6"/>
          <p:cNvSpPr txBox="1"/>
          <p:nvPr/>
        </p:nvSpPr>
        <p:spPr>
          <a:xfrm>
            <a:off x="1257300" y="476250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01</a:t>
            </a:r>
          </a:p>
        </p:txBody>
      </p:sp>
      <p:sp>
        <p:nvSpPr>
          <p:cNvPr id="8" name="TextBox 7"/>
          <p:cNvSpPr txBox="1"/>
          <p:nvPr/>
        </p:nvSpPr>
        <p:spPr>
          <a:xfrm>
            <a:off x="1181100" y="5143500"/>
            <a:ext cx="2171700" cy="762000"/>
          </a:xfrm>
          <a:prstGeom prst="rect">
            <a:avLst/>
          </a:prstGeom>
          <a:noFill/>
        </p:spPr>
        <p:txBody>
          <a:bodyPr wrap="square" lIns="0" rIns="0" tIns="0" bIns="0" anchor="t">
            <a:spAutoFit/>
          </a:bodyPr>
          <a:lstStyle/>
          <a:p>
            <a:pPr algn="l">
              <a:lnSpc>
                <a:spcPct val="110000"/>
              </a:lnSpc>
            </a:pPr>
            <a:r>
              <a:rPr sz="1950" b="1" i="0">
                <a:solidFill>
                  <a:srgbClr val="F0E8E8"/>
                </a:solidFill>
                <a:latin typeface="Geist"/>
                <a:ea typeface="Geist"/>
                <a:cs typeface="Geist"/>
              </a:rPr>
              <a:t>Meet the Editor</a:t>
            </a:r>
          </a:p>
        </p:txBody>
      </p:sp>
      <p:sp>
        <p:nvSpPr>
          <p:cNvPr id="9" name="TextBox 8"/>
          <p:cNvSpPr txBox="1"/>
          <p:nvPr/>
        </p:nvSpPr>
        <p:spPr>
          <a:xfrm>
            <a:off x="1257300" y="6096000"/>
            <a:ext cx="1943100" cy="1905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Where code gets written, organized and run</a:t>
            </a:r>
          </a:p>
        </p:txBody>
      </p:sp>
      <p:sp>
        <p:nvSpPr>
          <p:cNvPr id="10" name="Rounded Rectangle 9"/>
          <p:cNvSpPr/>
          <p:nvPr/>
        </p:nvSpPr>
        <p:spPr>
          <a:xfrm>
            <a:off x="3695700" y="3143250"/>
            <a:ext cx="2552700" cy="4953000"/>
          </a:xfrm>
          <a:prstGeom prst="roundRect">
            <a:avLst>
              <a:gd name="adj" fmla="val 597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git.png"/>
          <p:cNvPicPr>
            <a:picLocks noChangeAspect="1"/>
          </p:cNvPicPr>
          <p:nvPr/>
        </p:nvPicPr>
        <p:blipFill>
          <a:blip r:embed="rId4"/>
          <a:stretch>
            <a:fillRect/>
          </a:stretch>
        </p:blipFill>
        <p:spPr>
          <a:xfrm>
            <a:off x="4038600" y="3543300"/>
            <a:ext cx="838200" cy="838200"/>
          </a:xfrm>
          <a:prstGeom prst="rect">
            <a:avLst/>
          </a:prstGeom>
        </p:spPr>
      </p:pic>
      <p:sp>
        <p:nvSpPr>
          <p:cNvPr id="12" name="TextBox 11"/>
          <p:cNvSpPr txBox="1"/>
          <p:nvPr/>
        </p:nvSpPr>
        <p:spPr>
          <a:xfrm>
            <a:off x="4038600" y="476250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02</a:t>
            </a:r>
          </a:p>
        </p:txBody>
      </p:sp>
      <p:sp>
        <p:nvSpPr>
          <p:cNvPr id="13" name="TextBox 12"/>
          <p:cNvSpPr txBox="1"/>
          <p:nvPr/>
        </p:nvSpPr>
        <p:spPr>
          <a:xfrm>
            <a:off x="3962400" y="5143500"/>
            <a:ext cx="2171700" cy="762000"/>
          </a:xfrm>
          <a:prstGeom prst="rect">
            <a:avLst/>
          </a:prstGeom>
          <a:noFill/>
        </p:spPr>
        <p:txBody>
          <a:bodyPr wrap="square" lIns="0" rIns="0" tIns="0" bIns="0" anchor="t">
            <a:spAutoFit/>
          </a:bodyPr>
          <a:lstStyle/>
          <a:p>
            <a:pPr algn="l">
              <a:lnSpc>
                <a:spcPct val="110000"/>
              </a:lnSpc>
            </a:pPr>
            <a:r>
              <a:rPr sz="1950" b="1" i="0">
                <a:solidFill>
                  <a:srgbClr val="F0E8E8"/>
                </a:solidFill>
                <a:latin typeface="Geist"/>
                <a:ea typeface="Geist"/>
                <a:cs typeface="Geist"/>
              </a:rPr>
              <a:t>Git Basics</a:t>
            </a:r>
          </a:p>
        </p:txBody>
      </p:sp>
      <p:sp>
        <p:nvSpPr>
          <p:cNvPr id="14" name="TextBox 13"/>
          <p:cNvSpPr txBox="1"/>
          <p:nvPr/>
        </p:nvSpPr>
        <p:spPr>
          <a:xfrm>
            <a:off x="4038600" y="6096000"/>
            <a:ext cx="1943100" cy="1905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Saving versions and working as a team</a:t>
            </a:r>
          </a:p>
        </p:txBody>
      </p:sp>
      <p:sp>
        <p:nvSpPr>
          <p:cNvPr id="15" name="Rounded Rectangle 14"/>
          <p:cNvSpPr/>
          <p:nvPr/>
        </p:nvSpPr>
        <p:spPr>
          <a:xfrm>
            <a:off x="6477000" y="3143250"/>
            <a:ext cx="2552700" cy="4953000"/>
          </a:xfrm>
          <a:prstGeom prst="roundRect">
            <a:avLst>
              <a:gd name="adj" fmla="val 597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advantagescope-logo.png"/>
          <p:cNvPicPr>
            <a:picLocks noChangeAspect="1"/>
          </p:cNvPicPr>
          <p:nvPr/>
        </p:nvPicPr>
        <p:blipFill>
          <a:blip r:embed="rId5"/>
          <a:stretch>
            <a:fillRect/>
          </a:stretch>
        </p:blipFill>
        <p:spPr>
          <a:xfrm>
            <a:off x="6819900" y="3543300"/>
            <a:ext cx="838200" cy="838200"/>
          </a:xfrm>
          <a:prstGeom prst="rect">
            <a:avLst/>
          </a:prstGeom>
        </p:spPr>
      </p:pic>
      <p:sp>
        <p:nvSpPr>
          <p:cNvPr id="17" name="TextBox 16"/>
          <p:cNvSpPr txBox="1"/>
          <p:nvPr/>
        </p:nvSpPr>
        <p:spPr>
          <a:xfrm>
            <a:off x="6819900" y="476250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03</a:t>
            </a:r>
          </a:p>
        </p:txBody>
      </p:sp>
      <p:sp>
        <p:nvSpPr>
          <p:cNvPr id="18" name="TextBox 17"/>
          <p:cNvSpPr txBox="1"/>
          <p:nvPr/>
        </p:nvSpPr>
        <p:spPr>
          <a:xfrm>
            <a:off x="6743700" y="5143500"/>
            <a:ext cx="2171700" cy="762000"/>
          </a:xfrm>
          <a:prstGeom prst="rect">
            <a:avLst/>
          </a:prstGeom>
          <a:noFill/>
        </p:spPr>
        <p:txBody>
          <a:bodyPr wrap="square" lIns="0" rIns="0" tIns="0" bIns="0" anchor="t">
            <a:spAutoFit/>
          </a:bodyPr>
          <a:lstStyle/>
          <a:p>
            <a:pPr algn="l">
              <a:lnSpc>
                <a:spcPct val="110000"/>
              </a:lnSpc>
            </a:pPr>
            <a:r>
              <a:rPr sz="1950" b="1" i="0">
                <a:solidFill>
                  <a:srgbClr val="F0E8E8"/>
                </a:solidFill>
                <a:latin typeface="Geist"/>
                <a:ea typeface="Geist"/>
                <a:cs typeface="Geist"/>
              </a:rPr>
              <a:t>AdvantageScope</a:t>
            </a:r>
          </a:p>
        </p:txBody>
      </p:sp>
      <p:sp>
        <p:nvSpPr>
          <p:cNvPr id="19" name="TextBox 18"/>
          <p:cNvSpPr txBox="1"/>
          <p:nvPr/>
        </p:nvSpPr>
        <p:spPr>
          <a:xfrm>
            <a:off x="6819900" y="6096000"/>
            <a:ext cx="1943100" cy="1905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Seeing what the robot is doing</a:t>
            </a:r>
          </a:p>
        </p:txBody>
      </p:sp>
      <p:sp>
        <p:nvSpPr>
          <p:cNvPr id="20" name="Rounded Rectangle 19"/>
          <p:cNvSpPr/>
          <p:nvPr/>
        </p:nvSpPr>
        <p:spPr>
          <a:xfrm>
            <a:off x="9258300" y="3143250"/>
            <a:ext cx="2552700" cy="4953000"/>
          </a:xfrm>
          <a:prstGeom prst="roundRect">
            <a:avLst>
              <a:gd name="adj" fmla="val 597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elastic-logo.png"/>
          <p:cNvPicPr>
            <a:picLocks noChangeAspect="1"/>
          </p:cNvPicPr>
          <p:nvPr/>
        </p:nvPicPr>
        <p:blipFill>
          <a:blip r:embed="rId6"/>
          <a:stretch>
            <a:fillRect/>
          </a:stretch>
        </p:blipFill>
        <p:spPr>
          <a:xfrm>
            <a:off x="9601200" y="3543300"/>
            <a:ext cx="838200" cy="838200"/>
          </a:xfrm>
          <a:prstGeom prst="rect">
            <a:avLst/>
          </a:prstGeom>
        </p:spPr>
      </p:pic>
      <p:sp>
        <p:nvSpPr>
          <p:cNvPr id="22" name="TextBox 21"/>
          <p:cNvSpPr txBox="1"/>
          <p:nvPr/>
        </p:nvSpPr>
        <p:spPr>
          <a:xfrm>
            <a:off x="9601200" y="476250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04</a:t>
            </a:r>
          </a:p>
        </p:txBody>
      </p:sp>
      <p:sp>
        <p:nvSpPr>
          <p:cNvPr id="23" name="TextBox 22"/>
          <p:cNvSpPr txBox="1"/>
          <p:nvPr/>
        </p:nvSpPr>
        <p:spPr>
          <a:xfrm>
            <a:off x="9525000" y="5143500"/>
            <a:ext cx="2171700" cy="762000"/>
          </a:xfrm>
          <a:prstGeom prst="rect">
            <a:avLst/>
          </a:prstGeom>
          <a:noFill/>
        </p:spPr>
        <p:txBody>
          <a:bodyPr wrap="square" lIns="0" rIns="0" tIns="0" bIns="0" anchor="t">
            <a:spAutoFit/>
          </a:bodyPr>
          <a:lstStyle/>
          <a:p>
            <a:pPr algn="l">
              <a:lnSpc>
                <a:spcPct val="110000"/>
              </a:lnSpc>
            </a:pPr>
            <a:r>
              <a:rPr sz="1950" b="1" i="0">
                <a:solidFill>
                  <a:srgbClr val="F0E8E8"/>
                </a:solidFill>
                <a:latin typeface="Geist"/>
                <a:ea typeface="Geist"/>
                <a:cs typeface="Geist"/>
              </a:rPr>
              <a:t>Elastic</a:t>
            </a:r>
          </a:p>
        </p:txBody>
      </p:sp>
      <p:sp>
        <p:nvSpPr>
          <p:cNvPr id="24" name="TextBox 23"/>
          <p:cNvSpPr txBox="1"/>
          <p:nvPr/>
        </p:nvSpPr>
        <p:spPr>
          <a:xfrm>
            <a:off x="9601200" y="6096000"/>
            <a:ext cx="1943100" cy="1905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The dashboard drivers use in a match</a:t>
            </a:r>
          </a:p>
        </p:txBody>
      </p:sp>
      <p:sp>
        <p:nvSpPr>
          <p:cNvPr id="25" name="Rounded Rectangle 24"/>
          <p:cNvSpPr/>
          <p:nvPr/>
        </p:nvSpPr>
        <p:spPr>
          <a:xfrm>
            <a:off x="12039600" y="3143250"/>
            <a:ext cx="2552700" cy="4953000"/>
          </a:xfrm>
          <a:prstGeom prst="roundRect">
            <a:avLst>
              <a:gd name="adj" fmla="val 597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choreo-logo.png"/>
          <p:cNvPicPr>
            <a:picLocks noChangeAspect="1"/>
          </p:cNvPicPr>
          <p:nvPr/>
        </p:nvPicPr>
        <p:blipFill>
          <a:blip r:embed="rId7"/>
          <a:stretch>
            <a:fillRect/>
          </a:stretch>
        </p:blipFill>
        <p:spPr>
          <a:xfrm>
            <a:off x="12382500" y="3543300"/>
            <a:ext cx="838200" cy="838200"/>
          </a:xfrm>
          <a:prstGeom prst="rect">
            <a:avLst/>
          </a:prstGeom>
        </p:spPr>
      </p:pic>
      <p:sp>
        <p:nvSpPr>
          <p:cNvPr id="27" name="TextBox 26"/>
          <p:cNvSpPr txBox="1"/>
          <p:nvPr/>
        </p:nvSpPr>
        <p:spPr>
          <a:xfrm>
            <a:off x="12382500" y="476250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05</a:t>
            </a:r>
          </a:p>
        </p:txBody>
      </p:sp>
      <p:sp>
        <p:nvSpPr>
          <p:cNvPr id="28" name="TextBox 27"/>
          <p:cNvSpPr txBox="1"/>
          <p:nvPr/>
        </p:nvSpPr>
        <p:spPr>
          <a:xfrm>
            <a:off x="12306300" y="5143500"/>
            <a:ext cx="2171700" cy="762000"/>
          </a:xfrm>
          <a:prstGeom prst="rect">
            <a:avLst/>
          </a:prstGeom>
          <a:noFill/>
        </p:spPr>
        <p:txBody>
          <a:bodyPr wrap="square" lIns="0" rIns="0" tIns="0" bIns="0" anchor="t">
            <a:spAutoFit/>
          </a:bodyPr>
          <a:lstStyle/>
          <a:p>
            <a:pPr algn="l">
              <a:lnSpc>
                <a:spcPct val="110000"/>
              </a:lnSpc>
            </a:pPr>
            <a:r>
              <a:rPr sz="1950" b="1" i="0">
                <a:solidFill>
                  <a:srgbClr val="F0E8E8"/>
                </a:solidFill>
                <a:latin typeface="Geist"/>
                <a:ea typeface="Geist"/>
                <a:cs typeface="Geist"/>
              </a:rPr>
              <a:t>Choreo</a:t>
            </a:r>
          </a:p>
        </p:txBody>
      </p:sp>
      <p:sp>
        <p:nvSpPr>
          <p:cNvPr id="29" name="TextBox 28"/>
          <p:cNvSpPr txBox="1"/>
          <p:nvPr/>
        </p:nvSpPr>
        <p:spPr>
          <a:xfrm>
            <a:off x="12382500" y="6096000"/>
            <a:ext cx="1943100" cy="1905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Planning autonomous paths</a:t>
            </a:r>
          </a:p>
        </p:txBody>
      </p:sp>
      <p:sp>
        <p:nvSpPr>
          <p:cNvPr id="30" name="Rounded Rectangle 29"/>
          <p:cNvSpPr/>
          <p:nvPr/>
        </p:nvSpPr>
        <p:spPr>
          <a:xfrm>
            <a:off x="14820900" y="3143250"/>
            <a:ext cx="2552700" cy="4953000"/>
          </a:xfrm>
          <a:prstGeom prst="roundRect">
            <a:avLst>
              <a:gd name="adj" fmla="val 597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arbor-logo.png"/>
          <p:cNvPicPr>
            <a:picLocks noChangeAspect="1"/>
          </p:cNvPicPr>
          <p:nvPr/>
        </p:nvPicPr>
        <p:blipFill>
          <a:blip r:embed="rId8"/>
          <a:stretch>
            <a:fillRect/>
          </a:stretch>
        </p:blipFill>
        <p:spPr>
          <a:xfrm>
            <a:off x="15163800" y="3543300"/>
            <a:ext cx="847165" cy="838200"/>
          </a:xfrm>
          <a:prstGeom prst="rect">
            <a:avLst/>
          </a:prstGeom>
        </p:spPr>
      </p:pic>
      <p:sp>
        <p:nvSpPr>
          <p:cNvPr id="32" name="TextBox 31"/>
          <p:cNvSpPr txBox="1"/>
          <p:nvPr/>
        </p:nvSpPr>
        <p:spPr>
          <a:xfrm>
            <a:off x="15163800" y="476250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06</a:t>
            </a:r>
          </a:p>
        </p:txBody>
      </p:sp>
      <p:sp>
        <p:nvSpPr>
          <p:cNvPr id="33" name="TextBox 32"/>
          <p:cNvSpPr txBox="1"/>
          <p:nvPr/>
        </p:nvSpPr>
        <p:spPr>
          <a:xfrm>
            <a:off x="15087600" y="5143500"/>
            <a:ext cx="2171700" cy="762000"/>
          </a:xfrm>
          <a:prstGeom prst="rect">
            <a:avLst/>
          </a:prstGeom>
          <a:noFill/>
        </p:spPr>
        <p:txBody>
          <a:bodyPr wrap="square" lIns="0" rIns="0" tIns="0" bIns="0" anchor="t">
            <a:spAutoFit/>
          </a:bodyPr>
          <a:lstStyle/>
          <a:p>
            <a:pPr algn="l">
              <a:lnSpc>
                <a:spcPct val="110000"/>
              </a:lnSpc>
            </a:pPr>
            <a:r>
              <a:rPr sz="1950" b="1" i="0">
                <a:solidFill>
                  <a:srgbClr val="F0E8E8"/>
                </a:solidFill>
                <a:latin typeface="Geist"/>
                <a:ea typeface="Geist"/>
                <a:cs typeface="Geist"/>
              </a:rPr>
              <a:t>Arbor</a:t>
            </a:r>
          </a:p>
        </p:txBody>
      </p:sp>
      <p:sp>
        <p:nvSpPr>
          <p:cNvPr id="34" name="TextBox 33"/>
          <p:cNvSpPr txBox="1"/>
          <p:nvPr/>
        </p:nvSpPr>
        <p:spPr>
          <a:xfrm>
            <a:off x="15163800" y="6096000"/>
            <a:ext cx="1943100" cy="1905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Building autonomous routines</a:t>
            </a:r>
          </a:p>
        </p:txBody>
      </p:sp>
      <p:sp>
        <p:nvSpPr>
          <p:cNvPr id="35" name="TextBox 3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6" name="TextBox 3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WHERE THESE TOOLS LIVE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Team laptops and training</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5715000"/>
          </a:xfrm>
          <a:prstGeom prst="roundRect">
            <a:avLst>
              <a:gd name="adj" fmla="val 2666"/>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371600" y="3238500"/>
            <a:ext cx="66675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ON THE TEAM LAPTOPS</a:t>
            </a:r>
          </a:p>
        </p:txBody>
      </p:sp>
      <p:sp>
        <p:nvSpPr>
          <p:cNvPr id="7" name="TextBox 6"/>
          <p:cNvSpPr txBox="1"/>
          <p:nvPr/>
        </p:nvSpPr>
        <p:spPr>
          <a:xfrm>
            <a:off x="1371600" y="3714750"/>
            <a:ext cx="7239000" cy="571500"/>
          </a:xfrm>
          <a:prstGeom prst="rect">
            <a:avLst/>
          </a:prstGeom>
          <a:noFill/>
        </p:spPr>
        <p:txBody>
          <a:bodyPr wrap="square" lIns="0" rIns="0" tIns="0" bIns="0" anchor="t">
            <a:spAutoFit/>
          </a:bodyPr>
          <a:lstStyle/>
          <a:p>
            <a:pPr algn="l"/>
            <a:r>
              <a:rPr sz="3000" b="1" i="0">
                <a:solidFill>
                  <a:srgbClr val="F0E8E8"/>
                </a:solidFill>
                <a:latin typeface="Geist"/>
                <a:ea typeface="Geist"/>
                <a:cs typeface="Geist"/>
              </a:rPr>
              <a:t>Separate desktop apps</a:t>
            </a:r>
          </a:p>
        </p:txBody>
      </p:sp>
      <p:pic>
        <p:nvPicPr>
          <p:cNvPr id="8" name="Picture 7" descr="vscode.png"/>
          <p:cNvPicPr>
            <a:picLocks noChangeAspect="1"/>
          </p:cNvPicPr>
          <p:nvPr/>
        </p:nvPicPr>
        <p:blipFill>
          <a:blip r:embed="rId3"/>
          <a:stretch>
            <a:fillRect/>
          </a:stretch>
        </p:blipFill>
        <p:spPr>
          <a:xfrm>
            <a:off x="1371600" y="4476750"/>
            <a:ext cx="635315" cy="533400"/>
          </a:xfrm>
          <a:prstGeom prst="rect">
            <a:avLst/>
          </a:prstGeom>
        </p:spPr>
      </p:pic>
      <p:sp>
        <p:nvSpPr>
          <p:cNvPr id="9" name="TextBox 8"/>
          <p:cNvSpPr txBox="1"/>
          <p:nvPr/>
        </p:nvSpPr>
        <p:spPr>
          <a:xfrm>
            <a:off x="2247900" y="4476750"/>
            <a:ext cx="5715000" cy="5334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VS Code + WPILib</a:t>
            </a:r>
          </a:p>
        </p:txBody>
      </p:sp>
      <p:pic>
        <p:nvPicPr>
          <p:cNvPr id="10" name="Picture 9" descr="advantagescope-logo.png"/>
          <p:cNvPicPr>
            <a:picLocks noChangeAspect="1"/>
          </p:cNvPicPr>
          <p:nvPr/>
        </p:nvPicPr>
        <p:blipFill>
          <a:blip r:embed="rId4"/>
          <a:stretch>
            <a:fillRect/>
          </a:stretch>
        </p:blipFill>
        <p:spPr>
          <a:xfrm>
            <a:off x="1371600" y="5181600"/>
            <a:ext cx="533400" cy="533400"/>
          </a:xfrm>
          <a:prstGeom prst="rect">
            <a:avLst/>
          </a:prstGeom>
        </p:spPr>
      </p:pic>
      <p:sp>
        <p:nvSpPr>
          <p:cNvPr id="11" name="TextBox 10"/>
          <p:cNvSpPr txBox="1"/>
          <p:nvPr/>
        </p:nvSpPr>
        <p:spPr>
          <a:xfrm>
            <a:off x="2247900" y="5181600"/>
            <a:ext cx="5715000" cy="5334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AdvantageScope</a:t>
            </a:r>
          </a:p>
        </p:txBody>
      </p:sp>
      <p:pic>
        <p:nvPicPr>
          <p:cNvPr id="12" name="Picture 11" descr="elastic-logo.png"/>
          <p:cNvPicPr>
            <a:picLocks noChangeAspect="1"/>
          </p:cNvPicPr>
          <p:nvPr/>
        </p:nvPicPr>
        <p:blipFill>
          <a:blip r:embed="rId5"/>
          <a:stretch>
            <a:fillRect/>
          </a:stretch>
        </p:blipFill>
        <p:spPr>
          <a:xfrm>
            <a:off x="1371600" y="5886450"/>
            <a:ext cx="533400" cy="533400"/>
          </a:xfrm>
          <a:prstGeom prst="rect">
            <a:avLst/>
          </a:prstGeom>
        </p:spPr>
      </p:pic>
      <p:sp>
        <p:nvSpPr>
          <p:cNvPr id="13" name="TextBox 12"/>
          <p:cNvSpPr txBox="1"/>
          <p:nvPr/>
        </p:nvSpPr>
        <p:spPr>
          <a:xfrm>
            <a:off x="2247900" y="5886450"/>
            <a:ext cx="5715000" cy="5334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Elastic</a:t>
            </a:r>
          </a:p>
        </p:txBody>
      </p:sp>
      <p:pic>
        <p:nvPicPr>
          <p:cNvPr id="14" name="Picture 13" descr="choreo-logo.png"/>
          <p:cNvPicPr>
            <a:picLocks noChangeAspect="1"/>
          </p:cNvPicPr>
          <p:nvPr/>
        </p:nvPicPr>
        <p:blipFill>
          <a:blip r:embed="rId6"/>
          <a:stretch>
            <a:fillRect/>
          </a:stretch>
        </p:blipFill>
        <p:spPr>
          <a:xfrm>
            <a:off x="1371600" y="6591300"/>
            <a:ext cx="533400" cy="533400"/>
          </a:xfrm>
          <a:prstGeom prst="rect">
            <a:avLst/>
          </a:prstGeom>
        </p:spPr>
      </p:pic>
      <p:sp>
        <p:nvSpPr>
          <p:cNvPr id="15" name="TextBox 14"/>
          <p:cNvSpPr txBox="1"/>
          <p:nvPr/>
        </p:nvSpPr>
        <p:spPr>
          <a:xfrm>
            <a:off x="2247900" y="6591300"/>
            <a:ext cx="5715000" cy="5334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Choreo</a:t>
            </a:r>
          </a:p>
        </p:txBody>
      </p:sp>
      <p:pic>
        <p:nvPicPr>
          <p:cNvPr id="16" name="Picture 15" descr="arbor-logo.png"/>
          <p:cNvPicPr>
            <a:picLocks noChangeAspect="1"/>
          </p:cNvPicPr>
          <p:nvPr/>
        </p:nvPicPr>
        <p:blipFill>
          <a:blip r:embed="rId7"/>
          <a:stretch>
            <a:fillRect/>
          </a:stretch>
        </p:blipFill>
        <p:spPr>
          <a:xfrm>
            <a:off x="1371600" y="7296150"/>
            <a:ext cx="539105" cy="533400"/>
          </a:xfrm>
          <a:prstGeom prst="rect">
            <a:avLst/>
          </a:prstGeom>
        </p:spPr>
      </p:pic>
      <p:sp>
        <p:nvSpPr>
          <p:cNvPr id="17" name="TextBox 16"/>
          <p:cNvSpPr txBox="1"/>
          <p:nvPr/>
        </p:nvSpPr>
        <p:spPr>
          <a:xfrm>
            <a:off x="2247900" y="7296150"/>
            <a:ext cx="5715000" cy="5334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Arbor</a:t>
            </a:r>
          </a:p>
        </p:txBody>
      </p:sp>
      <p:sp>
        <p:nvSpPr>
          <p:cNvPr id="18" name="TextBox 17"/>
          <p:cNvSpPr txBox="1"/>
          <p:nvPr/>
        </p:nvSpPr>
        <p:spPr>
          <a:xfrm>
            <a:off x="1371600" y="8001000"/>
            <a:ext cx="72390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What you use on the real robot</a:t>
            </a:r>
          </a:p>
        </p:txBody>
      </p:sp>
      <p:sp>
        <p:nvSpPr>
          <p:cNvPr id="19" name="Rounded Rectangle 18"/>
          <p:cNvSpPr/>
          <p:nvPr/>
        </p:nvSpPr>
        <p:spPr>
          <a:xfrm>
            <a:off x="9334500" y="2857500"/>
            <a:ext cx="8039100" cy="5715000"/>
          </a:xfrm>
          <a:prstGeom prst="roundRect">
            <a:avLst>
              <a:gd name="adj" fmla="val 2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791700" y="3238500"/>
            <a:ext cx="6667500" cy="381000"/>
          </a:xfrm>
          <a:prstGeom prst="rect">
            <a:avLst/>
          </a:prstGeom>
          <a:noFill/>
        </p:spPr>
        <p:txBody>
          <a:bodyPr wrap="square" lIns="0" rIns="0" tIns="0" bIns="0" anchor="t">
            <a:spAutoFit/>
          </a:bodyPr>
          <a:lstStyle/>
          <a:p>
            <a:pPr algn="l"/>
            <a:r>
              <a:rPr sz="1650" b="1" i="0" spc="130">
                <a:solidFill>
                  <a:srgbClr val="9A7878"/>
                </a:solidFill>
                <a:latin typeface="Geist"/>
                <a:ea typeface="Geist"/>
                <a:cs typeface="Geist"/>
              </a:rPr>
              <a:t>IN TRAINING</a:t>
            </a:r>
          </a:p>
        </p:txBody>
      </p:sp>
      <p:sp>
        <p:nvSpPr>
          <p:cNvPr id="21" name="TextBox 20"/>
          <p:cNvSpPr txBox="1"/>
          <p:nvPr/>
        </p:nvSpPr>
        <p:spPr>
          <a:xfrm>
            <a:off x="9791700" y="3714750"/>
            <a:ext cx="7239000" cy="571500"/>
          </a:xfrm>
          <a:prstGeom prst="rect">
            <a:avLst/>
          </a:prstGeom>
          <a:noFill/>
        </p:spPr>
        <p:txBody>
          <a:bodyPr wrap="square" lIns="0" rIns="0" tIns="0" bIns="0" anchor="t">
            <a:spAutoFit/>
          </a:bodyPr>
          <a:lstStyle/>
          <a:p>
            <a:pPr algn="l"/>
            <a:r>
              <a:rPr sz="3000" b="1" i="0">
                <a:solidFill>
                  <a:srgbClr val="F0E8E8"/>
                </a:solidFill>
                <a:latin typeface="Geist"/>
                <a:ea typeface="Geist"/>
                <a:cs typeface="Geist"/>
              </a:rPr>
              <a:t>Scriptum</a:t>
            </a:r>
          </a:p>
        </p:txBody>
      </p:sp>
      <p:sp>
        <p:nvSpPr>
          <p:cNvPr id="22" name="Rectangle 21"/>
          <p:cNvSpPr/>
          <p:nvPr/>
        </p:nvSpPr>
        <p:spPr>
          <a:xfrm>
            <a:off x="9791700" y="4572000"/>
            <a:ext cx="5731282" cy="3143250"/>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welcome.png"/>
          <p:cNvPicPr>
            <a:picLocks noChangeAspect="1"/>
          </p:cNvPicPr>
          <p:nvPr/>
        </p:nvPicPr>
        <p:blipFill>
          <a:blip r:embed="rId8"/>
          <a:stretch>
            <a:fillRect/>
          </a:stretch>
        </p:blipFill>
        <p:spPr>
          <a:xfrm>
            <a:off x="9791700" y="4572000"/>
            <a:ext cx="5731282" cy="3143250"/>
          </a:xfrm>
          <a:prstGeom prst="rect">
            <a:avLst/>
          </a:prstGeom>
        </p:spPr>
      </p:pic>
      <p:sp>
        <p:nvSpPr>
          <p:cNvPr id="24" name="Rectangle 23"/>
          <p:cNvSpPr/>
          <p:nvPr/>
        </p:nvSpPr>
        <p:spPr>
          <a:xfrm>
            <a:off x="9791700" y="4572000"/>
            <a:ext cx="5731282" cy="3143250"/>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791700" y="8001000"/>
            <a:ext cx="72390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The same tools in one browser window, with a simulated robot</a:t>
            </a:r>
          </a:p>
        </p:txBody>
      </p:sp>
      <p:sp>
        <p:nvSpPr>
          <p:cNvPr id="26" name="TextBox 2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7" name="TextBox 2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01</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Meet the Editor</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Files, folders, the terminal, and running a program</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Save early, save often. Unsaved code can't run!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is a code editor?</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9144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A text editor</a:t>
            </a:r>
            <a:r>
              <a:rPr sz="2400" b="0" i="0">
                <a:solidFill>
                  <a:srgbClr val="F0E8E8"/>
                </a:solidFill>
                <a:latin typeface="Geist"/>
                <a:ea typeface="Geist"/>
                <a:cs typeface="Geist"/>
              </a:rPr>
              <a:t> made for writing code</a:t>
            </a:r>
          </a:p>
        </p:txBody>
      </p:sp>
      <p:sp>
        <p:nvSpPr>
          <p:cNvPr id="6" name="TextBox 5"/>
          <p:cNvSpPr txBox="1"/>
          <p:nvPr/>
        </p:nvSpPr>
        <p:spPr>
          <a:xfrm>
            <a:off x="914400" y="3539490"/>
            <a:ext cx="9144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Colors</a:t>
            </a:r>
            <a:r>
              <a:rPr sz="2400" b="0" i="0">
                <a:solidFill>
                  <a:srgbClr val="F0E8E8"/>
                </a:solidFill>
                <a:latin typeface="Geist"/>
                <a:ea typeface="Geist"/>
                <a:cs typeface="Geist"/>
              </a:rPr>
              <a:t> the code so it's easier to read</a:t>
            </a:r>
          </a:p>
        </p:txBody>
      </p:sp>
      <p:sp>
        <p:nvSpPr>
          <p:cNvPr id="7" name="TextBox 6"/>
          <p:cNvSpPr txBox="1"/>
          <p:nvPr/>
        </p:nvSpPr>
        <p:spPr>
          <a:xfrm>
            <a:off x="914400" y="4221480"/>
            <a:ext cx="9144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Catches mistakes</a:t>
            </a:r>
            <a:r>
              <a:rPr sz="2400" b="0" i="0">
                <a:solidFill>
                  <a:srgbClr val="F0E8E8"/>
                </a:solidFill>
                <a:latin typeface="Geist"/>
                <a:ea typeface="Geist"/>
                <a:cs typeface="Geist"/>
              </a:rPr>
              <a:t> before you run anything</a:t>
            </a:r>
          </a:p>
        </p:txBody>
      </p:sp>
      <p:sp>
        <p:nvSpPr>
          <p:cNvPr id="8" name="TextBox 7"/>
          <p:cNvSpPr txBox="1"/>
          <p:nvPr/>
        </p:nvSpPr>
        <p:spPr>
          <a:xfrm>
            <a:off x="914400" y="4903470"/>
            <a:ext cx="9144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Extensions</a:t>
            </a:r>
            <a:r>
              <a:rPr sz="2400" b="0" i="0">
                <a:solidFill>
                  <a:srgbClr val="F0E8E8"/>
                </a:solidFill>
                <a:latin typeface="Geist"/>
                <a:ea typeface="Geist"/>
                <a:cs typeface="Geist"/>
              </a:rPr>
              <a:t> add features, like WPILib for robots</a:t>
            </a:r>
          </a:p>
        </p:txBody>
      </p:sp>
      <p:sp>
        <p:nvSpPr>
          <p:cNvPr id="9" name="Rounded Rectangle 8"/>
          <p:cNvSpPr/>
          <p:nvPr/>
        </p:nvSpPr>
        <p:spPr>
          <a:xfrm>
            <a:off x="11430000" y="2857500"/>
            <a:ext cx="5943600" cy="53340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vscode.png"/>
          <p:cNvPicPr>
            <a:picLocks noChangeAspect="1"/>
          </p:cNvPicPr>
          <p:nvPr/>
        </p:nvPicPr>
        <p:blipFill>
          <a:blip r:embed="rId3"/>
          <a:stretch>
            <a:fillRect/>
          </a:stretch>
        </p:blipFill>
        <p:spPr>
          <a:xfrm>
            <a:off x="13544550" y="3524250"/>
            <a:ext cx="2042084" cy="1714500"/>
          </a:xfrm>
          <a:prstGeom prst="rect">
            <a:avLst/>
          </a:prstGeom>
        </p:spPr>
      </p:pic>
      <p:sp>
        <p:nvSpPr>
          <p:cNvPr id="11" name="TextBox 10"/>
          <p:cNvSpPr txBox="1"/>
          <p:nvPr/>
        </p:nvSpPr>
        <p:spPr>
          <a:xfrm>
            <a:off x="11811000" y="5715000"/>
            <a:ext cx="5181600" cy="571500"/>
          </a:xfrm>
          <a:prstGeom prst="rect">
            <a:avLst/>
          </a:prstGeom>
          <a:noFill/>
        </p:spPr>
        <p:txBody>
          <a:bodyPr wrap="square" lIns="0" rIns="0" tIns="0" bIns="0" anchor="t">
            <a:spAutoFit/>
          </a:bodyPr>
          <a:lstStyle/>
          <a:p>
            <a:pPr algn="ctr"/>
            <a:r>
              <a:rPr sz="3000" b="1" i="0">
                <a:solidFill>
                  <a:srgbClr val="F0E8E8"/>
                </a:solidFill>
                <a:latin typeface="Geist"/>
                <a:ea typeface="Geist"/>
                <a:cs typeface="Geist"/>
              </a:rPr>
              <a:t>VS Code</a:t>
            </a:r>
          </a:p>
        </p:txBody>
      </p:sp>
      <p:sp>
        <p:nvSpPr>
          <p:cNvPr id="12" name="TextBox 11"/>
          <p:cNvSpPr txBox="1"/>
          <p:nvPr/>
        </p:nvSpPr>
        <p:spPr>
          <a:xfrm>
            <a:off x="11811000" y="6343650"/>
            <a:ext cx="5181600" cy="1524000"/>
          </a:xfrm>
          <a:prstGeom prst="rect">
            <a:avLst/>
          </a:prstGeom>
          <a:noFill/>
        </p:spPr>
        <p:txBody>
          <a:bodyPr wrap="square" lIns="0" rIns="0" tIns="0" bIns="0" anchor="t">
            <a:spAutoFit/>
          </a:bodyPr>
          <a:lstStyle/>
          <a:p>
            <a:pPr algn="ctr">
              <a:lnSpc>
                <a:spcPct val="130000"/>
              </a:lnSpc>
            </a:pPr>
            <a:r>
              <a:rPr sz="1950" b="0" i="0">
                <a:solidFill>
                  <a:srgbClr val="9A7878"/>
                </a:solidFill>
                <a:latin typeface="Geist"/>
                <a:ea typeface="Geist"/>
                <a:cs typeface="Geist"/>
              </a:rPr>
              <a:t>On every team laptop, with the WPILib extension. Scriptum uses the same editor.</a:t>
            </a:r>
          </a:p>
        </p:txBody>
      </p:sp>
      <p:sp>
        <p:nvSpPr>
          <p:cNvPr id="13" name="TextBox 1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4" name="TextBox 1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A tour of the training workspace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914400" y="2762250"/>
            <a:ext cx="11239500" cy="6164163"/>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workspace.jpg"/>
          <p:cNvPicPr>
            <a:picLocks noChangeAspect="1"/>
          </p:cNvPicPr>
          <p:nvPr/>
        </p:nvPicPr>
        <p:blipFill>
          <a:blip r:embed="rId3"/>
          <a:stretch>
            <a:fillRect/>
          </a:stretch>
        </p:blipFill>
        <p:spPr>
          <a:xfrm>
            <a:off x="914400" y="2762250"/>
            <a:ext cx="11239500" cy="6164163"/>
          </a:xfrm>
          <a:prstGeom prst="rect">
            <a:avLst/>
          </a:prstGeom>
        </p:spPr>
      </p:pic>
      <p:sp>
        <p:nvSpPr>
          <p:cNvPr id="7" name="Rectangle 6"/>
          <p:cNvSpPr/>
          <p:nvPr/>
        </p:nvSpPr>
        <p:spPr>
          <a:xfrm>
            <a:off x="914400" y="2762250"/>
            <a:ext cx="11239500" cy="6164163"/>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1195388" y="3318371"/>
            <a:ext cx="1404938" cy="3980656"/>
          </a:xfrm>
          <a:prstGeom prst="roundRect">
            <a:avLst>
              <a:gd name="adj" fmla="val 9491"/>
            </a:avLst>
          </a:prstGeom>
          <a:noFill/>
          <a:ln w="4762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3938" y="3146921"/>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3938" y="3146921"/>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1" name="Rounded Rectangle 10"/>
          <p:cNvSpPr/>
          <p:nvPr/>
        </p:nvSpPr>
        <p:spPr>
          <a:xfrm>
            <a:off x="2612033" y="3318371"/>
            <a:ext cx="3922117" cy="3980656"/>
          </a:xfrm>
          <a:prstGeom prst="roundRect">
            <a:avLst>
              <a:gd name="adj" fmla="val 3399"/>
            </a:avLst>
          </a:prstGeom>
          <a:noFill/>
          <a:ln w="4762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2440583" y="3146921"/>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0583" y="3146921"/>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4" name="Rounded Rectangle 13"/>
          <p:cNvSpPr/>
          <p:nvPr/>
        </p:nvSpPr>
        <p:spPr>
          <a:xfrm>
            <a:off x="6563420" y="3084215"/>
            <a:ext cx="5561211" cy="4361160"/>
          </a:xfrm>
          <a:prstGeom prst="roundRect">
            <a:avLst>
              <a:gd name="adj" fmla="val 3057"/>
            </a:avLst>
          </a:prstGeom>
          <a:noFill/>
          <a:ln w="4762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391970" y="2912765"/>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91970" y="2912765"/>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7" name="Rounded Rectangle 16"/>
          <p:cNvSpPr/>
          <p:nvPr/>
        </p:nvSpPr>
        <p:spPr>
          <a:xfrm>
            <a:off x="1207095" y="7503914"/>
            <a:ext cx="3278188" cy="1404938"/>
          </a:xfrm>
          <a:prstGeom prst="roundRect">
            <a:avLst>
              <a:gd name="adj" fmla="val 9491"/>
            </a:avLst>
          </a:prstGeom>
          <a:noFill/>
          <a:ln w="4762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35645" y="7332464"/>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5645" y="7332464"/>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20" name="Oval 19"/>
          <p:cNvSpPr/>
          <p:nvPr/>
        </p:nvSpPr>
        <p:spPr>
          <a:xfrm>
            <a:off x="12763500" y="285750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763500" y="285750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2" name="TextBox 21"/>
          <p:cNvSpPr txBox="1"/>
          <p:nvPr/>
        </p:nvSpPr>
        <p:spPr>
          <a:xfrm>
            <a:off x="13449300" y="2819400"/>
            <a:ext cx="4000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Explorer</a:t>
            </a:r>
          </a:p>
        </p:txBody>
      </p:sp>
      <p:sp>
        <p:nvSpPr>
          <p:cNvPr id="23" name="TextBox 22"/>
          <p:cNvSpPr txBox="1"/>
          <p:nvPr/>
        </p:nvSpPr>
        <p:spPr>
          <a:xfrm>
            <a:off x="13449300" y="3276600"/>
            <a:ext cx="4000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Your files and folders</a:t>
            </a:r>
          </a:p>
        </p:txBody>
      </p:sp>
      <p:sp>
        <p:nvSpPr>
          <p:cNvPr id="24" name="Oval 23"/>
          <p:cNvSpPr/>
          <p:nvPr/>
        </p:nvSpPr>
        <p:spPr>
          <a:xfrm>
            <a:off x="12763500" y="428625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763500" y="428625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6" name="TextBox 25"/>
          <p:cNvSpPr txBox="1"/>
          <p:nvPr/>
        </p:nvSpPr>
        <p:spPr>
          <a:xfrm>
            <a:off x="13449300" y="4248150"/>
            <a:ext cx="4000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Editor</a:t>
            </a:r>
          </a:p>
        </p:txBody>
      </p:sp>
      <p:sp>
        <p:nvSpPr>
          <p:cNvPr id="27" name="TextBox 26"/>
          <p:cNvSpPr txBox="1"/>
          <p:nvPr/>
        </p:nvSpPr>
        <p:spPr>
          <a:xfrm>
            <a:off x="13449300" y="4705350"/>
            <a:ext cx="4000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Where you type code</a:t>
            </a:r>
          </a:p>
        </p:txBody>
      </p:sp>
      <p:sp>
        <p:nvSpPr>
          <p:cNvPr id="28" name="Oval 27"/>
          <p:cNvSpPr/>
          <p:nvPr/>
        </p:nvSpPr>
        <p:spPr>
          <a:xfrm>
            <a:off x="12763500" y="571500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763500" y="571500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30" name="TextBox 29"/>
          <p:cNvSpPr txBox="1"/>
          <p:nvPr/>
        </p:nvSpPr>
        <p:spPr>
          <a:xfrm>
            <a:off x="13449300" y="5676900"/>
            <a:ext cx="4000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Tool panes</a:t>
            </a:r>
          </a:p>
        </p:txBody>
      </p:sp>
      <p:sp>
        <p:nvSpPr>
          <p:cNvPr id="31" name="TextBox 30"/>
          <p:cNvSpPr txBox="1"/>
          <p:nvPr/>
        </p:nvSpPr>
        <p:spPr>
          <a:xfrm>
            <a:off x="13449300" y="6134100"/>
            <a:ext cx="4000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AdvantageScope, Elastic, Choreo</a:t>
            </a:r>
          </a:p>
        </p:txBody>
      </p:sp>
      <p:sp>
        <p:nvSpPr>
          <p:cNvPr id="32" name="Oval 31"/>
          <p:cNvSpPr/>
          <p:nvPr/>
        </p:nvSpPr>
        <p:spPr>
          <a:xfrm>
            <a:off x="12763500" y="714375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2763500" y="714375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34" name="TextBox 33"/>
          <p:cNvSpPr txBox="1"/>
          <p:nvPr/>
        </p:nvSpPr>
        <p:spPr>
          <a:xfrm>
            <a:off x="13449300" y="7105650"/>
            <a:ext cx="4000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Driver Station</a:t>
            </a:r>
          </a:p>
        </p:txBody>
      </p:sp>
      <p:sp>
        <p:nvSpPr>
          <p:cNvPr id="35" name="TextBox 34"/>
          <p:cNvSpPr txBox="1"/>
          <p:nvPr/>
        </p:nvSpPr>
        <p:spPr>
          <a:xfrm>
            <a:off x="13449300" y="7562850"/>
            <a:ext cx="4000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Start, enable and drive the robot</a:t>
            </a:r>
          </a:p>
        </p:txBody>
      </p:sp>
      <p:sp>
        <p:nvSpPr>
          <p:cNvPr id="36" name="TextBox 3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7" name="TextBox 3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Files and extensions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7810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A file</a:t>
            </a:r>
            <a:r>
              <a:rPr sz="2400" b="0" i="0">
                <a:solidFill>
                  <a:srgbClr val="F0E8E8"/>
                </a:solidFill>
                <a:latin typeface="Geist"/>
                <a:ea typeface="Geist"/>
                <a:cs typeface="Geist"/>
              </a:rPr>
              <a:t> is one saved thing, with a name</a:t>
            </a:r>
          </a:p>
        </p:txBody>
      </p:sp>
      <p:sp>
        <p:nvSpPr>
          <p:cNvPr id="6" name="TextBox 5"/>
          <p:cNvSpPr txBox="1"/>
          <p:nvPr/>
        </p:nvSpPr>
        <p:spPr>
          <a:xfrm>
            <a:off x="914400" y="3539490"/>
            <a:ext cx="7810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The extension</a:t>
            </a:r>
            <a:r>
              <a:rPr sz="2400" b="0" i="0">
                <a:solidFill>
                  <a:srgbClr val="F0E8E8"/>
                </a:solidFill>
                <a:latin typeface="Geist"/>
                <a:ea typeface="Geist"/>
                <a:cs typeface="Geist"/>
              </a:rPr>
              <a:t> after the dot says what kind</a:t>
            </a:r>
          </a:p>
        </p:txBody>
      </p:sp>
      <p:sp>
        <p:nvSpPr>
          <p:cNvPr id="7" name="TextBox 6"/>
          <p:cNvSpPr txBox="1"/>
          <p:nvPr/>
        </p:nvSpPr>
        <p:spPr>
          <a:xfrm>
            <a:off x="914400" y="4221480"/>
            <a:ext cx="7810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A folder</a:t>
            </a:r>
            <a:r>
              <a:rPr sz="2400" b="0" i="0">
                <a:solidFill>
                  <a:srgbClr val="F0E8E8"/>
                </a:solidFill>
                <a:latin typeface="Geist"/>
                <a:ea typeface="Geist"/>
                <a:cs typeface="Geist"/>
              </a:rPr>
              <a:t> holds files and other folders</a:t>
            </a:r>
          </a:p>
        </p:txBody>
      </p:sp>
      <p:sp>
        <p:nvSpPr>
          <p:cNvPr id="8" name="Rounded Rectangle 7"/>
          <p:cNvSpPr/>
          <p:nvPr/>
        </p:nvSpPr>
        <p:spPr>
          <a:xfrm>
            <a:off x="9525000" y="2857500"/>
            <a:ext cx="7848600" cy="1104900"/>
          </a:xfrm>
          <a:prstGeom prst="roundRect">
            <a:avLst>
              <a:gd name="adj" fmla="val 1379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906000" y="2857500"/>
            <a:ext cx="2095500" cy="1104900"/>
          </a:xfrm>
          <a:prstGeom prst="rect">
            <a:avLst/>
          </a:prstGeom>
          <a:noFill/>
        </p:spPr>
        <p:txBody>
          <a:bodyPr wrap="square" lIns="0" rIns="0" tIns="0" bIns="0" anchor="ctr">
            <a:spAutoFit/>
          </a:bodyPr>
          <a:lstStyle/>
          <a:p>
            <a:pPr algn="l"/>
            <a:r>
              <a:rPr sz="2700" b="0" i="0">
                <a:solidFill>
                  <a:srgbClr val="E0785F"/>
                </a:solidFill>
                <a:latin typeface="Geist Mono"/>
                <a:ea typeface="Geist Mono"/>
                <a:cs typeface="Geist Mono"/>
              </a:rPr>
              <a:t>.java</a:t>
            </a:r>
          </a:p>
        </p:txBody>
      </p:sp>
      <p:sp>
        <p:nvSpPr>
          <p:cNvPr id="10" name="TextBox 9"/>
          <p:cNvSpPr txBox="1"/>
          <p:nvPr/>
        </p:nvSpPr>
        <p:spPr>
          <a:xfrm>
            <a:off x="12096750" y="2857500"/>
            <a:ext cx="5048250" cy="11049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Java code: the robot program</a:t>
            </a:r>
          </a:p>
        </p:txBody>
      </p:sp>
      <p:sp>
        <p:nvSpPr>
          <p:cNvPr id="11" name="Rounded Rectangle 10"/>
          <p:cNvSpPr/>
          <p:nvPr/>
        </p:nvSpPr>
        <p:spPr>
          <a:xfrm>
            <a:off x="9525000" y="4191000"/>
            <a:ext cx="7848600" cy="1104900"/>
          </a:xfrm>
          <a:prstGeom prst="roundRect">
            <a:avLst>
              <a:gd name="adj" fmla="val 1379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906000" y="4191000"/>
            <a:ext cx="2095500" cy="1104900"/>
          </a:xfrm>
          <a:prstGeom prst="rect">
            <a:avLst/>
          </a:prstGeom>
          <a:noFill/>
        </p:spPr>
        <p:txBody>
          <a:bodyPr wrap="square" lIns="0" rIns="0" tIns="0" bIns="0" anchor="ctr">
            <a:spAutoFit/>
          </a:bodyPr>
          <a:lstStyle/>
          <a:p>
            <a:pPr algn="l"/>
            <a:r>
              <a:rPr sz="2700" b="0" i="0">
                <a:solidFill>
                  <a:srgbClr val="E0785F"/>
                </a:solidFill>
                <a:latin typeface="Geist Mono"/>
                <a:ea typeface="Geist Mono"/>
                <a:cs typeface="Geist Mono"/>
              </a:rPr>
              <a:t>.json</a:t>
            </a:r>
          </a:p>
        </p:txBody>
      </p:sp>
      <p:sp>
        <p:nvSpPr>
          <p:cNvPr id="13" name="TextBox 12"/>
          <p:cNvSpPr txBox="1"/>
          <p:nvPr/>
        </p:nvSpPr>
        <p:spPr>
          <a:xfrm>
            <a:off x="12096750" y="4191000"/>
            <a:ext cx="5048250" cy="11049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Settings and data</a:t>
            </a:r>
          </a:p>
        </p:txBody>
      </p:sp>
      <p:sp>
        <p:nvSpPr>
          <p:cNvPr id="14" name="Rounded Rectangle 13"/>
          <p:cNvSpPr/>
          <p:nvPr/>
        </p:nvSpPr>
        <p:spPr>
          <a:xfrm>
            <a:off x="9525000" y="5524500"/>
            <a:ext cx="7848600" cy="1104900"/>
          </a:xfrm>
          <a:prstGeom prst="roundRect">
            <a:avLst>
              <a:gd name="adj" fmla="val 1379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906000" y="5524500"/>
            <a:ext cx="2095500" cy="1104900"/>
          </a:xfrm>
          <a:prstGeom prst="rect">
            <a:avLst/>
          </a:prstGeom>
          <a:noFill/>
        </p:spPr>
        <p:txBody>
          <a:bodyPr wrap="square" lIns="0" rIns="0" tIns="0" bIns="0" anchor="ctr">
            <a:spAutoFit/>
          </a:bodyPr>
          <a:lstStyle/>
          <a:p>
            <a:pPr algn="l"/>
            <a:r>
              <a:rPr sz="2700" b="0" i="0">
                <a:solidFill>
                  <a:srgbClr val="E0785F"/>
                </a:solidFill>
                <a:latin typeface="Geist Mono"/>
                <a:ea typeface="Geist Mono"/>
                <a:cs typeface="Geist Mono"/>
              </a:rPr>
              <a:t>.md</a:t>
            </a:r>
          </a:p>
        </p:txBody>
      </p:sp>
      <p:sp>
        <p:nvSpPr>
          <p:cNvPr id="16" name="TextBox 15"/>
          <p:cNvSpPr txBox="1"/>
          <p:nvPr/>
        </p:nvSpPr>
        <p:spPr>
          <a:xfrm>
            <a:off x="12096750" y="5524500"/>
            <a:ext cx="5048250" cy="11049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Notes and instructions (Markdown)</a:t>
            </a:r>
          </a:p>
        </p:txBody>
      </p:sp>
      <p:sp>
        <p:nvSpPr>
          <p:cNvPr id="17" name="Rounded Rectangle 16"/>
          <p:cNvSpPr/>
          <p:nvPr/>
        </p:nvSpPr>
        <p:spPr>
          <a:xfrm>
            <a:off x="9525000" y="6858000"/>
            <a:ext cx="7848600" cy="1104900"/>
          </a:xfrm>
          <a:prstGeom prst="roundRect">
            <a:avLst>
              <a:gd name="adj" fmla="val 1379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906000" y="6858000"/>
            <a:ext cx="2095500" cy="1104900"/>
          </a:xfrm>
          <a:prstGeom prst="rect">
            <a:avLst/>
          </a:prstGeom>
          <a:noFill/>
        </p:spPr>
        <p:txBody>
          <a:bodyPr wrap="square" lIns="0" rIns="0" tIns="0" bIns="0" anchor="ctr">
            <a:spAutoFit/>
          </a:bodyPr>
          <a:lstStyle/>
          <a:p>
            <a:pPr algn="l"/>
            <a:r>
              <a:rPr sz="2700" b="0" i="0">
                <a:solidFill>
                  <a:srgbClr val="E0785F"/>
                </a:solidFill>
                <a:latin typeface="Geist Mono"/>
                <a:ea typeface="Geist Mono"/>
                <a:cs typeface="Geist Mono"/>
              </a:rPr>
              <a:t>.gradle</a:t>
            </a:r>
          </a:p>
        </p:txBody>
      </p:sp>
      <p:sp>
        <p:nvSpPr>
          <p:cNvPr id="19" name="TextBox 18"/>
          <p:cNvSpPr txBox="1"/>
          <p:nvPr/>
        </p:nvSpPr>
        <p:spPr>
          <a:xfrm>
            <a:off x="12096750" y="6858000"/>
            <a:ext cx="5048250" cy="11049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How to build the project</a:t>
            </a:r>
          </a:p>
        </p:txBody>
      </p:sp>
      <p:sp>
        <p:nvSpPr>
          <p:cNvPr id="20" name="TextBox 1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1" name="TextBox 2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Projects and paths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7810500" cy="6096000"/>
          </a:xfrm>
          <a:prstGeom prst="roundRect">
            <a:avLst>
              <a:gd name="adj" fmla="val 2500"/>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14325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project/</a:t>
            </a:r>
          </a:p>
        </p:txBody>
      </p:sp>
      <p:sp>
        <p:nvSpPr>
          <p:cNvPr id="7" name="TextBox 6"/>
          <p:cNvSpPr txBox="1"/>
          <p:nvPr/>
        </p:nvSpPr>
        <p:spPr>
          <a:xfrm>
            <a:off x="1714500" y="369570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src/</a:t>
            </a:r>
          </a:p>
        </p:txBody>
      </p:sp>
      <p:sp>
        <p:nvSpPr>
          <p:cNvPr id="8" name="TextBox 7"/>
          <p:cNvSpPr txBox="1"/>
          <p:nvPr/>
        </p:nvSpPr>
        <p:spPr>
          <a:xfrm>
            <a:off x="2133600" y="424815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main/</a:t>
            </a:r>
          </a:p>
        </p:txBody>
      </p:sp>
      <p:sp>
        <p:nvSpPr>
          <p:cNvPr id="9" name="TextBox 8"/>
          <p:cNvSpPr txBox="1"/>
          <p:nvPr/>
        </p:nvSpPr>
        <p:spPr>
          <a:xfrm>
            <a:off x="2552700" y="480060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java/</a:t>
            </a:r>
          </a:p>
        </p:txBody>
      </p:sp>
      <p:sp>
        <p:nvSpPr>
          <p:cNvPr id="10" name="TextBox 9"/>
          <p:cNvSpPr txBox="1"/>
          <p:nvPr/>
        </p:nvSpPr>
        <p:spPr>
          <a:xfrm>
            <a:off x="2971800" y="535305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frc/</a:t>
            </a:r>
          </a:p>
        </p:txBody>
      </p:sp>
      <p:sp>
        <p:nvSpPr>
          <p:cNvPr id="11" name="TextBox 10"/>
          <p:cNvSpPr txBox="1"/>
          <p:nvPr/>
        </p:nvSpPr>
        <p:spPr>
          <a:xfrm>
            <a:off x="3390900" y="590550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robot/</a:t>
            </a:r>
          </a:p>
        </p:txBody>
      </p:sp>
      <p:sp>
        <p:nvSpPr>
          <p:cNvPr id="12" name="TextBox 11"/>
          <p:cNvSpPr txBox="1"/>
          <p:nvPr/>
        </p:nvSpPr>
        <p:spPr>
          <a:xfrm>
            <a:off x="3810000" y="6457950"/>
            <a:ext cx="6667500" cy="476250"/>
          </a:xfrm>
          <a:prstGeom prst="rect">
            <a:avLst/>
          </a:prstGeom>
          <a:noFill/>
        </p:spPr>
        <p:txBody>
          <a:bodyPr wrap="square" lIns="0" rIns="0" tIns="0" bIns="0" anchor="ctr">
            <a:spAutoFit/>
          </a:bodyPr>
          <a:lstStyle/>
          <a:p>
            <a:pPr algn="l"/>
            <a:r>
              <a:rPr sz="2100" b="1" i="0">
                <a:solidFill>
                  <a:srgbClr val="CC2200"/>
                </a:solidFill>
                <a:latin typeface="Geist Mono"/>
                <a:ea typeface="Geist Mono"/>
                <a:cs typeface="Geist Mono"/>
              </a:rPr>
              <a:t>Robot.java</a:t>
            </a:r>
          </a:p>
        </p:txBody>
      </p:sp>
      <p:sp>
        <p:nvSpPr>
          <p:cNvPr id="13" name="TextBox 12"/>
          <p:cNvSpPr txBox="1"/>
          <p:nvPr/>
        </p:nvSpPr>
        <p:spPr>
          <a:xfrm>
            <a:off x="3810000" y="701040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Constants.java</a:t>
            </a:r>
          </a:p>
        </p:txBody>
      </p:sp>
      <p:sp>
        <p:nvSpPr>
          <p:cNvPr id="14" name="TextBox 13"/>
          <p:cNvSpPr txBox="1"/>
          <p:nvPr/>
        </p:nvSpPr>
        <p:spPr>
          <a:xfrm>
            <a:off x="1714500" y="756285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build.gradle</a:t>
            </a:r>
          </a:p>
        </p:txBody>
      </p:sp>
      <p:sp>
        <p:nvSpPr>
          <p:cNvPr id="15" name="TextBox 14"/>
          <p:cNvSpPr txBox="1"/>
          <p:nvPr/>
        </p:nvSpPr>
        <p:spPr>
          <a:xfrm>
            <a:off x="1714500" y="811530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README.md</a:t>
            </a:r>
          </a:p>
        </p:txBody>
      </p:sp>
      <p:sp>
        <p:nvSpPr>
          <p:cNvPr id="16" name="TextBox 15"/>
          <p:cNvSpPr txBox="1"/>
          <p:nvPr/>
        </p:nvSpPr>
        <p:spPr>
          <a:xfrm>
            <a:off x="9525000" y="2857500"/>
            <a:ext cx="78486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A project</a:t>
            </a:r>
            <a:r>
              <a:rPr sz="2250" b="0" i="0">
                <a:solidFill>
                  <a:srgbClr val="F0E8E8"/>
                </a:solidFill>
                <a:latin typeface="Geist"/>
                <a:ea typeface="Geist"/>
                <a:cs typeface="Geist"/>
              </a:rPr>
              <a:t> is one folder with everything inside</a:t>
            </a:r>
          </a:p>
        </p:txBody>
      </p:sp>
      <p:sp>
        <p:nvSpPr>
          <p:cNvPr id="17" name="TextBox 16"/>
          <p:cNvSpPr txBox="1"/>
          <p:nvPr/>
        </p:nvSpPr>
        <p:spPr>
          <a:xfrm>
            <a:off x="9525000" y="3514725"/>
            <a:ext cx="78486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A path</a:t>
            </a:r>
            <a:r>
              <a:rPr sz="2250" b="0" i="0">
                <a:solidFill>
                  <a:srgbClr val="F0E8E8"/>
                </a:solidFill>
                <a:latin typeface="Geist"/>
                <a:ea typeface="Geist"/>
                <a:cs typeface="Geist"/>
              </a:rPr>
              <a:t> is a file's address, folder by folder</a:t>
            </a:r>
          </a:p>
        </p:txBody>
      </p:sp>
      <p:sp>
        <p:nvSpPr>
          <p:cNvPr id="18" name="TextBox 17"/>
          <p:cNvSpPr txBox="1"/>
          <p:nvPr/>
        </p:nvSpPr>
        <p:spPr>
          <a:xfrm>
            <a:off x="9525000" y="4171950"/>
            <a:ext cx="78486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Slashes separate the folders</a:t>
            </a:r>
          </a:p>
        </p:txBody>
      </p:sp>
      <p:sp>
        <p:nvSpPr>
          <p:cNvPr id="19" name="Rounded Rectangle 18"/>
          <p:cNvSpPr/>
          <p:nvPr/>
        </p:nvSpPr>
        <p:spPr>
          <a:xfrm>
            <a:off x="9525000" y="6667500"/>
            <a:ext cx="7848600" cy="1183005"/>
          </a:xfrm>
          <a:prstGeom prst="roundRect">
            <a:avLst>
              <a:gd name="adj" fmla="val 12882"/>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906000" y="7048500"/>
            <a:ext cx="73152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src</a:t>
            </a:r>
            <a:r>
              <a:rPr sz="1950" b="0" i="0">
                <a:solidFill>
                  <a:srgbClr val="CC2200"/>
                </a:solidFill>
                <a:latin typeface="Geist Mono"/>
                <a:ea typeface="Geist Mono"/>
                <a:cs typeface="Geist Mono"/>
              </a:rPr>
              <a:t>/</a:t>
            </a:r>
            <a:r>
              <a:rPr sz="1950" b="0" i="0">
                <a:solidFill>
                  <a:srgbClr val="F0E8E8"/>
                </a:solidFill>
                <a:latin typeface="Geist Mono"/>
                <a:ea typeface="Geist Mono"/>
                <a:cs typeface="Geist Mono"/>
              </a:rPr>
              <a:t>main</a:t>
            </a:r>
            <a:r>
              <a:rPr sz="1950" b="0" i="0">
                <a:solidFill>
                  <a:srgbClr val="CC2200"/>
                </a:solidFill>
                <a:latin typeface="Geist Mono"/>
                <a:ea typeface="Geist Mono"/>
                <a:cs typeface="Geist Mono"/>
              </a:rPr>
              <a:t>/</a:t>
            </a:r>
            <a:r>
              <a:rPr sz="1950" b="0" i="0">
                <a:solidFill>
                  <a:srgbClr val="F0E8E8"/>
                </a:solidFill>
                <a:latin typeface="Geist Mono"/>
                <a:ea typeface="Geist Mono"/>
                <a:cs typeface="Geist Mono"/>
              </a:rPr>
              <a:t>java</a:t>
            </a:r>
            <a:r>
              <a:rPr sz="1950" b="0" i="0">
                <a:solidFill>
                  <a:srgbClr val="CC2200"/>
                </a:solidFill>
                <a:latin typeface="Geist Mono"/>
                <a:ea typeface="Geist Mono"/>
                <a:cs typeface="Geist Mono"/>
              </a:rPr>
              <a:t>/</a:t>
            </a:r>
            <a:r>
              <a:rPr sz="1950" b="0" i="0">
                <a:solidFill>
                  <a:srgbClr val="F0E8E8"/>
                </a:solidFill>
                <a:latin typeface="Geist Mono"/>
                <a:ea typeface="Geist Mono"/>
                <a:cs typeface="Geist Mono"/>
              </a:rPr>
              <a:t>frc</a:t>
            </a:r>
            <a:r>
              <a:rPr sz="1950" b="0" i="0">
                <a:solidFill>
                  <a:srgbClr val="CC2200"/>
                </a:solidFill>
                <a:latin typeface="Geist Mono"/>
                <a:ea typeface="Geist Mono"/>
                <a:cs typeface="Geist Mono"/>
              </a:rPr>
              <a:t>/</a:t>
            </a:r>
            <a:r>
              <a:rPr sz="1950" b="0" i="0">
                <a:solidFill>
                  <a:srgbClr val="F0E8E8"/>
                </a:solidFill>
                <a:latin typeface="Geist Mono"/>
                <a:ea typeface="Geist Mono"/>
                <a:cs typeface="Geist Mono"/>
              </a:rPr>
              <a:t>robot</a:t>
            </a:r>
            <a:r>
              <a:rPr sz="1950" b="0" i="0">
                <a:solidFill>
                  <a:srgbClr val="CC2200"/>
                </a:solidFill>
                <a:latin typeface="Geist Mono"/>
                <a:ea typeface="Geist Mono"/>
                <a:cs typeface="Geist Mono"/>
              </a:rPr>
              <a:t>/</a:t>
            </a:r>
            <a:r>
              <a:rPr sz="1950" b="0" i="0">
                <a:solidFill>
                  <a:srgbClr val="E8C27A"/>
                </a:solidFill>
                <a:latin typeface="Geist Mono"/>
                <a:ea typeface="Geist Mono"/>
                <a:cs typeface="Geist Mono"/>
              </a:rPr>
              <a:t>Robot.java</a:t>
            </a:r>
          </a:p>
        </p:txBody>
      </p:sp>
      <p:sp>
        <p:nvSpPr>
          <p:cNvPr id="21" name="TextBox 20"/>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2" name="TextBox 2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terminal: typing commands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1047750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2857500"/>
            <a:ext cx="3429000" cy="914400"/>
          </a:xfrm>
          <a:prstGeom prst="rect">
            <a:avLst/>
          </a:prstGeom>
          <a:noFill/>
        </p:spPr>
        <p:txBody>
          <a:bodyPr wrap="square" lIns="0" rIns="0" tIns="0" bIns="0" anchor="ctr">
            <a:spAutoFit/>
          </a:bodyPr>
          <a:lstStyle/>
          <a:p>
            <a:pPr algn="l"/>
            <a:r>
              <a:rPr sz="2400" b="0" i="0">
                <a:solidFill>
                  <a:srgbClr val="E0785F"/>
                </a:solidFill>
                <a:latin typeface="Geist Mono"/>
                <a:ea typeface="Geist Mono"/>
                <a:cs typeface="Geist Mono"/>
              </a:rPr>
              <a:t>pwd</a:t>
            </a:r>
          </a:p>
        </p:txBody>
      </p:sp>
      <p:sp>
        <p:nvSpPr>
          <p:cNvPr id="7" name="TextBox 6"/>
          <p:cNvSpPr txBox="1"/>
          <p:nvPr/>
        </p:nvSpPr>
        <p:spPr>
          <a:xfrm>
            <a:off x="4953000" y="2857500"/>
            <a:ext cx="6286500" cy="9144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Where am I? Prints the folder you're in</a:t>
            </a:r>
          </a:p>
        </p:txBody>
      </p:sp>
      <p:sp>
        <p:nvSpPr>
          <p:cNvPr id="8" name="Rounded Rectangle 7"/>
          <p:cNvSpPr/>
          <p:nvPr/>
        </p:nvSpPr>
        <p:spPr>
          <a:xfrm>
            <a:off x="914400" y="3924300"/>
            <a:ext cx="1047750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95400" y="3924300"/>
            <a:ext cx="3429000" cy="914400"/>
          </a:xfrm>
          <a:prstGeom prst="rect">
            <a:avLst/>
          </a:prstGeom>
          <a:noFill/>
        </p:spPr>
        <p:txBody>
          <a:bodyPr wrap="square" lIns="0" rIns="0" tIns="0" bIns="0" anchor="ctr">
            <a:spAutoFit/>
          </a:bodyPr>
          <a:lstStyle/>
          <a:p>
            <a:pPr algn="l"/>
            <a:r>
              <a:rPr sz="2400" b="0" i="0">
                <a:solidFill>
                  <a:srgbClr val="E0785F"/>
                </a:solidFill>
                <a:latin typeface="Geist Mono"/>
                <a:ea typeface="Geist Mono"/>
                <a:cs typeface="Geist Mono"/>
              </a:rPr>
              <a:t>ls</a:t>
            </a:r>
          </a:p>
        </p:txBody>
      </p:sp>
      <p:sp>
        <p:nvSpPr>
          <p:cNvPr id="10" name="TextBox 9"/>
          <p:cNvSpPr txBox="1"/>
          <p:nvPr/>
        </p:nvSpPr>
        <p:spPr>
          <a:xfrm>
            <a:off x="4953000" y="3924300"/>
            <a:ext cx="6286500" cy="9144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What's here? Lists files and folders</a:t>
            </a:r>
          </a:p>
        </p:txBody>
      </p:sp>
      <p:sp>
        <p:nvSpPr>
          <p:cNvPr id="11" name="Rounded Rectangle 10"/>
          <p:cNvSpPr/>
          <p:nvPr/>
        </p:nvSpPr>
        <p:spPr>
          <a:xfrm>
            <a:off x="914400" y="4991100"/>
            <a:ext cx="1047750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95400" y="4991100"/>
            <a:ext cx="3429000" cy="914400"/>
          </a:xfrm>
          <a:prstGeom prst="rect">
            <a:avLst/>
          </a:prstGeom>
          <a:noFill/>
        </p:spPr>
        <p:txBody>
          <a:bodyPr wrap="square" lIns="0" rIns="0" tIns="0" bIns="0" anchor="ctr">
            <a:spAutoFit/>
          </a:bodyPr>
          <a:lstStyle/>
          <a:p>
            <a:pPr algn="l"/>
            <a:r>
              <a:rPr sz="2400" b="0" i="0">
                <a:solidFill>
                  <a:srgbClr val="E0785F"/>
                </a:solidFill>
                <a:latin typeface="Geist Mono"/>
                <a:ea typeface="Geist Mono"/>
                <a:cs typeface="Geist Mono"/>
              </a:rPr>
              <a:t>cd robot</a:t>
            </a:r>
          </a:p>
        </p:txBody>
      </p:sp>
      <p:sp>
        <p:nvSpPr>
          <p:cNvPr id="13" name="TextBox 12"/>
          <p:cNvSpPr txBox="1"/>
          <p:nvPr/>
        </p:nvSpPr>
        <p:spPr>
          <a:xfrm>
            <a:off x="4953000" y="4991100"/>
            <a:ext cx="6286500" cy="9144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Move into a folder</a:t>
            </a:r>
          </a:p>
        </p:txBody>
      </p:sp>
      <p:sp>
        <p:nvSpPr>
          <p:cNvPr id="14" name="Rounded Rectangle 13"/>
          <p:cNvSpPr/>
          <p:nvPr/>
        </p:nvSpPr>
        <p:spPr>
          <a:xfrm>
            <a:off x="914400" y="6057900"/>
            <a:ext cx="1047750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95400" y="6057900"/>
            <a:ext cx="3429000" cy="914400"/>
          </a:xfrm>
          <a:prstGeom prst="rect">
            <a:avLst/>
          </a:prstGeom>
          <a:noFill/>
        </p:spPr>
        <p:txBody>
          <a:bodyPr wrap="square" lIns="0" rIns="0" tIns="0" bIns="0" anchor="ctr">
            <a:spAutoFit/>
          </a:bodyPr>
          <a:lstStyle/>
          <a:p>
            <a:pPr algn="l"/>
            <a:r>
              <a:rPr sz="2400" b="0" i="0">
                <a:solidFill>
                  <a:srgbClr val="E0785F"/>
                </a:solidFill>
                <a:latin typeface="Geist Mono"/>
                <a:ea typeface="Geist Mono"/>
                <a:cs typeface="Geist Mono"/>
              </a:rPr>
              <a:t>cat notes.txt</a:t>
            </a:r>
          </a:p>
        </p:txBody>
      </p:sp>
      <p:sp>
        <p:nvSpPr>
          <p:cNvPr id="16" name="TextBox 15"/>
          <p:cNvSpPr txBox="1"/>
          <p:nvPr/>
        </p:nvSpPr>
        <p:spPr>
          <a:xfrm>
            <a:off x="4953000" y="6057900"/>
            <a:ext cx="6286500" cy="9144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Show what's in a file</a:t>
            </a:r>
          </a:p>
        </p:txBody>
      </p:sp>
      <p:sp>
        <p:nvSpPr>
          <p:cNvPr id="17" name="Rounded Rectangle 16"/>
          <p:cNvSpPr/>
          <p:nvPr/>
        </p:nvSpPr>
        <p:spPr>
          <a:xfrm>
            <a:off x="914400" y="7124700"/>
            <a:ext cx="1047750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95400" y="7124700"/>
            <a:ext cx="3429000" cy="914400"/>
          </a:xfrm>
          <a:prstGeom prst="rect">
            <a:avLst/>
          </a:prstGeom>
          <a:noFill/>
        </p:spPr>
        <p:txBody>
          <a:bodyPr wrap="square" lIns="0" rIns="0" tIns="0" bIns="0" anchor="ctr">
            <a:spAutoFit/>
          </a:bodyPr>
          <a:lstStyle/>
          <a:p>
            <a:pPr algn="l"/>
            <a:r>
              <a:rPr sz="2400" b="0" i="0">
                <a:solidFill>
                  <a:srgbClr val="E0785F"/>
                </a:solidFill>
                <a:latin typeface="Geist Mono"/>
                <a:ea typeface="Geist Mono"/>
                <a:cs typeface="Geist Mono"/>
              </a:rPr>
              <a:t>mkdir practice</a:t>
            </a:r>
          </a:p>
        </p:txBody>
      </p:sp>
      <p:sp>
        <p:nvSpPr>
          <p:cNvPr id="19" name="TextBox 18"/>
          <p:cNvSpPr txBox="1"/>
          <p:nvPr/>
        </p:nvSpPr>
        <p:spPr>
          <a:xfrm>
            <a:off x="4953000" y="7124700"/>
            <a:ext cx="6286500" cy="9144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Make a new folder</a:t>
            </a:r>
          </a:p>
        </p:txBody>
      </p:sp>
      <p:sp>
        <p:nvSpPr>
          <p:cNvPr id="20" name="Rounded Rectangle 19"/>
          <p:cNvSpPr/>
          <p:nvPr/>
        </p:nvSpPr>
        <p:spPr>
          <a:xfrm>
            <a:off x="12039600" y="2857500"/>
            <a:ext cx="5334000" cy="5181600"/>
          </a:xfrm>
          <a:prstGeom prst="roundRect">
            <a:avLst>
              <a:gd name="adj" fmla="val 2941"/>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terminal.png"/>
          <p:cNvPicPr>
            <a:picLocks noChangeAspect="1"/>
          </p:cNvPicPr>
          <p:nvPr/>
        </p:nvPicPr>
        <p:blipFill>
          <a:blip r:embed="rId3"/>
          <a:stretch>
            <a:fillRect/>
          </a:stretch>
        </p:blipFill>
        <p:spPr>
          <a:xfrm>
            <a:off x="12496800" y="3276600"/>
            <a:ext cx="696686" cy="609600"/>
          </a:xfrm>
          <a:prstGeom prst="rect">
            <a:avLst/>
          </a:prstGeom>
        </p:spPr>
      </p:pic>
      <p:sp>
        <p:nvSpPr>
          <p:cNvPr id="22" name="TextBox 21"/>
          <p:cNvSpPr txBox="1"/>
          <p:nvPr/>
        </p:nvSpPr>
        <p:spPr>
          <a:xfrm>
            <a:off x="12496800" y="4191000"/>
            <a:ext cx="4476750" cy="571500"/>
          </a:xfrm>
          <a:prstGeom prst="rect">
            <a:avLst/>
          </a:prstGeom>
          <a:noFill/>
        </p:spPr>
        <p:txBody>
          <a:bodyPr wrap="square" lIns="0" rIns="0" tIns="0" bIns="0" anchor="t">
            <a:spAutoFit/>
          </a:bodyPr>
          <a:lstStyle/>
          <a:p>
            <a:pPr algn="l"/>
            <a:r>
              <a:rPr sz="2700" b="1" i="0">
                <a:solidFill>
                  <a:srgbClr val="F0E8E8"/>
                </a:solidFill>
                <a:latin typeface="Geist"/>
                <a:ea typeface="Geist"/>
                <a:cs typeface="Geist"/>
              </a:rPr>
              <a:t>Two tricks</a:t>
            </a:r>
          </a:p>
        </p:txBody>
      </p:sp>
      <p:sp>
        <p:nvSpPr>
          <p:cNvPr id="23" name="TextBox 22"/>
          <p:cNvSpPr txBox="1"/>
          <p:nvPr/>
        </p:nvSpPr>
        <p:spPr>
          <a:xfrm>
            <a:off x="12496800" y="4953000"/>
            <a:ext cx="4476750" cy="69342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1" i="0">
                <a:solidFill>
                  <a:srgbClr val="F0E8E8"/>
                </a:solidFill>
                <a:latin typeface="Geist"/>
                <a:ea typeface="Geist"/>
                <a:cs typeface="Geist"/>
              </a:rPr>
              <a:t>Up arrow</a:t>
            </a:r>
            <a:r>
              <a:rPr sz="2100" b="0" i="0">
                <a:solidFill>
                  <a:srgbClr val="F0E8E8"/>
                </a:solidFill>
                <a:latin typeface="Geist"/>
                <a:ea typeface="Geist"/>
                <a:cs typeface="Geist"/>
              </a:rPr>
              <a:t> brings back your last command</a:t>
            </a:r>
          </a:p>
        </p:txBody>
      </p:sp>
      <p:sp>
        <p:nvSpPr>
          <p:cNvPr id="24" name="TextBox 23"/>
          <p:cNvSpPr txBox="1"/>
          <p:nvPr/>
        </p:nvSpPr>
        <p:spPr>
          <a:xfrm>
            <a:off x="12496800" y="5875020"/>
            <a:ext cx="447675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1" i="0">
                <a:solidFill>
                  <a:srgbClr val="F0E8E8"/>
                </a:solidFill>
                <a:latin typeface="Geist"/>
                <a:ea typeface="Geist"/>
                <a:cs typeface="Geist"/>
              </a:rPr>
              <a:t>Tab</a:t>
            </a:r>
            <a:r>
              <a:rPr sz="2100" b="0" i="0">
                <a:solidFill>
                  <a:srgbClr val="F0E8E8"/>
                </a:solidFill>
                <a:latin typeface="Geist"/>
                <a:ea typeface="Geist"/>
                <a:cs typeface="Geist"/>
              </a:rPr>
              <a:t> finishes a file name for you</a:t>
            </a:r>
          </a:p>
        </p:txBody>
      </p:sp>
      <p:sp>
        <p:nvSpPr>
          <p:cNvPr id="25" name="TextBox 24"/>
          <p:cNvSpPr txBox="1"/>
          <p:nvPr/>
        </p:nvSpPr>
        <p:spPr>
          <a:xfrm>
            <a:off x="12496800" y="6450330"/>
            <a:ext cx="447675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1" i="0">
                <a:solidFill>
                  <a:srgbClr val="F0E8E8"/>
                </a:solidFill>
                <a:latin typeface="Geist"/>
                <a:ea typeface="Geist"/>
                <a:cs typeface="Geist"/>
              </a:rPr>
              <a:t>Ctrl+`</a:t>
            </a:r>
            <a:r>
              <a:rPr sz="2100" b="0" i="0">
                <a:solidFill>
                  <a:srgbClr val="F0E8E8"/>
                </a:solidFill>
                <a:latin typeface="Geist"/>
                <a:ea typeface="Geist"/>
                <a:cs typeface="Geist"/>
              </a:rPr>
              <a:t> opens the terminal</a:t>
            </a:r>
          </a:p>
        </p:txBody>
      </p:sp>
      <p:sp>
        <p:nvSpPr>
          <p:cNvPr id="26" name="TextBox 2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7" name="TextBox 2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Find things fast</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257300" y="333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57300" y="3333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Ctrl+P</a:t>
            </a:r>
          </a:p>
        </p:txBody>
      </p:sp>
      <p:sp>
        <p:nvSpPr>
          <p:cNvPr id="8" name="TextBox 7"/>
          <p:cNvSpPr txBox="1"/>
          <p:nvPr/>
        </p:nvSpPr>
        <p:spPr>
          <a:xfrm>
            <a:off x="4343400" y="3143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Open a file by typing part of its name</a:t>
            </a:r>
          </a:p>
        </p:txBody>
      </p:sp>
      <p:sp>
        <p:nvSpPr>
          <p:cNvPr id="9" name="Rounded Rectangle 8"/>
          <p:cNvSpPr/>
          <p:nvPr/>
        </p:nvSpPr>
        <p:spPr>
          <a:xfrm>
            <a:off x="914400" y="4762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1257300" y="5238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57300" y="5238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Ctrl+Shift+F</a:t>
            </a:r>
          </a:p>
        </p:txBody>
      </p:sp>
      <p:sp>
        <p:nvSpPr>
          <p:cNvPr id="12" name="TextBox 11"/>
          <p:cNvSpPr txBox="1"/>
          <p:nvPr/>
        </p:nvSpPr>
        <p:spPr>
          <a:xfrm>
            <a:off x="4343400" y="5048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Search for a word in every file</a:t>
            </a:r>
          </a:p>
        </p:txBody>
      </p:sp>
      <p:sp>
        <p:nvSpPr>
          <p:cNvPr id="13" name="Rounded Rectangle 12"/>
          <p:cNvSpPr/>
          <p:nvPr/>
        </p:nvSpPr>
        <p:spPr>
          <a:xfrm>
            <a:off x="914400" y="666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257300" y="714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57300" y="7143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Ctrl+F</a:t>
            </a:r>
          </a:p>
        </p:txBody>
      </p:sp>
      <p:sp>
        <p:nvSpPr>
          <p:cNvPr id="16" name="TextBox 15"/>
          <p:cNvSpPr txBox="1"/>
          <p:nvPr/>
        </p:nvSpPr>
        <p:spPr>
          <a:xfrm>
            <a:off x="4343400" y="6953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Search in the file you're in</a:t>
            </a:r>
          </a:p>
        </p:txBody>
      </p:sp>
      <p:sp>
        <p:nvSpPr>
          <p:cNvPr id="17" name="Rounded Rectangle 16"/>
          <p:cNvSpPr/>
          <p:nvPr/>
        </p:nvSpPr>
        <p:spPr>
          <a:xfrm>
            <a:off x="9334500" y="285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9677400" y="333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77400" y="3333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Ctrl+Shift+P</a:t>
            </a:r>
          </a:p>
        </p:txBody>
      </p:sp>
      <p:sp>
        <p:nvSpPr>
          <p:cNvPr id="20" name="TextBox 19"/>
          <p:cNvSpPr txBox="1"/>
          <p:nvPr/>
        </p:nvSpPr>
        <p:spPr>
          <a:xfrm>
            <a:off x="12763500" y="3143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Find any command (the command palette)</a:t>
            </a:r>
          </a:p>
        </p:txBody>
      </p:sp>
      <p:sp>
        <p:nvSpPr>
          <p:cNvPr id="21" name="Rounded Rectangle 20"/>
          <p:cNvSpPr/>
          <p:nvPr/>
        </p:nvSpPr>
        <p:spPr>
          <a:xfrm>
            <a:off x="9334500" y="4762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9677400" y="5238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677400" y="5238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Ctrl+S</a:t>
            </a:r>
          </a:p>
        </p:txBody>
      </p:sp>
      <p:sp>
        <p:nvSpPr>
          <p:cNvPr id="24" name="TextBox 23"/>
          <p:cNvSpPr txBox="1"/>
          <p:nvPr/>
        </p:nvSpPr>
        <p:spPr>
          <a:xfrm>
            <a:off x="12763500" y="5048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Save the file</a:t>
            </a:r>
          </a:p>
        </p:txBody>
      </p:sp>
      <p:sp>
        <p:nvSpPr>
          <p:cNvPr id="25" name="Rounded Rectangle 24"/>
          <p:cNvSpPr/>
          <p:nvPr/>
        </p:nvSpPr>
        <p:spPr>
          <a:xfrm>
            <a:off x="9334500" y="666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9677400" y="714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677400" y="7143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F2</a:t>
            </a:r>
          </a:p>
        </p:txBody>
      </p:sp>
      <p:sp>
        <p:nvSpPr>
          <p:cNvPr id="28" name="TextBox 27"/>
          <p:cNvSpPr txBox="1"/>
          <p:nvPr/>
        </p:nvSpPr>
        <p:spPr>
          <a:xfrm>
            <a:off x="12763500" y="6953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Rename the selected file or folder</a:t>
            </a:r>
          </a:p>
        </p:txBody>
      </p:sp>
      <p:sp>
        <p:nvSpPr>
          <p:cNvPr id="29" name="TextBox 2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0" name="TextBox 2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Editor power moves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257300" y="333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57300" y="3333750"/>
            <a:ext cx="2762250" cy="723900"/>
          </a:xfrm>
          <a:prstGeom prst="rect">
            <a:avLst/>
          </a:prstGeom>
          <a:noFill/>
        </p:spPr>
        <p:txBody>
          <a:bodyPr wrap="square" lIns="0" rIns="0" tIns="0" bIns="0" anchor="ctr">
            <a:spAutoFit/>
          </a:bodyPr>
          <a:lstStyle/>
          <a:p>
            <a:pPr algn="ctr"/>
            <a:r>
              <a:rPr sz="2250" b="1" i="0">
                <a:solidFill>
                  <a:srgbClr val="CC2200"/>
                </a:solidFill>
                <a:latin typeface="Geist Mono"/>
                <a:ea typeface="Geist Mono"/>
                <a:cs typeface="Geist Mono"/>
              </a:rPr>
              <a:t>Alt+Click</a:t>
            </a:r>
          </a:p>
        </p:txBody>
      </p:sp>
      <p:sp>
        <p:nvSpPr>
          <p:cNvPr id="8" name="TextBox 7"/>
          <p:cNvSpPr txBox="1"/>
          <p:nvPr/>
        </p:nvSpPr>
        <p:spPr>
          <a:xfrm>
            <a:off x="4343400" y="3143250"/>
            <a:ext cx="4286250" cy="1104900"/>
          </a:xfrm>
          <a:prstGeom prst="rect">
            <a:avLst/>
          </a:prstGeom>
          <a:noFill/>
        </p:spPr>
        <p:txBody>
          <a:bodyPr wrap="square" lIns="0" rIns="0" tIns="0" bIns="0" anchor="ctr">
            <a:spAutoFit/>
          </a:bodyPr>
          <a:lstStyle/>
          <a:p>
            <a:pPr algn="l">
              <a:lnSpc>
                <a:spcPct val="120000"/>
              </a:lnSpc>
            </a:pPr>
            <a:r>
              <a:rPr sz="2100" b="0" i="0">
                <a:solidFill>
                  <a:srgbClr val="F0E8E8"/>
                </a:solidFill>
                <a:latin typeface="Geist"/>
                <a:ea typeface="Geist"/>
                <a:cs typeface="Geist"/>
              </a:rPr>
              <a:t>Add another cursor: edit many lines at once</a:t>
            </a:r>
          </a:p>
        </p:txBody>
      </p:sp>
      <p:sp>
        <p:nvSpPr>
          <p:cNvPr id="9" name="Rounded Rectangle 8"/>
          <p:cNvSpPr/>
          <p:nvPr/>
        </p:nvSpPr>
        <p:spPr>
          <a:xfrm>
            <a:off x="914400" y="4762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1257300" y="5238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57300" y="5238750"/>
            <a:ext cx="2762250" cy="723900"/>
          </a:xfrm>
          <a:prstGeom prst="rect">
            <a:avLst/>
          </a:prstGeom>
          <a:noFill/>
        </p:spPr>
        <p:txBody>
          <a:bodyPr wrap="square" lIns="0" rIns="0" tIns="0" bIns="0" anchor="ctr">
            <a:spAutoFit/>
          </a:bodyPr>
          <a:lstStyle/>
          <a:p>
            <a:pPr algn="ctr"/>
            <a:r>
              <a:rPr sz="2250" b="1" i="0">
                <a:solidFill>
                  <a:srgbClr val="CC2200"/>
                </a:solidFill>
                <a:latin typeface="Geist Mono"/>
                <a:ea typeface="Geist Mono"/>
                <a:cs typeface="Geist Mono"/>
              </a:rPr>
              <a:t>Ctrl+D</a:t>
            </a:r>
          </a:p>
        </p:txBody>
      </p:sp>
      <p:sp>
        <p:nvSpPr>
          <p:cNvPr id="12" name="TextBox 11"/>
          <p:cNvSpPr txBox="1"/>
          <p:nvPr/>
        </p:nvSpPr>
        <p:spPr>
          <a:xfrm>
            <a:off x="4343400" y="5048250"/>
            <a:ext cx="4286250" cy="1104900"/>
          </a:xfrm>
          <a:prstGeom prst="rect">
            <a:avLst/>
          </a:prstGeom>
          <a:noFill/>
        </p:spPr>
        <p:txBody>
          <a:bodyPr wrap="square" lIns="0" rIns="0" tIns="0" bIns="0" anchor="ctr">
            <a:spAutoFit/>
          </a:bodyPr>
          <a:lstStyle/>
          <a:p>
            <a:pPr algn="l">
              <a:lnSpc>
                <a:spcPct val="120000"/>
              </a:lnSpc>
            </a:pPr>
            <a:r>
              <a:rPr sz="2100" b="0" i="0">
                <a:solidFill>
                  <a:srgbClr val="F0E8E8"/>
                </a:solidFill>
                <a:latin typeface="Geist"/>
                <a:ea typeface="Geist"/>
                <a:cs typeface="Geist"/>
              </a:rPr>
              <a:t>Select the next match of the same word</a:t>
            </a:r>
          </a:p>
        </p:txBody>
      </p:sp>
      <p:sp>
        <p:nvSpPr>
          <p:cNvPr id="13" name="Rounded Rectangle 12"/>
          <p:cNvSpPr/>
          <p:nvPr/>
        </p:nvSpPr>
        <p:spPr>
          <a:xfrm>
            <a:off x="9334500" y="285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9677400" y="333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677400" y="3333750"/>
            <a:ext cx="2762250" cy="723900"/>
          </a:xfrm>
          <a:prstGeom prst="rect">
            <a:avLst/>
          </a:prstGeom>
          <a:noFill/>
        </p:spPr>
        <p:txBody>
          <a:bodyPr wrap="square" lIns="0" rIns="0" tIns="0" bIns="0" anchor="ctr">
            <a:spAutoFit/>
          </a:bodyPr>
          <a:lstStyle/>
          <a:p>
            <a:pPr algn="ctr"/>
            <a:r>
              <a:rPr sz="2250" b="1" i="0">
                <a:solidFill>
                  <a:srgbClr val="CC2200"/>
                </a:solidFill>
                <a:latin typeface="Geist Mono"/>
                <a:ea typeface="Geist Mono"/>
                <a:cs typeface="Geist Mono"/>
              </a:rPr>
              <a:t>Ctrl+Click</a:t>
            </a:r>
          </a:p>
        </p:txBody>
      </p:sp>
      <p:sp>
        <p:nvSpPr>
          <p:cNvPr id="16" name="TextBox 15"/>
          <p:cNvSpPr txBox="1"/>
          <p:nvPr/>
        </p:nvSpPr>
        <p:spPr>
          <a:xfrm>
            <a:off x="12763500" y="3143250"/>
            <a:ext cx="4286250" cy="1104900"/>
          </a:xfrm>
          <a:prstGeom prst="rect">
            <a:avLst/>
          </a:prstGeom>
          <a:noFill/>
        </p:spPr>
        <p:txBody>
          <a:bodyPr wrap="square" lIns="0" rIns="0" tIns="0" bIns="0" anchor="ctr">
            <a:spAutoFit/>
          </a:bodyPr>
          <a:lstStyle/>
          <a:p>
            <a:pPr algn="l">
              <a:lnSpc>
                <a:spcPct val="120000"/>
              </a:lnSpc>
            </a:pPr>
            <a:r>
              <a:rPr sz="2100" b="0" i="0">
                <a:solidFill>
                  <a:srgbClr val="F0E8E8"/>
                </a:solidFill>
                <a:latin typeface="Geist"/>
                <a:ea typeface="Geist"/>
                <a:cs typeface="Geist"/>
              </a:rPr>
              <a:t>Jump to where a method or variable is defined</a:t>
            </a:r>
          </a:p>
        </p:txBody>
      </p:sp>
      <p:sp>
        <p:nvSpPr>
          <p:cNvPr id="17" name="Rounded Rectangle 16"/>
          <p:cNvSpPr/>
          <p:nvPr/>
        </p:nvSpPr>
        <p:spPr>
          <a:xfrm>
            <a:off x="9334500" y="4762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9677400" y="5238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77400" y="5238750"/>
            <a:ext cx="2762250" cy="723900"/>
          </a:xfrm>
          <a:prstGeom prst="rect">
            <a:avLst/>
          </a:prstGeom>
          <a:noFill/>
        </p:spPr>
        <p:txBody>
          <a:bodyPr wrap="square" lIns="0" rIns="0" tIns="0" bIns="0" anchor="ctr">
            <a:spAutoFit/>
          </a:bodyPr>
          <a:lstStyle/>
          <a:p>
            <a:pPr algn="ctr"/>
            <a:r>
              <a:rPr sz="2250" b="1" i="0">
                <a:solidFill>
                  <a:srgbClr val="CC2200"/>
                </a:solidFill>
                <a:latin typeface="Geist Mono"/>
                <a:ea typeface="Geist Mono"/>
                <a:cs typeface="Geist Mono"/>
              </a:rPr>
              <a:t>Ctrl+Shift+P</a:t>
            </a:r>
          </a:p>
        </p:txBody>
      </p:sp>
      <p:sp>
        <p:nvSpPr>
          <p:cNvPr id="20" name="TextBox 19"/>
          <p:cNvSpPr txBox="1"/>
          <p:nvPr/>
        </p:nvSpPr>
        <p:spPr>
          <a:xfrm>
            <a:off x="12763500" y="5048250"/>
            <a:ext cx="4286250" cy="1104900"/>
          </a:xfrm>
          <a:prstGeom prst="rect">
            <a:avLst/>
          </a:prstGeom>
          <a:noFill/>
        </p:spPr>
        <p:txBody>
          <a:bodyPr wrap="square" lIns="0" rIns="0" tIns="0" bIns="0" anchor="ctr">
            <a:spAutoFit/>
          </a:bodyPr>
          <a:lstStyle/>
          <a:p>
            <a:pPr algn="l">
              <a:lnSpc>
                <a:spcPct val="120000"/>
              </a:lnSpc>
            </a:pPr>
            <a:r>
              <a:rPr sz="2100" b="0" i="0">
                <a:solidFill>
                  <a:srgbClr val="F0E8E8"/>
                </a:solidFill>
                <a:latin typeface="Geist"/>
                <a:ea typeface="Geist"/>
                <a:cs typeface="Geist"/>
              </a:rPr>
              <a:t>Run a command, like WPILib: Build Robot Code</a:t>
            </a:r>
          </a:p>
        </p:txBody>
      </p:sp>
      <p:sp>
        <p:nvSpPr>
          <p:cNvPr id="21" name="Rounded Rectangle 20"/>
          <p:cNvSpPr/>
          <p:nvPr/>
        </p:nvSpPr>
        <p:spPr>
          <a:xfrm>
            <a:off x="914400" y="68580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terminal.png"/>
          <p:cNvPicPr>
            <a:picLocks noChangeAspect="1"/>
          </p:cNvPicPr>
          <p:nvPr/>
        </p:nvPicPr>
        <p:blipFill>
          <a:blip r:embed="rId3"/>
          <a:stretch>
            <a:fillRect/>
          </a:stretch>
        </p:blipFill>
        <p:spPr>
          <a:xfrm>
            <a:off x="1333500" y="7115175"/>
            <a:ext cx="609600" cy="533400"/>
          </a:xfrm>
          <a:prstGeom prst="rect">
            <a:avLst/>
          </a:prstGeom>
        </p:spPr>
      </p:pic>
      <p:sp>
        <p:nvSpPr>
          <p:cNvPr id="23" name="TextBox 22"/>
          <p:cNvSpPr txBox="1"/>
          <p:nvPr/>
        </p:nvSpPr>
        <p:spPr>
          <a:xfrm>
            <a:off x="2190750" y="685800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Build failed?  </a:t>
            </a:r>
            <a:r>
              <a:rPr sz="2100" b="0" i="0">
                <a:solidFill>
                  <a:srgbClr val="F0E8E8"/>
                </a:solidFill>
                <a:latin typeface="Geist"/>
                <a:ea typeface="Geist"/>
                <a:cs typeface="Geist"/>
              </a:rPr>
              <a:t>Read the terminal. The compiler usually says what went wrong and on which line.</a:t>
            </a:r>
          </a:p>
        </p:txBody>
      </p:sp>
      <p:sp>
        <p:nvSpPr>
          <p:cNvPr id="24" name="TextBox 23"/>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5" name="TextBox 24"/>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happens when you press Run</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952750"/>
            <a:ext cx="3543300" cy="1714500"/>
          </a:xfrm>
          <a:prstGeom prst="roundRect">
            <a:avLst>
              <a:gd name="adj" fmla="val 888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9650" y="3333750"/>
            <a:ext cx="3352800" cy="533400"/>
          </a:xfrm>
          <a:prstGeom prst="rect">
            <a:avLst/>
          </a:prstGeom>
          <a:noFill/>
        </p:spPr>
        <p:txBody>
          <a:bodyPr wrap="square" lIns="0" rIns="0" tIns="0" bIns="0" anchor="t">
            <a:spAutoFit/>
          </a:bodyPr>
          <a:lstStyle/>
          <a:p>
            <a:pPr algn="ctr"/>
            <a:r>
              <a:rPr sz="2550" b="1" i="0">
                <a:solidFill>
                  <a:srgbClr val="F0E8E8"/>
                </a:solidFill>
                <a:latin typeface="Geist Mono"/>
                <a:ea typeface="Geist Mono"/>
                <a:cs typeface="Geist Mono"/>
              </a:rPr>
              <a:t>Main.java</a:t>
            </a:r>
          </a:p>
        </p:txBody>
      </p:sp>
      <p:sp>
        <p:nvSpPr>
          <p:cNvPr id="7" name="TextBox 6"/>
          <p:cNvSpPr txBox="1"/>
          <p:nvPr/>
        </p:nvSpPr>
        <p:spPr>
          <a:xfrm>
            <a:off x="1066800" y="3924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The code you typed</a:t>
            </a:r>
          </a:p>
        </p:txBody>
      </p:sp>
      <p:cxnSp>
        <p:nvCxnSpPr>
          <p:cNvPr id="8" name="Connector 7"/>
          <p:cNvCxnSpPr/>
          <p:nvPr/>
        </p:nvCxnSpPr>
        <p:spPr>
          <a:xfrm>
            <a:off x="4533900" y="381000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219700" y="2952750"/>
            <a:ext cx="3543300" cy="1714500"/>
          </a:xfrm>
          <a:prstGeom prst="roundRect">
            <a:avLst>
              <a:gd name="adj" fmla="val 8888"/>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314950" y="333375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Compile</a:t>
            </a:r>
          </a:p>
        </p:txBody>
      </p:sp>
      <p:sp>
        <p:nvSpPr>
          <p:cNvPr id="11" name="TextBox 10"/>
          <p:cNvSpPr txBox="1"/>
          <p:nvPr/>
        </p:nvSpPr>
        <p:spPr>
          <a:xfrm>
            <a:off x="5372100" y="3924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Check it and translate it</a:t>
            </a:r>
          </a:p>
        </p:txBody>
      </p:sp>
      <p:cxnSp>
        <p:nvCxnSpPr>
          <p:cNvPr id="12" name="Connector 11"/>
          <p:cNvCxnSpPr/>
          <p:nvPr/>
        </p:nvCxnSpPr>
        <p:spPr>
          <a:xfrm>
            <a:off x="8839200" y="381000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525000" y="2952750"/>
            <a:ext cx="3543300" cy="1714500"/>
          </a:xfrm>
          <a:prstGeom prst="roundRect">
            <a:avLst>
              <a:gd name="adj" fmla="val 888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20250" y="333375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Run</a:t>
            </a:r>
          </a:p>
        </p:txBody>
      </p:sp>
      <p:sp>
        <p:nvSpPr>
          <p:cNvPr id="15" name="TextBox 14"/>
          <p:cNvSpPr txBox="1"/>
          <p:nvPr/>
        </p:nvSpPr>
        <p:spPr>
          <a:xfrm>
            <a:off x="9677400" y="3924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The computer follows it</a:t>
            </a:r>
          </a:p>
        </p:txBody>
      </p:sp>
      <p:cxnSp>
        <p:nvCxnSpPr>
          <p:cNvPr id="16" name="Connector 15"/>
          <p:cNvCxnSpPr/>
          <p:nvPr/>
        </p:nvCxnSpPr>
        <p:spPr>
          <a:xfrm>
            <a:off x="13144500" y="381000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830300" y="2952750"/>
            <a:ext cx="3543300" cy="1714500"/>
          </a:xfrm>
          <a:prstGeom prst="roundRect">
            <a:avLst>
              <a:gd name="adj" fmla="val 888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925550" y="333375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Output</a:t>
            </a:r>
          </a:p>
        </p:txBody>
      </p:sp>
      <p:sp>
        <p:nvSpPr>
          <p:cNvPr id="19" name="TextBox 18"/>
          <p:cNvSpPr txBox="1"/>
          <p:nvPr/>
        </p:nvSpPr>
        <p:spPr>
          <a:xfrm>
            <a:off x="13982700" y="3924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Printed in the terminal</a:t>
            </a:r>
          </a:p>
        </p:txBody>
      </p:sp>
      <p:sp>
        <p:nvSpPr>
          <p:cNvPr id="20" name="Rounded Rectangle 19"/>
          <p:cNvSpPr/>
          <p:nvPr/>
        </p:nvSpPr>
        <p:spPr>
          <a:xfrm>
            <a:off x="914400" y="5619750"/>
            <a:ext cx="10477500" cy="2867025"/>
          </a:xfrm>
          <a:prstGeom prst="roundRect">
            <a:avLst>
              <a:gd name="adj" fmla="val 5315"/>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33450" y="6842760"/>
            <a:ext cx="10439400" cy="421005"/>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933450" y="6842760"/>
            <a:ext cx="57150" cy="42100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295400" y="6000750"/>
            <a:ext cx="9944100" cy="421005"/>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public class </a:t>
            </a:r>
            <a:r>
              <a:rPr sz="1950" b="0" i="0">
                <a:solidFill>
                  <a:srgbClr val="F0E8E8"/>
                </a:solidFill>
                <a:latin typeface="Geist Mono"/>
                <a:ea typeface="Geist Mono"/>
                <a:cs typeface="Geist Mono"/>
              </a:rPr>
              <a:t>Main {</a:t>
            </a:r>
          </a:p>
        </p:txBody>
      </p:sp>
      <p:sp>
        <p:nvSpPr>
          <p:cNvPr id="24" name="TextBox 23"/>
          <p:cNvSpPr txBox="1"/>
          <p:nvPr/>
        </p:nvSpPr>
        <p:spPr>
          <a:xfrm>
            <a:off x="1295400" y="6421755"/>
            <a:ext cx="9944100" cy="421005"/>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  public static void </a:t>
            </a:r>
            <a:r>
              <a:rPr sz="1950" b="0" i="0">
                <a:solidFill>
                  <a:srgbClr val="F0E8E8"/>
                </a:solidFill>
                <a:latin typeface="Geist Mono"/>
                <a:ea typeface="Geist Mono"/>
                <a:cs typeface="Geist Mono"/>
              </a:rPr>
              <a:t>main(String[] args) {</a:t>
            </a:r>
          </a:p>
        </p:txBody>
      </p:sp>
      <p:sp>
        <p:nvSpPr>
          <p:cNvPr id="25" name="TextBox 24"/>
          <p:cNvSpPr txBox="1"/>
          <p:nvPr/>
        </p:nvSpPr>
        <p:spPr>
          <a:xfrm>
            <a:off x="1295400" y="6842760"/>
            <a:ext cx="99441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System.out.println(</a:t>
            </a:r>
            <a:r>
              <a:rPr sz="1950" b="0" i="0">
                <a:solidFill>
                  <a:srgbClr val="9FD29A"/>
                </a:solidFill>
                <a:latin typeface="Geist Mono"/>
                <a:ea typeface="Geist Mono"/>
                <a:cs typeface="Geist Mono"/>
              </a:rPr>
              <a:t>"Hello, my name is ..."</a:t>
            </a:r>
            <a:r>
              <a:rPr sz="1950" b="0" i="0">
                <a:solidFill>
                  <a:srgbClr val="F0E8E8"/>
                </a:solidFill>
                <a:latin typeface="Geist Mono"/>
                <a:ea typeface="Geist Mono"/>
                <a:cs typeface="Geist Mono"/>
              </a:rPr>
              <a:t>);</a:t>
            </a:r>
          </a:p>
        </p:txBody>
      </p:sp>
      <p:sp>
        <p:nvSpPr>
          <p:cNvPr id="26" name="TextBox 25"/>
          <p:cNvSpPr txBox="1"/>
          <p:nvPr/>
        </p:nvSpPr>
        <p:spPr>
          <a:xfrm>
            <a:off x="1295400" y="7263765"/>
            <a:ext cx="99441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p>
        </p:txBody>
      </p:sp>
      <p:sp>
        <p:nvSpPr>
          <p:cNvPr id="27" name="TextBox 26"/>
          <p:cNvSpPr txBox="1"/>
          <p:nvPr/>
        </p:nvSpPr>
        <p:spPr>
          <a:xfrm>
            <a:off x="1295400" y="7684770"/>
            <a:ext cx="99441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a:t>
            </a:r>
          </a:p>
        </p:txBody>
      </p:sp>
      <p:sp>
        <p:nvSpPr>
          <p:cNvPr id="28" name="Rounded Rectangle 27"/>
          <p:cNvSpPr/>
          <p:nvPr/>
        </p:nvSpPr>
        <p:spPr>
          <a:xfrm>
            <a:off x="12039600" y="5619750"/>
            <a:ext cx="5334000" cy="3162300"/>
          </a:xfrm>
          <a:prstGeom prst="roundRect">
            <a:avLst>
              <a:gd name="adj" fmla="val 4819"/>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2420600" y="5905500"/>
            <a:ext cx="4572000" cy="381000"/>
          </a:xfrm>
          <a:prstGeom prst="rect">
            <a:avLst/>
          </a:prstGeom>
          <a:noFill/>
        </p:spPr>
        <p:txBody>
          <a:bodyPr wrap="square" lIns="0" rIns="0" tIns="0" bIns="0" anchor="t">
            <a:spAutoFit/>
          </a:bodyPr>
          <a:lstStyle/>
          <a:p>
            <a:pPr algn="l"/>
            <a:r>
              <a:rPr sz="1500" b="1" i="0" spc="130">
                <a:solidFill>
                  <a:srgbClr val="9A7878"/>
                </a:solidFill>
                <a:latin typeface="Geist"/>
                <a:ea typeface="Geist"/>
                <a:cs typeface="Geist"/>
              </a:rPr>
              <a:t>OUTPUT</a:t>
            </a:r>
          </a:p>
        </p:txBody>
      </p:sp>
      <p:sp>
        <p:nvSpPr>
          <p:cNvPr id="30" name="TextBox 29"/>
          <p:cNvSpPr txBox="1"/>
          <p:nvPr/>
        </p:nvSpPr>
        <p:spPr>
          <a:xfrm>
            <a:off x="12420600" y="6381750"/>
            <a:ext cx="4572000" cy="571500"/>
          </a:xfrm>
          <a:prstGeom prst="rect">
            <a:avLst/>
          </a:prstGeom>
          <a:noFill/>
        </p:spPr>
        <p:txBody>
          <a:bodyPr wrap="square" lIns="0" rIns="0" tIns="0" bIns="0" anchor="t">
            <a:spAutoFit/>
          </a:bodyPr>
          <a:lstStyle/>
          <a:p>
            <a:pPr algn="l"/>
            <a:r>
              <a:rPr sz="2100" b="0" i="0">
                <a:solidFill>
                  <a:srgbClr val="9FD29A"/>
                </a:solidFill>
                <a:latin typeface="Geist Mono"/>
                <a:ea typeface="Geist Mono"/>
                <a:cs typeface="Geist Mono"/>
              </a:rPr>
              <a:t>Hello, my name is Ava</a:t>
            </a:r>
          </a:p>
        </p:txBody>
      </p:sp>
      <p:sp>
        <p:nvSpPr>
          <p:cNvPr id="31" name="TextBox 30"/>
          <p:cNvSpPr txBox="1"/>
          <p:nvPr/>
        </p:nvSpPr>
        <p:spPr>
          <a:xfrm>
            <a:off x="12420600" y="7143750"/>
            <a:ext cx="4572000" cy="142875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A typo? Compiling stops and points at the line.</a:t>
            </a:r>
          </a:p>
        </p:txBody>
      </p:sp>
      <p:sp>
        <p:nvSpPr>
          <p:cNvPr id="32" name="TextBox 3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3" name="TextBox 3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02</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Git Basics</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Version control: saving history and working as a team</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13</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Commit small steps. Future you will say thanks.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is version control?</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9525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Remembers every version</a:t>
            </a:r>
            <a:r>
              <a:rPr sz="2400" b="0" i="0">
                <a:solidFill>
                  <a:srgbClr val="F0E8E8"/>
                </a:solidFill>
                <a:latin typeface="Geist"/>
                <a:ea typeface="Geist"/>
                <a:cs typeface="Geist"/>
              </a:rPr>
              <a:t> of your code</a:t>
            </a:r>
          </a:p>
        </p:txBody>
      </p:sp>
      <p:sp>
        <p:nvSpPr>
          <p:cNvPr id="6" name="TextBox 5"/>
          <p:cNvSpPr txBox="1"/>
          <p:nvPr/>
        </p:nvSpPr>
        <p:spPr>
          <a:xfrm>
            <a:off x="914400" y="3539490"/>
            <a:ext cx="9525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Undo</a:t>
            </a:r>
            <a:r>
              <a:rPr sz="2400" b="0" i="0">
                <a:solidFill>
                  <a:srgbClr val="F0E8E8"/>
                </a:solidFill>
                <a:latin typeface="Geist"/>
                <a:ea typeface="Geist"/>
                <a:cs typeface="Geist"/>
              </a:rPr>
              <a:t> back to any earlier save point</a:t>
            </a:r>
          </a:p>
        </p:txBody>
      </p:sp>
      <p:sp>
        <p:nvSpPr>
          <p:cNvPr id="7" name="TextBox 6"/>
          <p:cNvSpPr txBox="1"/>
          <p:nvPr/>
        </p:nvSpPr>
        <p:spPr>
          <a:xfrm>
            <a:off x="914400" y="4221480"/>
            <a:ext cx="9525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Many people</a:t>
            </a:r>
            <a:r>
              <a:rPr sz="2400" b="0" i="0">
                <a:solidFill>
                  <a:srgbClr val="F0E8E8"/>
                </a:solidFill>
                <a:latin typeface="Geist"/>
                <a:ea typeface="Geist"/>
                <a:cs typeface="Geist"/>
              </a:rPr>
              <a:t> work at once without overwriting</a:t>
            </a:r>
          </a:p>
        </p:txBody>
      </p:sp>
      <p:sp>
        <p:nvSpPr>
          <p:cNvPr id="8" name="TextBox 7"/>
          <p:cNvSpPr txBox="1"/>
          <p:nvPr/>
        </p:nvSpPr>
        <p:spPr>
          <a:xfrm>
            <a:off x="914400" y="4903470"/>
            <a:ext cx="9525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Built on three ideas: </a:t>
            </a:r>
            <a:r>
              <a:rPr sz="2400" b="1" i="0">
                <a:solidFill>
                  <a:srgbClr val="F0E8E8"/>
                </a:solidFill>
                <a:latin typeface="Geist"/>
                <a:ea typeface="Geist"/>
                <a:cs typeface="Geist"/>
              </a:rPr>
              <a:t>repositories, commits, branches</a:t>
            </a:r>
          </a:p>
        </p:txBody>
      </p:sp>
      <p:sp>
        <p:nvSpPr>
          <p:cNvPr id="9" name="Rounded Rectangle 8"/>
          <p:cNvSpPr/>
          <p:nvPr/>
        </p:nvSpPr>
        <p:spPr>
          <a:xfrm>
            <a:off x="11430000" y="2857500"/>
            <a:ext cx="5943600" cy="5334000"/>
          </a:xfrm>
          <a:prstGeom prst="roundRect">
            <a:avLst>
              <a:gd name="adj" fmla="val 28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811000" y="3143250"/>
            <a:ext cx="5181600" cy="381000"/>
          </a:xfrm>
          <a:prstGeom prst="rect">
            <a:avLst/>
          </a:prstGeom>
          <a:noFill/>
        </p:spPr>
        <p:txBody>
          <a:bodyPr wrap="square" lIns="0" rIns="0" tIns="0" bIns="0" anchor="t">
            <a:spAutoFit/>
          </a:bodyPr>
          <a:lstStyle/>
          <a:p>
            <a:pPr algn="l"/>
            <a:r>
              <a:rPr sz="1500" b="1" i="0" spc="130">
                <a:solidFill>
                  <a:srgbClr val="E05540"/>
                </a:solidFill>
                <a:latin typeface="Geist"/>
                <a:ea typeface="Geist"/>
                <a:cs typeface="Geist"/>
              </a:rPr>
              <a:t>WITHOUT GIT</a:t>
            </a:r>
          </a:p>
        </p:txBody>
      </p:sp>
      <p:pic>
        <p:nvPicPr>
          <p:cNvPr id="11" name="Picture 10" descr="folder2-open.png"/>
          <p:cNvPicPr>
            <a:picLocks noChangeAspect="1"/>
          </p:cNvPicPr>
          <p:nvPr/>
        </p:nvPicPr>
        <p:blipFill>
          <a:blip r:embed="rId3"/>
          <a:stretch>
            <a:fillRect/>
          </a:stretch>
        </p:blipFill>
        <p:spPr>
          <a:xfrm>
            <a:off x="11811000" y="3848100"/>
            <a:ext cx="461596" cy="381000"/>
          </a:xfrm>
          <a:prstGeom prst="rect">
            <a:avLst/>
          </a:prstGeom>
        </p:spPr>
      </p:pic>
      <p:sp>
        <p:nvSpPr>
          <p:cNvPr id="12" name="TextBox 11"/>
          <p:cNvSpPr txBox="1"/>
          <p:nvPr/>
        </p:nvSpPr>
        <p:spPr>
          <a:xfrm>
            <a:off x="12382500" y="3771900"/>
            <a:ext cx="4762500" cy="533400"/>
          </a:xfrm>
          <a:prstGeom prst="rect">
            <a:avLst/>
          </a:prstGeom>
          <a:noFill/>
        </p:spPr>
        <p:txBody>
          <a:bodyPr wrap="square" lIns="0" rIns="0" tIns="0" bIns="0" anchor="ctr">
            <a:spAutoFit/>
          </a:bodyPr>
          <a:lstStyle/>
          <a:p>
            <a:pPr algn="l"/>
            <a:r>
              <a:rPr sz="2100" b="0" i="0">
                <a:solidFill>
                  <a:srgbClr val="9A7878"/>
                </a:solidFill>
                <a:latin typeface="Geist Mono"/>
                <a:ea typeface="Geist Mono"/>
                <a:cs typeface="Geist Mono"/>
              </a:rPr>
              <a:t>robot-code-v1</a:t>
            </a:r>
          </a:p>
        </p:txBody>
      </p:sp>
      <p:pic>
        <p:nvPicPr>
          <p:cNvPr id="13" name="Picture 12" descr="folder2-open.png"/>
          <p:cNvPicPr>
            <a:picLocks noChangeAspect="1"/>
          </p:cNvPicPr>
          <p:nvPr/>
        </p:nvPicPr>
        <p:blipFill>
          <a:blip r:embed="rId3"/>
          <a:stretch>
            <a:fillRect/>
          </a:stretch>
        </p:blipFill>
        <p:spPr>
          <a:xfrm>
            <a:off x="11811000" y="4610100"/>
            <a:ext cx="461596" cy="381000"/>
          </a:xfrm>
          <a:prstGeom prst="rect">
            <a:avLst/>
          </a:prstGeom>
        </p:spPr>
      </p:pic>
      <p:sp>
        <p:nvSpPr>
          <p:cNvPr id="14" name="TextBox 13"/>
          <p:cNvSpPr txBox="1"/>
          <p:nvPr/>
        </p:nvSpPr>
        <p:spPr>
          <a:xfrm>
            <a:off x="12382500" y="4533900"/>
            <a:ext cx="4762500" cy="533400"/>
          </a:xfrm>
          <a:prstGeom prst="rect">
            <a:avLst/>
          </a:prstGeom>
          <a:noFill/>
        </p:spPr>
        <p:txBody>
          <a:bodyPr wrap="square" lIns="0" rIns="0" tIns="0" bIns="0" anchor="ctr">
            <a:spAutoFit/>
          </a:bodyPr>
          <a:lstStyle/>
          <a:p>
            <a:pPr algn="l"/>
            <a:r>
              <a:rPr sz="2100" b="0" i="0">
                <a:solidFill>
                  <a:srgbClr val="9A7878"/>
                </a:solidFill>
                <a:latin typeface="Geist Mono"/>
                <a:ea typeface="Geist Mono"/>
                <a:cs typeface="Geist Mono"/>
              </a:rPr>
              <a:t>robot-code-v2</a:t>
            </a:r>
          </a:p>
        </p:txBody>
      </p:sp>
      <p:pic>
        <p:nvPicPr>
          <p:cNvPr id="15" name="Picture 14" descr="folder2-open.png"/>
          <p:cNvPicPr>
            <a:picLocks noChangeAspect="1"/>
          </p:cNvPicPr>
          <p:nvPr/>
        </p:nvPicPr>
        <p:blipFill>
          <a:blip r:embed="rId3"/>
          <a:stretch>
            <a:fillRect/>
          </a:stretch>
        </p:blipFill>
        <p:spPr>
          <a:xfrm>
            <a:off x="11811000" y="5372100"/>
            <a:ext cx="461596" cy="381000"/>
          </a:xfrm>
          <a:prstGeom prst="rect">
            <a:avLst/>
          </a:prstGeom>
        </p:spPr>
      </p:pic>
      <p:sp>
        <p:nvSpPr>
          <p:cNvPr id="16" name="TextBox 15"/>
          <p:cNvSpPr txBox="1"/>
          <p:nvPr/>
        </p:nvSpPr>
        <p:spPr>
          <a:xfrm>
            <a:off x="12382500" y="5295900"/>
            <a:ext cx="4762500" cy="533400"/>
          </a:xfrm>
          <a:prstGeom prst="rect">
            <a:avLst/>
          </a:prstGeom>
          <a:noFill/>
        </p:spPr>
        <p:txBody>
          <a:bodyPr wrap="square" lIns="0" rIns="0" tIns="0" bIns="0" anchor="ctr">
            <a:spAutoFit/>
          </a:bodyPr>
          <a:lstStyle/>
          <a:p>
            <a:pPr algn="l"/>
            <a:r>
              <a:rPr sz="2100" b="0" i="0">
                <a:solidFill>
                  <a:srgbClr val="9A7878"/>
                </a:solidFill>
                <a:latin typeface="Geist Mono"/>
                <a:ea typeface="Geist Mono"/>
                <a:cs typeface="Geist Mono"/>
              </a:rPr>
              <a:t>robot-code-final</a:t>
            </a:r>
          </a:p>
        </p:txBody>
      </p:sp>
      <p:pic>
        <p:nvPicPr>
          <p:cNvPr id="17" name="Picture 16" descr="folder2-open.png"/>
          <p:cNvPicPr>
            <a:picLocks noChangeAspect="1"/>
          </p:cNvPicPr>
          <p:nvPr/>
        </p:nvPicPr>
        <p:blipFill>
          <a:blip r:embed="rId3"/>
          <a:stretch>
            <a:fillRect/>
          </a:stretch>
        </p:blipFill>
        <p:spPr>
          <a:xfrm>
            <a:off x="11811000" y="6134100"/>
            <a:ext cx="461596" cy="381000"/>
          </a:xfrm>
          <a:prstGeom prst="rect">
            <a:avLst/>
          </a:prstGeom>
        </p:spPr>
      </p:pic>
      <p:sp>
        <p:nvSpPr>
          <p:cNvPr id="18" name="TextBox 17"/>
          <p:cNvSpPr txBox="1"/>
          <p:nvPr/>
        </p:nvSpPr>
        <p:spPr>
          <a:xfrm>
            <a:off x="12382500" y="6057900"/>
            <a:ext cx="4762500" cy="533400"/>
          </a:xfrm>
          <a:prstGeom prst="rect">
            <a:avLst/>
          </a:prstGeom>
          <a:noFill/>
        </p:spPr>
        <p:txBody>
          <a:bodyPr wrap="square" lIns="0" rIns="0" tIns="0" bIns="0" anchor="ctr">
            <a:spAutoFit/>
          </a:bodyPr>
          <a:lstStyle/>
          <a:p>
            <a:pPr algn="l"/>
            <a:r>
              <a:rPr sz="2100" b="0" i="0">
                <a:solidFill>
                  <a:srgbClr val="9A7878"/>
                </a:solidFill>
                <a:latin typeface="Geist Mono"/>
                <a:ea typeface="Geist Mono"/>
                <a:cs typeface="Geist Mono"/>
              </a:rPr>
              <a:t>robot-code-final-2</a:t>
            </a:r>
          </a:p>
        </p:txBody>
      </p:sp>
      <p:pic>
        <p:nvPicPr>
          <p:cNvPr id="19" name="Picture 18" descr="folder2-open.png"/>
          <p:cNvPicPr>
            <a:picLocks noChangeAspect="1"/>
          </p:cNvPicPr>
          <p:nvPr/>
        </p:nvPicPr>
        <p:blipFill>
          <a:blip r:embed="rId3"/>
          <a:stretch>
            <a:fillRect/>
          </a:stretch>
        </p:blipFill>
        <p:spPr>
          <a:xfrm>
            <a:off x="11811000" y="6896100"/>
            <a:ext cx="461596" cy="381000"/>
          </a:xfrm>
          <a:prstGeom prst="rect">
            <a:avLst/>
          </a:prstGeom>
        </p:spPr>
      </p:pic>
      <p:sp>
        <p:nvSpPr>
          <p:cNvPr id="20" name="TextBox 19"/>
          <p:cNvSpPr txBox="1"/>
          <p:nvPr/>
        </p:nvSpPr>
        <p:spPr>
          <a:xfrm>
            <a:off x="12382500" y="6819900"/>
            <a:ext cx="4762500" cy="53340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robot-code-final-really</a:t>
            </a:r>
          </a:p>
        </p:txBody>
      </p:sp>
      <p:sp>
        <p:nvSpPr>
          <p:cNvPr id="21" name="TextBox 20"/>
          <p:cNvSpPr txBox="1"/>
          <p:nvPr/>
        </p:nvSpPr>
        <p:spPr>
          <a:xfrm>
            <a:off x="11811000" y="7620000"/>
            <a:ext cx="5181600" cy="3810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...emailed around, on a thumb drive</a:t>
            </a:r>
          </a:p>
        </p:txBody>
      </p:sp>
      <p:sp>
        <p:nvSpPr>
          <p:cNvPr id="22" name="TextBox 2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3" name="TextBox 2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Repositories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8572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A repo</a:t>
            </a:r>
            <a:r>
              <a:rPr sz="2400" b="0" i="0">
                <a:solidFill>
                  <a:srgbClr val="F0E8E8"/>
                </a:solidFill>
                <a:latin typeface="Geist"/>
                <a:ea typeface="Geist"/>
                <a:cs typeface="Geist"/>
              </a:rPr>
              <a:t> is a project folder git is watching</a:t>
            </a:r>
          </a:p>
        </p:txBody>
      </p:sp>
      <p:sp>
        <p:nvSpPr>
          <p:cNvPr id="6" name="TextBox 5"/>
          <p:cNvSpPr txBox="1"/>
          <p:nvPr/>
        </p:nvSpPr>
        <p:spPr>
          <a:xfrm>
            <a:off x="914400" y="3539490"/>
            <a:ext cx="8572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Each project is usually its own repo</a:t>
            </a:r>
          </a:p>
        </p:txBody>
      </p:sp>
      <p:sp>
        <p:nvSpPr>
          <p:cNvPr id="7" name="TextBox 6"/>
          <p:cNvSpPr txBox="1"/>
          <p:nvPr/>
        </p:nvSpPr>
        <p:spPr>
          <a:xfrm>
            <a:off x="914400" y="4221480"/>
            <a:ext cx="8572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The history lives in a hidden </a:t>
            </a:r>
            <a:r>
              <a:rPr sz="2400" b="0" i="0">
                <a:solidFill>
                  <a:srgbClr val="E0785F"/>
                </a:solidFill>
                <a:latin typeface="Geist Mono"/>
                <a:ea typeface="Geist Mono"/>
                <a:cs typeface="Geist Mono"/>
              </a:rPr>
              <a:t>  .git  </a:t>
            </a:r>
            <a:r>
              <a:rPr sz="2400" b="0" i="0">
                <a:solidFill>
                  <a:srgbClr val="F0E8E8"/>
                </a:solidFill>
                <a:latin typeface="Geist"/>
                <a:ea typeface="Geist"/>
                <a:cs typeface="Geist"/>
              </a:rPr>
              <a:t> folder</a:t>
            </a:r>
          </a:p>
        </p:txBody>
      </p:sp>
      <p:sp>
        <p:nvSpPr>
          <p:cNvPr id="8" name="Rounded Rectangle 7"/>
          <p:cNvSpPr/>
          <p:nvPr/>
        </p:nvSpPr>
        <p:spPr>
          <a:xfrm>
            <a:off x="10287000" y="2857500"/>
            <a:ext cx="7086600" cy="4953000"/>
          </a:xfrm>
          <a:prstGeom prst="roundRect">
            <a:avLst>
              <a:gd name="adj" fmla="val 3076"/>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668000" y="3238500"/>
            <a:ext cx="6096000" cy="571500"/>
          </a:xfrm>
          <a:prstGeom prst="rect">
            <a:avLst/>
          </a:prstGeom>
          <a:noFill/>
        </p:spPr>
        <p:txBody>
          <a:bodyPr wrap="square" lIns="0" rIns="0" tIns="0" bIns="0" anchor="ctr">
            <a:spAutoFit/>
          </a:bodyPr>
          <a:lstStyle/>
          <a:p>
            <a:pPr algn="l"/>
            <a:r>
              <a:rPr sz="2250" b="0" i="0">
                <a:solidFill>
                  <a:srgbClr val="F0E8E8"/>
                </a:solidFill>
                <a:latin typeface="Geist Mono"/>
                <a:ea typeface="Geist Mono"/>
                <a:cs typeface="Geist Mono"/>
              </a:rPr>
              <a:t>RobotCode/</a:t>
            </a:r>
          </a:p>
        </p:txBody>
      </p:sp>
      <p:sp>
        <p:nvSpPr>
          <p:cNvPr id="10" name="TextBox 9"/>
          <p:cNvSpPr txBox="1"/>
          <p:nvPr/>
        </p:nvSpPr>
        <p:spPr>
          <a:xfrm>
            <a:off x="11087100" y="3905250"/>
            <a:ext cx="6096000" cy="571500"/>
          </a:xfrm>
          <a:prstGeom prst="rect">
            <a:avLst/>
          </a:prstGeom>
          <a:noFill/>
        </p:spPr>
        <p:txBody>
          <a:bodyPr wrap="square" lIns="0" rIns="0" tIns="0" bIns="0" anchor="ctr">
            <a:spAutoFit/>
          </a:bodyPr>
          <a:lstStyle/>
          <a:p>
            <a:pPr algn="l"/>
            <a:r>
              <a:rPr sz="2250" b="0" i="0">
                <a:solidFill>
                  <a:srgbClr val="E0785F"/>
                </a:solidFill>
                <a:latin typeface="Geist Mono"/>
                <a:ea typeface="Geist Mono"/>
                <a:cs typeface="Geist Mono"/>
              </a:rPr>
              <a:t>.git/</a:t>
            </a:r>
          </a:p>
        </p:txBody>
      </p:sp>
      <p:sp>
        <p:nvSpPr>
          <p:cNvPr id="11" name="TextBox 10"/>
          <p:cNvSpPr txBox="1"/>
          <p:nvPr/>
        </p:nvSpPr>
        <p:spPr>
          <a:xfrm>
            <a:off x="11087100" y="4572000"/>
            <a:ext cx="6096000" cy="571500"/>
          </a:xfrm>
          <a:prstGeom prst="rect">
            <a:avLst/>
          </a:prstGeom>
          <a:noFill/>
        </p:spPr>
        <p:txBody>
          <a:bodyPr wrap="square" lIns="0" rIns="0" tIns="0" bIns="0" anchor="ctr">
            <a:spAutoFit/>
          </a:bodyPr>
          <a:lstStyle/>
          <a:p>
            <a:pPr algn="l"/>
            <a:r>
              <a:rPr sz="2250" b="0" i="0">
                <a:solidFill>
                  <a:srgbClr val="F0E8E8"/>
                </a:solidFill>
                <a:latin typeface="Geist Mono"/>
                <a:ea typeface="Geist Mono"/>
                <a:cs typeface="Geist Mono"/>
              </a:rPr>
              <a:t>src/</a:t>
            </a:r>
          </a:p>
        </p:txBody>
      </p:sp>
      <p:sp>
        <p:nvSpPr>
          <p:cNvPr id="12" name="TextBox 11"/>
          <p:cNvSpPr txBox="1"/>
          <p:nvPr/>
        </p:nvSpPr>
        <p:spPr>
          <a:xfrm>
            <a:off x="11087100" y="5238750"/>
            <a:ext cx="6096000" cy="571500"/>
          </a:xfrm>
          <a:prstGeom prst="rect">
            <a:avLst/>
          </a:prstGeom>
          <a:noFill/>
        </p:spPr>
        <p:txBody>
          <a:bodyPr wrap="square" lIns="0" rIns="0" tIns="0" bIns="0" anchor="ctr">
            <a:spAutoFit/>
          </a:bodyPr>
          <a:lstStyle/>
          <a:p>
            <a:pPr algn="l"/>
            <a:r>
              <a:rPr sz="2250" b="0" i="0">
                <a:solidFill>
                  <a:srgbClr val="F0E8E8"/>
                </a:solidFill>
                <a:latin typeface="Geist Mono"/>
                <a:ea typeface="Geist Mono"/>
                <a:cs typeface="Geist Mono"/>
              </a:rPr>
              <a:t>build.gradle</a:t>
            </a:r>
          </a:p>
        </p:txBody>
      </p:sp>
      <p:sp>
        <p:nvSpPr>
          <p:cNvPr id="13" name="TextBox 12"/>
          <p:cNvSpPr txBox="1"/>
          <p:nvPr/>
        </p:nvSpPr>
        <p:spPr>
          <a:xfrm>
            <a:off x="11087100" y="5905500"/>
            <a:ext cx="6096000" cy="571500"/>
          </a:xfrm>
          <a:prstGeom prst="rect">
            <a:avLst/>
          </a:prstGeom>
          <a:noFill/>
        </p:spPr>
        <p:txBody>
          <a:bodyPr wrap="square" lIns="0" rIns="0" tIns="0" bIns="0" anchor="ctr">
            <a:spAutoFit/>
          </a:bodyPr>
          <a:lstStyle/>
          <a:p>
            <a:pPr algn="l"/>
            <a:r>
              <a:rPr sz="2250" b="0" i="0">
                <a:solidFill>
                  <a:srgbClr val="F0E8E8"/>
                </a:solidFill>
                <a:latin typeface="Geist Mono"/>
                <a:ea typeface="Geist Mono"/>
                <a:cs typeface="Geist Mono"/>
              </a:rPr>
              <a:t>README.md</a:t>
            </a:r>
          </a:p>
        </p:txBody>
      </p:sp>
      <p:sp>
        <p:nvSpPr>
          <p:cNvPr id="14" name="TextBox 13"/>
          <p:cNvSpPr txBox="1"/>
          <p:nvPr/>
        </p:nvSpPr>
        <p:spPr>
          <a:xfrm>
            <a:off x="10668000" y="6858000"/>
            <a:ext cx="6096000" cy="57150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the .git folder holds every version</a:t>
            </a:r>
          </a:p>
        </p:txBody>
      </p:sp>
      <p:sp>
        <p:nvSpPr>
          <p:cNvPr id="15" name="TextBox 1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6" name="TextBox 1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Commits: save points with a message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5" name="Connector 4"/>
          <p:cNvCxnSpPr/>
          <p:nvPr/>
        </p:nvCxnSpPr>
        <p:spPr>
          <a:xfrm>
            <a:off x="1524000" y="3238500"/>
            <a:ext cx="0" cy="3429000"/>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1333500" y="3048000"/>
            <a:ext cx="381000" cy="3810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000250" y="2990850"/>
            <a:ext cx="6667500" cy="4953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Created Arm subsystem</a:t>
            </a:r>
          </a:p>
        </p:txBody>
      </p:sp>
      <p:sp>
        <p:nvSpPr>
          <p:cNvPr id="8" name="Oval 7"/>
          <p:cNvSpPr/>
          <p:nvPr/>
        </p:nvSpPr>
        <p:spPr>
          <a:xfrm>
            <a:off x="1333500" y="4191000"/>
            <a:ext cx="381000" cy="3810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00250" y="4133850"/>
            <a:ext cx="6667500" cy="4953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Added arm motors</a:t>
            </a:r>
          </a:p>
        </p:txBody>
      </p:sp>
      <p:sp>
        <p:nvSpPr>
          <p:cNvPr id="10" name="Oval 9"/>
          <p:cNvSpPr/>
          <p:nvPr/>
        </p:nvSpPr>
        <p:spPr>
          <a:xfrm>
            <a:off x="1333500" y="5334000"/>
            <a:ext cx="381000" cy="3810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00250" y="5276850"/>
            <a:ext cx="6667500" cy="4953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Added arm PID controller</a:t>
            </a:r>
          </a:p>
        </p:txBody>
      </p:sp>
      <p:sp>
        <p:nvSpPr>
          <p:cNvPr id="12" name="Oval 11"/>
          <p:cNvSpPr/>
          <p:nvPr/>
        </p:nvSpPr>
        <p:spPr>
          <a:xfrm>
            <a:off x="1333500" y="64770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00250" y="6419850"/>
            <a:ext cx="6667500" cy="4953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Tuned arm PID controller</a:t>
            </a:r>
          </a:p>
        </p:txBody>
      </p:sp>
      <p:sp>
        <p:nvSpPr>
          <p:cNvPr id="14" name="TextBox 13"/>
          <p:cNvSpPr txBox="1"/>
          <p:nvPr/>
        </p:nvSpPr>
        <p:spPr>
          <a:xfrm>
            <a:off x="914400" y="7810500"/>
            <a:ext cx="7810500" cy="952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Each commit gets an ID (a SHA), shortened to 7 characters: </a:t>
            </a:r>
            <a:r>
              <a:rPr sz="1950" b="0" i="0">
                <a:solidFill>
                  <a:srgbClr val="E0785F"/>
                </a:solidFill>
                <a:latin typeface="Geist Mono"/>
                <a:ea typeface="Geist Mono"/>
                <a:cs typeface="Geist Mono"/>
              </a:rPr>
              <a:t>2c37172</a:t>
            </a:r>
          </a:p>
        </p:txBody>
      </p:sp>
      <p:sp>
        <p:nvSpPr>
          <p:cNvPr id="15" name="Rounded Rectangle 14"/>
          <p:cNvSpPr/>
          <p:nvPr/>
        </p:nvSpPr>
        <p:spPr>
          <a:xfrm>
            <a:off x="9525000" y="2857500"/>
            <a:ext cx="7848600" cy="2857500"/>
          </a:xfrm>
          <a:prstGeom prst="roundRect">
            <a:avLst>
              <a:gd name="adj" fmla="val 5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906000" y="3143250"/>
            <a:ext cx="7086600" cy="381000"/>
          </a:xfrm>
          <a:prstGeom prst="rect">
            <a:avLst/>
          </a:prstGeom>
          <a:noFill/>
        </p:spPr>
        <p:txBody>
          <a:bodyPr wrap="square" lIns="0" rIns="0" tIns="0" bIns="0" anchor="t">
            <a:spAutoFit/>
          </a:bodyPr>
          <a:lstStyle/>
          <a:p>
            <a:pPr algn="l"/>
            <a:r>
              <a:rPr sz="1500" b="1" i="0" spc="130">
                <a:solidFill>
                  <a:srgbClr val="198754"/>
                </a:solidFill>
                <a:latin typeface="Geist"/>
                <a:ea typeface="Geist"/>
                <a:cs typeface="Geist"/>
              </a:rPr>
              <a:t>GOOD MESSAGES</a:t>
            </a:r>
          </a:p>
        </p:txBody>
      </p:sp>
      <p:sp>
        <p:nvSpPr>
          <p:cNvPr id="17" name="TextBox 16"/>
          <p:cNvSpPr txBox="1"/>
          <p:nvPr/>
        </p:nvSpPr>
        <p:spPr>
          <a:xfrm>
            <a:off x="9906000" y="3619500"/>
            <a:ext cx="70866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Say what changed</a:t>
            </a:r>
          </a:p>
        </p:txBody>
      </p:sp>
      <p:sp>
        <p:nvSpPr>
          <p:cNvPr id="18" name="TextBox 17"/>
          <p:cNvSpPr txBox="1"/>
          <p:nvPr/>
        </p:nvSpPr>
        <p:spPr>
          <a:xfrm>
            <a:off x="9906000" y="4118610"/>
            <a:ext cx="70866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One small step each</a:t>
            </a:r>
          </a:p>
        </p:txBody>
      </p:sp>
      <p:sp>
        <p:nvSpPr>
          <p:cNvPr id="19" name="TextBox 18"/>
          <p:cNvSpPr txBox="1"/>
          <p:nvPr/>
        </p:nvSpPr>
        <p:spPr>
          <a:xfrm>
            <a:off x="9906000" y="4617720"/>
            <a:ext cx="70866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Fit in 52 characters, or the commit is too big</a:t>
            </a:r>
          </a:p>
        </p:txBody>
      </p:sp>
      <p:sp>
        <p:nvSpPr>
          <p:cNvPr id="20" name="Rounded Rectangle 19"/>
          <p:cNvSpPr/>
          <p:nvPr/>
        </p:nvSpPr>
        <p:spPr>
          <a:xfrm>
            <a:off x="9525000" y="6000750"/>
            <a:ext cx="7848600" cy="2762250"/>
          </a:xfrm>
          <a:prstGeom prst="roundRect">
            <a:avLst>
              <a:gd name="adj" fmla="val 551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906000" y="6286500"/>
            <a:ext cx="7086600" cy="381000"/>
          </a:xfrm>
          <a:prstGeom prst="rect">
            <a:avLst/>
          </a:prstGeom>
          <a:noFill/>
        </p:spPr>
        <p:txBody>
          <a:bodyPr wrap="square" lIns="0" rIns="0" tIns="0" bIns="0" anchor="t">
            <a:spAutoFit/>
          </a:bodyPr>
          <a:lstStyle/>
          <a:p>
            <a:pPr algn="l"/>
            <a:r>
              <a:rPr sz="1500" b="1" i="0" spc="130">
                <a:solidFill>
                  <a:srgbClr val="E05540"/>
                </a:solidFill>
                <a:latin typeface="Geist"/>
                <a:ea typeface="Geist"/>
                <a:cs typeface="Geist"/>
              </a:rPr>
              <a:t>NOT HELPFUL</a:t>
            </a:r>
          </a:p>
        </p:txBody>
      </p:sp>
      <p:sp>
        <p:nvSpPr>
          <p:cNvPr id="22" name="TextBox 21"/>
          <p:cNvSpPr txBox="1"/>
          <p:nvPr/>
        </p:nvSpPr>
        <p:spPr>
          <a:xfrm>
            <a:off x="9906000" y="6762750"/>
            <a:ext cx="7086600" cy="1905000"/>
          </a:xfrm>
          <a:prstGeom prst="rect">
            <a:avLst/>
          </a:prstGeom>
          <a:noFill/>
        </p:spPr>
        <p:txBody>
          <a:bodyPr wrap="square" lIns="0" rIns="0" tIns="0" bIns="0" anchor="t">
            <a:spAutoFit/>
          </a:bodyPr>
          <a:lstStyle/>
          <a:p>
            <a:pPr algn="l">
              <a:lnSpc>
                <a:spcPct val="140000"/>
              </a:lnSpc>
            </a:pPr>
            <a:r>
              <a:rPr sz="2100" b="0" i="0">
                <a:solidFill>
                  <a:srgbClr val="9A7878"/>
                </a:solidFill>
                <a:latin typeface="Geist Mono"/>
                <a:ea typeface="Geist Mono"/>
                <a:cs typeface="Geist Mono"/>
              </a:rPr>
              <a:t>"stuff"</a:t>
            </a:r>
          </a:p>
          <a:p>
            <a:pPr algn="l">
              <a:lnSpc>
                <a:spcPct val="140000"/>
              </a:lnSpc>
            </a:pPr>
            <a:r>
              <a:rPr sz="2100" b="0" i="0">
                <a:solidFill>
                  <a:srgbClr val="9A7878"/>
                </a:solidFill>
                <a:latin typeface="Geist Mono"/>
                <a:ea typeface="Geist Mono"/>
                <a:cs typeface="Geist Mono"/>
              </a:rPr>
              <a:t>"fixed it"</a:t>
            </a:r>
          </a:p>
          <a:p>
            <a:pPr algn="l">
              <a:lnSpc>
                <a:spcPct val="140000"/>
              </a:lnSpc>
            </a:pPr>
            <a:r>
              <a:rPr sz="2100" b="0" i="0">
                <a:solidFill>
                  <a:srgbClr val="9A7878"/>
                </a:solidFill>
                <a:latin typeface="Geist Mono"/>
                <a:ea typeface="Geist Mono"/>
                <a:cs typeface="Geist Mono"/>
              </a:rPr>
              <a:t>"asdf"</a:t>
            </a:r>
          </a:p>
        </p:txBody>
      </p:sp>
      <p:sp>
        <p:nvSpPr>
          <p:cNvPr id="23" name="TextBox 2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4" name="TextBox 2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Four places your code lives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35433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9650" y="371475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Working</a:t>
            </a:r>
          </a:p>
        </p:txBody>
      </p:sp>
      <p:sp>
        <p:nvSpPr>
          <p:cNvPr id="7" name="TextBox 6"/>
          <p:cNvSpPr txBox="1"/>
          <p:nvPr/>
        </p:nvSpPr>
        <p:spPr>
          <a:xfrm>
            <a:off x="1066800" y="4305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Files you edit and save</a:t>
            </a:r>
          </a:p>
        </p:txBody>
      </p:sp>
      <p:cxnSp>
        <p:nvCxnSpPr>
          <p:cNvPr id="8" name="Connector 7"/>
          <p:cNvCxnSpPr/>
          <p:nvPr/>
        </p:nvCxnSpPr>
        <p:spPr>
          <a:xfrm>
            <a:off x="4533900" y="419100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219700" y="3143250"/>
            <a:ext cx="3543300" cy="2095500"/>
          </a:xfrm>
          <a:prstGeom prst="roundRect">
            <a:avLst>
              <a:gd name="adj" fmla="val 7272"/>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314950" y="371475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Staged</a:t>
            </a:r>
          </a:p>
        </p:txBody>
      </p:sp>
      <p:sp>
        <p:nvSpPr>
          <p:cNvPr id="11" name="TextBox 10"/>
          <p:cNvSpPr txBox="1"/>
          <p:nvPr/>
        </p:nvSpPr>
        <p:spPr>
          <a:xfrm>
            <a:off x="5372100" y="4305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Picked for the next commit</a:t>
            </a:r>
          </a:p>
        </p:txBody>
      </p:sp>
      <p:cxnSp>
        <p:nvCxnSpPr>
          <p:cNvPr id="12" name="Connector 11"/>
          <p:cNvCxnSpPr/>
          <p:nvPr/>
        </p:nvCxnSpPr>
        <p:spPr>
          <a:xfrm>
            <a:off x="8839200" y="419100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525000" y="3143250"/>
            <a:ext cx="35433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20250" y="371475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Local repo</a:t>
            </a:r>
          </a:p>
        </p:txBody>
      </p:sp>
      <p:sp>
        <p:nvSpPr>
          <p:cNvPr id="15" name="TextBox 14"/>
          <p:cNvSpPr txBox="1"/>
          <p:nvPr/>
        </p:nvSpPr>
        <p:spPr>
          <a:xfrm>
            <a:off x="9677400" y="4305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Commits on your computer</a:t>
            </a:r>
          </a:p>
        </p:txBody>
      </p:sp>
      <p:cxnSp>
        <p:nvCxnSpPr>
          <p:cNvPr id="16" name="Connector 15"/>
          <p:cNvCxnSpPr/>
          <p:nvPr/>
        </p:nvCxnSpPr>
        <p:spPr>
          <a:xfrm>
            <a:off x="13144500" y="419100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830300" y="3143250"/>
            <a:ext cx="35433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925550" y="371475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Remote</a:t>
            </a:r>
          </a:p>
        </p:txBody>
      </p:sp>
      <p:sp>
        <p:nvSpPr>
          <p:cNvPr id="19" name="TextBox 18"/>
          <p:cNvSpPr txBox="1"/>
          <p:nvPr/>
        </p:nvSpPr>
        <p:spPr>
          <a:xfrm>
            <a:off x="13982700" y="4305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The team's copy on GitHub</a:t>
            </a:r>
          </a:p>
        </p:txBody>
      </p:sp>
      <p:sp>
        <p:nvSpPr>
          <p:cNvPr id="20" name="TextBox 19"/>
          <p:cNvSpPr txBox="1"/>
          <p:nvPr/>
        </p:nvSpPr>
        <p:spPr>
          <a:xfrm>
            <a:off x="4076700" y="2667000"/>
            <a:ext cx="1524000" cy="381000"/>
          </a:xfrm>
          <a:prstGeom prst="rect">
            <a:avLst/>
          </a:prstGeom>
          <a:noFill/>
        </p:spPr>
        <p:txBody>
          <a:bodyPr wrap="square" lIns="0" rIns="0" tIns="0" bIns="0" anchor="t">
            <a:spAutoFit/>
          </a:bodyPr>
          <a:lstStyle/>
          <a:p>
            <a:pPr algn="ctr"/>
            <a:r>
              <a:rPr sz="1500" b="0" i="0">
                <a:solidFill>
                  <a:srgbClr val="E0785F"/>
                </a:solidFill>
                <a:latin typeface="Geist Mono"/>
                <a:ea typeface="Geist Mono"/>
                <a:cs typeface="Geist Mono"/>
              </a:rPr>
              <a:t>git add</a:t>
            </a:r>
          </a:p>
        </p:txBody>
      </p:sp>
      <p:sp>
        <p:nvSpPr>
          <p:cNvPr id="21" name="TextBox 20"/>
          <p:cNvSpPr txBox="1"/>
          <p:nvPr/>
        </p:nvSpPr>
        <p:spPr>
          <a:xfrm>
            <a:off x="8382000" y="2667000"/>
            <a:ext cx="1524000" cy="381000"/>
          </a:xfrm>
          <a:prstGeom prst="rect">
            <a:avLst/>
          </a:prstGeom>
          <a:noFill/>
        </p:spPr>
        <p:txBody>
          <a:bodyPr wrap="square" lIns="0" rIns="0" tIns="0" bIns="0" anchor="t">
            <a:spAutoFit/>
          </a:bodyPr>
          <a:lstStyle/>
          <a:p>
            <a:pPr algn="ctr"/>
            <a:r>
              <a:rPr sz="1500" b="0" i="0">
                <a:solidFill>
                  <a:srgbClr val="E0785F"/>
                </a:solidFill>
                <a:latin typeface="Geist Mono"/>
                <a:ea typeface="Geist Mono"/>
                <a:cs typeface="Geist Mono"/>
              </a:rPr>
              <a:t>git commit</a:t>
            </a:r>
          </a:p>
        </p:txBody>
      </p:sp>
      <p:sp>
        <p:nvSpPr>
          <p:cNvPr id="22" name="TextBox 21"/>
          <p:cNvSpPr txBox="1"/>
          <p:nvPr/>
        </p:nvSpPr>
        <p:spPr>
          <a:xfrm>
            <a:off x="12687300" y="2667000"/>
            <a:ext cx="1524000" cy="381000"/>
          </a:xfrm>
          <a:prstGeom prst="rect">
            <a:avLst/>
          </a:prstGeom>
          <a:noFill/>
        </p:spPr>
        <p:txBody>
          <a:bodyPr wrap="square" lIns="0" rIns="0" tIns="0" bIns="0" anchor="t">
            <a:spAutoFit/>
          </a:bodyPr>
          <a:lstStyle/>
          <a:p>
            <a:pPr algn="ctr"/>
            <a:r>
              <a:rPr sz="1500" b="0" i="0">
                <a:solidFill>
                  <a:srgbClr val="E0785F"/>
                </a:solidFill>
                <a:latin typeface="Geist Mono"/>
                <a:ea typeface="Geist Mono"/>
                <a:cs typeface="Geist Mono"/>
              </a:rPr>
              <a:t>git push</a:t>
            </a:r>
          </a:p>
        </p:txBody>
      </p:sp>
      <p:sp>
        <p:nvSpPr>
          <p:cNvPr id="23" name="TextBox 22"/>
          <p:cNvSpPr txBox="1"/>
          <p:nvPr/>
        </p:nvSpPr>
        <p:spPr>
          <a:xfrm>
            <a:off x="914400" y="5715000"/>
            <a:ext cx="164592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THE EVERYDAY ROUTINE</a:t>
            </a:r>
          </a:p>
        </p:txBody>
      </p:sp>
      <p:sp>
        <p:nvSpPr>
          <p:cNvPr id="24" name="Rounded Rectangle 23"/>
          <p:cNvSpPr/>
          <p:nvPr/>
        </p:nvSpPr>
        <p:spPr>
          <a:xfrm>
            <a:off x="914400" y="6191250"/>
            <a:ext cx="3048000" cy="914400"/>
          </a:xfrm>
          <a:prstGeom prst="roundRect">
            <a:avLst>
              <a:gd name="adj" fmla="val 125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14400" y="6191250"/>
            <a:ext cx="3048000" cy="914400"/>
          </a:xfrm>
          <a:prstGeom prst="rect">
            <a:avLst/>
          </a:prstGeom>
          <a:noFill/>
        </p:spPr>
        <p:txBody>
          <a:bodyPr wrap="square" lIns="0" rIns="0" tIns="0" bIns="0" anchor="ctr">
            <a:spAutoFit/>
          </a:bodyPr>
          <a:lstStyle/>
          <a:p>
            <a:pPr algn="ctr"/>
            <a:r>
              <a:rPr sz="2250" b="1" i="0">
                <a:solidFill>
                  <a:srgbClr val="F0E8E8"/>
                </a:solidFill>
                <a:latin typeface="Geist"/>
                <a:ea typeface="Geist"/>
                <a:cs typeface="Geist"/>
              </a:rPr>
              <a:t>1  Edit</a:t>
            </a:r>
          </a:p>
        </p:txBody>
      </p:sp>
      <p:sp>
        <p:nvSpPr>
          <p:cNvPr id="26" name="Rounded Rectangle 25"/>
          <p:cNvSpPr/>
          <p:nvPr/>
        </p:nvSpPr>
        <p:spPr>
          <a:xfrm>
            <a:off x="4267200" y="6191250"/>
            <a:ext cx="3048000" cy="914400"/>
          </a:xfrm>
          <a:prstGeom prst="roundRect">
            <a:avLst>
              <a:gd name="adj" fmla="val 125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267200" y="6191250"/>
            <a:ext cx="3048000" cy="914400"/>
          </a:xfrm>
          <a:prstGeom prst="rect">
            <a:avLst/>
          </a:prstGeom>
          <a:noFill/>
        </p:spPr>
        <p:txBody>
          <a:bodyPr wrap="square" lIns="0" rIns="0" tIns="0" bIns="0" anchor="ctr">
            <a:spAutoFit/>
          </a:bodyPr>
          <a:lstStyle/>
          <a:p>
            <a:pPr algn="ctr"/>
            <a:r>
              <a:rPr sz="2250" b="1" i="0">
                <a:solidFill>
                  <a:srgbClr val="F0E8E8"/>
                </a:solidFill>
                <a:latin typeface="Geist"/>
                <a:ea typeface="Geist"/>
                <a:cs typeface="Geist"/>
              </a:rPr>
              <a:t>2  Save</a:t>
            </a:r>
          </a:p>
        </p:txBody>
      </p:sp>
      <p:sp>
        <p:nvSpPr>
          <p:cNvPr id="28" name="Rounded Rectangle 27"/>
          <p:cNvSpPr/>
          <p:nvPr/>
        </p:nvSpPr>
        <p:spPr>
          <a:xfrm>
            <a:off x="7620000" y="6191250"/>
            <a:ext cx="3048000" cy="914400"/>
          </a:xfrm>
          <a:prstGeom prst="roundRect">
            <a:avLst>
              <a:gd name="adj" fmla="val 125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620000" y="6191250"/>
            <a:ext cx="3048000" cy="914400"/>
          </a:xfrm>
          <a:prstGeom prst="rect">
            <a:avLst/>
          </a:prstGeom>
          <a:noFill/>
        </p:spPr>
        <p:txBody>
          <a:bodyPr wrap="square" lIns="0" rIns="0" tIns="0" bIns="0" anchor="ctr">
            <a:spAutoFit/>
          </a:bodyPr>
          <a:lstStyle/>
          <a:p>
            <a:pPr algn="ctr"/>
            <a:r>
              <a:rPr sz="2250" b="1" i="0">
                <a:solidFill>
                  <a:srgbClr val="F0E8E8"/>
                </a:solidFill>
                <a:latin typeface="Geist"/>
                <a:ea typeface="Geist"/>
                <a:cs typeface="Geist"/>
              </a:rPr>
              <a:t>3  Stage +</a:t>
            </a:r>
          </a:p>
        </p:txBody>
      </p:sp>
      <p:sp>
        <p:nvSpPr>
          <p:cNvPr id="30" name="Rounded Rectangle 29"/>
          <p:cNvSpPr/>
          <p:nvPr/>
        </p:nvSpPr>
        <p:spPr>
          <a:xfrm>
            <a:off x="10972800" y="6191250"/>
            <a:ext cx="3048000" cy="914400"/>
          </a:xfrm>
          <a:prstGeom prst="roundRect">
            <a:avLst>
              <a:gd name="adj" fmla="val 125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0972800" y="6191250"/>
            <a:ext cx="3048000" cy="914400"/>
          </a:xfrm>
          <a:prstGeom prst="rect">
            <a:avLst/>
          </a:prstGeom>
          <a:noFill/>
        </p:spPr>
        <p:txBody>
          <a:bodyPr wrap="square" lIns="0" rIns="0" tIns="0" bIns="0" anchor="ctr">
            <a:spAutoFit/>
          </a:bodyPr>
          <a:lstStyle/>
          <a:p>
            <a:pPr algn="ctr"/>
            <a:r>
              <a:rPr sz="2250" b="1" i="0">
                <a:solidFill>
                  <a:srgbClr val="F0E8E8"/>
                </a:solidFill>
                <a:latin typeface="Geist"/>
                <a:ea typeface="Geist"/>
                <a:cs typeface="Geist"/>
              </a:rPr>
              <a:t>4  Message</a:t>
            </a:r>
          </a:p>
        </p:txBody>
      </p:sp>
      <p:sp>
        <p:nvSpPr>
          <p:cNvPr id="32" name="Rounded Rectangle 31"/>
          <p:cNvSpPr/>
          <p:nvPr/>
        </p:nvSpPr>
        <p:spPr>
          <a:xfrm>
            <a:off x="14325600" y="6191250"/>
            <a:ext cx="3048000" cy="914400"/>
          </a:xfrm>
          <a:prstGeom prst="roundRect">
            <a:avLst>
              <a:gd name="adj" fmla="val 125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4325600" y="6191250"/>
            <a:ext cx="3048000" cy="914400"/>
          </a:xfrm>
          <a:prstGeom prst="rect">
            <a:avLst/>
          </a:prstGeom>
          <a:noFill/>
        </p:spPr>
        <p:txBody>
          <a:bodyPr wrap="square" lIns="0" rIns="0" tIns="0" bIns="0" anchor="ctr">
            <a:spAutoFit/>
          </a:bodyPr>
          <a:lstStyle/>
          <a:p>
            <a:pPr algn="ctr"/>
            <a:r>
              <a:rPr sz="2250" b="1" i="0">
                <a:solidFill>
                  <a:srgbClr val="F0E8E8"/>
                </a:solidFill>
                <a:latin typeface="Geist"/>
                <a:ea typeface="Geist"/>
                <a:cs typeface="Geist"/>
              </a:rPr>
              <a:t>5  Commit</a:t>
            </a:r>
          </a:p>
        </p:txBody>
      </p:sp>
      <p:sp>
        <p:nvSpPr>
          <p:cNvPr id="34" name="TextBox 33"/>
          <p:cNvSpPr txBox="1"/>
          <p:nvPr/>
        </p:nvSpPr>
        <p:spPr>
          <a:xfrm>
            <a:off x="914400" y="7524750"/>
            <a:ext cx="164592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In the editor, every step is a button in Source Control (the branch icon on the left).</a:t>
            </a:r>
          </a:p>
        </p:txBody>
      </p:sp>
      <p:sp>
        <p:nvSpPr>
          <p:cNvPr id="35" name="TextBox 3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6" name="TextBox 3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Branches: parallel lines of work</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571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Your own line of work</a:t>
            </a:r>
          </a:p>
        </p:txBody>
      </p:sp>
      <p:sp>
        <p:nvSpPr>
          <p:cNvPr id="6" name="TextBox 5"/>
          <p:cNvSpPr txBox="1"/>
          <p:nvPr/>
        </p:nvSpPr>
        <p:spPr>
          <a:xfrm>
            <a:off x="914400" y="3514725"/>
            <a:ext cx="571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Starts from a commit on another branch</a:t>
            </a:r>
          </a:p>
        </p:txBody>
      </p:sp>
      <p:sp>
        <p:nvSpPr>
          <p:cNvPr id="7" name="TextBox 6"/>
          <p:cNvSpPr txBox="1"/>
          <p:nvPr/>
        </p:nvSpPr>
        <p:spPr>
          <a:xfrm>
            <a:off x="914400" y="4171950"/>
            <a:ext cx="571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Always branch for a new feature</a:t>
            </a:r>
          </a:p>
        </p:txBody>
      </p:sp>
      <p:sp>
        <p:nvSpPr>
          <p:cNvPr id="8" name="TextBox 7"/>
          <p:cNvSpPr txBox="1"/>
          <p:nvPr/>
        </p:nvSpPr>
        <p:spPr>
          <a:xfrm>
            <a:off x="914400" y="4829175"/>
            <a:ext cx="571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Lets people work in parallel</a:t>
            </a:r>
          </a:p>
        </p:txBody>
      </p:sp>
      <p:sp>
        <p:nvSpPr>
          <p:cNvPr id="9" name="Rounded Rectangle 8"/>
          <p:cNvSpPr/>
          <p:nvPr/>
        </p:nvSpPr>
        <p:spPr>
          <a:xfrm>
            <a:off x="7239000" y="2857500"/>
            <a:ext cx="10134600" cy="5334000"/>
          </a:xfrm>
          <a:prstGeom prst="roundRect">
            <a:avLst>
              <a:gd name="adj" fmla="val 28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543800" y="3714750"/>
            <a:ext cx="2190750" cy="571500"/>
          </a:xfrm>
          <a:prstGeom prst="roundRect">
            <a:avLst>
              <a:gd name="adj" fmla="val 50000"/>
            </a:avLst>
          </a:prstGeom>
          <a:solidFill>
            <a:srgbClr val="111111"/>
          </a:solidFill>
          <a:ln w="19050">
            <a:solidFill>
              <a:srgbClr val="F0E8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543800" y="3714750"/>
            <a:ext cx="2190750" cy="571500"/>
          </a:xfrm>
          <a:prstGeom prst="rect">
            <a:avLst/>
          </a:prstGeom>
          <a:noFill/>
        </p:spPr>
        <p:txBody>
          <a:bodyPr wrap="square" lIns="0" rIns="0" tIns="0" bIns="0" anchor="ctr">
            <a:spAutoFit/>
          </a:bodyPr>
          <a:lstStyle/>
          <a:p>
            <a:pPr algn="ctr"/>
            <a:r>
              <a:rPr sz="1800" b="0" i="0">
                <a:solidFill>
                  <a:srgbClr val="F0E8E8"/>
                </a:solidFill>
                <a:latin typeface="Geist Mono"/>
                <a:ea typeface="Geist Mono"/>
                <a:cs typeface="Geist Mono"/>
              </a:rPr>
              <a:t>main</a:t>
            </a:r>
          </a:p>
        </p:txBody>
      </p:sp>
      <p:cxnSp>
        <p:nvCxnSpPr>
          <p:cNvPr id="12" name="Connector 11"/>
          <p:cNvCxnSpPr/>
          <p:nvPr/>
        </p:nvCxnSpPr>
        <p:spPr>
          <a:xfrm>
            <a:off x="10287000" y="4000500"/>
            <a:ext cx="6477000" cy="0"/>
          </a:xfrm>
          <a:prstGeom prst="line">
            <a:avLst/>
          </a:prstGeom>
          <a:ln w="57150">
            <a:solidFill>
              <a:srgbClr val="F0E8E8"/>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543800" y="5238750"/>
            <a:ext cx="2190750" cy="571500"/>
          </a:xfrm>
          <a:prstGeom prst="roundRect">
            <a:avLst>
              <a:gd name="adj" fmla="val 50000"/>
            </a:avLst>
          </a:prstGeom>
          <a:solidFill>
            <a:srgbClr val="111111"/>
          </a:solidFill>
          <a:ln w="19050">
            <a:solidFill>
              <a:srgbClr val="6FA8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543800" y="5238750"/>
            <a:ext cx="2190750" cy="571500"/>
          </a:xfrm>
          <a:prstGeom prst="rect">
            <a:avLst/>
          </a:prstGeom>
          <a:noFill/>
        </p:spPr>
        <p:txBody>
          <a:bodyPr wrap="square" lIns="0" rIns="0" tIns="0" bIns="0" anchor="ctr">
            <a:spAutoFit/>
          </a:bodyPr>
          <a:lstStyle/>
          <a:p>
            <a:pPr algn="ctr"/>
            <a:r>
              <a:rPr sz="1800" b="0" i="0">
                <a:solidFill>
                  <a:srgbClr val="6FA8DC"/>
                </a:solidFill>
                <a:latin typeface="Geist Mono"/>
                <a:ea typeface="Geist Mono"/>
                <a:cs typeface="Geist Mono"/>
              </a:rPr>
              <a:t>bugfix</a:t>
            </a:r>
          </a:p>
        </p:txBody>
      </p:sp>
      <p:cxnSp>
        <p:nvCxnSpPr>
          <p:cNvPr id="15" name="Connector 14"/>
          <p:cNvCxnSpPr/>
          <p:nvPr/>
        </p:nvCxnSpPr>
        <p:spPr>
          <a:xfrm>
            <a:off x="14287500" y="5524500"/>
            <a:ext cx="1333500" cy="0"/>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543800" y="6762750"/>
            <a:ext cx="2190750" cy="571500"/>
          </a:xfrm>
          <a:prstGeom prst="roundRect">
            <a:avLst>
              <a:gd name="adj" fmla="val 50000"/>
            </a:avLst>
          </a:prstGeom>
          <a:solidFill>
            <a:srgbClr val="111111"/>
          </a:solidFill>
          <a:ln w="19050">
            <a:solidFill>
              <a:srgbClr val="E055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543800" y="6762750"/>
            <a:ext cx="2190750" cy="571500"/>
          </a:xfrm>
          <a:prstGeom prst="rect">
            <a:avLst/>
          </a:prstGeom>
          <a:noFill/>
        </p:spPr>
        <p:txBody>
          <a:bodyPr wrap="square" lIns="0" rIns="0" tIns="0" bIns="0" anchor="ctr">
            <a:spAutoFit/>
          </a:bodyPr>
          <a:lstStyle/>
          <a:p>
            <a:pPr algn="ctr"/>
            <a:r>
              <a:rPr sz="1800" b="0" i="0">
                <a:solidFill>
                  <a:srgbClr val="E05540"/>
                </a:solidFill>
                <a:latin typeface="Geist Mono"/>
                <a:ea typeface="Geist Mono"/>
                <a:cs typeface="Geist Mono"/>
              </a:rPr>
              <a:t>new-feature</a:t>
            </a:r>
          </a:p>
        </p:txBody>
      </p:sp>
      <p:cxnSp>
        <p:nvCxnSpPr>
          <p:cNvPr id="18" name="Connector 17"/>
          <p:cNvCxnSpPr/>
          <p:nvPr/>
        </p:nvCxnSpPr>
        <p:spPr>
          <a:xfrm>
            <a:off x="12954000" y="7048500"/>
            <a:ext cx="4000500" cy="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2954000" y="4000500"/>
            <a:ext cx="133156" cy="22216"/>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3087156" y="4022716"/>
            <a:ext cx="115660" cy="62204"/>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3202816" y="4084920"/>
            <a:ext cx="101082" cy="95528"/>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3303898" y="4180448"/>
            <a:ext cx="89418" cy="122186"/>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3393316" y="4302634"/>
            <a:ext cx="80671" cy="142181"/>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3473987" y="4444815"/>
            <a:ext cx="74840" cy="155510"/>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548827" y="4600325"/>
            <a:ext cx="71923" cy="162175"/>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3620750" y="4762500"/>
            <a:ext cx="71923" cy="162175"/>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3692673" y="4924675"/>
            <a:ext cx="74840" cy="155510"/>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3767513" y="5080185"/>
            <a:ext cx="80671" cy="142181"/>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3848184" y="5222366"/>
            <a:ext cx="89418" cy="122186"/>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3937602" y="5344552"/>
            <a:ext cx="101082" cy="95528"/>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4038684" y="5440080"/>
            <a:ext cx="115660" cy="62204"/>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4154344" y="5502284"/>
            <a:ext cx="133156" cy="22216"/>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13058581" y="3994141"/>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3174241" y="4056345"/>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3275323" y="4151873"/>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3364741" y="4274059"/>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3445412" y="4416240"/>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3520252" y="4571750"/>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3592175" y="4733925"/>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3664098" y="4896100"/>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3738938" y="5051610"/>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3819609" y="5193791"/>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3909027" y="5315977"/>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4010109" y="5411505"/>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4125769" y="5473709"/>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6" name="Connector 45"/>
          <p:cNvCxnSpPr/>
          <p:nvPr/>
        </p:nvCxnSpPr>
        <p:spPr>
          <a:xfrm>
            <a:off x="11620500" y="4000500"/>
            <a:ext cx="133156" cy="44431"/>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1753656" y="4044931"/>
            <a:ext cx="115660" cy="12440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1869316" y="4169340"/>
            <a:ext cx="101082" cy="19105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1970398" y="4360395"/>
            <a:ext cx="89418" cy="24437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2059816" y="4604768"/>
            <a:ext cx="80671" cy="284362"/>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2140487" y="4889130"/>
            <a:ext cx="74840" cy="31102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2215327" y="5200150"/>
            <a:ext cx="71923" cy="32435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2287250" y="5524500"/>
            <a:ext cx="71923" cy="32435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2359173" y="5848850"/>
            <a:ext cx="74840" cy="31102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2434013" y="6159870"/>
            <a:ext cx="80671" cy="284362"/>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2514684" y="6444232"/>
            <a:ext cx="89418" cy="24437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2604102" y="6688605"/>
            <a:ext cx="101082" cy="19105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2705184" y="6879660"/>
            <a:ext cx="115660" cy="12440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2820844" y="7004069"/>
            <a:ext cx="133156" cy="44431"/>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11725081" y="401635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1840741" y="414076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1941823" y="433182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2031241" y="4576193"/>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2111912" y="486055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12186752" y="517157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2258675" y="549592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12330598" y="582027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12405438" y="613129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2486109" y="6415657"/>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12575527" y="666003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12676609" y="685108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12792269" y="697549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10077450" y="3790950"/>
            <a:ext cx="419100" cy="4191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10144125" y="3857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11410950" y="3790950"/>
            <a:ext cx="419100" cy="4191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11477625" y="3857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12744450" y="3790950"/>
            <a:ext cx="419100" cy="4191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12811125" y="3857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6554450" y="3790950"/>
            <a:ext cx="419100" cy="4191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6621125" y="3857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4077950" y="5314950"/>
            <a:ext cx="419100" cy="41910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4144625" y="5381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15411450" y="5314950"/>
            <a:ext cx="419100" cy="41910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15478125" y="5381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12744450" y="68389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2811125" y="6905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4077950" y="68389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4144625" y="6905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5411450" y="68389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5478125" y="6905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6744950" y="68389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6811625" y="6905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0096500" y="3333750"/>
            <a:ext cx="3810000" cy="285750"/>
          </a:xfrm>
          <a:prstGeom prst="rect">
            <a:avLst/>
          </a:prstGeom>
          <a:noFill/>
        </p:spPr>
        <p:txBody>
          <a:bodyPr wrap="square" lIns="0" rIns="0" tIns="0" bIns="0" anchor="t">
            <a:spAutoFit/>
          </a:bodyPr>
          <a:lstStyle/>
          <a:p>
            <a:pPr algn="l"/>
            <a:r>
              <a:rPr sz="1500" b="0" i="0">
                <a:solidFill>
                  <a:srgbClr val="9A7878"/>
                </a:solidFill>
                <a:latin typeface="Geist"/>
                <a:ea typeface="Geist"/>
                <a:cs typeface="Geist"/>
              </a:rPr>
              <a:t>older</a:t>
            </a:r>
          </a:p>
        </p:txBody>
      </p:sp>
      <p:sp>
        <p:nvSpPr>
          <p:cNvPr id="94" name="TextBox 93"/>
          <p:cNvSpPr txBox="1"/>
          <p:nvPr/>
        </p:nvSpPr>
        <p:spPr>
          <a:xfrm>
            <a:off x="15240000" y="3333750"/>
            <a:ext cx="1809750" cy="285750"/>
          </a:xfrm>
          <a:prstGeom prst="rect">
            <a:avLst/>
          </a:prstGeom>
          <a:noFill/>
        </p:spPr>
        <p:txBody>
          <a:bodyPr wrap="square" lIns="0" rIns="0" tIns="0" bIns="0" anchor="t">
            <a:spAutoFit/>
          </a:bodyPr>
          <a:lstStyle/>
          <a:p>
            <a:pPr algn="r"/>
            <a:r>
              <a:rPr sz="1500" b="0" i="0">
                <a:solidFill>
                  <a:srgbClr val="9A7878"/>
                </a:solidFill>
                <a:latin typeface="Geist"/>
                <a:ea typeface="Geist"/>
                <a:cs typeface="Geist"/>
              </a:rPr>
              <a:t>newer</a:t>
            </a:r>
          </a:p>
        </p:txBody>
      </p:sp>
      <p:cxnSp>
        <p:nvCxnSpPr>
          <p:cNvPr id="95" name="Connector 94"/>
          <p:cNvCxnSpPr/>
          <p:nvPr/>
        </p:nvCxnSpPr>
        <p:spPr>
          <a:xfrm>
            <a:off x="10953750" y="3476625"/>
            <a:ext cx="4095750" cy="0"/>
          </a:xfrm>
          <a:prstGeom prst="line">
            <a:avLst/>
          </a:prstGeom>
          <a:ln w="19050">
            <a:solidFill>
              <a:srgbClr val="2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97" name="TextBox 9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How our team uses branches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6459200" cy="4476750"/>
          </a:xfrm>
          <a:prstGeom prst="roundRect">
            <a:avLst>
              <a:gd name="adj" fmla="val 3404"/>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295400" y="3333750"/>
            <a:ext cx="3619500" cy="571500"/>
          </a:xfrm>
          <a:prstGeom prst="roundRect">
            <a:avLst>
              <a:gd name="adj" fmla="val 50000"/>
            </a:avLst>
          </a:prstGeom>
          <a:solidFill>
            <a:srgbClr val="111111"/>
          </a:solidFill>
          <a:ln w="19050">
            <a:solidFill>
              <a:srgbClr val="F0E8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5400" y="3333750"/>
            <a:ext cx="3619500" cy="571500"/>
          </a:xfrm>
          <a:prstGeom prst="rect">
            <a:avLst/>
          </a:prstGeom>
          <a:noFill/>
        </p:spPr>
        <p:txBody>
          <a:bodyPr wrap="square" lIns="0" rIns="0" tIns="0" bIns="0" anchor="ctr">
            <a:spAutoFit/>
          </a:bodyPr>
          <a:lstStyle/>
          <a:p>
            <a:pPr algn="ctr"/>
            <a:r>
              <a:rPr sz="1800" b="0" i="0">
                <a:solidFill>
                  <a:srgbClr val="F0E8E8"/>
                </a:solidFill>
                <a:latin typeface="Geist Mono"/>
                <a:ea typeface="Geist Mono"/>
                <a:cs typeface="Geist Mono"/>
              </a:rPr>
              <a:t>main</a:t>
            </a:r>
          </a:p>
        </p:txBody>
      </p:sp>
      <p:cxnSp>
        <p:nvCxnSpPr>
          <p:cNvPr id="8" name="Connector 7"/>
          <p:cNvCxnSpPr/>
          <p:nvPr/>
        </p:nvCxnSpPr>
        <p:spPr>
          <a:xfrm>
            <a:off x="6096000" y="3619500"/>
            <a:ext cx="10477500" cy="0"/>
          </a:xfrm>
          <a:prstGeom prst="line">
            <a:avLst/>
          </a:prstGeom>
          <a:ln w="57150">
            <a:solidFill>
              <a:srgbClr val="F0E8E8"/>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295400" y="4762500"/>
            <a:ext cx="3619500" cy="571500"/>
          </a:xfrm>
          <a:prstGeom prst="roundRect">
            <a:avLst>
              <a:gd name="adj" fmla="val 50000"/>
            </a:avLst>
          </a:prstGeom>
          <a:solidFill>
            <a:srgbClr val="111111"/>
          </a:solidFill>
          <a:ln w="19050">
            <a:solidFill>
              <a:srgbClr val="E8C2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295400" y="4762500"/>
            <a:ext cx="3619500" cy="571500"/>
          </a:xfrm>
          <a:prstGeom prst="rect">
            <a:avLst/>
          </a:prstGeom>
          <a:noFill/>
        </p:spPr>
        <p:txBody>
          <a:bodyPr wrap="square" lIns="0" rIns="0" tIns="0" bIns="0" anchor="ctr">
            <a:spAutoFit/>
          </a:bodyPr>
          <a:lstStyle/>
          <a:p>
            <a:pPr algn="ctr"/>
            <a:r>
              <a:rPr sz="1800" b="0" i="0">
                <a:solidFill>
                  <a:srgbClr val="E8C27A"/>
                </a:solidFill>
                <a:latin typeface="Geist Mono"/>
                <a:ea typeface="Geist Mono"/>
                <a:cs typeface="Geist Mono"/>
              </a:rPr>
              <a:t>develop</a:t>
            </a:r>
          </a:p>
        </p:txBody>
      </p:sp>
      <p:cxnSp>
        <p:nvCxnSpPr>
          <p:cNvPr id="11" name="Connector 10"/>
          <p:cNvCxnSpPr/>
          <p:nvPr/>
        </p:nvCxnSpPr>
        <p:spPr>
          <a:xfrm>
            <a:off x="7620000" y="5048250"/>
            <a:ext cx="7429500" cy="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295400" y="6191250"/>
            <a:ext cx="3619500" cy="571500"/>
          </a:xfrm>
          <a:prstGeom prst="roundRect">
            <a:avLst>
              <a:gd name="adj" fmla="val 50000"/>
            </a:avLst>
          </a:prstGeom>
          <a:solidFill>
            <a:srgbClr val="111111"/>
          </a:solidFill>
          <a:ln w="19050">
            <a:solidFill>
              <a:srgbClr val="E055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295400" y="6191250"/>
            <a:ext cx="3619500" cy="571500"/>
          </a:xfrm>
          <a:prstGeom prst="rect">
            <a:avLst/>
          </a:prstGeom>
          <a:noFill/>
        </p:spPr>
        <p:txBody>
          <a:bodyPr wrap="square" lIns="0" rIns="0" tIns="0" bIns="0" anchor="ctr">
            <a:spAutoFit/>
          </a:bodyPr>
          <a:lstStyle/>
          <a:p>
            <a:pPr algn="ctr"/>
            <a:r>
              <a:rPr sz="1800" b="0" i="0">
                <a:solidFill>
                  <a:srgbClr val="E05540"/>
                </a:solidFill>
                <a:latin typeface="Geist Mono"/>
                <a:ea typeface="Geist Mono"/>
                <a:cs typeface="Geist Mono"/>
              </a:rPr>
              <a:t>issue-12-turbo-boost</a:t>
            </a:r>
          </a:p>
        </p:txBody>
      </p:sp>
      <p:cxnSp>
        <p:nvCxnSpPr>
          <p:cNvPr id="14" name="Connector 13"/>
          <p:cNvCxnSpPr/>
          <p:nvPr/>
        </p:nvCxnSpPr>
        <p:spPr>
          <a:xfrm>
            <a:off x="9144000" y="6477000"/>
            <a:ext cx="2667000" cy="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6000" y="3619500"/>
            <a:ext cx="152178" cy="2082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248178" y="3640327"/>
            <a:ext cx="132184" cy="5831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380362" y="3698644"/>
            <a:ext cx="115521" cy="8955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495883" y="3788201"/>
            <a:ext cx="102193" cy="11455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598076" y="3902751"/>
            <a:ext cx="92195" cy="133294"/>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690271" y="4036045"/>
            <a:ext cx="85531" cy="145791"/>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775802" y="4181836"/>
            <a:ext cx="82198" cy="152039"/>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858000" y="4333875"/>
            <a:ext cx="82198" cy="152039"/>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940198" y="4485914"/>
            <a:ext cx="85531" cy="145791"/>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025729" y="4631705"/>
            <a:ext cx="92195" cy="133294"/>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117924" y="4764999"/>
            <a:ext cx="102193" cy="11455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220117" y="4879549"/>
            <a:ext cx="115521" cy="8955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335638" y="4969106"/>
            <a:ext cx="132184" cy="5831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67822" y="5027423"/>
            <a:ext cx="152178" cy="2082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6219603" y="3611752"/>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351787" y="3670069"/>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467308" y="3759626"/>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69501" y="3874176"/>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61696" y="4007470"/>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47227" y="4153261"/>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829425" y="4305300"/>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911623" y="4457339"/>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997154" y="4603130"/>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089349" y="4736424"/>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191542" y="4850974"/>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307063" y="4940531"/>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7439247" y="4998848"/>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7620000" y="5048250"/>
            <a:ext cx="152178" cy="2082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772178" y="5069077"/>
            <a:ext cx="132184" cy="5831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904362" y="5127394"/>
            <a:ext cx="115521" cy="8955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8019883" y="5216951"/>
            <a:ext cx="102193" cy="11455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122076" y="5331501"/>
            <a:ext cx="92195" cy="13329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214271" y="5464795"/>
            <a:ext cx="85531" cy="145791"/>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8299802" y="5610586"/>
            <a:ext cx="82198" cy="15203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382000" y="5762625"/>
            <a:ext cx="82198" cy="15203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464198" y="5914664"/>
            <a:ext cx="85531" cy="145791"/>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49729" y="6060455"/>
            <a:ext cx="92195" cy="13329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641924" y="6193749"/>
            <a:ext cx="102193" cy="11455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744117" y="6308299"/>
            <a:ext cx="115521" cy="8955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859638" y="6397856"/>
            <a:ext cx="132184" cy="5831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8991822" y="6456173"/>
            <a:ext cx="152178" cy="2082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7743603" y="5040502"/>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7875787" y="509881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7991308" y="518837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8093501" y="530292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8185696" y="543622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8271227" y="558201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8353425" y="573405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8435623" y="588608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8521154" y="603188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8613349" y="616517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8715542" y="627972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8831063" y="636928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8963247" y="6427598"/>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9" name="Connector 68"/>
          <p:cNvCxnSpPr/>
          <p:nvPr/>
        </p:nvCxnSpPr>
        <p:spPr>
          <a:xfrm flipV="1">
            <a:off x="11811000" y="6456173"/>
            <a:ext cx="190222" cy="2082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12001222" y="6397856"/>
            <a:ext cx="165230" cy="5831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12166452" y="6308299"/>
            <a:ext cx="144402" cy="8955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12310854" y="6193749"/>
            <a:ext cx="127741" cy="11455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12438595" y="6060455"/>
            <a:ext cx="115244" cy="13329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12553839" y="5914664"/>
            <a:ext cx="106913" cy="145791"/>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12660752" y="5762625"/>
            <a:ext cx="102748" cy="15203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12763500" y="5610586"/>
            <a:ext cx="102748" cy="15203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12866248" y="5464795"/>
            <a:ext cx="106913" cy="145791"/>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12973161" y="5331501"/>
            <a:ext cx="115244" cy="13329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13088405" y="5216951"/>
            <a:ext cx="127741" cy="11455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13216146" y="5127394"/>
            <a:ext cx="144402" cy="8955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13360548" y="5069077"/>
            <a:ext cx="165230" cy="5831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3525778" y="5048250"/>
            <a:ext cx="190222" cy="2082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sp>
        <p:nvSpPr>
          <p:cNvPr id="83" name="Oval 82"/>
          <p:cNvSpPr/>
          <p:nvPr/>
        </p:nvSpPr>
        <p:spPr>
          <a:xfrm>
            <a:off x="11972647" y="6427598"/>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12137877" y="636928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12282279" y="627972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2410020" y="616517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2525264" y="603188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2632177" y="588608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2734925" y="573405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2837673" y="558201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2944586" y="543622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3059830" y="530292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13187571" y="518837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13331973" y="509881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13497203" y="5040502"/>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6" name="Connector 95"/>
          <p:cNvCxnSpPr/>
          <p:nvPr/>
        </p:nvCxnSpPr>
        <p:spPr>
          <a:xfrm flipV="1">
            <a:off x="15049500" y="5027423"/>
            <a:ext cx="152178" cy="2082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15201678" y="4969106"/>
            <a:ext cx="132184" cy="5831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15333862" y="4879549"/>
            <a:ext cx="115521" cy="8955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15449383" y="4764999"/>
            <a:ext cx="102193" cy="11455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15551576" y="4631705"/>
            <a:ext cx="92195" cy="133294"/>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15643771" y="4485914"/>
            <a:ext cx="85531" cy="145791"/>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15729302" y="4333875"/>
            <a:ext cx="82198" cy="152039"/>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15811500" y="4181836"/>
            <a:ext cx="82198" cy="152039"/>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15893698" y="4036045"/>
            <a:ext cx="85531" cy="145791"/>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15979229" y="3902751"/>
            <a:ext cx="92195" cy="133294"/>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16071424" y="3788201"/>
            <a:ext cx="102193" cy="11455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16173617" y="3698644"/>
            <a:ext cx="115521" cy="8955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16289138" y="3640327"/>
            <a:ext cx="132184" cy="5831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16421322" y="3619500"/>
            <a:ext cx="152178" cy="2082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sp>
        <p:nvSpPr>
          <p:cNvPr id="110" name="Oval 109"/>
          <p:cNvSpPr/>
          <p:nvPr/>
        </p:nvSpPr>
        <p:spPr>
          <a:xfrm>
            <a:off x="15173103" y="4998848"/>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15305287" y="4940531"/>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5420808" y="4850974"/>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15523001" y="4736424"/>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15615196" y="4603130"/>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15700727" y="4457339"/>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15782925" y="4305300"/>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15865123" y="4153261"/>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15950654" y="4007470"/>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16042849" y="3874176"/>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16145042" y="3759626"/>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16260563" y="3670069"/>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16392747" y="3611752"/>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886450" y="3409950"/>
            <a:ext cx="419100" cy="4191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5953125" y="3476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4857750" y="2971800"/>
            <a:ext cx="2476500" cy="3429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competition-ready</a:t>
            </a:r>
          </a:p>
        </p:txBody>
      </p:sp>
      <p:sp>
        <p:nvSpPr>
          <p:cNvPr id="126" name="Oval 125"/>
          <p:cNvSpPr/>
          <p:nvPr/>
        </p:nvSpPr>
        <p:spPr>
          <a:xfrm>
            <a:off x="16325850" y="3371850"/>
            <a:ext cx="495300" cy="495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5335250" y="2971800"/>
            <a:ext cx="2476500" cy="342900"/>
          </a:xfrm>
          <a:prstGeom prst="rect">
            <a:avLst/>
          </a:prstGeom>
          <a:noFill/>
        </p:spPr>
        <p:txBody>
          <a:bodyPr wrap="square" lIns="0" rIns="0" tIns="0" bIns="0" anchor="t">
            <a:spAutoFit/>
          </a:bodyPr>
          <a:lstStyle/>
          <a:p>
            <a:pPr algn="ctr"/>
            <a:r>
              <a:rPr sz="1650" b="1" i="0">
                <a:solidFill>
                  <a:srgbClr val="F0E8E8"/>
                </a:solidFill>
                <a:latin typeface="Geist"/>
                <a:ea typeface="Geist"/>
                <a:cs typeface="Geist"/>
              </a:rPr>
              <a:t>release</a:t>
            </a:r>
          </a:p>
        </p:txBody>
      </p:sp>
      <p:sp>
        <p:nvSpPr>
          <p:cNvPr id="128" name="Oval 127"/>
          <p:cNvSpPr/>
          <p:nvPr/>
        </p:nvSpPr>
        <p:spPr>
          <a:xfrm>
            <a:off x="7410450" y="48387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7477125" y="49053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3468350" y="4800600"/>
            <a:ext cx="495300" cy="4953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14839950" y="48387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14906625" y="49053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8934450" y="62674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9001125" y="63341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10267950" y="62674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10334625" y="63341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11601450" y="62674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11668125" y="63341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2668250" y="6362700"/>
            <a:ext cx="2857500" cy="342900"/>
          </a:xfrm>
          <a:prstGeom prst="rect">
            <a:avLst/>
          </a:prstGeom>
          <a:noFill/>
        </p:spPr>
        <p:txBody>
          <a:bodyPr wrap="square" lIns="0" rIns="0" tIns="0" bIns="0" anchor="t">
            <a:spAutoFit/>
          </a:bodyPr>
          <a:lstStyle/>
          <a:p>
            <a:pPr algn="l"/>
            <a:r>
              <a:rPr sz="1650" b="1" i="0">
                <a:solidFill>
                  <a:srgbClr val="E05540"/>
                </a:solidFill>
                <a:latin typeface="Geist"/>
                <a:ea typeface="Geist"/>
                <a:cs typeface="Geist"/>
              </a:rPr>
              <a:t>pull request</a:t>
            </a:r>
          </a:p>
        </p:txBody>
      </p:sp>
      <p:sp>
        <p:nvSpPr>
          <p:cNvPr id="140" name="TextBox 139"/>
          <p:cNvSpPr txBox="1"/>
          <p:nvPr/>
        </p:nvSpPr>
        <p:spPr>
          <a:xfrm>
            <a:off x="914400" y="7620000"/>
            <a:ext cx="16459200" cy="321945"/>
          </a:xfrm>
          <a:prstGeom prst="rect">
            <a:avLst/>
          </a:prstGeom>
          <a:noFill/>
        </p:spPr>
        <p:txBody>
          <a:bodyPr wrap="square" lIns="0" rIns="0" tIns="0" bIns="0" anchor="t">
            <a:spAutoFit/>
          </a:bodyPr>
          <a:lstStyle/>
          <a:p>
            <a:pPr algn="l">
              <a:lnSpc>
                <a:spcPct val="125000"/>
              </a:lnSpc>
            </a:pPr>
            <a:r>
              <a:rPr sz="1950" b="1" i="0">
                <a:solidFill>
                  <a:srgbClr val="CC2200"/>
                </a:solidFill>
                <a:latin typeface="Geist"/>
                <a:ea typeface="Geist"/>
                <a:cs typeface="Geist"/>
              </a:rPr>
              <a:t>•  </a:t>
            </a:r>
            <a:r>
              <a:rPr sz="1950" b="1" i="0">
                <a:solidFill>
                  <a:srgbClr val="F0E8E8"/>
                </a:solidFill>
                <a:latin typeface="Geist"/>
                <a:ea typeface="Geist"/>
                <a:cs typeface="Geist"/>
              </a:rPr>
              <a:t>main</a:t>
            </a:r>
            <a:r>
              <a:rPr sz="1950" b="0" i="0">
                <a:solidFill>
                  <a:srgbClr val="F0E8E8"/>
                </a:solidFill>
                <a:latin typeface="Geist"/>
                <a:ea typeface="Geist"/>
                <a:cs typeface="Geist"/>
              </a:rPr>
              <a:t> is production-ready.  </a:t>
            </a:r>
            <a:r>
              <a:rPr sz="1950" b="1" i="0">
                <a:solidFill>
                  <a:srgbClr val="F0E8E8"/>
                </a:solidFill>
                <a:latin typeface="Geist"/>
                <a:ea typeface="Geist"/>
                <a:cs typeface="Geist"/>
              </a:rPr>
              <a:t>develop</a:t>
            </a:r>
            <a:r>
              <a:rPr sz="1950" b="0" i="0">
                <a:solidFill>
                  <a:srgbClr val="F0E8E8"/>
                </a:solidFill>
                <a:latin typeface="Geist"/>
                <a:ea typeface="Geist"/>
                <a:cs typeface="Geist"/>
              </a:rPr>
              <a:t> collects finished features.</a:t>
            </a:r>
          </a:p>
        </p:txBody>
      </p:sp>
      <p:sp>
        <p:nvSpPr>
          <p:cNvPr id="141" name="TextBox 140"/>
          <p:cNvSpPr txBox="1"/>
          <p:nvPr/>
        </p:nvSpPr>
        <p:spPr>
          <a:xfrm>
            <a:off x="914400" y="8056245"/>
            <a:ext cx="16459200" cy="321945"/>
          </a:xfrm>
          <a:prstGeom prst="rect">
            <a:avLst/>
          </a:prstGeom>
          <a:noFill/>
        </p:spPr>
        <p:txBody>
          <a:bodyPr wrap="square" lIns="0" rIns="0" tIns="0" bIns="0" anchor="t">
            <a:spAutoFit/>
          </a:bodyPr>
          <a:lstStyle/>
          <a:p>
            <a:pPr algn="l">
              <a:lnSpc>
                <a:spcPct val="125000"/>
              </a:lnSpc>
            </a:pPr>
            <a:r>
              <a:rPr sz="1950" b="1" i="0">
                <a:solidFill>
                  <a:srgbClr val="CC2200"/>
                </a:solidFill>
                <a:latin typeface="Geist"/>
                <a:ea typeface="Geist"/>
                <a:cs typeface="Geist"/>
              </a:rPr>
              <a:t>•  </a:t>
            </a:r>
            <a:r>
              <a:rPr sz="1950" b="0" i="0">
                <a:solidFill>
                  <a:srgbClr val="F0E8E8"/>
                </a:solidFill>
                <a:latin typeface="Geist"/>
                <a:ea typeface="Geist"/>
                <a:cs typeface="Geist"/>
              </a:rPr>
              <a:t>Name branches </a:t>
            </a:r>
            <a:r>
              <a:rPr sz="1950" b="0" i="0">
                <a:solidFill>
                  <a:srgbClr val="E0785F"/>
                </a:solidFill>
                <a:latin typeface="Geist Mono"/>
                <a:ea typeface="Geist Mono"/>
                <a:cs typeface="Geist Mono"/>
              </a:rPr>
              <a:t>issue-&lt;number&gt;-&lt;description&gt;</a:t>
            </a:r>
            <a:r>
              <a:rPr sz="1950" b="0" i="0">
                <a:solidFill>
                  <a:srgbClr val="F0E8E8"/>
                </a:solidFill>
                <a:latin typeface="Geist"/>
                <a:ea typeface="Geist"/>
                <a:cs typeface="Geist"/>
              </a:rPr>
              <a:t>, starting from develop</a:t>
            </a:r>
          </a:p>
        </p:txBody>
      </p:sp>
      <p:sp>
        <p:nvSpPr>
          <p:cNvPr id="142" name="TextBox 141"/>
          <p:cNvSpPr txBox="1"/>
          <p:nvPr/>
        </p:nvSpPr>
        <p:spPr>
          <a:xfrm>
            <a:off x="914400" y="8492490"/>
            <a:ext cx="16459200" cy="321945"/>
          </a:xfrm>
          <a:prstGeom prst="rect">
            <a:avLst/>
          </a:prstGeom>
          <a:noFill/>
        </p:spPr>
        <p:txBody>
          <a:bodyPr wrap="square" lIns="0" rIns="0" tIns="0" bIns="0" anchor="t">
            <a:spAutoFit/>
          </a:bodyPr>
          <a:lstStyle/>
          <a:p>
            <a:pPr algn="l">
              <a:lnSpc>
                <a:spcPct val="125000"/>
              </a:lnSpc>
            </a:pPr>
            <a:r>
              <a:rPr sz="1950" b="1" i="0">
                <a:solidFill>
                  <a:srgbClr val="CC2200"/>
                </a:solidFill>
                <a:latin typeface="Geist"/>
                <a:ea typeface="Geist"/>
                <a:cs typeface="Geist"/>
              </a:rPr>
              <a:t>•  </a:t>
            </a:r>
            <a:r>
              <a:rPr sz="1950" b="0" i="0">
                <a:solidFill>
                  <a:srgbClr val="F0E8E8"/>
                </a:solidFill>
                <a:latin typeface="Geist"/>
                <a:ea typeface="Geist"/>
                <a:cs typeface="Geist"/>
              </a:rPr>
              <a:t>Nobody pushes straight to main or develop</a:t>
            </a:r>
          </a:p>
        </p:txBody>
      </p:sp>
      <p:sp>
        <p:nvSpPr>
          <p:cNvPr id="143" name="TextBox 14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44" name="TextBox 14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Merging: bringing work together</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571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Combines two branches into one</a:t>
            </a:r>
          </a:p>
        </p:txBody>
      </p:sp>
      <p:sp>
        <p:nvSpPr>
          <p:cNvPr id="6" name="TextBox 5"/>
          <p:cNvSpPr txBox="1"/>
          <p:nvPr/>
        </p:nvSpPr>
        <p:spPr>
          <a:xfrm>
            <a:off x="914400" y="3514725"/>
            <a:ext cx="5715000" cy="742950"/>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Stand on the branch that receives the work</a:t>
            </a:r>
          </a:p>
        </p:txBody>
      </p:sp>
      <p:sp>
        <p:nvSpPr>
          <p:cNvPr id="7" name="TextBox 6"/>
          <p:cNvSpPr txBox="1"/>
          <p:nvPr/>
        </p:nvSpPr>
        <p:spPr>
          <a:xfrm>
            <a:off x="914400" y="4543425"/>
            <a:ext cx="571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Makes a merge commit with two parents</a:t>
            </a:r>
          </a:p>
        </p:txBody>
      </p:sp>
      <p:sp>
        <p:nvSpPr>
          <p:cNvPr id="8" name="TextBox 7"/>
          <p:cNvSpPr txBox="1"/>
          <p:nvPr/>
        </p:nvSpPr>
        <p:spPr>
          <a:xfrm>
            <a:off x="914400" y="5200650"/>
            <a:ext cx="5715000" cy="742950"/>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On the team, merges go through a pull request</a:t>
            </a:r>
          </a:p>
        </p:txBody>
      </p:sp>
      <p:sp>
        <p:nvSpPr>
          <p:cNvPr id="9" name="Rounded Rectangle 8"/>
          <p:cNvSpPr/>
          <p:nvPr/>
        </p:nvSpPr>
        <p:spPr>
          <a:xfrm>
            <a:off x="7239000" y="2857500"/>
            <a:ext cx="10134600" cy="6096000"/>
          </a:xfrm>
          <a:prstGeom prst="roundRect">
            <a:avLst>
              <a:gd name="adj" fmla="val 2500"/>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543800" y="4191000"/>
            <a:ext cx="1905000" cy="571500"/>
          </a:xfrm>
          <a:prstGeom prst="roundRect">
            <a:avLst>
              <a:gd name="adj" fmla="val 50000"/>
            </a:avLst>
          </a:prstGeom>
          <a:solidFill>
            <a:srgbClr val="111111"/>
          </a:solidFill>
          <a:ln w="19050">
            <a:solidFill>
              <a:srgbClr val="E8C2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543800" y="4191000"/>
            <a:ext cx="1905000" cy="571500"/>
          </a:xfrm>
          <a:prstGeom prst="rect">
            <a:avLst/>
          </a:prstGeom>
          <a:noFill/>
        </p:spPr>
        <p:txBody>
          <a:bodyPr wrap="square" lIns="0" rIns="0" tIns="0" bIns="0" anchor="ctr">
            <a:spAutoFit/>
          </a:bodyPr>
          <a:lstStyle/>
          <a:p>
            <a:pPr algn="ctr"/>
            <a:r>
              <a:rPr sz="1800" b="0" i="0">
                <a:solidFill>
                  <a:srgbClr val="E8C27A"/>
                </a:solidFill>
                <a:latin typeface="Geist Mono"/>
                <a:ea typeface="Geist Mono"/>
                <a:cs typeface="Geist Mono"/>
              </a:rPr>
              <a:t>develop</a:t>
            </a:r>
          </a:p>
        </p:txBody>
      </p:sp>
      <p:cxnSp>
        <p:nvCxnSpPr>
          <p:cNvPr id="12" name="Connector 11"/>
          <p:cNvCxnSpPr/>
          <p:nvPr/>
        </p:nvCxnSpPr>
        <p:spPr>
          <a:xfrm>
            <a:off x="10096500" y="4476750"/>
            <a:ext cx="6096000" cy="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543800" y="6096000"/>
            <a:ext cx="1905000" cy="571500"/>
          </a:xfrm>
          <a:prstGeom prst="roundRect">
            <a:avLst>
              <a:gd name="adj" fmla="val 50000"/>
            </a:avLst>
          </a:prstGeom>
          <a:solidFill>
            <a:srgbClr val="111111"/>
          </a:solidFill>
          <a:ln w="19050">
            <a:solidFill>
              <a:srgbClr val="E055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543800" y="6096000"/>
            <a:ext cx="1905000" cy="571500"/>
          </a:xfrm>
          <a:prstGeom prst="rect">
            <a:avLst/>
          </a:prstGeom>
          <a:noFill/>
        </p:spPr>
        <p:txBody>
          <a:bodyPr wrap="square" lIns="0" rIns="0" tIns="0" bIns="0" anchor="ctr">
            <a:spAutoFit/>
          </a:bodyPr>
          <a:lstStyle/>
          <a:p>
            <a:pPr algn="ctr"/>
            <a:r>
              <a:rPr sz="1800" b="0" i="0">
                <a:solidFill>
                  <a:srgbClr val="E05540"/>
                </a:solidFill>
                <a:latin typeface="Geist Mono"/>
                <a:ea typeface="Geist Mono"/>
                <a:cs typeface="Geist Mono"/>
              </a:rPr>
              <a:t>shooter</a:t>
            </a:r>
          </a:p>
        </p:txBody>
      </p:sp>
      <p:cxnSp>
        <p:nvCxnSpPr>
          <p:cNvPr id="15" name="Connector 14"/>
          <p:cNvCxnSpPr/>
          <p:nvPr/>
        </p:nvCxnSpPr>
        <p:spPr>
          <a:xfrm>
            <a:off x="12382500" y="6381750"/>
            <a:ext cx="2286000" cy="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1430000" y="4476750"/>
            <a:ext cx="95111" cy="2777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1525111" y="4504520"/>
            <a:ext cx="82615" cy="7775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1607726" y="4582275"/>
            <a:ext cx="72201" cy="11940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1679927" y="4701684"/>
            <a:ext cx="63870" cy="15273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743797" y="4854418"/>
            <a:ext cx="57622" cy="17772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801419" y="5032144"/>
            <a:ext cx="53457" cy="19438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1854876" y="5226531"/>
            <a:ext cx="51374" cy="20271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906250" y="5429250"/>
            <a:ext cx="51374" cy="20271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1957624" y="5631969"/>
            <a:ext cx="53457" cy="19438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2011081" y="5826356"/>
            <a:ext cx="57622" cy="17772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2068703" y="6004082"/>
            <a:ext cx="63870" cy="15273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2132573" y="6156816"/>
            <a:ext cx="72201" cy="11940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2204774" y="6276225"/>
            <a:ext cx="82615" cy="7775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2287389" y="6353980"/>
            <a:ext cx="95111" cy="2777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1496536" y="447594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579151" y="455370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651352" y="467310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1715222" y="4825843"/>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1772844" y="500356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1826301" y="519795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1877675" y="540067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1929049" y="560339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1982506" y="579778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2040128" y="5975507"/>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2103998" y="612824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2176199" y="624765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2258814" y="632540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flipV="1">
            <a:off x="14668500" y="6353980"/>
            <a:ext cx="152178" cy="2777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4820678" y="6276225"/>
            <a:ext cx="132184" cy="7775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4952862" y="6156816"/>
            <a:ext cx="115521" cy="11940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5068383" y="6004082"/>
            <a:ext cx="102193" cy="15273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5170576" y="5826356"/>
            <a:ext cx="92195" cy="17772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5262771" y="5631969"/>
            <a:ext cx="85531" cy="19438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5348302" y="5429250"/>
            <a:ext cx="82198" cy="20271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5430500" y="5226531"/>
            <a:ext cx="82198" cy="20271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15512698" y="5032144"/>
            <a:ext cx="85531" cy="19438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15598229" y="4854418"/>
            <a:ext cx="92195" cy="17772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15690424" y="4701684"/>
            <a:ext cx="102193" cy="15273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15792617" y="4582275"/>
            <a:ext cx="115521" cy="11940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15908138" y="4504520"/>
            <a:ext cx="132184" cy="7775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16040322" y="4476750"/>
            <a:ext cx="152178" cy="2777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sp>
        <p:nvSpPr>
          <p:cNvPr id="57" name="Oval 56"/>
          <p:cNvSpPr/>
          <p:nvPr/>
        </p:nvSpPr>
        <p:spPr>
          <a:xfrm>
            <a:off x="14792103" y="632540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4924287" y="624765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5039808" y="612824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5142001" y="5975507"/>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5234196" y="579778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5319727" y="560339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5401925" y="540067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5484123" y="519795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15569654" y="500356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5661849" y="4825843"/>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15764042" y="467310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15879563" y="455370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6011747" y="447594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9886950" y="42672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9953625" y="4333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11220450" y="42672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11287125" y="4333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13315950" y="42672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13382625" y="4333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2287250" y="3829050"/>
            <a:ext cx="2476500" cy="3429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teammate's commit</a:t>
            </a:r>
          </a:p>
        </p:txBody>
      </p:sp>
      <p:sp>
        <p:nvSpPr>
          <p:cNvPr id="77" name="Oval 76"/>
          <p:cNvSpPr/>
          <p:nvPr/>
        </p:nvSpPr>
        <p:spPr>
          <a:xfrm>
            <a:off x="15944850" y="4229100"/>
            <a:ext cx="495300" cy="4953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4954250" y="3829050"/>
            <a:ext cx="2476500" cy="342900"/>
          </a:xfrm>
          <a:prstGeom prst="rect">
            <a:avLst/>
          </a:prstGeom>
          <a:noFill/>
        </p:spPr>
        <p:txBody>
          <a:bodyPr wrap="square" lIns="0" rIns="0" tIns="0" bIns="0" anchor="t">
            <a:spAutoFit/>
          </a:bodyPr>
          <a:lstStyle/>
          <a:p>
            <a:pPr algn="ctr"/>
            <a:r>
              <a:rPr sz="1650" b="1" i="0">
                <a:solidFill>
                  <a:srgbClr val="E8C27A"/>
                </a:solidFill>
                <a:latin typeface="Geist"/>
                <a:ea typeface="Geist"/>
                <a:cs typeface="Geist"/>
              </a:rPr>
              <a:t>merge commit</a:t>
            </a:r>
          </a:p>
        </p:txBody>
      </p:sp>
      <p:sp>
        <p:nvSpPr>
          <p:cNvPr id="79" name="Oval 78"/>
          <p:cNvSpPr/>
          <p:nvPr/>
        </p:nvSpPr>
        <p:spPr>
          <a:xfrm>
            <a:off x="12172950" y="617220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2239625" y="6238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3315950" y="617220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3382625" y="6238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14458950" y="617220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14525625" y="6238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7543800" y="7010400"/>
            <a:ext cx="9525000" cy="1447800"/>
          </a:xfrm>
          <a:prstGeom prst="roundRect">
            <a:avLst>
              <a:gd name="adj" fmla="val 10526"/>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7924800" y="7391400"/>
            <a:ext cx="8991600" cy="342900"/>
          </a:xfrm>
          <a:prstGeom prst="rect">
            <a:avLst/>
          </a:prstGeom>
          <a:noFill/>
        </p:spPr>
        <p:txBody>
          <a:bodyPr wrap="square" lIns="0" rIns="0" tIns="0" bIns="0" anchor="ctr">
            <a:spAutoFit/>
          </a:bodyPr>
          <a:lstStyle/>
          <a:p>
            <a:pPr algn="l"/>
            <a:r>
              <a:rPr sz="1800" b="0" i="0">
                <a:solidFill>
                  <a:srgbClr val="E0785F"/>
                </a:solidFill>
                <a:latin typeface="Geist Mono"/>
                <a:ea typeface="Geist Mono"/>
                <a:cs typeface="Geist Mono"/>
              </a:rPr>
              <a:t>git checkout </a:t>
            </a:r>
            <a:r>
              <a:rPr sz="1800" b="0" i="0">
                <a:solidFill>
                  <a:srgbClr val="F0E8E8"/>
                </a:solidFill>
                <a:latin typeface="Geist Mono"/>
                <a:ea typeface="Geist Mono"/>
                <a:cs typeface="Geist Mono"/>
              </a:rPr>
              <a:t>develop</a:t>
            </a:r>
          </a:p>
        </p:txBody>
      </p:sp>
      <p:sp>
        <p:nvSpPr>
          <p:cNvPr id="87" name="TextBox 86"/>
          <p:cNvSpPr txBox="1"/>
          <p:nvPr/>
        </p:nvSpPr>
        <p:spPr>
          <a:xfrm>
            <a:off x="7924800" y="7734300"/>
            <a:ext cx="8991600" cy="342900"/>
          </a:xfrm>
          <a:prstGeom prst="rect">
            <a:avLst/>
          </a:prstGeom>
          <a:noFill/>
        </p:spPr>
        <p:txBody>
          <a:bodyPr wrap="square" lIns="0" rIns="0" tIns="0" bIns="0" anchor="ctr">
            <a:spAutoFit/>
          </a:bodyPr>
          <a:lstStyle/>
          <a:p>
            <a:pPr algn="l"/>
            <a:r>
              <a:rPr sz="1800" b="0" i="0">
                <a:solidFill>
                  <a:srgbClr val="E0785F"/>
                </a:solidFill>
                <a:latin typeface="Geist Mono"/>
                <a:ea typeface="Geist Mono"/>
                <a:cs typeface="Geist Mono"/>
              </a:rPr>
              <a:t>git merge </a:t>
            </a:r>
            <a:r>
              <a:rPr sz="1800" b="0" i="0">
                <a:solidFill>
                  <a:srgbClr val="F0E8E8"/>
                </a:solidFill>
                <a:latin typeface="Geist Mono"/>
                <a:ea typeface="Geist Mono"/>
                <a:cs typeface="Geist Mono"/>
              </a:rPr>
              <a:t>shooter</a:t>
            </a:r>
          </a:p>
        </p:txBody>
      </p:sp>
      <p:sp>
        <p:nvSpPr>
          <p:cNvPr id="88" name="TextBox 87"/>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89" name="TextBox 8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Merge conflicts: when git has to ask</a:t>
            </a:r>
          </a:p>
        </p:txBody>
      </p:sp>
      <p:sp>
        <p:nvSpPr>
          <p:cNvPr id="4" name="TextBox 3"/>
          <p:cNvSpPr txBox="1"/>
          <p:nvPr/>
        </p:nvSpPr>
        <p:spPr>
          <a:xfrm>
            <a:off x="914400" y="2724150"/>
            <a:ext cx="99060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Constants.java</a:t>
            </a:r>
          </a:p>
        </p:txBody>
      </p:sp>
      <p:sp>
        <p:nvSpPr>
          <p:cNvPr id="5" name="Rounded Rectangle 4"/>
          <p:cNvSpPr/>
          <p:nvPr/>
        </p:nvSpPr>
        <p:spPr>
          <a:xfrm>
            <a:off x="914400" y="3143250"/>
            <a:ext cx="9906000" cy="2867025"/>
          </a:xfrm>
          <a:prstGeom prst="roundRect">
            <a:avLst>
              <a:gd name="adj" fmla="val 5315"/>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524250"/>
            <a:ext cx="9372600" cy="421005"/>
          </a:xfrm>
          <a:prstGeom prst="rect">
            <a:avLst/>
          </a:prstGeom>
          <a:noFill/>
        </p:spPr>
        <p:txBody>
          <a:bodyPr wrap="square" lIns="0" rIns="0" tIns="0" bIns="0" anchor="ctr">
            <a:spAutoFit/>
          </a:bodyPr>
          <a:lstStyle/>
          <a:p>
            <a:pPr algn="l"/>
            <a:r>
              <a:rPr sz="1950" b="0" i="0">
                <a:solidFill>
                  <a:srgbClr val="CC2200"/>
                </a:solidFill>
                <a:latin typeface="Geist Mono"/>
                <a:ea typeface="Geist Mono"/>
                <a:cs typeface="Geist Mono"/>
              </a:rPr>
              <a:t>&lt;&lt;&lt;&lt;&lt;&lt;&lt; HEAD</a:t>
            </a:r>
          </a:p>
        </p:txBody>
      </p:sp>
      <p:sp>
        <p:nvSpPr>
          <p:cNvPr id="7" name="TextBox 6"/>
          <p:cNvSpPr txBox="1"/>
          <p:nvPr/>
        </p:nvSpPr>
        <p:spPr>
          <a:xfrm>
            <a:off x="1295400" y="3945255"/>
            <a:ext cx="9372600" cy="421005"/>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public static final double </a:t>
            </a:r>
            <a:r>
              <a:rPr sz="1950" b="0" i="0">
                <a:solidFill>
                  <a:srgbClr val="F0E8E8"/>
                </a:solidFill>
                <a:latin typeface="Geist Mono"/>
                <a:ea typeface="Geist Mono"/>
                <a:cs typeface="Geist Mono"/>
              </a:rPr>
              <a:t>MAX_SPEED = </a:t>
            </a:r>
            <a:r>
              <a:rPr sz="1950" b="0" i="0">
                <a:solidFill>
                  <a:srgbClr val="E8C27A"/>
                </a:solidFill>
                <a:latin typeface="Geist Mono"/>
                <a:ea typeface="Geist Mono"/>
                <a:cs typeface="Geist Mono"/>
              </a:rPr>
              <a:t>4.0</a:t>
            </a:r>
            <a:r>
              <a:rPr sz="1950" b="0" i="0">
                <a:solidFill>
                  <a:srgbClr val="F0E8E8"/>
                </a:solidFill>
                <a:latin typeface="Geist Mono"/>
                <a:ea typeface="Geist Mono"/>
                <a:cs typeface="Geist Mono"/>
              </a:rPr>
              <a:t>;</a:t>
            </a:r>
          </a:p>
        </p:txBody>
      </p:sp>
      <p:sp>
        <p:nvSpPr>
          <p:cNvPr id="8" name="TextBox 7"/>
          <p:cNvSpPr txBox="1"/>
          <p:nvPr/>
        </p:nvSpPr>
        <p:spPr>
          <a:xfrm>
            <a:off x="1295400" y="4366260"/>
            <a:ext cx="9372600" cy="421005"/>
          </a:xfrm>
          <a:prstGeom prst="rect">
            <a:avLst/>
          </a:prstGeom>
          <a:noFill/>
        </p:spPr>
        <p:txBody>
          <a:bodyPr wrap="square" lIns="0" rIns="0" tIns="0" bIns="0" anchor="ctr">
            <a:spAutoFit/>
          </a:bodyPr>
          <a:lstStyle/>
          <a:p>
            <a:pPr algn="l"/>
            <a:r>
              <a:rPr sz="1950" b="0" i="0">
                <a:solidFill>
                  <a:srgbClr val="CC2200"/>
                </a:solidFill>
                <a:latin typeface="Geist Mono"/>
                <a:ea typeface="Geist Mono"/>
                <a:cs typeface="Geist Mono"/>
              </a:rPr>
              <a:t>=======</a:t>
            </a:r>
          </a:p>
        </p:txBody>
      </p:sp>
      <p:sp>
        <p:nvSpPr>
          <p:cNvPr id="9" name="TextBox 8"/>
          <p:cNvSpPr txBox="1"/>
          <p:nvPr/>
        </p:nvSpPr>
        <p:spPr>
          <a:xfrm>
            <a:off x="1295400" y="4787265"/>
            <a:ext cx="9372600" cy="421005"/>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public static final double </a:t>
            </a:r>
            <a:r>
              <a:rPr sz="1950" b="0" i="0">
                <a:solidFill>
                  <a:srgbClr val="F0E8E8"/>
                </a:solidFill>
                <a:latin typeface="Geist Mono"/>
                <a:ea typeface="Geist Mono"/>
                <a:cs typeface="Geist Mono"/>
              </a:rPr>
              <a:t>MAX_SPEED = </a:t>
            </a:r>
            <a:r>
              <a:rPr sz="1950" b="0" i="0">
                <a:solidFill>
                  <a:srgbClr val="E8C27A"/>
                </a:solidFill>
                <a:latin typeface="Geist Mono"/>
                <a:ea typeface="Geist Mono"/>
                <a:cs typeface="Geist Mono"/>
              </a:rPr>
              <a:t>5.0</a:t>
            </a:r>
            <a:r>
              <a:rPr sz="1950" b="0" i="0">
                <a:solidFill>
                  <a:srgbClr val="F0E8E8"/>
                </a:solidFill>
                <a:latin typeface="Geist Mono"/>
                <a:ea typeface="Geist Mono"/>
                <a:cs typeface="Geist Mono"/>
              </a:rPr>
              <a:t>;</a:t>
            </a:r>
          </a:p>
        </p:txBody>
      </p:sp>
      <p:sp>
        <p:nvSpPr>
          <p:cNvPr id="10" name="TextBox 9"/>
          <p:cNvSpPr txBox="1"/>
          <p:nvPr/>
        </p:nvSpPr>
        <p:spPr>
          <a:xfrm>
            <a:off x="1295400" y="5208270"/>
            <a:ext cx="9372600" cy="421005"/>
          </a:xfrm>
          <a:prstGeom prst="rect">
            <a:avLst/>
          </a:prstGeom>
          <a:noFill/>
        </p:spPr>
        <p:txBody>
          <a:bodyPr wrap="square" lIns="0" rIns="0" tIns="0" bIns="0" anchor="ctr">
            <a:spAutoFit/>
          </a:bodyPr>
          <a:lstStyle/>
          <a:p>
            <a:pPr algn="l"/>
            <a:r>
              <a:rPr sz="1950" b="0" i="0">
                <a:solidFill>
                  <a:srgbClr val="CC2200"/>
                </a:solidFill>
                <a:latin typeface="Geist Mono"/>
                <a:ea typeface="Geist Mono"/>
                <a:cs typeface="Geist Mono"/>
              </a:rPr>
              <a:t>&gt;&gt;&gt;&gt;&gt;&gt;&gt; issue-9-max-speed</a:t>
            </a:r>
          </a:p>
        </p:txBody>
      </p:sp>
      <p:sp>
        <p:nvSpPr>
          <p:cNvPr id="11" name="Oval 10"/>
          <p:cNvSpPr/>
          <p:nvPr/>
        </p:nvSpPr>
        <p:spPr>
          <a:xfrm>
            <a:off x="10096500" y="3907155"/>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96500" y="3907155"/>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3" name="Oval 12"/>
          <p:cNvSpPr/>
          <p:nvPr/>
        </p:nvSpPr>
        <p:spPr>
          <a:xfrm>
            <a:off x="10096500" y="4749165"/>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96500" y="4749165"/>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5" name="Oval 14"/>
          <p:cNvSpPr/>
          <p:nvPr/>
        </p:nvSpPr>
        <p:spPr>
          <a:xfrm>
            <a:off x="11620500" y="314325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620500" y="314325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7" name="TextBox 16"/>
          <p:cNvSpPr txBox="1"/>
          <p:nvPr/>
        </p:nvSpPr>
        <p:spPr>
          <a:xfrm>
            <a:off x="12306300" y="3105150"/>
            <a:ext cx="5143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Yours</a:t>
            </a:r>
          </a:p>
        </p:txBody>
      </p:sp>
      <p:sp>
        <p:nvSpPr>
          <p:cNvPr id="18" name="TextBox 17"/>
          <p:cNvSpPr txBox="1"/>
          <p:nvPr/>
        </p:nvSpPr>
        <p:spPr>
          <a:xfrm>
            <a:off x="12306300" y="3562350"/>
            <a:ext cx="5143500" cy="9525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What's on the branch you're on</a:t>
            </a:r>
          </a:p>
        </p:txBody>
      </p:sp>
      <p:sp>
        <p:nvSpPr>
          <p:cNvPr id="19" name="Oval 18"/>
          <p:cNvSpPr/>
          <p:nvPr/>
        </p:nvSpPr>
        <p:spPr>
          <a:xfrm>
            <a:off x="11620500" y="476250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620500" y="476250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1" name="TextBox 20"/>
          <p:cNvSpPr txBox="1"/>
          <p:nvPr/>
        </p:nvSpPr>
        <p:spPr>
          <a:xfrm>
            <a:off x="12306300" y="4724400"/>
            <a:ext cx="5143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Incoming</a:t>
            </a:r>
          </a:p>
        </p:txBody>
      </p:sp>
      <p:sp>
        <p:nvSpPr>
          <p:cNvPr id="22" name="TextBox 21"/>
          <p:cNvSpPr txBox="1"/>
          <p:nvPr/>
        </p:nvSpPr>
        <p:spPr>
          <a:xfrm>
            <a:off x="12306300" y="5181600"/>
            <a:ext cx="5143500" cy="9525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What the other branch changed</a:t>
            </a:r>
          </a:p>
        </p:txBody>
      </p:sp>
      <p:sp>
        <p:nvSpPr>
          <p:cNvPr id="23" name="Oval 22"/>
          <p:cNvSpPr/>
          <p:nvPr/>
        </p:nvSpPr>
        <p:spPr>
          <a:xfrm>
            <a:off x="11620500" y="638175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620500" y="638175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5" name="TextBox 24"/>
          <p:cNvSpPr txBox="1"/>
          <p:nvPr/>
        </p:nvSpPr>
        <p:spPr>
          <a:xfrm>
            <a:off x="12306300" y="6343650"/>
            <a:ext cx="5143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You decide</a:t>
            </a:r>
          </a:p>
        </p:txBody>
      </p:sp>
      <p:sp>
        <p:nvSpPr>
          <p:cNvPr id="26" name="TextBox 25"/>
          <p:cNvSpPr txBox="1"/>
          <p:nvPr/>
        </p:nvSpPr>
        <p:spPr>
          <a:xfrm>
            <a:off x="12306300" y="6800850"/>
            <a:ext cx="5143500" cy="9525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Keep one, save, stage with +, commit</a:t>
            </a:r>
          </a:p>
        </p:txBody>
      </p:sp>
      <p:sp>
        <p:nvSpPr>
          <p:cNvPr id="27" name="Rounded Rectangle 26"/>
          <p:cNvSpPr/>
          <p:nvPr/>
        </p:nvSpPr>
        <p:spPr>
          <a:xfrm>
            <a:off x="914400" y="76200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33500" y="7620000"/>
            <a:ext cx="1565910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Why?  </a:t>
            </a:r>
            <a:r>
              <a:rPr sz="2100" b="0" i="0">
                <a:solidFill>
                  <a:srgbClr val="F0E8E8"/>
                </a:solidFill>
                <a:latin typeface="Geist"/>
                <a:ea typeface="Geist"/>
                <a:cs typeface="Geist"/>
              </a:rPr>
              <a:t>Two branches changed the same line, so git can't pick. That's normal, not an error.</a:t>
            </a:r>
          </a:p>
        </p:txBody>
      </p:sp>
      <p:pic>
        <p:nvPicPr>
          <p:cNvPr id="29" name="Picture 28" descr="dozer_wide_left.png"/>
          <p:cNvPicPr>
            <a:picLocks noChangeAspect="1"/>
          </p:cNvPicPr>
          <p:nvPr/>
        </p:nvPicPr>
        <p:blipFill>
          <a:blip r:embed="rId3"/>
          <a:stretch>
            <a:fillRect/>
          </a:stretch>
        </p:blipFill>
        <p:spPr>
          <a:xfrm>
            <a:off x="15716250" y="7705725"/>
            <a:ext cx="1428750" cy="878172"/>
          </a:xfrm>
          <a:prstGeom prst="rect">
            <a:avLst/>
          </a:prstGeom>
        </p:spPr>
      </p:pic>
      <p:sp>
        <p:nvSpPr>
          <p:cNvPr id="30" name="TextBox 2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1" name="TextBox 3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Rebase: replay your work on top</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9334500" cy="5905500"/>
          </a:xfrm>
          <a:prstGeom prst="roundRect">
            <a:avLst>
              <a:gd name="adj" fmla="val 2580"/>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2952750"/>
            <a:ext cx="3810000" cy="381000"/>
          </a:xfrm>
          <a:prstGeom prst="rect">
            <a:avLst/>
          </a:prstGeom>
          <a:noFill/>
        </p:spPr>
        <p:txBody>
          <a:bodyPr wrap="square" lIns="0" rIns="0" tIns="0" bIns="0" anchor="t">
            <a:spAutoFit/>
          </a:bodyPr>
          <a:lstStyle/>
          <a:p>
            <a:pPr algn="l"/>
            <a:r>
              <a:rPr sz="1650" b="1" i="0" spc="130">
                <a:solidFill>
                  <a:srgbClr val="9A7878"/>
                </a:solidFill>
                <a:latin typeface="Geist"/>
                <a:ea typeface="Geist"/>
                <a:cs typeface="Geist"/>
              </a:rPr>
              <a:t>BEFORE</a:t>
            </a:r>
          </a:p>
        </p:txBody>
      </p:sp>
      <p:sp>
        <p:nvSpPr>
          <p:cNvPr id="7" name="Rounded Rectangle 6"/>
          <p:cNvSpPr/>
          <p:nvPr/>
        </p:nvSpPr>
        <p:spPr>
          <a:xfrm>
            <a:off x="1295400" y="3524250"/>
            <a:ext cx="2000250" cy="571500"/>
          </a:xfrm>
          <a:prstGeom prst="roundRect">
            <a:avLst>
              <a:gd name="adj" fmla="val 50000"/>
            </a:avLst>
          </a:prstGeom>
          <a:solidFill>
            <a:srgbClr val="111111"/>
          </a:solidFill>
          <a:ln w="19050">
            <a:solidFill>
              <a:srgbClr val="E8C2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295400" y="3524250"/>
            <a:ext cx="2000250" cy="571500"/>
          </a:xfrm>
          <a:prstGeom prst="rect">
            <a:avLst/>
          </a:prstGeom>
          <a:noFill/>
        </p:spPr>
        <p:txBody>
          <a:bodyPr wrap="square" lIns="0" rIns="0" tIns="0" bIns="0" anchor="ctr">
            <a:spAutoFit/>
          </a:bodyPr>
          <a:lstStyle/>
          <a:p>
            <a:pPr algn="ctr"/>
            <a:r>
              <a:rPr sz="1800" b="0" i="0">
                <a:solidFill>
                  <a:srgbClr val="E8C27A"/>
                </a:solidFill>
                <a:latin typeface="Geist Mono"/>
                <a:ea typeface="Geist Mono"/>
                <a:cs typeface="Geist Mono"/>
              </a:rPr>
              <a:t>develop</a:t>
            </a:r>
          </a:p>
        </p:txBody>
      </p:sp>
      <p:cxnSp>
        <p:nvCxnSpPr>
          <p:cNvPr id="9" name="Connector 8"/>
          <p:cNvCxnSpPr/>
          <p:nvPr/>
        </p:nvCxnSpPr>
        <p:spPr>
          <a:xfrm>
            <a:off x="4000500" y="3810000"/>
            <a:ext cx="4000500" cy="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295400" y="4572000"/>
            <a:ext cx="2000250" cy="571500"/>
          </a:xfrm>
          <a:prstGeom prst="roundRect">
            <a:avLst>
              <a:gd name="adj" fmla="val 50000"/>
            </a:avLst>
          </a:prstGeom>
          <a:solidFill>
            <a:srgbClr val="111111"/>
          </a:solidFill>
          <a:ln w="19050">
            <a:solidFill>
              <a:srgbClr val="E055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95400" y="4572000"/>
            <a:ext cx="2000250" cy="571500"/>
          </a:xfrm>
          <a:prstGeom prst="rect">
            <a:avLst/>
          </a:prstGeom>
          <a:noFill/>
        </p:spPr>
        <p:txBody>
          <a:bodyPr wrap="square" lIns="0" rIns="0" tIns="0" bIns="0" anchor="ctr">
            <a:spAutoFit/>
          </a:bodyPr>
          <a:lstStyle/>
          <a:p>
            <a:pPr algn="ctr"/>
            <a:r>
              <a:rPr sz="1800" b="0" i="0">
                <a:solidFill>
                  <a:srgbClr val="E05540"/>
                </a:solidFill>
                <a:latin typeface="Geist Mono"/>
                <a:ea typeface="Geist Mono"/>
                <a:cs typeface="Geist Mono"/>
              </a:rPr>
              <a:t>my-feature</a:t>
            </a:r>
          </a:p>
        </p:txBody>
      </p:sp>
      <p:cxnSp>
        <p:nvCxnSpPr>
          <p:cNvPr id="12" name="Connector 11"/>
          <p:cNvCxnSpPr/>
          <p:nvPr/>
        </p:nvCxnSpPr>
        <p:spPr>
          <a:xfrm>
            <a:off x="6667500" y="4857750"/>
            <a:ext cx="1333500" cy="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334000" y="3810000"/>
            <a:ext cx="133156" cy="1527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467156" y="3825273"/>
            <a:ext cx="115660" cy="4276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582816" y="3868039"/>
            <a:ext cx="101082" cy="6567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83898" y="3933714"/>
            <a:ext cx="89418" cy="8400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773316" y="4017717"/>
            <a:ext cx="80671" cy="9774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53987" y="4115466"/>
            <a:ext cx="74840" cy="10691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928827" y="4222380"/>
            <a:ext cx="71923" cy="11149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000750" y="4333875"/>
            <a:ext cx="71923" cy="11149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072673" y="4445370"/>
            <a:ext cx="74840" cy="10691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147513" y="4552284"/>
            <a:ext cx="80671" cy="9774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228184" y="4650033"/>
            <a:ext cx="89418" cy="8400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317602" y="4734036"/>
            <a:ext cx="101082" cy="6567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418684" y="4799711"/>
            <a:ext cx="115660" cy="4276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534344" y="4842477"/>
            <a:ext cx="133156" cy="1527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5438581" y="3796698"/>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554241" y="383946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655323" y="390513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744741" y="3989142"/>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825412" y="408689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00252" y="419380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972175" y="430530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044098" y="441679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118938" y="452370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199609" y="4621458"/>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289027" y="470546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390109" y="477113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505769" y="4813902"/>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790950" y="360045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857625" y="36671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124450" y="360045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191125" y="36671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7791450" y="360045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858125" y="36671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762750" y="3162300"/>
            <a:ext cx="2476500" cy="3429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new on develop</a:t>
            </a:r>
          </a:p>
        </p:txBody>
      </p:sp>
      <p:sp>
        <p:nvSpPr>
          <p:cNvPr id="47" name="Oval 46"/>
          <p:cNvSpPr/>
          <p:nvPr/>
        </p:nvSpPr>
        <p:spPr>
          <a:xfrm>
            <a:off x="6457950" y="464820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6524625" y="4714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429250" y="5162550"/>
            <a:ext cx="2476500" cy="3429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A</a:t>
            </a:r>
          </a:p>
        </p:txBody>
      </p:sp>
      <p:sp>
        <p:nvSpPr>
          <p:cNvPr id="50" name="Oval 49"/>
          <p:cNvSpPr/>
          <p:nvPr/>
        </p:nvSpPr>
        <p:spPr>
          <a:xfrm>
            <a:off x="7791450" y="464820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7858125" y="4714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762750" y="5162550"/>
            <a:ext cx="2476500" cy="3429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B</a:t>
            </a:r>
          </a:p>
        </p:txBody>
      </p:sp>
      <p:cxnSp>
        <p:nvCxnSpPr>
          <p:cNvPr id="53" name="Connector 52"/>
          <p:cNvCxnSpPr/>
          <p:nvPr/>
        </p:nvCxnSpPr>
        <p:spPr>
          <a:xfrm>
            <a:off x="1295400" y="5715000"/>
            <a:ext cx="8572500" cy="0"/>
          </a:xfrm>
          <a:prstGeom prst="line">
            <a:avLst/>
          </a:prstGeom>
          <a:ln w="19050">
            <a:solidFill>
              <a:srgbClr val="2A1A1A"/>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295400" y="5905500"/>
            <a:ext cx="3810000" cy="381000"/>
          </a:xfrm>
          <a:prstGeom prst="rect">
            <a:avLst/>
          </a:prstGeom>
          <a:noFill/>
        </p:spPr>
        <p:txBody>
          <a:bodyPr wrap="square" lIns="0" rIns="0" tIns="0" bIns="0" anchor="t">
            <a:spAutoFit/>
          </a:bodyPr>
          <a:lstStyle/>
          <a:p>
            <a:pPr algn="l"/>
            <a:r>
              <a:rPr sz="1650" b="1" i="0" spc="130">
                <a:solidFill>
                  <a:srgbClr val="E05540"/>
                </a:solidFill>
                <a:latin typeface="Geist"/>
                <a:ea typeface="Geist"/>
                <a:cs typeface="Geist"/>
              </a:rPr>
              <a:t>AFTER  git rebase develop</a:t>
            </a:r>
          </a:p>
        </p:txBody>
      </p:sp>
      <p:sp>
        <p:nvSpPr>
          <p:cNvPr id="55" name="Rounded Rectangle 54"/>
          <p:cNvSpPr/>
          <p:nvPr/>
        </p:nvSpPr>
        <p:spPr>
          <a:xfrm>
            <a:off x="1295400" y="6477000"/>
            <a:ext cx="2000250" cy="571500"/>
          </a:xfrm>
          <a:prstGeom prst="roundRect">
            <a:avLst>
              <a:gd name="adj" fmla="val 50000"/>
            </a:avLst>
          </a:prstGeom>
          <a:solidFill>
            <a:srgbClr val="111111"/>
          </a:solidFill>
          <a:ln w="19050">
            <a:solidFill>
              <a:srgbClr val="E8C2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1295400" y="6477000"/>
            <a:ext cx="2000250" cy="571500"/>
          </a:xfrm>
          <a:prstGeom prst="rect">
            <a:avLst/>
          </a:prstGeom>
          <a:noFill/>
        </p:spPr>
        <p:txBody>
          <a:bodyPr wrap="square" lIns="0" rIns="0" tIns="0" bIns="0" anchor="ctr">
            <a:spAutoFit/>
          </a:bodyPr>
          <a:lstStyle/>
          <a:p>
            <a:pPr algn="ctr"/>
            <a:r>
              <a:rPr sz="1800" b="0" i="0">
                <a:solidFill>
                  <a:srgbClr val="E8C27A"/>
                </a:solidFill>
                <a:latin typeface="Geist Mono"/>
                <a:ea typeface="Geist Mono"/>
                <a:cs typeface="Geist Mono"/>
              </a:rPr>
              <a:t>develop</a:t>
            </a:r>
          </a:p>
        </p:txBody>
      </p:sp>
      <p:cxnSp>
        <p:nvCxnSpPr>
          <p:cNvPr id="57" name="Connector 56"/>
          <p:cNvCxnSpPr/>
          <p:nvPr/>
        </p:nvCxnSpPr>
        <p:spPr>
          <a:xfrm>
            <a:off x="4000500" y="6762750"/>
            <a:ext cx="2667000" cy="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1295400" y="7524750"/>
            <a:ext cx="2000250" cy="571500"/>
          </a:xfrm>
          <a:prstGeom prst="roundRect">
            <a:avLst>
              <a:gd name="adj" fmla="val 50000"/>
            </a:avLst>
          </a:prstGeom>
          <a:solidFill>
            <a:srgbClr val="111111"/>
          </a:solidFill>
          <a:ln w="19050">
            <a:solidFill>
              <a:srgbClr val="E055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1295400" y="7524750"/>
            <a:ext cx="2000250" cy="571500"/>
          </a:xfrm>
          <a:prstGeom prst="rect">
            <a:avLst/>
          </a:prstGeom>
          <a:noFill/>
        </p:spPr>
        <p:txBody>
          <a:bodyPr wrap="square" lIns="0" rIns="0" tIns="0" bIns="0" anchor="ctr">
            <a:spAutoFit/>
          </a:bodyPr>
          <a:lstStyle/>
          <a:p>
            <a:pPr algn="ctr"/>
            <a:r>
              <a:rPr sz="1800" b="0" i="0">
                <a:solidFill>
                  <a:srgbClr val="E05540"/>
                </a:solidFill>
                <a:latin typeface="Geist Mono"/>
                <a:ea typeface="Geist Mono"/>
                <a:cs typeface="Geist Mono"/>
              </a:rPr>
              <a:t>my-feature</a:t>
            </a:r>
          </a:p>
        </p:txBody>
      </p:sp>
      <p:cxnSp>
        <p:nvCxnSpPr>
          <p:cNvPr id="60" name="Connector 59"/>
          <p:cNvCxnSpPr/>
          <p:nvPr/>
        </p:nvCxnSpPr>
        <p:spPr>
          <a:xfrm>
            <a:off x="8001000" y="7810500"/>
            <a:ext cx="1333500" cy="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6667500" y="6762750"/>
            <a:ext cx="133156" cy="1527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6800656" y="6778023"/>
            <a:ext cx="115660" cy="4276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6916316" y="6820789"/>
            <a:ext cx="101082" cy="6567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7017398" y="6886464"/>
            <a:ext cx="89418" cy="8400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7106816" y="6970467"/>
            <a:ext cx="80671" cy="9774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7187487" y="7068216"/>
            <a:ext cx="74840" cy="10691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7262327" y="7175130"/>
            <a:ext cx="71923" cy="11149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7334250" y="7286625"/>
            <a:ext cx="71923" cy="11149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7406173" y="7398120"/>
            <a:ext cx="74840" cy="10691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7481013" y="7505034"/>
            <a:ext cx="80671" cy="9774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7561684" y="7602783"/>
            <a:ext cx="89418" cy="8400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7651102" y="7686786"/>
            <a:ext cx="101082" cy="6567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7752184" y="7752461"/>
            <a:ext cx="115660" cy="4276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7867844" y="7795227"/>
            <a:ext cx="133156" cy="1527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sp>
        <p:nvSpPr>
          <p:cNvPr id="75" name="Oval 74"/>
          <p:cNvSpPr/>
          <p:nvPr/>
        </p:nvSpPr>
        <p:spPr>
          <a:xfrm>
            <a:off x="6772081" y="6749448"/>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887741" y="679221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988823" y="685788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7078241" y="6941892"/>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7158912" y="703964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7233752" y="714655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7305675" y="725805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7377598" y="736954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7452438" y="747645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7533109" y="7574208"/>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7622527" y="765821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7723609" y="772388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839269" y="7766652"/>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790950" y="65532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857625" y="6619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124450" y="65532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5191125" y="6619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6457950" y="65532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6524625" y="6619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7791450" y="76009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7858125" y="7667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6762750" y="8115300"/>
            <a:ext cx="2476500" cy="3429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A'</a:t>
            </a:r>
          </a:p>
        </p:txBody>
      </p:sp>
      <p:sp>
        <p:nvSpPr>
          <p:cNvPr id="97" name="Oval 96"/>
          <p:cNvSpPr/>
          <p:nvPr/>
        </p:nvSpPr>
        <p:spPr>
          <a:xfrm>
            <a:off x="9124950" y="76009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9191625" y="7667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096250" y="8115300"/>
            <a:ext cx="2476500" cy="3429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B'</a:t>
            </a:r>
          </a:p>
        </p:txBody>
      </p:sp>
      <p:sp>
        <p:nvSpPr>
          <p:cNvPr id="100" name="Rounded Rectangle 99"/>
          <p:cNvSpPr/>
          <p:nvPr/>
        </p:nvSpPr>
        <p:spPr>
          <a:xfrm>
            <a:off x="10668000" y="2762250"/>
            <a:ext cx="6705600" cy="5905500"/>
          </a:xfrm>
          <a:prstGeom prst="roundRect">
            <a:avLst>
              <a:gd name="adj" fmla="val 258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11049000" y="3143250"/>
            <a:ext cx="5905500" cy="476250"/>
          </a:xfrm>
          <a:prstGeom prst="rect">
            <a:avLst/>
          </a:prstGeom>
          <a:noFill/>
        </p:spPr>
        <p:txBody>
          <a:bodyPr wrap="square" lIns="0" rIns="0" tIns="0" bIns="0" anchor="t">
            <a:spAutoFit/>
          </a:bodyPr>
          <a:lstStyle/>
          <a:p>
            <a:pPr algn="l"/>
            <a:r>
              <a:rPr sz="2700" b="1" i="0">
                <a:solidFill>
                  <a:srgbClr val="F0E8E8"/>
                </a:solidFill>
                <a:latin typeface="Geist"/>
                <a:ea typeface="Geist"/>
                <a:cs typeface="Geist"/>
              </a:rPr>
              <a:t>Merge or rebase?</a:t>
            </a:r>
          </a:p>
        </p:txBody>
      </p:sp>
      <p:sp>
        <p:nvSpPr>
          <p:cNvPr id="102" name="TextBox 101"/>
          <p:cNvSpPr txBox="1"/>
          <p:nvPr/>
        </p:nvSpPr>
        <p:spPr>
          <a:xfrm>
            <a:off x="11049000" y="3905250"/>
            <a:ext cx="5905500" cy="69342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1" i="0">
                <a:solidFill>
                  <a:srgbClr val="F0E8E8"/>
                </a:solidFill>
                <a:latin typeface="Geist"/>
                <a:ea typeface="Geist"/>
                <a:cs typeface="Geist"/>
              </a:rPr>
              <a:t>Rebase</a:t>
            </a:r>
            <a:r>
              <a:rPr sz="2100" b="0" i="0">
                <a:solidFill>
                  <a:srgbClr val="F0E8E8"/>
                </a:solidFill>
                <a:latin typeface="Geist"/>
                <a:ea typeface="Geist"/>
                <a:cs typeface="Geist"/>
              </a:rPr>
              <a:t>: one straight line, but your commits get new IDs</a:t>
            </a:r>
          </a:p>
        </p:txBody>
      </p:sp>
      <p:sp>
        <p:nvSpPr>
          <p:cNvPr id="103" name="TextBox 102"/>
          <p:cNvSpPr txBox="1"/>
          <p:nvPr/>
        </p:nvSpPr>
        <p:spPr>
          <a:xfrm>
            <a:off x="11049000" y="4827270"/>
            <a:ext cx="5905500" cy="69342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1" i="0">
                <a:solidFill>
                  <a:srgbClr val="F0E8E8"/>
                </a:solidFill>
                <a:latin typeface="Geist"/>
                <a:ea typeface="Geist"/>
                <a:cs typeface="Geist"/>
              </a:rPr>
              <a:t>Merge</a:t>
            </a:r>
            <a:r>
              <a:rPr sz="2100" b="0" i="0">
                <a:solidFill>
                  <a:srgbClr val="F0E8E8"/>
                </a:solidFill>
                <a:latin typeface="Geist"/>
                <a:ea typeface="Geist"/>
                <a:cs typeface="Geist"/>
              </a:rPr>
              <a:t>: keeps history exactly as it was, always safe</a:t>
            </a:r>
          </a:p>
        </p:txBody>
      </p:sp>
      <p:sp>
        <p:nvSpPr>
          <p:cNvPr id="104" name="TextBox 103"/>
          <p:cNvSpPr txBox="1"/>
          <p:nvPr/>
        </p:nvSpPr>
        <p:spPr>
          <a:xfrm>
            <a:off x="11049000" y="5749290"/>
            <a:ext cx="59055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Only rebase branches nobody else has</a:t>
            </a:r>
          </a:p>
        </p:txBody>
      </p:sp>
      <p:sp>
        <p:nvSpPr>
          <p:cNvPr id="105" name="TextBox 104"/>
          <p:cNvSpPr txBox="1"/>
          <p:nvPr/>
        </p:nvSpPr>
        <p:spPr>
          <a:xfrm>
            <a:off x="11049000" y="6324600"/>
            <a:ext cx="59055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Not sure? </a:t>
            </a:r>
            <a:r>
              <a:rPr sz="2100" b="1" i="0">
                <a:solidFill>
                  <a:srgbClr val="F0E8E8"/>
                </a:solidFill>
                <a:latin typeface="Geist"/>
                <a:ea typeface="Geist"/>
                <a:cs typeface="Geist"/>
              </a:rPr>
              <a:t>Merge.</a:t>
            </a:r>
          </a:p>
        </p:txBody>
      </p:sp>
      <p:sp>
        <p:nvSpPr>
          <p:cNvPr id="106" name="TextBox 10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07" name="TextBox 10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Local and remote: push and pull</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5334000" cy="2857500"/>
          </a:xfrm>
          <a:prstGeom prst="roundRect">
            <a:avLst>
              <a:gd name="adj" fmla="val 5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display.png"/>
          <p:cNvPicPr>
            <a:picLocks noChangeAspect="1"/>
          </p:cNvPicPr>
          <p:nvPr/>
        </p:nvPicPr>
        <p:blipFill>
          <a:blip r:embed="rId3"/>
          <a:stretch>
            <a:fillRect/>
          </a:stretch>
        </p:blipFill>
        <p:spPr>
          <a:xfrm>
            <a:off x="1295400" y="3524250"/>
            <a:ext cx="780288" cy="609600"/>
          </a:xfrm>
          <a:prstGeom prst="rect">
            <a:avLst/>
          </a:prstGeom>
        </p:spPr>
      </p:pic>
      <p:sp>
        <p:nvSpPr>
          <p:cNvPr id="7" name="TextBox 6"/>
          <p:cNvSpPr txBox="1"/>
          <p:nvPr/>
        </p:nvSpPr>
        <p:spPr>
          <a:xfrm>
            <a:off x="1295400" y="4381500"/>
            <a:ext cx="4572000" cy="571500"/>
          </a:xfrm>
          <a:prstGeom prst="rect">
            <a:avLst/>
          </a:prstGeom>
          <a:noFill/>
        </p:spPr>
        <p:txBody>
          <a:bodyPr wrap="square" lIns="0" rIns="0" tIns="0" bIns="0" anchor="t">
            <a:spAutoFit/>
          </a:bodyPr>
          <a:lstStyle/>
          <a:p>
            <a:pPr algn="l"/>
            <a:r>
              <a:rPr sz="3000" b="1" i="0">
                <a:solidFill>
                  <a:srgbClr val="F0E8E8"/>
                </a:solidFill>
                <a:latin typeface="Geist"/>
                <a:ea typeface="Geist"/>
                <a:cs typeface="Geist"/>
              </a:rPr>
              <a:t>Local</a:t>
            </a:r>
          </a:p>
        </p:txBody>
      </p:sp>
      <p:sp>
        <p:nvSpPr>
          <p:cNvPr id="8" name="TextBox 7"/>
          <p:cNvSpPr txBox="1"/>
          <p:nvPr/>
        </p:nvSpPr>
        <p:spPr>
          <a:xfrm>
            <a:off x="1295400" y="4953000"/>
            <a:ext cx="4572000" cy="762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Your copy, on your computer</a:t>
            </a:r>
          </a:p>
        </p:txBody>
      </p:sp>
      <p:sp>
        <p:nvSpPr>
          <p:cNvPr id="9" name="Rounded Rectangle 8"/>
          <p:cNvSpPr/>
          <p:nvPr/>
        </p:nvSpPr>
        <p:spPr>
          <a:xfrm>
            <a:off x="12039600" y="3143250"/>
            <a:ext cx="5334000" cy="2857500"/>
          </a:xfrm>
          <a:prstGeom prst="roundRect">
            <a:avLst>
              <a:gd name="adj" fmla="val 5333"/>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cloud-arrow-up.png"/>
          <p:cNvPicPr>
            <a:picLocks noChangeAspect="1"/>
          </p:cNvPicPr>
          <p:nvPr/>
        </p:nvPicPr>
        <p:blipFill>
          <a:blip r:embed="rId4"/>
          <a:stretch>
            <a:fillRect/>
          </a:stretch>
        </p:blipFill>
        <p:spPr>
          <a:xfrm>
            <a:off x="12420600" y="3524250"/>
            <a:ext cx="831273" cy="571500"/>
          </a:xfrm>
          <a:prstGeom prst="rect">
            <a:avLst/>
          </a:prstGeom>
        </p:spPr>
      </p:pic>
      <p:sp>
        <p:nvSpPr>
          <p:cNvPr id="11" name="TextBox 10"/>
          <p:cNvSpPr txBox="1"/>
          <p:nvPr/>
        </p:nvSpPr>
        <p:spPr>
          <a:xfrm>
            <a:off x="12420600" y="4381500"/>
            <a:ext cx="4572000" cy="571500"/>
          </a:xfrm>
          <a:prstGeom prst="rect">
            <a:avLst/>
          </a:prstGeom>
          <a:noFill/>
        </p:spPr>
        <p:txBody>
          <a:bodyPr wrap="square" lIns="0" rIns="0" tIns="0" bIns="0" anchor="t">
            <a:spAutoFit/>
          </a:bodyPr>
          <a:lstStyle/>
          <a:p>
            <a:pPr algn="l"/>
            <a:r>
              <a:rPr sz="3000" b="1" i="0">
                <a:solidFill>
                  <a:srgbClr val="F0E8E8"/>
                </a:solidFill>
                <a:latin typeface="Geist"/>
                <a:ea typeface="Geist"/>
                <a:cs typeface="Geist"/>
              </a:rPr>
              <a:t>Remote (origin)</a:t>
            </a:r>
          </a:p>
        </p:txBody>
      </p:sp>
      <p:sp>
        <p:nvSpPr>
          <p:cNvPr id="12" name="TextBox 11"/>
          <p:cNvSpPr txBox="1"/>
          <p:nvPr/>
        </p:nvSpPr>
        <p:spPr>
          <a:xfrm>
            <a:off x="12420600" y="4953000"/>
            <a:ext cx="4572000" cy="762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The shared copy on GitHub</a:t>
            </a:r>
          </a:p>
        </p:txBody>
      </p:sp>
      <p:cxnSp>
        <p:nvCxnSpPr>
          <p:cNvPr id="13" name="Connector 12"/>
          <p:cNvCxnSpPr/>
          <p:nvPr/>
        </p:nvCxnSpPr>
        <p:spPr>
          <a:xfrm>
            <a:off x="6477000" y="4000500"/>
            <a:ext cx="5334000" cy="0"/>
          </a:xfrm>
          <a:prstGeom prst="line">
            <a:avLst/>
          </a:prstGeom>
          <a:ln w="38100">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77000" y="3429000"/>
            <a:ext cx="5334000" cy="419100"/>
          </a:xfrm>
          <a:prstGeom prst="rect">
            <a:avLst/>
          </a:prstGeom>
          <a:noFill/>
        </p:spPr>
        <p:txBody>
          <a:bodyPr wrap="square" lIns="0" rIns="0" tIns="0" bIns="0" anchor="t">
            <a:spAutoFit/>
          </a:bodyPr>
          <a:lstStyle/>
          <a:p>
            <a:pPr algn="ctr"/>
            <a:r>
              <a:rPr sz="2100" b="1" i="0">
                <a:solidFill>
                  <a:srgbClr val="F0E8E8"/>
                </a:solidFill>
                <a:latin typeface="Geist"/>
                <a:ea typeface="Geist"/>
                <a:cs typeface="Geist"/>
              </a:rPr>
              <a:t>push: send your commits</a:t>
            </a:r>
          </a:p>
        </p:txBody>
      </p:sp>
      <p:cxnSp>
        <p:nvCxnSpPr>
          <p:cNvPr id="15" name="Connector 14"/>
          <p:cNvCxnSpPr/>
          <p:nvPr/>
        </p:nvCxnSpPr>
        <p:spPr>
          <a:xfrm flipH="1">
            <a:off x="6477000" y="5143500"/>
            <a:ext cx="5334000" cy="0"/>
          </a:xfrm>
          <a:prstGeom prst="line">
            <a:avLst/>
          </a:prstGeom>
          <a:ln w="38100">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77000" y="5334000"/>
            <a:ext cx="5334000" cy="419100"/>
          </a:xfrm>
          <a:prstGeom prst="rect">
            <a:avLst/>
          </a:prstGeom>
          <a:noFill/>
        </p:spPr>
        <p:txBody>
          <a:bodyPr wrap="square" lIns="0" rIns="0" tIns="0" bIns="0" anchor="t">
            <a:spAutoFit/>
          </a:bodyPr>
          <a:lstStyle/>
          <a:p>
            <a:pPr algn="ctr"/>
            <a:r>
              <a:rPr sz="2100" b="1" i="0">
                <a:solidFill>
                  <a:srgbClr val="F0E8E8"/>
                </a:solidFill>
                <a:latin typeface="Geist"/>
                <a:ea typeface="Geist"/>
                <a:cs typeface="Geist"/>
              </a:rPr>
              <a:t>pull: get teammates' commits</a:t>
            </a:r>
          </a:p>
        </p:txBody>
      </p:sp>
      <p:sp>
        <p:nvSpPr>
          <p:cNvPr id="17" name="Rounded Rectangle 16"/>
          <p:cNvSpPr/>
          <p:nvPr/>
        </p:nvSpPr>
        <p:spPr>
          <a:xfrm>
            <a:off x="914400" y="638175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exclamation-circle.png"/>
          <p:cNvPicPr>
            <a:picLocks noChangeAspect="1"/>
          </p:cNvPicPr>
          <p:nvPr/>
        </p:nvPicPr>
        <p:blipFill>
          <a:blip r:embed="rId5"/>
          <a:stretch>
            <a:fillRect/>
          </a:stretch>
        </p:blipFill>
        <p:spPr>
          <a:xfrm>
            <a:off x="1333500" y="6638925"/>
            <a:ext cx="533400" cy="533400"/>
          </a:xfrm>
          <a:prstGeom prst="rect">
            <a:avLst/>
          </a:prstGeom>
        </p:spPr>
      </p:pic>
      <p:sp>
        <p:nvSpPr>
          <p:cNvPr id="19" name="TextBox 18"/>
          <p:cNvSpPr txBox="1"/>
          <p:nvPr/>
        </p:nvSpPr>
        <p:spPr>
          <a:xfrm>
            <a:off x="2190750" y="638175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Golden rule:  </a:t>
            </a:r>
            <a:r>
              <a:rPr sz="2100" b="0" i="0">
                <a:solidFill>
                  <a:srgbClr val="F0E8E8"/>
                </a:solidFill>
                <a:latin typeface="Geist"/>
                <a:ea typeface="Geist"/>
                <a:cs typeface="Geist"/>
              </a:rPr>
              <a:t>pull when you start a session, push when you finish. Use Push and Pull, not Sync Changes.</a:t>
            </a:r>
          </a:p>
        </p:txBody>
      </p:sp>
      <p:sp>
        <p:nvSpPr>
          <p:cNvPr id="20" name="Rounded Rectangle 19"/>
          <p:cNvSpPr/>
          <p:nvPr/>
        </p:nvSpPr>
        <p:spPr>
          <a:xfrm>
            <a:off x="914400" y="76200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archive.png"/>
          <p:cNvPicPr>
            <a:picLocks noChangeAspect="1"/>
          </p:cNvPicPr>
          <p:nvPr/>
        </p:nvPicPr>
        <p:blipFill>
          <a:blip r:embed="rId6"/>
          <a:stretch>
            <a:fillRect/>
          </a:stretch>
        </p:blipFill>
        <p:spPr>
          <a:xfrm>
            <a:off x="1333500" y="7877175"/>
            <a:ext cx="609600" cy="533400"/>
          </a:xfrm>
          <a:prstGeom prst="rect">
            <a:avLst/>
          </a:prstGeom>
        </p:spPr>
      </p:pic>
      <p:sp>
        <p:nvSpPr>
          <p:cNvPr id="22" name="TextBox 21"/>
          <p:cNvSpPr txBox="1"/>
          <p:nvPr/>
        </p:nvSpPr>
        <p:spPr>
          <a:xfrm>
            <a:off x="2190750" y="762000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Stash  </a:t>
            </a:r>
            <a:r>
              <a:rPr sz="2100" b="0" i="0">
                <a:solidFill>
                  <a:srgbClr val="F0E8E8"/>
                </a:solidFill>
                <a:latin typeface="Geist"/>
                <a:ea typeface="Geist"/>
                <a:cs typeface="Geist"/>
              </a:rPr>
              <a:t>Shelve unfinished work so you can switch branches. Stash pop brings it back.</a:t>
            </a:r>
          </a:p>
        </p:txBody>
      </p:sp>
      <p:sp>
        <p:nvSpPr>
          <p:cNvPr id="23" name="TextBox 2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4" name="TextBox 2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GitHub: how the team works together</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5283200" cy="4381500"/>
          </a:xfrm>
          <a:prstGeom prst="roundRect">
            <a:avLst>
              <a:gd name="adj" fmla="val 347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fill.png"/>
          <p:cNvPicPr>
            <a:picLocks noChangeAspect="1"/>
          </p:cNvPicPr>
          <p:nvPr/>
        </p:nvPicPr>
        <p:blipFill>
          <a:blip r:embed="rId3"/>
          <a:stretch>
            <a:fillRect/>
          </a:stretch>
        </p:blipFill>
        <p:spPr>
          <a:xfrm>
            <a:off x="1295400" y="3238500"/>
            <a:ext cx="914400" cy="685800"/>
          </a:xfrm>
          <a:prstGeom prst="rect">
            <a:avLst/>
          </a:prstGeom>
        </p:spPr>
      </p:pic>
      <p:sp>
        <p:nvSpPr>
          <p:cNvPr id="7" name="TextBox 6"/>
          <p:cNvSpPr txBox="1"/>
          <p:nvPr/>
        </p:nvSpPr>
        <p:spPr>
          <a:xfrm>
            <a:off x="1295400" y="4191000"/>
            <a:ext cx="4521200" cy="5715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Pull requests</a:t>
            </a:r>
          </a:p>
        </p:txBody>
      </p:sp>
      <p:sp>
        <p:nvSpPr>
          <p:cNvPr id="8" name="TextBox 7"/>
          <p:cNvSpPr txBox="1"/>
          <p:nvPr/>
        </p:nvSpPr>
        <p:spPr>
          <a:xfrm>
            <a:off x="1295400" y="4802505"/>
            <a:ext cx="4521200" cy="2476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Ask to merge a branch. Teammates review the code first.</a:t>
            </a:r>
          </a:p>
        </p:txBody>
      </p:sp>
      <p:sp>
        <p:nvSpPr>
          <p:cNvPr id="9" name="Rounded Rectangle 8"/>
          <p:cNvSpPr/>
          <p:nvPr/>
        </p:nvSpPr>
        <p:spPr>
          <a:xfrm>
            <a:off x="6502400" y="2857500"/>
            <a:ext cx="5283200" cy="4381500"/>
          </a:xfrm>
          <a:prstGeom prst="roundRect">
            <a:avLst>
              <a:gd name="adj" fmla="val 347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exclamation-circle.png"/>
          <p:cNvPicPr>
            <a:picLocks noChangeAspect="1"/>
          </p:cNvPicPr>
          <p:nvPr/>
        </p:nvPicPr>
        <p:blipFill>
          <a:blip r:embed="rId4"/>
          <a:stretch>
            <a:fillRect/>
          </a:stretch>
        </p:blipFill>
        <p:spPr>
          <a:xfrm>
            <a:off x="6883400" y="3238500"/>
            <a:ext cx="685800" cy="685800"/>
          </a:xfrm>
          <a:prstGeom prst="rect">
            <a:avLst/>
          </a:prstGeom>
        </p:spPr>
      </p:pic>
      <p:sp>
        <p:nvSpPr>
          <p:cNvPr id="11" name="TextBox 10"/>
          <p:cNvSpPr txBox="1"/>
          <p:nvPr/>
        </p:nvSpPr>
        <p:spPr>
          <a:xfrm>
            <a:off x="6883400" y="4191000"/>
            <a:ext cx="4521200" cy="5715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Issues</a:t>
            </a:r>
          </a:p>
        </p:txBody>
      </p:sp>
      <p:sp>
        <p:nvSpPr>
          <p:cNvPr id="12" name="TextBox 11"/>
          <p:cNvSpPr txBox="1"/>
          <p:nvPr/>
        </p:nvSpPr>
        <p:spPr>
          <a:xfrm>
            <a:off x="6883400" y="4802505"/>
            <a:ext cx="4521200" cy="2476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One task or bug each. The number goes in your branch name.</a:t>
            </a:r>
          </a:p>
        </p:txBody>
      </p:sp>
      <p:sp>
        <p:nvSpPr>
          <p:cNvPr id="13" name="Rounded Rectangle 12"/>
          <p:cNvSpPr/>
          <p:nvPr/>
        </p:nvSpPr>
        <p:spPr>
          <a:xfrm>
            <a:off x="12090400" y="2857500"/>
            <a:ext cx="5283200" cy="4381500"/>
          </a:xfrm>
          <a:prstGeom prst="roundRect">
            <a:avLst>
              <a:gd name="adj" fmla="val 347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kanban.png"/>
          <p:cNvPicPr>
            <a:picLocks noChangeAspect="1"/>
          </p:cNvPicPr>
          <p:nvPr/>
        </p:nvPicPr>
        <p:blipFill>
          <a:blip r:embed="rId5"/>
          <a:stretch>
            <a:fillRect/>
          </a:stretch>
        </p:blipFill>
        <p:spPr>
          <a:xfrm>
            <a:off x="12471400" y="3238500"/>
            <a:ext cx="642938" cy="685800"/>
          </a:xfrm>
          <a:prstGeom prst="rect">
            <a:avLst/>
          </a:prstGeom>
        </p:spPr>
      </p:pic>
      <p:sp>
        <p:nvSpPr>
          <p:cNvPr id="15" name="TextBox 14"/>
          <p:cNvSpPr txBox="1"/>
          <p:nvPr/>
        </p:nvSpPr>
        <p:spPr>
          <a:xfrm>
            <a:off x="12471400" y="4191000"/>
            <a:ext cx="4521200" cy="5715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Projects</a:t>
            </a:r>
          </a:p>
        </p:txBody>
      </p:sp>
      <p:sp>
        <p:nvSpPr>
          <p:cNvPr id="16" name="TextBox 15"/>
          <p:cNvSpPr txBox="1"/>
          <p:nvPr/>
        </p:nvSpPr>
        <p:spPr>
          <a:xfrm>
            <a:off x="12471400" y="4802505"/>
            <a:ext cx="4521200" cy="2476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A board of issues by status, from Backlog to Done.</a:t>
            </a:r>
          </a:p>
        </p:txBody>
      </p:sp>
      <p:sp>
        <p:nvSpPr>
          <p:cNvPr id="17" name="TextBox 16"/>
          <p:cNvSpPr txBox="1"/>
          <p:nvPr/>
        </p:nvSpPr>
        <p:spPr>
          <a:xfrm>
            <a:off x="914400" y="7620000"/>
            <a:ext cx="16459200" cy="38100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All our code lives at github.com/FRC-Team-4143</a:t>
            </a:r>
          </a:p>
        </p:txBody>
      </p:sp>
      <p:sp>
        <p:nvSpPr>
          <p:cNvPr id="18" name="TextBox 17"/>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9" name="TextBox 1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team workflow</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2552700" cy="2286000"/>
          </a:xfrm>
          <a:prstGeom prst="roundRect">
            <a:avLst>
              <a:gd name="adj" fmla="val 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43000" y="3086100"/>
            <a:ext cx="7620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01</a:t>
            </a:r>
          </a:p>
        </p:txBody>
      </p:sp>
      <p:sp>
        <p:nvSpPr>
          <p:cNvPr id="7" name="TextBox 6"/>
          <p:cNvSpPr txBox="1"/>
          <p:nvPr/>
        </p:nvSpPr>
        <p:spPr>
          <a:xfrm>
            <a:off x="1143000" y="3562350"/>
            <a:ext cx="2095500" cy="47625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Issue</a:t>
            </a:r>
          </a:p>
        </p:txBody>
      </p:sp>
      <p:sp>
        <p:nvSpPr>
          <p:cNvPr id="8" name="TextBox 7"/>
          <p:cNvSpPr txBox="1"/>
          <p:nvPr/>
        </p:nvSpPr>
        <p:spPr>
          <a:xfrm>
            <a:off x="1143000" y="4095750"/>
            <a:ext cx="2095500" cy="952500"/>
          </a:xfrm>
          <a:prstGeom prst="rect">
            <a:avLst/>
          </a:prstGeom>
          <a:noFill/>
        </p:spPr>
        <p:txBody>
          <a:bodyPr wrap="square" lIns="0" rIns="0" tIns="0" bIns="0" anchor="t">
            <a:spAutoFit/>
          </a:bodyPr>
          <a:lstStyle/>
          <a:p>
            <a:pPr algn="l">
              <a:lnSpc>
                <a:spcPct val="125000"/>
              </a:lnSpc>
            </a:pPr>
            <a:r>
              <a:rPr sz="1650" b="0" i="0">
                <a:solidFill>
                  <a:srgbClr val="9A7878"/>
                </a:solidFill>
                <a:latin typeface="Geist"/>
                <a:ea typeface="Geist"/>
                <a:cs typeface="Geist"/>
              </a:rPr>
              <a:t>Find it, assign yourself</a:t>
            </a:r>
          </a:p>
        </p:txBody>
      </p:sp>
      <p:sp>
        <p:nvSpPr>
          <p:cNvPr id="9" name="Rounded Rectangle 8"/>
          <p:cNvSpPr/>
          <p:nvPr/>
        </p:nvSpPr>
        <p:spPr>
          <a:xfrm>
            <a:off x="3695700" y="2857500"/>
            <a:ext cx="2552700" cy="2286000"/>
          </a:xfrm>
          <a:prstGeom prst="roundRect">
            <a:avLst>
              <a:gd name="adj" fmla="val 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924300" y="3086100"/>
            <a:ext cx="7620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02</a:t>
            </a:r>
          </a:p>
        </p:txBody>
      </p:sp>
      <p:sp>
        <p:nvSpPr>
          <p:cNvPr id="11" name="TextBox 10"/>
          <p:cNvSpPr txBox="1"/>
          <p:nvPr/>
        </p:nvSpPr>
        <p:spPr>
          <a:xfrm>
            <a:off x="3924300" y="3562350"/>
            <a:ext cx="2095500" cy="47625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Branch</a:t>
            </a:r>
          </a:p>
        </p:txBody>
      </p:sp>
      <p:sp>
        <p:nvSpPr>
          <p:cNvPr id="12" name="TextBox 11"/>
          <p:cNvSpPr txBox="1"/>
          <p:nvPr/>
        </p:nvSpPr>
        <p:spPr>
          <a:xfrm>
            <a:off x="3924300" y="4095750"/>
            <a:ext cx="2095500" cy="952500"/>
          </a:xfrm>
          <a:prstGeom prst="rect">
            <a:avLst/>
          </a:prstGeom>
          <a:noFill/>
        </p:spPr>
        <p:txBody>
          <a:bodyPr wrap="square" lIns="0" rIns="0" tIns="0" bIns="0" anchor="t">
            <a:spAutoFit/>
          </a:bodyPr>
          <a:lstStyle/>
          <a:p>
            <a:pPr algn="l">
              <a:lnSpc>
                <a:spcPct val="125000"/>
              </a:lnSpc>
            </a:pPr>
            <a:r>
              <a:rPr sz="1650" b="0" i="0">
                <a:solidFill>
                  <a:srgbClr val="9A7878"/>
                </a:solidFill>
                <a:latin typeface="Geist Mono"/>
                <a:ea typeface="Geist Mono"/>
                <a:cs typeface="Geist Mono"/>
              </a:rPr>
              <a:t>issue-12-turbo-boost</a:t>
            </a:r>
          </a:p>
        </p:txBody>
      </p:sp>
      <p:sp>
        <p:nvSpPr>
          <p:cNvPr id="13" name="Rounded Rectangle 12"/>
          <p:cNvSpPr/>
          <p:nvPr/>
        </p:nvSpPr>
        <p:spPr>
          <a:xfrm>
            <a:off x="6477000" y="2857500"/>
            <a:ext cx="2552700" cy="2286000"/>
          </a:xfrm>
          <a:prstGeom prst="roundRect">
            <a:avLst>
              <a:gd name="adj" fmla="val 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705600" y="3086100"/>
            <a:ext cx="7620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03</a:t>
            </a:r>
          </a:p>
        </p:txBody>
      </p:sp>
      <p:sp>
        <p:nvSpPr>
          <p:cNvPr id="15" name="TextBox 14"/>
          <p:cNvSpPr txBox="1"/>
          <p:nvPr/>
        </p:nvSpPr>
        <p:spPr>
          <a:xfrm>
            <a:off x="6705600" y="3562350"/>
            <a:ext cx="2095500" cy="47625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Commit</a:t>
            </a:r>
          </a:p>
        </p:txBody>
      </p:sp>
      <p:sp>
        <p:nvSpPr>
          <p:cNvPr id="16" name="TextBox 15"/>
          <p:cNvSpPr txBox="1"/>
          <p:nvPr/>
        </p:nvSpPr>
        <p:spPr>
          <a:xfrm>
            <a:off x="6705600" y="4095750"/>
            <a:ext cx="2095500" cy="952500"/>
          </a:xfrm>
          <a:prstGeom prst="rect">
            <a:avLst/>
          </a:prstGeom>
          <a:noFill/>
        </p:spPr>
        <p:txBody>
          <a:bodyPr wrap="square" lIns="0" rIns="0" tIns="0" bIns="0" anchor="t">
            <a:spAutoFit/>
          </a:bodyPr>
          <a:lstStyle/>
          <a:p>
            <a:pPr algn="l">
              <a:lnSpc>
                <a:spcPct val="125000"/>
              </a:lnSpc>
            </a:pPr>
            <a:r>
              <a:rPr sz="1650" b="0" i="0">
                <a:solidFill>
                  <a:srgbClr val="9A7878"/>
                </a:solidFill>
                <a:latin typeface="Geist"/>
                <a:ea typeface="Geist"/>
                <a:cs typeface="Geist"/>
              </a:rPr>
              <a:t>Small steps, update the issue</a:t>
            </a:r>
          </a:p>
        </p:txBody>
      </p:sp>
      <p:sp>
        <p:nvSpPr>
          <p:cNvPr id="17" name="Rounded Rectangle 16"/>
          <p:cNvSpPr/>
          <p:nvPr/>
        </p:nvSpPr>
        <p:spPr>
          <a:xfrm>
            <a:off x="9258300" y="2857500"/>
            <a:ext cx="2552700" cy="2286000"/>
          </a:xfrm>
          <a:prstGeom prst="roundRect">
            <a:avLst>
              <a:gd name="adj" fmla="val 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486900" y="3086100"/>
            <a:ext cx="7620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04</a:t>
            </a:r>
          </a:p>
        </p:txBody>
      </p:sp>
      <p:sp>
        <p:nvSpPr>
          <p:cNvPr id="19" name="TextBox 18"/>
          <p:cNvSpPr txBox="1"/>
          <p:nvPr/>
        </p:nvSpPr>
        <p:spPr>
          <a:xfrm>
            <a:off x="9486900" y="3562350"/>
            <a:ext cx="2095500" cy="476250"/>
          </a:xfrm>
          <a:prstGeom prst="rect">
            <a:avLst/>
          </a:prstGeom>
          <a:noFill/>
        </p:spPr>
        <p:txBody>
          <a:bodyPr wrap="square" lIns="0" rIns="0" tIns="0" bIns="0" anchor="t">
            <a:spAutoFit/>
          </a:bodyPr>
          <a:lstStyle/>
          <a:p>
            <a:pPr algn="l"/>
            <a:r>
              <a:rPr sz="1950" b="1" i="0">
                <a:solidFill>
                  <a:srgbClr val="F0E8E8"/>
                </a:solidFill>
                <a:latin typeface="Geist"/>
                <a:ea typeface="Geist"/>
                <a:cs typeface="Geist"/>
              </a:rPr>
              <a:t>Pull request</a:t>
            </a:r>
          </a:p>
        </p:txBody>
      </p:sp>
      <p:sp>
        <p:nvSpPr>
          <p:cNvPr id="20" name="TextBox 19"/>
          <p:cNvSpPr txBox="1"/>
          <p:nvPr/>
        </p:nvSpPr>
        <p:spPr>
          <a:xfrm>
            <a:off x="9486900" y="4095750"/>
            <a:ext cx="2095500" cy="952500"/>
          </a:xfrm>
          <a:prstGeom prst="rect">
            <a:avLst/>
          </a:prstGeom>
          <a:noFill/>
        </p:spPr>
        <p:txBody>
          <a:bodyPr wrap="square" lIns="0" rIns="0" tIns="0" bIns="0" anchor="t">
            <a:spAutoFit/>
          </a:bodyPr>
          <a:lstStyle/>
          <a:p>
            <a:pPr algn="l">
              <a:lnSpc>
                <a:spcPct val="125000"/>
              </a:lnSpc>
            </a:pPr>
            <a:r>
              <a:rPr sz="1650" b="0" i="0">
                <a:solidFill>
                  <a:srgbClr val="9A7878"/>
                </a:solidFill>
                <a:latin typeface="Geist"/>
                <a:ea typeface="Geist"/>
                <a:cs typeface="Geist"/>
              </a:rPr>
              <a:t>Linked to the issue</a:t>
            </a:r>
          </a:p>
        </p:txBody>
      </p:sp>
      <p:sp>
        <p:nvSpPr>
          <p:cNvPr id="21" name="Rounded Rectangle 20"/>
          <p:cNvSpPr/>
          <p:nvPr/>
        </p:nvSpPr>
        <p:spPr>
          <a:xfrm>
            <a:off x="12039600" y="2857500"/>
            <a:ext cx="2552700" cy="2286000"/>
          </a:xfrm>
          <a:prstGeom prst="roundRect">
            <a:avLst>
              <a:gd name="adj" fmla="val 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68200" y="3086100"/>
            <a:ext cx="7620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05</a:t>
            </a:r>
          </a:p>
        </p:txBody>
      </p:sp>
      <p:sp>
        <p:nvSpPr>
          <p:cNvPr id="23" name="TextBox 22"/>
          <p:cNvSpPr txBox="1"/>
          <p:nvPr/>
        </p:nvSpPr>
        <p:spPr>
          <a:xfrm>
            <a:off x="12268200" y="3562350"/>
            <a:ext cx="2095500" cy="47625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Review</a:t>
            </a:r>
          </a:p>
        </p:txBody>
      </p:sp>
      <p:sp>
        <p:nvSpPr>
          <p:cNvPr id="24" name="TextBox 23"/>
          <p:cNvSpPr txBox="1"/>
          <p:nvPr/>
        </p:nvSpPr>
        <p:spPr>
          <a:xfrm>
            <a:off x="12268200" y="4095750"/>
            <a:ext cx="2095500" cy="952500"/>
          </a:xfrm>
          <a:prstGeom prst="rect">
            <a:avLst/>
          </a:prstGeom>
          <a:noFill/>
        </p:spPr>
        <p:txBody>
          <a:bodyPr wrap="square" lIns="0" rIns="0" tIns="0" bIns="0" anchor="t">
            <a:spAutoFit/>
          </a:bodyPr>
          <a:lstStyle/>
          <a:p>
            <a:pPr algn="l">
              <a:lnSpc>
                <a:spcPct val="125000"/>
              </a:lnSpc>
            </a:pPr>
            <a:r>
              <a:rPr sz="1650" b="0" i="0">
                <a:solidFill>
                  <a:srgbClr val="9A7878"/>
                </a:solidFill>
                <a:latin typeface="Geist"/>
                <a:ea typeface="Geist"/>
                <a:cs typeface="Geist"/>
              </a:rPr>
              <a:t>Teammate or mentor</a:t>
            </a:r>
          </a:p>
        </p:txBody>
      </p:sp>
      <p:sp>
        <p:nvSpPr>
          <p:cNvPr id="25" name="Rounded Rectangle 24"/>
          <p:cNvSpPr/>
          <p:nvPr/>
        </p:nvSpPr>
        <p:spPr>
          <a:xfrm>
            <a:off x="14820900" y="2857500"/>
            <a:ext cx="2552700" cy="2286000"/>
          </a:xfrm>
          <a:prstGeom prst="roundRect">
            <a:avLst>
              <a:gd name="adj" fmla="val 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5049500" y="3086100"/>
            <a:ext cx="7620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06</a:t>
            </a:r>
          </a:p>
        </p:txBody>
      </p:sp>
      <p:sp>
        <p:nvSpPr>
          <p:cNvPr id="27" name="TextBox 26"/>
          <p:cNvSpPr txBox="1"/>
          <p:nvPr/>
        </p:nvSpPr>
        <p:spPr>
          <a:xfrm>
            <a:off x="15049500" y="3562350"/>
            <a:ext cx="2095500" cy="47625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Merge</a:t>
            </a:r>
          </a:p>
        </p:txBody>
      </p:sp>
      <p:sp>
        <p:nvSpPr>
          <p:cNvPr id="28" name="TextBox 27"/>
          <p:cNvSpPr txBox="1"/>
          <p:nvPr/>
        </p:nvSpPr>
        <p:spPr>
          <a:xfrm>
            <a:off x="15049500" y="4095750"/>
            <a:ext cx="2095500" cy="952500"/>
          </a:xfrm>
          <a:prstGeom prst="rect">
            <a:avLst/>
          </a:prstGeom>
          <a:noFill/>
        </p:spPr>
        <p:txBody>
          <a:bodyPr wrap="square" lIns="0" rIns="0" tIns="0" bIns="0" anchor="t">
            <a:spAutoFit/>
          </a:bodyPr>
          <a:lstStyle/>
          <a:p>
            <a:pPr algn="l">
              <a:lnSpc>
                <a:spcPct val="125000"/>
              </a:lnSpc>
            </a:pPr>
            <a:r>
              <a:rPr sz="1650" b="0" i="0">
                <a:solidFill>
                  <a:srgbClr val="9A7878"/>
                </a:solidFill>
                <a:latin typeface="Geist"/>
                <a:ea typeface="Geist"/>
                <a:cs typeface="Geist"/>
              </a:rPr>
              <a:t>Then delete the branch</a:t>
            </a:r>
          </a:p>
        </p:txBody>
      </p:sp>
      <p:sp>
        <p:nvSpPr>
          <p:cNvPr id="29" name="TextBox 28"/>
          <p:cNvSpPr txBox="1"/>
          <p:nvPr/>
        </p:nvSpPr>
        <p:spPr>
          <a:xfrm>
            <a:off x="914400" y="5715000"/>
            <a:ext cx="164592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THE PROJECT BOARD</a:t>
            </a:r>
          </a:p>
        </p:txBody>
      </p:sp>
      <p:sp>
        <p:nvSpPr>
          <p:cNvPr id="30" name="Rounded Rectangle 29"/>
          <p:cNvSpPr/>
          <p:nvPr/>
        </p:nvSpPr>
        <p:spPr>
          <a:xfrm>
            <a:off x="914400" y="6191250"/>
            <a:ext cx="3108960" cy="2095500"/>
          </a:xfrm>
          <a:prstGeom prst="roundRect">
            <a:avLst>
              <a:gd name="adj" fmla="val 5454"/>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143000" y="6381750"/>
            <a:ext cx="265176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Backlog</a:t>
            </a:r>
          </a:p>
        </p:txBody>
      </p:sp>
      <p:sp>
        <p:nvSpPr>
          <p:cNvPr id="32" name="Rounded Rectangle 31"/>
          <p:cNvSpPr/>
          <p:nvPr/>
        </p:nvSpPr>
        <p:spPr>
          <a:xfrm>
            <a:off x="1143000" y="697230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1143000" y="756285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le 33"/>
          <p:cNvSpPr/>
          <p:nvPr/>
        </p:nvSpPr>
        <p:spPr>
          <a:xfrm>
            <a:off x="4251960" y="6191250"/>
            <a:ext cx="3108960" cy="2095500"/>
          </a:xfrm>
          <a:prstGeom prst="roundRect">
            <a:avLst>
              <a:gd name="adj" fmla="val 5454"/>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4480560" y="6381750"/>
            <a:ext cx="265176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Ready</a:t>
            </a:r>
          </a:p>
        </p:txBody>
      </p:sp>
      <p:sp>
        <p:nvSpPr>
          <p:cNvPr id="36" name="Rounded Rectangle 35"/>
          <p:cNvSpPr/>
          <p:nvPr/>
        </p:nvSpPr>
        <p:spPr>
          <a:xfrm>
            <a:off x="4480560" y="697230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4480560" y="756285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7589520" y="6191250"/>
            <a:ext cx="3108960" cy="2095500"/>
          </a:xfrm>
          <a:prstGeom prst="roundRect">
            <a:avLst>
              <a:gd name="adj" fmla="val 545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7818120" y="6381750"/>
            <a:ext cx="265176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In progress</a:t>
            </a:r>
          </a:p>
        </p:txBody>
      </p:sp>
      <p:sp>
        <p:nvSpPr>
          <p:cNvPr id="40" name="Rounded Rectangle 39"/>
          <p:cNvSpPr/>
          <p:nvPr/>
        </p:nvSpPr>
        <p:spPr>
          <a:xfrm>
            <a:off x="7818120" y="697230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10927080" y="6191250"/>
            <a:ext cx="3108960" cy="2095500"/>
          </a:xfrm>
          <a:prstGeom prst="roundRect">
            <a:avLst>
              <a:gd name="adj" fmla="val 5454"/>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11155680" y="6381750"/>
            <a:ext cx="265176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In review</a:t>
            </a:r>
          </a:p>
        </p:txBody>
      </p:sp>
      <p:sp>
        <p:nvSpPr>
          <p:cNvPr id="43" name="Rounded Rectangle 42"/>
          <p:cNvSpPr/>
          <p:nvPr/>
        </p:nvSpPr>
        <p:spPr>
          <a:xfrm>
            <a:off x="11155680" y="697230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ounded Rectangle 43"/>
          <p:cNvSpPr/>
          <p:nvPr/>
        </p:nvSpPr>
        <p:spPr>
          <a:xfrm>
            <a:off x="11155680" y="756285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ounded Rectangle 44"/>
          <p:cNvSpPr/>
          <p:nvPr/>
        </p:nvSpPr>
        <p:spPr>
          <a:xfrm>
            <a:off x="14264640" y="6191250"/>
            <a:ext cx="3108960" cy="2095500"/>
          </a:xfrm>
          <a:prstGeom prst="roundRect">
            <a:avLst>
              <a:gd name="adj" fmla="val 5454"/>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14493240" y="6381750"/>
            <a:ext cx="265176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Done</a:t>
            </a:r>
          </a:p>
        </p:txBody>
      </p:sp>
      <p:sp>
        <p:nvSpPr>
          <p:cNvPr id="47" name="Rounded Rectangle 46"/>
          <p:cNvSpPr/>
          <p:nvPr/>
        </p:nvSpPr>
        <p:spPr>
          <a:xfrm>
            <a:off x="14493240" y="697230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ounded Rectangle 47"/>
          <p:cNvSpPr/>
          <p:nvPr/>
        </p:nvSpPr>
        <p:spPr>
          <a:xfrm>
            <a:off x="14493240" y="756285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50" name="TextBox 4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03</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AdvantageScope</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Telemetry: seeing what the robot is doing</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26</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You can't see inside me, so graph what I'm thinking.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is telemetry?</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35433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9650" y="361950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Robot code</a:t>
            </a:r>
          </a:p>
        </p:txBody>
      </p:sp>
      <p:sp>
        <p:nvSpPr>
          <p:cNvPr id="7" name="TextBox 6"/>
          <p:cNvSpPr txBox="1"/>
          <p:nvPr/>
        </p:nvSpPr>
        <p:spPr>
          <a:xfrm>
            <a:off x="10668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Publishes values every loop</a:t>
            </a:r>
          </a:p>
        </p:txBody>
      </p:sp>
      <p:cxnSp>
        <p:nvCxnSpPr>
          <p:cNvPr id="8" name="Connector 7"/>
          <p:cNvCxnSpPr/>
          <p:nvPr/>
        </p:nvCxnSpPr>
        <p:spPr>
          <a:xfrm>
            <a:off x="4533900" y="40957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219700" y="3143250"/>
            <a:ext cx="35433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314950" y="361950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NetworkTables</a:t>
            </a:r>
          </a:p>
        </p:txBody>
      </p:sp>
      <p:sp>
        <p:nvSpPr>
          <p:cNvPr id="11" name="TextBox 10"/>
          <p:cNvSpPr txBox="1"/>
          <p:nvPr/>
        </p:nvSpPr>
        <p:spPr>
          <a:xfrm>
            <a:off x="53721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Sends them to the laptop</a:t>
            </a:r>
          </a:p>
        </p:txBody>
      </p:sp>
      <p:cxnSp>
        <p:nvCxnSpPr>
          <p:cNvPr id="12" name="Connector 11"/>
          <p:cNvCxnSpPr/>
          <p:nvPr/>
        </p:nvCxnSpPr>
        <p:spPr>
          <a:xfrm>
            <a:off x="8839200" y="40957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525000" y="3143250"/>
            <a:ext cx="3543300" cy="1905000"/>
          </a:xfrm>
          <a:prstGeom prst="roundRect">
            <a:avLst>
              <a:gd name="adj" fmla="val 8000"/>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20250" y="361950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AdvantageScope</a:t>
            </a:r>
          </a:p>
        </p:txBody>
      </p:sp>
      <p:sp>
        <p:nvSpPr>
          <p:cNvPr id="15" name="TextBox 14"/>
          <p:cNvSpPr txBox="1"/>
          <p:nvPr/>
        </p:nvSpPr>
        <p:spPr>
          <a:xfrm>
            <a:off x="96774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Graphs and draws them</a:t>
            </a:r>
          </a:p>
        </p:txBody>
      </p:sp>
      <p:cxnSp>
        <p:nvCxnSpPr>
          <p:cNvPr id="16" name="Connector 15"/>
          <p:cNvCxnSpPr/>
          <p:nvPr/>
        </p:nvCxnSpPr>
        <p:spPr>
          <a:xfrm>
            <a:off x="13144500" y="40957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830300" y="3143250"/>
            <a:ext cx="35433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925550" y="361950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Elastic</a:t>
            </a:r>
          </a:p>
        </p:txBody>
      </p:sp>
      <p:sp>
        <p:nvSpPr>
          <p:cNvPr id="19" name="TextBox 18"/>
          <p:cNvSpPr txBox="1"/>
          <p:nvPr/>
        </p:nvSpPr>
        <p:spPr>
          <a:xfrm>
            <a:off x="139827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Shows drivers what matters</a:t>
            </a:r>
          </a:p>
        </p:txBody>
      </p:sp>
      <p:sp>
        <p:nvSpPr>
          <p:cNvPr id="20" name="TextBox 19"/>
          <p:cNvSpPr txBox="1"/>
          <p:nvPr/>
        </p:nvSpPr>
        <p:spPr>
          <a:xfrm>
            <a:off x="914400" y="5810250"/>
            <a:ext cx="164592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Telemetry</a:t>
            </a:r>
            <a:r>
              <a:rPr sz="2250" b="0" i="0">
                <a:solidFill>
                  <a:srgbClr val="F0E8E8"/>
                </a:solidFill>
                <a:latin typeface="Geist"/>
                <a:ea typeface="Geist"/>
                <a:cs typeface="Geist"/>
              </a:rPr>
              <a:t>: data the robot reports about itself</a:t>
            </a:r>
          </a:p>
        </p:txBody>
      </p:sp>
      <p:sp>
        <p:nvSpPr>
          <p:cNvPr id="21" name="TextBox 20"/>
          <p:cNvSpPr txBox="1"/>
          <p:nvPr/>
        </p:nvSpPr>
        <p:spPr>
          <a:xfrm>
            <a:off x="914400" y="6410325"/>
            <a:ext cx="164592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Sent about </a:t>
            </a:r>
            <a:r>
              <a:rPr sz="2250" b="1" i="0">
                <a:solidFill>
                  <a:srgbClr val="F0E8E8"/>
                </a:solidFill>
                <a:latin typeface="Geist"/>
                <a:ea typeface="Geist"/>
                <a:cs typeface="Geist"/>
              </a:rPr>
              <a:t>50 times a second</a:t>
            </a:r>
            <a:r>
              <a:rPr sz="2250" b="0" i="0">
                <a:solidFill>
                  <a:srgbClr val="F0E8E8"/>
                </a:solidFill>
                <a:latin typeface="Geist"/>
                <a:ea typeface="Geist"/>
                <a:cs typeface="Geist"/>
              </a:rPr>
              <a:t> while it runs</a:t>
            </a:r>
          </a:p>
        </p:txBody>
      </p:sp>
      <p:sp>
        <p:nvSpPr>
          <p:cNvPr id="22" name="TextBox 21"/>
          <p:cNvSpPr txBox="1"/>
          <p:nvPr/>
        </p:nvSpPr>
        <p:spPr>
          <a:xfrm>
            <a:off x="914400" y="7010400"/>
            <a:ext cx="164592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Live while running, or saved to a </a:t>
            </a:r>
            <a:r>
              <a:rPr sz="2250" b="1" i="0">
                <a:solidFill>
                  <a:srgbClr val="F0E8E8"/>
                </a:solidFill>
                <a:latin typeface="Geist"/>
                <a:ea typeface="Geist"/>
                <a:cs typeface="Geist"/>
              </a:rPr>
              <a:t>log file</a:t>
            </a:r>
            <a:r>
              <a:rPr sz="2250" b="0" i="0">
                <a:solidFill>
                  <a:srgbClr val="F0E8E8"/>
                </a:solidFill>
                <a:latin typeface="Geist"/>
                <a:ea typeface="Geist"/>
                <a:cs typeface="Geist"/>
              </a:rPr>
              <a:t> to replay later</a:t>
            </a:r>
          </a:p>
        </p:txBody>
      </p:sp>
      <p:sp>
        <p:nvSpPr>
          <p:cNvPr id="23" name="TextBox 2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4" name="TextBox 2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A tour of the window</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914400" y="2857500"/>
            <a:ext cx="9400140" cy="5905500"/>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hot_as_navigation-1.jpg"/>
          <p:cNvPicPr>
            <a:picLocks noChangeAspect="1"/>
          </p:cNvPicPr>
          <p:nvPr/>
        </p:nvPicPr>
        <p:blipFill>
          <a:blip r:embed="rId3"/>
          <a:stretch>
            <a:fillRect/>
          </a:stretch>
        </p:blipFill>
        <p:spPr>
          <a:xfrm>
            <a:off x="914400" y="2857500"/>
            <a:ext cx="9400140" cy="5905500"/>
          </a:xfrm>
          <a:prstGeom prst="rect">
            <a:avLst/>
          </a:prstGeom>
        </p:spPr>
      </p:pic>
      <p:sp>
        <p:nvSpPr>
          <p:cNvPr id="7" name="Rectangle 6"/>
          <p:cNvSpPr/>
          <p:nvPr/>
        </p:nvSpPr>
        <p:spPr>
          <a:xfrm>
            <a:off x="914400" y="2857500"/>
            <a:ext cx="9400140" cy="5905500"/>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9537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537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0" name="TextBox 9"/>
          <p:cNvSpPr txBox="1"/>
          <p:nvPr/>
        </p:nvSpPr>
        <p:spPr>
          <a:xfrm>
            <a:off x="11563350" y="2819400"/>
            <a:ext cx="5810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Sidebar</a:t>
            </a:r>
          </a:p>
        </p:txBody>
      </p:sp>
      <p:sp>
        <p:nvSpPr>
          <p:cNvPr id="11" name="TextBox 10"/>
          <p:cNvSpPr txBox="1"/>
          <p:nvPr/>
        </p:nvSpPr>
        <p:spPr>
          <a:xfrm>
            <a:off x="11563350" y="3238500"/>
            <a:ext cx="5810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Every field the robot publishes</a:t>
            </a:r>
          </a:p>
        </p:txBody>
      </p:sp>
      <p:sp>
        <p:nvSpPr>
          <p:cNvPr id="12" name="Oval 11"/>
          <p:cNvSpPr/>
          <p:nvPr/>
        </p:nvSpPr>
        <p:spPr>
          <a:xfrm>
            <a:off x="10953750" y="43624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53750" y="43624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4" name="TextBox 13"/>
          <p:cNvSpPr txBox="1"/>
          <p:nvPr/>
        </p:nvSpPr>
        <p:spPr>
          <a:xfrm>
            <a:off x="11563350" y="4324350"/>
            <a:ext cx="5810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Tab bar</a:t>
            </a:r>
          </a:p>
        </p:txBody>
      </p:sp>
      <p:sp>
        <p:nvSpPr>
          <p:cNvPr id="15" name="TextBox 14"/>
          <p:cNvSpPr txBox="1"/>
          <p:nvPr/>
        </p:nvSpPr>
        <p:spPr>
          <a:xfrm>
            <a:off x="11563350" y="4743450"/>
            <a:ext cx="5810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One tab per view; + adds one</a:t>
            </a:r>
          </a:p>
        </p:txBody>
      </p:sp>
      <p:sp>
        <p:nvSpPr>
          <p:cNvPr id="16" name="Oval 15"/>
          <p:cNvSpPr/>
          <p:nvPr/>
        </p:nvSpPr>
        <p:spPr>
          <a:xfrm>
            <a:off x="10953750" y="58674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53750" y="58674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8" name="TextBox 17"/>
          <p:cNvSpPr txBox="1"/>
          <p:nvPr/>
        </p:nvSpPr>
        <p:spPr>
          <a:xfrm>
            <a:off x="11563350" y="5829300"/>
            <a:ext cx="5810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Viewer</a:t>
            </a:r>
          </a:p>
        </p:txBody>
      </p:sp>
      <p:sp>
        <p:nvSpPr>
          <p:cNvPr id="19" name="TextBox 18"/>
          <p:cNvSpPr txBox="1"/>
          <p:nvPr/>
        </p:nvSpPr>
        <p:spPr>
          <a:xfrm>
            <a:off x="11563350" y="6248400"/>
            <a:ext cx="5810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The graph or field itself</a:t>
            </a:r>
          </a:p>
        </p:txBody>
      </p:sp>
      <p:sp>
        <p:nvSpPr>
          <p:cNvPr id="20" name="Oval 19"/>
          <p:cNvSpPr/>
          <p:nvPr/>
        </p:nvSpPr>
        <p:spPr>
          <a:xfrm>
            <a:off x="10953750" y="73723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53750" y="73723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22" name="TextBox 21"/>
          <p:cNvSpPr txBox="1"/>
          <p:nvPr/>
        </p:nvSpPr>
        <p:spPr>
          <a:xfrm>
            <a:off x="11563350" y="7334250"/>
            <a:ext cx="5810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Control pane</a:t>
            </a:r>
          </a:p>
        </p:txBody>
      </p:sp>
      <p:sp>
        <p:nvSpPr>
          <p:cNvPr id="23" name="TextBox 22"/>
          <p:cNvSpPr txBox="1"/>
          <p:nvPr/>
        </p:nvSpPr>
        <p:spPr>
          <a:xfrm>
            <a:off x="11563350" y="7753350"/>
            <a:ext cx="5810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Which fields show, on which axis</a:t>
            </a:r>
          </a:p>
        </p:txBody>
      </p:sp>
      <p:sp>
        <p:nvSpPr>
          <p:cNvPr id="24" name="TextBox 23"/>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5" name="TextBox 24"/>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Fields and their types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16459200" cy="609600"/>
          </a:xfrm>
          <a:prstGeom prst="roundRect">
            <a:avLst>
              <a:gd name="adj" fmla="val 125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2857500"/>
            <a:ext cx="4762500" cy="609600"/>
          </a:xfrm>
          <a:prstGeom prst="rect">
            <a:avLst/>
          </a:prstGeom>
          <a:noFill/>
        </p:spPr>
        <p:txBody>
          <a:bodyPr wrap="square" lIns="0" rIns="0" tIns="0" bIns="0" anchor="ctr">
            <a:spAutoFit/>
          </a:bodyPr>
          <a:lstStyle/>
          <a:p>
            <a:pPr algn="l"/>
            <a:r>
              <a:rPr sz="1500" b="1" i="0" spc="130">
                <a:solidFill>
                  <a:srgbClr val="9A7878"/>
                </a:solidFill>
                <a:latin typeface="Geist"/>
                <a:ea typeface="Geist"/>
                <a:cs typeface="Geist"/>
              </a:rPr>
              <a:t>TYPE</a:t>
            </a:r>
          </a:p>
        </p:txBody>
      </p:sp>
      <p:sp>
        <p:nvSpPr>
          <p:cNvPr id="7" name="TextBox 6"/>
          <p:cNvSpPr txBox="1"/>
          <p:nvPr/>
        </p:nvSpPr>
        <p:spPr>
          <a:xfrm>
            <a:off x="6667500" y="2857500"/>
            <a:ext cx="4762500" cy="609600"/>
          </a:xfrm>
          <a:prstGeom prst="rect">
            <a:avLst/>
          </a:prstGeom>
          <a:noFill/>
        </p:spPr>
        <p:txBody>
          <a:bodyPr wrap="square" lIns="0" rIns="0" tIns="0" bIns="0" anchor="ctr">
            <a:spAutoFit/>
          </a:bodyPr>
          <a:lstStyle/>
          <a:p>
            <a:pPr algn="l"/>
            <a:r>
              <a:rPr sz="1500" b="1" i="0" spc="130">
                <a:solidFill>
                  <a:srgbClr val="9A7878"/>
                </a:solidFill>
                <a:latin typeface="Geist"/>
                <a:ea typeface="Geist"/>
                <a:cs typeface="Geist"/>
              </a:rPr>
              <a:t>EXAMPLE FIELD</a:t>
            </a:r>
          </a:p>
        </p:txBody>
      </p:sp>
      <p:sp>
        <p:nvSpPr>
          <p:cNvPr id="8" name="TextBox 7"/>
          <p:cNvSpPr txBox="1"/>
          <p:nvPr/>
        </p:nvSpPr>
        <p:spPr>
          <a:xfrm>
            <a:off x="12001500" y="2857500"/>
            <a:ext cx="4762500" cy="609600"/>
          </a:xfrm>
          <a:prstGeom prst="rect">
            <a:avLst/>
          </a:prstGeom>
          <a:noFill/>
        </p:spPr>
        <p:txBody>
          <a:bodyPr wrap="square" lIns="0" rIns="0" tIns="0" bIns="0" anchor="ctr">
            <a:spAutoFit/>
          </a:bodyPr>
          <a:lstStyle/>
          <a:p>
            <a:pPr algn="l"/>
            <a:r>
              <a:rPr sz="1500" b="1" i="0" spc="130">
                <a:solidFill>
                  <a:srgbClr val="9A7878"/>
                </a:solidFill>
                <a:latin typeface="Geist"/>
                <a:ea typeface="Geist"/>
                <a:cs typeface="Geist"/>
              </a:rPr>
              <a:t>SHOWN AS</a:t>
            </a:r>
          </a:p>
        </p:txBody>
      </p:sp>
      <p:sp>
        <p:nvSpPr>
          <p:cNvPr id="9" name="Rounded Rectangle 8"/>
          <p:cNvSpPr/>
          <p:nvPr/>
        </p:nvSpPr>
        <p:spPr>
          <a:xfrm>
            <a:off x="914400" y="3619500"/>
            <a:ext cx="16459200" cy="800100"/>
          </a:xfrm>
          <a:prstGeom prst="roundRect">
            <a:avLst>
              <a:gd name="adj" fmla="val 1190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295400" y="3619500"/>
            <a:ext cx="5334000" cy="800100"/>
          </a:xfrm>
          <a:prstGeom prst="rect">
            <a:avLst/>
          </a:prstGeom>
          <a:noFill/>
        </p:spPr>
        <p:txBody>
          <a:bodyPr wrap="square" lIns="0" rIns="0" tIns="0" bIns="0" anchor="ctr">
            <a:spAutoFit/>
          </a:bodyPr>
          <a:lstStyle/>
          <a:p>
            <a:pPr algn="l"/>
            <a:r>
              <a:rPr sz="2100" b="0" i="0">
                <a:solidFill>
                  <a:srgbClr val="E0785F"/>
                </a:solidFill>
                <a:latin typeface="Geist Mono"/>
                <a:ea typeface="Geist Mono"/>
                <a:cs typeface="Geist Mono"/>
              </a:rPr>
              <a:t>Number</a:t>
            </a:r>
          </a:p>
        </p:txBody>
      </p:sp>
      <p:sp>
        <p:nvSpPr>
          <p:cNvPr id="11" name="TextBox 10"/>
          <p:cNvSpPr txBox="1"/>
          <p:nvPr/>
        </p:nvSpPr>
        <p:spPr>
          <a:xfrm>
            <a:off x="6667500" y="3619500"/>
            <a:ext cx="5143500" cy="8001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FlywheelRPM</a:t>
            </a:r>
          </a:p>
        </p:txBody>
      </p:sp>
      <p:sp>
        <p:nvSpPr>
          <p:cNvPr id="12" name="TextBox 11"/>
          <p:cNvSpPr txBox="1"/>
          <p:nvPr/>
        </p:nvSpPr>
        <p:spPr>
          <a:xfrm>
            <a:off x="12001500" y="3619500"/>
            <a:ext cx="5143500" cy="8001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A line on a graph</a:t>
            </a:r>
          </a:p>
        </p:txBody>
      </p:sp>
      <p:sp>
        <p:nvSpPr>
          <p:cNvPr id="13" name="Rounded Rectangle 12"/>
          <p:cNvSpPr/>
          <p:nvPr/>
        </p:nvSpPr>
        <p:spPr>
          <a:xfrm>
            <a:off x="914400" y="4533900"/>
            <a:ext cx="16459200" cy="800100"/>
          </a:xfrm>
          <a:prstGeom prst="roundRect">
            <a:avLst>
              <a:gd name="adj" fmla="val 1190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95400" y="4533900"/>
            <a:ext cx="5334000" cy="800100"/>
          </a:xfrm>
          <a:prstGeom prst="rect">
            <a:avLst/>
          </a:prstGeom>
          <a:noFill/>
        </p:spPr>
        <p:txBody>
          <a:bodyPr wrap="square" lIns="0" rIns="0" tIns="0" bIns="0" anchor="ctr">
            <a:spAutoFit/>
          </a:bodyPr>
          <a:lstStyle/>
          <a:p>
            <a:pPr algn="l"/>
            <a:r>
              <a:rPr sz="2100" b="0" i="0">
                <a:solidFill>
                  <a:srgbClr val="E0785F"/>
                </a:solidFill>
                <a:latin typeface="Geist Mono"/>
                <a:ea typeface="Geist Mono"/>
                <a:cs typeface="Geist Mono"/>
              </a:rPr>
              <a:t>Boolean</a:t>
            </a:r>
          </a:p>
        </p:txBody>
      </p:sp>
      <p:sp>
        <p:nvSpPr>
          <p:cNvPr id="15" name="TextBox 14"/>
          <p:cNvSpPr txBox="1"/>
          <p:nvPr/>
        </p:nvSpPr>
        <p:spPr>
          <a:xfrm>
            <a:off x="6667500" y="4533900"/>
            <a:ext cx="5143500" cy="8001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GamePieceLoaded</a:t>
            </a:r>
          </a:p>
        </p:txBody>
      </p:sp>
      <p:sp>
        <p:nvSpPr>
          <p:cNvPr id="16" name="TextBox 15"/>
          <p:cNvSpPr txBox="1"/>
          <p:nvPr/>
        </p:nvSpPr>
        <p:spPr>
          <a:xfrm>
            <a:off x="12001500" y="4533900"/>
            <a:ext cx="5143500" cy="8001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Colored true/false bands</a:t>
            </a:r>
          </a:p>
        </p:txBody>
      </p:sp>
      <p:sp>
        <p:nvSpPr>
          <p:cNvPr id="17" name="Rounded Rectangle 16"/>
          <p:cNvSpPr/>
          <p:nvPr/>
        </p:nvSpPr>
        <p:spPr>
          <a:xfrm>
            <a:off x="914400" y="5448300"/>
            <a:ext cx="16459200" cy="800100"/>
          </a:xfrm>
          <a:prstGeom prst="roundRect">
            <a:avLst>
              <a:gd name="adj" fmla="val 1190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95400" y="5448300"/>
            <a:ext cx="5334000" cy="800100"/>
          </a:xfrm>
          <a:prstGeom prst="rect">
            <a:avLst/>
          </a:prstGeom>
          <a:noFill/>
        </p:spPr>
        <p:txBody>
          <a:bodyPr wrap="square" lIns="0" rIns="0" tIns="0" bIns="0" anchor="ctr">
            <a:spAutoFit/>
          </a:bodyPr>
          <a:lstStyle/>
          <a:p>
            <a:pPr algn="l"/>
            <a:r>
              <a:rPr sz="2100" b="0" i="0">
                <a:solidFill>
                  <a:srgbClr val="E0785F"/>
                </a:solidFill>
                <a:latin typeface="Geist Mono"/>
                <a:ea typeface="Geist Mono"/>
                <a:cs typeface="Geist Mono"/>
              </a:rPr>
              <a:t>Pose2d</a:t>
            </a:r>
          </a:p>
        </p:txBody>
      </p:sp>
      <p:sp>
        <p:nvSpPr>
          <p:cNvPr id="19" name="TextBox 18"/>
          <p:cNvSpPr txBox="1"/>
          <p:nvPr/>
        </p:nvSpPr>
        <p:spPr>
          <a:xfrm>
            <a:off x="6667500" y="5448300"/>
            <a:ext cx="5143500" cy="8001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RobotPose2d</a:t>
            </a:r>
          </a:p>
        </p:txBody>
      </p:sp>
      <p:sp>
        <p:nvSpPr>
          <p:cNvPr id="20" name="TextBox 19"/>
          <p:cNvSpPr txBox="1"/>
          <p:nvPr/>
        </p:nvSpPr>
        <p:spPr>
          <a:xfrm>
            <a:off x="12001500" y="5448300"/>
            <a:ext cx="5143500" cy="8001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The robot on a 2D field</a:t>
            </a:r>
          </a:p>
        </p:txBody>
      </p:sp>
      <p:sp>
        <p:nvSpPr>
          <p:cNvPr id="21" name="Rounded Rectangle 20"/>
          <p:cNvSpPr/>
          <p:nvPr/>
        </p:nvSpPr>
        <p:spPr>
          <a:xfrm>
            <a:off x="914400" y="6362700"/>
            <a:ext cx="16459200" cy="800100"/>
          </a:xfrm>
          <a:prstGeom prst="roundRect">
            <a:avLst>
              <a:gd name="adj" fmla="val 1190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95400" y="6362700"/>
            <a:ext cx="5334000" cy="800100"/>
          </a:xfrm>
          <a:prstGeom prst="rect">
            <a:avLst/>
          </a:prstGeom>
          <a:noFill/>
        </p:spPr>
        <p:txBody>
          <a:bodyPr wrap="square" lIns="0" rIns="0" tIns="0" bIns="0" anchor="ctr">
            <a:spAutoFit/>
          </a:bodyPr>
          <a:lstStyle/>
          <a:p>
            <a:pPr algn="l"/>
            <a:r>
              <a:rPr sz="2100" b="0" i="0">
                <a:solidFill>
                  <a:srgbClr val="E0785F"/>
                </a:solidFill>
                <a:latin typeface="Geist Mono"/>
                <a:ea typeface="Geist Mono"/>
                <a:cs typeface="Geist Mono"/>
              </a:rPr>
              <a:t>Pose3d</a:t>
            </a:r>
          </a:p>
        </p:txBody>
      </p:sp>
      <p:sp>
        <p:nvSpPr>
          <p:cNvPr id="23" name="TextBox 22"/>
          <p:cNvSpPr txBox="1"/>
          <p:nvPr/>
        </p:nvSpPr>
        <p:spPr>
          <a:xfrm>
            <a:off x="6667500" y="6362700"/>
            <a:ext cx="5143500" cy="8001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RobotPose3d</a:t>
            </a:r>
          </a:p>
        </p:txBody>
      </p:sp>
      <p:sp>
        <p:nvSpPr>
          <p:cNvPr id="24" name="TextBox 23"/>
          <p:cNvSpPr txBox="1"/>
          <p:nvPr/>
        </p:nvSpPr>
        <p:spPr>
          <a:xfrm>
            <a:off x="12001500" y="6362700"/>
            <a:ext cx="5143500" cy="8001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The robot in 3D</a:t>
            </a:r>
          </a:p>
        </p:txBody>
      </p:sp>
      <p:sp>
        <p:nvSpPr>
          <p:cNvPr id="25" name="Rounded Rectangle 24"/>
          <p:cNvSpPr/>
          <p:nvPr/>
        </p:nvSpPr>
        <p:spPr>
          <a:xfrm>
            <a:off x="914400" y="7277100"/>
            <a:ext cx="16459200" cy="800100"/>
          </a:xfrm>
          <a:prstGeom prst="roundRect">
            <a:avLst>
              <a:gd name="adj" fmla="val 1190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295400" y="7277100"/>
            <a:ext cx="5334000" cy="800100"/>
          </a:xfrm>
          <a:prstGeom prst="rect">
            <a:avLst/>
          </a:prstGeom>
          <a:noFill/>
        </p:spPr>
        <p:txBody>
          <a:bodyPr wrap="square" lIns="0" rIns="0" tIns="0" bIns="0" anchor="ctr">
            <a:spAutoFit/>
          </a:bodyPr>
          <a:lstStyle/>
          <a:p>
            <a:pPr algn="l"/>
            <a:r>
              <a:rPr sz="2100" b="0" i="0">
                <a:solidFill>
                  <a:srgbClr val="E0785F"/>
                </a:solidFill>
                <a:latin typeface="Geist Mono"/>
                <a:ea typeface="Geist Mono"/>
                <a:cs typeface="Geist Mono"/>
              </a:rPr>
              <a:t>SwerveModuleState[]</a:t>
            </a:r>
          </a:p>
        </p:txBody>
      </p:sp>
      <p:sp>
        <p:nvSpPr>
          <p:cNvPr id="27" name="TextBox 26"/>
          <p:cNvSpPr txBox="1"/>
          <p:nvPr/>
        </p:nvSpPr>
        <p:spPr>
          <a:xfrm>
            <a:off x="6667500" y="7277100"/>
            <a:ext cx="5143500" cy="8001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SwerveModuleStates</a:t>
            </a:r>
          </a:p>
        </p:txBody>
      </p:sp>
      <p:sp>
        <p:nvSpPr>
          <p:cNvPr id="28" name="TextBox 27"/>
          <p:cNvSpPr txBox="1"/>
          <p:nvPr/>
        </p:nvSpPr>
        <p:spPr>
          <a:xfrm>
            <a:off x="12001500" y="7277100"/>
            <a:ext cx="5143500" cy="8001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Wheel arrows on the Swerve tab</a:t>
            </a:r>
          </a:p>
        </p:txBody>
      </p:sp>
      <p:sp>
        <p:nvSpPr>
          <p:cNvPr id="29" name="TextBox 2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0" name="TextBox 2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Reading a line graph</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477500" cy="5715000"/>
          </a:xfrm>
          <a:prstGeom prst="roundRect">
            <a:avLst>
              <a:gd name="adj" fmla="val 2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2190750" y="6477000"/>
            <a:ext cx="7715250" cy="0"/>
          </a:xfrm>
          <a:prstGeom prst="line">
            <a:avLst/>
          </a:prstGeom>
          <a:ln w="9525">
            <a:solidFill>
              <a:srgbClr val="2A1A1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047750" y="6305550"/>
            <a:ext cx="1000125" cy="342900"/>
          </a:xfrm>
          <a:prstGeom prst="rect">
            <a:avLst/>
          </a:prstGeom>
          <a:noFill/>
        </p:spPr>
        <p:txBody>
          <a:bodyPr wrap="square" lIns="0" rIns="0" tIns="0" bIns="0" anchor="t">
            <a:spAutoFit/>
          </a:bodyPr>
          <a:lstStyle/>
          <a:p>
            <a:pPr algn="r"/>
            <a:r>
              <a:rPr sz="1500" b="0" i="0">
                <a:solidFill>
                  <a:srgbClr val="F0E8E8"/>
                </a:solidFill>
                <a:latin typeface="Geist Mono"/>
                <a:ea typeface="Geist Mono"/>
                <a:cs typeface="Geist Mono"/>
              </a:rPr>
              <a:t>0</a:t>
            </a:r>
          </a:p>
        </p:txBody>
      </p:sp>
      <p:sp>
        <p:nvSpPr>
          <p:cNvPr id="8" name="TextBox 7"/>
          <p:cNvSpPr txBox="1"/>
          <p:nvPr/>
        </p:nvSpPr>
        <p:spPr>
          <a:xfrm>
            <a:off x="10020300" y="6305550"/>
            <a:ext cx="1143000" cy="342900"/>
          </a:xfrm>
          <a:prstGeom prst="rect">
            <a:avLst/>
          </a:prstGeom>
          <a:noFill/>
        </p:spPr>
        <p:txBody>
          <a:bodyPr wrap="square" lIns="0" rIns="0" tIns="0" bIns="0" anchor="t">
            <a:spAutoFit/>
          </a:bodyPr>
          <a:lstStyle/>
          <a:p>
            <a:pPr algn="l"/>
            <a:r>
              <a:rPr sz="1500" b="0" i="0">
                <a:solidFill>
                  <a:srgbClr val="E8C27A"/>
                </a:solidFill>
                <a:latin typeface="Geist Mono"/>
                <a:ea typeface="Geist Mono"/>
                <a:cs typeface="Geist Mono"/>
              </a:rPr>
              <a:t>10</a:t>
            </a:r>
          </a:p>
        </p:txBody>
      </p:sp>
      <p:cxnSp>
        <p:nvCxnSpPr>
          <p:cNvPr id="9" name="Connector 8"/>
          <p:cNvCxnSpPr/>
          <p:nvPr/>
        </p:nvCxnSpPr>
        <p:spPr>
          <a:xfrm>
            <a:off x="2190750" y="5429250"/>
            <a:ext cx="7715250" cy="0"/>
          </a:xfrm>
          <a:prstGeom prst="line">
            <a:avLst/>
          </a:prstGeom>
          <a:ln w="9525">
            <a:solidFill>
              <a:srgbClr val="2A1A1A"/>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47750" y="5257800"/>
            <a:ext cx="1000125" cy="342900"/>
          </a:xfrm>
          <a:prstGeom prst="rect">
            <a:avLst/>
          </a:prstGeom>
          <a:noFill/>
        </p:spPr>
        <p:txBody>
          <a:bodyPr wrap="square" lIns="0" rIns="0" tIns="0" bIns="0" anchor="t">
            <a:spAutoFit/>
          </a:bodyPr>
          <a:lstStyle/>
          <a:p>
            <a:pPr algn="r"/>
            <a:r>
              <a:rPr sz="1500" b="0" i="0">
                <a:solidFill>
                  <a:srgbClr val="F0E8E8"/>
                </a:solidFill>
                <a:latin typeface="Geist Mono"/>
                <a:ea typeface="Geist Mono"/>
                <a:cs typeface="Geist Mono"/>
              </a:rPr>
              <a:t>2,000</a:t>
            </a:r>
          </a:p>
        </p:txBody>
      </p:sp>
      <p:sp>
        <p:nvSpPr>
          <p:cNvPr id="11" name="TextBox 10"/>
          <p:cNvSpPr txBox="1"/>
          <p:nvPr/>
        </p:nvSpPr>
        <p:spPr>
          <a:xfrm>
            <a:off x="10020300" y="5257800"/>
            <a:ext cx="1143000" cy="342900"/>
          </a:xfrm>
          <a:prstGeom prst="rect">
            <a:avLst/>
          </a:prstGeom>
          <a:noFill/>
        </p:spPr>
        <p:txBody>
          <a:bodyPr wrap="square" lIns="0" rIns="0" tIns="0" bIns="0" anchor="t">
            <a:spAutoFit/>
          </a:bodyPr>
          <a:lstStyle/>
          <a:p>
            <a:pPr algn="l"/>
            <a:r>
              <a:rPr sz="1500" b="0" i="0">
                <a:solidFill>
                  <a:srgbClr val="E8C27A"/>
                </a:solidFill>
                <a:latin typeface="Geist Mono"/>
                <a:ea typeface="Geist Mono"/>
                <a:cs typeface="Geist Mono"/>
              </a:rPr>
              <a:t>11</a:t>
            </a:r>
          </a:p>
        </p:txBody>
      </p:sp>
      <p:cxnSp>
        <p:nvCxnSpPr>
          <p:cNvPr id="12" name="Connector 11"/>
          <p:cNvCxnSpPr/>
          <p:nvPr/>
        </p:nvCxnSpPr>
        <p:spPr>
          <a:xfrm>
            <a:off x="2190750" y="4381500"/>
            <a:ext cx="7715250" cy="0"/>
          </a:xfrm>
          <a:prstGeom prst="line">
            <a:avLst/>
          </a:prstGeom>
          <a:ln w="9525">
            <a:solidFill>
              <a:srgbClr val="2A1A1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047750" y="4210050"/>
            <a:ext cx="1000125" cy="342900"/>
          </a:xfrm>
          <a:prstGeom prst="rect">
            <a:avLst/>
          </a:prstGeom>
          <a:noFill/>
        </p:spPr>
        <p:txBody>
          <a:bodyPr wrap="square" lIns="0" rIns="0" tIns="0" bIns="0" anchor="t">
            <a:spAutoFit/>
          </a:bodyPr>
          <a:lstStyle/>
          <a:p>
            <a:pPr algn="r"/>
            <a:r>
              <a:rPr sz="1500" b="0" i="0">
                <a:solidFill>
                  <a:srgbClr val="F0E8E8"/>
                </a:solidFill>
                <a:latin typeface="Geist Mono"/>
                <a:ea typeface="Geist Mono"/>
                <a:cs typeface="Geist Mono"/>
              </a:rPr>
              <a:t>4,000</a:t>
            </a:r>
          </a:p>
        </p:txBody>
      </p:sp>
      <p:sp>
        <p:nvSpPr>
          <p:cNvPr id="14" name="TextBox 13"/>
          <p:cNvSpPr txBox="1"/>
          <p:nvPr/>
        </p:nvSpPr>
        <p:spPr>
          <a:xfrm>
            <a:off x="10020300" y="4210050"/>
            <a:ext cx="1143000" cy="342900"/>
          </a:xfrm>
          <a:prstGeom prst="rect">
            <a:avLst/>
          </a:prstGeom>
          <a:noFill/>
        </p:spPr>
        <p:txBody>
          <a:bodyPr wrap="square" lIns="0" rIns="0" tIns="0" bIns="0" anchor="t">
            <a:spAutoFit/>
          </a:bodyPr>
          <a:lstStyle/>
          <a:p>
            <a:pPr algn="l"/>
            <a:r>
              <a:rPr sz="1500" b="0" i="0">
                <a:solidFill>
                  <a:srgbClr val="E8C27A"/>
                </a:solidFill>
                <a:latin typeface="Geist Mono"/>
                <a:ea typeface="Geist Mono"/>
                <a:cs typeface="Geist Mono"/>
              </a:rPr>
              <a:t>12</a:t>
            </a:r>
          </a:p>
        </p:txBody>
      </p:sp>
      <p:cxnSp>
        <p:nvCxnSpPr>
          <p:cNvPr id="15" name="Connector 14"/>
          <p:cNvCxnSpPr/>
          <p:nvPr/>
        </p:nvCxnSpPr>
        <p:spPr>
          <a:xfrm>
            <a:off x="2190750" y="3333750"/>
            <a:ext cx="7715250" cy="0"/>
          </a:xfrm>
          <a:prstGeom prst="line">
            <a:avLst/>
          </a:prstGeom>
          <a:ln w="9525">
            <a:solidFill>
              <a:srgbClr val="2A1A1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47750" y="3162300"/>
            <a:ext cx="1000125" cy="342900"/>
          </a:xfrm>
          <a:prstGeom prst="rect">
            <a:avLst/>
          </a:prstGeom>
          <a:noFill/>
        </p:spPr>
        <p:txBody>
          <a:bodyPr wrap="square" lIns="0" rIns="0" tIns="0" bIns="0" anchor="t">
            <a:spAutoFit/>
          </a:bodyPr>
          <a:lstStyle/>
          <a:p>
            <a:pPr algn="r"/>
            <a:r>
              <a:rPr sz="1500" b="0" i="0">
                <a:solidFill>
                  <a:srgbClr val="F0E8E8"/>
                </a:solidFill>
                <a:latin typeface="Geist Mono"/>
                <a:ea typeface="Geist Mono"/>
                <a:cs typeface="Geist Mono"/>
              </a:rPr>
              <a:t>6,000</a:t>
            </a:r>
          </a:p>
        </p:txBody>
      </p:sp>
      <p:sp>
        <p:nvSpPr>
          <p:cNvPr id="17" name="TextBox 16"/>
          <p:cNvSpPr txBox="1"/>
          <p:nvPr/>
        </p:nvSpPr>
        <p:spPr>
          <a:xfrm>
            <a:off x="10020300" y="3162300"/>
            <a:ext cx="1143000" cy="342900"/>
          </a:xfrm>
          <a:prstGeom prst="rect">
            <a:avLst/>
          </a:prstGeom>
          <a:noFill/>
        </p:spPr>
        <p:txBody>
          <a:bodyPr wrap="square" lIns="0" rIns="0" tIns="0" bIns="0" anchor="t">
            <a:spAutoFit/>
          </a:bodyPr>
          <a:lstStyle/>
          <a:p>
            <a:pPr algn="l"/>
            <a:r>
              <a:rPr sz="1500" b="0" i="0">
                <a:solidFill>
                  <a:srgbClr val="E8C27A"/>
                </a:solidFill>
                <a:latin typeface="Geist Mono"/>
                <a:ea typeface="Geist Mono"/>
                <a:cs typeface="Geist Mono"/>
              </a:rPr>
              <a:t>13</a:t>
            </a:r>
          </a:p>
        </p:txBody>
      </p:sp>
      <p:sp>
        <p:nvSpPr>
          <p:cNvPr id="18" name="TextBox 17"/>
          <p:cNvSpPr txBox="1"/>
          <p:nvPr/>
        </p:nvSpPr>
        <p:spPr>
          <a:xfrm>
            <a:off x="1047750" y="2857500"/>
            <a:ext cx="1905000" cy="285750"/>
          </a:xfrm>
          <a:prstGeom prst="rect">
            <a:avLst/>
          </a:prstGeom>
          <a:noFill/>
        </p:spPr>
        <p:txBody>
          <a:bodyPr wrap="square" lIns="0" rIns="0" tIns="0" bIns="0" anchor="t">
            <a:spAutoFit/>
          </a:bodyPr>
          <a:lstStyle/>
          <a:p>
            <a:pPr algn="l"/>
            <a:r>
              <a:rPr sz="1350" b="1" i="0" spc="130">
                <a:solidFill>
                  <a:srgbClr val="9A7878"/>
                </a:solidFill>
                <a:latin typeface="Geist"/>
                <a:ea typeface="Geist"/>
                <a:cs typeface="Geist"/>
              </a:rPr>
              <a:t>RPM</a:t>
            </a:r>
          </a:p>
        </p:txBody>
      </p:sp>
      <p:sp>
        <p:nvSpPr>
          <p:cNvPr id="19" name="TextBox 18"/>
          <p:cNvSpPr txBox="1"/>
          <p:nvPr/>
        </p:nvSpPr>
        <p:spPr>
          <a:xfrm>
            <a:off x="10020300" y="2857500"/>
            <a:ext cx="1143000" cy="285750"/>
          </a:xfrm>
          <a:prstGeom prst="rect">
            <a:avLst/>
          </a:prstGeom>
          <a:noFill/>
        </p:spPr>
        <p:txBody>
          <a:bodyPr wrap="square" lIns="0" rIns="0" tIns="0" bIns="0" anchor="t">
            <a:spAutoFit/>
          </a:bodyPr>
          <a:lstStyle/>
          <a:p>
            <a:pPr algn="l"/>
            <a:r>
              <a:rPr sz="1350" b="1" i="0" spc="130">
                <a:solidFill>
                  <a:srgbClr val="9A7878"/>
                </a:solidFill>
                <a:latin typeface="Geist"/>
                <a:ea typeface="Geist"/>
                <a:cs typeface="Geist"/>
              </a:rPr>
              <a:t>VOLTS</a:t>
            </a:r>
          </a:p>
        </p:txBody>
      </p:sp>
      <p:pic>
        <p:nvPicPr>
          <p:cNvPr id="20" name="Picture 19" descr="lock-fill.png"/>
          <p:cNvPicPr>
            <a:picLocks noChangeAspect="1"/>
          </p:cNvPicPr>
          <p:nvPr/>
        </p:nvPicPr>
        <p:blipFill>
          <a:blip r:embed="rId3"/>
          <a:stretch>
            <a:fillRect/>
          </a:stretch>
        </p:blipFill>
        <p:spPr>
          <a:xfrm>
            <a:off x="1638300" y="2847975"/>
            <a:ext cx="142875" cy="228600"/>
          </a:xfrm>
          <a:prstGeom prst="rect">
            <a:avLst/>
          </a:prstGeom>
        </p:spPr>
      </p:pic>
      <p:cxnSp>
        <p:nvCxnSpPr>
          <p:cNvPr id="21" name="Connector 20"/>
          <p:cNvCxnSpPr/>
          <p:nvPr/>
        </p:nvCxnSpPr>
        <p:spPr>
          <a:xfrm flipV="1">
            <a:off x="2190750" y="6442724"/>
            <a:ext cx="128588" cy="1043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319338" y="6427789"/>
            <a:ext cx="128587" cy="1493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447925" y="6406498"/>
            <a:ext cx="128587" cy="2129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576512" y="6376307"/>
            <a:ext cx="128588" cy="3019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2705100" y="6333810"/>
            <a:ext cx="128588" cy="4249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833688" y="6274613"/>
            <a:ext cx="128587" cy="5919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2962275" y="6193341"/>
            <a:ext cx="128587" cy="8127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090862" y="6083956"/>
            <a:ext cx="128588" cy="10938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219450" y="5940602"/>
            <a:ext cx="128588" cy="14335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348038" y="5759152"/>
            <a:ext cx="128587" cy="18145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476625" y="5539324"/>
            <a:ext cx="128587" cy="21982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605212" y="5286707"/>
            <a:ext cx="128588" cy="25261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733800" y="5013447"/>
            <a:ext cx="128588" cy="27326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862388" y="4736533"/>
            <a:ext cx="128587" cy="27691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990975" y="4473867"/>
            <a:ext cx="128587" cy="26266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4119562" y="4239885"/>
            <a:ext cx="128588" cy="23398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4248150" y="4042838"/>
            <a:ext cx="128588" cy="19704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4376738" y="3884594"/>
            <a:ext cx="128587" cy="15824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505325" y="3762296"/>
            <a:ext cx="128587" cy="12229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4633912" y="3670556"/>
            <a:ext cx="128588" cy="9174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762500" y="3603277"/>
            <a:ext cx="128588" cy="6727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4891088" y="3554763"/>
            <a:ext cx="128587" cy="4851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5019675" y="3520225"/>
            <a:ext cx="128587" cy="3453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148262" y="3495888"/>
            <a:ext cx="128588" cy="2433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5276850" y="3478904"/>
            <a:ext cx="128588" cy="1698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5405438" y="3467193"/>
            <a:ext cx="128587" cy="1171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5534025" y="3459275"/>
            <a:ext cx="128587" cy="791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5662612" y="3454128"/>
            <a:ext cx="128588" cy="514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5791200" y="3451079"/>
            <a:ext cx="128588" cy="304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5919788" y="3449723"/>
            <a:ext cx="128587" cy="135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048375" y="3449723"/>
            <a:ext cx="128587" cy="15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6176962" y="3449881"/>
            <a:ext cx="128588" cy="169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305550" y="3451572"/>
            <a:ext cx="128588" cy="344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434138" y="3455019"/>
            <a:ext cx="128587" cy="565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6562725" y="3460671"/>
            <a:ext cx="128587" cy="858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6691312" y="3469255"/>
            <a:ext cx="128588" cy="1260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819900" y="3481855"/>
            <a:ext cx="128588" cy="1815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6948488" y="3500013"/>
            <a:ext cx="128587" cy="2583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7077075" y="3525851"/>
            <a:ext cx="128587" cy="3633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7205662" y="3562190"/>
            <a:ext cx="128588" cy="5042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7334250" y="3612618"/>
            <a:ext cx="128588" cy="6878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7462838" y="3681400"/>
            <a:ext cx="128587" cy="9170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7591425" y="3773109"/>
            <a:ext cx="128587" cy="11867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7720012" y="3891782"/>
            <a:ext cx="128588" cy="14777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7848600" y="4039560"/>
            <a:ext cx="128588" cy="17548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7977188" y="4215041"/>
            <a:ext cx="128587" cy="19699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8105775" y="4412037"/>
            <a:ext cx="128587" cy="20768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8234362" y="4619721"/>
            <a:ext cx="128588" cy="20494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8362950" y="4824665"/>
            <a:ext cx="128588" cy="18946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8491538" y="5014126"/>
            <a:ext cx="128587" cy="16487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8620125" y="5178996"/>
            <a:ext cx="128587" cy="13608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8748712" y="5315084"/>
            <a:ext cx="128588" cy="10751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8877300" y="5422599"/>
            <a:ext cx="128588" cy="8203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9005888" y="5504637"/>
            <a:ext cx="128587" cy="6095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9134475" y="5565591"/>
            <a:ext cx="128587" cy="4439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9263062" y="5609989"/>
            <a:ext cx="128588" cy="3187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9391650" y="5641862"/>
            <a:ext cx="128588" cy="2264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520238" y="5664505"/>
            <a:ext cx="128587" cy="1596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648825" y="5680473"/>
            <a:ext cx="128587" cy="1120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9777412" y="5691675"/>
            <a:ext cx="128588" cy="782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2190750" y="3755318"/>
            <a:ext cx="128588" cy="1092"/>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2319338" y="3756410"/>
            <a:ext cx="128587" cy="1616"/>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2447925" y="3758026"/>
            <a:ext cx="128587" cy="2562"/>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2576512" y="3760588"/>
            <a:ext cx="128588" cy="4664"/>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2705100" y="3765252"/>
            <a:ext cx="128588" cy="10013"/>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2833688" y="3775265"/>
            <a:ext cx="128587" cy="23469"/>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2962275" y="3798734"/>
            <a:ext cx="128587" cy="53616"/>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3090862" y="3852350"/>
            <a:ext cx="128588" cy="110235"/>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3219450" y="3962585"/>
            <a:ext cx="128588" cy="194957"/>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3348038" y="4157542"/>
            <a:ext cx="128587" cy="287662"/>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3476625" y="4445204"/>
            <a:ext cx="128587" cy="342232"/>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3605212" y="4787436"/>
            <a:ext cx="128588" cy="307386"/>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3733800" y="5094822"/>
            <a:ext cx="128588" cy="167308"/>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862388" y="5229344"/>
            <a:ext cx="128587" cy="32786"/>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990975" y="5020856"/>
            <a:ext cx="128587" cy="208488"/>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4119562" y="4728116"/>
            <a:ext cx="128588" cy="292740"/>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4248150" y="4451664"/>
            <a:ext cx="128588" cy="276452"/>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4376738" y="4251239"/>
            <a:ext cx="128587" cy="200425"/>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4505325" y="4135286"/>
            <a:ext cx="128587" cy="115953"/>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4633912" y="4081603"/>
            <a:ext cx="128588" cy="53683"/>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4762500" y="4062589"/>
            <a:ext cx="128588" cy="19014"/>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4891088" y="4058611"/>
            <a:ext cx="128587" cy="3978"/>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5019675" y="4058611"/>
            <a:ext cx="128587" cy="936"/>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5148262" y="4059547"/>
            <a:ext cx="128588" cy="1862"/>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5276850" y="4061409"/>
            <a:ext cx="128588" cy="1618"/>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5405438" y="4063027"/>
            <a:ext cx="128587" cy="1187"/>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5534025" y="4064214"/>
            <a:ext cx="128587" cy="815"/>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5662612" y="4065029"/>
            <a:ext cx="128588" cy="532"/>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5791200" y="4065561"/>
            <a:ext cx="128588" cy="315"/>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5919788" y="4065876"/>
            <a:ext cx="128587" cy="141"/>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6048375" y="4066000"/>
            <a:ext cx="128587" cy="17"/>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6176962" y="4065825"/>
            <a:ext cx="128588" cy="175"/>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6305550" y="4065469"/>
            <a:ext cx="128588" cy="356"/>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6434138" y="4064884"/>
            <a:ext cx="128587" cy="585"/>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6562725" y="4063996"/>
            <a:ext cx="128587" cy="888"/>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6691312" y="4062693"/>
            <a:ext cx="128588" cy="1303"/>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6819900" y="4060814"/>
            <a:ext cx="128588" cy="1879"/>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6948488" y="4058141"/>
            <a:ext cx="128587" cy="2673"/>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7077075" y="4054382"/>
            <a:ext cx="128587" cy="3759"/>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205662" y="4049165"/>
            <a:ext cx="128588" cy="5217"/>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7334250" y="4042050"/>
            <a:ext cx="128588" cy="7115"/>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7462838" y="4032563"/>
            <a:ext cx="128587" cy="9487"/>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7591425" y="4020286"/>
            <a:ext cx="128587" cy="12277"/>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7720012" y="4004999"/>
            <a:ext cx="128588" cy="15287"/>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7848600" y="3986846"/>
            <a:ext cx="128588" cy="18153"/>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7977188" y="3966467"/>
            <a:ext cx="128587" cy="20379"/>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8105775" y="3944982"/>
            <a:ext cx="128587" cy="21485"/>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8234362" y="3923781"/>
            <a:ext cx="128588" cy="21201"/>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8362950" y="3904182"/>
            <a:ext cx="128588" cy="19599"/>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8491538" y="3887126"/>
            <a:ext cx="128587" cy="17056"/>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8620125" y="3873048"/>
            <a:ext cx="128587" cy="14078"/>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8748712" y="3861926"/>
            <a:ext cx="128588" cy="11122"/>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8877300" y="3853439"/>
            <a:ext cx="128588" cy="8487"/>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9005888" y="3847134"/>
            <a:ext cx="128587" cy="6305"/>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9134475" y="3842541"/>
            <a:ext cx="128587" cy="4593"/>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9263062" y="3839244"/>
            <a:ext cx="128588" cy="3297"/>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9391650" y="3836901"/>
            <a:ext cx="128588" cy="2343"/>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9520238" y="3835249"/>
            <a:ext cx="128587" cy="1652"/>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9648825" y="3834091"/>
            <a:ext cx="128587" cy="1158"/>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9777412" y="3833281"/>
            <a:ext cx="128588" cy="810"/>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sp>
        <p:nvSpPr>
          <p:cNvPr id="141" name="TextBox 140"/>
          <p:cNvSpPr txBox="1"/>
          <p:nvPr/>
        </p:nvSpPr>
        <p:spPr>
          <a:xfrm>
            <a:off x="2190750" y="6667500"/>
            <a:ext cx="3810000" cy="285750"/>
          </a:xfrm>
          <a:prstGeom prst="rect">
            <a:avLst/>
          </a:prstGeom>
          <a:noFill/>
        </p:spPr>
        <p:txBody>
          <a:bodyPr wrap="square" lIns="0" rIns="0" tIns="0" bIns="0" anchor="t">
            <a:spAutoFit/>
          </a:bodyPr>
          <a:lstStyle/>
          <a:p>
            <a:pPr algn="l"/>
            <a:r>
              <a:rPr sz="1350" b="0" i="0">
                <a:solidFill>
                  <a:srgbClr val="9A7878"/>
                </a:solidFill>
                <a:latin typeface="Geist Mono"/>
                <a:ea typeface="Geist Mono"/>
                <a:cs typeface="Geist Mono"/>
              </a:rPr>
              <a:t>GamePieceLoaded</a:t>
            </a:r>
          </a:p>
        </p:txBody>
      </p:sp>
      <p:sp>
        <p:nvSpPr>
          <p:cNvPr id="142" name="Rounded Rectangle 141"/>
          <p:cNvSpPr/>
          <p:nvPr/>
        </p:nvSpPr>
        <p:spPr>
          <a:xfrm>
            <a:off x="2190750" y="7010400"/>
            <a:ext cx="3433762" cy="419100"/>
          </a:xfrm>
          <a:prstGeom prst="roundRect">
            <a:avLst>
              <a:gd name="adj" fmla="val 13636"/>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Box 142"/>
          <p:cNvSpPr txBox="1"/>
          <p:nvPr/>
        </p:nvSpPr>
        <p:spPr>
          <a:xfrm>
            <a:off x="2305050" y="7010400"/>
            <a:ext cx="3243262" cy="419100"/>
          </a:xfrm>
          <a:prstGeom prst="rect">
            <a:avLst/>
          </a:prstGeom>
          <a:noFill/>
        </p:spPr>
        <p:txBody>
          <a:bodyPr wrap="square" lIns="0" rIns="0" tIns="0" bIns="0" anchor="ctr">
            <a:spAutoFit/>
          </a:bodyPr>
          <a:lstStyle/>
          <a:p>
            <a:pPr algn="l"/>
            <a:r>
              <a:rPr sz="1500" b="0" i="0">
                <a:solidFill>
                  <a:srgbClr val="9A7878"/>
                </a:solidFill>
                <a:latin typeface="Geist Mono"/>
                <a:ea typeface="Geist Mono"/>
                <a:cs typeface="Geist Mono"/>
              </a:rPr>
              <a:t>false</a:t>
            </a:r>
          </a:p>
        </p:txBody>
      </p:sp>
      <p:sp>
        <p:nvSpPr>
          <p:cNvPr id="144" name="Rounded Rectangle 143"/>
          <p:cNvSpPr/>
          <p:nvPr/>
        </p:nvSpPr>
        <p:spPr>
          <a:xfrm>
            <a:off x="5662612" y="7010400"/>
            <a:ext cx="2662238" cy="419100"/>
          </a:xfrm>
          <a:prstGeom prst="roundRect">
            <a:avLst>
              <a:gd name="adj" fmla="val 13636"/>
            </a:avLst>
          </a:prstGeom>
          <a:solidFill>
            <a:srgbClr val="1E3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5776912" y="7010400"/>
            <a:ext cx="2471738" cy="419100"/>
          </a:xfrm>
          <a:prstGeom prst="rect">
            <a:avLst/>
          </a:prstGeom>
          <a:noFill/>
        </p:spPr>
        <p:txBody>
          <a:bodyPr wrap="square" lIns="0" rIns="0" tIns="0" bIns="0" anchor="ctr">
            <a:spAutoFit/>
          </a:bodyPr>
          <a:lstStyle/>
          <a:p>
            <a:pPr algn="l"/>
            <a:r>
              <a:rPr sz="1500" b="0" i="0">
                <a:solidFill>
                  <a:srgbClr val="7FD49B"/>
                </a:solidFill>
                <a:latin typeface="Geist Mono"/>
                <a:ea typeface="Geist Mono"/>
                <a:cs typeface="Geist Mono"/>
              </a:rPr>
              <a:t>true</a:t>
            </a:r>
          </a:p>
        </p:txBody>
      </p:sp>
      <p:sp>
        <p:nvSpPr>
          <p:cNvPr id="146" name="Rounded Rectangle 145"/>
          <p:cNvSpPr/>
          <p:nvPr/>
        </p:nvSpPr>
        <p:spPr>
          <a:xfrm>
            <a:off x="8362950" y="7010400"/>
            <a:ext cx="1504950" cy="419100"/>
          </a:xfrm>
          <a:prstGeom prst="roundRect">
            <a:avLst>
              <a:gd name="adj" fmla="val 13636"/>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Box 146"/>
          <p:cNvSpPr txBox="1"/>
          <p:nvPr/>
        </p:nvSpPr>
        <p:spPr>
          <a:xfrm>
            <a:off x="8477250" y="7010400"/>
            <a:ext cx="1314450" cy="419100"/>
          </a:xfrm>
          <a:prstGeom prst="rect">
            <a:avLst/>
          </a:prstGeom>
          <a:noFill/>
        </p:spPr>
        <p:txBody>
          <a:bodyPr wrap="square" lIns="0" rIns="0" tIns="0" bIns="0" anchor="ctr">
            <a:spAutoFit/>
          </a:bodyPr>
          <a:lstStyle/>
          <a:p>
            <a:pPr algn="l"/>
            <a:r>
              <a:rPr sz="1500" b="0" i="0">
                <a:solidFill>
                  <a:srgbClr val="9A7878"/>
                </a:solidFill>
                <a:latin typeface="Geist Mono"/>
                <a:ea typeface="Geist Mono"/>
                <a:cs typeface="Geist Mono"/>
              </a:rPr>
              <a:t>false</a:t>
            </a:r>
          </a:p>
        </p:txBody>
      </p:sp>
      <p:cxnSp>
        <p:nvCxnSpPr>
          <p:cNvPr id="148" name="Connector 147"/>
          <p:cNvCxnSpPr/>
          <p:nvPr/>
        </p:nvCxnSpPr>
        <p:spPr>
          <a:xfrm>
            <a:off x="6434138" y="3238500"/>
            <a:ext cx="0" cy="4286250"/>
          </a:xfrm>
          <a:prstGeom prst="line">
            <a:avLst/>
          </a:prstGeom>
          <a:ln w="19050">
            <a:solidFill>
              <a:srgbClr val="9A7878"/>
            </a:solidFill>
            <a:prstDash val="dash"/>
          </a:ln>
        </p:spPr>
        <p:style>
          <a:lnRef idx="2">
            <a:schemeClr val="accent1"/>
          </a:lnRef>
          <a:fillRef idx="0">
            <a:schemeClr val="accent1"/>
          </a:fillRef>
          <a:effectRef idx="1">
            <a:schemeClr val="accent1"/>
          </a:effectRef>
          <a:fontRef idx="minor">
            <a:schemeClr val="tx1"/>
          </a:fontRef>
        </p:style>
      </p:cxnSp>
      <p:sp>
        <p:nvSpPr>
          <p:cNvPr id="149" name="Rounded Rectangle 148"/>
          <p:cNvSpPr/>
          <p:nvPr/>
        </p:nvSpPr>
        <p:spPr>
          <a:xfrm>
            <a:off x="6586538" y="3619500"/>
            <a:ext cx="2857500" cy="876300"/>
          </a:xfrm>
          <a:prstGeom prst="roundRect">
            <a:avLst>
              <a:gd name="adj" fmla="val 10869"/>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6738938" y="3714750"/>
            <a:ext cx="2571750" cy="342900"/>
          </a:xfrm>
          <a:prstGeom prst="rect">
            <a:avLst/>
          </a:prstGeom>
          <a:noFill/>
        </p:spPr>
        <p:txBody>
          <a:bodyPr wrap="square" lIns="0" rIns="0" tIns="0" bIns="0" anchor="t">
            <a:spAutoFit/>
          </a:bodyPr>
          <a:lstStyle/>
          <a:p>
            <a:pPr algn="l"/>
            <a:r>
              <a:rPr sz="1500" b="0" i="0">
                <a:solidFill>
                  <a:srgbClr val="9A7878"/>
                </a:solidFill>
                <a:latin typeface="Geist Mono"/>
                <a:ea typeface="Geist Mono"/>
                <a:cs typeface="Geist Mono"/>
              </a:rPr>
              <a:t>t = 4.2 s</a:t>
            </a:r>
          </a:p>
        </p:txBody>
      </p:sp>
      <p:sp>
        <p:nvSpPr>
          <p:cNvPr id="151" name="TextBox 150"/>
          <p:cNvSpPr txBox="1"/>
          <p:nvPr/>
        </p:nvSpPr>
        <p:spPr>
          <a:xfrm>
            <a:off x="6738938" y="4038600"/>
            <a:ext cx="2571750" cy="342900"/>
          </a:xfrm>
          <a:prstGeom prst="rect">
            <a:avLst/>
          </a:prstGeom>
          <a:noFill/>
        </p:spPr>
        <p:txBody>
          <a:bodyPr wrap="square" lIns="0" rIns="0" tIns="0" bIns="0" anchor="t">
            <a:spAutoFit/>
          </a:bodyPr>
          <a:lstStyle/>
          <a:p>
            <a:pPr algn="l"/>
            <a:r>
              <a:rPr sz="1500" b="0" i="0">
                <a:solidFill>
                  <a:srgbClr val="F0E8E8"/>
                </a:solidFill>
                <a:latin typeface="Geist Mono"/>
                <a:ea typeface="Geist Mono"/>
                <a:cs typeface="Geist Mono"/>
              </a:rPr>
              <a:t>5,790</a:t>
            </a:r>
            <a:r>
              <a:rPr sz="1500" b="0" i="0">
                <a:solidFill>
                  <a:srgbClr val="9A7878"/>
                </a:solidFill>
                <a:latin typeface="Geist Mono"/>
                <a:ea typeface="Geist Mono"/>
                <a:cs typeface="Geist Mono"/>
              </a:rPr>
              <a:t>  RPM   </a:t>
            </a:r>
            <a:r>
              <a:rPr sz="1500" b="0" i="0">
                <a:solidFill>
                  <a:srgbClr val="E8C27A"/>
                </a:solidFill>
                <a:latin typeface="Geist Mono"/>
                <a:ea typeface="Geist Mono"/>
                <a:cs typeface="Geist Mono"/>
              </a:rPr>
              <a:t>12.3</a:t>
            </a:r>
            <a:r>
              <a:rPr sz="1500" b="0" i="0">
                <a:solidFill>
                  <a:srgbClr val="9A7878"/>
                </a:solidFill>
                <a:latin typeface="Geist Mono"/>
                <a:ea typeface="Geist Mono"/>
                <a:cs typeface="Geist Mono"/>
              </a:rPr>
              <a:t> V</a:t>
            </a:r>
          </a:p>
        </p:txBody>
      </p:sp>
      <p:sp>
        <p:nvSpPr>
          <p:cNvPr id="152" name="TextBox 151"/>
          <p:cNvSpPr txBox="1"/>
          <p:nvPr/>
        </p:nvSpPr>
        <p:spPr>
          <a:xfrm>
            <a:off x="2190750" y="7905750"/>
            <a:ext cx="3810000" cy="285750"/>
          </a:xfrm>
          <a:prstGeom prst="rect">
            <a:avLst/>
          </a:prstGeom>
          <a:noFill/>
        </p:spPr>
        <p:txBody>
          <a:bodyPr wrap="square" lIns="0" rIns="0" tIns="0" bIns="0" anchor="t">
            <a:spAutoFit/>
          </a:bodyPr>
          <a:lstStyle/>
          <a:p>
            <a:pPr algn="l"/>
            <a:r>
              <a:rPr sz="1500" b="0" i="0">
                <a:solidFill>
                  <a:srgbClr val="9A7878"/>
                </a:solidFill>
                <a:latin typeface="Geist"/>
                <a:ea typeface="Geist"/>
                <a:cs typeface="Geist"/>
              </a:rPr>
              <a:t>time →</a:t>
            </a:r>
          </a:p>
        </p:txBody>
      </p:sp>
      <p:sp>
        <p:nvSpPr>
          <p:cNvPr id="153" name="Oval 152"/>
          <p:cNvSpPr/>
          <p:nvPr/>
        </p:nvSpPr>
        <p:spPr>
          <a:xfrm>
            <a:off x="10668000" y="53340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10668000" y="53340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55" name="Oval 154"/>
          <p:cNvSpPr/>
          <p:nvPr/>
        </p:nvSpPr>
        <p:spPr>
          <a:xfrm>
            <a:off x="1962150" y="27813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1962150" y="27813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57" name="Oval 156"/>
          <p:cNvSpPr/>
          <p:nvPr/>
        </p:nvSpPr>
        <p:spPr>
          <a:xfrm>
            <a:off x="1676400" y="70294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1676400" y="70294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59" name="Oval 158"/>
          <p:cNvSpPr/>
          <p:nvPr/>
        </p:nvSpPr>
        <p:spPr>
          <a:xfrm>
            <a:off x="6243638" y="28194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6243638" y="28194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161" name="Oval 160"/>
          <p:cNvSpPr/>
          <p:nvPr/>
        </p:nvSpPr>
        <p:spPr>
          <a:xfrm>
            <a:off x="11906250" y="285750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11906250" y="285750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63" name="TextBox 162"/>
          <p:cNvSpPr txBox="1"/>
          <p:nvPr/>
        </p:nvSpPr>
        <p:spPr>
          <a:xfrm>
            <a:off x="12592050" y="2819400"/>
            <a:ext cx="4762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Two axes</a:t>
            </a:r>
          </a:p>
        </p:txBody>
      </p:sp>
      <p:sp>
        <p:nvSpPr>
          <p:cNvPr id="164" name="TextBox 163"/>
          <p:cNvSpPr txBox="1"/>
          <p:nvPr/>
        </p:nvSpPr>
        <p:spPr>
          <a:xfrm>
            <a:off x="12592050" y="3276600"/>
            <a:ext cx="4762500" cy="762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Left and right each have their own scale</a:t>
            </a:r>
          </a:p>
        </p:txBody>
      </p:sp>
      <p:sp>
        <p:nvSpPr>
          <p:cNvPr id="165" name="Oval 164"/>
          <p:cNvSpPr/>
          <p:nvPr/>
        </p:nvSpPr>
        <p:spPr>
          <a:xfrm>
            <a:off x="11906250" y="438150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11906250" y="438150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67" name="TextBox 166"/>
          <p:cNvSpPr txBox="1"/>
          <p:nvPr/>
        </p:nvSpPr>
        <p:spPr>
          <a:xfrm>
            <a:off x="12592050" y="4343400"/>
            <a:ext cx="4762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Lock the range</a:t>
            </a:r>
          </a:p>
        </p:txBody>
      </p:sp>
      <p:sp>
        <p:nvSpPr>
          <p:cNvPr id="168" name="TextBox 167"/>
          <p:cNvSpPr txBox="1"/>
          <p:nvPr/>
        </p:nvSpPr>
        <p:spPr>
          <a:xfrm>
            <a:off x="12592050" y="4800600"/>
            <a:ext cx="4762500" cy="762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The lock stops the scale from jumping</a:t>
            </a:r>
          </a:p>
        </p:txBody>
      </p:sp>
      <p:sp>
        <p:nvSpPr>
          <p:cNvPr id="169" name="Oval 168"/>
          <p:cNvSpPr/>
          <p:nvPr/>
        </p:nvSpPr>
        <p:spPr>
          <a:xfrm>
            <a:off x="11906250" y="590550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11906250" y="590550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71" name="TextBox 170"/>
          <p:cNvSpPr txBox="1"/>
          <p:nvPr/>
        </p:nvSpPr>
        <p:spPr>
          <a:xfrm>
            <a:off x="12592050" y="5867400"/>
            <a:ext cx="4762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Discrete fields</a:t>
            </a:r>
          </a:p>
        </p:txBody>
      </p:sp>
      <p:sp>
        <p:nvSpPr>
          <p:cNvPr id="172" name="TextBox 171"/>
          <p:cNvSpPr txBox="1"/>
          <p:nvPr/>
        </p:nvSpPr>
        <p:spPr>
          <a:xfrm>
            <a:off x="12592050" y="6324600"/>
            <a:ext cx="4762500" cy="762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true/false and text as colored bands</a:t>
            </a:r>
          </a:p>
        </p:txBody>
      </p:sp>
      <p:sp>
        <p:nvSpPr>
          <p:cNvPr id="173" name="Oval 172"/>
          <p:cNvSpPr/>
          <p:nvPr/>
        </p:nvSpPr>
        <p:spPr>
          <a:xfrm>
            <a:off x="11906250" y="742950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11906250" y="742950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175" name="TextBox 174"/>
          <p:cNvSpPr txBox="1"/>
          <p:nvPr/>
        </p:nvSpPr>
        <p:spPr>
          <a:xfrm>
            <a:off x="12592050" y="7391400"/>
            <a:ext cx="4762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Hover and zoom</a:t>
            </a:r>
          </a:p>
        </p:txBody>
      </p:sp>
      <p:sp>
        <p:nvSpPr>
          <p:cNvPr id="176" name="TextBox 175"/>
          <p:cNvSpPr txBox="1"/>
          <p:nvPr/>
        </p:nvSpPr>
        <p:spPr>
          <a:xfrm>
            <a:off x="12592050" y="7848600"/>
            <a:ext cx="4762500" cy="762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Read exact values; scroll to zoom in time</a:t>
            </a:r>
          </a:p>
        </p:txBody>
      </p:sp>
      <p:sp>
        <p:nvSpPr>
          <p:cNvPr id="177" name="TextBox 176"/>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78" name="TextBox 177"/>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A tab for every job</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914400" y="2819400"/>
            <a:ext cx="4556989" cy="2857500"/>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hot_as_line-graph-1_tile.jpg"/>
          <p:cNvPicPr>
            <a:picLocks noChangeAspect="1"/>
          </p:cNvPicPr>
          <p:nvPr/>
        </p:nvPicPr>
        <p:blipFill>
          <a:blip r:embed="rId3"/>
          <a:stretch>
            <a:fillRect/>
          </a:stretch>
        </p:blipFill>
        <p:spPr>
          <a:xfrm>
            <a:off x="914400" y="2819400"/>
            <a:ext cx="4556989" cy="2857500"/>
          </a:xfrm>
          <a:prstGeom prst="rect">
            <a:avLst/>
          </a:prstGeom>
        </p:spPr>
      </p:pic>
      <p:sp>
        <p:nvSpPr>
          <p:cNvPr id="7" name="Rectangle 6"/>
          <p:cNvSpPr/>
          <p:nvPr/>
        </p:nvSpPr>
        <p:spPr>
          <a:xfrm>
            <a:off x="914400" y="2819400"/>
            <a:ext cx="4556989" cy="2857500"/>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753100" y="3581400"/>
            <a:ext cx="3143250" cy="4191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Line Graph</a:t>
            </a:r>
          </a:p>
        </p:txBody>
      </p:sp>
      <p:sp>
        <p:nvSpPr>
          <p:cNvPr id="9" name="TextBox 8"/>
          <p:cNvSpPr txBox="1"/>
          <p:nvPr/>
        </p:nvSpPr>
        <p:spPr>
          <a:xfrm>
            <a:off x="5753100" y="4076700"/>
            <a:ext cx="3143250" cy="1143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Numbers and true/false over time</a:t>
            </a:r>
          </a:p>
        </p:txBody>
      </p:sp>
      <p:sp>
        <p:nvSpPr>
          <p:cNvPr id="10" name="Rectangle 9"/>
          <p:cNvSpPr/>
          <p:nvPr/>
        </p:nvSpPr>
        <p:spPr>
          <a:xfrm>
            <a:off x="9334500" y="2819400"/>
            <a:ext cx="4556989" cy="2857500"/>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shot_as_2d-field-1_tile.jpg"/>
          <p:cNvPicPr>
            <a:picLocks noChangeAspect="1"/>
          </p:cNvPicPr>
          <p:nvPr/>
        </p:nvPicPr>
        <p:blipFill>
          <a:blip r:embed="rId4"/>
          <a:stretch>
            <a:fillRect/>
          </a:stretch>
        </p:blipFill>
        <p:spPr>
          <a:xfrm>
            <a:off x="9334500" y="2819400"/>
            <a:ext cx="4556989" cy="2857500"/>
          </a:xfrm>
          <a:prstGeom prst="rect">
            <a:avLst/>
          </a:prstGeom>
        </p:spPr>
      </p:pic>
      <p:sp>
        <p:nvSpPr>
          <p:cNvPr id="12" name="Rectangle 11"/>
          <p:cNvSpPr/>
          <p:nvPr/>
        </p:nvSpPr>
        <p:spPr>
          <a:xfrm>
            <a:off x="9334500" y="2819400"/>
            <a:ext cx="4556989" cy="2857500"/>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4173200" y="3581400"/>
            <a:ext cx="3143250" cy="4191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2D Field</a:t>
            </a:r>
          </a:p>
        </p:txBody>
      </p:sp>
      <p:sp>
        <p:nvSpPr>
          <p:cNvPr id="14" name="TextBox 13"/>
          <p:cNvSpPr txBox="1"/>
          <p:nvPr/>
        </p:nvSpPr>
        <p:spPr>
          <a:xfrm>
            <a:off x="14173200" y="4076700"/>
            <a:ext cx="3143250" cy="1143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Where the robot is, from above</a:t>
            </a:r>
          </a:p>
        </p:txBody>
      </p:sp>
      <p:sp>
        <p:nvSpPr>
          <p:cNvPr id="15" name="Rectangle 14"/>
          <p:cNvSpPr/>
          <p:nvPr/>
        </p:nvSpPr>
        <p:spPr>
          <a:xfrm>
            <a:off x="914400" y="5962650"/>
            <a:ext cx="4556989" cy="2857500"/>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shot_as_3d-field-1_tile.jpg"/>
          <p:cNvPicPr>
            <a:picLocks noChangeAspect="1"/>
          </p:cNvPicPr>
          <p:nvPr/>
        </p:nvPicPr>
        <p:blipFill>
          <a:blip r:embed="rId5"/>
          <a:stretch>
            <a:fillRect/>
          </a:stretch>
        </p:blipFill>
        <p:spPr>
          <a:xfrm>
            <a:off x="914400" y="5962650"/>
            <a:ext cx="4556989" cy="2857500"/>
          </a:xfrm>
          <a:prstGeom prst="rect">
            <a:avLst/>
          </a:prstGeom>
        </p:spPr>
      </p:pic>
      <p:sp>
        <p:nvSpPr>
          <p:cNvPr id="17" name="Rectangle 16"/>
          <p:cNvSpPr/>
          <p:nvPr/>
        </p:nvSpPr>
        <p:spPr>
          <a:xfrm>
            <a:off x="914400" y="5962650"/>
            <a:ext cx="4556989" cy="2857500"/>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753100" y="6724650"/>
            <a:ext cx="3143250" cy="4191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3D Field</a:t>
            </a:r>
          </a:p>
        </p:txBody>
      </p:sp>
      <p:sp>
        <p:nvSpPr>
          <p:cNvPr id="19" name="TextBox 18"/>
          <p:cNvSpPr txBox="1"/>
          <p:nvPr/>
        </p:nvSpPr>
        <p:spPr>
          <a:xfrm>
            <a:off x="5753100" y="7219950"/>
            <a:ext cx="3143250" cy="1143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The whole robot and its mechanisms</a:t>
            </a:r>
          </a:p>
        </p:txBody>
      </p:sp>
      <p:sp>
        <p:nvSpPr>
          <p:cNvPr id="20" name="Rectangle 19"/>
          <p:cNvSpPr/>
          <p:nvPr/>
        </p:nvSpPr>
        <p:spPr>
          <a:xfrm>
            <a:off x="9334500" y="5962650"/>
            <a:ext cx="4556989" cy="2857500"/>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shot_as_swerve-1_tile.jpg"/>
          <p:cNvPicPr>
            <a:picLocks noChangeAspect="1"/>
          </p:cNvPicPr>
          <p:nvPr/>
        </p:nvPicPr>
        <p:blipFill>
          <a:blip r:embed="rId6"/>
          <a:stretch>
            <a:fillRect/>
          </a:stretch>
        </p:blipFill>
        <p:spPr>
          <a:xfrm>
            <a:off x="9334500" y="5962650"/>
            <a:ext cx="4556989" cy="2857500"/>
          </a:xfrm>
          <a:prstGeom prst="rect">
            <a:avLst/>
          </a:prstGeom>
        </p:spPr>
      </p:pic>
      <p:sp>
        <p:nvSpPr>
          <p:cNvPr id="22" name="Rectangle 21"/>
          <p:cNvSpPr/>
          <p:nvPr/>
        </p:nvSpPr>
        <p:spPr>
          <a:xfrm>
            <a:off x="9334500" y="5962650"/>
            <a:ext cx="4556989" cy="2857500"/>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4173200" y="6724650"/>
            <a:ext cx="3143250" cy="4191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Swerve</a:t>
            </a:r>
          </a:p>
        </p:txBody>
      </p:sp>
      <p:sp>
        <p:nvSpPr>
          <p:cNvPr id="24" name="TextBox 23"/>
          <p:cNvSpPr txBox="1"/>
          <p:nvPr/>
        </p:nvSpPr>
        <p:spPr>
          <a:xfrm>
            <a:off x="14173200" y="7219950"/>
            <a:ext cx="3143250" cy="1143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Each wheel's speed and direction</a:t>
            </a:r>
          </a:p>
        </p:txBody>
      </p:sp>
      <p:sp>
        <p:nvSpPr>
          <p:cNvPr id="25" name="TextBox 2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6" name="TextBox 2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Differentiate: how fast is it changing?</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6459200" cy="6286500"/>
          </a:xfrm>
          <a:prstGeom prst="roundRect">
            <a:avLst>
              <a:gd name="adj" fmla="val 242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2857500" y="2952750"/>
            <a:ext cx="5356860" cy="590550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048000" y="3028950"/>
            <a:ext cx="4975860" cy="342900"/>
          </a:xfrm>
          <a:prstGeom prst="rect">
            <a:avLst/>
          </a:prstGeom>
          <a:noFill/>
        </p:spPr>
        <p:txBody>
          <a:bodyPr wrap="square" lIns="0" rIns="0" tIns="0" bIns="0" anchor="t">
            <a:spAutoFit/>
          </a:bodyPr>
          <a:lstStyle/>
          <a:p>
            <a:pPr algn="l"/>
            <a:r>
              <a:rPr sz="1500" b="1" i="0" spc="130">
                <a:solidFill>
                  <a:srgbClr val="CC2200"/>
                </a:solidFill>
                <a:latin typeface="Geist"/>
                <a:ea typeface="Geist"/>
                <a:cs typeface="Geist"/>
              </a:rPr>
              <a:t>SPINNING UP</a:t>
            </a:r>
          </a:p>
        </p:txBody>
      </p:sp>
      <p:sp>
        <p:nvSpPr>
          <p:cNvPr id="8" name="TextBox 7"/>
          <p:cNvSpPr txBox="1"/>
          <p:nvPr/>
        </p:nvSpPr>
        <p:spPr>
          <a:xfrm>
            <a:off x="3048000" y="3352800"/>
            <a:ext cx="4975860" cy="3429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derivative is big</a:t>
            </a:r>
          </a:p>
        </p:txBody>
      </p:sp>
      <p:sp>
        <p:nvSpPr>
          <p:cNvPr id="9" name="TextBox 8"/>
          <p:cNvSpPr txBox="1"/>
          <p:nvPr/>
        </p:nvSpPr>
        <p:spPr>
          <a:xfrm>
            <a:off x="8404860" y="3028950"/>
            <a:ext cx="3002280" cy="342900"/>
          </a:xfrm>
          <a:prstGeom prst="rect">
            <a:avLst/>
          </a:prstGeom>
          <a:noFill/>
        </p:spPr>
        <p:txBody>
          <a:bodyPr wrap="square" lIns="0" rIns="0" tIns="0" bIns="0" anchor="t">
            <a:spAutoFit/>
          </a:bodyPr>
          <a:lstStyle/>
          <a:p>
            <a:pPr algn="l"/>
            <a:r>
              <a:rPr sz="1500" b="1" i="0" spc="130">
                <a:solidFill>
                  <a:srgbClr val="9A7878"/>
                </a:solidFill>
                <a:latin typeface="Geist"/>
                <a:ea typeface="Geist"/>
                <a:cs typeface="Geist"/>
              </a:rPr>
              <a:t>HOLDING SPEED</a:t>
            </a:r>
          </a:p>
        </p:txBody>
      </p:sp>
      <p:sp>
        <p:nvSpPr>
          <p:cNvPr id="10" name="TextBox 9"/>
          <p:cNvSpPr txBox="1"/>
          <p:nvPr/>
        </p:nvSpPr>
        <p:spPr>
          <a:xfrm>
            <a:off x="8404860" y="3352800"/>
            <a:ext cx="3002280" cy="3429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derivative is zero</a:t>
            </a:r>
          </a:p>
        </p:txBody>
      </p:sp>
      <p:sp>
        <p:nvSpPr>
          <p:cNvPr id="11" name="TextBox 10"/>
          <p:cNvSpPr txBox="1"/>
          <p:nvPr/>
        </p:nvSpPr>
        <p:spPr>
          <a:xfrm>
            <a:off x="11788140" y="3028950"/>
            <a:ext cx="4975860" cy="342900"/>
          </a:xfrm>
          <a:prstGeom prst="rect">
            <a:avLst/>
          </a:prstGeom>
          <a:noFill/>
        </p:spPr>
        <p:txBody>
          <a:bodyPr wrap="square" lIns="0" rIns="0" tIns="0" bIns="0" anchor="t">
            <a:spAutoFit/>
          </a:bodyPr>
          <a:lstStyle/>
          <a:p>
            <a:pPr algn="l"/>
            <a:r>
              <a:rPr sz="1500" b="1" i="0" spc="130">
                <a:solidFill>
                  <a:srgbClr val="9A7878"/>
                </a:solidFill>
                <a:latin typeface="Geist"/>
                <a:ea typeface="Geist"/>
                <a:cs typeface="Geist"/>
              </a:rPr>
              <a:t>SLOWING DOWN</a:t>
            </a:r>
          </a:p>
        </p:txBody>
      </p:sp>
      <p:sp>
        <p:nvSpPr>
          <p:cNvPr id="12" name="TextBox 11"/>
          <p:cNvSpPr txBox="1"/>
          <p:nvPr/>
        </p:nvSpPr>
        <p:spPr>
          <a:xfrm>
            <a:off x="11788140" y="3352800"/>
            <a:ext cx="4975860" cy="3429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derivative is negative</a:t>
            </a:r>
          </a:p>
        </p:txBody>
      </p:sp>
      <p:cxnSp>
        <p:nvCxnSpPr>
          <p:cNvPr id="13" name="Connector 12"/>
          <p:cNvCxnSpPr/>
          <p:nvPr/>
        </p:nvCxnSpPr>
        <p:spPr>
          <a:xfrm>
            <a:off x="8214360" y="2952750"/>
            <a:ext cx="0" cy="5905500"/>
          </a:xfrm>
          <a:prstGeom prst="line">
            <a:avLst/>
          </a:prstGeom>
          <a:ln w="19050">
            <a:solidFill>
              <a:srgbClr val="2A1A1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1597640" y="2952750"/>
            <a:ext cx="0" cy="5905500"/>
          </a:xfrm>
          <a:prstGeom prst="line">
            <a:avLst/>
          </a:prstGeom>
          <a:ln w="19050">
            <a:solidFill>
              <a:srgbClr val="2A1A1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857500" y="5874291"/>
            <a:ext cx="176212" cy="855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033712" y="5862576"/>
            <a:ext cx="176213" cy="1171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209925" y="5846601"/>
            <a:ext cx="176213" cy="1597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3386138" y="5824938"/>
            <a:ext cx="176212" cy="2166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562350" y="5795782"/>
            <a:ext cx="176212" cy="2915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8562" y="5756933"/>
            <a:ext cx="176213" cy="3884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914775" y="5705858"/>
            <a:ext cx="176213" cy="5107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4090988" y="5639880"/>
            <a:ext cx="176212" cy="6597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4267200" y="5556558"/>
            <a:ext cx="176212" cy="8332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4443412" y="5454293"/>
            <a:ext cx="176213" cy="10226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4619625" y="5333083"/>
            <a:ext cx="176213" cy="12121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4795838" y="5195220"/>
            <a:ext cx="176212" cy="13786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4972050" y="5045580"/>
            <a:ext cx="176212" cy="14964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5148262" y="4891180"/>
            <a:ext cx="176213" cy="15440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5324475" y="4739976"/>
            <a:ext cx="176213" cy="15120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500688" y="4599289"/>
            <a:ext cx="176212" cy="14068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5676900" y="4474484"/>
            <a:ext cx="176212" cy="12480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5853112" y="4368368"/>
            <a:ext cx="176213" cy="10611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029325" y="4281350"/>
            <a:ext cx="176213" cy="8701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6205538" y="4212087"/>
            <a:ext cx="176212" cy="6926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6381750" y="4158252"/>
            <a:ext cx="176212" cy="5383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6557962" y="4117178"/>
            <a:ext cx="176213" cy="4107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734175" y="4086283"/>
            <a:ext cx="176213" cy="3089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6910388" y="4063294"/>
            <a:ext cx="176212" cy="2298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7086600" y="4046327"/>
            <a:ext cx="176212" cy="1696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262812" y="4033883"/>
            <a:ext cx="176213" cy="1244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7439025" y="4024801"/>
            <a:ext cx="176213" cy="908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7615238" y="4018202"/>
            <a:ext cx="176212" cy="659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7791450" y="4013428"/>
            <a:ext cx="176212" cy="477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7967662" y="4009993"/>
            <a:ext cx="176213" cy="343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8143875" y="4007542"/>
            <a:ext cx="176213" cy="245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8320088" y="4005816"/>
            <a:ext cx="176212" cy="172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8496300" y="4004631"/>
            <a:ext cx="176212" cy="118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8672512" y="4003854"/>
            <a:ext cx="176213" cy="77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8848725" y="4003397"/>
            <a:ext cx="176213" cy="45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9024938" y="4003200"/>
            <a:ext cx="176212" cy="19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9201150" y="4003200"/>
            <a:ext cx="176212" cy="3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9377362" y="4003230"/>
            <a:ext cx="176213" cy="24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9553575" y="4003473"/>
            <a:ext cx="176213" cy="45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729788" y="4003931"/>
            <a:ext cx="176212" cy="69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906000" y="4004626"/>
            <a:ext cx="176212" cy="96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0082212" y="4005594"/>
            <a:ext cx="176213" cy="129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0258425" y="4006890"/>
            <a:ext cx="176213" cy="170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0434638" y="4008590"/>
            <a:ext cx="176212" cy="220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0610850" y="4010797"/>
            <a:ext cx="176212" cy="284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0787062" y="4013643"/>
            <a:ext cx="176213" cy="365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0963275" y="4017295"/>
            <a:ext cx="176213" cy="467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1139488" y="4021970"/>
            <a:ext cx="176212" cy="596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1315700" y="4027938"/>
            <a:ext cx="176212" cy="759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1491912" y="4035537"/>
            <a:ext cx="176213" cy="964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1668125" y="4045186"/>
            <a:ext cx="176213" cy="1221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11844338" y="4057396"/>
            <a:ext cx="176212" cy="1538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12020550" y="4072784"/>
            <a:ext cx="176212" cy="1929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12196762" y="4092077"/>
            <a:ext cx="176213" cy="2403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12372975" y="4116112"/>
            <a:ext cx="176213" cy="2970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12549188" y="4145815"/>
            <a:ext cx="176212" cy="3635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12725400" y="4182167"/>
            <a:ext cx="176212" cy="4395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2901612" y="4226125"/>
            <a:ext cx="176213" cy="5239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13077825" y="4278518"/>
            <a:ext cx="176213" cy="6137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13254038" y="4339896"/>
            <a:ext cx="176212" cy="7047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13430250" y="4410367"/>
            <a:ext cx="176212" cy="7906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13606462" y="4489432"/>
            <a:ext cx="176213" cy="8644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782675" y="4575872"/>
            <a:ext cx="176213" cy="9187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3958888" y="4667743"/>
            <a:ext cx="176212" cy="9475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4135100" y="4762500"/>
            <a:ext cx="176212" cy="9475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4311312" y="4857257"/>
            <a:ext cx="176213" cy="9187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14487525" y="4949128"/>
            <a:ext cx="176213" cy="8644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14663738" y="5035568"/>
            <a:ext cx="176212" cy="7906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4839950" y="5114633"/>
            <a:ext cx="176212" cy="7047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15016162" y="5185105"/>
            <a:ext cx="176213" cy="6137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15192375" y="5246484"/>
            <a:ext cx="176213" cy="5239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15368588" y="5298876"/>
            <a:ext cx="176212" cy="4395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15544800" y="5342835"/>
            <a:ext cx="176212" cy="3635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15721012" y="5379187"/>
            <a:ext cx="176213" cy="2970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5897225" y="5408892"/>
            <a:ext cx="176213" cy="2403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16073438" y="5432928"/>
            <a:ext cx="176212" cy="1929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16249650" y="5452223"/>
            <a:ext cx="176212" cy="1539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16425862" y="5467614"/>
            <a:ext cx="176213" cy="1221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16602075" y="5479828"/>
            <a:ext cx="176213" cy="965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6778288" y="5489482"/>
            <a:ext cx="176212" cy="760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1143000" y="4762500"/>
            <a:ext cx="1619250" cy="381000"/>
          </a:xfrm>
          <a:prstGeom prst="rect">
            <a:avLst/>
          </a:prstGeom>
          <a:noFill/>
        </p:spPr>
        <p:txBody>
          <a:bodyPr wrap="square" lIns="0" rIns="0" tIns="0" bIns="0" anchor="t">
            <a:spAutoFit/>
          </a:bodyPr>
          <a:lstStyle/>
          <a:p>
            <a:pPr algn="l"/>
            <a:r>
              <a:rPr sz="1500" b="1" i="0">
                <a:solidFill>
                  <a:srgbClr val="F0E8E8"/>
                </a:solidFill>
                <a:latin typeface="Geist Mono"/>
                <a:ea typeface="Geist Mono"/>
                <a:cs typeface="Geist Mono"/>
              </a:rPr>
              <a:t>FlywheelRPM</a:t>
            </a:r>
          </a:p>
        </p:txBody>
      </p:sp>
      <p:cxnSp>
        <p:nvCxnSpPr>
          <p:cNvPr id="96" name="Connector 95"/>
          <p:cNvCxnSpPr/>
          <p:nvPr/>
        </p:nvCxnSpPr>
        <p:spPr>
          <a:xfrm>
            <a:off x="2857500" y="7524750"/>
            <a:ext cx="14097000" cy="0"/>
          </a:xfrm>
          <a:prstGeom prst="line">
            <a:avLst/>
          </a:prstGeom>
          <a:ln w="19050">
            <a:solidFill>
              <a:srgbClr val="9A7878"/>
            </a:solidFill>
            <a:prstDash val="dash"/>
          </a:ln>
        </p:spPr>
        <p:style>
          <a:lnRef idx="2">
            <a:schemeClr val="accent1"/>
          </a:lnRef>
          <a:fillRef idx="0">
            <a:schemeClr val="accent1"/>
          </a:fillRef>
          <a:effectRef idx="1">
            <a:schemeClr val="accent1"/>
          </a:effectRef>
          <a:fontRef idx="minor">
            <a:schemeClr val="tx1"/>
          </a:fontRef>
        </p:style>
      </p:cxnSp>
      <p:sp>
        <p:nvSpPr>
          <p:cNvPr id="97" name="TextBox 96"/>
          <p:cNvSpPr txBox="1"/>
          <p:nvPr/>
        </p:nvSpPr>
        <p:spPr>
          <a:xfrm>
            <a:off x="2381250" y="7381875"/>
            <a:ext cx="38100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a:t>
            </a:r>
          </a:p>
        </p:txBody>
      </p:sp>
      <p:cxnSp>
        <p:nvCxnSpPr>
          <p:cNvPr id="98" name="Connector 97"/>
          <p:cNvCxnSpPr/>
          <p:nvPr/>
        </p:nvCxnSpPr>
        <p:spPr>
          <a:xfrm flipV="1">
            <a:off x="2857500" y="7450471"/>
            <a:ext cx="176212" cy="45481"/>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033712" y="7423237"/>
            <a:ext cx="176213" cy="2723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209925" y="7386672"/>
            <a:ext cx="176213" cy="36565"/>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386138" y="7338138"/>
            <a:ext cx="176212" cy="4853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562350" y="7274721"/>
            <a:ext cx="176212" cy="63417"/>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38562" y="7193615"/>
            <a:ext cx="176213" cy="8110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914775" y="7092875"/>
            <a:ext cx="176213" cy="100740"/>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4090988" y="6972622"/>
            <a:ext cx="176212" cy="12025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4267200" y="6836637"/>
            <a:ext cx="176212" cy="135985"/>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4443412" y="6693884"/>
            <a:ext cx="176213" cy="14275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4619625" y="6559048"/>
            <a:ext cx="176213" cy="13483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4795838" y="6450863"/>
            <a:ext cx="176212" cy="108185"/>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4972050" y="6387730"/>
            <a:ext cx="176212" cy="6313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5148262" y="6381750"/>
            <a:ext cx="176213" cy="5980"/>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5324475" y="6381750"/>
            <a:ext cx="176213" cy="5237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5500688" y="6434123"/>
            <a:ext cx="176212" cy="100538"/>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5676900" y="6534661"/>
            <a:ext cx="176212" cy="131080"/>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5853112" y="6665741"/>
            <a:ext cx="176213" cy="14252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6029325" y="6808263"/>
            <a:ext cx="176213" cy="138251"/>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6205538" y="6946514"/>
            <a:ext cx="176212" cy="123860"/>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6381750" y="7070374"/>
            <a:ext cx="176212" cy="104758"/>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6557962" y="7175132"/>
            <a:ext cx="176213" cy="84940"/>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6734175" y="7260072"/>
            <a:ext cx="176213" cy="66767"/>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6910388" y="7326839"/>
            <a:ext cx="176212" cy="5130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7086600" y="7378142"/>
            <a:ext cx="176212" cy="3877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7262812" y="7416914"/>
            <a:ext cx="176213" cy="2895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7439025" y="7445870"/>
            <a:ext cx="176213" cy="2144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7615238" y="7467314"/>
            <a:ext cx="176212" cy="1579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7791450" y="7483106"/>
            <a:ext cx="176212" cy="11595"/>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7967662" y="7494701"/>
            <a:ext cx="176213" cy="8507"/>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8143875" y="7503208"/>
            <a:ext cx="176213" cy="6258"/>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8320088" y="7509466"/>
            <a:ext cx="176212" cy="463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8496300" y="7514100"/>
            <a:ext cx="176212" cy="347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8672512" y="7517576"/>
            <a:ext cx="176213" cy="2669"/>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8848725" y="7520245"/>
            <a:ext cx="176213" cy="2125"/>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a:off x="9024938" y="7522370"/>
            <a:ext cx="176212" cy="178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9201150" y="7524156"/>
            <a:ext cx="176212" cy="1611"/>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9377362" y="7525767"/>
            <a:ext cx="176213" cy="157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a:off x="9553575" y="7527340"/>
            <a:ext cx="176213" cy="166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a:off x="9729788" y="7529002"/>
            <a:ext cx="176212" cy="187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a:off x="9906000" y="7530875"/>
            <a:ext cx="176212" cy="221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a:off x="10082212" y="7533087"/>
            <a:ext cx="176213" cy="2699"/>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a:off x="10258425" y="7535786"/>
            <a:ext cx="176213" cy="335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a:off x="10434638" y="7539140"/>
            <a:ext cx="176212" cy="421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a:off x="10610850" y="7543354"/>
            <a:ext cx="176212" cy="532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a:off x="10787062" y="7548678"/>
            <a:ext cx="176213" cy="674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10963275" y="7555420"/>
            <a:ext cx="176213" cy="853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a:off x="11139488" y="7563953"/>
            <a:ext cx="176212" cy="1078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11315700" y="7574735"/>
            <a:ext cx="176212" cy="13578"/>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11491912" y="7588313"/>
            <a:ext cx="176213" cy="17020"/>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11668125" y="7605333"/>
            <a:ext cx="176213" cy="2119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11844338" y="7626529"/>
            <a:ext cx="176212" cy="26181"/>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12020550" y="7652710"/>
            <a:ext cx="176212" cy="31997"/>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12196762" y="7684707"/>
            <a:ext cx="176213" cy="3857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12372975" y="7723283"/>
            <a:ext cx="176213" cy="4571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12549188" y="7768997"/>
            <a:ext cx="176212" cy="53000"/>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12725400" y="7821997"/>
            <a:ext cx="176212" cy="5976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12901612" y="7881761"/>
            <a:ext cx="176213" cy="65055"/>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13077825" y="7946816"/>
            <a:ext cx="176213" cy="6768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13254038" y="8014498"/>
            <a:ext cx="176212" cy="66377"/>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13430250" y="8080875"/>
            <a:ext cx="176212" cy="60070"/>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13606462" y="8140945"/>
            <a:ext cx="176213" cy="48269"/>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13782675" y="8189214"/>
            <a:ext cx="176213" cy="3139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13958888" y="8220607"/>
            <a:ext cx="176212" cy="1090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14135100" y="8220608"/>
            <a:ext cx="176212" cy="1090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14311312" y="8189214"/>
            <a:ext cx="176213" cy="3139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14487525" y="8140945"/>
            <a:ext cx="176213" cy="48269"/>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14663738" y="8080876"/>
            <a:ext cx="176212" cy="60069"/>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14839950" y="8014500"/>
            <a:ext cx="176212" cy="6637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15016162" y="7946818"/>
            <a:ext cx="176213" cy="6768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15192375" y="7881764"/>
            <a:ext cx="176213" cy="6505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15368588" y="7822001"/>
            <a:ext cx="176212" cy="5976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15544800" y="7769004"/>
            <a:ext cx="176212" cy="52997"/>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15721012" y="7723293"/>
            <a:ext cx="176213" cy="45711"/>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15897225" y="7684720"/>
            <a:ext cx="176213" cy="3857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16073438" y="7652728"/>
            <a:ext cx="176212" cy="3199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16249650" y="7626553"/>
            <a:ext cx="176212" cy="26175"/>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16425862" y="7605366"/>
            <a:ext cx="176213" cy="21187"/>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16602075" y="7588360"/>
            <a:ext cx="176213" cy="1700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16778288" y="7550980"/>
            <a:ext cx="176212" cy="37380"/>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178" name="TextBox 177"/>
          <p:cNvSpPr txBox="1"/>
          <p:nvPr/>
        </p:nvSpPr>
        <p:spPr>
          <a:xfrm>
            <a:off x="1143000" y="6572250"/>
            <a:ext cx="1619250" cy="381000"/>
          </a:xfrm>
          <a:prstGeom prst="rect">
            <a:avLst/>
          </a:prstGeom>
          <a:noFill/>
        </p:spPr>
        <p:txBody>
          <a:bodyPr wrap="square" lIns="0" rIns="0" tIns="0" bIns="0" anchor="t">
            <a:spAutoFit/>
          </a:bodyPr>
          <a:lstStyle/>
          <a:p>
            <a:pPr algn="l"/>
            <a:r>
              <a:rPr sz="1500" b="1" i="0">
                <a:solidFill>
                  <a:srgbClr val="CC2200"/>
                </a:solidFill>
                <a:latin typeface="Geist Mono"/>
                <a:ea typeface="Geist Mono"/>
                <a:cs typeface="Geist Mono"/>
              </a:rPr>
              <a:t>differentiated</a:t>
            </a:r>
          </a:p>
        </p:txBody>
      </p:sp>
      <p:sp>
        <p:nvSpPr>
          <p:cNvPr id="179" name="TextBox 17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80" name="TextBox 17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Poses: where is the robot?</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572750" cy="6191250"/>
          </a:xfrm>
          <a:prstGeom prst="roundRect">
            <a:avLst>
              <a:gd name="adj" fmla="val 246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2009775" y="3048000"/>
            <a:ext cx="8382000" cy="4086225"/>
          </a:xfrm>
          <a:prstGeom prst="roundRect">
            <a:avLst>
              <a:gd name="adj" fmla="val 1398"/>
            </a:avLst>
          </a:prstGeom>
          <a:solidFill>
            <a:srgbClr val="0E1412"/>
          </a:solidFill>
          <a:ln w="28575">
            <a:solidFill>
              <a:srgbClr val="3A4A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7" name="Connector 6"/>
          <p:cNvCxnSpPr/>
          <p:nvPr/>
        </p:nvCxnSpPr>
        <p:spPr>
          <a:xfrm>
            <a:off x="6200775" y="3048000"/>
            <a:ext cx="0" cy="4086225"/>
          </a:xfrm>
          <a:prstGeom prst="line">
            <a:avLst/>
          </a:prstGeom>
          <a:ln w="28575">
            <a:solidFill>
              <a:srgbClr val="3A4A44"/>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2009775" y="3048000"/>
            <a:ext cx="133350" cy="4086225"/>
          </a:xfrm>
          <a:prstGeom prst="rect">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0258425" y="3048000"/>
            <a:ext cx="133350" cy="408622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0" name="Connector 9"/>
          <p:cNvCxnSpPr/>
          <p:nvPr/>
        </p:nvCxnSpPr>
        <p:spPr>
          <a:xfrm>
            <a:off x="2009775" y="5613911"/>
            <a:ext cx="2787243" cy="0"/>
          </a:xfrm>
          <a:prstGeom prst="line">
            <a:avLst/>
          </a:prstGeom>
          <a:ln w="19050">
            <a:solidFill>
              <a:srgbClr val="9A7878"/>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4797018" y="5613911"/>
            <a:ext cx="0" cy="1520314"/>
          </a:xfrm>
          <a:prstGeom prst="line">
            <a:avLst/>
          </a:prstGeom>
          <a:ln w="19050">
            <a:solidFill>
              <a:srgbClr val="9A7878"/>
            </a:solidFill>
            <a:prstDash val="dash"/>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295525" y="5232911"/>
            <a:ext cx="2215743" cy="323850"/>
          </a:xfrm>
          <a:prstGeom prst="rect">
            <a:avLst/>
          </a:prstGeom>
          <a:noFill/>
        </p:spPr>
        <p:txBody>
          <a:bodyPr wrap="square" lIns="0" rIns="0" tIns="0" bIns="0" anchor="t">
            <a:spAutoFit/>
          </a:bodyPr>
          <a:lstStyle/>
          <a:p>
            <a:pPr algn="ctr"/>
            <a:r>
              <a:rPr sz="1650" b="0" i="0">
                <a:solidFill>
                  <a:srgbClr val="F0E8E8"/>
                </a:solidFill>
                <a:latin typeface="Geist Mono"/>
                <a:ea typeface="Geist Mono"/>
                <a:cs typeface="Geist Mono"/>
              </a:rPr>
              <a:t>x = 5.5 m</a:t>
            </a:r>
          </a:p>
        </p:txBody>
      </p:sp>
      <p:sp>
        <p:nvSpPr>
          <p:cNvPr id="13" name="TextBox 12"/>
          <p:cNvSpPr txBox="1"/>
          <p:nvPr/>
        </p:nvSpPr>
        <p:spPr>
          <a:xfrm>
            <a:off x="4911318" y="6185411"/>
            <a:ext cx="1905000" cy="323850"/>
          </a:xfrm>
          <a:prstGeom prst="rect">
            <a:avLst/>
          </a:prstGeom>
          <a:noFill/>
        </p:spPr>
        <p:txBody>
          <a:bodyPr wrap="square" lIns="0" rIns="0" tIns="0" bIns="0" anchor="t">
            <a:spAutoFit/>
          </a:bodyPr>
          <a:lstStyle/>
          <a:p>
            <a:pPr algn="l"/>
            <a:r>
              <a:rPr sz="1650" b="0" i="0">
                <a:solidFill>
                  <a:srgbClr val="F0E8E8"/>
                </a:solidFill>
                <a:latin typeface="Geist Mono"/>
                <a:ea typeface="Geist Mono"/>
                <a:cs typeface="Geist Mono"/>
              </a:rPr>
              <a:t>y = 3.0 m</a:t>
            </a:r>
          </a:p>
        </p:txBody>
      </p:sp>
      <p:sp>
        <p:nvSpPr>
          <p:cNvPr id="14" name="Oval 13"/>
          <p:cNvSpPr/>
          <p:nvPr/>
        </p:nvSpPr>
        <p:spPr>
          <a:xfrm>
            <a:off x="2755779" y="6487384"/>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884124" y="6486927"/>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06414" y="6477789"/>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123079" y="6460655"/>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234547" y="6436212"/>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341246" y="6405143"/>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3443605" y="6368134"/>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3542051" y="6325872"/>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637014" y="6279040"/>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728921" y="6228325"/>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818200" y="6174411"/>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905282" y="6117985"/>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990592" y="6059731"/>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074561" y="6000335"/>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157616" y="5940482"/>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240185" y="5880857"/>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2344728" y="6230824"/>
            <a:ext cx="647700" cy="590550"/>
          </a:xfrm>
          <a:prstGeom prst="roundRect">
            <a:avLst>
              <a:gd name="adj" fmla="val 12903"/>
            </a:avLst>
          </a:prstGeom>
          <a:noFill/>
          <a:ln w="19050">
            <a:solidFill>
              <a:srgbClr val="9A787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2097078" y="6888049"/>
            <a:ext cx="1143000" cy="285750"/>
          </a:xfrm>
          <a:prstGeom prst="rect">
            <a:avLst/>
          </a:prstGeom>
          <a:noFill/>
        </p:spPr>
        <p:txBody>
          <a:bodyPr wrap="square" lIns="0" rIns="0" tIns="0" bIns="0" anchor="t">
            <a:spAutoFit/>
          </a:bodyPr>
          <a:lstStyle/>
          <a:p>
            <a:pPr algn="ctr"/>
            <a:r>
              <a:rPr sz="1500" b="0" i="0">
                <a:solidFill>
                  <a:srgbClr val="9A7878"/>
                </a:solidFill>
                <a:latin typeface="Geist"/>
                <a:ea typeface="Geist"/>
                <a:cs typeface="Geist"/>
              </a:rPr>
              <a:t>start</a:t>
            </a:r>
          </a:p>
        </p:txBody>
      </p:sp>
      <p:cxnSp>
        <p:nvCxnSpPr>
          <p:cNvPr id="32" name="Connector 31"/>
          <p:cNvCxnSpPr/>
          <p:nvPr/>
        </p:nvCxnSpPr>
        <p:spPr>
          <a:xfrm flipV="1">
            <a:off x="4797018" y="4661411"/>
            <a:ext cx="1649778" cy="952500"/>
          </a:xfrm>
          <a:prstGeom prst="line">
            <a:avLst/>
          </a:prstGeom>
          <a:ln w="57150">
            <a:solidFill>
              <a:srgbClr val="CC2200"/>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33" name="Picture 32" descr="dozer_top.png"/>
          <p:cNvPicPr>
            <a:picLocks noChangeAspect="1"/>
          </p:cNvPicPr>
          <p:nvPr/>
        </p:nvPicPr>
        <p:blipFill>
          <a:blip r:embed="rId3"/>
          <a:stretch>
            <a:fillRect/>
          </a:stretch>
        </p:blipFill>
        <p:spPr>
          <a:xfrm rot="19800000">
            <a:off x="4082643" y="4956686"/>
            <a:ext cx="1428750" cy="1313311"/>
          </a:xfrm>
          <a:prstGeom prst="rect">
            <a:avLst/>
          </a:prstGeom>
        </p:spPr>
      </p:pic>
      <p:cxnSp>
        <p:nvCxnSpPr>
          <p:cNvPr id="34" name="Connector 33"/>
          <p:cNvCxnSpPr/>
          <p:nvPr/>
        </p:nvCxnSpPr>
        <p:spPr>
          <a:xfrm>
            <a:off x="4797018" y="5613911"/>
            <a:ext cx="1809750" cy="0"/>
          </a:xfrm>
          <a:prstGeom prst="line">
            <a:avLst/>
          </a:prstGeom>
          <a:ln w="19050">
            <a:solidFill>
              <a:srgbClr val="2A1A1A"/>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702018" y="5451986"/>
            <a:ext cx="1905000" cy="323850"/>
          </a:xfrm>
          <a:prstGeom prst="rect">
            <a:avLst/>
          </a:prstGeom>
          <a:noFill/>
        </p:spPr>
        <p:txBody>
          <a:bodyPr wrap="square" lIns="0" rIns="0" tIns="0" bIns="0" anchor="t">
            <a:spAutoFit/>
          </a:bodyPr>
          <a:lstStyle/>
          <a:p>
            <a:pPr algn="l"/>
            <a:r>
              <a:rPr sz="1650" b="1" i="0">
                <a:solidFill>
                  <a:srgbClr val="CC2200"/>
                </a:solidFill>
                <a:latin typeface="Geist Mono"/>
                <a:ea typeface="Geist Mono"/>
                <a:cs typeface="Geist Mono"/>
              </a:rPr>
              <a:t>θ = 30°</a:t>
            </a:r>
          </a:p>
        </p:txBody>
      </p:sp>
      <p:sp>
        <p:nvSpPr>
          <p:cNvPr id="36" name="Oval 35"/>
          <p:cNvSpPr/>
          <p:nvPr/>
        </p:nvSpPr>
        <p:spPr>
          <a:xfrm>
            <a:off x="1933575" y="7058025"/>
            <a:ext cx="152400" cy="1524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724025" y="7267575"/>
            <a:ext cx="1905000" cy="285750"/>
          </a:xfrm>
          <a:prstGeom prst="rect">
            <a:avLst/>
          </a:prstGeom>
          <a:noFill/>
        </p:spPr>
        <p:txBody>
          <a:bodyPr wrap="square" lIns="0" rIns="0" tIns="0" bIns="0" anchor="t">
            <a:spAutoFit/>
          </a:bodyPr>
          <a:lstStyle/>
          <a:p>
            <a:pPr algn="l"/>
            <a:r>
              <a:rPr sz="1500" b="0" i="0">
                <a:solidFill>
                  <a:srgbClr val="F0E8E8"/>
                </a:solidFill>
                <a:latin typeface="Geist Mono"/>
                <a:ea typeface="Geist Mono"/>
                <a:cs typeface="Geist Mono"/>
              </a:rPr>
              <a:t>(0, 0)</a:t>
            </a:r>
          </a:p>
        </p:txBody>
      </p:sp>
      <p:sp>
        <p:nvSpPr>
          <p:cNvPr id="38" name="TextBox 37"/>
          <p:cNvSpPr txBox="1"/>
          <p:nvPr/>
        </p:nvSpPr>
        <p:spPr>
          <a:xfrm>
            <a:off x="7534275" y="7267575"/>
            <a:ext cx="2857500" cy="285750"/>
          </a:xfrm>
          <a:prstGeom prst="rect">
            <a:avLst/>
          </a:prstGeom>
          <a:noFill/>
        </p:spPr>
        <p:txBody>
          <a:bodyPr wrap="square" lIns="0" rIns="0" tIns="0" bIns="0" anchor="t">
            <a:spAutoFit/>
          </a:bodyPr>
          <a:lstStyle/>
          <a:p>
            <a:pPr algn="r"/>
            <a:r>
              <a:rPr sz="1500" b="0" i="0">
                <a:solidFill>
                  <a:srgbClr val="9A7878"/>
                </a:solidFill>
                <a:latin typeface="Geist"/>
                <a:ea typeface="Geist"/>
                <a:cs typeface="Geist"/>
              </a:rPr>
              <a:t>x →</a:t>
            </a:r>
          </a:p>
        </p:txBody>
      </p:sp>
      <p:sp>
        <p:nvSpPr>
          <p:cNvPr id="39" name="Rounded Rectangle 38"/>
          <p:cNvSpPr/>
          <p:nvPr/>
        </p:nvSpPr>
        <p:spPr>
          <a:xfrm>
            <a:off x="2009775" y="7620000"/>
            <a:ext cx="8382000" cy="1055370"/>
          </a:xfrm>
          <a:prstGeom prst="roundRect">
            <a:avLst>
              <a:gd name="adj" fmla="val 14440"/>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2390775" y="8001000"/>
            <a:ext cx="7848600" cy="293370"/>
          </a:xfrm>
          <a:prstGeom prst="rect">
            <a:avLst/>
          </a:prstGeom>
          <a:noFill/>
        </p:spPr>
        <p:txBody>
          <a:bodyPr wrap="square" lIns="0" rIns="0" tIns="0" bIns="0" anchor="ctr">
            <a:spAutoFit/>
          </a:bodyPr>
          <a:lstStyle/>
          <a:p>
            <a:pPr algn="l"/>
            <a:r>
              <a:rPr sz="1650" b="0" i="0">
                <a:solidFill>
                  <a:srgbClr val="E0785F"/>
                </a:solidFill>
                <a:latin typeface="Geist Mono"/>
                <a:ea typeface="Geist Mono"/>
                <a:cs typeface="Geist Mono"/>
              </a:rPr>
              <a:t>new </a:t>
            </a:r>
            <a:r>
              <a:rPr sz="1650" b="0" i="0">
                <a:solidFill>
                  <a:srgbClr val="F0E8E8"/>
                </a:solidFill>
                <a:latin typeface="Geist Mono"/>
                <a:ea typeface="Geist Mono"/>
                <a:cs typeface="Geist Mono"/>
              </a:rPr>
              <a:t>Pose2d(</a:t>
            </a:r>
            <a:r>
              <a:rPr sz="1650" b="0" i="0">
                <a:solidFill>
                  <a:srgbClr val="E8C27A"/>
                </a:solidFill>
                <a:latin typeface="Geist Mono"/>
                <a:ea typeface="Geist Mono"/>
                <a:cs typeface="Geist Mono"/>
              </a:rPr>
              <a:t>5.5</a:t>
            </a:r>
            <a:r>
              <a:rPr sz="1650" b="0" i="0">
                <a:solidFill>
                  <a:srgbClr val="F0E8E8"/>
                </a:solidFill>
                <a:latin typeface="Geist Mono"/>
                <a:ea typeface="Geist Mono"/>
                <a:cs typeface="Geist Mono"/>
              </a:rPr>
              <a:t>, </a:t>
            </a:r>
            <a:r>
              <a:rPr sz="1650" b="0" i="0">
                <a:solidFill>
                  <a:srgbClr val="E8C27A"/>
                </a:solidFill>
                <a:latin typeface="Geist Mono"/>
                <a:ea typeface="Geist Mono"/>
                <a:cs typeface="Geist Mono"/>
              </a:rPr>
              <a:t>3.0</a:t>
            </a:r>
            <a:r>
              <a:rPr sz="1650" b="0" i="0">
                <a:solidFill>
                  <a:srgbClr val="F0E8E8"/>
                </a:solidFill>
                <a:latin typeface="Geist Mono"/>
                <a:ea typeface="Geist Mono"/>
                <a:cs typeface="Geist Mono"/>
              </a:rPr>
              <a:t>, Rotation2d.fromDegrees(</a:t>
            </a:r>
            <a:r>
              <a:rPr sz="1650" b="0" i="0">
                <a:solidFill>
                  <a:srgbClr val="E8C27A"/>
                </a:solidFill>
                <a:latin typeface="Geist Mono"/>
                <a:ea typeface="Geist Mono"/>
                <a:cs typeface="Geist Mono"/>
              </a:rPr>
              <a:t>30</a:t>
            </a:r>
            <a:r>
              <a:rPr sz="1650" b="0" i="0">
                <a:solidFill>
                  <a:srgbClr val="F0E8E8"/>
                </a:solidFill>
                <a:latin typeface="Geist Mono"/>
                <a:ea typeface="Geist Mono"/>
                <a:cs typeface="Geist Mono"/>
              </a:rPr>
              <a:t>))</a:t>
            </a:r>
          </a:p>
        </p:txBody>
      </p:sp>
      <p:sp>
        <p:nvSpPr>
          <p:cNvPr id="41" name="Rounded Rectangle 40"/>
          <p:cNvSpPr/>
          <p:nvPr/>
        </p:nvSpPr>
        <p:spPr>
          <a:xfrm>
            <a:off x="11906250" y="2857500"/>
            <a:ext cx="5467350" cy="1314450"/>
          </a:xfrm>
          <a:prstGeom prst="roundRect">
            <a:avLst>
              <a:gd name="adj" fmla="val 1014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12249150" y="3028950"/>
            <a:ext cx="4762500" cy="419100"/>
          </a:xfrm>
          <a:prstGeom prst="rect">
            <a:avLst/>
          </a:prstGeom>
          <a:noFill/>
        </p:spPr>
        <p:txBody>
          <a:bodyPr wrap="square" lIns="0" rIns="0" tIns="0" bIns="0" anchor="t">
            <a:spAutoFit/>
          </a:bodyPr>
          <a:lstStyle/>
          <a:p>
            <a:pPr algn="l"/>
            <a:r>
              <a:rPr sz="2400" b="1" i="0">
                <a:solidFill>
                  <a:srgbClr val="CC2200"/>
                </a:solidFill>
                <a:latin typeface="Geist Mono"/>
                <a:ea typeface="Geist Mono"/>
                <a:cs typeface="Geist Mono"/>
              </a:rPr>
              <a:t>x</a:t>
            </a:r>
          </a:p>
        </p:txBody>
      </p:sp>
      <p:sp>
        <p:nvSpPr>
          <p:cNvPr id="43" name="TextBox 42"/>
          <p:cNvSpPr txBox="1"/>
          <p:nvPr/>
        </p:nvSpPr>
        <p:spPr>
          <a:xfrm>
            <a:off x="12249150" y="3524250"/>
            <a:ext cx="4857750" cy="47625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Meters from the blue alliance wall</a:t>
            </a:r>
          </a:p>
        </p:txBody>
      </p:sp>
      <p:sp>
        <p:nvSpPr>
          <p:cNvPr id="44" name="Rounded Rectangle 43"/>
          <p:cNvSpPr/>
          <p:nvPr/>
        </p:nvSpPr>
        <p:spPr>
          <a:xfrm>
            <a:off x="11906250" y="4362450"/>
            <a:ext cx="5467350" cy="1314450"/>
          </a:xfrm>
          <a:prstGeom prst="roundRect">
            <a:avLst>
              <a:gd name="adj" fmla="val 1014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12249150" y="4533900"/>
            <a:ext cx="4762500" cy="419100"/>
          </a:xfrm>
          <a:prstGeom prst="rect">
            <a:avLst/>
          </a:prstGeom>
          <a:noFill/>
        </p:spPr>
        <p:txBody>
          <a:bodyPr wrap="square" lIns="0" rIns="0" tIns="0" bIns="0" anchor="t">
            <a:spAutoFit/>
          </a:bodyPr>
          <a:lstStyle/>
          <a:p>
            <a:pPr algn="l"/>
            <a:r>
              <a:rPr sz="2400" b="1" i="0">
                <a:solidFill>
                  <a:srgbClr val="CC2200"/>
                </a:solidFill>
                <a:latin typeface="Geist Mono"/>
                <a:ea typeface="Geist Mono"/>
                <a:cs typeface="Geist Mono"/>
              </a:rPr>
              <a:t>y</a:t>
            </a:r>
          </a:p>
        </p:txBody>
      </p:sp>
      <p:sp>
        <p:nvSpPr>
          <p:cNvPr id="46" name="TextBox 45"/>
          <p:cNvSpPr txBox="1"/>
          <p:nvPr/>
        </p:nvSpPr>
        <p:spPr>
          <a:xfrm>
            <a:off x="12249150" y="5029200"/>
            <a:ext cx="4857750" cy="47625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Meters from the side of the field</a:t>
            </a:r>
          </a:p>
        </p:txBody>
      </p:sp>
      <p:sp>
        <p:nvSpPr>
          <p:cNvPr id="47" name="Rounded Rectangle 46"/>
          <p:cNvSpPr/>
          <p:nvPr/>
        </p:nvSpPr>
        <p:spPr>
          <a:xfrm>
            <a:off x="11906250" y="5867400"/>
            <a:ext cx="5467350" cy="1314450"/>
          </a:xfrm>
          <a:prstGeom prst="roundRect">
            <a:avLst>
              <a:gd name="adj" fmla="val 1014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12249150" y="6038850"/>
            <a:ext cx="4762500" cy="419100"/>
          </a:xfrm>
          <a:prstGeom prst="rect">
            <a:avLst/>
          </a:prstGeom>
          <a:noFill/>
        </p:spPr>
        <p:txBody>
          <a:bodyPr wrap="square" lIns="0" rIns="0" tIns="0" bIns="0" anchor="t">
            <a:spAutoFit/>
          </a:bodyPr>
          <a:lstStyle/>
          <a:p>
            <a:pPr algn="l"/>
            <a:r>
              <a:rPr sz="2400" b="1" i="0">
                <a:solidFill>
                  <a:srgbClr val="CC2200"/>
                </a:solidFill>
                <a:latin typeface="Geist"/>
                <a:ea typeface="Geist"/>
                <a:cs typeface="Geist"/>
              </a:rPr>
              <a:t>Rotation</a:t>
            </a:r>
          </a:p>
        </p:txBody>
      </p:sp>
      <p:sp>
        <p:nvSpPr>
          <p:cNvPr id="49" name="TextBox 48"/>
          <p:cNvSpPr txBox="1"/>
          <p:nvPr/>
        </p:nvSpPr>
        <p:spPr>
          <a:xfrm>
            <a:off x="12249150" y="6534150"/>
            <a:ext cx="4857750" cy="47625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Which way it faces, counterclockwise</a:t>
            </a:r>
          </a:p>
        </p:txBody>
      </p:sp>
      <p:sp>
        <p:nvSpPr>
          <p:cNvPr id="50" name="Rounded Rectangle 49"/>
          <p:cNvSpPr/>
          <p:nvPr/>
        </p:nvSpPr>
        <p:spPr>
          <a:xfrm>
            <a:off x="11906250" y="7372350"/>
            <a:ext cx="5467350" cy="1314450"/>
          </a:xfrm>
          <a:prstGeom prst="roundRect">
            <a:avLst>
              <a:gd name="adj" fmla="val 10144"/>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12249150" y="7543800"/>
            <a:ext cx="4762500" cy="4191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Pose3d</a:t>
            </a:r>
          </a:p>
        </p:txBody>
      </p:sp>
      <p:sp>
        <p:nvSpPr>
          <p:cNvPr id="52" name="TextBox 51"/>
          <p:cNvSpPr txBox="1"/>
          <p:nvPr/>
        </p:nvSpPr>
        <p:spPr>
          <a:xfrm>
            <a:off x="12249150" y="8039100"/>
            <a:ext cx="4857750" cy="47625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Adds height, tilt and roll</a:t>
            </a:r>
          </a:p>
        </p:txBody>
      </p:sp>
      <p:sp>
        <p:nvSpPr>
          <p:cNvPr id="53" name="TextBox 5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54" name="TextBox 5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Live data or log files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4381500"/>
          </a:xfrm>
          <a:prstGeom prst="roundRect">
            <a:avLst>
              <a:gd name="adj" fmla="val 347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broadcast.png"/>
          <p:cNvPicPr>
            <a:picLocks noChangeAspect="1"/>
          </p:cNvPicPr>
          <p:nvPr/>
        </p:nvPicPr>
        <p:blipFill>
          <a:blip r:embed="rId3"/>
          <a:stretch>
            <a:fillRect/>
          </a:stretch>
        </p:blipFill>
        <p:spPr>
          <a:xfrm>
            <a:off x="1371600" y="3238500"/>
            <a:ext cx="839019" cy="609600"/>
          </a:xfrm>
          <a:prstGeom prst="rect">
            <a:avLst/>
          </a:prstGeom>
        </p:spPr>
      </p:pic>
      <p:sp>
        <p:nvSpPr>
          <p:cNvPr id="7" name="TextBox 6"/>
          <p:cNvSpPr txBox="1"/>
          <p:nvPr/>
        </p:nvSpPr>
        <p:spPr>
          <a:xfrm>
            <a:off x="2533650" y="3181350"/>
            <a:ext cx="5715000" cy="666750"/>
          </a:xfrm>
          <a:prstGeom prst="rect">
            <a:avLst/>
          </a:prstGeom>
          <a:noFill/>
        </p:spPr>
        <p:txBody>
          <a:bodyPr wrap="square" lIns="0" rIns="0" tIns="0" bIns="0" anchor="ctr">
            <a:spAutoFit/>
          </a:bodyPr>
          <a:lstStyle/>
          <a:p>
            <a:pPr algn="l"/>
            <a:r>
              <a:rPr sz="3300" b="1" i="0">
                <a:solidFill>
                  <a:srgbClr val="F0E8E8"/>
                </a:solidFill>
                <a:latin typeface="Geist"/>
                <a:ea typeface="Geist"/>
                <a:cs typeface="Geist"/>
              </a:rPr>
              <a:t>Live</a:t>
            </a:r>
          </a:p>
        </p:txBody>
      </p:sp>
      <p:sp>
        <p:nvSpPr>
          <p:cNvPr id="8" name="TextBox 7"/>
          <p:cNvSpPr txBox="1"/>
          <p:nvPr/>
        </p:nvSpPr>
        <p:spPr>
          <a:xfrm>
            <a:off x="1371600" y="4095750"/>
            <a:ext cx="66675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While the robot or sim runs</a:t>
            </a:r>
          </a:p>
        </p:txBody>
      </p:sp>
      <p:sp>
        <p:nvSpPr>
          <p:cNvPr id="9" name="TextBox 8"/>
          <p:cNvSpPr txBox="1"/>
          <p:nvPr/>
        </p:nvSpPr>
        <p:spPr>
          <a:xfrm>
            <a:off x="1371600" y="4762500"/>
            <a:ext cx="72390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Anything published to NetworkTables</a:t>
            </a:r>
          </a:p>
        </p:txBody>
      </p:sp>
      <p:sp>
        <p:nvSpPr>
          <p:cNvPr id="10" name="TextBox 9"/>
          <p:cNvSpPr txBox="1"/>
          <p:nvPr/>
        </p:nvSpPr>
        <p:spPr>
          <a:xfrm>
            <a:off x="1371600" y="5318760"/>
            <a:ext cx="72390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File &gt; Connect to Robot</a:t>
            </a:r>
          </a:p>
        </p:txBody>
      </p:sp>
      <p:sp>
        <p:nvSpPr>
          <p:cNvPr id="11" name="TextBox 10"/>
          <p:cNvSpPr txBox="1"/>
          <p:nvPr/>
        </p:nvSpPr>
        <p:spPr>
          <a:xfrm>
            <a:off x="1371600" y="5875020"/>
            <a:ext cx="72390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or Connect to Simulator</a:t>
            </a:r>
          </a:p>
        </p:txBody>
      </p:sp>
      <p:sp>
        <p:nvSpPr>
          <p:cNvPr id="12" name="Rounded Rectangle 11"/>
          <p:cNvSpPr/>
          <p:nvPr/>
        </p:nvSpPr>
        <p:spPr>
          <a:xfrm>
            <a:off x="9334500" y="2857500"/>
            <a:ext cx="8039100" cy="4381500"/>
          </a:xfrm>
          <a:prstGeom prst="roundRect">
            <a:avLst>
              <a:gd name="adj" fmla="val 347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journal-code.png"/>
          <p:cNvPicPr>
            <a:picLocks noChangeAspect="1"/>
          </p:cNvPicPr>
          <p:nvPr/>
        </p:nvPicPr>
        <p:blipFill>
          <a:blip r:embed="rId4"/>
          <a:stretch>
            <a:fillRect/>
          </a:stretch>
        </p:blipFill>
        <p:spPr>
          <a:xfrm>
            <a:off x="9791700" y="3238500"/>
            <a:ext cx="571500" cy="609600"/>
          </a:xfrm>
          <a:prstGeom prst="rect">
            <a:avLst/>
          </a:prstGeom>
        </p:spPr>
      </p:pic>
      <p:sp>
        <p:nvSpPr>
          <p:cNvPr id="14" name="TextBox 13"/>
          <p:cNvSpPr txBox="1"/>
          <p:nvPr/>
        </p:nvSpPr>
        <p:spPr>
          <a:xfrm>
            <a:off x="10953750" y="3181350"/>
            <a:ext cx="5715000" cy="666750"/>
          </a:xfrm>
          <a:prstGeom prst="rect">
            <a:avLst/>
          </a:prstGeom>
          <a:noFill/>
        </p:spPr>
        <p:txBody>
          <a:bodyPr wrap="square" lIns="0" rIns="0" tIns="0" bIns="0" anchor="ctr">
            <a:spAutoFit/>
          </a:bodyPr>
          <a:lstStyle/>
          <a:p>
            <a:pPr algn="l"/>
            <a:r>
              <a:rPr sz="3300" b="1" i="0">
                <a:solidFill>
                  <a:srgbClr val="F0E8E8"/>
                </a:solidFill>
                <a:latin typeface="Geist"/>
                <a:ea typeface="Geist"/>
                <a:cs typeface="Geist"/>
              </a:rPr>
              <a:t>Log files</a:t>
            </a:r>
          </a:p>
        </p:txBody>
      </p:sp>
      <p:sp>
        <p:nvSpPr>
          <p:cNvPr id="15" name="TextBox 14"/>
          <p:cNvSpPr txBox="1"/>
          <p:nvPr/>
        </p:nvSpPr>
        <p:spPr>
          <a:xfrm>
            <a:off x="9791700" y="4095750"/>
            <a:ext cx="66675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After a test or a match</a:t>
            </a:r>
          </a:p>
        </p:txBody>
      </p:sp>
      <p:sp>
        <p:nvSpPr>
          <p:cNvPr id="16" name="TextBox 15"/>
          <p:cNvSpPr txBox="1"/>
          <p:nvPr/>
        </p:nvSpPr>
        <p:spPr>
          <a:xfrm>
            <a:off x="9791700" y="4762500"/>
            <a:ext cx="72390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E0785F"/>
                </a:solidFill>
                <a:latin typeface="Geist Mono"/>
                <a:ea typeface="Geist Mono"/>
                <a:cs typeface="Geist Mono"/>
              </a:rPr>
              <a:t>  .wpilog  .hoot  .dslog  </a:t>
            </a:r>
          </a:p>
        </p:txBody>
      </p:sp>
      <p:sp>
        <p:nvSpPr>
          <p:cNvPr id="17" name="TextBox 16"/>
          <p:cNvSpPr txBox="1"/>
          <p:nvPr/>
        </p:nvSpPr>
        <p:spPr>
          <a:xfrm>
            <a:off x="9791700" y="5318760"/>
            <a:ext cx="72390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File &gt; Open Log(s)</a:t>
            </a:r>
          </a:p>
        </p:txBody>
      </p:sp>
      <p:sp>
        <p:nvSpPr>
          <p:cNvPr id="18" name="TextBox 17"/>
          <p:cNvSpPr txBox="1"/>
          <p:nvPr/>
        </p:nvSpPr>
        <p:spPr>
          <a:xfrm>
            <a:off x="9791700" y="5875020"/>
            <a:ext cx="72390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Replay exactly what happened</a:t>
            </a:r>
          </a:p>
        </p:txBody>
      </p:sp>
      <p:sp>
        <p:nvSpPr>
          <p:cNvPr id="19" name="Rounded Rectangle 18"/>
          <p:cNvSpPr/>
          <p:nvPr/>
        </p:nvSpPr>
        <p:spPr>
          <a:xfrm>
            <a:off x="914400" y="76200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33500" y="7620000"/>
            <a:ext cx="1565910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For the pits, not the match.  </a:t>
            </a:r>
            <a:r>
              <a:rPr sz="2100" b="0" i="0">
                <a:solidFill>
                  <a:srgbClr val="F0E8E8"/>
                </a:solidFill>
                <a:latin typeface="Geist"/>
                <a:ea typeface="Geist"/>
                <a:cs typeface="Geist"/>
              </a:rPr>
              <a:t>Drivers use Elastic. Load the team's layouts with File &gt; Import Layout.</a:t>
            </a:r>
          </a:p>
        </p:txBody>
      </p:sp>
      <p:sp>
        <p:nvSpPr>
          <p:cNvPr id="21" name="TextBox 20"/>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2" name="TextBox 2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Tuning Mode: changing values live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952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Most fields are read-only</a:t>
            </a:r>
          </a:p>
        </p:txBody>
      </p:sp>
      <p:sp>
        <p:nvSpPr>
          <p:cNvPr id="6" name="TextBox 5"/>
          <p:cNvSpPr txBox="1"/>
          <p:nvPr/>
        </p:nvSpPr>
        <p:spPr>
          <a:xfrm>
            <a:off x="914400" y="3514725"/>
            <a:ext cx="952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Tuning Mode</a:t>
            </a:r>
            <a:r>
              <a:rPr sz="2250" b="0" i="0">
                <a:solidFill>
                  <a:srgbClr val="F0E8E8"/>
                </a:solidFill>
                <a:latin typeface="Geist"/>
                <a:ea typeface="Geist"/>
                <a:cs typeface="Geist"/>
              </a:rPr>
              <a:t> (the slider icon) lets you type new values</a:t>
            </a:r>
          </a:p>
        </p:txBody>
      </p:sp>
      <p:sp>
        <p:nvSpPr>
          <p:cNvPr id="7" name="TextBox 6"/>
          <p:cNvSpPr txBox="1"/>
          <p:nvPr/>
        </p:nvSpPr>
        <p:spPr>
          <a:xfrm>
            <a:off x="914400" y="4171950"/>
            <a:ext cx="952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Only for values under </a:t>
            </a:r>
            <a:r>
              <a:rPr sz="2250" b="0" i="0">
                <a:solidFill>
                  <a:srgbClr val="E0785F"/>
                </a:solidFill>
                <a:latin typeface="Geist Mono"/>
                <a:ea typeface="Geist Mono"/>
                <a:cs typeface="Geist Mono"/>
              </a:rPr>
              <a:t>/Tuning</a:t>
            </a:r>
          </a:p>
        </p:txBody>
      </p:sp>
      <p:sp>
        <p:nvSpPr>
          <p:cNvPr id="8" name="TextBox 7"/>
          <p:cNvSpPr txBox="1"/>
          <p:nvPr/>
        </p:nvSpPr>
        <p:spPr>
          <a:xfrm>
            <a:off x="914400" y="4829175"/>
            <a:ext cx="952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Tune things like flywheel speed without redeploying</a:t>
            </a:r>
          </a:p>
        </p:txBody>
      </p:sp>
      <p:sp>
        <p:nvSpPr>
          <p:cNvPr id="9" name="Rounded Rectangle 8"/>
          <p:cNvSpPr/>
          <p:nvPr/>
        </p:nvSpPr>
        <p:spPr>
          <a:xfrm>
            <a:off x="11430000" y="2857500"/>
            <a:ext cx="5943600" cy="4953000"/>
          </a:xfrm>
          <a:prstGeom prst="roundRect">
            <a:avLst>
              <a:gd name="adj" fmla="val 307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liders.png"/>
          <p:cNvPicPr>
            <a:picLocks noChangeAspect="1"/>
          </p:cNvPicPr>
          <p:nvPr/>
        </p:nvPicPr>
        <p:blipFill>
          <a:blip r:embed="rId3"/>
          <a:stretch>
            <a:fillRect/>
          </a:stretch>
        </p:blipFill>
        <p:spPr>
          <a:xfrm>
            <a:off x="13792200" y="3429000"/>
            <a:ext cx="1300480" cy="1219200"/>
          </a:xfrm>
          <a:prstGeom prst="rect">
            <a:avLst/>
          </a:prstGeom>
        </p:spPr>
      </p:pic>
      <p:sp>
        <p:nvSpPr>
          <p:cNvPr id="11" name="TextBox 10"/>
          <p:cNvSpPr txBox="1"/>
          <p:nvPr/>
        </p:nvSpPr>
        <p:spPr>
          <a:xfrm>
            <a:off x="11811000" y="5143500"/>
            <a:ext cx="5181600" cy="571500"/>
          </a:xfrm>
          <a:prstGeom prst="rect">
            <a:avLst/>
          </a:prstGeom>
          <a:noFill/>
        </p:spPr>
        <p:txBody>
          <a:bodyPr wrap="square" lIns="0" rIns="0" tIns="0" bIns="0" anchor="t">
            <a:spAutoFit/>
          </a:bodyPr>
          <a:lstStyle/>
          <a:p>
            <a:pPr algn="ctr"/>
            <a:r>
              <a:rPr sz="1950" b="0" i="0">
                <a:solidFill>
                  <a:srgbClr val="E0785F"/>
                </a:solidFill>
                <a:latin typeface="Geist Mono"/>
                <a:ea typeface="Geist Mono"/>
                <a:cs typeface="Geist Mono"/>
              </a:rPr>
              <a:t>/Tuning/FlywheelTargetRPM</a:t>
            </a:r>
          </a:p>
        </p:txBody>
      </p:sp>
      <p:sp>
        <p:nvSpPr>
          <p:cNvPr id="12" name="TextBox 11"/>
          <p:cNvSpPr txBox="1"/>
          <p:nvPr/>
        </p:nvSpPr>
        <p:spPr>
          <a:xfrm>
            <a:off x="11811000" y="5810250"/>
            <a:ext cx="5181600" cy="1333500"/>
          </a:xfrm>
          <a:prstGeom prst="rect">
            <a:avLst/>
          </a:prstGeom>
          <a:noFill/>
        </p:spPr>
        <p:txBody>
          <a:bodyPr wrap="square" lIns="0" rIns="0" tIns="0" bIns="0" anchor="t">
            <a:spAutoFit/>
          </a:bodyPr>
          <a:lstStyle/>
          <a:p>
            <a:pPr algn="ctr">
              <a:lnSpc>
                <a:spcPct val="130000"/>
              </a:lnSpc>
            </a:pPr>
            <a:r>
              <a:rPr sz="1950" b="0" i="0">
                <a:solidFill>
                  <a:srgbClr val="9A7878"/>
                </a:solidFill>
                <a:latin typeface="Geist"/>
                <a:ea typeface="Geist"/>
                <a:cs typeface="Geist"/>
              </a:rPr>
              <a:t>Writable, because it's published under /Tuning</a:t>
            </a:r>
          </a:p>
        </p:txBody>
      </p:sp>
      <p:sp>
        <p:nvSpPr>
          <p:cNvPr id="13" name="TextBox 1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4" name="TextBox 1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04</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Elastic</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Dashboards: what drivers see during a match</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36</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Drivers glance, they don't read. Keep it big and simple.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ELASTIC</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Dashboard or analysis tool?</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53340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371600" y="3238500"/>
            <a:ext cx="6667500" cy="666750"/>
          </a:xfrm>
          <a:prstGeom prst="rect">
            <a:avLst/>
          </a:prstGeom>
          <a:noFill/>
        </p:spPr>
        <p:txBody>
          <a:bodyPr wrap="square" lIns="0" rIns="0" tIns="0" bIns="0" anchor="t">
            <a:spAutoFit/>
          </a:bodyPr>
          <a:lstStyle/>
          <a:p>
            <a:pPr algn="l"/>
            <a:r>
              <a:rPr sz="3300" b="1" i="0">
                <a:solidFill>
                  <a:srgbClr val="F0E8E8"/>
                </a:solidFill>
                <a:latin typeface="Geist"/>
                <a:ea typeface="Geist"/>
                <a:cs typeface="Geist"/>
              </a:rPr>
              <a:t>AdvantageScope</a:t>
            </a:r>
          </a:p>
        </p:txBody>
      </p:sp>
      <p:sp>
        <p:nvSpPr>
          <p:cNvPr id="7" name="TextBox 6"/>
          <p:cNvSpPr txBox="1"/>
          <p:nvPr/>
        </p:nvSpPr>
        <p:spPr>
          <a:xfrm>
            <a:off x="1371600" y="3905250"/>
            <a:ext cx="5715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For programmers</a:t>
            </a:r>
          </a:p>
        </p:txBody>
      </p:sp>
      <p:sp>
        <p:nvSpPr>
          <p:cNvPr id="8" name="TextBox 7"/>
          <p:cNvSpPr txBox="1"/>
          <p:nvPr/>
        </p:nvSpPr>
        <p:spPr>
          <a:xfrm>
            <a:off x="1371600" y="466725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Graphs, fields, replays</a:t>
            </a:r>
          </a:p>
        </p:txBody>
      </p:sp>
      <p:sp>
        <p:nvSpPr>
          <p:cNvPr id="9" name="TextBox 8"/>
          <p:cNvSpPr txBox="1"/>
          <p:nvPr/>
        </p:nvSpPr>
        <p:spPr>
          <a:xfrm>
            <a:off x="1371600" y="526732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Digging into what happened</a:t>
            </a:r>
          </a:p>
        </p:txBody>
      </p:sp>
      <p:sp>
        <p:nvSpPr>
          <p:cNvPr id="10" name="TextBox 9"/>
          <p:cNvSpPr txBox="1"/>
          <p:nvPr/>
        </p:nvSpPr>
        <p:spPr>
          <a:xfrm>
            <a:off x="1371600" y="586740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Used in the pits and while testing</a:t>
            </a:r>
          </a:p>
        </p:txBody>
      </p:sp>
      <p:sp>
        <p:nvSpPr>
          <p:cNvPr id="11" name="Rounded Rectangle 10"/>
          <p:cNvSpPr/>
          <p:nvPr/>
        </p:nvSpPr>
        <p:spPr>
          <a:xfrm>
            <a:off x="9334500" y="2857500"/>
            <a:ext cx="8039100" cy="5334000"/>
          </a:xfrm>
          <a:prstGeom prst="roundRect">
            <a:avLst>
              <a:gd name="adj" fmla="val 2857"/>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791700" y="3238500"/>
            <a:ext cx="6667500" cy="666750"/>
          </a:xfrm>
          <a:prstGeom prst="rect">
            <a:avLst/>
          </a:prstGeom>
          <a:noFill/>
        </p:spPr>
        <p:txBody>
          <a:bodyPr wrap="square" lIns="0" rIns="0" tIns="0" bIns="0" anchor="t">
            <a:spAutoFit/>
          </a:bodyPr>
          <a:lstStyle/>
          <a:p>
            <a:pPr algn="l"/>
            <a:r>
              <a:rPr sz="3300" b="1" i="0">
                <a:solidFill>
                  <a:srgbClr val="F0E8E8"/>
                </a:solidFill>
                <a:latin typeface="Geist"/>
                <a:ea typeface="Geist"/>
                <a:cs typeface="Geist"/>
              </a:rPr>
              <a:t>Elastic</a:t>
            </a:r>
          </a:p>
        </p:txBody>
      </p:sp>
      <p:sp>
        <p:nvSpPr>
          <p:cNvPr id="13" name="TextBox 12"/>
          <p:cNvSpPr txBox="1"/>
          <p:nvPr/>
        </p:nvSpPr>
        <p:spPr>
          <a:xfrm>
            <a:off x="9791700" y="3905250"/>
            <a:ext cx="5715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For drivers</a:t>
            </a:r>
          </a:p>
        </p:txBody>
      </p:sp>
      <p:sp>
        <p:nvSpPr>
          <p:cNvPr id="14" name="TextBox 13"/>
          <p:cNvSpPr txBox="1"/>
          <p:nvPr/>
        </p:nvSpPr>
        <p:spPr>
          <a:xfrm>
            <a:off x="9791700" y="466725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Big, simple widgets</a:t>
            </a:r>
          </a:p>
        </p:txBody>
      </p:sp>
      <p:sp>
        <p:nvSpPr>
          <p:cNvPr id="15" name="TextBox 14"/>
          <p:cNvSpPr txBox="1"/>
          <p:nvPr/>
        </p:nvSpPr>
        <p:spPr>
          <a:xfrm>
            <a:off x="9791700" y="526732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Read in a glance during a match</a:t>
            </a:r>
          </a:p>
        </p:txBody>
      </p:sp>
      <p:sp>
        <p:nvSpPr>
          <p:cNvPr id="16" name="TextBox 15"/>
          <p:cNvSpPr txBox="1"/>
          <p:nvPr/>
        </p:nvSpPr>
        <p:spPr>
          <a:xfrm>
            <a:off x="9791700" y="586740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Set options like the auto routine</a:t>
            </a:r>
          </a:p>
        </p:txBody>
      </p:sp>
      <p:sp>
        <p:nvSpPr>
          <p:cNvPr id="17" name="TextBox 16"/>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8" name="TextBox 17"/>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ELASTIC</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a match dashboard looks like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914400" y="2857500"/>
            <a:ext cx="11239500" cy="5705699"/>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hot_el_example_layout.jpg"/>
          <p:cNvPicPr>
            <a:picLocks noChangeAspect="1"/>
          </p:cNvPicPr>
          <p:nvPr/>
        </p:nvPicPr>
        <p:blipFill>
          <a:blip r:embed="rId3"/>
          <a:stretch>
            <a:fillRect/>
          </a:stretch>
        </p:blipFill>
        <p:spPr>
          <a:xfrm>
            <a:off x="914400" y="2857500"/>
            <a:ext cx="11239500" cy="5705699"/>
          </a:xfrm>
          <a:prstGeom prst="rect">
            <a:avLst/>
          </a:prstGeom>
        </p:spPr>
      </p:pic>
      <p:sp>
        <p:nvSpPr>
          <p:cNvPr id="7" name="Rectangle 6"/>
          <p:cNvSpPr/>
          <p:nvPr/>
        </p:nvSpPr>
        <p:spPr>
          <a:xfrm>
            <a:off x="914400" y="2857500"/>
            <a:ext cx="11239500" cy="5705699"/>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272540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2540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0" name="TextBox 9"/>
          <p:cNvSpPr txBox="1"/>
          <p:nvPr/>
        </p:nvSpPr>
        <p:spPr>
          <a:xfrm>
            <a:off x="13335000" y="2819400"/>
            <a:ext cx="40386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Field</a:t>
            </a:r>
          </a:p>
        </p:txBody>
      </p:sp>
      <p:sp>
        <p:nvSpPr>
          <p:cNvPr id="11" name="TextBox 10"/>
          <p:cNvSpPr txBox="1"/>
          <p:nvPr/>
        </p:nvSpPr>
        <p:spPr>
          <a:xfrm>
            <a:off x="13335000" y="3238500"/>
            <a:ext cx="40386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Where the robot thinks it is</a:t>
            </a:r>
          </a:p>
        </p:txBody>
      </p:sp>
      <p:sp>
        <p:nvSpPr>
          <p:cNvPr id="12" name="Oval 11"/>
          <p:cNvSpPr/>
          <p:nvPr/>
        </p:nvSpPr>
        <p:spPr>
          <a:xfrm>
            <a:off x="12725400" y="4286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725400" y="4286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4" name="TextBox 13"/>
          <p:cNvSpPr txBox="1"/>
          <p:nvPr/>
        </p:nvSpPr>
        <p:spPr>
          <a:xfrm>
            <a:off x="13335000" y="4248150"/>
            <a:ext cx="40386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Match time</a:t>
            </a:r>
          </a:p>
        </p:txBody>
      </p:sp>
      <p:sp>
        <p:nvSpPr>
          <p:cNvPr id="15" name="TextBox 14"/>
          <p:cNvSpPr txBox="1"/>
          <p:nvPr/>
        </p:nvSpPr>
        <p:spPr>
          <a:xfrm>
            <a:off x="13335000" y="4667250"/>
            <a:ext cx="40386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Huge, so drivers see it in a glance</a:t>
            </a:r>
          </a:p>
        </p:txBody>
      </p:sp>
      <p:sp>
        <p:nvSpPr>
          <p:cNvPr id="16" name="Oval 15"/>
          <p:cNvSpPr/>
          <p:nvPr/>
        </p:nvSpPr>
        <p:spPr>
          <a:xfrm>
            <a:off x="12725400" y="5715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725400" y="5715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8" name="TextBox 17"/>
          <p:cNvSpPr txBox="1"/>
          <p:nvPr/>
        </p:nvSpPr>
        <p:spPr>
          <a:xfrm>
            <a:off x="13335000" y="5676900"/>
            <a:ext cx="40386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Gauges</a:t>
            </a:r>
          </a:p>
        </p:txBody>
      </p:sp>
      <p:sp>
        <p:nvSpPr>
          <p:cNvPr id="19" name="TextBox 18"/>
          <p:cNvSpPr txBox="1"/>
          <p:nvPr/>
        </p:nvSpPr>
        <p:spPr>
          <a:xfrm>
            <a:off x="13335000" y="6096000"/>
            <a:ext cx="40386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Battery voltage, gyro heading</a:t>
            </a:r>
          </a:p>
        </p:txBody>
      </p:sp>
      <p:sp>
        <p:nvSpPr>
          <p:cNvPr id="20" name="Oval 19"/>
          <p:cNvSpPr/>
          <p:nvPr/>
        </p:nvSpPr>
        <p:spPr>
          <a:xfrm>
            <a:off x="12725400" y="7143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725400" y="7143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22" name="TextBox 21"/>
          <p:cNvSpPr txBox="1"/>
          <p:nvPr/>
        </p:nvSpPr>
        <p:spPr>
          <a:xfrm>
            <a:off x="13335000" y="7105650"/>
            <a:ext cx="40386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Auto chooser</a:t>
            </a:r>
          </a:p>
        </p:txBody>
      </p:sp>
      <p:sp>
        <p:nvSpPr>
          <p:cNvPr id="23" name="TextBox 22"/>
          <p:cNvSpPr txBox="1"/>
          <p:nvPr/>
        </p:nvSpPr>
        <p:spPr>
          <a:xfrm>
            <a:off x="13335000" y="7524750"/>
            <a:ext cx="40386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Picked before the match starts</a:t>
            </a:r>
          </a:p>
        </p:txBody>
      </p:sp>
      <p:sp>
        <p:nvSpPr>
          <p:cNvPr id="24" name="TextBox 23"/>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5" name="TextBox 24"/>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ELASTIC</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Topics: values with names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49784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9650" y="3619500"/>
            <a:ext cx="47879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Robot</a:t>
            </a:r>
          </a:p>
        </p:txBody>
      </p:sp>
      <p:sp>
        <p:nvSpPr>
          <p:cNvPr id="7" name="TextBox 6"/>
          <p:cNvSpPr txBox="1"/>
          <p:nvPr/>
        </p:nvSpPr>
        <p:spPr>
          <a:xfrm>
            <a:off x="1066800" y="4210050"/>
            <a:ext cx="46736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Publishes ClimberSpeed</a:t>
            </a:r>
          </a:p>
        </p:txBody>
      </p:sp>
      <p:cxnSp>
        <p:nvCxnSpPr>
          <p:cNvPr id="8" name="Connector 7"/>
          <p:cNvCxnSpPr/>
          <p:nvPr/>
        </p:nvCxnSpPr>
        <p:spPr>
          <a:xfrm>
            <a:off x="5969000" y="40957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654800" y="3143250"/>
            <a:ext cx="4978400" cy="1905000"/>
          </a:xfrm>
          <a:prstGeom prst="roundRect">
            <a:avLst>
              <a:gd name="adj" fmla="val 8000"/>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50050" y="3619500"/>
            <a:ext cx="47879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NetworkTables</a:t>
            </a:r>
          </a:p>
        </p:txBody>
      </p:sp>
      <p:sp>
        <p:nvSpPr>
          <p:cNvPr id="11" name="TextBox 10"/>
          <p:cNvSpPr txBox="1"/>
          <p:nvPr/>
        </p:nvSpPr>
        <p:spPr>
          <a:xfrm>
            <a:off x="6807200" y="4210050"/>
            <a:ext cx="46736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A shared table of topics</a:t>
            </a:r>
          </a:p>
        </p:txBody>
      </p:sp>
      <p:cxnSp>
        <p:nvCxnSpPr>
          <p:cNvPr id="12" name="Connector 11"/>
          <p:cNvCxnSpPr/>
          <p:nvPr/>
        </p:nvCxnSpPr>
        <p:spPr>
          <a:xfrm>
            <a:off x="11709400" y="40957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12395200" y="3143250"/>
            <a:ext cx="49784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490450" y="3619500"/>
            <a:ext cx="47879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Elastic</a:t>
            </a:r>
          </a:p>
        </p:txBody>
      </p:sp>
      <p:sp>
        <p:nvSpPr>
          <p:cNvPr id="15" name="TextBox 14"/>
          <p:cNvSpPr txBox="1"/>
          <p:nvPr/>
        </p:nvSpPr>
        <p:spPr>
          <a:xfrm>
            <a:off x="12547600" y="4210050"/>
            <a:ext cx="46736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Subscribes by name</a:t>
            </a:r>
          </a:p>
        </p:txBody>
      </p:sp>
      <p:sp>
        <p:nvSpPr>
          <p:cNvPr id="16" name="Rounded Rectangle 15"/>
          <p:cNvSpPr/>
          <p:nvPr/>
        </p:nvSpPr>
        <p:spPr>
          <a:xfrm>
            <a:off x="914400" y="5715000"/>
            <a:ext cx="16459200" cy="2857500"/>
          </a:xfrm>
          <a:prstGeom prst="roundRect">
            <a:avLst>
              <a:gd name="adj" fmla="val 5333"/>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95400" y="6000750"/>
            <a:ext cx="6667500" cy="53340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ClimberSpeed</a:t>
            </a:r>
          </a:p>
        </p:txBody>
      </p:sp>
      <p:sp>
        <p:nvSpPr>
          <p:cNvPr id="18" name="TextBox 17"/>
          <p:cNvSpPr txBox="1"/>
          <p:nvPr/>
        </p:nvSpPr>
        <p:spPr>
          <a:xfrm>
            <a:off x="8572500" y="6000750"/>
            <a:ext cx="6667500" cy="533400"/>
          </a:xfrm>
          <a:prstGeom prst="rect">
            <a:avLst/>
          </a:prstGeom>
          <a:noFill/>
        </p:spPr>
        <p:txBody>
          <a:bodyPr wrap="square" lIns="0" rIns="0" tIns="0" bIns="0" anchor="ctr">
            <a:spAutoFit/>
          </a:bodyPr>
          <a:lstStyle/>
          <a:p>
            <a:pPr algn="l"/>
            <a:r>
              <a:rPr sz="2100" b="0" i="0">
                <a:solidFill>
                  <a:srgbClr val="E8C27A"/>
                </a:solidFill>
                <a:latin typeface="Geist Mono"/>
                <a:ea typeface="Geist Mono"/>
                <a:cs typeface="Geist Mono"/>
              </a:rPr>
              <a:t>0.65</a:t>
            </a:r>
          </a:p>
        </p:txBody>
      </p:sp>
      <p:sp>
        <p:nvSpPr>
          <p:cNvPr id="19" name="TextBox 18"/>
          <p:cNvSpPr txBox="1"/>
          <p:nvPr/>
        </p:nvSpPr>
        <p:spPr>
          <a:xfrm>
            <a:off x="1295400" y="6610350"/>
            <a:ext cx="6667500" cy="53340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BatteryVoltage</a:t>
            </a:r>
          </a:p>
        </p:txBody>
      </p:sp>
      <p:sp>
        <p:nvSpPr>
          <p:cNvPr id="20" name="TextBox 19"/>
          <p:cNvSpPr txBox="1"/>
          <p:nvPr/>
        </p:nvSpPr>
        <p:spPr>
          <a:xfrm>
            <a:off x="8572500" y="6610350"/>
            <a:ext cx="6667500" cy="533400"/>
          </a:xfrm>
          <a:prstGeom prst="rect">
            <a:avLst/>
          </a:prstGeom>
          <a:noFill/>
        </p:spPr>
        <p:txBody>
          <a:bodyPr wrap="square" lIns="0" rIns="0" tIns="0" bIns="0" anchor="ctr">
            <a:spAutoFit/>
          </a:bodyPr>
          <a:lstStyle/>
          <a:p>
            <a:pPr algn="l"/>
            <a:r>
              <a:rPr sz="2100" b="0" i="0">
                <a:solidFill>
                  <a:srgbClr val="E8C27A"/>
                </a:solidFill>
                <a:latin typeface="Geist Mono"/>
                <a:ea typeface="Geist Mono"/>
                <a:cs typeface="Geist Mono"/>
              </a:rPr>
              <a:t>12.4</a:t>
            </a:r>
          </a:p>
        </p:txBody>
      </p:sp>
      <p:sp>
        <p:nvSpPr>
          <p:cNvPr id="21" name="TextBox 20"/>
          <p:cNvSpPr txBox="1"/>
          <p:nvPr/>
        </p:nvSpPr>
        <p:spPr>
          <a:xfrm>
            <a:off x="1295400" y="7219950"/>
            <a:ext cx="6667500" cy="53340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GamePieceLoaded</a:t>
            </a:r>
          </a:p>
        </p:txBody>
      </p:sp>
      <p:sp>
        <p:nvSpPr>
          <p:cNvPr id="22" name="TextBox 21"/>
          <p:cNvSpPr txBox="1"/>
          <p:nvPr/>
        </p:nvSpPr>
        <p:spPr>
          <a:xfrm>
            <a:off x="8572500" y="7219950"/>
            <a:ext cx="6667500" cy="533400"/>
          </a:xfrm>
          <a:prstGeom prst="rect">
            <a:avLst/>
          </a:prstGeom>
          <a:noFill/>
        </p:spPr>
        <p:txBody>
          <a:bodyPr wrap="square" lIns="0" rIns="0" tIns="0" bIns="0" anchor="ctr">
            <a:spAutoFit/>
          </a:bodyPr>
          <a:lstStyle/>
          <a:p>
            <a:pPr algn="l"/>
            <a:r>
              <a:rPr sz="2100" b="0" i="0">
                <a:solidFill>
                  <a:srgbClr val="E0785F"/>
                </a:solidFill>
                <a:latin typeface="Geist Mono"/>
                <a:ea typeface="Geist Mono"/>
                <a:cs typeface="Geist Mono"/>
              </a:rPr>
              <a:t>true</a:t>
            </a:r>
          </a:p>
        </p:txBody>
      </p:sp>
      <p:sp>
        <p:nvSpPr>
          <p:cNvPr id="23" name="TextBox 22"/>
          <p:cNvSpPr txBox="1"/>
          <p:nvPr/>
        </p:nvSpPr>
        <p:spPr>
          <a:xfrm>
            <a:off x="1295400" y="7829550"/>
            <a:ext cx="6667500" cy="53340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AutoRoutine</a:t>
            </a:r>
          </a:p>
        </p:txBody>
      </p:sp>
      <p:sp>
        <p:nvSpPr>
          <p:cNvPr id="24" name="TextBox 23"/>
          <p:cNvSpPr txBox="1"/>
          <p:nvPr/>
        </p:nvSpPr>
        <p:spPr>
          <a:xfrm>
            <a:off x="8572500" y="7829550"/>
            <a:ext cx="6667500" cy="533400"/>
          </a:xfrm>
          <a:prstGeom prst="rect">
            <a:avLst/>
          </a:prstGeom>
          <a:noFill/>
        </p:spPr>
        <p:txBody>
          <a:bodyPr wrap="square" lIns="0" rIns="0" tIns="0" bIns="0" anchor="ctr">
            <a:spAutoFit/>
          </a:bodyPr>
          <a:lstStyle/>
          <a:p>
            <a:pPr algn="l"/>
            <a:r>
              <a:rPr sz="2100" b="0" i="0">
                <a:solidFill>
                  <a:srgbClr val="9FD29A"/>
                </a:solidFill>
                <a:latin typeface="Geist Mono"/>
                <a:ea typeface="Geist Mono"/>
                <a:cs typeface="Geist Mono"/>
              </a:rPr>
              <a:t>"Left, shoot 2"</a:t>
            </a:r>
          </a:p>
        </p:txBody>
      </p:sp>
      <p:sp>
        <p:nvSpPr>
          <p:cNvPr id="25" name="TextBox 2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6" name="TextBox 2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ELASTIC</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Widgets match the data</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1581150"/>
          </a:xfrm>
          <a:prstGeom prst="roundRect">
            <a:avLst>
              <a:gd name="adj" fmla="val 96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124200"/>
            <a:ext cx="7239000" cy="47625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Boolean Box</a:t>
            </a:r>
          </a:p>
        </p:txBody>
      </p:sp>
      <p:sp>
        <p:nvSpPr>
          <p:cNvPr id="7" name="TextBox 6"/>
          <p:cNvSpPr txBox="1"/>
          <p:nvPr/>
        </p:nvSpPr>
        <p:spPr>
          <a:xfrm>
            <a:off x="1295400" y="3695700"/>
            <a:ext cx="7239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Game piece loaded?  ·  </a:t>
            </a:r>
            <a:r>
              <a:rPr sz="1800" b="0" i="0">
                <a:solidFill>
                  <a:srgbClr val="E0785F"/>
                </a:solidFill>
                <a:latin typeface="Geist Mono"/>
                <a:ea typeface="Geist Mono"/>
                <a:cs typeface="Geist Mono"/>
              </a:rPr>
              <a:t>true / false</a:t>
            </a:r>
          </a:p>
        </p:txBody>
      </p:sp>
      <p:sp>
        <p:nvSpPr>
          <p:cNvPr id="8" name="Rounded Rectangle 7"/>
          <p:cNvSpPr/>
          <p:nvPr/>
        </p:nvSpPr>
        <p:spPr>
          <a:xfrm>
            <a:off x="914400" y="4667250"/>
            <a:ext cx="8039100" cy="1581150"/>
          </a:xfrm>
          <a:prstGeom prst="roundRect">
            <a:avLst>
              <a:gd name="adj" fmla="val 96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95400" y="4933950"/>
            <a:ext cx="7239000" cy="47625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Number Bar</a:t>
            </a:r>
          </a:p>
        </p:txBody>
      </p:sp>
      <p:sp>
        <p:nvSpPr>
          <p:cNvPr id="10" name="TextBox 9"/>
          <p:cNvSpPr txBox="1"/>
          <p:nvPr/>
        </p:nvSpPr>
        <p:spPr>
          <a:xfrm>
            <a:off x="1295400" y="5505450"/>
            <a:ext cx="7239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Climber speed  ·  </a:t>
            </a:r>
            <a:r>
              <a:rPr sz="1800" b="0" i="0">
                <a:solidFill>
                  <a:srgbClr val="E0785F"/>
                </a:solidFill>
                <a:latin typeface="Geist Mono"/>
                <a:ea typeface="Geist Mono"/>
                <a:cs typeface="Geist Mono"/>
              </a:rPr>
              <a:t>number in a range</a:t>
            </a:r>
          </a:p>
        </p:txBody>
      </p:sp>
      <p:sp>
        <p:nvSpPr>
          <p:cNvPr id="11" name="Rounded Rectangle 10"/>
          <p:cNvSpPr/>
          <p:nvPr/>
        </p:nvSpPr>
        <p:spPr>
          <a:xfrm>
            <a:off x="914400" y="6477000"/>
            <a:ext cx="8039100" cy="1581150"/>
          </a:xfrm>
          <a:prstGeom prst="roundRect">
            <a:avLst>
              <a:gd name="adj" fmla="val 96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95400" y="6743700"/>
            <a:ext cx="7239000" cy="47625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Voltage View</a:t>
            </a:r>
          </a:p>
        </p:txBody>
      </p:sp>
      <p:sp>
        <p:nvSpPr>
          <p:cNvPr id="13" name="TextBox 12"/>
          <p:cNvSpPr txBox="1"/>
          <p:nvPr/>
        </p:nvSpPr>
        <p:spPr>
          <a:xfrm>
            <a:off x="1295400" y="7315200"/>
            <a:ext cx="7239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Battery voltage  ·  </a:t>
            </a:r>
            <a:r>
              <a:rPr sz="1800" b="0" i="0">
                <a:solidFill>
                  <a:srgbClr val="E0785F"/>
                </a:solidFill>
                <a:latin typeface="Geist Mono"/>
                <a:ea typeface="Geist Mono"/>
                <a:cs typeface="Geist Mono"/>
              </a:rPr>
              <a:t>number</a:t>
            </a:r>
          </a:p>
        </p:txBody>
      </p:sp>
      <p:sp>
        <p:nvSpPr>
          <p:cNvPr id="14" name="Rounded Rectangle 13"/>
          <p:cNvSpPr/>
          <p:nvPr/>
        </p:nvSpPr>
        <p:spPr>
          <a:xfrm>
            <a:off x="9334500" y="2857500"/>
            <a:ext cx="8039100" cy="1581150"/>
          </a:xfrm>
          <a:prstGeom prst="roundRect">
            <a:avLst>
              <a:gd name="adj" fmla="val 96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715500" y="3124200"/>
            <a:ext cx="7239000" cy="47625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Radial Gauge</a:t>
            </a:r>
          </a:p>
        </p:txBody>
      </p:sp>
      <p:sp>
        <p:nvSpPr>
          <p:cNvPr id="16" name="TextBox 15"/>
          <p:cNvSpPr txBox="1"/>
          <p:nvPr/>
        </p:nvSpPr>
        <p:spPr>
          <a:xfrm>
            <a:off x="9715500" y="3695700"/>
            <a:ext cx="7239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Gyro heading  ·  </a:t>
            </a:r>
            <a:r>
              <a:rPr sz="1800" b="0" i="0">
                <a:solidFill>
                  <a:srgbClr val="E0785F"/>
                </a:solidFill>
                <a:latin typeface="Geist Mono"/>
                <a:ea typeface="Geist Mono"/>
                <a:cs typeface="Geist Mono"/>
              </a:rPr>
              <a:t>number in degrees</a:t>
            </a:r>
          </a:p>
        </p:txBody>
      </p:sp>
      <p:sp>
        <p:nvSpPr>
          <p:cNvPr id="17" name="Rounded Rectangle 16"/>
          <p:cNvSpPr/>
          <p:nvPr/>
        </p:nvSpPr>
        <p:spPr>
          <a:xfrm>
            <a:off x="9334500" y="4667250"/>
            <a:ext cx="8039100" cy="1581150"/>
          </a:xfrm>
          <a:prstGeom prst="roundRect">
            <a:avLst>
              <a:gd name="adj" fmla="val 96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715500" y="4933950"/>
            <a:ext cx="7239000" cy="47625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Match Time</a:t>
            </a:r>
          </a:p>
        </p:txBody>
      </p:sp>
      <p:sp>
        <p:nvSpPr>
          <p:cNvPr id="19" name="TextBox 18"/>
          <p:cNvSpPr txBox="1"/>
          <p:nvPr/>
        </p:nvSpPr>
        <p:spPr>
          <a:xfrm>
            <a:off x="9715500" y="5505450"/>
            <a:ext cx="7239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Time left  ·  </a:t>
            </a:r>
            <a:r>
              <a:rPr sz="1800" b="0" i="0">
                <a:solidFill>
                  <a:srgbClr val="E0785F"/>
                </a:solidFill>
                <a:latin typeface="Geist Mono"/>
                <a:ea typeface="Geist Mono"/>
                <a:cs typeface="Geist Mono"/>
              </a:rPr>
              <a:t>number of seconds</a:t>
            </a:r>
          </a:p>
        </p:txBody>
      </p:sp>
      <p:sp>
        <p:nvSpPr>
          <p:cNvPr id="20" name="Rounded Rectangle 19"/>
          <p:cNvSpPr/>
          <p:nvPr/>
        </p:nvSpPr>
        <p:spPr>
          <a:xfrm>
            <a:off x="9334500" y="6477000"/>
            <a:ext cx="8039100" cy="1581150"/>
          </a:xfrm>
          <a:prstGeom prst="roundRect">
            <a:avLst>
              <a:gd name="adj" fmla="val 96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715500" y="6743700"/>
            <a:ext cx="7239000" cy="47625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Field</a:t>
            </a:r>
          </a:p>
        </p:txBody>
      </p:sp>
      <p:sp>
        <p:nvSpPr>
          <p:cNvPr id="22" name="TextBox 21"/>
          <p:cNvSpPr txBox="1"/>
          <p:nvPr/>
        </p:nvSpPr>
        <p:spPr>
          <a:xfrm>
            <a:off x="9715500" y="7315200"/>
            <a:ext cx="7239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Robot pose  ·  </a:t>
            </a:r>
            <a:r>
              <a:rPr sz="1800" b="0" i="0">
                <a:solidFill>
                  <a:srgbClr val="E0785F"/>
                </a:solidFill>
                <a:latin typeface="Geist Mono"/>
                <a:ea typeface="Geist Mono"/>
                <a:cs typeface="Geist Mono"/>
              </a:rPr>
              <a:t>Pose2d</a:t>
            </a:r>
          </a:p>
        </p:txBody>
      </p:sp>
      <p:sp>
        <p:nvSpPr>
          <p:cNvPr id="23" name="TextBox 2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4" name="TextBox 2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ELASTIC</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Adding a widget</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914400" y="2857500"/>
            <a:ext cx="8039100" cy="3976990"/>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hot_el_dialog_dragging.jpg"/>
          <p:cNvPicPr>
            <a:picLocks noChangeAspect="1"/>
          </p:cNvPicPr>
          <p:nvPr/>
        </p:nvPicPr>
        <p:blipFill>
          <a:blip r:embed="rId3"/>
          <a:stretch>
            <a:fillRect/>
          </a:stretch>
        </p:blipFill>
        <p:spPr>
          <a:xfrm>
            <a:off x="914400" y="2857500"/>
            <a:ext cx="8039100" cy="3976990"/>
          </a:xfrm>
          <a:prstGeom prst="rect">
            <a:avLst/>
          </a:prstGeom>
        </p:spPr>
      </p:pic>
      <p:sp>
        <p:nvSpPr>
          <p:cNvPr id="7" name="Rectangle 6"/>
          <p:cNvSpPr/>
          <p:nvPr/>
        </p:nvSpPr>
        <p:spPr>
          <a:xfrm>
            <a:off x="914400" y="2857500"/>
            <a:ext cx="8039100" cy="3976990"/>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914400" y="7143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7143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0" name="TextBox 9"/>
          <p:cNvSpPr txBox="1"/>
          <p:nvPr/>
        </p:nvSpPr>
        <p:spPr>
          <a:xfrm>
            <a:off x="1524000" y="7105650"/>
            <a:ext cx="74295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Drag a topic in</a:t>
            </a:r>
          </a:p>
        </p:txBody>
      </p:sp>
      <p:sp>
        <p:nvSpPr>
          <p:cNvPr id="11" name="TextBox 10"/>
          <p:cNvSpPr txBox="1"/>
          <p:nvPr/>
        </p:nvSpPr>
        <p:spPr>
          <a:xfrm>
            <a:off x="1524000" y="7524750"/>
            <a:ext cx="7429500" cy="5715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 Add Widget, then drag a topic onto the grid</a:t>
            </a:r>
          </a:p>
        </p:txBody>
      </p:sp>
      <p:sp>
        <p:nvSpPr>
          <p:cNvPr id="12" name="Rectangle 11"/>
          <p:cNvSpPr/>
          <p:nvPr/>
        </p:nvSpPr>
        <p:spPr>
          <a:xfrm>
            <a:off x="9334500" y="2857500"/>
            <a:ext cx="8039100" cy="3976990"/>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shot_el_properties_menu.jpg"/>
          <p:cNvPicPr>
            <a:picLocks noChangeAspect="1"/>
          </p:cNvPicPr>
          <p:nvPr/>
        </p:nvPicPr>
        <p:blipFill>
          <a:blip r:embed="rId4"/>
          <a:stretch>
            <a:fillRect/>
          </a:stretch>
        </p:blipFill>
        <p:spPr>
          <a:xfrm>
            <a:off x="9334500" y="2857500"/>
            <a:ext cx="8039100" cy="3976990"/>
          </a:xfrm>
          <a:prstGeom prst="rect">
            <a:avLst/>
          </a:prstGeom>
        </p:spPr>
      </p:pic>
      <p:sp>
        <p:nvSpPr>
          <p:cNvPr id="14" name="Rectangle 13"/>
          <p:cNvSpPr/>
          <p:nvPr/>
        </p:nvSpPr>
        <p:spPr>
          <a:xfrm>
            <a:off x="9334500" y="2857500"/>
            <a:ext cx="8039100" cy="3976990"/>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9334500" y="7143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34500" y="7143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7" name="TextBox 16"/>
          <p:cNvSpPr txBox="1"/>
          <p:nvPr/>
        </p:nvSpPr>
        <p:spPr>
          <a:xfrm>
            <a:off x="9944100" y="7105650"/>
            <a:ext cx="74295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Edit its properties</a:t>
            </a:r>
          </a:p>
        </p:txBody>
      </p:sp>
      <p:sp>
        <p:nvSpPr>
          <p:cNvPr id="18" name="TextBox 17"/>
          <p:cNvSpPr txBox="1"/>
          <p:nvPr/>
        </p:nvSpPr>
        <p:spPr>
          <a:xfrm>
            <a:off x="9944100" y="7524750"/>
            <a:ext cx="7429500" cy="5715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Right-click &gt; Edit Properties: type, title, range</a:t>
            </a:r>
          </a:p>
        </p:txBody>
      </p:sp>
      <p:sp>
        <p:nvSpPr>
          <p:cNvPr id="19" name="TextBox 1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0" name="TextBox 1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ELASTIC</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Showing values, and sending them</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4381500"/>
          </a:xfrm>
          <a:prstGeom prst="roundRect">
            <a:avLst>
              <a:gd name="adj" fmla="val 347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371600" y="3238500"/>
            <a:ext cx="3810000" cy="666750"/>
          </a:xfrm>
          <a:prstGeom prst="rect">
            <a:avLst/>
          </a:prstGeom>
          <a:noFill/>
        </p:spPr>
        <p:txBody>
          <a:bodyPr wrap="square" lIns="0" rIns="0" tIns="0" bIns="0" anchor="t">
            <a:spAutoFit/>
          </a:bodyPr>
          <a:lstStyle/>
          <a:p>
            <a:pPr algn="l"/>
            <a:r>
              <a:rPr sz="3600" b="1" i="0">
                <a:solidFill>
                  <a:srgbClr val="F0E8E8"/>
                </a:solidFill>
                <a:latin typeface="Geist"/>
                <a:ea typeface="Geist"/>
                <a:cs typeface="Geist"/>
              </a:rPr>
              <a:t>Show</a:t>
            </a:r>
          </a:p>
        </p:txBody>
      </p:sp>
      <p:sp>
        <p:nvSpPr>
          <p:cNvPr id="7" name="TextBox 6"/>
          <p:cNvSpPr txBox="1"/>
          <p:nvPr/>
        </p:nvSpPr>
        <p:spPr>
          <a:xfrm>
            <a:off x="1371600" y="3905250"/>
            <a:ext cx="5715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Robot → driver</a:t>
            </a:r>
          </a:p>
        </p:txBody>
      </p:sp>
      <p:sp>
        <p:nvSpPr>
          <p:cNvPr id="8" name="TextBox 7"/>
          <p:cNvSpPr txBox="1"/>
          <p:nvPr/>
        </p:nvSpPr>
        <p:spPr>
          <a:xfrm>
            <a:off x="1371600" y="466725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Text Display, Number Bar</a:t>
            </a:r>
          </a:p>
        </p:txBody>
      </p:sp>
      <p:sp>
        <p:nvSpPr>
          <p:cNvPr id="9" name="TextBox 8"/>
          <p:cNvSpPr txBox="1"/>
          <p:nvPr/>
        </p:nvSpPr>
        <p:spPr>
          <a:xfrm>
            <a:off x="1371600" y="524827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Voltage View, Radial Gauge</a:t>
            </a:r>
          </a:p>
        </p:txBody>
      </p:sp>
      <p:sp>
        <p:nvSpPr>
          <p:cNvPr id="10" name="TextBox 9"/>
          <p:cNvSpPr txBox="1"/>
          <p:nvPr/>
        </p:nvSpPr>
        <p:spPr>
          <a:xfrm>
            <a:off x="1371600" y="582930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Graph, Match Time, Boolean Box</a:t>
            </a:r>
          </a:p>
        </p:txBody>
      </p:sp>
      <p:sp>
        <p:nvSpPr>
          <p:cNvPr id="11" name="Rounded Rectangle 10"/>
          <p:cNvSpPr/>
          <p:nvPr/>
        </p:nvSpPr>
        <p:spPr>
          <a:xfrm>
            <a:off x="9334500" y="2857500"/>
            <a:ext cx="8039100" cy="4381500"/>
          </a:xfrm>
          <a:prstGeom prst="roundRect">
            <a:avLst>
              <a:gd name="adj" fmla="val 3478"/>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791700" y="3238500"/>
            <a:ext cx="3810000" cy="666750"/>
          </a:xfrm>
          <a:prstGeom prst="rect">
            <a:avLst/>
          </a:prstGeom>
          <a:noFill/>
        </p:spPr>
        <p:txBody>
          <a:bodyPr wrap="square" lIns="0" rIns="0" tIns="0" bIns="0" anchor="t">
            <a:spAutoFit/>
          </a:bodyPr>
          <a:lstStyle/>
          <a:p>
            <a:pPr algn="l"/>
            <a:r>
              <a:rPr sz="3600" b="1" i="0">
                <a:solidFill>
                  <a:srgbClr val="F0E8E8"/>
                </a:solidFill>
                <a:latin typeface="Geist"/>
                <a:ea typeface="Geist"/>
                <a:cs typeface="Geist"/>
              </a:rPr>
              <a:t>Send</a:t>
            </a:r>
          </a:p>
        </p:txBody>
      </p:sp>
      <p:sp>
        <p:nvSpPr>
          <p:cNvPr id="13" name="TextBox 12"/>
          <p:cNvSpPr txBox="1"/>
          <p:nvPr/>
        </p:nvSpPr>
        <p:spPr>
          <a:xfrm>
            <a:off x="9791700" y="3905250"/>
            <a:ext cx="5715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Driver → robot</a:t>
            </a:r>
          </a:p>
        </p:txBody>
      </p:sp>
      <p:sp>
        <p:nvSpPr>
          <p:cNvPr id="14" name="TextBox 13"/>
          <p:cNvSpPr txBox="1"/>
          <p:nvPr/>
        </p:nvSpPr>
        <p:spPr>
          <a:xfrm>
            <a:off x="9791700" y="466725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Number Slider, Toggle Button</a:t>
            </a:r>
          </a:p>
        </p:txBody>
      </p:sp>
      <p:sp>
        <p:nvSpPr>
          <p:cNvPr id="15" name="TextBox 14"/>
          <p:cNvSpPr txBox="1"/>
          <p:nvPr/>
        </p:nvSpPr>
        <p:spPr>
          <a:xfrm>
            <a:off x="9791700" y="524827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Choosers: pick the auto routine</a:t>
            </a:r>
          </a:p>
        </p:txBody>
      </p:sp>
      <p:sp>
        <p:nvSpPr>
          <p:cNvPr id="16" name="TextBox 15"/>
          <p:cNvSpPr txBox="1"/>
          <p:nvPr/>
        </p:nvSpPr>
        <p:spPr>
          <a:xfrm>
            <a:off x="9791700" y="582930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Text with a Submit button</a:t>
            </a:r>
          </a:p>
        </p:txBody>
      </p:sp>
      <p:sp>
        <p:nvSpPr>
          <p:cNvPr id="17" name="Rounded Rectangle 16"/>
          <p:cNvSpPr/>
          <p:nvPr/>
        </p:nvSpPr>
        <p:spPr>
          <a:xfrm>
            <a:off x="914400" y="76200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33500" y="7620000"/>
            <a:ext cx="1565910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Tabs and layouts:  </a:t>
            </a:r>
            <a:r>
              <a:rPr sz="2100" b="0" i="0">
                <a:solidFill>
                  <a:srgbClr val="F0E8E8"/>
                </a:solidFill>
                <a:latin typeface="Geist"/>
                <a:ea typeface="Geist"/>
                <a:cs typeface="Geist"/>
              </a:rPr>
              <a:t>a few tabs for competition, the rest for debugging. Use File &gt; Save.</a:t>
            </a:r>
          </a:p>
        </p:txBody>
      </p:sp>
      <p:sp>
        <p:nvSpPr>
          <p:cNvPr id="19" name="TextBox 1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0" name="TextBox 1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05</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Choreo</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Planning paths for autonomous</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43</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Nobody drives me in auto. I just follow the plan!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CHOREO</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is autonomous?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The start of every match</a:t>
            </a:r>
          </a:p>
        </p:txBody>
      </p:sp>
      <p:sp>
        <p:nvSpPr>
          <p:cNvPr id="6" name="TextBox 5"/>
          <p:cNvSpPr txBox="1"/>
          <p:nvPr/>
        </p:nvSpPr>
        <p:spPr>
          <a:xfrm>
            <a:off x="914400" y="351472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No driver: the robot follows a plan</a:t>
            </a:r>
          </a:p>
        </p:txBody>
      </p:sp>
      <p:sp>
        <p:nvSpPr>
          <p:cNvPr id="7" name="TextBox 6"/>
          <p:cNvSpPr txBox="1"/>
          <p:nvPr/>
        </p:nvSpPr>
        <p:spPr>
          <a:xfrm>
            <a:off x="914400" y="417195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Points scored here often decide matches</a:t>
            </a:r>
          </a:p>
        </p:txBody>
      </p:sp>
      <p:sp>
        <p:nvSpPr>
          <p:cNvPr id="8" name="TextBox 7"/>
          <p:cNvSpPr txBox="1"/>
          <p:nvPr/>
        </p:nvSpPr>
        <p:spPr>
          <a:xfrm>
            <a:off x="914400" y="482917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Choreo makes the plan: a trajectory</a:t>
            </a:r>
          </a:p>
        </p:txBody>
      </p:sp>
      <p:sp>
        <p:nvSpPr>
          <p:cNvPr id="9" name="Rectangle 8"/>
          <p:cNvSpPr/>
          <p:nvPr/>
        </p:nvSpPr>
        <p:spPr>
          <a:xfrm>
            <a:off x="9144000" y="2857500"/>
            <a:ext cx="8103949" cy="5715000"/>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choreo.png"/>
          <p:cNvPicPr>
            <a:picLocks noChangeAspect="1"/>
          </p:cNvPicPr>
          <p:nvPr/>
        </p:nvPicPr>
        <p:blipFill>
          <a:blip r:embed="rId3"/>
          <a:stretch>
            <a:fillRect/>
          </a:stretch>
        </p:blipFill>
        <p:spPr>
          <a:xfrm>
            <a:off x="9144000" y="2857500"/>
            <a:ext cx="8103949" cy="5715000"/>
          </a:xfrm>
          <a:prstGeom prst="rect">
            <a:avLst/>
          </a:prstGeom>
        </p:spPr>
      </p:pic>
      <p:sp>
        <p:nvSpPr>
          <p:cNvPr id="11" name="Rectangle 10"/>
          <p:cNvSpPr/>
          <p:nvPr/>
        </p:nvSpPr>
        <p:spPr>
          <a:xfrm>
            <a:off x="9144000" y="2857500"/>
            <a:ext cx="8103949" cy="5715000"/>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3" name="TextBox 1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CHOREO</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Path vs trajectory</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77200" cy="4000500"/>
          </a:xfrm>
          <a:prstGeom prst="roundRect">
            <a:avLst>
              <a:gd name="adj" fmla="val 380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in-map.png"/>
          <p:cNvPicPr>
            <a:picLocks noChangeAspect="1"/>
          </p:cNvPicPr>
          <p:nvPr/>
        </p:nvPicPr>
        <p:blipFill>
          <a:blip r:embed="rId3"/>
          <a:stretch>
            <a:fillRect/>
          </a:stretch>
        </p:blipFill>
        <p:spPr>
          <a:xfrm>
            <a:off x="1295400" y="3238500"/>
            <a:ext cx="685800" cy="685800"/>
          </a:xfrm>
          <a:prstGeom prst="rect">
            <a:avLst/>
          </a:prstGeom>
        </p:spPr>
      </p:pic>
      <p:sp>
        <p:nvSpPr>
          <p:cNvPr id="7" name="TextBox 6"/>
          <p:cNvSpPr txBox="1"/>
          <p:nvPr/>
        </p:nvSpPr>
        <p:spPr>
          <a:xfrm>
            <a:off x="1295400" y="4191000"/>
            <a:ext cx="7315200" cy="5715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Path</a:t>
            </a:r>
          </a:p>
        </p:txBody>
      </p:sp>
      <p:sp>
        <p:nvSpPr>
          <p:cNvPr id="8" name="TextBox 7"/>
          <p:cNvSpPr txBox="1"/>
          <p:nvPr/>
        </p:nvSpPr>
        <p:spPr>
          <a:xfrm>
            <a:off x="1295400" y="4802505"/>
            <a:ext cx="7315200" cy="2095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The route: the points the robot drives through.</a:t>
            </a:r>
          </a:p>
        </p:txBody>
      </p:sp>
      <p:sp>
        <p:nvSpPr>
          <p:cNvPr id="9" name="Rounded Rectangle 8"/>
          <p:cNvSpPr/>
          <p:nvPr/>
        </p:nvSpPr>
        <p:spPr>
          <a:xfrm>
            <a:off x="9296400" y="2857500"/>
            <a:ext cx="8077200" cy="4000500"/>
          </a:xfrm>
          <a:prstGeom prst="roundRect">
            <a:avLst>
              <a:gd name="adj" fmla="val 3809"/>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topwatch.png"/>
          <p:cNvPicPr>
            <a:picLocks noChangeAspect="1"/>
          </p:cNvPicPr>
          <p:nvPr/>
        </p:nvPicPr>
        <p:blipFill>
          <a:blip r:embed="rId4"/>
          <a:stretch>
            <a:fillRect/>
          </a:stretch>
        </p:blipFill>
        <p:spPr>
          <a:xfrm>
            <a:off x="9677400" y="3238500"/>
            <a:ext cx="619432" cy="685800"/>
          </a:xfrm>
          <a:prstGeom prst="rect">
            <a:avLst/>
          </a:prstGeom>
        </p:spPr>
      </p:pic>
      <p:sp>
        <p:nvSpPr>
          <p:cNvPr id="11" name="TextBox 10"/>
          <p:cNvSpPr txBox="1"/>
          <p:nvPr/>
        </p:nvSpPr>
        <p:spPr>
          <a:xfrm>
            <a:off x="9677400" y="4191000"/>
            <a:ext cx="7315200" cy="5715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Trajectory</a:t>
            </a:r>
          </a:p>
        </p:txBody>
      </p:sp>
      <p:sp>
        <p:nvSpPr>
          <p:cNvPr id="12" name="TextBox 11"/>
          <p:cNvSpPr txBox="1"/>
          <p:nvPr/>
        </p:nvSpPr>
        <p:spPr>
          <a:xfrm>
            <a:off x="9677400" y="4802505"/>
            <a:ext cx="7315200" cy="2095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The route plus timing: position, heading and speed at every moment.</a:t>
            </a:r>
          </a:p>
        </p:txBody>
      </p:sp>
      <p:sp>
        <p:nvSpPr>
          <p:cNvPr id="13" name="Rounded Rectangle 12"/>
          <p:cNvSpPr/>
          <p:nvPr/>
        </p:nvSpPr>
        <p:spPr>
          <a:xfrm>
            <a:off x="914400" y="74295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obot.png"/>
          <p:cNvPicPr>
            <a:picLocks noChangeAspect="1"/>
          </p:cNvPicPr>
          <p:nvPr/>
        </p:nvPicPr>
        <p:blipFill>
          <a:blip r:embed="rId5"/>
          <a:stretch>
            <a:fillRect/>
          </a:stretch>
        </p:blipFill>
        <p:spPr>
          <a:xfrm>
            <a:off x="1333500" y="7686675"/>
            <a:ext cx="568960" cy="533400"/>
          </a:xfrm>
          <a:prstGeom prst="rect">
            <a:avLst/>
          </a:prstGeom>
        </p:spPr>
      </p:pic>
      <p:sp>
        <p:nvSpPr>
          <p:cNvPr id="15" name="TextBox 14"/>
          <p:cNvSpPr txBox="1"/>
          <p:nvPr/>
        </p:nvSpPr>
        <p:spPr>
          <a:xfrm>
            <a:off x="2190750" y="742950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Robot code  </a:t>
            </a:r>
            <a:r>
              <a:rPr sz="2100" b="0" i="0">
                <a:solidFill>
                  <a:srgbClr val="F0E8E8"/>
                </a:solidFill>
                <a:latin typeface="Geist"/>
                <a:ea typeface="Geist"/>
                <a:cs typeface="Geist"/>
              </a:rPr>
              <a:t>follows the trajectory, checking every loop where it should be right now.</a:t>
            </a:r>
          </a:p>
        </p:txBody>
      </p:sp>
      <p:sp>
        <p:nvSpPr>
          <p:cNvPr id="16" name="TextBox 1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7" name="TextBox 1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CHOREO</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Waypoints and constraints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914400" y="2857500"/>
            <a:ext cx="8374081" cy="5905500"/>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hot_ch_keep-out-constraints.jpg"/>
          <p:cNvPicPr>
            <a:picLocks noChangeAspect="1"/>
          </p:cNvPicPr>
          <p:nvPr/>
        </p:nvPicPr>
        <p:blipFill>
          <a:blip r:embed="rId3"/>
          <a:stretch>
            <a:fillRect/>
          </a:stretch>
        </p:blipFill>
        <p:spPr>
          <a:xfrm>
            <a:off x="914400" y="2857500"/>
            <a:ext cx="8374081" cy="5905500"/>
          </a:xfrm>
          <a:prstGeom prst="rect">
            <a:avLst/>
          </a:prstGeom>
        </p:spPr>
      </p:pic>
      <p:sp>
        <p:nvSpPr>
          <p:cNvPr id="7" name="Rectangle 6"/>
          <p:cNvSpPr/>
          <p:nvPr/>
        </p:nvSpPr>
        <p:spPr>
          <a:xfrm>
            <a:off x="914400" y="2857500"/>
            <a:ext cx="8374081" cy="5905500"/>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9867900" y="2857500"/>
            <a:ext cx="7505700" cy="1333500"/>
          </a:xfrm>
          <a:prstGeom prst="roundRect">
            <a:avLst>
              <a:gd name="adj" fmla="val 10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210800" y="3048000"/>
            <a:ext cx="6858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Pose waypoint</a:t>
            </a:r>
          </a:p>
        </p:txBody>
      </p:sp>
      <p:sp>
        <p:nvSpPr>
          <p:cNvPr id="10" name="TextBox 9"/>
          <p:cNvSpPr txBox="1"/>
          <p:nvPr/>
        </p:nvSpPr>
        <p:spPr>
          <a:xfrm>
            <a:off x="10210800" y="3524250"/>
            <a:ext cx="6858000" cy="571500"/>
          </a:xfrm>
          <a:prstGeom prst="rect">
            <a:avLst/>
          </a:prstGeom>
          <a:noFill/>
        </p:spPr>
        <p:txBody>
          <a:bodyPr wrap="square" lIns="0" rIns="0" tIns="0" bIns="0" anchor="t">
            <a:spAutoFit/>
          </a:bodyPr>
          <a:lstStyle/>
          <a:p>
            <a:pPr algn="l"/>
            <a:r>
              <a:rPr sz="1725" b="0" i="0">
                <a:solidFill>
                  <a:srgbClr val="9A7878"/>
                </a:solidFill>
                <a:latin typeface="Geist"/>
                <a:ea typeface="Geist"/>
                <a:cs typeface="Geist"/>
              </a:rPr>
              <a:t>Pins position and heading. Use for start and end.</a:t>
            </a:r>
          </a:p>
        </p:txBody>
      </p:sp>
      <p:sp>
        <p:nvSpPr>
          <p:cNvPr id="11" name="Rounded Rectangle 10"/>
          <p:cNvSpPr/>
          <p:nvPr/>
        </p:nvSpPr>
        <p:spPr>
          <a:xfrm>
            <a:off x="9867900" y="4381500"/>
            <a:ext cx="7505700" cy="1333500"/>
          </a:xfrm>
          <a:prstGeom prst="roundRect">
            <a:avLst>
              <a:gd name="adj" fmla="val 10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210800" y="4572000"/>
            <a:ext cx="6858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Translation waypoint</a:t>
            </a:r>
          </a:p>
        </p:txBody>
      </p:sp>
      <p:sp>
        <p:nvSpPr>
          <p:cNvPr id="13" name="TextBox 12"/>
          <p:cNvSpPr txBox="1"/>
          <p:nvPr/>
        </p:nvSpPr>
        <p:spPr>
          <a:xfrm>
            <a:off x="10210800" y="5048250"/>
            <a:ext cx="6858000" cy="571500"/>
          </a:xfrm>
          <a:prstGeom prst="rect">
            <a:avLst/>
          </a:prstGeom>
          <a:noFill/>
        </p:spPr>
        <p:txBody>
          <a:bodyPr wrap="square" lIns="0" rIns="0" tIns="0" bIns="0" anchor="t">
            <a:spAutoFit/>
          </a:bodyPr>
          <a:lstStyle/>
          <a:p>
            <a:pPr algn="l"/>
            <a:r>
              <a:rPr sz="1725" b="0" i="0">
                <a:solidFill>
                  <a:srgbClr val="9A7878"/>
                </a:solidFill>
                <a:latin typeface="Geist"/>
                <a:ea typeface="Geist"/>
                <a:cs typeface="Geist"/>
              </a:rPr>
              <a:t>Pins only position. Choreo picks the heading.</a:t>
            </a:r>
          </a:p>
        </p:txBody>
      </p:sp>
      <p:sp>
        <p:nvSpPr>
          <p:cNvPr id="14" name="Rounded Rectangle 13"/>
          <p:cNvSpPr/>
          <p:nvPr/>
        </p:nvSpPr>
        <p:spPr>
          <a:xfrm>
            <a:off x="9867900" y="5905500"/>
            <a:ext cx="7505700" cy="1333500"/>
          </a:xfrm>
          <a:prstGeom prst="roundRect">
            <a:avLst>
              <a:gd name="adj" fmla="val 10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10800" y="6096000"/>
            <a:ext cx="6858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Constraint</a:t>
            </a:r>
          </a:p>
        </p:txBody>
      </p:sp>
      <p:sp>
        <p:nvSpPr>
          <p:cNvPr id="16" name="TextBox 15"/>
          <p:cNvSpPr txBox="1"/>
          <p:nvPr/>
        </p:nvSpPr>
        <p:spPr>
          <a:xfrm>
            <a:off x="10210800" y="6572250"/>
            <a:ext cx="6858000" cy="571500"/>
          </a:xfrm>
          <a:prstGeom prst="rect">
            <a:avLst/>
          </a:prstGeom>
          <a:noFill/>
        </p:spPr>
        <p:txBody>
          <a:bodyPr wrap="square" lIns="0" rIns="0" tIns="0" bIns="0" anchor="t">
            <a:spAutoFit/>
          </a:bodyPr>
          <a:lstStyle/>
          <a:p>
            <a:pPr algn="l"/>
            <a:r>
              <a:rPr sz="1725" b="0" i="0">
                <a:solidFill>
                  <a:srgbClr val="9A7878"/>
                </a:solidFill>
                <a:latin typeface="Geist"/>
                <a:ea typeface="Geist"/>
                <a:cs typeface="Geist"/>
              </a:rPr>
              <a:t>A rule the path obeys, like Max Velocity in one zone.</a:t>
            </a:r>
          </a:p>
        </p:txBody>
      </p:sp>
      <p:sp>
        <p:nvSpPr>
          <p:cNvPr id="17" name="Rounded Rectangle 16"/>
          <p:cNvSpPr/>
          <p:nvPr/>
        </p:nvSpPr>
        <p:spPr>
          <a:xfrm>
            <a:off x="9867900" y="7429500"/>
            <a:ext cx="7505700" cy="1333500"/>
          </a:xfrm>
          <a:prstGeom prst="roundRect">
            <a:avLst>
              <a:gd name="adj" fmla="val 10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10800" y="7620000"/>
            <a:ext cx="6858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Starter rule</a:t>
            </a:r>
          </a:p>
        </p:txBody>
      </p:sp>
      <p:sp>
        <p:nvSpPr>
          <p:cNvPr id="19" name="TextBox 18"/>
          <p:cNvSpPr txBox="1"/>
          <p:nvPr/>
        </p:nvSpPr>
        <p:spPr>
          <a:xfrm>
            <a:off x="10210800" y="8096250"/>
            <a:ext cx="6858000" cy="571500"/>
          </a:xfrm>
          <a:prstGeom prst="rect">
            <a:avLst/>
          </a:prstGeom>
          <a:noFill/>
        </p:spPr>
        <p:txBody>
          <a:bodyPr wrap="square" lIns="0" rIns="0" tIns="0" bIns="0" anchor="t">
            <a:spAutoFit/>
          </a:bodyPr>
          <a:lstStyle/>
          <a:p>
            <a:pPr algn="l"/>
            <a:r>
              <a:rPr sz="1725" b="0" i="0">
                <a:solidFill>
                  <a:srgbClr val="9A7878"/>
                </a:solidFill>
                <a:latin typeface="Geist"/>
                <a:ea typeface="Geist"/>
                <a:cs typeface="Geist"/>
              </a:rPr>
              <a:t>Every path begins with Stop at the start and end.</a:t>
            </a:r>
          </a:p>
        </p:txBody>
      </p:sp>
      <p:sp>
        <p:nvSpPr>
          <p:cNvPr id="20" name="TextBox 1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1" name="TextBox 2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CHOREO</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Generate: solving for the fastest path</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35433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9650" y="361950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Waypoints</a:t>
            </a:r>
          </a:p>
        </p:txBody>
      </p:sp>
      <p:sp>
        <p:nvSpPr>
          <p:cNvPr id="7" name="TextBox 6"/>
          <p:cNvSpPr txBox="1"/>
          <p:nvPr/>
        </p:nvSpPr>
        <p:spPr>
          <a:xfrm>
            <a:off x="10668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Where to go</a:t>
            </a:r>
          </a:p>
        </p:txBody>
      </p:sp>
      <p:cxnSp>
        <p:nvCxnSpPr>
          <p:cNvPr id="8" name="Connector 7"/>
          <p:cNvCxnSpPr/>
          <p:nvPr/>
        </p:nvCxnSpPr>
        <p:spPr>
          <a:xfrm>
            <a:off x="4533900" y="40957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219700" y="3143250"/>
            <a:ext cx="35433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314950" y="361950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Constraints</a:t>
            </a:r>
          </a:p>
        </p:txBody>
      </p:sp>
      <p:sp>
        <p:nvSpPr>
          <p:cNvPr id="11" name="TextBox 10"/>
          <p:cNvSpPr txBox="1"/>
          <p:nvPr/>
        </p:nvSpPr>
        <p:spPr>
          <a:xfrm>
            <a:off x="53721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Rules to obey</a:t>
            </a:r>
          </a:p>
        </p:txBody>
      </p:sp>
      <p:cxnSp>
        <p:nvCxnSpPr>
          <p:cNvPr id="12" name="Connector 11"/>
          <p:cNvCxnSpPr/>
          <p:nvPr/>
        </p:nvCxnSpPr>
        <p:spPr>
          <a:xfrm>
            <a:off x="8839200" y="40957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525000" y="3143250"/>
            <a:ext cx="3543300" cy="1905000"/>
          </a:xfrm>
          <a:prstGeom prst="roundRect">
            <a:avLst>
              <a:gd name="adj" fmla="val 8000"/>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20250" y="361950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Generate</a:t>
            </a:r>
          </a:p>
        </p:txBody>
      </p:sp>
      <p:sp>
        <p:nvSpPr>
          <p:cNvPr id="15" name="TextBox 14"/>
          <p:cNvSpPr txBox="1"/>
          <p:nvPr/>
        </p:nvSpPr>
        <p:spPr>
          <a:xfrm>
            <a:off x="96774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Solve with real limits</a:t>
            </a:r>
          </a:p>
        </p:txBody>
      </p:sp>
      <p:cxnSp>
        <p:nvCxnSpPr>
          <p:cNvPr id="16" name="Connector 15"/>
          <p:cNvCxnSpPr/>
          <p:nvPr/>
        </p:nvCxnSpPr>
        <p:spPr>
          <a:xfrm>
            <a:off x="13144500" y="40957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830300" y="3143250"/>
            <a:ext cx="35433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925550" y="3619500"/>
            <a:ext cx="3352800" cy="533400"/>
          </a:xfrm>
          <a:prstGeom prst="rect">
            <a:avLst/>
          </a:prstGeom>
          <a:noFill/>
        </p:spPr>
        <p:txBody>
          <a:bodyPr wrap="square" lIns="0" rIns="0" tIns="0" bIns="0" anchor="t">
            <a:spAutoFit/>
          </a:bodyPr>
          <a:lstStyle/>
          <a:p>
            <a:pPr algn="ctr"/>
            <a:r>
              <a:rPr sz="2550" b="1" i="0">
                <a:solidFill>
                  <a:srgbClr val="F0E8E8"/>
                </a:solidFill>
                <a:latin typeface="Geist Mono"/>
                <a:ea typeface="Geist Mono"/>
                <a:cs typeface="Geist Mono"/>
              </a:rPr>
              <a:t>.traj file</a:t>
            </a:r>
          </a:p>
        </p:txBody>
      </p:sp>
      <p:sp>
        <p:nvSpPr>
          <p:cNvPr id="19" name="TextBox 18"/>
          <p:cNvSpPr txBox="1"/>
          <p:nvPr/>
        </p:nvSpPr>
        <p:spPr>
          <a:xfrm>
            <a:off x="139827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The robot follows it</a:t>
            </a:r>
          </a:p>
        </p:txBody>
      </p:sp>
      <p:sp>
        <p:nvSpPr>
          <p:cNvPr id="20" name="Rounded Rectangle 19"/>
          <p:cNvSpPr/>
          <p:nvPr/>
        </p:nvSpPr>
        <p:spPr>
          <a:xfrm>
            <a:off x="914400" y="5715000"/>
            <a:ext cx="16459200" cy="1238250"/>
          </a:xfrm>
          <a:prstGeom prst="roundRect">
            <a:avLst>
              <a:gd name="adj" fmla="val 1230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exclamation-circle.png"/>
          <p:cNvPicPr>
            <a:picLocks noChangeAspect="1"/>
          </p:cNvPicPr>
          <p:nvPr/>
        </p:nvPicPr>
        <p:blipFill>
          <a:blip r:embed="rId3"/>
          <a:stretch>
            <a:fillRect/>
          </a:stretch>
        </p:blipFill>
        <p:spPr>
          <a:xfrm>
            <a:off x="1333500" y="6067425"/>
            <a:ext cx="533400" cy="533400"/>
          </a:xfrm>
          <a:prstGeom prst="rect">
            <a:avLst/>
          </a:prstGeom>
        </p:spPr>
      </p:pic>
      <p:sp>
        <p:nvSpPr>
          <p:cNvPr id="22" name="TextBox 21"/>
          <p:cNvSpPr txBox="1"/>
          <p:nvPr/>
        </p:nvSpPr>
        <p:spPr>
          <a:xfrm>
            <a:off x="2190750" y="5715000"/>
            <a:ext cx="14801850" cy="1238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Won't generate?  </a:t>
            </a:r>
            <a:r>
              <a:rPr sz="2100" b="0" i="0">
                <a:solidFill>
                  <a:srgbClr val="F0E8E8"/>
                </a:solidFill>
                <a:latin typeface="Geist"/>
                <a:ea typeface="Geist"/>
                <a:cs typeface="Geist"/>
              </a:rPr>
              <a:t>A rule the robot can't meet leaves it unsolved. Change the numbers or untick the constraint.</a:t>
            </a:r>
          </a:p>
        </p:txBody>
      </p:sp>
      <p:pic>
        <p:nvPicPr>
          <p:cNvPr id="23" name="Picture 22" descr="dozer_wide_left.png"/>
          <p:cNvPicPr>
            <a:picLocks noChangeAspect="1"/>
          </p:cNvPicPr>
          <p:nvPr/>
        </p:nvPicPr>
        <p:blipFill>
          <a:blip r:embed="rId4"/>
          <a:stretch>
            <a:fillRect/>
          </a:stretch>
        </p:blipFill>
        <p:spPr>
          <a:xfrm>
            <a:off x="15240000" y="7239000"/>
            <a:ext cx="1905000" cy="1170896"/>
          </a:xfrm>
          <a:prstGeom prst="rect">
            <a:avLst/>
          </a:prstGeom>
        </p:spPr>
      </p:pic>
      <p:sp>
        <p:nvSpPr>
          <p:cNvPr id="24" name="TextBox 23"/>
          <p:cNvSpPr txBox="1"/>
          <p:nvPr/>
        </p:nvSpPr>
        <p:spPr>
          <a:xfrm>
            <a:off x="914400" y="7429500"/>
            <a:ext cx="16459200" cy="38100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You'll make robots follow these in the Autonomous lesson.</a:t>
            </a:r>
          </a:p>
        </p:txBody>
      </p:sp>
      <p:sp>
        <p:nvSpPr>
          <p:cNvPr id="25" name="TextBox 2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6" name="TextBox 2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CHOREO</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Reading a generated path</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914400" y="2857500"/>
            <a:ext cx="10096500" cy="5844092"/>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hot_ch_path_gradient_velocity.jpg"/>
          <p:cNvPicPr>
            <a:picLocks noChangeAspect="1"/>
          </p:cNvPicPr>
          <p:nvPr/>
        </p:nvPicPr>
        <p:blipFill>
          <a:blip r:embed="rId3"/>
          <a:stretch>
            <a:fillRect/>
          </a:stretch>
        </p:blipFill>
        <p:spPr>
          <a:xfrm>
            <a:off x="914400" y="2857500"/>
            <a:ext cx="10096500" cy="5844092"/>
          </a:xfrm>
          <a:prstGeom prst="rect">
            <a:avLst/>
          </a:prstGeom>
        </p:spPr>
      </p:pic>
      <p:sp>
        <p:nvSpPr>
          <p:cNvPr id="7" name="Rectangle 6"/>
          <p:cNvSpPr/>
          <p:nvPr/>
        </p:nvSpPr>
        <p:spPr>
          <a:xfrm>
            <a:off x="914400" y="2857500"/>
            <a:ext cx="10096500" cy="5844092"/>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16776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6776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0" name="TextBox 9"/>
          <p:cNvSpPr txBox="1"/>
          <p:nvPr/>
        </p:nvSpPr>
        <p:spPr>
          <a:xfrm>
            <a:off x="12287250" y="281940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Color = speed</a:t>
            </a:r>
          </a:p>
        </p:txBody>
      </p:sp>
      <p:sp>
        <p:nvSpPr>
          <p:cNvPr id="11" name="TextBox 10"/>
          <p:cNvSpPr txBox="1"/>
          <p:nvPr/>
        </p:nvSpPr>
        <p:spPr>
          <a:xfrm>
            <a:off x="12287250" y="323850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See where the robot slows for a turn</a:t>
            </a:r>
          </a:p>
        </p:txBody>
      </p:sp>
      <p:sp>
        <p:nvSpPr>
          <p:cNvPr id="12" name="Oval 11"/>
          <p:cNvSpPr/>
          <p:nvPr/>
        </p:nvSpPr>
        <p:spPr>
          <a:xfrm>
            <a:off x="11677650" y="4476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677650" y="4476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4" name="TextBox 13"/>
          <p:cNvSpPr txBox="1"/>
          <p:nvPr/>
        </p:nvSpPr>
        <p:spPr>
          <a:xfrm>
            <a:off x="12287250" y="443865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Timeline</a:t>
            </a:r>
          </a:p>
        </p:txBody>
      </p:sp>
      <p:sp>
        <p:nvSpPr>
          <p:cNvPr id="15" name="TextBox 14"/>
          <p:cNvSpPr txBox="1"/>
          <p:nvPr/>
        </p:nvSpPr>
        <p:spPr>
          <a:xfrm>
            <a:off x="12287250" y="485775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Press play or drag to watch it drive</a:t>
            </a:r>
          </a:p>
        </p:txBody>
      </p:sp>
      <p:sp>
        <p:nvSpPr>
          <p:cNvPr id="16" name="Oval 15"/>
          <p:cNvSpPr/>
          <p:nvPr/>
        </p:nvSpPr>
        <p:spPr>
          <a:xfrm>
            <a:off x="11677650" y="6096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677650" y="6096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8" name="TextBox 17"/>
          <p:cNvSpPr txBox="1"/>
          <p:nvPr/>
        </p:nvSpPr>
        <p:spPr>
          <a:xfrm>
            <a:off x="12287250" y="605790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.traj file</a:t>
            </a:r>
          </a:p>
        </p:txBody>
      </p:sp>
      <p:sp>
        <p:nvSpPr>
          <p:cNvPr id="19" name="TextBox 18"/>
          <p:cNvSpPr txBox="1"/>
          <p:nvPr/>
        </p:nvSpPr>
        <p:spPr>
          <a:xfrm>
            <a:off x="12287250" y="647700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What the robot code loads in auto</a:t>
            </a:r>
          </a:p>
        </p:txBody>
      </p:sp>
      <p:sp>
        <p:nvSpPr>
          <p:cNvPr id="20" name="TextBox 1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1" name="TextBox 2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06</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Arbor</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Building autonomous routines as behavior trees</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49</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An auto is a tree of steps. I climb it one tick at a time!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ARBOR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is Arbor?</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85725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The editor for our autonomous routines</a:t>
            </a:r>
          </a:p>
        </p:txBody>
      </p:sp>
      <p:sp>
        <p:nvSpPr>
          <p:cNvPr id="6" name="TextBox 5"/>
          <p:cNvSpPr txBox="1"/>
          <p:nvPr/>
        </p:nvSpPr>
        <p:spPr>
          <a:xfrm>
            <a:off x="914400" y="3514725"/>
            <a:ext cx="85725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An auto is a behavior tree: steps the robot works through</a:t>
            </a:r>
          </a:p>
        </p:txBody>
      </p:sp>
      <p:sp>
        <p:nvSpPr>
          <p:cNvPr id="7" name="TextBox 6"/>
          <p:cNvSpPr txBox="1"/>
          <p:nvPr/>
        </p:nvSpPr>
        <p:spPr>
          <a:xfrm>
            <a:off x="914400" y="4171950"/>
            <a:ext cx="85725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Saved as an XML file the robot runs</a:t>
            </a:r>
          </a:p>
        </p:txBody>
      </p:sp>
      <p:sp>
        <p:nvSpPr>
          <p:cNvPr id="8" name="TextBox 7"/>
          <p:cNvSpPr txBox="1"/>
          <p:nvPr/>
        </p:nvSpPr>
        <p:spPr>
          <a:xfrm>
            <a:off x="914400" y="4829175"/>
            <a:ext cx="85725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Watch it run live, and replay a run afterwards</a:t>
            </a:r>
          </a:p>
        </p:txBody>
      </p:sp>
      <p:sp>
        <p:nvSpPr>
          <p:cNvPr id="9" name="Rounded Rectangle 8"/>
          <p:cNvSpPr/>
          <p:nvPr/>
        </p:nvSpPr>
        <p:spPr>
          <a:xfrm>
            <a:off x="10287000" y="2857500"/>
            <a:ext cx="7086600" cy="4000500"/>
          </a:xfrm>
          <a:prstGeom prst="roundRect">
            <a:avLst>
              <a:gd name="adj" fmla="val 380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arbor-logo.png"/>
          <p:cNvPicPr>
            <a:picLocks noChangeAspect="1"/>
          </p:cNvPicPr>
          <p:nvPr/>
        </p:nvPicPr>
        <p:blipFill>
          <a:blip r:embed="rId3"/>
          <a:stretch>
            <a:fillRect/>
          </a:stretch>
        </p:blipFill>
        <p:spPr>
          <a:xfrm>
            <a:off x="12782550" y="3238500"/>
            <a:ext cx="2117912" cy="2095500"/>
          </a:xfrm>
          <a:prstGeom prst="rect">
            <a:avLst/>
          </a:prstGeom>
        </p:spPr>
      </p:pic>
      <p:pic>
        <p:nvPicPr>
          <p:cNvPr id="11" name="Picture 10" descr="arbor-wordmark.png"/>
          <p:cNvPicPr>
            <a:picLocks noChangeAspect="1"/>
          </p:cNvPicPr>
          <p:nvPr/>
        </p:nvPicPr>
        <p:blipFill>
          <a:blip r:embed="rId4"/>
          <a:stretch>
            <a:fillRect/>
          </a:stretch>
        </p:blipFill>
        <p:spPr>
          <a:xfrm>
            <a:off x="12211050" y="5619750"/>
            <a:ext cx="3238500" cy="596665"/>
          </a:xfrm>
          <a:prstGeom prst="rect">
            <a:avLst/>
          </a:prstGeom>
        </p:spPr>
      </p:pic>
      <p:sp>
        <p:nvSpPr>
          <p:cNvPr id="12" name="Rounded Rectangle 11"/>
          <p:cNvSpPr/>
          <p:nvPr/>
        </p:nvSpPr>
        <p:spPr>
          <a:xfrm>
            <a:off x="914400" y="7429500"/>
            <a:ext cx="4978400" cy="1333500"/>
          </a:xfrm>
          <a:prstGeom prst="roundRect">
            <a:avLst>
              <a:gd name="adj" fmla="val 1142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9650" y="7620000"/>
            <a:ext cx="47879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Choreo</a:t>
            </a:r>
          </a:p>
        </p:txBody>
      </p:sp>
      <p:sp>
        <p:nvSpPr>
          <p:cNvPr id="14" name="TextBox 13"/>
          <p:cNvSpPr txBox="1"/>
          <p:nvPr/>
        </p:nvSpPr>
        <p:spPr>
          <a:xfrm>
            <a:off x="1066800" y="8210550"/>
            <a:ext cx="46736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Draws the paths</a:t>
            </a:r>
          </a:p>
        </p:txBody>
      </p:sp>
      <p:cxnSp>
        <p:nvCxnSpPr>
          <p:cNvPr id="15" name="Connector 14"/>
          <p:cNvCxnSpPr/>
          <p:nvPr/>
        </p:nvCxnSpPr>
        <p:spPr>
          <a:xfrm>
            <a:off x="5969000" y="80962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654800" y="7429500"/>
            <a:ext cx="4978400" cy="1333500"/>
          </a:xfrm>
          <a:prstGeom prst="roundRect">
            <a:avLst>
              <a:gd name="adj" fmla="val 11428"/>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50050" y="7620000"/>
            <a:ext cx="47879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Arbor</a:t>
            </a:r>
          </a:p>
        </p:txBody>
      </p:sp>
      <p:sp>
        <p:nvSpPr>
          <p:cNvPr id="18" name="TextBox 17"/>
          <p:cNvSpPr txBox="1"/>
          <p:nvPr/>
        </p:nvSpPr>
        <p:spPr>
          <a:xfrm>
            <a:off x="6807200" y="8210550"/>
            <a:ext cx="46736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Builds the routine</a:t>
            </a:r>
          </a:p>
        </p:txBody>
      </p:sp>
      <p:cxnSp>
        <p:nvCxnSpPr>
          <p:cNvPr id="19" name="Connector 18"/>
          <p:cNvCxnSpPr/>
          <p:nvPr/>
        </p:nvCxnSpPr>
        <p:spPr>
          <a:xfrm>
            <a:off x="11709400" y="80962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12395200" y="7429500"/>
            <a:ext cx="4978400" cy="1333500"/>
          </a:xfrm>
          <a:prstGeom prst="roundRect">
            <a:avLst>
              <a:gd name="adj" fmla="val 1142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2490450" y="7620000"/>
            <a:ext cx="47879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Robot</a:t>
            </a:r>
          </a:p>
        </p:txBody>
      </p:sp>
      <p:sp>
        <p:nvSpPr>
          <p:cNvPr id="22" name="TextBox 21"/>
          <p:cNvSpPr txBox="1"/>
          <p:nvPr/>
        </p:nvSpPr>
        <p:spPr>
          <a:xfrm>
            <a:off x="12547600" y="8210550"/>
            <a:ext cx="46736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Runs the XML file</a:t>
            </a:r>
          </a:p>
        </p:txBody>
      </p:sp>
      <p:sp>
        <p:nvSpPr>
          <p:cNvPr id="23" name="TextBox 2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4" name="TextBox 2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ARBOR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An auto is a tree of steps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7134225" y="7981950"/>
            <a:ext cx="38100" cy="276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7134225" y="8220075"/>
            <a:ext cx="381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134225" y="8220075"/>
            <a:ext cx="38100" cy="276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134225" y="6553200"/>
            <a:ext cx="38100" cy="276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134225" y="6791325"/>
            <a:ext cx="381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134225" y="6791325"/>
            <a:ext cx="38100" cy="276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8382000" y="5124450"/>
            <a:ext cx="38100" cy="276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134225" y="5362575"/>
            <a:ext cx="253365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134225" y="5362575"/>
            <a:ext cx="38100" cy="276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629775" y="5362575"/>
            <a:ext cx="38100" cy="276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134225" y="3695700"/>
            <a:ext cx="38100" cy="276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2143125" y="3933825"/>
            <a:ext cx="100203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2143125" y="3933825"/>
            <a:ext cx="38100" cy="276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4638675" y="3933825"/>
            <a:ext cx="38100" cy="276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382000" y="3933825"/>
            <a:ext cx="38100" cy="276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2125325" y="3933825"/>
            <a:ext cx="38100" cy="276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028700" y="4191000"/>
            <a:ext cx="226695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1066800" y="4286250"/>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257300" y="4305300"/>
            <a:ext cx="192405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FollowPath</a:t>
            </a:r>
          </a:p>
        </p:txBody>
      </p:sp>
      <p:sp>
        <p:nvSpPr>
          <p:cNvPr id="24" name="TextBox 23"/>
          <p:cNvSpPr txBox="1"/>
          <p:nvPr/>
        </p:nvSpPr>
        <p:spPr>
          <a:xfrm>
            <a:off x="1257300" y="4594384"/>
            <a:ext cx="1924050" cy="240030"/>
          </a:xfrm>
          <a:prstGeom prst="rect">
            <a:avLst/>
          </a:prstGeom>
          <a:noFill/>
        </p:spPr>
        <p:txBody>
          <a:bodyPr wrap="square" lIns="0" rIns="0" tIns="0" bIns="0" anchor="t">
            <a:spAutoFit/>
          </a:bodyPr>
          <a:lstStyle/>
          <a:p>
            <a:pPr algn="l"/>
            <a:r>
              <a:rPr sz="1228" b="0" i="0">
                <a:solidFill>
                  <a:srgbClr val="E8C27A"/>
                </a:solidFill>
                <a:latin typeface="Geist Mono"/>
                <a:ea typeface="Geist Mono"/>
                <a:cs typeface="Geist Mono"/>
              </a:rPr>
              <a:t>ToPickup</a:t>
            </a:r>
          </a:p>
        </p:txBody>
      </p:sp>
      <p:sp>
        <p:nvSpPr>
          <p:cNvPr id="25" name="Rounded Rectangle 24"/>
          <p:cNvSpPr/>
          <p:nvPr/>
        </p:nvSpPr>
        <p:spPr>
          <a:xfrm>
            <a:off x="3524250" y="4191000"/>
            <a:ext cx="226695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3562350" y="4286250"/>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752850" y="4305300"/>
            <a:ext cx="192405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SetWantedState</a:t>
            </a:r>
          </a:p>
        </p:txBody>
      </p:sp>
      <p:sp>
        <p:nvSpPr>
          <p:cNvPr id="28" name="TextBox 27"/>
          <p:cNvSpPr txBox="1"/>
          <p:nvPr/>
        </p:nvSpPr>
        <p:spPr>
          <a:xfrm>
            <a:off x="3752850" y="4594384"/>
            <a:ext cx="1924050" cy="240030"/>
          </a:xfrm>
          <a:prstGeom prst="rect">
            <a:avLst/>
          </a:prstGeom>
          <a:noFill/>
        </p:spPr>
        <p:txBody>
          <a:bodyPr wrap="square" lIns="0" rIns="0" tIns="0" bIns="0" anchor="t">
            <a:spAutoFit/>
          </a:bodyPr>
          <a:lstStyle/>
          <a:p>
            <a:pPr algn="l"/>
            <a:r>
              <a:rPr sz="1228" b="0" i="0">
                <a:solidFill>
                  <a:srgbClr val="E8C27A"/>
                </a:solidFill>
                <a:latin typeface="Geist Mono"/>
                <a:ea typeface="Geist Mono"/>
                <a:cs typeface="Geist Mono"/>
              </a:rPr>
              <a:t>AIM</a:t>
            </a:r>
          </a:p>
        </p:txBody>
      </p:sp>
      <p:sp>
        <p:nvSpPr>
          <p:cNvPr id="29" name="Rounded Rectangle 28"/>
          <p:cNvSpPr/>
          <p:nvPr/>
        </p:nvSpPr>
        <p:spPr>
          <a:xfrm>
            <a:off x="6019800" y="8477250"/>
            <a:ext cx="226695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057900" y="8572500"/>
            <a:ext cx="66675" cy="762000"/>
          </a:xfrm>
          <a:prstGeom prst="roundRect">
            <a:avLst>
              <a:gd name="adj" fmla="val 42857"/>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48400" y="8591550"/>
            <a:ext cx="1924050" cy="270034"/>
          </a:xfrm>
          <a:prstGeom prst="rect">
            <a:avLst/>
          </a:prstGeom>
          <a:noFill/>
        </p:spPr>
        <p:txBody>
          <a:bodyPr wrap="square" lIns="0" rIns="0" tIns="0" bIns="0" anchor="t">
            <a:spAutoFit/>
          </a:bodyPr>
          <a:lstStyle/>
          <a:p>
            <a:pPr algn="l"/>
            <a:r>
              <a:rPr sz="1575" b="1" i="0">
                <a:solidFill>
                  <a:srgbClr val="C084FC"/>
                </a:solidFill>
                <a:latin typeface="Geist"/>
                <a:ea typeface="Geist"/>
                <a:cs typeface="Geist"/>
              </a:rPr>
              <a:t>●  </a:t>
            </a:r>
            <a:r>
              <a:rPr sz="1575" b="1" i="0">
                <a:solidFill>
                  <a:srgbClr val="F0E8E8"/>
                </a:solidFill>
                <a:latin typeface="Geist"/>
                <a:ea typeface="Geist"/>
                <a:cs typeface="Geist"/>
              </a:rPr>
              <a:t>IsSystemState</a:t>
            </a:r>
          </a:p>
        </p:txBody>
      </p:sp>
      <p:sp>
        <p:nvSpPr>
          <p:cNvPr id="32" name="TextBox 31"/>
          <p:cNvSpPr txBox="1"/>
          <p:nvPr/>
        </p:nvSpPr>
        <p:spPr>
          <a:xfrm>
            <a:off x="6248400" y="8880634"/>
            <a:ext cx="1924050" cy="240030"/>
          </a:xfrm>
          <a:prstGeom prst="rect">
            <a:avLst/>
          </a:prstGeom>
          <a:noFill/>
        </p:spPr>
        <p:txBody>
          <a:bodyPr wrap="square" lIns="0" rIns="0" tIns="0" bIns="0" anchor="t">
            <a:spAutoFit/>
          </a:bodyPr>
          <a:lstStyle/>
          <a:p>
            <a:pPr algn="l"/>
            <a:r>
              <a:rPr sz="1228" b="0" i="0">
                <a:solidFill>
                  <a:srgbClr val="E8C27A"/>
                </a:solidFill>
                <a:latin typeface="Geist Mono"/>
                <a:ea typeface="Geist Mono"/>
                <a:cs typeface="Geist Mono"/>
              </a:rPr>
              <a:t>AIM</a:t>
            </a:r>
          </a:p>
        </p:txBody>
      </p:sp>
      <p:sp>
        <p:nvSpPr>
          <p:cNvPr id="33" name="Rounded Rectangle 32"/>
          <p:cNvSpPr/>
          <p:nvPr/>
        </p:nvSpPr>
        <p:spPr>
          <a:xfrm>
            <a:off x="5962650" y="7048500"/>
            <a:ext cx="238125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le 33"/>
          <p:cNvSpPr/>
          <p:nvPr/>
        </p:nvSpPr>
        <p:spPr>
          <a:xfrm>
            <a:off x="6000750" y="7143750"/>
            <a:ext cx="66675" cy="7620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191250" y="7162800"/>
            <a:ext cx="2038350" cy="270034"/>
          </a:xfrm>
          <a:prstGeom prst="rect">
            <a:avLst/>
          </a:prstGeom>
          <a:noFill/>
        </p:spPr>
        <p:txBody>
          <a:bodyPr wrap="square" lIns="0" rIns="0" tIns="0" bIns="0" anchor="t">
            <a:spAutoFit/>
          </a:bodyPr>
          <a:lstStyle/>
          <a:p>
            <a:pPr algn="l"/>
            <a:r>
              <a:rPr sz="1575" b="1" i="0">
                <a:solidFill>
                  <a:srgbClr val="7C93C3"/>
                </a:solidFill>
                <a:latin typeface="Geist"/>
                <a:ea typeface="Geist"/>
                <a:cs typeface="Geist"/>
              </a:rPr>
              <a:t>↻  </a:t>
            </a:r>
            <a:r>
              <a:rPr sz="1575" b="1" i="0">
                <a:solidFill>
                  <a:srgbClr val="F0E8E8"/>
                </a:solidFill>
                <a:latin typeface="Geist"/>
                <a:ea typeface="Geist"/>
                <a:cs typeface="Geist"/>
              </a:rPr>
              <a:t>Retry</a:t>
            </a:r>
          </a:p>
        </p:txBody>
      </p:sp>
      <p:sp>
        <p:nvSpPr>
          <p:cNvPr id="36" name="TextBox 35"/>
          <p:cNvSpPr txBox="1"/>
          <p:nvPr/>
        </p:nvSpPr>
        <p:spPr>
          <a:xfrm>
            <a:off x="6191250" y="7451884"/>
            <a:ext cx="2038350" cy="240030"/>
          </a:xfrm>
          <a:prstGeom prst="rect">
            <a:avLst/>
          </a:prstGeom>
          <a:noFill/>
        </p:spPr>
        <p:txBody>
          <a:bodyPr wrap="square" lIns="0" rIns="0" tIns="0" bIns="0" anchor="t">
            <a:spAutoFit/>
          </a:bodyPr>
          <a:lstStyle/>
          <a:p>
            <a:pPr algn="l"/>
            <a:r>
              <a:rPr sz="1228" b="0" i="0">
                <a:solidFill>
                  <a:srgbClr val="E8C27A"/>
                </a:solidFill>
                <a:latin typeface="Geist Mono"/>
                <a:ea typeface="Geist Mono"/>
                <a:cs typeface="Geist Mono"/>
              </a:rPr>
              <a:t>until success</a:t>
            </a:r>
          </a:p>
        </p:txBody>
      </p:sp>
      <p:sp>
        <p:nvSpPr>
          <p:cNvPr id="37" name="Rounded Rectangle 36"/>
          <p:cNvSpPr/>
          <p:nvPr/>
        </p:nvSpPr>
        <p:spPr>
          <a:xfrm>
            <a:off x="5962650" y="5619750"/>
            <a:ext cx="238125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6000750" y="5715000"/>
            <a:ext cx="66675" cy="7620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191250" y="5734050"/>
            <a:ext cx="2038350" cy="270034"/>
          </a:xfrm>
          <a:prstGeom prst="rect">
            <a:avLst/>
          </a:prstGeom>
          <a:noFill/>
        </p:spPr>
        <p:txBody>
          <a:bodyPr wrap="square" lIns="0" rIns="0" tIns="0" bIns="0" anchor="t">
            <a:spAutoFit/>
          </a:bodyPr>
          <a:lstStyle/>
          <a:p>
            <a:pPr algn="l"/>
            <a:r>
              <a:rPr sz="1575" b="1" i="0">
                <a:solidFill>
                  <a:srgbClr val="7C93C3"/>
                </a:solidFill>
                <a:latin typeface="Geist"/>
                <a:ea typeface="Geist"/>
                <a:cs typeface="Geist"/>
              </a:rPr>
              <a:t>⏱  </a:t>
            </a:r>
            <a:r>
              <a:rPr sz="1575" b="1" i="0">
                <a:solidFill>
                  <a:srgbClr val="F0E8E8"/>
                </a:solidFill>
                <a:latin typeface="Geist"/>
                <a:ea typeface="Geist"/>
                <a:cs typeface="Geist"/>
              </a:rPr>
              <a:t>Timeout</a:t>
            </a:r>
          </a:p>
        </p:txBody>
      </p:sp>
      <p:sp>
        <p:nvSpPr>
          <p:cNvPr id="40" name="TextBox 39"/>
          <p:cNvSpPr txBox="1"/>
          <p:nvPr/>
        </p:nvSpPr>
        <p:spPr>
          <a:xfrm>
            <a:off x="6191250" y="6023134"/>
            <a:ext cx="2038350" cy="240030"/>
          </a:xfrm>
          <a:prstGeom prst="rect">
            <a:avLst/>
          </a:prstGeom>
          <a:noFill/>
        </p:spPr>
        <p:txBody>
          <a:bodyPr wrap="square" lIns="0" rIns="0" tIns="0" bIns="0" anchor="t">
            <a:spAutoFit/>
          </a:bodyPr>
          <a:lstStyle/>
          <a:p>
            <a:pPr algn="l"/>
            <a:r>
              <a:rPr sz="1228" b="0" i="0">
                <a:solidFill>
                  <a:srgbClr val="E8C27A"/>
                </a:solidFill>
                <a:latin typeface="Geist Mono"/>
                <a:ea typeface="Geist Mono"/>
                <a:cs typeface="Geist Mono"/>
              </a:rPr>
              <a:t>3000 ms</a:t>
            </a:r>
          </a:p>
        </p:txBody>
      </p:sp>
      <p:sp>
        <p:nvSpPr>
          <p:cNvPr id="41" name="Rounded Rectangle 40"/>
          <p:cNvSpPr/>
          <p:nvPr/>
        </p:nvSpPr>
        <p:spPr>
          <a:xfrm>
            <a:off x="8515350" y="5619750"/>
            <a:ext cx="226695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ounded Rectangle 41"/>
          <p:cNvSpPr/>
          <p:nvPr/>
        </p:nvSpPr>
        <p:spPr>
          <a:xfrm>
            <a:off x="8553450" y="5715000"/>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743950" y="5734050"/>
            <a:ext cx="192405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FollowPath</a:t>
            </a:r>
          </a:p>
        </p:txBody>
      </p:sp>
      <p:sp>
        <p:nvSpPr>
          <p:cNvPr id="44" name="TextBox 43"/>
          <p:cNvSpPr txBox="1"/>
          <p:nvPr/>
        </p:nvSpPr>
        <p:spPr>
          <a:xfrm>
            <a:off x="8743950" y="6023134"/>
            <a:ext cx="1924050" cy="240030"/>
          </a:xfrm>
          <a:prstGeom prst="rect">
            <a:avLst/>
          </a:prstGeom>
          <a:noFill/>
        </p:spPr>
        <p:txBody>
          <a:bodyPr wrap="square" lIns="0" rIns="0" tIns="0" bIns="0" anchor="t">
            <a:spAutoFit/>
          </a:bodyPr>
          <a:lstStyle/>
          <a:p>
            <a:pPr algn="l"/>
            <a:r>
              <a:rPr sz="1228" b="0" i="0">
                <a:solidFill>
                  <a:srgbClr val="E8C27A"/>
                </a:solidFill>
                <a:latin typeface="Geist Mono"/>
                <a:ea typeface="Geist Mono"/>
                <a:cs typeface="Geist Mono"/>
              </a:rPr>
              <a:t>ToBackup</a:t>
            </a:r>
          </a:p>
        </p:txBody>
      </p:sp>
      <p:sp>
        <p:nvSpPr>
          <p:cNvPr id="45" name="Rounded Rectangle 44"/>
          <p:cNvSpPr/>
          <p:nvPr/>
        </p:nvSpPr>
        <p:spPr>
          <a:xfrm>
            <a:off x="7210425" y="4191000"/>
            <a:ext cx="238125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7248525" y="4286250"/>
            <a:ext cx="66675" cy="7620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439025" y="4527232"/>
            <a:ext cx="2038350" cy="270034"/>
          </a:xfrm>
          <a:prstGeom prst="rect">
            <a:avLst/>
          </a:prstGeom>
          <a:noFill/>
        </p:spPr>
        <p:txBody>
          <a:bodyPr wrap="square" lIns="0" rIns="0" tIns="0" bIns="0" anchor="t">
            <a:spAutoFit/>
          </a:bodyPr>
          <a:lstStyle/>
          <a:p>
            <a:pPr algn="l"/>
            <a:r>
              <a:rPr sz="1575" b="1" i="0">
                <a:solidFill>
                  <a:srgbClr val="7C93C3"/>
                </a:solidFill>
                <a:latin typeface="Geist"/>
                <a:ea typeface="Geist"/>
                <a:cs typeface="Geist"/>
              </a:rPr>
              <a:t>?  </a:t>
            </a:r>
            <a:r>
              <a:rPr sz="1575" b="1" i="0">
                <a:solidFill>
                  <a:srgbClr val="F0E8E8"/>
                </a:solidFill>
                <a:latin typeface="Geist"/>
                <a:ea typeface="Geist"/>
                <a:cs typeface="Geist"/>
              </a:rPr>
              <a:t>Fallback</a:t>
            </a:r>
          </a:p>
        </p:txBody>
      </p:sp>
      <p:sp>
        <p:nvSpPr>
          <p:cNvPr id="48" name="Rounded Rectangle 47"/>
          <p:cNvSpPr/>
          <p:nvPr/>
        </p:nvSpPr>
        <p:spPr>
          <a:xfrm>
            <a:off x="11010900" y="4191000"/>
            <a:ext cx="226695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ounded Rectangle 48"/>
          <p:cNvSpPr/>
          <p:nvPr/>
        </p:nvSpPr>
        <p:spPr>
          <a:xfrm>
            <a:off x="11049000" y="4286250"/>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1239500" y="4305300"/>
            <a:ext cx="192405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SetWantedState</a:t>
            </a:r>
          </a:p>
        </p:txBody>
      </p:sp>
      <p:sp>
        <p:nvSpPr>
          <p:cNvPr id="51" name="TextBox 50"/>
          <p:cNvSpPr txBox="1"/>
          <p:nvPr/>
        </p:nvSpPr>
        <p:spPr>
          <a:xfrm>
            <a:off x="11239500" y="4594384"/>
            <a:ext cx="1924050" cy="240030"/>
          </a:xfrm>
          <a:prstGeom prst="rect">
            <a:avLst/>
          </a:prstGeom>
          <a:noFill/>
        </p:spPr>
        <p:txBody>
          <a:bodyPr wrap="square" lIns="0" rIns="0" tIns="0" bIns="0" anchor="t">
            <a:spAutoFit/>
          </a:bodyPr>
          <a:lstStyle/>
          <a:p>
            <a:pPr algn="l"/>
            <a:r>
              <a:rPr sz="1228" b="0" i="0">
                <a:solidFill>
                  <a:srgbClr val="E8C27A"/>
                </a:solidFill>
                <a:latin typeface="Geist Mono"/>
                <a:ea typeface="Geist Mono"/>
                <a:cs typeface="Geist Mono"/>
              </a:rPr>
              <a:t>SHOOT</a:t>
            </a:r>
          </a:p>
        </p:txBody>
      </p:sp>
      <p:sp>
        <p:nvSpPr>
          <p:cNvPr id="52" name="Rounded Rectangle 51"/>
          <p:cNvSpPr/>
          <p:nvPr/>
        </p:nvSpPr>
        <p:spPr>
          <a:xfrm>
            <a:off x="5962650" y="2762250"/>
            <a:ext cx="238125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ounded Rectangle 52"/>
          <p:cNvSpPr/>
          <p:nvPr/>
        </p:nvSpPr>
        <p:spPr>
          <a:xfrm>
            <a:off x="6000750" y="2857500"/>
            <a:ext cx="66675" cy="7620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191250" y="3098482"/>
            <a:ext cx="2038350" cy="270034"/>
          </a:xfrm>
          <a:prstGeom prst="rect">
            <a:avLst/>
          </a:prstGeom>
          <a:noFill/>
        </p:spPr>
        <p:txBody>
          <a:bodyPr wrap="square" lIns="0" rIns="0" tIns="0" bIns="0" anchor="t">
            <a:spAutoFit/>
          </a:bodyPr>
          <a:lstStyle/>
          <a:p>
            <a:pPr algn="l"/>
            <a:r>
              <a:rPr sz="1575" b="1" i="0">
                <a:solidFill>
                  <a:srgbClr val="7C93C3"/>
                </a:solidFill>
                <a:latin typeface="Geist"/>
                <a:ea typeface="Geist"/>
                <a:cs typeface="Geist"/>
              </a:rPr>
              <a:t>→  </a:t>
            </a:r>
            <a:r>
              <a:rPr sz="1575" b="1" i="0">
                <a:solidFill>
                  <a:srgbClr val="F0E8E8"/>
                </a:solidFill>
                <a:latin typeface="Geist"/>
                <a:ea typeface="Geist"/>
                <a:cs typeface="Geist"/>
              </a:rPr>
              <a:t>Sequence</a:t>
            </a:r>
          </a:p>
        </p:txBody>
      </p:sp>
      <p:sp>
        <p:nvSpPr>
          <p:cNvPr id="55" name="Rounded Rectangle 54"/>
          <p:cNvSpPr/>
          <p:nvPr/>
        </p:nvSpPr>
        <p:spPr>
          <a:xfrm>
            <a:off x="13811250" y="2857500"/>
            <a:ext cx="3562350" cy="5334000"/>
          </a:xfrm>
          <a:prstGeom prst="roundRect">
            <a:avLst>
              <a:gd name="adj" fmla="val 427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p:cNvSpPr/>
          <p:nvPr/>
        </p:nvSpPr>
        <p:spPr>
          <a:xfrm>
            <a:off x="14192250" y="3200400"/>
            <a:ext cx="95250" cy="666750"/>
          </a:xfrm>
          <a:prstGeom prst="roundRect">
            <a:avLst>
              <a:gd name="adj" fmla="val 40000"/>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14516100" y="3143250"/>
            <a:ext cx="2571750" cy="3810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Decide how</a:t>
            </a:r>
          </a:p>
        </p:txBody>
      </p:sp>
      <p:sp>
        <p:nvSpPr>
          <p:cNvPr id="58" name="TextBox 57"/>
          <p:cNvSpPr txBox="1"/>
          <p:nvPr/>
        </p:nvSpPr>
        <p:spPr>
          <a:xfrm>
            <a:off x="14516100" y="3562350"/>
            <a:ext cx="2571750" cy="952500"/>
          </a:xfrm>
          <a:prstGeom prst="rect">
            <a:avLst/>
          </a:prstGeom>
          <a:noFill/>
        </p:spPr>
        <p:txBody>
          <a:bodyPr wrap="square" lIns="0" rIns="0" tIns="0" bIns="0" anchor="t">
            <a:spAutoFit/>
          </a:bodyPr>
          <a:lstStyle/>
          <a:p>
            <a:pPr algn="l">
              <a:lnSpc>
                <a:spcPct val="130000"/>
              </a:lnSpc>
            </a:pPr>
            <a:r>
              <a:rPr sz="1650" b="0" i="0">
                <a:solidFill>
                  <a:srgbClr val="9A7878"/>
                </a:solidFill>
                <a:latin typeface="Geist"/>
                <a:ea typeface="Geist"/>
                <a:cs typeface="Geist"/>
              </a:rPr>
              <a:t>Sequence, Fallback, Timeout hold other steps</a:t>
            </a:r>
          </a:p>
        </p:txBody>
      </p:sp>
      <p:sp>
        <p:nvSpPr>
          <p:cNvPr id="59" name="Rounded Rectangle 58"/>
          <p:cNvSpPr/>
          <p:nvPr/>
        </p:nvSpPr>
        <p:spPr>
          <a:xfrm>
            <a:off x="14192250" y="4457700"/>
            <a:ext cx="95250" cy="666750"/>
          </a:xfrm>
          <a:prstGeom prst="roundRect">
            <a:avLst>
              <a:gd name="adj" fmla="val 40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14516100" y="4400550"/>
            <a:ext cx="2571750" cy="3810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Do the work</a:t>
            </a:r>
          </a:p>
        </p:txBody>
      </p:sp>
      <p:sp>
        <p:nvSpPr>
          <p:cNvPr id="61" name="TextBox 60"/>
          <p:cNvSpPr txBox="1"/>
          <p:nvPr/>
        </p:nvSpPr>
        <p:spPr>
          <a:xfrm>
            <a:off x="14516100" y="4819650"/>
            <a:ext cx="2571750" cy="952500"/>
          </a:xfrm>
          <a:prstGeom prst="rect">
            <a:avLst/>
          </a:prstGeom>
          <a:noFill/>
        </p:spPr>
        <p:txBody>
          <a:bodyPr wrap="square" lIns="0" rIns="0" tIns="0" bIns="0" anchor="t">
            <a:spAutoFit/>
          </a:bodyPr>
          <a:lstStyle/>
          <a:p>
            <a:pPr algn="l">
              <a:lnSpc>
                <a:spcPct val="130000"/>
              </a:lnSpc>
            </a:pPr>
            <a:r>
              <a:rPr sz="1650" b="0" i="0">
                <a:solidFill>
                  <a:srgbClr val="9A7878"/>
                </a:solidFill>
                <a:latin typeface="Geist"/>
                <a:ea typeface="Geist"/>
                <a:cs typeface="Geist"/>
              </a:rPr>
              <a:t>Drive a path, ask for a state</a:t>
            </a:r>
          </a:p>
        </p:txBody>
      </p:sp>
      <p:sp>
        <p:nvSpPr>
          <p:cNvPr id="62" name="Rounded Rectangle 61"/>
          <p:cNvSpPr/>
          <p:nvPr/>
        </p:nvSpPr>
        <p:spPr>
          <a:xfrm>
            <a:off x="14192250" y="5715000"/>
            <a:ext cx="95250" cy="666750"/>
          </a:xfrm>
          <a:prstGeom prst="roundRect">
            <a:avLst>
              <a:gd name="adj" fmla="val 40000"/>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14516100" y="5657850"/>
            <a:ext cx="2571750" cy="3810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Check</a:t>
            </a:r>
          </a:p>
        </p:txBody>
      </p:sp>
      <p:sp>
        <p:nvSpPr>
          <p:cNvPr id="64" name="TextBox 63"/>
          <p:cNvSpPr txBox="1"/>
          <p:nvPr/>
        </p:nvSpPr>
        <p:spPr>
          <a:xfrm>
            <a:off x="14516100" y="6076950"/>
            <a:ext cx="2571750" cy="952500"/>
          </a:xfrm>
          <a:prstGeom prst="rect">
            <a:avLst/>
          </a:prstGeom>
          <a:noFill/>
        </p:spPr>
        <p:txBody>
          <a:bodyPr wrap="square" lIns="0" rIns="0" tIns="0" bIns="0" anchor="t">
            <a:spAutoFit/>
          </a:bodyPr>
          <a:lstStyle/>
          <a:p>
            <a:pPr algn="l">
              <a:lnSpc>
                <a:spcPct val="130000"/>
              </a:lnSpc>
            </a:pPr>
            <a:r>
              <a:rPr sz="1650" b="0" i="0">
                <a:solidFill>
                  <a:srgbClr val="9A7878"/>
                </a:solidFill>
                <a:latin typeface="Geist"/>
                <a:ea typeface="Geist"/>
                <a:cs typeface="Geist"/>
              </a:rPr>
              <a:t>Is the robot in a state?</a:t>
            </a:r>
          </a:p>
        </p:txBody>
      </p:sp>
      <p:sp>
        <p:nvSpPr>
          <p:cNvPr id="65" name="Rounded Rectangle 64"/>
          <p:cNvSpPr/>
          <p:nvPr/>
        </p:nvSpPr>
        <p:spPr>
          <a:xfrm>
            <a:off x="14192250" y="6972300"/>
            <a:ext cx="95250" cy="666750"/>
          </a:xfrm>
          <a:prstGeom prst="roundRect">
            <a:avLst>
              <a:gd name="adj" fmla="val 40000"/>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14516100" y="6915150"/>
            <a:ext cx="2571750" cy="3810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Read it</a:t>
            </a:r>
          </a:p>
        </p:txBody>
      </p:sp>
      <p:sp>
        <p:nvSpPr>
          <p:cNvPr id="67" name="TextBox 66"/>
          <p:cNvSpPr txBox="1"/>
          <p:nvPr/>
        </p:nvSpPr>
        <p:spPr>
          <a:xfrm>
            <a:off x="14516100" y="7334250"/>
            <a:ext cx="2571750" cy="952500"/>
          </a:xfrm>
          <a:prstGeom prst="rect">
            <a:avLst/>
          </a:prstGeom>
          <a:noFill/>
        </p:spPr>
        <p:txBody>
          <a:bodyPr wrap="square" lIns="0" rIns="0" tIns="0" bIns="0" anchor="t">
            <a:spAutoFit/>
          </a:bodyPr>
          <a:lstStyle/>
          <a:p>
            <a:pPr algn="l">
              <a:lnSpc>
                <a:spcPct val="130000"/>
              </a:lnSpc>
            </a:pPr>
            <a:r>
              <a:rPr sz="1650" b="0" i="0">
                <a:solidFill>
                  <a:srgbClr val="9A7878"/>
                </a:solidFill>
                <a:latin typeface="Geist"/>
                <a:ea typeface="Geist"/>
                <a:cs typeface="Geist"/>
              </a:rPr>
              <a:t>Top to bottom, left to right</a:t>
            </a:r>
          </a:p>
        </p:txBody>
      </p:sp>
      <p:sp>
        <p:nvSpPr>
          <p:cNvPr id="68" name="TextBox 67"/>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9" name="TextBox 6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ARBOR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Arbor window</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914400" y="2857500"/>
            <a:ext cx="9243391" cy="5905500"/>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hot_ar_editor.png"/>
          <p:cNvPicPr>
            <a:picLocks noChangeAspect="1"/>
          </p:cNvPicPr>
          <p:nvPr/>
        </p:nvPicPr>
        <p:blipFill>
          <a:blip r:embed="rId3"/>
          <a:stretch>
            <a:fillRect/>
          </a:stretch>
        </p:blipFill>
        <p:spPr>
          <a:xfrm>
            <a:off x="914400" y="2857500"/>
            <a:ext cx="9243391" cy="5905500"/>
          </a:xfrm>
          <a:prstGeom prst="rect">
            <a:avLst/>
          </a:prstGeom>
        </p:spPr>
      </p:pic>
      <p:sp>
        <p:nvSpPr>
          <p:cNvPr id="7" name="Rectangle 6"/>
          <p:cNvSpPr/>
          <p:nvPr/>
        </p:nvSpPr>
        <p:spPr>
          <a:xfrm>
            <a:off x="914400" y="2857500"/>
            <a:ext cx="9243391" cy="5905500"/>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757570" y="2945793"/>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757570" y="2945793"/>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0" name="Oval 9"/>
          <p:cNvSpPr/>
          <p:nvPr/>
        </p:nvSpPr>
        <p:spPr>
          <a:xfrm>
            <a:off x="1757570" y="4008783"/>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57570" y="4008783"/>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2" name="Oval 11"/>
          <p:cNvSpPr/>
          <p:nvPr/>
        </p:nvSpPr>
        <p:spPr>
          <a:xfrm>
            <a:off x="5121137" y="4188515"/>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21137" y="4188515"/>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4" name="Oval 13"/>
          <p:cNvSpPr/>
          <p:nvPr/>
        </p:nvSpPr>
        <p:spPr>
          <a:xfrm>
            <a:off x="8715789" y="3752022"/>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15789" y="3752022"/>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16" name="Oval 15"/>
          <p:cNvSpPr/>
          <p:nvPr/>
        </p:nvSpPr>
        <p:spPr>
          <a:xfrm>
            <a:off x="3375163" y="7444243"/>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75163" y="7444243"/>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5</a:t>
            </a:r>
          </a:p>
        </p:txBody>
      </p:sp>
      <p:sp>
        <p:nvSpPr>
          <p:cNvPr id="18" name="Oval 17"/>
          <p:cNvSpPr/>
          <p:nvPr/>
        </p:nvSpPr>
        <p:spPr>
          <a:xfrm>
            <a:off x="107632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7632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0" name="TextBox 19"/>
          <p:cNvSpPr txBox="1"/>
          <p:nvPr/>
        </p:nvSpPr>
        <p:spPr>
          <a:xfrm>
            <a:off x="11372850" y="2819400"/>
            <a:ext cx="6000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Trees</a:t>
            </a:r>
          </a:p>
        </p:txBody>
      </p:sp>
      <p:sp>
        <p:nvSpPr>
          <p:cNvPr id="21" name="TextBox 20"/>
          <p:cNvSpPr txBox="1"/>
          <p:nvPr/>
        </p:nvSpPr>
        <p:spPr>
          <a:xfrm>
            <a:off x="11372850" y="3238500"/>
            <a:ext cx="6000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Your tree files. + New tree makes one</a:t>
            </a:r>
          </a:p>
        </p:txBody>
      </p:sp>
      <p:sp>
        <p:nvSpPr>
          <p:cNvPr id="22" name="Oval 21"/>
          <p:cNvSpPr/>
          <p:nvPr/>
        </p:nvSpPr>
        <p:spPr>
          <a:xfrm>
            <a:off x="10763250" y="40386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763250" y="40386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4" name="TextBox 23"/>
          <p:cNvSpPr txBox="1"/>
          <p:nvPr/>
        </p:nvSpPr>
        <p:spPr>
          <a:xfrm>
            <a:off x="11372850" y="4000500"/>
            <a:ext cx="6000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Nodes</a:t>
            </a:r>
          </a:p>
        </p:txBody>
      </p:sp>
      <p:sp>
        <p:nvSpPr>
          <p:cNvPr id="25" name="TextBox 24"/>
          <p:cNvSpPr txBox="1"/>
          <p:nvPr/>
        </p:nvSpPr>
        <p:spPr>
          <a:xfrm>
            <a:off x="11372850" y="4419600"/>
            <a:ext cx="6000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Every step you can use</a:t>
            </a:r>
          </a:p>
        </p:txBody>
      </p:sp>
      <p:sp>
        <p:nvSpPr>
          <p:cNvPr id="26" name="Oval 25"/>
          <p:cNvSpPr/>
          <p:nvPr/>
        </p:nvSpPr>
        <p:spPr>
          <a:xfrm>
            <a:off x="10763250" y="52197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763250" y="52197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8" name="TextBox 27"/>
          <p:cNvSpPr txBox="1"/>
          <p:nvPr/>
        </p:nvSpPr>
        <p:spPr>
          <a:xfrm>
            <a:off x="11372850" y="5181600"/>
            <a:ext cx="6000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Canvas</a:t>
            </a:r>
          </a:p>
        </p:txBody>
      </p:sp>
      <p:sp>
        <p:nvSpPr>
          <p:cNvPr id="29" name="TextBox 28"/>
          <p:cNvSpPr txBox="1"/>
          <p:nvPr/>
        </p:nvSpPr>
        <p:spPr>
          <a:xfrm>
            <a:off x="11372850" y="5600700"/>
            <a:ext cx="6000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The tree. Click a node to select it</a:t>
            </a:r>
          </a:p>
        </p:txBody>
      </p:sp>
      <p:sp>
        <p:nvSpPr>
          <p:cNvPr id="30" name="Oval 29"/>
          <p:cNvSpPr/>
          <p:nvPr/>
        </p:nvSpPr>
        <p:spPr>
          <a:xfrm>
            <a:off x="10763250" y="64008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763250" y="64008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32" name="TextBox 31"/>
          <p:cNvSpPr txBox="1"/>
          <p:nvPr/>
        </p:nvSpPr>
        <p:spPr>
          <a:xfrm>
            <a:off x="11372850" y="6362700"/>
            <a:ext cx="6000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Ports</a:t>
            </a:r>
          </a:p>
        </p:txBody>
      </p:sp>
      <p:sp>
        <p:nvSpPr>
          <p:cNvPr id="33" name="TextBox 32"/>
          <p:cNvSpPr txBox="1"/>
          <p:nvPr/>
        </p:nvSpPr>
        <p:spPr>
          <a:xfrm>
            <a:off x="11372850" y="6781800"/>
            <a:ext cx="6000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The selected node's settings</a:t>
            </a:r>
          </a:p>
        </p:txBody>
      </p:sp>
      <p:sp>
        <p:nvSpPr>
          <p:cNvPr id="34" name="Oval 33"/>
          <p:cNvSpPr/>
          <p:nvPr/>
        </p:nvSpPr>
        <p:spPr>
          <a:xfrm>
            <a:off x="10763250" y="75819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763250" y="75819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5</a:t>
            </a:r>
          </a:p>
        </p:txBody>
      </p:sp>
      <p:sp>
        <p:nvSpPr>
          <p:cNvPr id="36" name="TextBox 35"/>
          <p:cNvSpPr txBox="1"/>
          <p:nvPr/>
        </p:nvSpPr>
        <p:spPr>
          <a:xfrm>
            <a:off x="11372850" y="7543800"/>
            <a:ext cx="6000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Problems, XML, Live log</a:t>
            </a:r>
          </a:p>
        </p:txBody>
      </p:sp>
      <p:sp>
        <p:nvSpPr>
          <p:cNvPr id="37" name="TextBox 36"/>
          <p:cNvSpPr txBox="1"/>
          <p:nvPr/>
        </p:nvSpPr>
        <p:spPr>
          <a:xfrm>
            <a:off x="11372850" y="7962900"/>
            <a:ext cx="6000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Mistakes, the saved file, the robot</a:t>
            </a:r>
          </a:p>
        </p:txBody>
      </p:sp>
      <p:sp>
        <p:nvSpPr>
          <p:cNvPr id="38" name="TextBox 37"/>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9" name="TextBox 3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ARBOR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Ports: a node's settings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952750"/>
            <a:ext cx="4953000" cy="990600"/>
          </a:xfrm>
          <a:prstGeom prst="roundRect">
            <a:avLst>
              <a:gd name="adj" fmla="val 115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952500" y="3048000"/>
            <a:ext cx="66675" cy="8001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43000" y="3067050"/>
            <a:ext cx="4610100" cy="360045"/>
          </a:xfrm>
          <a:prstGeom prst="rect">
            <a:avLst/>
          </a:prstGeom>
          <a:noFill/>
        </p:spPr>
        <p:txBody>
          <a:bodyPr wrap="square" lIns="0" rIns="0" tIns="0" bIns="0" anchor="t">
            <a:spAutoFit/>
          </a:bodyPr>
          <a:lstStyle/>
          <a:p>
            <a:pPr algn="l"/>
            <a:r>
              <a:rPr sz="2100" b="1" i="0">
                <a:solidFill>
                  <a:srgbClr val="2DD4BF"/>
                </a:solidFill>
                <a:latin typeface="Geist"/>
                <a:ea typeface="Geist"/>
                <a:cs typeface="Geist"/>
              </a:rPr>
              <a:t>▶  </a:t>
            </a:r>
            <a:r>
              <a:rPr sz="2100" b="1" i="0">
                <a:solidFill>
                  <a:srgbClr val="F0E8E8"/>
                </a:solidFill>
                <a:latin typeface="Geist"/>
                <a:ea typeface="Geist"/>
                <a:cs typeface="Geist"/>
              </a:rPr>
              <a:t>SetWantedState</a:t>
            </a:r>
          </a:p>
        </p:txBody>
      </p:sp>
      <p:sp>
        <p:nvSpPr>
          <p:cNvPr id="8" name="TextBox 7"/>
          <p:cNvSpPr txBox="1"/>
          <p:nvPr/>
        </p:nvSpPr>
        <p:spPr>
          <a:xfrm>
            <a:off x="1143000" y="3446145"/>
            <a:ext cx="4610100" cy="320040"/>
          </a:xfrm>
          <a:prstGeom prst="rect">
            <a:avLst/>
          </a:prstGeom>
          <a:noFill/>
        </p:spPr>
        <p:txBody>
          <a:bodyPr wrap="square" lIns="0" rIns="0" tIns="0" bIns="0" anchor="t">
            <a:spAutoFit/>
          </a:bodyPr>
          <a:lstStyle/>
          <a:p>
            <a:pPr algn="l"/>
            <a:r>
              <a:rPr sz="1638" b="0" i="0">
                <a:solidFill>
                  <a:srgbClr val="E8C27A"/>
                </a:solidFill>
                <a:latin typeface="Geist Mono"/>
                <a:ea typeface="Geist Mono"/>
                <a:cs typeface="Geist Mono"/>
              </a:rPr>
              <a:t>state = AIM</a:t>
            </a:r>
          </a:p>
        </p:txBody>
      </p:sp>
      <p:sp>
        <p:nvSpPr>
          <p:cNvPr id="9" name="TextBox 8"/>
          <p:cNvSpPr txBox="1"/>
          <p:nvPr/>
        </p:nvSpPr>
        <p:spPr>
          <a:xfrm>
            <a:off x="6286500" y="2952750"/>
            <a:ext cx="4191000" cy="990600"/>
          </a:xfrm>
          <a:prstGeom prst="rect">
            <a:avLst/>
          </a:prstGeom>
          <a:noFill/>
        </p:spPr>
        <p:txBody>
          <a:bodyPr wrap="square" lIns="0" rIns="0" tIns="0" bIns="0" anchor="ctr">
            <a:spAutoFit/>
          </a:bodyPr>
          <a:lstStyle/>
          <a:p>
            <a:pPr algn="l"/>
            <a:r>
              <a:rPr sz="1950" b="0" i="0">
                <a:solidFill>
                  <a:srgbClr val="9A7878"/>
                </a:solidFill>
                <a:latin typeface="Geist"/>
                <a:ea typeface="Geist"/>
                <a:cs typeface="Geist"/>
              </a:rPr>
              <a:t>Which robot state to ask for</a:t>
            </a:r>
          </a:p>
        </p:txBody>
      </p:sp>
      <p:sp>
        <p:nvSpPr>
          <p:cNvPr id="10" name="Rounded Rectangle 9"/>
          <p:cNvSpPr/>
          <p:nvPr/>
        </p:nvSpPr>
        <p:spPr>
          <a:xfrm>
            <a:off x="914400" y="4381500"/>
            <a:ext cx="4953000" cy="990600"/>
          </a:xfrm>
          <a:prstGeom prst="roundRect">
            <a:avLst>
              <a:gd name="adj" fmla="val 115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952500" y="4476750"/>
            <a:ext cx="66675" cy="8001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143000" y="4495800"/>
            <a:ext cx="4610100" cy="360045"/>
          </a:xfrm>
          <a:prstGeom prst="rect">
            <a:avLst/>
          </a:prstGeom>
          <a:noFill/>
        </p:spPr>
        <p:txBody>
          <a:bodyPr wrap="square" lIns="0" rIns="0" tIns="0" bIns="0" anchor="t">
            <a:spAutoFit/>
          </a:bodyPr>
          <a:lstStyle/>
          <a:p>
            <a:pPr algn="l"/>
            <a:r>
              <a:rPr sz="2100" b="1" i="0">
                <a:solidFill>
                  <a:srgbClr val="2DD4BF"/>
                </a:solidFill>
                <a:latin typeface="Geist"/>
                <a:ea typeface="Geist"/>
                <a:cs typeface="Geist"/>
              </a:rPr>
              <a:t>▶  </a:t>
            </a:r>
            <a:r>
              <a:rPr sz="2100" b="1" i="0">
                <a:solidFill>
                  <a:srgbClr val="F0E8E8"/>
                </a:solidFill>
                <a:latin typeface="Geist"/>
                <a:ea typeface="Geist"/>
                <a:cs typeface="Geist"/>
              </a:rPr>
              <a:t>FollowPath</a:t>
            </a:r>
          </a:p>
        </p:txBody>
      </p:sp>
      <p:sp>
        <p:nvSpPr>
          <p:cNvPr id="13" name="TextBox 12"/>
          <p:cNvSpPr txBox="1"/>
          <p:nvPr/>
        </p:nvSpPr>
        <p:spPr>
          <a:xfrm>
            <a:off x="1143000" y="4874895"/>
            <a:ext cx="4610100" cy="320040"/>
          </a:xfrm>
          <a:prstGeom prst="rect">
            <a:avLst/>
          </a:prstGeom>
          <a:noFill/>
        </p:spPr>
        <p:txBody>
          <a:bodyPr wrap="square" lIns="0" rIns="0" tIns="0" bIns="0" anchor="t">
            <a:spAutoFit/>
          </a:bodyPr>
          <a:lstStyle/>
          <a:p>
            <a:pPr algn="l"/>
            <a:r>
              <a:rPr sz="1638" b="0" i="0">
                <a:solidFill>
                  <a:srgbClr val="E8C27A"/>
                </a:solidFill>
                <a:latin typeface="Geist Mono"/>
                <a:ea typeface="Geist Mono"/>
                <a:cs typeface="Geist Mono"/>
              </a:rPr>
              <a:t>trajectory = ToScore</a:t>
            </a:r>
          </a:p>
        </p:txBody>
      </p:sp>
      <p:sp>
        <p:nvSpPr>
          <p:cNvPr id="14" name="TextBox 13"/>
          <p:cNvSpPr txBox="1"/>
          <p:nvPr/>
        </p:nvSpPr>
        <p:spPr>
          <a:xfrm>
            <a:off x="6286500" y="4381500"/>
            <a:ext cx="4191000" cy="990600"/>
          </a:xfrm>
          <a:prstGeom prst="rect">
            <a:avLst/>
          </a:prstGeom>
          <a:noFill/>
        </p:spPr>
        <p:txBody>
          <a:bodyPr wrap="square" lIns="0" rIns="0" tIns="0" bIns="0" anchor="ctr">
            <a:spAutoFit/>
          </a:bodyPr>
          <a:lstStyle/>
          <a:p>
            <a:pPr algn="l"/>
            <a:r>
              <a:rPr sz="1950" b="0" i="0">
                <a:solidFill>
                  <a:srgbClr val="9A7878"/>
                </a:solidFill>
                <a:latin typeface="Geist"/>
                <a:ea typeface="Geist"/>
                <a:cs typeface="Geist"/>
              </a:rPr>
              <a:t>A Choreo path, by its exact name</a:t>
            </a:r>
          </a:p>
        </p:txBody>
      </p:sp>
      <p:sp>
        <p:nvSpPr>
          <p:cNvPr id="15" name="Rounded Rectangle 14"/>
          <p:cNvSpPr/>
          <p:nvPr/>
        </p:nvSpPr>
        <p:spPr>
          <a:xfrm>
            <a:off x="914400" y="5810250"/>
            <a:ext cx="4953000" cy="990600"/>
          </a:xfrm>
          <a:prstGeom prst="roundRect">
            <a:avLst>
              <a:gd name="adj" fmla="val 115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952500" y="5905500"/>
            <a:ext cx="66675" cy="8001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143000" y="5924550"/>
            <a:ext cx="4610100" cy="360045"/>
          </a:xfrm>
          <a:prstGeom prst="rect">
            <a:avLst/>
          </a:prstGeom>
          <a:noFill/>
        </p:spPr>
        <p:txBody>
          <a:bodyPr wrap="square" lIns="0" rIns="0" tIns="0" bIns="0" anchor="t">
            <a:spAutoFit/>
          </a:bodyPr>
          <a:lstStyle/>
          <a:p>
            <a:pPr algn="l"/>
            <a:r>
              <a:rPr sz="2100" b="1" i="0">
                <a:solidFill>
                  <a:srgbClr val="2DD4BF"/>
                </a:solidFill>
                <a:latin typeface="Geist"/>
                <a:ea typeface="Geist"/>
                <a:cs typeface="Geist"/>
              </a:rPr>
              <a:t>▶  </a:t>
            </a:r>
            <a:r>
              <a:rPr sz="2100" b="1" i="0">
                <a:solidFill>
                  <a:srgbClr val="F0E8E8"/>
                </a:solidFill>
                <a:latin typeface="Geist"/>
                <a:ea typeface="Geist"/>
                <a:cs typeface="Geist"/>
              </a:rPr>
              <a:t>Sleep</a:t>
            </a:r>
          </a:p>
        </p:txBody>
      </p:sp>
      <p:sp>
        <p:nvSpPr>
          <p:cNvPr id="18" name="TextBox 17"/>
          <p:cNvSpPr txBox="1"/>
          <p:nvPr/>
        </p:nvSpPr>
        <p:spPr>
          <a:xfrm>
            <a:off x="1143000" y="6303645"/>
            <a:ext cx="4610100" cy="320040"/>
          </a:xfrm>
          <a:prstGeom prst="rect">
            <a:avLst/>
          </a:prstGeom>
          <a:noFill/>
        </p:spPr>
        <p:txBody>
          <a:bodyPr wrap="square" lIns="0" rIns="0" tIns="0" bIns="0" anchor="t">
            <a:spAutoFit/>
          </a:bodyPr>
          <a:lstStyle/>
          <a:p>
            <a:pPr algn="l"/>
            <a:r>
              <a:rPr sz="1638" b="0" i="0">
                <a:solidFill>
                  <a:srgbClr val="E8C27A"/>
                </a:solidFill>
                <a:latin typeface="Geist Mono"/>
                <a:ea typeface="Geist Mono"/>
                <a:cs typeface="Geist Mono"/>
              </a:rPr>
              <a:t>msec = 500</a:t>
            </a:r>
          </a:p>
        </p:txBody>
      </p:sp>
      <p:sp>
        <p:nvSpPr>
          <p:cNvPr id="19" name="TextBox 18"/>
          <p:cNvSpPr txBox="1"/>
          <p:nvPr/>
        </p:nvSpPr>
        <p:spPr>
          <a:xfrm>
            <a:off x="6286500" y="5810250"/>
            <a:ext cx="4191000" cy="990600"/>
          </a:xfrm>
          <a:prstGeom prst="rect">
            <a:avLst/>
          </a:prstGeom>
          <a:noFill/>
        </p:spPr>
        <p:txBody>
          <a:bodyPr wrap="square" lIns="0" rIns="0" tIns="0" bIns="0" anchor="ctr">
            <a:spAutoFit/>
          </a:bodyPr>
          <a:lstStyle/>
          <a:p>
            <a:pPr algn="l"/>
            <a:r>
              <a:rPr sz="1950" b="0" i="0">
                <a:solidFill>
                  <a:srgbClr val="9A7878"/>
                </a:solidFill>
                <a:latin typeface="Geist"/>
                <a:ea typeface="Geist"/>
                <a:cs typeface="Geist"/>
              </a:rPr>
              <a:t>How long to wait, in milliseconds</a:t>
            </a:r>
          </a:p>
        </p:txBody>
      </p:sp>
      <p:sp>
        <p:nvSpPr>
          <p:cNvPr id="20" name="Rounded Rectangle 19"/>
          <p:cNvSpPr/>
          <p:nvPr/>
        </p:nvSpPr>
        <p:spPr>
          <a:xfrm>
            <a:off x="10858500" y="2857500"/>
            <a:ext cx="6515100" cy="4476750"/>
          </a:xfrm>
          <a:prstGeom prst="roundRect">
            <a:avLst>
              <a:gd name="adj" fmla="val 340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1239500" y="3143250"/>
            <a:ext cx="57150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TUNABLE VALUES</a:t>
            </a:r>
          </a:p>
        </p:txBody>
      </p:sp>
      <p:sp>
        <p:nvSpPr>
          <p:cNvPr id="22" name="TextBox 21"/>
          <p:cNvSpPr txBox="1"/>
          <p:nvPr/>
        </p:nvSpPr>
        <p:spPr>
          <a:xfrm>
            <a:off x="11239500" y="3619500"/>
            <a:ext cx="5810250" cy="1143000"/>
          </a:xfrm>
          <a:prstGeom prst="rect">
            <a:avLst/>
          </a:prstGeom>
          <a:noFill/>
        </p:spPr>
        <p:txBody>
          <a:bodyPr wrap="square" lIns="0" rIns="0" tIns="0" bIns="0" anchor="t">
            <a:spAutoFit/>
          </a:bodyPr>
          <a:lstStyle/>
          <a:p>
            <a:pPr algn="l">
              <a:lnSpc>
                <a:spcPct val="130000"/>
              </a:lnSpc>
            </a:pPr>
            <a:r>
              <a:rPr sz="1950" b="0" i="0">
                <a:solidFill>
                  <a:srgbClr val="F0E8E8"/>
                </a:solidFill>
                <a:latin typeface="Geist"/>
                <a:ea typeface="Geist"/>
                <a:cs typeface="Geist"/>
              </a:rPr>
              <a:t>Declare an input port on the tree, then use its name in braces:</a:t>
            </a:r>
          </a:p>
        </p:txBody>
      </p:sp>
      <p:sp>
        <p:nvSpPr>
          <p:cNvPr id="23" name="Rounded Rectangle 22"/>
          <p:cNvSpPr/>
          <p:nvPr/>
        </p:nvSpPr>
        <p:spPr>
          <a:xfrm>
            <a:off x="11239500" y="4762500"/>
            <a:ext cx="4953000" cy="990600"/>
          </a:xfrm>
          <a:prstGeom prst="roundRect">
            <a:avLst>
              <a:gd name="adj" fmla="val 115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11277600" y="4857750"/>
            <a:ext cx="66675" cy="8001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1468100" y="4876800"/>
            <a:ext cx="4610100" cy="360045"/>
          </a:xfrm>
          <a:prstGeom prst="rect">
            <a:avLst/>
          </a:prstGeom>
          <a:noFill/>
        </p:spPr>
        <p:txBody>
          <a:bodyPr wrap="square" lIns="0" rIns="0" tIns="0" bIns="0" anchor="t">
            <a:spAutoFit/>
          </a:bodyPr>
          <a:lstStyle/>
          <a:p>
            <a:pPr algn="l"/>
            <a:r>
              <a:rPr sz="2100" b="1" i="0">
                <a:solidFill>
                  <a:srgbClr val="2DD4BF"/>
                </a:solidFill>
                <a:latin typeface="Geist"/>
                <a:ea typeface="Geist"/>
                <a:cs typeface="Geist"/>
              </a:rPr>
              <a:t>▶  </a:t>
            </a:r>
            <a:r>
              <a:rPr sz="2100" b="1" i="0">
                <a:solidFill>
                  <a:srgbClr val="F0E8E8"/>
                </a:solidFill>
                <a:latin typeface="Geist"/>
                <a:ea typeface="Geist"/>
                <a:cs typeface="Geist"/>
              </a:rPr>
              <a:t>Sleep</a:t>
            </a:r>
          </a:p>
        </p:txBody>
      </p:sp>
      <p:sp>
        <p:nvSpPr>
          <p:cNvPr id="26" name="TextBox 25"/>
          <p:cNvSpPr txBox="1"/>
          <p:nvPr/>
        </p:nvSpPr>
        <p:spPr>
          <a:xfrm>
            <a:off x="11468100" y="5255895"/>
            <a:ext cx="4610100" cy="320040"/>
          </a:xfrm>
          <a:prstGeom prst="rect">
            <a:avLst/>
          </a:prstGeom>
          <a:noFill/>
        </p:spPr>
        <p:txBody>
          <a:bodyPr wrap="square" lIns="0" rIns="0" tIns="0" bIns="0" anchor="t">
            <a:spAutoFit/>
          </a:bodyPr>
          <a:lstStyle/>
          <a:p>
            <a:pPr algn="l"/>
            <a:r>
              <a:rPr sz="1638" b="0" i="0">
                <a:solidFill>
                  <a:srgbClr val="E8C27A"/>
                </a:solidFill>
                <a:latin typeface="Geist Mono"/>
                <a:ea typeface="Geist Mono"/>
                <a:cs typeface="Geist Mono"/>
              </a:rPr>
              <a:t>msec = {wait_msec}</a:t>
            </a:r>
          </a:p>
        </p:txBody>
      </p:sp>
      <p:sp>
        <p:nvSpPr>
          <p:cNvPr id="27" name="TextBox 26"/>
          <p:cNvSpPr txBox="1"/>
          <p:nvPr/>
        </p:nvSpPr>
        <p:spPr>
          <a:xfrm>
            <a:off x="11239500" y="6096000"/>
            <a:ext cx="5810250" cy="104775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On the robot it appears on the dashboard. Change it at the field, no rebuild.</a:t>
            </a:r>
          </a:p>
        </p:txBody>
      </p:sp>
      <p:sp>
        <p:nvSpPr>
          <p:cNvPr id="28" name="Rounded Rectangle 27"/>
          <p:cNvSpPr/>
          <p:nvPr/>
        </p:nvSpPr>
        <p:spPr>
          <a:xfrm>
            <a:off x="914400" y="771525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exclamation-circle.png"/>
          <p:cNvPicPr>
            <a:picLocks noChangeAspect="1"/>
          </p:cNvPicPr>
          <p:nvPr/>
        </p:nvPicPr>
        <p:blipFill>
          <a:blip r:embed="rId3"/>
          <a:stretch>
            <a:fillRect/>
          </a:stretch>
        </p:blipFill>
        <p:spPr>
          <a:xfrm>
            <a:off x="1333500" y="7972425"/>
            <a:ext cx="533400" cy="533400"/>
          </a:xfrm>
          <a:prstGeom prst="rect">
            <a:avLst/>
          </a:prstGeom>
        </p:spPr>
      </p:pic>
      <p:sp>
        <p:nvSpPr>
          <p:cNvPr id="30" name="TextBox 29"/>
          <p:cNvSpPr txBox="1"/>
          <p:nvPr/>
        </p:nvSpPr>
        <p:spPr>
          <a:xfrm>
            <a:off x="2190750" y="771525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Spelling counts.  </a:t>
            </a:r>
            <a:r>
              <a:rPr sz="2100" b="0" i="0">
                <a:solidFill>
                  <a:srgbClr val="F0E8E8"/>
                </a:solidFill>
                <a:latin typeface="Geist"/>
                <a:ea typeface="Geist"/>
                <a:cs typeface="Geist"/>
              </a:rPr>
              <a:t>A path name or tunable that doesn't match stops the auto from loading. Check Arbor's Problems tab.</a:t>
            </a:r>
          </a:p>
        </p:txBody>
      </p:sp>
      <p:sp>
        <p:nvSpPr>
          <p:cNvPr id="31" name="TextBox 30"/>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2" name="TextBox 3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ARBOR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Save writes the XML the robot runs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19400"/>
            <a:ext cx="112395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deploy/autos/trees/MyFirstAuto.xml</a:t>
            </a:r>
          </a:p>
        </p:txBody>
      </p:sp>
      <p:sp>
        <p:nvSpPr>
          <p:cNvPr id="6" name="Rounded Rectangle 5"/>
          <p:cNvSpPr/>
          <p:nvPr/>
        </p:nvSpPr>
        <p:spPr>
          <a:xfrm>
            <a:off x="914400" y="3238500"/>
            <a:ext cx="11239500" cy="4419600"/>
          </a:xfrm>
          <a:prstGeom prst="roundRect">
            <a:avLst>
              <a:gd name="adj" fmla="val 3448"/>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33450" y="4351020"/>
            <a:ext cx="11201400" cy="36576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933450" y="4351020"/>
            <a:ext cx="57150" cy="36576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933450" y="4716780"/>
            <a:ext cx="11201400" cy="36576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933450" y="4716780"/>
            <a:ext cx="57150" cy="36576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33450" y="5082540"/>
            <a:ext cx="11201400" cy="36576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33450" y="5082540"/>
            <a:ext cx="57150" cy="36576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33450" y="5448300"/>
            <a:ext cx="11201400" cy="36576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33450" y="5448300"/>
            <a:ext cx="57150" cy="36576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33450" y="5814060"/>
            <a:ext cx="11201400" cy="36576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33450" y="5814060"/>
            <a:ext cx="57150" cy="36576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33450" y="6179820"/>
            <a:ext cx="11201400" cy="36576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933450" y="6179820"/>
            <a:ext cx="57150" cy="36576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95400" y="3619500"/>
            <a:ext cx="10706100" cy="365760"/>
          </a:xfrm>
          <a:prstGeom prst="rect">
            <a:avLst/>
          </a:prstGeom>
          <a:noFill/>
        </p:spPr>
        <p:txBody>
          <a:bodyPr wrap="square" lIns="0" rIns="0" tIns="0" bIns="0" anchor="ctr">
            <a:spAutoFit/>
          </a:bodyPr>
          <a:lstStyle/>
          <a:p>
            <a:pPr algn="l"/>
            <a:r>
              <a:rPr sz="1800" b="0" i="0">
                <a:solidFill>
                  <a:srgbClr val="E0785F"/>
                </a:solidFill>
                <a:latin typeface="Geist Mono"/>
                <a:ea typeface="Geist Mono"/>
                <a:cs typeface="Geist Mono"/>
              </a:rPr>
              <a:t>&lt;root</a:t>
            </a:r>
            <a:r>
              <a:rPr sz="1800" b="0" i="0">
                <a:solidFill>
                  <a:srgbClr val="F0E8E8"/>
                </a:solidFill>
                <a:latin typeface="Geist Mono"/>
                <a:ea typeface="Geist Mono"/>
                <a:cs typeface="Geist Mono"/>
              </a:rPr>
              <a:t> BTCPP_format=</a:t>
            </a:r>
            <a:r>
              <a:rPr sz="1800" b="0" i="0">
                <a:solidFill>
                  <a:srgbClr val="9FD29A"/>
                </a:solidFill>
                <a:latin typeface="Geist Mono"/>
                <a:ea typeface="Geist Mono"/>
                <a:cs typeface="Geist Mono"/>
              </a:rPr>
              <a:t>"4"</a:t>
            </a:r>
            <a:r>
              <a:rPr sz="1800" b="0" i="0">
                <a:solidFill>
                  <a:srgbClr val="F0E8E8"/>
                </a:solidFill>
                <a:latin typeface="Geist Mono"/>
                <a:ea typeface="Geist Mono"/>
                <a:cs typeface="Geist Mono"/>
              </a:rPr>
              <a:t> main_tree_to_execute=</a:t>
            </a:r>
            <a:r>
              <a:rPr sz="1800" b="0" i="0">
                <a:solidFill>
                  <a:srgbClr val="9FD29A"/>
                </a:solidFill>
                <a:latin typeface="Geist Mono"/>
                <a:ea typeface="Geist Mono"/>
                <a:cs typeface="Geist Mono"/>
              </a:rPr>
              <a:t>"MyFirstAuto"</a:t>
            </a:r>
            <a:r>
              <a:rPr sz="1800" b="0" i="0">
                <a:solidFill>
                  <a:srgbClr val="E0785F"/>
                </a:solidFill>
                <a:latin typeface="Geist Mono"/>
                <a:ea typeface="Geist Mono"/>
                <a:cs typeface="Geist Mono"/>
              </a:rPr>
              <a:t>&gt;</a:t>
            </a:r>
          </a:p>
        </p:txBody>
      </p:sp>
      <p:sp>
        <p:nvSpPr>
          <p:cNvPr id="20" name="TextBox 19"/>
          <p:cNvSpPr txBox="1"/>
          <p:nvPr/>
        </p:nvSpPr>
        <p:spPr>
          <a:xfrm>
            <a:off x="1295400" y="3985260"/>
            <a:ext cx="1070610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&lt;BehaviorTree</a:t>
            </a:r>
            <a:r>
              <a:rPr sz="1800" b="0" i="0">
                <a:solidFill>
                  <a:srgbClr val="F0E8E8"/>
                </a:solidFill>
                <a:latin typeface="Geist Mono"/>
                <a:ea typeface="Geist Mono"/>
                <a:cs typeface="Geist Mono"/>
              </a:rPr>
              <a:t> ID=</a:t>
            </a:r>
            <a:r>
              <a:rPr sz="1800" b="0" i="0">
                <a:solidFill>
                  <a:srgbClr val="9FD29A"/>
                </a:solidFill>
                <a:latin typeface="Geist Mono"/>
                <a:ea typeface="Geist Mono"/>
                <a:cs typeface="Geist Mono"/>
              </a:rPr>
              <a:t>"MyFirstAuto"</a:t>
            </a:r>
            <a:r>
              <a:rPr sz="1800" b="0" i="0">
                <a:solidFill>
                  <a:srgbClr val="E0785F"/>
                </a:solidFill>
                <a:latin typeface="Geist Mono"/>
                <a:ea typeface="Geist Mono"/>
                <a:cs typeface="Geist Mono"/>
              </a:rPr>
              <a:t>&gt;</a:t>
            </a:r>
          </a:p>
        </p:txBody>
      </p:sp>
      <p:sp>
        <p:nvSpPr>
          <p:cNvPr id="21" name="TextBox 20"/>
          <p:cNvSpPr txBox="1"/>
          <p:nvPr/>
        </p:nvSpPr>
        <p:spPr>
          <a:xfrm>
            <a:off x="1295400" y="4351020"/>
            <a:ext cx="1070610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&lt;Sequence&gt;</a:t>
            </a:r>
          </a:p>
        </p:txBody>
      </p:sp>
      <p:sp>
        <p:nvSpPr>
          <p:cNvPr id="22" name="TextBox 21"/>
          <p:cNvSpPr txBox="1"/>
          <p:nvPr/>
        </p:nvSpPr>
        <p:spPr>
          <a:xfrm>
            <a:off x="1295400" y="4716780"/>
            <a:ext cx="1070610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&lt;SetWantedState</a:t>
            </a:r>
            <a:r>
              <a:rPr sz="1800" b="0" i="0">
                <a:solidFill>
                  <a:srgbClr val="F0E8E8"/>
                </a:solidFill>
                <a:latin typeface="Geist Mono"/>
                <a:ea typeface="Geist Mono"/>
                <a:cs typeface="Geist Mono"/>
              </a:rPr>
              <a:t> state=</a:t>
            </a:r>
            <a:r>
              <a:rPr sz="1800" b="0" i="0">
                <a:solidFill>
                  <a:srgbClr val="9FD29A"/>
                </a:solidFill>
                <a:latin typeface="Geist Mono"/>
                <a:ea typeface="Geist Mono"/>
                <a:cs typeface="Geist Mono"/>
              </a:rPr>
              <a:t>"DRIVE"</a:t>
            </a:r>
            <a:r>
              <a:rPr sz="1800" b="0" i="0">
                <a:solidFill>
                  <a:srgbClr val="E0785F"/>
                </a:solidFill>
                <a:latin typeface="Geist Mono"/>
                <a:ea typeface="Geist Mono"/>
                <a:cs typeface="Geist Mono"/>
              </a:rPr>
              <a:t>/&gt;</a:t>
            </a:r>
          </a:p>
        </p:txBody>
      </p:sp>
      <p:sp>
        <p:nvSpPr>
          <p:cNvPr id="23" name="TextBox 22"/>
          <p:cNvSpPr txBox="1"/>
          <p:nvPr/>
        </p:nvSpPr>
        <p:spPr>
          <a:xfrm>
            <a:off x="1295400" y="5082540"/>
            <a:ext cx="1070610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&lt;Sleep</a:t>
            </a:r>
            <a:r>
              <a:rPr sz="1800" b="0" i="0">
                <a:solidFill>
                  <a:srgbClr val="F0E8E8"/>
                </a:solidFill>
                <a:latin typeface="Geist Mono"/>
                <a:ea typeface="Geist Mono"/>
                <a:cs typeface="Geist Mono"/>
              </a:rPr>
              <a:t> msec=</a:t>
            </a:r>
            <a:r>
              <a:rPr sz="1800" b="0" i="0">
                <a:solidFill>
                  <a:srgbClr val="9FD29A"/>
                </a:solidFill>
                <a:latin typeface="Geist Mono"/>
                <a:ea typeface="Geist Mono"/>
                <a:cs typeface="Geist Mono"/>
              </a:rPr>
              <a:t>"500"</a:t>
            </a:r>
            <a:r>
              <a:rPr sz="1800" b="0" i="0">
                <a:solidFill>
                  <a:srgbClr val="E0785F"/>
                </a:solidFill>
                <a:latin typeface="Geist Mono"/>
                <a:ea typeface="Geist Mono"/>
                <a:cs typeface="Geist Mono"/>
              </a:rPr>
              <a:t>/&gt;</a:t>
            </a:r>
          </a:p>
        </p:txBody>
      </p:sp>
      <p:sp>
        <p:nvSpPr>
          <p:cNvPr id="24" name="TextBox 23"/>
          <p:cNvSpPr txBox="1"/>
          <p:nvPr/>
        </p:nvSpPr>
        <p:spPr>
          <a:xfrm>
            <a:off x="1295400" y="5448300"/>
            <a:ext cx="1070610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&lt;FollowPath</a:t>
            </a:r>
            <a:r>
              <a:rPr sz="1800" b="0" i="0">
                <a:solidFill>
                  <a:srgbClr val="F0E8E8"/>
                </a:solidFill>
                <a:latin typeface="Geist Mono"/>
                <a:ea typeface="Geist Mono"/>
                <a:cs typeface="Geist Mono"/>
              </a:rPr>
              <a:t> trajectory=</a:t>
            </a:r>
            <a:r>
              <a:rPr sz="1800" b="0" i="0">
                <a:solidFill>
                  <a:srgbClr val="9FD29A"/>
                </a:solidFill>
                <a:latin typeface="Geist Mono"/>
                <a:ea typeface="Geist Mono"/>
                <a:cs typeface="Geist Mono"/>
              </a:rPr>
              <a:t>"ToScore"</a:t>
            </a:r>
            <a:r>
              <a:rPr sz="1800" b="0" i="0">
                <a:solidFill>
                  <a:srgbClr val="E0785F"/>
                </a:solidFill>
                <a:latin typeface="Geist Mono"/>
                <a:ea typeface="Geist Mono"/>
                <a:cs typeface="Geist Mono"/>
              </a:rPr>
              <a:t>/&gt;</a:t>
            </a:r>
          </a:p>
        </p:txBody>
      </p:sp>
      <p:sp>
        <p:nvSpPr>
          <p:cNvPr id="25" name="TextBox 24"/>
          <p:cNvSpPr txBox="1"/>
          <p:nvPr/>
        </p:nvSpPr>
        <p:spPr>
          <a:xfrm>
            <a:off x="1295400" y="5814060"/>
            <a:ext cx="1070610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&lt;SetWantedState</a:t>
            </a:r>
            <a:r>
              <a:rPr sz="1800" b="0" i="0">
                <a:solidFill>
                  <a:srgbClr val="F0E8E8"/>
                </a:solidFill>
                <a:latin typeface="Geist Mono"/>
                <a:ea typeface="Geist Mono"/>
                <a:cs typeface="Geist Mono"/>
              </a:rPr>
              <a:t> state=</a:t>
            </a:r>
            <a:r>
              <a:rPr sz="1800" b="0" i="0">
                <a:solidFill>
                  <a:srgbClr val="9FD29A"/>
                </a:solidFill>
                <a:latin typeface="Geist Mono"/>
                <a:ea typeface="Geist Mono"/>
                <a:cs typeface="Geist Mono"/>
              </a:rPr>
              <a:t>"AIM"</a:t>
            </a:r>
            <a:r>
              <a:rPr sz="1800" b="0" i="0">
                <a:solidFill>
                  <a:srgbClr val="E0785F"/>
                </a:solidFill>
                <a:latin typeface="Geist Mono"/>
                <a:ea typeface="Geist Mono"/>
                <a:cs typeface="Geist Mono"/>
              </a:rPr>
              <a:t>/&gt;</a:t>
            </a:r>
          </a:p>
        </p:txBody>
      </p:sp>
      <p:sp>
        <p:nvSpPr>
          <p:cNvPr id="26" name="TextBox 25"/>
          <p:cNvSpPr txBox="1"/>
          <p:nvPr/>
        </p:nvSpPr>
        <p:spPr>
          <a:xfrm>
            <a:off x="1295400" y="6179820"/>
            <a:ext cx="1070610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&lt;/Sequence&gt;</a:t>
            </a:r>
          </a:p>
        </p:txBody>
      </p:sp>
      <p:sp>
        <p:nvSpPr>
          <p:cNvPr id="27" name="TextBox 26"/>
          <p:cNvSpPr txBox="1"/>
          <p:nvPr/>
        </p:nvSpPr>
        <p:spPr>
          <a:xfrm>
            <a:off x="1295400" y="6545580"/>
            <a:ext cx="1070610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&lt;/BehaviorTree&gt;</a:t>
            </a:r>
          </a:p>
        </p:txBody>
      </p:sp>
      <p:sp>
        <p:nvSpPr>
          <p:cNvPr id="28" name="TextBox 27"/>
          <p:cNvSpPr txBox="1"/>
          <p:nvPr/>
        </p:nvSpPr>
        <p:spPr>
          <a:xfrm>
            <a:off x="1295400" y="6911340"/>
            <a:ext cx="10706100" cy="365760"/>
          </a:xfrm>
          <a:prstGeom prst="rect">
            <a:avLst/>
          </a:prstGeom>
          <a:noFill/>
        </p:spPr>
        <p:txBody>
          <a:bodyPr wrap="square" lIns="0" rIns="0" tIns="0" bIns="0" anchor="ctr">
            <a:spAutoFit/>
          </a:bodyPr>
          <a:lstStyle/>
          <a:p>
            <a:pPr algn="l"/>
            <a:r>
              <a:rPr sz="1800" b="0" i="0">
                <a:solidFill>
                  <a:srgbClr val="E0785F"/>
                </a:solidFill>
                <a:latin typeface="Geist Mono"/>
                <a:ea typeface="Geist Mono"/>
                <a:cs typeface="Geist Mono"/>
              </a:rPr>
              <a:t>&lt;/root&gt;</a:t>
            </a:r>
          </a:p>
        </p:txBody>
      </p:sp>
      <p:sp>
        <p:nvSpPr>
          <p:cNvPr id="29" name="Oval 28"/>
          <p:cNvSpPr/>
          <p:nvPr/>
        </p:nvSpPr>
        <p:spPr>
          <a:xfrm>
            <a:off x="12668250" y="3143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668250" y="3143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31" name="TextBox 30"/>
          <p:cNvSpPr txBox="1"/>
          <p:nvPr/>
        </p:nvSpPr>
        <p:spPr>
          <a:xfrm>
            <a:off x="13277850" y="3105150"/>
            <a:ext cx="4095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One file per auto</a:t>
            </a:r>
          </a:p>
        </p:txBody>
      </p:sp>
      <p:sp>
        <p:nvSpPr>
          <p:cNvPr id="32" name="TextBox 31"/>
          <p:cNvSpPr txBox="1"/>
          <p:nvPr/>
        </p:nvSpPr>
        <p:spPr>
          <a:xfrm>
            <a:off x="13277850" y="3524250"/>
            <a:ext cx="4095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Its name is the auto's name</a:t>
            </a:r>
          </a:p>
        </p:txBody>
      </p:sp>
      <p:sp>
        <p:nvSpPr>
          <p:cNvPr id="33" name="Oval 32"/>
          <p:cNvSpPr/>
          <p:nvPr/>
        </p:nvSpPr>
        <p:spPr>
          <a:xfrm>
            <a:off x="12668250" y="4762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2668250" y="4762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35" name="TextBox 34"/>
          <p:cNvSpPr txBox="1"/>
          <p:nvPr/>
        </p:nvSpPr>
        <p:spPr>
          <a:xfrm>
            <a:off x="13277850" y="4724400"/>
            <a:ext cx="4095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One tag per node</a:t>
            </a:r>
          </a:p>
        </p:txBody>
      </p:sp>
      <p:sp>
        <p:nvSpPr>
          <p:cNvPr id="36" name="TextBox 35"/>
          <p:cNvSpPr txBox="1"/>
          <p:nvPr/>
        </p:nvSpPr>
        <p:spPr>
          <a:xfrm>
            <a:off x="13277850" y="5143500"/>
            <a:ext cx="4095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Ports are attributes</a:t>
            </a:r>
          </a:p>
        </p:txBody>
      </p:sp>
      <p:sp>
        <p:nvSpPr>
          <p:cNvPr id="37" name="Oval 36"/>
          <p:cNvSpPr/>
          <p:nvPr/>
        </p:nvSpPr>
        <p:spPr>
          <a:xfrm>
            <a:off x="12668250" y="6381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2668250" y="6381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39" name="TextBox 38"/>
          <p:cNvSpPr txBox="1"/>
          <p:nvPr/>
        </p:nvSpPr>
        <p:spPr>
          <a:xfrm>
            <a:off x="13277850" y="6343650"/>
            <a:ext cx="4095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Plain text</a:t>
            </a:r>
          </a:p>
        </p:txBody>
      </p:sp>
      <p:sp>
        <p:nvSpPr>
          <p:cNvPr id="40" name="TextBox 39"/>
          <p:cNvSpPr txBox="1"/>
          <p:nvPr/>
        </p:nvSpPr>
        <p:spPr>
          <a:xfrm>
            <a:off x="13277850" y="6762750"/>
            <a:ext cx="4095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Git tracks it like any code</a:t>
            </a:r>
          </a:p>
        </p:txBody>
      </p:sp>
      <p:sp>
        <p:nvSpPr>
          <p:cNvPr id="41" name="Rounded Rectangle 40"/>
          <p:cNvSpPr/>
          <p:nvPr/>
        </p:nvSpPr>
        <p:spPr>
          <a:xfrm>
            <a:off x="914400" y="8096250"/>
            <a:ext cx="16459200" cy="857250"/>
          </a:xfrm>
          <a:prstGeom prst="roundRect">
            <a:avLst>
              <a:gd name="adj" fmla="val 1777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file-earmark-code.png"/>
          <p:cNvPicPr>
            <a:picLocks noChangeAspect="1"/>
          </p:cNvPicPr>
          <p:nvPr/>
        </p:nvPicPr>
        <p:blipFill>
          <a:blip r:embed="rId3"/>
          <a:stretch>
            <a:fillRect/>
          </a:stretch>
        </p:blipFill>
        <p:spPr>
          <a:xfrm>
            <a:off x="1333500" y="8258175"/>
            <a:ext cx="400050" cy="533400"/>
          </a:xfrm>
          <a:prstGeom prst="rect">
            <a:avLst/>
          </a:prstGeom>
        </p:spPr>
      </p:pic>
      <p:sp>
        <p:nvSpPr>
          <p:cNvPr id="43" name="TextBox 42"/>
          <p:cNvSpPr txBox="1"/>
          <p:nvPr/>
        </p:nvSpPr>
        <p:spPr>
          <a:xfrm>
            <a:off x="2190750" y="8096250"/>
            <a:ext cx="14801850" cy="857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Ctrl+S  </a:t>
            </a:r>
            <a:r>
              <a:rPr sz="2100" b="0" i="0">
                <a:solidFill>
                  <a:srgbClr val="F0E8E8"/>
                </a:solidFill>
                <a:latin typeface="Geist"/>
                <a:ea typeface="Geist"/>
                <a:cs typeface="Geist"/>
              </a:rPr>
              <a:t>saves. The XML tab at the bottom shows exactly what was written.</a:t>
            </a:r>
          </a:p>
        </p:txBody>
      </p:sp>
      <p:sp>
        <p:nvSpPr>
          <p:cNvPr id="44" name="TextBox 43"/>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5" name="TextBox 44"/>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ARBOR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Watch it run, then replay it</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10096500" cy="5715000"/>
          </a:xfrm>
          <a:prstGeom prst="roundRect">
            <a:avLst>
              <a:gd name="adj" fmla="val 2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143250"/>
            <a:ext cx="6667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REPLAY: THE END OF A RUN</a:t>
            </a:r>
          </a:p>
        </p:txBody>
      </p:sp>
      <p:sp>
        <p:nvSpPr>
          <p:cNvPr id="7" name="Rectangle 6"/>
          <p:cNvSpPr/>
          <p:nvPr/>
        </p:nvSpPr>
        <p:spPr>
          <a:xfrm>
            <a:off x="7158038" y="6086475"/>
            <a:ext cx="38100" cy="36671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158038" y="6415088"/>
            <a:ext cx="381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158038" y="6415088"/>
            <a:ext cx="38100" cy="36671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943600" y="4514850"/>
            <a:ext cx="38100" cy="36671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2300288" y="4843462"/>
            <a:ext cx="7324725"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300288" y="4843462"/>
            <a:ext cx="38100" cy="36671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729162" y="4843462"/>
            <a:ext cx="38100" cy="36671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158038" y="4843462"/>
            <a:ext cx="38100" cy="36671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586912" y="4843462"/>
            <a:ext cx="38100" cy="36671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1219200" y="5191125"/>
            <a:ext cx="2200275" cy="914400"/>
          </a:xfrm>
          <a:prstGeom prst="roundRect">
            <a:avLst>
              <a:gd name="adj" fmla="val 12500"/>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1257300" y="5286375"/>
            <a:ext cx="66675" cy="7239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447800" y="5305425"/>
            <a:ext cx="1857375" cy="257175"/>
          </a:xfrm>
          <a:prstGeom prst="rect">
            <a:avLst/>
          </a:prstGeom>
          <a:noFill/>
        </p:spPr>
        <p:txBody>
          <a:bodyPr wrap="square" lIns="0" rIns="0" tIns="0" bIns="0" anchor="t">
            <a:spAutoFit/>
          </a:bodyPr>
          <a:lstStyle/>
          <a:p>
            <a:pPr algn="l"/>
            <a:r>
              <a:rPr sz="1500" b="1" i="0">
                <a:solidFill>
                  <a:srgbClr val="2DD4BF"/>
                </a:solidFill>
                <a:latin typeface="Geist"/>
                <a:ea typeface="Geist"/>
                <a:cs typeface="Geist"/>
              </a:rPr>
              <a:t>▶  </a:t>
            </a:r>
            <a:r>
              <a:rPr sz="1500" b="1" i="0">
                <a:solidFill>
                  <a:srgbClr val="F0E8E8"/>
                </a:solidFill>
                <a:latin typeface="Geist"/>
                <a:ea typeface="Geist"/>
                <a:cs typeface="Geist"/>
              </a:rPr>
              <a:t>FollowPath</a:t>
            </a:r>
          </a:p>
        </p:txBody>
      </p:sp>
      <p:sp>
        <p:nvSpPr>
          <p:cNvPr id="19" name="TextBox 18"/>
          <p:cNvSpPr txBox="1"/>
          <p:nvPr/>
        </p:nvSpPr>
        <p:spPr>
          <a:xfrm>
            <a:off x="1447800" y="5581650"/>
            <a:ext cx="1857375" cy="228600"/>
          </a:xfrm>
          <a:prstGeom prst="rect">
            <a:avLst/>
          </a:prstGeom>
          <a:noFill/>
        </p:spPr>
        <p:txBody>
          <a:bodyPr wrap="square" lIns="0" rIns="0" tIns="0" bIns="0" anchor="t">
            <a:spAutoFit/>
          </a:bodyPr>
          <a:lstStyle/>
          <a:p>
            <a:pPr algn="l"/>
            <a:r>
              <a:rPr sz="1170" b="0" i="0">
                <a:solidFill>
                  <a:srgbClr val="E8C27A"/>
                </a:solidFill>
                <a:latin typeface="Geist Mono"/>
                <a:ea typeface="Geist Mono"/>
                <a:cs typeface="Geist Mono"/>
              </a:rPr>
              <a:t>ToPickup</a:t>
            </a:r>
          </a:p>
        </p:txBody>
      </p:sp>
      <p:sp>
        <p:nvSpPr>
          <p:cNvPr id="20" name="Rounded Rectangle 19"/>
          <p:cNvSpPr/>
          <p:nvPr/>
        </p:nvSpPr>
        <p:spPr>
          <a:xfrm>
            <a:off x="2343150" y="5038725"/>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2343150" y="5038725"/>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22" name="Rounded Rectangle 21"/>
          <p:cNvSpPr/>
          <p:nvPr/>
        </p:nvSpPr>
        <p:spPr>
          <a:xfrm>
            <a:off x="3648075" y="5191125"/>
            <a:ext cx="2200275" cy="914400"/>
          </a:xfrm>
          <a:prstGeom prst="roundRect">
            <a:avLst>
              <a:gd name="adj" fmla="val 12500"/>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3686175" y="5286375"/>
            <a:ext cx="66675" cy="7239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876675" y="5305425"/>
            <a:ext cx="1857375" cy="257175"/>
          </a:xfrm>
          <a:prstGeom prst="rect">
            <a:avLst/>
          </a:prstGeom>
          <a:noFill/>
        </p:spPr>
        <p:txBody>
          <a:bodyPr wrap="square" lIns="0" rIns="0" tIns="0" bIns="0" anchor="t">
            <a:spAutoFit/>
          </a:bodyPr>
          <a:lstStyle/>
          <a:p>
            <a:pPr algn="l"/>
            <a:r>
              <a:rPr sz="1500" b="1" i="0">
                <a:solidFill>
                  <a:srgbClr val="2DD4BF"/>
                </a:solidFill>
                <a:latin typeface="Geist"/>
                <a:ea typeface="Geist"/>
                <a:cs typeface="Geist"/>
              </a:rPr>
              <a:t>▶  </a:t>
            </a:r>
            <a:r>
              <a:rPr sz="1500" b="1" i="0">
                <a:solidFill>
                  <a:srgbClr val="F0E8E8"/>
                </a:solidFill>
                <a:latin typeface="Geist"/>
                <a:ea typeface="Geist"/>
                <a:cs typeface="Geist"/>
              </a:rPr>
              <a:t>SetWantedState</a:t>
            </a:r>
          </a:p>
        </p:txBody>
      </p:sp>
      <p:sp>
        <p:nvSpPr>
          <p:cNvPr id="25" name="TextBox 24"/>
          <p:cNvSpPr txBox="1"/>
          <p:nvPr/>
        </p:nvSpPr>
        <p:spPr>
          <a:xfrm>
            <a:off x="3876675" y="5581650"/>
            <a:ext cx="1857375" cy="228600"/>
          </a:xfrm>
          <a:prstGeom prst="rect">
            <a:avLst/>
          </a:prstGeom>
          <a:noFill/>
        </p:spPr>
        <p:txBody>
          <a:bodyPr wrap="square" lIns="0" rIns="0" tIns="0" bIns="0" anchor="t">
            <a:spAutoFit/>
          </a:bodyPr>
          <a:lstStyle/>
          <a:p>
            <a:pPr algn="l"/>
            <a:r>
              <a:rPr sz="1170" b="0" i="0">
                <a:solidFill>
                  <a:srgbClr val="E8C27A"/>
                </a:solidFill>
                <a:latin typeface="Geist Mono"/>
                <a:ea typeface="Geist Mono"/>
                <a:cs typeface="Geist Mono"/>
              </a:rPr>
              <a:t>AIM</a:t>
            </a:r>
          </a:p>
        </p:txBody>
      </p:sp>
      <p:sp>
        <p:nvSpPr>
          <p:cNvPr id="26" name="Rounded Rectangle 25"/>
          <p:cNvSpPr/>
          <p:nvPr/>
        </p:nvSpPr>
        <p:spPr>
          <a:xfrm>
            <a:off x="4772025" y="5038725"/>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772025" y="5038725"/>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28" name="Rounded Rectangle 27"/>
          <p:cNvSpPr/>
          <p:nvPr/>
        </p:nvSpPr>
        <p:spPr>
          <a:xfrm>
            <a:off x="6076950" y="6762750"/>
            <a:ext cx="2200275"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115050" y="6858000"/>
            <a:ext cx="66675" cy="723900"/>
          </a:xfrm>
          <a:prstGeom prst="roundRect">
            <a:avLst>
              <a:gd name="adj" fmla="val 42857"/>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305550" y="6877050"/>
            <a:ext cx="1857375" cy="257175"/>
          </a:xfrm>
          <a:prstGeom prst="rect">
            <a:avLst/>
          </a:prstGeom>
          <a:noFill/>
        </p:spPr>
        <p:txBody>
          <a:bodyPr wrap="square" lIns="0" rIns="0" tIns="0" bIns="0" anchor="t">
            <a:spAutoFit/>
          </a:bodyPr>
          <a:lstStyle/>
          <a:p>
            <a:pPr algn="l"/>
            <a:r>
              <a:rPr sz="1500" b="1" i="0">
                <a:solidFill>
                  <a:srgbClr val="C084FC"/>
                </a:solidFill>
                <a:latin typeface="Geist"/>
                <a:ea typeface="Geist"/>
                <a:cs typeface="Geist"/>
              </a:rPr>
              <a:t>●  </a:t>
            </a:r>
            <a:r>
              <a:rPr sz="1500" b="1" i="0">
                <a:solidFill>
                  <a:srgbClr val="F0E8E8"/>
                </a:solidFill>
                <a:latin typeface="Geist"/>
                <a:ea typeface="Geist"/>
                <a:cs typeface="Geist"/>
              </a:rPr>
              <a:t>IsSystemState</a:t>
            </a:r>
          </a:p>
        </p:txBody>
      </p:sp>
      <p:sp>
        <p:nvSpPr>
          <p:cNvPr id="31" name="TextBox 30"/>
          <p:cNvSpPr txBox="1"/>
          <p:nvPr/>
        </p:nvSpPr>
        <p:spPr>
          <a:xfrm>
            <a:off x="6305550" y="7153275"/>
            <a:ext cx="1857375" cy="228600"/>
          </a:xfrm>
          <a:prstGeom prst="rect">
            <a:avLst/>
          </a:prstGeom>
          <a:noFill/>
        </p:spPr>
        <p:txBody>
          <a:bodyPr wrap="square" lIns="0" rIns="0" tIns="0" bIns="0" anchor="t">
            <a:spAutoFit/>
          </a:bodyPr>
          <a:lstStyle/>
          <a:p>
            <a:pPr algn="l"/>
            <a:r>
              <a:rPr sz="1170" b="0" i="0">
                <a:solidFill>
                  <a:srgbClr val="E8C27A"/>
                </a:solidFill>
                <a:latin typeface="Geist Mono"/>
                <a:ea typeface="Geist Mono"/>
                <a:cs typeface="Geist Mono"/>
              </a:rPr>
              <a:t>AIM, retried</a:t>
            </a:r>
          </a:p>
        </p:txBody>
      </p:sp>
      <p:sp>
        <p:nvSpPr>
          <p:cNvPr id="32" name="Rounded Rectangle 31"/>
          <p:cNvSpPr/>
          <p:nvPr/>
        </p:nvSpPr>
        <p:spPr>
          <a:xfrm>
            <a:off x="6034088" y="5191125"/>
            <a:ext cx="2286000" cy="914400"/>
          </a:xfrm>
          <a:prstGeom prst="roundRect">
            <a:avLst>
              <a:gd name="adj" fmla="val 12500"/>
            </a:avLst>
          </a:prstGeom>
          <a:solidFill>
            <a:srgbClr val="111111"/>
          </a:solidFill>
          <a:ln w="381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6072188" y="5286375"/>
            <a:ext cx="66675" cy="7239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62688" y="5305425"/>
            <a:ext cx="1943100" cy="257175"/>
          </a:xfrm>
          <a:prstGeom prst="rect">
            <a:avLst/>
          </a:prstGeom>
          <a:noFill/>
        </p:spPr>
        <p:txBody>
          <a:bodyPr wrap="square" lIns="0" rIns="0" tIns="0" bIns="0" anchor="t">
            <a:spAutoFit/>
          </a:bodyPr>
          <a:lstStyle/>
          <a:p>
            <a:pPr algn="l"/>
            <a:r>
              <a:rPr sz="1500" b="1" i="0">
                <a:solidFill>
                  <a:srgbClr val="7C93C3"/>
                </a:solidFill>
                <a:latin typeface="Geist"/>
                <a:ea typeface="Geist"/>
                <a:cs typeface="Geist"/>
              </a:rPr>
              <a:t>⏱  </a:t>
            </a:r>
            <a:r>
              <a:rPr sz="1500" b="1" i="0">
                <a:solidFill>
                  <a:srgbClr val="F0E8E8"/>
                </a:solidFill>
                <a:latin typeface="Geist"/>
                <a:ea typeface="Geist"/>
                <a:cs typeface="Geist"/>
              </a:rPr>
              <a:t>Timeout</a:t>
            </a:r>
          </a:p>
        </p:txBody>
      </p:sp>
      <p:sp>
        <p:nvSpPr>
          <p:cNvPr id="35" name="TextBox 34"/>
          <p:cNvSpPr txBox="1"/>
          <p:nvPr/>
        </p:nvSpPr>
        <p:spPr>
          <a:xfrm>
            <a:off x="6262688" y="5581650"/>
            <a:ext cx="1943100" cy="228600"/>
          </a:xfrm>
          <a:prstGeom prst="rect">
            <a:avLst/>
          </a:prstGeom>
          <a:noFill/>
        </p:spPr>
        <p:txBody>
          <a:bodyPr wrap="square" lIns="0" rIns="0" tIns="0" bIns="0" anchor="t">
            <a:spAutoFit/>
          </a:bodyPr>
          <a:lstStyle/>
          <a:p>
            <a:pPr algn="l"/>
            <a:r>
              <a:rPr sz="1170" b="0" i="0">
                <a:solidFill>
                  <a:srgbClr val="E8C27A"/>
                </a:solidFill>
                <a:latin typeface="Geist Mono"/>
                <a:ea typeface="Geist Mono"/>
                <a:cs typeface="Geist Mono"/>
              </a:rPr>
              <a:t>3000 ms</a:t>
            </a:r>
          </a:p>
        </p:txBody>
      </p:sp>
      <p:sp>
        <p:nvSpPr>
          <p:cNvPr id="36" name="Rounded Rectangle 35"/>
          <p:cNvSpPr/>
          <p:nvPr/>
        </p:nvSpPr>
        <p:spPr>
          <a:xfrm>
            <a:off x="7243762" y="5038725"/>
            <a:ext cx="981075" cy="28575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7243762" y="5038725"/>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FAILURE</a:t>
            </a:r>
          </a:p>
        </p:txBody>
      </p:sp>
      <p:sp>
        <p:nvSpPr>
          <p:cNvPr id="38" name="Rounded Rectangle 37"/>
          <p:cNvSpPr/>
          <p:nvPr/>
        </p:nvSpPr>
        <p:spPr>
          <a:xfrm>
            <a:off x="8505825" y="5191125"/>
            <a:ext cx="2200275"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ounded Rectangle 38"/>
          <p:cNvSpPr/>
          <p:nvPr/>
        </p:nvSpPr>
        <p:spPr>
          <a:xfrm>
            <a:off x="8543925" y="5286375"/>
            <a:ext cx="66675" cy="7239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734425" y="5305425"/>
            <a:ext cx="1857375" cy="257175"/>
          </a:xfrm>
          <a:prstGeom prst="rect">
            <a:avLst/>
          </a:prstGeom>
          <a:noFill/>
        </p:spPr>
        <p:txBody>
          <a:bodyPr wrap="square" lIns="0" rIns="0" tIns="0" bIns="0" anchor="t">
            <a:spAutoFit/>
          </a:bodyPr>
          <a:lstStyle/>
          <a:p>
            <a:pPr algn="l"/>
            <a:r>
              <a:rPr sz="1500" b="1" i="0">
                <a:solidFill>
                  <a:srgbClr val="2DD4BF"/>
                </a:solidFill>
                <a:latin typeface="Geist"/>
                <a:ea typeface="Geist"/>
                <a:cs typeface="Geist"/>
              </a:rPr>
              <a:t>▶  </a:t>
            </a:r>
            <a:r>
              <a:rPr sz="1500" b="1" i="0">
                <a:solidFill>
                  <a:srgbClr val="F0E8E8"/>
                </a:solidFill>
                <a:latin typeface="Geist"/>
                <a:ea typeface="Geist"/>
                <a:cs typeface="Geist"/>
              </a:rPr>
              <a:t>SetWantedState</a:t>
            </a:r>
          </a:p>
        </p:txBody>
      </p:sp>
      <p:sp>
        <p:nvSpPr>
          <p:cNvPr id="41" name="TextBox 40"/>
          <p:cNvSpPr txBox="1"/>
          <p:nvPr/>
        </p:nvSpPr>
        <p:spPr>
          <a:xfrm>
            <a:off x="8734425" y="5581650"/>
            <a:ext cx="1857375" cy="228600"/>
          </a:xfrm>
          <a:prstGeom prst="rect">
            <a:avLst/>
          </a:prstGeom>
          <a:noFill/>
        </p:spPr>
        <p:txBody>
          <a:bodyPr wrap="square" lIns="0" rIns="0" tIns="0" bIns="0" anchor="t">
            <a:spAutoFit/>
          </a:bodyPr>
          <a:lstStyle/>
          <a:p>
            <a:pPr algn="l"/>
            <a:r>
              <a:rPr sz="1170" b="0" i="0">
                <a:solidFill>
                  <a:srgbClr val="E8C27A"/>
                </a:solidFill>
                <a:latin typeface="Geist Mono"/>
                <a:ea typeface="Geist Mono"/>
                <a:cs typeface="Geist Mono"/>
              </a:rPr>
              <a:t>SHOOT</a:t>
            </a:r>
          </a:p>
        </p:txBody>
      </p:sp>
      <p:sp>
        <p:nvSpPr>
          <p:cNvPr id="42" name="Rounded Rectangle 41"/>
          <p:cNvSpPr/>
          <p:nvPr/>
        </p:nvSpPr>
        <p:spPr>
          <a:xfrm>
            <a:off x="4819650" y="3619500"/>
            <a:ext cx="2286000" cy="914400"/>
          </a:xfrm>
          <a:prstGeom prst="roundRect">
            <a:avLst>
              <a:gd name="adj" fmla="val 12500"/>
            </a:avLst>
          </a:prstGeom>
          <a:solidFill>
            <a:srgbClr val="111111"/>
          </a:solidFill>
          <a:ln w="381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ounded Rectangle 42"/>
          <p:cNvSpPr/>
          <p:nvPr/>
        </p:nvSpPr>
        <p:spPr>
          <a:xfrm>
            <a:off x="4857750" y="3714750"/>
            <a:ext cx="66675" cy="7239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5048250" y="3943350"/>
            <a:ext cx="1943100" cy="257175"/>
          </a:xfrm>
          <a:prstGeom prst="rect">
            <a:avLst/>
          </a:prstGeom>
          <a:noFill/>
        </p:spPr>
        <p:txBody>
          <a:bodyPr wrap="square" lIns="0" rIns="0" tIns="0" bIns="0" anchor="t">
            <a:spAutoFit/>
          </a:bodyPr>
          <a:lstStyle/>
          <a:p>
            <a:pPr algn="l"/>
            <a:r>
              <a:rPr sz="1500" b="1" i="0">
                <a:solidFill>
                  <a:srgbClr val="7C93C3"/>
                </a:solidFill>
                <a:latin typeface="Geist"/>
                <a:ea typeface="Geist"/>
                <a:cs typeface="Geist"/>
              </a:rPr>
              <a:t>→  </a:t>
            </a:r>
            <a:r>
              <a:rPr sz="1500" b="1" i="0">
                <a:solidFill>
                  <a:srgbClr val="F0E8E8"/>
                </a:solidFill>
                <a:latin typeface="Geist"/>
                <a:ea typeface="Geist"/>
                <a:cs typeface="Geist"/>
              </a:rPr>
              <a:t>Sequence</a:t>
            </a:r>
          </a:p>
        </p:txBody>
      </p:sp>
      <p:sp>
        <p:nvSpPr>
          <p:cNvPr id="45" name="Rounded Rectangle 44"/>
          <p:cNvSpPr/>
          <p:nvPr/>
        </p:nvSpPr>
        <p:spPr>
          <a:xfrm>
            <a:off x="6029325" y="3467100"/>
            <a:ext cx="981075" cy="28575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029325" y="34671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FAILURE</a:t>
            </a:r>
          </a:p>
        </p:txBody>
      </p:sp>
      <p:sp>
        <p:nvSpPr>
          <p:cNvPr id="47" name="Rounded Rectangle 46"/>
          <p:cNvSpPr/>
          <p:nvPr/>
        </p:nvSpPr>
        <p:spPr>
          <a:xfrm>
            <a:off x="1524000" y="8115300"/>
            <a:ext cx="323850" cy="323850"/>
          </a:xfrm>
          <a:prstGeom prst="roundRect">
            <a:avLst>
              <a:gd name="adj" fmla="val 23529"/>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1981200" y="8077200"/>
            <a:ext cx="2476500" cy="400050"/>
          </a:xfrm>
          <a:prstGeom prst="rect">
            <a:avLst/>
          </a:prstGeom>
          <a:noFill/>
        </p:spPr>
        <p:txBody>
          <a:bodyPr wrap="square" lIns="0" rIns="0" tIns="0" bIns="0" anchor="ctr">
            <a:spAutoFit/>
          </a:bodyPr>
          <a:lstStyle/>
          <a:p>
            <a:pPr algn="l"/>
            <a:r>
              <a:rPr sz="1650" b="1" i="0">
                <a:solidFill>
                  <a:srgbClr val="F0E8E8"/>
                </a:solidFill>
                <a:latin typeface="Geist"/>
                <a:ea typeface="Geist"/>
                <a:cs typeface="Geist"/>
              </a:rPr>
              <a:t>RUNNING</a:t>
            </a:r>
          </a:p>
        </p:txBody>
      </p:sp>
      <p:sp>
        <p:nvSpPr>
          <p:cNvPr id="49" name="Rounded Rectangle 48"/>
          <p:cNvSpPr/>
          <p:nvPr/>
        </p:nvSpPr>
        <p:spPr>
          <a:xfrm>
            <a:off x="4476750" y="8115300"/>
            <a:ext cx="323850" cy="323850"/>
          </a:xfrm>
          <a:prstGeom prst="roundRect">
            <a:avLst>
              <a:gd name="adj" fmla="val 23529"/>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4933950" y="8077200"/>
            <a:ext cx="2476500" cy="400050"/>
          </a:xfrm>
          <a:prstGeom prst="rect">
            <a:avLst/>
          </a:prstGeom>
          <a:noFill/>
        </p:spPr>
        <p:txBody>
          <a:bodyPr wrap="square" lIns="0" rIns="0" tIns="0" bIns="0" anchor="ctr">
            <a:spAutoFit/>
          </a:bodyPr>
          <a:lstStyle/>
          <a:p>
            <a:pPr algn="l"/>
            <a:r>
              <a:rPr sz="1650" b="1" i="0">
                <a:solidFill>
                  <a:srgbClr val="F0E8E8"/>
                </a:solidFill>
                <a:latin typeface="Geist"/>
                <a:ea typeface="Geist"/>
                <a:cs typeface="Geist"/>
              </a:rPr>
              <a:t>SUCCESS</a:t>
            </a:r>
          </a:p>
        </p:txBody>
      </p:sp>
      <p:sp>
        <p:nvSpPr>
          <p:cNvPr id="51" name="Rounded Rectangle 50"/>
          <p:cNvSpPr/>
          <p:nvPr/>
        </p:nvSpPr>
        <p:spPr>
          <a:xfrm>
            <a:off x="7429500" y="8115300"/>
            <a:ext cx="323850" cy="323850"/>
          </a:xfrm>
          <a:prstGeom prst="roundRect">
            <a:avLst>
              <a:gd name="adj" fmla="val 23529"/>
            </a:avLst>
          </a:prstGeom>
          <a:solidFill>
            <a:srgbClr val="111111"/>
          </a:solidFill>
          <a:ln w="381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7886700" y="8077200"/>
            <a:ext cx="2476500" cy="400050"/>
          </a:xfrm>
          <a:prstGeom prst="rect">
            <a:avLst/>
          </a:prstGeom>
          <a:noFill/>
        </p:spPr>
        <p:txBody>
          <a:bodyPr wrap="square" lIns="0" rIns="0" tIns="0" bIns="0" anchor="ctr">
            <a:spAutoFit/>
          </a:bodyPr>
          <a:lstStyle/>
          <a:p>
            <a:pPr algn="l"/>
            <a:r>
              <a:rPr sz="1650" b="1" i="0">
                <a:solidFill>
                  <a:srgbClr val="F0E8E8"/>
                </a:solidFill>
                <a:latin typeface="Geist"/>
                <a:ea typeface="Geist"/>
                <a:cs typeface="Geist"/>
              </a:rPr>
              <a:t>FAILURE</a:t>
            </a:r>
          </a:p>
        </p:txBody>
      </p:sp>
      <p:sp>
        <p:nvSpPr>
          <p:cNvPr id="53" name="TextBox 52"/>
          <p:cNvSpPr txBox="1"/>
          <p:nvPr/>
        </p:nvSpPr>
        <p:spPr>
          <a:xfrm>
            <a:off x="11525250" y="2857500"/>
            <a:ext cx="5848350" cy="321945"/>
          </a:xfrm>
          <a:prstGeom prst="rect">
            <a:avLst/>
          </a:prstGeom>
          <a:noFill/>
        </p:spPr>
        <p:txBody>
          <a:bodyPr wrap="square" lIns="0" rIns="0" tIns="0" bIns="0" anchor="t">
            <a:spAutoFit/>
          </a:bodyPr>
          <a:lstStyle/>
          <a:p>
            <a:pPr algn="l">
              <a:lnSpc>
                <a:spcPct val="125000"/>
              </a:lnSpc>
            </a:pPr>
            <a:r>
              <a:rPr sz="1950" b="1" i="0">
                <a:solidFill>
                  <a:srgbClr val="CC2200"/>
                </a:solidFill>
                <a:latin typeface="Geist"/>
                <a:ea typeface="Geist"/>
                <a:cs typeface="Geist"/>
              </a:rPr>
              <a:t>•  </a:t>
            </a:r>
            <a:r>
              <a:rPr sz="1950" b="0" i="0">
                <a:solidFill>
                  <a:srgbClr val="F0E8E8"/>
                </a:solidFill>
                <a:latin typeface="Geist"/>
                <a:ea typeface="Geist"/>
                <a:cs typeface="Geist"/>
              </a:rPr>
              <a:t>Live: connect to the robot or simulator</a:t>
            </a:r>
          </a:p>
        </p:txBody>
      </p:sp>
      <p:sp>
        <p:nvSpPr>
          <p:cNvPr id="54" name="TextBox 53"/>
          <p:cNvSpPr txBox="1"/>
          <p:nvPr/>
        </p:nvSpPr>
        <p:spPr>
          <a:xfrm>
            <a:off x="11525250" y="3427095"/>
            <a:ext cx="5848350" cy="321945"/>
          </a:xfrm>
          <a:prstGeom prst="rect">
            <a:avLst/>
          </a:prstGeom>
          <a:noFill/>
        </p:spPr>
        <p:txBody>
          <a:bodyPr wrap="square" lIns="0" rIns="0" tIns="0" bIns="0" anchor="t">
            <a:spAutoFit/>
          </a:bodyPr>
          <a:lstStyle/>
          <a:p>
            <a:pPr algn="l">
              <a:lnSpc>
                <a:spcPct val="125000"/>
              </a:lnSpc>
            </a:pPr>
            <a:r>
              <a:rPr sz="1950" b="1" i="0">
                <a:solidFill>
                  <a:srgbClr val="CC2200"/>
                </a:solidFill>
                <a:latin typeface="Geist"/>
                <a:ea typeface="Geist"/>
                <a:cs typeface="Geist"/>
              </a:rPr>
              <a:t>•  </a:t>
            </a:r>
            <a:r>
              <a:rPr sz="1950" b="0" i="0">
                <a:solidFill>
                  <a:srgbClr val="F0E8E8"/>
                </a:solidFill>
                <a:latin typeface="Geist"/>
                <a:ea typeface="Geist"/>
                <a:cs typeface="Geist"/>
              </a:rPr>
              <a:t>Every run saved as a .btlog file</a:t>
            </a:r>
          </a:p>
        </p:txBody>
      </p:sp>
      <p:sp>
        <p:nvSpPr>
          <p:cNvPr id="55" name="TextBox 54"/>
          <p:cNvSpPr txBox="1"/>
          <p:nvPr/>
        </p:nvSpPr>
        <p:spPr>
          <a:xfrm>
            <a:off x="11525250" y="3996690"/>
            <a:ext cx="5848350" cy="321945"/>
          </a:xfrm>
          <a:prstGeom prst="rect">
            <a:avLst/>
          </a:prstGeom>
          <a:noFill/>
        </p:spPr>
        <p:txBody>
          <a:bodyPr wrap="square" lIns="0" rIns="0" tIns="0" bIns="0" anchor="t">
            <a:spAutoFit/>
          </a:bodyPr>
          <a:lstStyle/>
          <a:p>
            <a:pPr algn="l">
              <a:lnSpc>
                <a:spcPct val="125000"/>
              </a:lnSpc>
            </a:pPr>
            <a:r>
              <a:rPr sz="1950" b="1" i="0">
                <a:solidFill>
                  <a:srgbClr val="CC2200"/>
                </a:solidFill>
                <a:latin typeface="Geist"/>
                <a:ea typeface="Geist"/>
                <a:cs typeface="Geist"/>
              </a:rPr>
              <a:t>•  </a:t>
            </a:r>
            <a:r>
              <a:rPr sz="1950" b="0" i="0">
                <a:solidFill>
                  <a:srgbClr val="F0E8E8"/>
                </a:solidFill>
                <a:latin typeface="Geist"/>
                <a:ea typeface="Geist"/>
                <a:cs typeface="Geist"/>
              </a:rPr>
              <a:t>Robot: /U/logs/bt on the USB stick</a:t>
            </a:r>
          </a:p>
        </p:txBody>
      </p:sp>
      <p:sp>
        <p:nvSpPr>
          <p:cNvPr id="56" name="TextBox 55"/>
          <p:cNvSpPr txBox="1"/>
          <p:nvPr/>
        </p:nvSpPr>
        <p:spPr>
          <a:xfrm>
            <a:off x="11525250" y="4566285"/>
            <a:ext cx="5848350" cy="321945"/>
          </a:xfrm>
          <a:prstGeom prst="rect">
            <a:avLst/>
          </a:prstGeom>
          <a:noFill/>
        </p:spPr>
        <p:txBody>
          <a:bodyPr wrap="square" lIns="0" rIns="0" tIns="0" bIns="0" anchor="t">
            <a:spAutoFit/>
          </a:bodyPr>
          <a:lstStyle/>
          <a:p>
            <a:pPr algn="l">
              <a:lnSpc>
                <a:spcPct val="125000"/>
              </a:lnSpc>
            </a:pPr>
            <a:r>
              <a:rPr sz="1950" b="1" i="0">
                <a:solidFill>
                  <a:srgbClr val="CC2200"/>
                </a:solidFill>
                <a:latin typeface="Geist"/>
                <a:ea typeface="Geist"/>
                <a:cs typeface="Geist"/>
              </a:rPr>
              <a:t>•  </a:t>
            </a:r>
            <a:r>
              <a:rPr sz="1950" b="0" i="0">
                <a:solidFill>
                  <a:srgbClr val="F0E8E8"/>
                </a:solidFill>
                <a:latin typeface="Geist"/>
                <a:ea typeface="Geist"/>
                <a:cs typeface="Geist"/>
              </a:rPr>
              <a:t>Replay it: Space plays, arrows step</a:t>
            </a:r>
          </a:p>
        </p:txBody>
      </p:sp>
      <p:pic>
        <p:nvPicPr>
          <p:cNvPr id="57" name="Picture 56" descr="dozer_wide_left.png"/>
          <p:cNvPicPr>
            <a:picLocks noChangeAspect="1"/>
          </p:cNvPicPr>
          <p:nvPr/>
        </p:nvPicPr>
        <p:blipFill>
          <a:blip r:embed="rId3"/>
          <a:stretch>
            <a:fillRect/>
          </a:stretch>
        </p:blipFill>
        <p:spPr>
          <a:xfrm>
            <a:off x="14859000" y="6667500"/>
            <a:ext cx="2190750" cy="1346530"/>
          </a:xfrm>
          <a:prstGeom prst="rect">
            <a:avLst/>
          </a:prstGeom>
        </p:spPr>
      </p:pic>
      <p:sp>
        <p:nvSpPr>
          <p:cNvPr id="58" name="TextBox 57"/>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59" name="TextBox 5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PRACTICE IN SCRIPTUM</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Lesson checkpoints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dozer_left.png"/>
          <p:cNvPicPr>
            <a:picLocks noChangeAspect="1"/>
          </p:cNvPicPr>
          <p:nvPr/>
        </p:nvPicPr>
        <p:blipFill>
          <a:blip r:embed="rId3"/>
          <a:stretch>
            <a:fillRect/>
          </a:stretch>
        </p:blipFill>
        <p:spPr>
          <a:xfrm>
            <a:off x="15144750" y="952500"/>
            <a:ext cx="2228850" cy="1369948"/>
          </a:xfrm>
          <a:prstGeom prst="rect">
            <a:avLst/>
          </a:prstGeom>
        </p:spPr>
      </p:pic>
      <p:sp>
        <p:nvSpPr>
          <p:cNvPr id="6" name="Rounded Rectangle 5"/>
          <p:cNvSpPr/>
          <p:nvPr/>
        </p:nvSpPr>
        <p:spPr>
          <a:xfrm>
            <a:off x="914400" y="2857500"/>
            <a:ext cx="2552700" cy="5334000"/>
          </a:xfrm>
          <a:prstGeom prst="roundRect">
            <a:avLst>
              <a:gd name="adj" fmla="val 597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1100" y="3143250"/>
            <a:ext cx="2019300" cy="857250"/>
          </a:xfrm>
          <a:prstGeom prst="rect">
            <a:avLst/>
          </a:prstGeom>
          <a:noFill/>
        </p:spPr>
        <p:txBody>
          <a:bodyPr wrap="square" lIns="0" rIns="0" tIns="0" bIns="0" anchor="t">
            <a:spAutoFit/>
          </a:bodyPr>
          <a:lstStyle/>
          <a:p>
            <a:pPr algn="l"/>
            <a:r>
              <a:rPr sz="5400" b="1" i="0">
                <a:solidFill>
                  <a:srgbClr val="CC2200"/>
                </a:solidFill>
                <a:latin typeface="Geist"/>
                <a:ea typeface="Geist"/>
                <a:cs typeface="Geist"/>
              </a:rPr>
              <a:t>5</a:t>
            </a:r>
          </a:p>
        </p:txBody>
      </p:sp>
      <p:sp>
        <p:nvSpPr>
          <p:cNvPr id="8" name="TextBox 7"/>
          <p:cNvSpPr txBox="1"/>
          <p:nvPr/>
        </p:nvSpPr>
        <p:spPr>
          <a:xfrm>
            <a:off x="1181100" y="4000500"/>
            <a:ext cx="2019300" cy="285750"/>
          </a:xfrm>
          <a:prstGeom prst="rect">
            <a:avLst/>
          </a:prstGeom>
          <a:noFill/>
        </p:spPr>
        <p:txBody>
          <a:bodyPr wrap="square" lIns="0" rIns="0" tIns="0" bIns="0" anchor="t">
            <a:spAutoFit/>
          </a:bodyPr>
          <a:lstStyle/>
          <a:p>
            <a:pPr algn="l"/>
            <a:r>
              <a:rPr sz="1350" b="1" i="0" spc="130">
                <a:solidFill>
                  <a:srgbClr val="9A7878"/>
                </a:solidFill>
                <a:latin typeface="Geist"/>
                <a:ea typeface="Geist"/>
                <a:cs typeface="Geist"/>
              </a:rPr>
              <a:t>CHECKPOINTS</a:t>
            </a:r>
          </a:p>
        </p:txBody>
      </p:sp>
      <p:sp>
        <p:nvSpPr>
          <p:cNvPr id="9" name="TextBox 8"/>
          <p:cNvSpPr txBox="1"/>
          <p:nvPr/>
        </p:nvSpPr>
        <p:spPr>
          <a:xfrm>
            <a:off x="1181100" y="4381500"/>
            <a:ext cx="2095500" cy="762000"/>
          </a:xfrm>
          <a:prstGeom prst="rect">
            <a:avLst/>
          </a:prstGeom>
          <a:noFill/>
        </p:spPr>
        <p:txBody>
          <a:bodyPr wrap="square" lIns="0" rIns="0" tIns="0" bIns="0" anchor="t">
            <a:spAutoFit/>
          </a:bodyPr>
          <a:lstStyle/>
          <a:p>
            <a:pPr algn="l">
              <a:lnSpc>
                <a:spcPct val="110000"/>
              </a:lnSpc>
            </a:pPr>
            <a:r>
              <a:rPr sz="1875" b="1" i="0">
                <a:solidFill>
                  <a:srgbClr val="F0E8E8"/>
                </a:solidFill>
                <a:latin typeface="Geist"/>
                <a:ea typeface="Geist"/>
                <a:cs typeface="Geist"/>
              </a:rPr>
              <a:t>Meet the Editor</a:t>
            </a:r>
          </a:p>
        </p:txBody>
      </p:sp>
      <p:sp>
        <p:nvSpPr>
          <p:cNvPr id="10" name="TextBox 9"/>
          <p:cNvSpPr txBox="1"/>
          <p:nvPr/>
        </p:nvSpPr>
        <p:spPr>
          <a:xfrm>
            <a:off x="1181100" y="5238750"/>
            <a:ext cx="201930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Make a folder and a file</a:t>
            </a:r>
          </a:p>
        </p:txBody>
      </p:sp>
      <p:sp>
        <p:nvSpPr>
          <p:cNvPr id="11" name="TextBox 10"/>
          <p:cNvSpPr txBox="1"/>
          <p:nvPr/>
        </p:nvSpPr>
        <p:spPr>
          <a:xfrm>
            <a:off x="1181100" y="5935980"/>
            <a:ext cx="201930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Rename and delete files</a:t>
            </a:r>
          </a:p>
        </p:txBody>
      </p:sp>
      <p:sp>
        <p:nvSpPr>
          <p:cNvPr id="12" name="TextBox 11"/>
          <p:cNvSpPr txBox="1"/>
          <p:nvPr/>
        </p:nvSpPr>
        <p:spPr>
          <a:xfrm>
            <a:off x="1181100" y="6633210"/>
            <a:ext cx="2019300" cy="272415"/>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Run src/Main.java</a:t>
            </a:r>
          </a:p>
        </p:txBody>
      </p:sp>
      <p:sp>
        <p:nvSpPr>
          <p:cNvPr id="13" name="Rounded Rectangle 12"/>
          <p:cNvSpPr/>
          <p:nvPr/>
        </p:nvSpPr>
        <p:spPr>
          <a:xfrm>
            <a:off x="3695700" y="2857500"/>
            <a:ext cx="2552700" cy="5334000"/>
          </a:xfrm>
          <a:prstGeom prst="roundRect">
            <a:avLst>
              <a:gd name="adj" fmla="val 597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962400" y="3143250"/>
            <a:ext cx="2019300" cy="857250"/>
          </a:xfrm>
          <a:prstGeom prst="rect">
            <a:avLst/>
          </a:prstGeom>
          <a:noFill/>
        </p:spPr>
        <p:txBody>
          <a:bodyPr wrap="square" lIns="0" rIns="0" tIns="0" bIns="0" anchor="t">
            <a:spAutoFit/>
          </a:bodyPr>
          <a:lstStyle/>
          <a:p>
            <a:pPr algn="l"/>
            <a:r>
              <a:rPr sz="5400" b="1" i="0">
                <a:solidFill>
                  <a:srgbClr val="CC2200"/>
                </a:solidFill>
                <a:latin typeface="Geist"/>
                <a:ea typeface="Geist"/>
                <a:cs typeface="Geist"/>
              </a:rPr>
              <a:t>8</a:t>
            </a:r>
          </a:p>
        </p:txBody>
      </p:sp>
      <p:sp>
        <p:nvSpPr>
          <p:cNvPr id="15" name="TextBox 14"/>
          <p:cNvSpPr txBox="1"/>
          <p:nvPr/>
        </p:nvSpPr>
        <p:spPr>
          <a:xfrm>
            <a:off x="3962400" y="4000500"/>
            <a:ext cx="2019300" cy="285750"/>
          </a:xfrm>
          <a:prstGeom prst="rect">
            <a:avLst/>
          </a:prstGeom>
          <a:noFill/>
        </p:spPr>
        <p:txBody>
          <a:bodyPr wrap="square" lIns="0" rIns="0" tIns="0" bIns="0" anchor="t">
            <a:spAutoFit/>
          </a:bodyPr>
          <a:lstStyle/>
          <a:p>
            <a:pPr algn="l"/>
            <a:r>
              <a:rPr sz="1350" b="1" i="0" spc="130">
                <a:solidFill>
                  <a:srgbClr val="9A7878"/>
                </a:solidFill>
                <a:latin typeface="Geist"/>
                <a:ea typeface="Geist"/>
                <a:cs typeface="Geist"/>
              </a:rPr>
              <a:t>CHECKPOINTS</a:t>
            </a:r>
          </a:p>
        </p:txBody>
      </p:sp>
      <p:sp>
        <p:nvSpPr>
          <p:cNvPr id="16" name="TextBox 15"/>
          <p:cNvSpPr txBox="1"/>
          <p:nvPr/>
        </p:nvSpPr>
        <p:spPr>
          <a:xfrm>
            <a:off x="3962400" y="4381500"/>
            <a:ext cx="20955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Git Basics</a:t>
            </a:r>
          </a:p>
        </p:txBody>
      </p:sp>
      <p:sp>
        <p:nvSpPr>
          <p:cNvPr id="17" name="TextBox 16"/>
          <p:cNvSpPr txBox="1"/>
          <p:nvPr/>
        </p:nvSpPr>
        <p:spPr>
          <a:xfrm>
            <a:off x="3962400" y="5238750"/>
            <a:ext cx="201930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First commit, feature branch</a:t>
            </a:r>
          </a:p>
        </p:txBody>
      </p:sp>
      <p:sp>
        <p:nvSpPr>
          <p:cNvPr id="18" name="TextBox 17"/>
          <p:cNvSpPr txBox="1"/>
          <p:nvPr/>
        </p:nvSpPr>
        <p:spPr>
          <a:xfrm>
            <a:off x="3962400" y="5935980"/>
            <a:ext cx="201930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Merge and a merge conflict</a:t>
            </a:r>
          </a:p>
        </p:txBody>
      </p:sp>
      <p:sp>
        <p:nvSpPr>
          <p:cNvPr id="19" name="TextBox 18"/>
          <p:cNvSpPr txBox="1"/>
          <p:nvPr/>
        </p:nvSpPr>
        <p:spPr>
          <a:xfrm>
            <a:off x="3962400" y="6633210"/>
            <a:ext cx="201930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Rebase, push, pull, stash</a:t>
            </a:r>
          </a:p>
        </p:txBody>
      </p:sp>
      <p:sp>
        <p:nvSpPr>
          <p:cNvPr id="20" name="Rounded Rectangle 19"/>
          <p:cNvSpPr/>
          <p:nvPr/>
        </p:nvSpPr>
        <p:spPr>
          <a:xfrm>
            <a:off x="6477000" y="2857500"/>
            <a:ext cx="2552700" cy="5334000"/>
          </a:xfrm>
          <a:prstGeom prst="roundRect">
            <a:avLst>
              <a:gd name="adj" fmla="val 597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743700" y="3143250"/>
            <a:ext cx="2019300" cy="857250"/>
          </a:xfrm>
          <a:prstGeom prst="rect">
            <a:avLst/>
          </a:prstGeom>
          <a:noFill/>
        </p:spPr>
        <p:txBody>
          <a:bodyPr wrap="square" lIns="0" rIns="0" tIns="0" bIns="0" anchor="t">
            <a:spAutoFit/>
          </a:bodyPr>
          <a:lstStyle/>
          <a:p>
            <a:pPr algn="l"/>
            <a:r>
              <a:rPr sz="5400" b="1" i="0">
                <a:solidFill>
                  <a:srgbClr val="CC2200"/>
                </a:solidFill>
                <a:latin typeface="Geist"/>
                <a:ea typeface="Geist"/>
                <a:cs typeface="Geist"/>
              </a:rPr>
              <a:t>8</a:t>
            </a:r>
          </a:p>
        </p:txBody>
      </p:sp>
      <p:sp>
        <p:nvSpPr>
          <p:cNvPr id="22" name="TextBox 21"/>
          <p:cNvSpPr txBox="1"/>
          <p:nvPr/>
        </p:nvSpPr>
        <p:spPr>
          <a:xfrm>
            <a:off x="6743700" y="4000500"/>
            <a:ext cx="2019300" cy="285750"/>
          </a:xfrm>
          <a:prstGeom prst="rect">
            <a:avLst/>
          </a:prstGeom>
          <a:noFill/>
        </p:spPr>
        <p:txBody>
          <a:bodyPr wrap="square" lIns="0" rIns="0" tIns="0" bIns="0" anchor="t">
            <a:spAutoFit/>
          </a:bodyPr>
          <a:lstStyle/>
          <a:p>
            <a:pPr algn="l"/>
            <a:r>
              <a:rPr sz="1350" b="1" i="0" spc="130">
                <a:solidFill>
                  <a:srgbClr val="9A7878"/>
                </a:solidFill>
                <a:latin typeface="Geist"/>
                <a:ea typeface="Geist"/>
                <a:cs typeface="Geist"/>
              </a:rPr>
              <a:t>CHECKPOINTS</a:t>
            </a:r>
          </a:p>
        </p:txBody>
      </p:sp>
      <p:sp>
        <p:nvSpPr>
          <p:cNvPr id="23" name="TextBox 22"/>
          <p:cNvSpPr txBox="1"/>
          <p:nvPr/>
        </p:nvSpPr>
        <p:spPr>
          <a:xfrm>
            <a:off x="6743700" y="4381500"/>
            <a:ext cx="2095500" cy="762000"/>
          </a:xfrm>
          <a:prstGeom prst="rect">
            <a:avLst/>
          </a:prstGeom>
          <a:noFill/>
        </p:spPr>
        <p:txBody>
          <a:bodyPr wrap="square" lIns="0" rIns="0" tIns="0" bIns="0" anchor="t">
            <a:spAutoFit/>
          </a:bodyPr>
          <a:lstStyle/>
          <a:p>
            <a:pPr algn="l">
              <a:lnSpc>
                <a:spcPct val="110000"/>
              </a:lnSpc>
            </a:pPr>
            <a:r>
              <a:rPr sz="1875" b="1" i="0">
                <a:solidFill>
                  <a:srgbClr val="F0E8E8"/>
                </a:solidFill>
                <a:latin typeface="Geist"/>
                <a:ea typeface="Geist"/>
                <a:cs typeface="Geist"/>
              </a:rPr>
              <a:t>AdvantageScope</a:t>
            </a:r>
          </a:p>
        </p:txBody>
      </p:sp>
      <p:sp>
        <p:nvSpPr>
          <p:cNvPr id="24" name="TextBox 23"/>
          <p:cNvSpPr txBox="1"/>
          <p:nvPr/>
        </p:nvSpPr>
        <p:spPr>
          <a:xfrm>
            <a:off x="6743700" y="5238750"/>
            <a:ext cx="201930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Line graph, locked axis, differentiate</a:t>
            </a:r>
          </a:p>
        </p:txBody>
      </p:sp>
      <p:sp>
        <p:nvSpPr>
          <p:cNvPr id="25" name="TextBox 24"/>
          <p:cNvSpPr txBox="1"/>
          <p:nvPr/>
        </p:nvSpPr>
        <p:spPr>
          <a:xfrm>
            <a:off x="6743700" y="5935980"/>
            <a:ext cx="201930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Discrete field, 2D and 3D field</a:t>
            </a:r>
          </a:p>
        </p:txBody>
      </p:sp>
      <p:sp>
        <p:nvSpPr>
          <p:cNvPr id="26" name="TextBox 25"/>
          <p:cNvSpPr txBox="1"/>
          <p:nvPr/>
        </p:nvSpPr>
        <p:spPr>
          <a:xfrm>
            <a:off x="6743700" y="6633210"/>
            <a:ext cx="201930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Swerve tab, tuned value</a:t>
            </a:r>
          </a:p>
        </p:txBody>
      </p:sp>
      <p:sp>
        <p:nvSpPr>
          <p:cNvPr id="27" name="Rounded Rectangle 26"/>
          <p:cNvSpPr/>
          <p:nvPr/>
        </p:nvSpPr>
        <p:spPr>
          <a:xfrm>
            <a:off x="9258300" y="2857500"/>
            <a:ext cx="2552700" cy="5334000"/>
          </a:xfrm>
          <a:prstGeom prst="roundRect">
            <a:avLst>
              <a:gd name="adj" fmla="val 597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525000" y="3143250"/>
            <a:ext cx="2019300" cy="857250"/>
          </a:xfrm>
          <a:prstGeom prst="rect">
            <a:avLst/>
          </a:prstGeom>
          <a:noFill/>
        </p:spPr>
        <p:txBody>
          <a:bodyPr wrap="square" lIns="0" rIns="0" tIns="0" bIns="0" anchor="t">
            <a:spAutoFit/>
          </a:bodyPr>
          <a:lstStyle/>
          <a:p>
            <a:pPr algn="l"/>
            <a:r>
              <a:rPr sz="5400" b="1" i="0">
                <a:solidFill>
                  <a:srgbClr val="CC2200"/>
                </a:solidFill>
                <a:latin typeface="Geist"/>
                <a:ea typeface="Geist"/>
                <a:cs typeface="Geist"/>
              </a:rPr>
              <a:t>19</a:t>
            </a:r>
          </a:p>
        </p:txBody>
      </p:sp>
      <p:sp>
        <p:nvSpPr>
          <p:cNvPr id="29" name="TextBox 28"/>
          <p:cNvSpPr txBox="1"/>
          <p:nvPr/>
        </p:nvSpPr>
        <p:spPr>
          <a:xfrm>
            <a:off x="9525000" y="4000500"/>
            <a:ext cx="2019300" cy="285750"/>
          </a:xfrm>
          <a:prstGeom prst="rect">
            <a:avLst/>
          </a:prstGeom>
          <a:noFill/>
        </p:spPr>
        <p:txBody>
          <a:bodyPr wrap="square" lIns="0" rIns="0" tIns="0" bIns="0" anchor="t">
            <a:spAutoFit/>
          </a:bodyPr>
          <a:lstStyle/>
          <a:p>
            <a:pPr algn="l"/>
            <a:r>
              <a:rPr sz="1350" b="1" i="0" spc="130">
                <a:solidFill>
                  <a:srgbClr val="9A7878"/>
                </a:solidFill>
                <a:latin typeface="Geist"/>
                <a:ea typeface="Geist"/>
                <a:cs typeface="Geist"/>
              </a:rPr>
              <a:t>CHECKPOINTS</a:t>
            </a:r>
          </a:p>
        </p:txBody>
      </p:sp>
      <p:sp>
        <p:nvSpPr>
          <p:cNvPr id="30" name="TextBox 29"/>
          <p:cNvSpPr txBox="1"/>
          <p:nvPr/>
        </p:nvSpPr>
        <p:spPr>
          <a:xfrm>
            <a:off x="9525000" y="4381500"/>
            <a:ext cx="20955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Elastic</a:t>
            </a:r>
          </a:p>
        </p:txBody>
      </p:sp>
      <p:sp>
        <p:nvSpPr>
          <p:cNvPr id="31" name="TextBox 30"/>
          <p:cNvSpPr txBox="1"/>
          <p:nvPr/>
        </p:nvSpPr>
        <p:spPr>
          <a:xfrm>
            <a:off x="9525000" y="5238750"/>
            <a:ext cx="201930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Ten display widgets</a:t>
            </a:r>
          </a:p>
        </p:txBody>
      </p:sp>
      <p:sp>
        <p:nvSpPr>
          <p:cNvPr id="32" name="TextBox 31"/>
          <p:cNvSpPr txBox="1"/>
          <p:nvPr/>
        </p:nvSpPr>
        <p:spPr>
          <a:xfrm>
            <a:off x="9525000" y="5935980"/>
            <a:ext cx="201930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Sliders, choosers and toggles</a:t>
            </a:r>
          </a:p>
        </p:txBody>
      </p:sp>
      <p:sp>
        <p:nvSpPr>
          <p:cNvPr id="33" name="TextBox 32"/>
          <p:cNvSpPr txBox="1"/>
          <p:nvPr/>
        </p:nvSpPr>
        <p:spPr>
          <a:xfrm>
            <a:off x="9525000" y="6633210"/>
            <a:ext cx="201930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Live writes to the robot</a:t>
            </a:r>
          </a:p>
        </p:txBody>
      </p:sp>
      <p:sp>
        <p:nvSpPr>
          <p:cNvPr id="34" name="Rounded Rectangle 33"/>
          <p:cNvSpPr/>
          <p:nvPr/>
        </p:nvSpPr>
        <p:spPr>
          <a:xfrm>
            <a:off x="12039600" y="2857500"/>
            <a:ext cx="2552700" cy="5334000"/>
          </a:xfrm>
          <a:prstGeom prst="roundRect">
            <a:avLst>
              <a:gd name="adj" fmla="val 597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2306300" y="3143250"/>
            <a:ext cx="2019300" cy="857250"/>
          </a:xfrm>
          <a:prstGeom prst="rect">
            <a:avLst/>
          </a:prstGeom>
          <a:noFill/>
        </p:spPr>
        <p:txBody>
          <a:bodyPr wrap="square" lIns="0" rIns="0" tIns="0" bIns="0" anchor="t">
            <a:spAutoFit/>
          </a:bodyPr>
          <a:lstStyle/>
          <a:p>
            <a:pPr algn="l"/>
            <a:r>
              <a:rPr sz="5400" b="1" i="0">
                <a:solidFill>
                  <a:srgbClr val="CC2200"/>
                </a:solidFill>
                <a:latin typeface="Geist"/>
                <a:ea typeface="Geist"/>
                <a:cs typeface="Geist"/>
              </a:rPr>
              <a:t>4</a:t>
            </a:r>
          </a:p>
        </p:txBody>
      </p:sp>
      <p:sp>
        <p:nvSpPr>
          <p:cNvPr id="36" name="TextBox 35"/>
          <p:cNvSpPr txBox="1"/>
          <p:nvPr/>
        </p:nvSpPr>
        <p:spPr>
          <a:xfrm>
            <a:off x="12306300" y="4000500"/>
            <a:ext cx="2019300" cy="285750"/>
          </a:xfrm>
          <a:prstGeom prst="rect">
            <a:avLst/>
          </a:prstGeom>
          <a:noFill/>
        </p:spPr>
        <p:txBody>
          <a:bodyPr wrap="square" lIns="0" rIns="0" tIns="0" bIns="0" anchor="t">
            <a:spAutoFit/>
          </a:bodyPr>
          <a:lstStyle/>
          <a:p>
            <a:pPr algn="l"/>
            <a:r>
              <a:rPr sz="1350" b="1" i="0" spc="130">
                <a:solidFill>
                  <a:srgbClr val="9A7878"/>
                </a:solidFill>
                <a:latin typeface="Geist"/>
                <a:ea typeface="Geist"/>
                <a:cs typeface="Geist"/>
              </a:rPr>
              <a:t>CHECKPOINTS</a:t>
            </a:r>
          </a:p>
        </p:txBody>
      </p:sp>
      <p:sp>
        <p:nvSpPr>
          <p:cNvPr id="37" name="TextBox 36"/>
          <p:cNvSpPr txBox="1"/>
          <p:nvPr/>
        </p:nvSpPr>
        <p:spPr>
          <a:xfrm>
            <a:off x="12306300" y="4381500"/>
            <a:ext cx="20955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Choreo</a:t>
            </a:r>
          </a:p>
        </p:txBody>
      </p:sp>
      <p:sp>
        <p:nvSpPr>
          <p:cNvPr id="38" name="TextBox 37"/>
          <p:cNvSpPr txBox="1"/>
          <p:nvPr/>
        </p:nvSpPr>
        <p:spPr>
          <a:xfrm>
            <a:off x="12306300" y="5238750"/>
            <a:ext cx="201930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Waypoints on two paths</a:t>
            </a:r>
          </a:p>
        </p:txBody>
      </p:sp>
      <p:sp>
        <p:nvSpPr>
          <p:cNvPr id="39" name="TextBox 38"/>
          <p:cNvSpPr txBox="1"/>
          <p:nvPr/>
        </p:nvSpPr>
        <p:spPr>
          <a:xfrm>
            <a:off x="12306300" y="5935980"/>
            <a:ext cx="2019300" cy="272415"/>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A real constraint</a:t>
            </a:r>
          </a:p>
        </p:txBody>
      </p:sp>
      <p:sp>
        <p:nvSpPr>
          <p:cNvPr id="40" name="TextBox 39"/>
          <p:cNvSpPr txBox="1"/>
          <p:nvPr/>
        </p:nvSpPr>
        <p:spPr>
          <a:xfrm>
            <a:off x="12306300" y="6360795"/>
            <a:ext cx="201930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Both paths generate</a:t>
            </a:r>
          </a:p>
        </p:txBody>
      </p:sp>
      <p:sp>
        <p:nvSpPr>
          <p:cNvPr id="41" name="Rounded Rectangle 40"/>
          <p:cNvSpPr/>
          <p:nvPr/>
        </p:nvSpPr>
        <p:spPr>
          <a:xfrm>
            <a:off x="14820900" y="2857500"/>
            <a:ext cx="2552700" cy="5334000"/>
          </a:xfrm>
          <a:prstGeom prst="roundRect">
            <a:avLst>
              <a:gd name="adj" fmla="val 597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15087600" y="3143250"/>
            <a:ext cx="2019300" cy="857250"/>
          </a:xfrm>
          <a:prstGeom prst="rect">
            <a:avLst/>
          </a:prstGeom>
          <a:noFill/>
        </p:spPr>
        <p:txBody>
          <a:bodyPr wrap="square" lIns="0" rIns="0" tIns="0" bIns="0" anchor="t">
            <a:spAutoFit/>
          </a:bodyPr>
          <a:lstStyle/>
          <a:p>
            <a:pPr algn="l"/>
            <a:r>
              <a:rPr sz="5400" b="1" i="0">
                <a:solidFill>
                  <a:srgbClr val="CC2200"/>
                </a:solidFill>
                <a:latin typeface="Geist"/>
                <a:ea typeface="Geist"/>
                <a:cs typeface="Geist"/>
              </a:rPr>
              <a:t>5</a:t>
            </a:r>
          </a:p>
        </p:txBody>
      </p:sp>
      <p:sp>
        <p:nvSpPr>
          <p:cNvPr id="43" name="TextBox 42"/>
          <p:cNvSpPr txBox="1"/>
          <p:nvPr/>
        </p:nvSpPr>
        <p:spPr>
          <a:xfrm>
            <a:off x="15087600" y="4000500"/>
            <a:ext cx="2019300" cy="285750"/>
          </a:xfrm>
          <a:prstGeom prst="rect">
            <a:avLst/>
          </a:prstGeom>
          <a:noFill/>
        </p:spPr>
        <p:txBody>
          <a:bodyPr wrap="square" lIns="0" rIns="0" tIns="0" bIns="0" anchor="t">
            <a:spAutoFit/>
          </a:bodyPr>
          <a:lstStyle/>
          <a:p>
            <a:pPr algn="l"/>
            <a:r>
              <a:rPr sz="1350" b="1" i="0" spc="130">
                <a:solidFill>
                  <a:srgbClr val="9A7878"/>
                </a:solidFill>
                <a:latin typeface="Geist"/>
                <a:ea typeface="Geist"/>
                <a:cs typeface="Geist"/>
              </a:rPr>
              <a:t>CHECKPOINTS</a:t>
            </a:r>
          </a:p>
        </p:txBody>
      </p:sp>
      <p:sp>
        <p:nvSpPr>
          <p:cNvPr id="44" name="TextBox 43"/>
          <p:cNvSpPr txBox="1"/>
          <p:nvPr/>
        </p:nvSpPr>
        <p:spPr>
          <a:xfrm>
            <a:off x="15087600" y="4381500"/>
            <a:ext cx="20955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Arbor</a:t>
            </a:r>
          </a:p>
        </p:txBody>
      </p:sp>
      <p:sp>
        <p:nvSpPr>
          <p:cNvPr id="45" name="TextBox 44"/>
          <p:cNvSpPr txBox="1"/>
          <p:nvPr/>
        </p:nvSpPr>
        <p:spPr>
          <a:xfrm>
            <a:off x="15087600" y="5238750"/>
            <a:ext cx="201930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Your own tree, a Sequence</a:t>
            </a:r>
          </a:p>
        </p:txBody>
      </p:sp>
      <p:sp>
        <p:nvSpPr>
          <p:cNvPr id="46" name="TextBox 45"/>
          <p:cNvSpPr txBox="1"/>
          <p:nvPr/>
        </p:nvSpPr>
        <p:spPr>
          <a:xfrm>
            <a:off x="15087600" y="5935980"/>
            <a:ext cx="2019300" cy="272415"/>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Ports filled in</a:t>
            </a:r>
          </a:p>
        </p:txBody>
      </p:sp>
      <p:sp>
        <p:nvSpPr>
          <p:cNvPr id="47" name="TextBox 46"/>
          <p:cNvSpPr txBox="1"/>
          <p:nvPr/>
        </p:nvSpPr>
        <p:spPr>
          <a:xfrm>
            <a:off x="15087600" y="6360795"/>
            <a:ext cx="201930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Timeout, Fallback, a tunable</a:t>
            </a:r>
          </a:p>
        </p:txBody>
      </p:sp>
      <p:sp>
        <p:nvSpPr>
          <p:cNvPr id="48" name="TextBox 47"/>
          <p:cNvSpPr txBox="1"/>
          <p:nvPr/>
        </p:nvSpPr>
        <p:spPr>
          <a:xfrm>
            <a:off x="914400" y="8572500"/>
            <a:ext cx="164592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In Scriptum: </a:t>
            </a:r>
            <a:r>
              <a:rPr sz="1950" b="1" i="0">
                <a:solidFill>
                  <a:srgbClr val="F0E8E8"/>
                </a:solidFill>
                <a:latin typeface="Geist"/>
                <a:ea typeface="Geist"/>
                <a:cs typeface="Geist"/>
              </a:rPr>
              <a:t>Tools track</a:t>
            </a:r>
            <a:r>
              <a:rPr sz="1950" b="0" i="0">
                <a:solidFill>
                  <a:srgbClr val="9A7878"/>
                </a:solidFill>
                <a:latin typeface="Geist"/>
                <a:ea typeface="Geist"/>
                <a:cs typeface="Geist"/>
              </a:rPr>
              <a:t>  ·  open the lesson chip and press Verify</a:t>
            </a:r>
          </a:p>
        </p:txBody>
      </p:sp>
      <p:sp>
        <p:nvSpPr>
          <p:cNvPr id="49" name="TextBox 4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50" name="TextBox 4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RECAP</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you can do now</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check-circle-fill.png"/>
          <p:cNvPicPr>
            <a:picLocks noChangeAspect="1"/>
          </p:cNvPicPr>
          <p:nvPr/>
        </p:nvPicPr>
        <p:blipFill>
          <a:blip r:embed="rId3"/>
          <a:stretch>
            <a:fillRect/>
          </a:stretch>
        </p:blipFill>
        <p:spPr>
          <a:xfrm>
            <a:off x="914400" y="2895600"/>
            <a:ext cx="381000" cy="381000"/>
          </a:xfrm>
          <a:prstGeom prst="rect">
            <a:avLst/>
          </a:prstGeom>
        </p:spPr>
      </p:pic>
      <p:sp>
        <p:nvSpPr>
          <p:cNvPr id="6" name="TextBox 5"/>
          <p:cNvSpPr txBox="1"/>
          <p:nvPr/>
        </p:nvSpPr>
        <p:spPr>
          <a:xfrm>
            <a:off x="1524000" y="2857500"/>
            <a:ext cx="100965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Find your way around the editor and run a program</a:t>
            </a:r>
          </a:p>
        </p:txBody>
      </p:sp>
      <p:pic>
        <p:nvPicPr>
          <p:cNvPr id="7" name="Picture 6" descr="check-circle-fill.png"/>
          <p:cNvPicPr>
            <a:picLocks noChangeAspect="1"/>
          </p:cNvPicPr>
          <p:nvPr/>
        </p:nvPicPr>
        <p:blipFill>
          <a:blip r:embed="rId3"/>
          <a:stretch>
            <a:fillRect/>
          </a:stretch>
        </p:blipFill>
        <p:spPr>
          <a:xfrm>
            <a:off x="914400" y="3695700"/>
            <a:ext cx="381000" cy="381000"/>
          </a:xfrm>
          <a:prstGeom prst="rect">
            <a:avLst/>
          </a:prstGeom>
        </p:spPr>
      </p:pic>
      <p:sp>
        <p:nvSpPr>
          <p:cNvPr id="8" name="TextBox 7"/>
          <p:cNvSpPr txBox="1"/>
          <p:nvPr/>
        </p:nvSpPr>
        <p:spPr>
          <a:xfrm>
            <a:off x="1524000" y="3657600"/>
            <a:ext cx="100965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Commit, branch, merge and resolve a conflict</a:t>
            </a:r>
          </a:p>
        </p:txBody>
      </p:sp>
      <p:pic>
        <p:nvPicPr>
          <p:cNvPr id="9" name="Picture 8" descr="check-circle-fill.png"/>
          <p:cNvPicPr>
            <a:picLocks noChangeAspect="1"/>
          </p:cNvPicPr>
          <p:nvPr/>
        </p:nvPicPr>
        <p:blipFill>
          <a:blip r:embed="rId3"/>
          <a:stretch>
            <a:fillRect/>
          </a:stretch>
        </p:blipFill>
        <p:spPr>
          <a:xfrm>
            <a:off x="914400" y="4495800"/>
            <a:ext cx="381000" cy="381000"/>
          </a:xfrm>
          <a:prstGeom prst="rect">
            <a:avLst/>
          </a:prstGeom>
        </p:spPr>
      </p:pic>
      <p:sp>
        <p:nvSpPr>
          <p:cNvPr id="10" name="TextBox 9"/>
          <p:cNvSpPr txBox="1"/>
          <p:nvPr/>
        </p:nvSpPr>
        <p:spPr>
          <a:xfrm>
            <a:off x="1524000" y="4457700"/>
            <a:ext cx="100965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Push and pull with the team's GitHub</a:t>
            </a:r>
          </a:p>
        </p:txBody>
      </p:sp>
      <p:pic>
        <p:nvPicPr>
          <p:cNvPr id="11" name="Picture 10" descr="check-circle-fill.png"/>
          <p:cNvPicPr>
            <a:picLocks noChangeAspect="1"/>
          </p:cNvPicPr>
          <p:nvPr/>
        </p:nvPicPr>
        <p:blipFill>
          <a:blip r:embed="rId3"/>
          <a:stretch>
            <a:fillRect/>
          </a:stretch>
        </p:blipFill>
        <p:spPr>
          <a:xfrm>
            <a:off x="914400" y="5295900"/>
            <a:ext cx="381000" cy="381000"/>
          </a:xfrm>
          <a:prstGeom prst="rect">
            <a:avLst/>
          </a:prstGeom>
        </p:spPr>
      </p:pic>
      <p:sp>
        <p:nvSpPr>
          <p:cNvPr id="12" name="TextBox 11"/>
          <p:cNvSpPr txBox="1"/>
          <p:nvPr/>
        </p:nvSpPr>
        <p:spPr>
          <a:xfrm>
            <a:off x="1524000" y="5257800"/>
            <a:ext cx="100965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Read robot telemetry in AdvantageScope</a:t>
            </a:r>
          </a:p>
        </p:txBody>
      </p:sp>
      <p:pic>
        <p:nvPicPr>
          <p:cNvPr id="13" name="Picture 12" descr="check-circle-fill.png"/>
          <p:cNvPicPr>
            <a:picLocks noChangeAspect="1"/>
          </p:cNvPicPr>
          <p:nvPr/>
        </p:nvPicPr>
        <p:blipFill>
          <a:blip r:embed="rId3"/>
          <a:stretch>
            <a:fillRect/>
          </a:stretch>
        </p:blipFill>
        <p:spPr>
          <a:xfrm>
            <a:off x="914400" y="6096000"/>
            <a:ext cx="381000" cy="381000"/>
          </a:xfrm>
          <a:prstGeom prst="rect">
            <a:avLst/>
          </a:prstGeom>
        </p:spPr>
      </p:pic>
      <p:sp>
        <p:nvSpPr>
          <p:cNvPr id="14" name="TextBox 13"/>
          <p:cNvSpPr txBox="1"/>
          <p:nvPr/>
        </p:nvSpPr>
        <p:spPr>
          <a:xfrm>
            <a:off x="1524000" y="6057900"/>
            <a:ext cx="100965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Build a driver dashboard in Elastic</a:t>
            </a:r>
          </a:p>
        </p:txBody>
      </p:sp>
      <p:pic>
        <p:nvPicPr>
          <p:cNvPr id="15" name="Picture 14" descr="check-circle-fill.png"/>
          <p:cNvPicPr>
            <a:picLocks noChangeAspect="1"/>
          </p:cNvPicPr>
          <p:nvPr/>
        </p:nvPicPr>
        <p:blipFill>
          <a:blip r:embed="rId3"/>
          <a:stretch>
            <a:fillRect/>
          </a:stretch>
        </p:blipFill>
        <p:spPr>
          <a:xfrm>
            <a:off x="914400" y="6896100"/>
            <a:ext cx="381000" cy="381000"/>
          </a:xfrm>
          <a:prstGeom prst="rect">
            <a:avLst/>
          </a:prstGeom>
        </p:spPr>
      </p:pic>
      <p:sp>
        <p:nvSpPr>
          <p:cNvPr id="16" name="TextBox 15"/>
          <p:cNvSpPr txBox="1"/>
          <p:nvPr/>
        </p:nvSpPr>
        <p:spPr>
          <a:xfrm>
            <a:off x="1524000" y="6858000"/>
            <a:ext cx="100965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Plan and generate a Choreo path</a:t>
            </a:r>
          </a:p>
        </p:txBody>
      </p:sp>
      <p:pic>
        <p:nvPicPr>
          <p:cNvPr id="17" name="Picture 16" descr="check-circle-fill.png"/>
          <p:cNvPicPr>
            <a:picLocks noChangeAspect="1"/>
          </p:cNvPicPr>
          <p:nvPr/>
        </p:nvPicPr>
        <p:blipFill>
          <a:blip r:embed="rId3"/>
          <a:stretch>
            <a:fillRect/>
          </a:stretch>
        </p:blipFill>
        <p:spPr>
          <a:xfrm>
            <a:off x="914400" y="7696200"/>
            <a:ext cx="381000" cy="381000"/>
          </a:xfrm>
          <a:prstGeom prst="rect">
            <a:avLst/>
          </a:prstGeom>
        </p:spPr>
      </p:pic>
      <p:sp>
        <p:nvSpPr>
          <p:cNvPr id="18" name="TextBox 17"/>
          <p:cNvSpPr txBox="1"/>
          <p:nvPr/>
        </p:nvSpPr>
        <p:spPr>
          <a:xfrm>
            <a:off x="1524000" y="7658100"/>
            <a:ext cx="100965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Build an auto as a behavior tree in Arbor</a:t>
            </a:r>
          </a:p>
        </p:txBody>
      </p:sp>
      <p:sp>
        <p:nvSpPr>
          <p:cNvPr id="19" name="Rounded Rectangle 18"/>
          <p:cNvSpPr/>
          <p:nvPr/>
        </p:nvSpPr>
        <p:spPr>
          <a:xfrm>
            <a:off x="12039600" y="2857500"/>
            <a:ext cx="5334000" cy="55245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2496800" y="3276600"/>
            <a:ext cx="438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NEXT UP</a:t>
            </a:r>
          </a:p>
        </p:txBody>
      </p:sp>
      <p:pic>
        <p:nvPicPr>
          <p:cNvPr id="21" name="Picture 20" descr="code-slash.png"/>
          <p:cNvPicPr>
            <a:picLocks noChangeAspect="1"/>
          </p:cNvPicPr>
          <p:nvPr/>
        </p:nvPicPr>
        <p:blipFill>
          <a:blip r:embed="rId4"/>
          <a:stretch>
            <a:fillRect/>
          </a:stretch>
        </p:blipFill>
        <p:spPr>
          <a:xfrm>
            <a:off x="12496800" y="3810000"/>
            <a:ext cx="571500" cy="533400"/>
          </a:xfrm>
          <a:prstGeom prst="rect">
            <a:avLst/>
          </a:prstGeom>
        </p:spPr>
      </p:pic>
      <p:sp>
        <p:nvSpPr>
          <p:cNvPr id="22" name="TextBox 21"/>
          <p:cNvSpPr txBox="1"/>
          <p:nvPr/>
        </p:nvSpPr>
        <p:spPr>
          <a:xfrm>
            <a:off x="12496800" y="4572000"/>
            <a:ext cx="4476750" cy="1143000"/>
          </a:xfrm>
          <a:prstGeom prst="rect">
            <a:avLst/>
          </a:prstGeom>
          <a:noFill/>
        </p:spPr>
        <p:txBody>
          <a:bodyPr wrap="square" lIns="0" rIns="0" tIns="0" bIns="0" anchor="t">
            <a:spAutoFit/>
          </a:bodyPr>
          <a:lstStyle/>
          <a:p>
            <a:pPr algn="l">
              <a:lnSpc>
                <a:spcPct val="110000"/>
              </a:lnSpc>
            </a:pPr>
            <a:r>
              <a:rPr sz="3000" b="1" i="0">
                <a:solidFill>
                  <a:srgbClr val="F0E8E8"/>
                </a:solidFill>
                <a:latin typeface="Geist"/>
                <a:ea typeface="Geist"/>
                <a:cs typeface="Geist"/>
              </a:rPr>
              <a:t>Motors and Drivetrains</a:t>
            </a:r>
          </a:p>
        </p:txBody>
      </p:sp>
      <p:sp>
        <p:nvSpPr>
          <p:cNvPr id="23" name="TextBox 22"/>
          <p:cNvSpPr txBox="1"/>
          <p:nvPr/>
        </p:nvSpPr>
        <p:spPr>
          <a:xfrm>
            <a:off x="12496800" y="5810250"/>
            <a:ext cx="4476750" cy="1714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The first FRC Robot lesson: tank drive, then arcade drive.</a:t>
            </a:r>
          </a:p>
        </p:txBody>
      </p:sp>
      <p:pic>
        <p:nvPicPr>
          <p:cNvPr id="24" name="Picture 23" descr="dozer.png"/>
          <p:cNvPicPr>
            <a:picLocks noChangeAspect="1"/>
          </p:cNvPicPr>
          <p:nvPr/>
        </p:nvPicPr>
        <p:blipFill>
          <a:blip r:embed="rId5"/>
          <a:stretch>
            <a:fillRect/>
          </a:stretch>
        </p:blipFill>
        <p:spPr>
          <a:xfrm>
            <a:off x="14859000" y="6667500"/>
            <a:ext cx="2190750" cy="1346530"/>
          </a:xfrm>
          <a:prstGeom prst="rect">
            <a:avLst/>
          </a:prstGeom>
        </p:spPr>
      </p:pic>
      <p:sp>
        <p:nvSpPr>
          <p:cNvPr id="25" name="TextBox 2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6" name="TextBox 2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57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