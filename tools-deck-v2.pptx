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deck covers the tools every programmer on the team uses before we touch robot code: the editor, git, AdvantageScope, Elastic and Choreo. Each section teaches the ideas; the hands-on practice is the matching Scriptum lesson, listed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The first two are about writing and saving code. The last three are about seeing and steering the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five tools run inside Scriptum in the browser, so nobody installs anything. On a real robot laptop these are separate programs (VS Code with the WPILib extension, AdvantageScope, Elastic, Choreo), but they look and work the same.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experience needed. These are the things every programmer does all 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 editor is a text editor built for code. It colors the code, points out mistakes before you run it, and lets you add extensions. The WPILib extension is what lets us build and deploy robot code. Scriptum's editor is VSCodium, the open-source build of VS Code, so everything here works on the team laptops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each part. 1 Explorer: the project's files. 2 Editor: where you type. 3 Tool panes: AdvantageScope here; Elastic and Choreo open in the same spot. 4 Driver Station: Start builds and runs the robot code, Enable turns it on, Teleop/Auto/Test pick the mode.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isn't magic: it's words typed into files. The extension after the dot tells you and the computer what kind of file it is. These four show up in every robot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project is one folder with everything for a program. A path is a file's address: the folders you walk through to reach it. Every robot lesson's code is at this same path. Activity: ask students to read the path out loud as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terminal is another way to work with the same files: type a command, press Enter. Have everyone open it with Ctrl+` and run pwd and ls. Up arrow repeats the last command; Tab finishes a name for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Shortcuts save a lot of clicking. Click inside the editor first so it hears the keys.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Cole's tech tips. Try each live: Alt+click three lines and type; select a word and press Ctrl+D a few times; Ctrl+click a method name to jump to it. The command palette runs every WPILib command: type WPILib to see Build and Deploy. GitLens (an extension) shows who last changed each line, called blame.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press Run, the editor first compiles the Java: it checks it and turns it into instructions the computer can run. If there's a mistake, it stops and tells you where. Then the program runs and anything it prints shows in the terminal. Robot code works the same way, except the program keeps running in a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how the whole team works on the same robot code without overwriting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version control, people email files around and overwrite each other's work. Git remembers every version, like unlimited save points in a game, and lets many people work at once. Ask: who has ever lost work because they saved over something?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repository is a project folder git is watching. Each programming project is usually its own repo: the robot code, MWLib, this year's vision code. Every repo keeps its whole history inside a hidden .git folder.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commit is a saved snapshot with a message. Keep commits small so each one is one step. They act as breadcrumbs for your work, so a teammate (or you, next week) can see exactly what changed and when. Activity: have students rewrite the bad messages.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moves through four places. You edit in the working directory. git add (the + button) stages a change: picks it for the next commit, like putting items in a box before you seal it. git commit seals the box into your local repository. git push sends it to the remote on GitHub. Edit, save, stage, message, commit is the routine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branch is your own line of work that doesn't disturb anyone else's. Always branch for a new feature. Branches let several people develop in parallel, then bring the work back together.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conventions: main is production-ready. develop collects finished features. Every feature branch starts from develop, is named issue-&lt;number&gt;-&lt;description&gt; after its GitHub issue, and merges back into develop. Nobody pushes straight to main or develop.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Merging brings another branch's commits into the one you're on. Stand on the branch that receives the work. On the team, merges happen through pull requests on GitHub so someone reviews the code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two branches changed the same line, git can't guess which one is right, so it stops and asks you. It's not an error. Analogy: two people edit the same line of a recipe, one to 2 cups and one to half a cup. The editor shows Accept Current, Accept Incoming and Accept Both above the conflict.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Rebase picks up your commits and puts them back down on top of develop's newest commit, as if you had just started. History becomes one straight line. But it rewrites your commits, so only rebase a branch nobody else has copied. If you're not sure, merge: it's always safe.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project folder is the local copy. The team's shared copy lives on GitHub and is called the remote, usually named origin. Push sends your commits up; pull brings teammates' commits down. Stash puts unfinished work on a shelf so you can switch branches, and stash pop brings it 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is where the team stores every project online (github.com/FRC-Team-4143). Beyond storage it gives us pull requests for code review, issues to track work, and project boards to see who is doing what. Feature branch names come from issue numbers.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every task on the team flows, start to finish. Find or make the issue and assign yourself. Branch from develop named after the issue. Commit small steps and comment on the issue as you go. Open a pull request linked to the issue, ask a teammate or mentor to review, merge once it's approved, then delete the branch. The project board columns follow along.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see inside a robot. Telemetry is how the robot tells us what it's doing.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loop (about 50 times a second) the robot code can publish values: speeds, sensor readings, where it thinks it is. Those values travel over NetworkTables to tools on the laptop. AdvantageScope graphs and draws them; Elastic shows them to drivers. AdvantageKit can also save them to a log file to replay after a match.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published value is a field with a name and a type. The type decides how AdvantageScope can show it: numbers on a line graph, true/false as colored bands, poses on a field. Ask: what type would the battery voltage be? Is a game piece loaded?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graphs plot values over time. The left and right axes each have their own scale, so two values in different units fit on one graph. Lock an axis range so the scale stops jumping. Discrete fields show booleans and strings as colored bands under the graph.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Differentiate shows how fast a value is changing. Flywheel RPM differentiated is how fast the flywheel is speeding up: big while it spins up, zero once it holds speed, negative as it slows. Same idea as speed versus acceleration.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pose is where the robot is and which way it faces: x and y in meters from the field's corner, plus a rotation. A Pose2d is flat; a Pose3d adds height and tilt. Field tabs draw the pose so you can watch the robot drive.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was built by Team 6328. It reads two kinds of source. Live: anything on NetworkTables, from the robot or the simulator (File &gt; Connect to Robot / Connect to Simulator). Logs: files recorded during testing and matches, opened with File &gt; Open Log(s). It's a big app for development and match review, not for driving during competition; that's Elastic's job. The team keeps layout templates (tuning, match review) you load with File &gt; Import Layout.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values are read-only: AdvantageScope just shows them. Tuning Mode, the slider icon, lets you type new values, but only for values the code publishes under /Tuning. That's how we'll tune things like flywheel speed without redeploying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AdvantageScope is for programmers digging into data. Elastic is for drivers glancing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tools read the same robot data. AdvantageScope is the analysis tool: graphs, replays, deep dives after a match. Elastic is the driver dashboard: big, simple widgets a driver can read in a glance, and controls they can set before a match. Elastic was built by Team 353 and replaces the older SmartDashboard and Shuffleboard.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NetworkTables is a shared table of named values. The robot publishes a topic, like ClimberSpeed; any dashboard can subscribe to it by name. It also works the other way: a dashboard can publish a value and the robot reads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the widget that matches the data and what the driver needs to know. A boolean as a big green/red box is readable from across the room; a number bar shows a value against its range. To add one, click + Add Widget and drag a topic onto the grid; Elastic picks a widget from the topic's type, and right-click &gt; Edit Properties changes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widgets only display. Some send values to the robot: sliders, choosers, toggles, text with a submit button. The robot reads whatever was last sent. This is how drivers pick the auto routine before a match. Elastic layouts are saved to a file, so use File &gt; Save.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autonomous nobody is driving: the robot follows the plan we give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match starts with an autonomous period: the robot drives itself with no driver input. It needs a plan of exactly where to go and how fast. Choreo is the tool we use to make that plan.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just the route. A trajectory adds timing: at every moment, where the robot should be, which way it faces and how fast it's moving. That's what the robot code follows.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Waypoints are points the path goes through. Pose waypoints pin position and heading; use them at the start and end. Translation waypoints pin only position and let Choreo pick the heading. Constraints are rules, like a max velocity in one zone.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Generate works out the fastest trajectory through every waypoint that obeys every constraint, using the robot's real limits (motor speed, mass, wheel grip). If no such path exists, it fails. Fix it by changing the numbers or switching a constraint off, then generate again.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Each tool has a Scriptum lesson in the Tools track; open the lesson chip and press Verify on each checkpoint.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after this uses these tools: the editor every time, git for every change, AdvantageScope to check what the robot did, and Choreo again in Choreo Autonomous.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14.pn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TOOLS  ·  DECK 0</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The Tools</a:t>
            </a:r>
          </a:p>
        </p:txBody>
      </p:sp>
      <p:sp>
        <p:nvSpPr>
          <p:cNvPr id="6" name="TextBox 5"/>
          <p:cNvSpPr txBox="1"/>
          <p:nvPr/>
        </p:nvSpPr>
        <p:spPr>
          <a:xfrm>
            <a:off x="914400" y="4953000"/>
            <a:ext cx="1095375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Meet the Editor, Git Basics, AdvantageScope, Elastic and Choreo: the five tools every MARS/WARS programmer uses.</a:t>
            </a:r>
          </a:p>
        </p:txBody>
      </p:sp>
      <p:pic>
        <p:nvPicPr>
          <p:cNvPr id="7" name="Picture 6" descr="dozer.png"/>
          <p:cNvPicPr>
            <a:picLocks noChangeAspect="1"/>
          </p:cNvPicPr>
          <p:nvPr/>
        </p:nvPicPr>
        <p:blipFill>
          <a:blip r:embed="rId4"/>
          <a:stretch>
            <a:fillRect/>
          </a:stretch>
        </p:blipFill>
        <p:spPr>
          <a:xfrm>
            <a:off x="13716000" y="6667500"/>
            <a:ext cx="3429000" cy="21076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Five tools, five lessons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vscode.png"/>
          <p:cNvPicPr>
            <a:picLocks noChangeAspect="1"/>
          </p:cNvPicPr>
          <p:nvPr/>
        </p:nvPicPr>
        <p:blipFill>
          <a:blip r:embed="rId3"/>
          <a:stretch>
            <a:fillRect/>
          </a:stretch>
        </p:blipFill>
        <p:spPr>
          <a:xfrm>
            <a:off x="1257300" y="3543300"/>
            <a:ext cx="998352" cy="838200"/>
          </a:xfrm>
          <a:prstGeom prst="rect">
            <a:avLst/>
          </a:prstGeom>
        </p:spPr>
      </p:pic>
      <p:sp>
        <p:nvSpPr>
          <p:cNvPr id="7" name="TextBox 6"/>
          <p:cNvSpPr txBox="1"/>
          <p:nvPr/>
        </p:nvSpPr>
        <p:spPr>
          <a:xfrm>
            <a:off x="12573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2573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code gets written, organized and run</a:t>
            </a:r>
          </a:p>
        </p:txBody>
      </p:sp>
      <p:sp>
        <p:nvSpPr>
          <p:cNvPr id="10" name="Rounded Rectangle 9"/>
          <p:cNvSpPr/>
          <p:nvPr/>
        </p:nvSpPr>
        <p:spPr>
          <a:xfrm>
            <a:off x="425767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git.png"/>
          <p:cNvPicPr>
            <a:picLocks noChangeAspect="1"/>
          </p:cNvPicPr>
          <p:nvPr/>
        </p:nvPicPr>
        <p:blipFill>
          <a:blip r:embed="rId4"/>
          <a:stretch>
            <a:fillRect/>
          </a:stretch>
        </p:blipFill>
        <p:spPr>
          <a:xfrm>
            <a:off x="4600575" y="3543300"/>
            <a:ext cx="838200" cy="838200"/>
          </a:xfrm>
          <a:prstGeom prst="rect">
            <a:avLst/>
          </a:prstGeom>
        </p:spPr>
      </p:pic>
      <p:sp>
        <p:nvSpPr>
          <p:cNvPr id="12" name="TextBox 11"/>
          <p:cNvSpPr txBox="1"/>
          <p:nvPr/>
        </p:nvSpPr>
        <p:spPr>
          <a:xfrm>
            <a:off x="460057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Git Basics</a:t>
            </a:r>
          </a:p>
        </p:txBody>
      </p:sp>
      <p:sp>
        <p:nvSpPr>
          <p:cNvPr id="14" name="TextBox 13"/>
          <p:cNvSpPr txBox="1"/>
          <p:nvPr/>
        </p:nvSpPr>
        <p:spPr>
          <a:xfrm>
            <a:off x="460057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Saving versions and working as a team</a:t>
            </a:r>
          </a:p>
        </p:txBody>
      </p:sp>
      <p:sp>
        <p:nvSpPr>
          <p:cNvPr id="15" name="Rounded Rectangle 14"/>
          <p:cNvSpPr/>
          <p:nvPr/>
        </p:nvSpPr>
        <p:spPr>
          <a:xfrm>
            <a:off x="760095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dvantagescope-logo.png"/>
          <p:cNvPicPr>
            <a:picLocks noChangeAspect="1"/>
          </p:cNvPicPr>
          <p:nvPr/>
        </p:nvPicPr>
        <p:blipFill>
          <a:blip r:embed="rId5"/>
          <a:stretch>
            <a:fillRect/>
          </a:stretch>
        </p:blipFill>
        <p:spPr>
          <a:xfrm>
            <a:off x="7943850" y="3543300"/>
            <a:ext cx="838200" cy="838200"/>
          </a:xfrm>
          <a:prstGeom prst="rect">
            <a:avLst/>
          </a:prstGeom>
        </p:spPr>
      </p:pic>
      <p:sp>
        <p:nvSpPr>
          <p:cNvPr id="17" name="TextBox 16"/>
          <p:cNvSpPr txBox="1"/>
          <p:nvPr/>
        </p:nvSpPr>
        <p:spPr>
          <a:xfrm>
            <a:off x="794385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5143500"/>
            <a:ext cx="240030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19" name="TextBox 18"/>
          <p:cNvSpPr txBox="1"/>
          <p:nvPr/>
        </p:nvSpPr>
        <p:spPr>
          <a:xfrm>
            <a:off x="794385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Seeing what the robot is doing</a:t>
            </a:r>
          </a:p>
        </p:txBody>
      </p:sp>
      <p:sp>
        <p:nvSpPr>
          <p:cNvPr id="20" name="Rounded Rectangle 19"/>
          <p:cNvSpPr/>
          <p:nvPr/>
        </p:nvSpPr>
        <p:spPr>
          <a:xfrm>
            <a:off x="10944225"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lastic-logo.png"/>
          <p:cNvPicPr>
            <a:picLocks noChangeAspect="1"/>
          </p:cNvPicPr>
          <p:nvPr/>
        </p:nvPicPr>
        <p:blipFill>
          <a:blip r:embed="rId6"/>
          <a:stretch>
            <a:fillRect/>
          </a:stretch>
        </p:blipFill>
        <p:spPr>
          <a:xfrm>
            <a:off x="11287125" y="3543300"/>
            <a:ext cx="838200" cy="838200"/>
          </a:xfrm>
          <a:prstGeom prst="rect">
            <a:avLst/>
          </a:prstGeom>
        </p:spPr>
      </p:pic>
      <p:sp>
        <p:nvSpPr>
          <p:cNvPr id="22" name="TextBox 21"/>
          <p:cNvSpPr txBox="1"/>
          <p:nvPr/>
        </p:nvSpPr>
        <p:spPr>
          <a:xfrm>
            <a:off x="11287125"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Elastic</a:t>
            </a:r>
          </a:p>
        </p:txBody>
      </p:sp>
      <p:sp>
        <p:nvSpPr>
          <p:cNvPr id="24" name="TextBox 23"/>
          <p:cNvSpPr txBox="1"/>
          <p:nvPr/>
        </p:nvSpPr>
        <p:spPr>
          <a:xfrm>
            <a:off x="11287125"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dashboard drivers use in a match</a:t>
            </a:r>
          </a:p>
        </p:txBody>
      </p:sp>
      <p:sp>
        <p:nvSpPr>
          <p:cNvPr id="25" name="Rounded Rectangle 24"/>
          <p:cNvSpPr/>
          <p:nvPr/>
        </p:nvSpPr>
        <p:spPr>
          <a:xfrm>
            <a:off x="14287500" y="3143250"/>
            <a:ext cx="3086100" cy="495300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horeo-logo.png"/>
          <p:cNvPicPr>
            <a:picLocks noChangeAspect="1"/>
          </p:cNvPicPr>
          <p:nvPr/>
        </p:nvPicPr>
        <p:blipFill>
          <a:blip r:embed="rId7"/>
          <a:stretch>
            <a:fillRect/>
          </a:stretch>
        </p:blipFill>
        <p:spPr>
          <a:xfrm>
            <a:off x="14630400" y="3543300"/>
            <a:ext cx="838200" cy="838200"/>
          </a:xfrm>
          <a:prstGeom prst="rect">
            <a:avLst/>
          </a:prstGeom>
        </p:spPr>
      </p:pic>
      <p:sp>
        <p:nvSpPr>
          <p:cNvPr id="27" name="TextBox 26"/>
          <p:cNvSpPr txBox="1"/>
          <p:nvPr/>
        </p:nvSpPr>
        <p:spPr>
          <a:xfrm>
            <a:off x="14630400" y="476250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5143500"/>
            <a:ext cx="2400300" cy="762000"/>
          </a:xfrm>
          <a:prstGeom prst="rect">
            <a:avLst/>
          </a:prstGeom>
          <a:noFill/>
        </p:spPr>
        <p:txBody>
          <a:bodyPr wrap="square" lIns="0" rIns="0" tIns="0" bIns="0" anchor="t">
            <a:spAutoFit/>
          </a:bodyPr>
          <a:lstStyle/>
          <a:p>
            <a:pPr algn="l">
              <a:lnSpc>
                <a:spcPct val="110000"/>
              </a:lnSpc>
            </a:pPr>
            <a:r>
              <a:rPr sz="2325" b="1" i="0">
                <a:solidFill>
                  <a:srgbClr val="F0E8E8"/>
                </a:solidFill>
                <a:latin typeface="Geist"/>
                <a:ea typeface="Geist"/>
                <a:cs typeface="Geist"/>
              </a:rPr>
              <a:t>Choreo</a:t>
            </a:r>
          </a:p>
        </p:txBody>
      </p:sp>
      <p:sp>
        <p:nvSpPr>
          <p:cNvPr id="29" name="TextBox 28"/>
          <p:cNvSpPr txBox="1"/>
          <p:nvPr/>
        </p:nvSpPr>
        <p:spPr>
          <a:xfrm>
            <a:off x="14630400" y="6096000"/>
            <a:ext cx="2400300" cy="1905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Planning autonomous paths</a:t>
            </a:r>
          </a:p>
        </p:txBody>
      </p:sp>
      <p:pic>
        <p:nvPicPr>
          <p:cNvPr id="30" name="Picture 29" descr="mw_logo_small.png"/>
          <p:cNvPicPr>
            <a:picLocks noChangeAspect="1"/>
          </p:cNvPicPr>
          <p:nvPr/>
        </p:nvPicPr>
        <p:blipFill>
          <a:blip r:embed="rId8"/>
          <a:stretch>
            <a:fillRect/>
          </a:stretch>
        </p:blipFill>
        <p:spPr>
          <a:xfrm>
            <a:off x="914400" y="9410700"/>
            <a:ext cx="583564" cy="495300"/>
          </a:xfrm>
          <a:prstGeom prst="rect">
            <a:avLst/>
          </a:prstGeom>
        </p:spPr>
      </p:pic>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WHERE YOU'LL PRACTICE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Everything runs in Scriptum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6096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Opens in a browser: nothing to install</a:t>
            </a:r>
          </a:p>
        </p:txBody>
      </p:sp>
      <p:sp>
        <p:nvSpPr>
          <p:cNvPr id="6" name="TextBox 5"/>
          <p:cNvSpPr txBox="1"/>
          <p:nvPr/>
        </p:nvSpPr>
        <p:spPr>
          <a:xfrm>
            <a:off x="914400" y="3514725"/>
            <a:ext cx="6096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Each tool opens as a pane next to your code</a:t>
            </a:r>
          </a:p>
        </p:txBody>
      </p:sp>
      <p:sp>
        <p:nvSpPr>
          <p:cNvPr id="7" name="TextBox 6"/>
          <p:cNvSpPr txBox="1"/>
          <p:nvPr/>
        </p:nvSpPr>
        <p:spPr>
          <a:xfrm>
            <a:off x="914400" y="4171950"/>
            <a:ext cx="6096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same tools the team uses on the robot laptop</a:t>
            </a:r>
          </a:p>
        </p:txBody>
      </p:sp>
      <p:sp>
        <p:nvSpPr>
          <p:cNvPr id="8" name="TextBox 7"/>
          <p:cNvSpPr txBox="1"/>
          <p:nvPr/>
        </p:nvSpPr>
        <p:spPr>
          <a:xfrm>
            <a:off x="914400" y="5200650"/>
            <a:ext cx="6096000" cy="742950"/>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Each lesson's checkpoints live in the lesson chip</a:t>
            </a:r>
          </a:p>
        </p:txBody>
      </p:sp>
      <p:sp>
        <p:nvSpPr>
          <p:cNvPr id="9" name="Rectangle 8"/>
          <p:cNvSpPr/>
          <p:nvPr/>
        </p:nvSpPr>
        <p:spPr>
          <a:xfrm>
            <a:off x="7620000" y="2857500"/>
            <a:ext cx="9753600" cy="534924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welcome.png"/>
          <p:cNvPicPr>
            <a:picLocks noChangeAspect="1"/>
          </p:cNvPicPr>
          <p:nvPr/>
        </p:nvPicPr>
        <p:blipFill>
          <a:blip r:embed="rId3"/>
          <a:stretch>
            <a:fillRect/>
          </a:stretch>
        </p:blipFill>
        <p:spPr>
          <a:xfrm>
            <a:off x="7620000" y="2857500"/>
            <a:ext cx="9753600" cy="5349240"/>
          </a:xfrm>
          <a:prstGeom prst="rect">
            <a:avLst/>
          </a:prstGeom>
        </p:spPr>
      </p:pic>
      <p:sp>
        <p:nvSpPr>
          <p:cNvPr id="11" name="Rectangle 10"/>
          <p:cNvSpPr/>
          <p:nvPr/>
        </p:nvSpPr>
        <p:spPr>
          <a:xfrm>
            <a:off x="7620000" y="2857500"/>
            <a:ext cx="9753600" cy="534924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Meet the Editor</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Files, folders, the terminal, and running a program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 code editor?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text editor</a:t>
            </a:r>
            <a:r>
              <a:rPr sz="2400" b="0" i="0">
                <a:solidFill>
                  <a:srgbClr val="F0E8E8"/>
                </a:solidFill>
                <a:latin typeface="Geist"/>
                <a:ea typeface="Geist"/>
                <a:cs typeface="Geist"/>
              </a:rPr>
              <a:t> made for writing code</a:t>
            </a:r>
          </a:p>
        </p:txBody>
      </p:sp>
      <p:sp>
        <p:nvSpPr>
          <p:cNvPr id="6" name="TextBox 5"/>
          <p:cNvSpPr txBox="1"/>
          <p:nvPr/>
        </p:nvSpPr>
        <p:spPr>
          <a:xfrm>
            <a:off x="914400" y="353949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Colors</a:t>
            </a:r>
            <a:r>
              <a:rPr sz="2400" b="0" i="0">
                <a:solidFill>
                  <a:srgbClr val="F0E8E8"/>
                </a:solidFill>
                <a:latin typeface="Geist"/>
                <a:ea typeface="Geist"/>
                <a:cs typeface="Geist"/>
              </a:rPr>
              <a:t> the code so it's easier to read</a:t>
            </a:r>
          </a:p>
        </p:txBody>
      </p:sp>
      <p:sp>
        <p:nvSpPr>
          <p:cNvPr id="7" name="TextBox 6"/>
          <p:cNvSpPr txBox="1"/>
          <p:nvPr/>
        </p:nvSpPr>
        <p:spPr>
          <a:xfrm>
            <a:off x="914400" y="422148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Catches mistakes</a:t>
            </a:r>
            <a:r>
              <a:rPr sz="2400" b="0" i="0">
                <a:solidFill>
                  <a:srgbClr val="F0E8E8"/>
                </a:solidFill>
                <a:latin typeface="Geist"/>
                <a:ea typeface="Geist"/>
                <a:cs typeface="Geist"/>
              </a:rPr>
              <a:t> before you run anything</a:t>
            </a:r>
          </a:p>
        </p:txBody>
      </p:sp>
      <p:sp>
        <p:nvSpPr>
          <p:cNvPr id="8" name="TextBox 7"/>
          <p:cNvSpPr txBox="1"/>
          <p:nvPr/>
        </p:nvSpPr>
        <p:spPr>
          <a:xfrm>
            <a:off x="914400" y="4903470"/>
            <a:ext cx="9144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Extensions</a:t>
            </a:r>
            <a:r>
              <a:rPr sz="2400" b="0" i="0">
                <a:solidFill>
                  <a:srgbClr val="F0E8E8"/>
                </a:solidFill>
                <a:latin typeface="Geist"/>
                <a:ea typeface="Geist"/>
                <a:cs typeface="Geist"/>
              </a:rPr>
              <a:t> add features, like WPILib for robots</a:t>
            </a:r>
          </a:p>
        </p:txBody>
      </p:sp>
      <p:sp>
        <p:nvSpPr>
          <p:cNvPr id="9" name="Rounded Rectangle 8"/>
          <p:cNvSpPr/>
          <p:nvPr/>
        </p:nvSpPr>
        <p:spPr>
          <a:xfrm>
            <a:off x="11430000" y="2857500"/>
            <a:ext cx="5943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scode.png"/>
          <p:cNvPicPr>
            <a:picLocks noChangeAspect="1"/>
          </p:cNvPicPr>
          <p:nvPr/>
        </p:nvPicPr>
        <p:blipFill>
          <a:blip r:embed="rId3"/>
          <a:stretch>
            <a:fillRect/>
          </a:stretch>
        </p:blipFill>
        <p:spPr>
          <a:xfrm>
            <a:off x="13544550" y="3524250"/>
            <a:ext cx="2042084" cy="1714500"/>
          </a:xfrm>
          <a:prstGeom prst="rect">
            <a:avLst/>
          </a:prstGeom>
        </p:spPr>
      </p:pic>
      <p:sp>
        <p:nvSpPr>
          <p:cNvPr id="11" name="TextBox 10"/>
          <p:cNvSpPr txBox="1"/>
          <p:nvPr/>
        </p:nvSpPr>
        <p:spPr>
          <a:xfrm>
            <a:off x="11811000" y="5715000"/>
            <a:ext cx="5181600" cy="571500"/>
          </a:xfrm>
          <a:prstGeom prst="rect">
            <a:avLst/>
          </a:prstGeom>
          <a:noFill/>
        </p:spPr>
        <p:txBody>
          <a:bodyPr wrap="square" lIns="0" rIns="0" tIns="0" bIns="0" anchor="t">
            <a:spAutoFit/>
          </a:bodyPr>
          <a:lstStyle/>
          <a:p>
            <a:pPr algn="ctr"/>
            <a:r>
              <a:rPr sz="3000" b="1" i="0">
                <a:solidFill>
                  <a:srgbClr val="F0E8E8"/>
                </a:solidFill>
                <a:latin typeface="Geist"/>
                <a:ea typeface="Geist"/>
                <a:cs typeface="Geist"/>
              </a:rPr>
              <a:t>VS Code</a:t>
            </a:r>
          </a:p>
        </p:txBody>
      </p:sp>
      <p:sp>
        <p:nvSpPr>
          <p:cNvPr id="12" name="TextBox 11"/>
          <p:cNvSpPr txBox="1"/>
          <p:nvPr/>
        </p:nvSpPr>
        <p:spPr>
          <a:xfrm>
            <a:off x="11811000" y="6343650"/>
            <a:ext cx="5181600" cy="15240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Scriptum uses VSCodium, the open-source build of VS Code, with the WPILib extension.</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tour of the workspace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762250"/>
            <a:ext cx="11239500" cy="6164163"/>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workspace.jpg"/>
          <p:cNvPicPr>
            <a:picLocks noChangeAspect="1"/>
          </p:cNvPicPr>
          <p:nvPr/>
        </p:nvPicPr>
        <p:blipFill>
          <a:blip r:embed="rId3"/>
          <a:stretch>
            <a:fillRect/>
          </a:stretch>
        </p:blipFill>
        <p:spPr>
          <a:xfrm>
            <a:off x="914400" y="2762250"/>
            <a:ext cx="11239500" cy="6164163"/>
          </a:xfrm>
          <a:prstGeom prst="rect">
            <a:avLst/>
          </a:prstGeom>
        </p:spPr>
      </p:pic>
      <p:sp>
        <p:nvSpPr>
          <p:cNvPr id="7" name="Rectangle 6"/>
          <p:cNvSpPr/>
          <p:nvPr/>
        </p:nvSpPr>
        <p:spPr>
          <a:xfrm>
            <a:off x="914400" y="2762250"/>
            <a:ext cx="11239500" cy="6164163"/>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195388" y="3318371"/>
            <a:ext cx="1404938" cy="3980656"/>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3938"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3938"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Rounded Rectangle 10"/>
          <p:cNvSpPr/>
          <p:nvPr/>
        </p:nvSpPr>
        <p:spPr>
          <a:xfrm>
            <a:off x="2612033" y="3318371"/>
            <a:ext cx="3922117" cy="3980656"/>
          </a:xfrm>
          <a:prstGeom prst="roundRect">
            <a:avLst>
              <a:gd name="adj" fmla="val 3399"/>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2440583" y="3146921"/>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40583" y="3146921"/>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4" name="Rounded Rectangle 13"/>
          <p:cNvSpPr/>
          <p:nvPr/>
        </p:nvSpPr>
        <p:spPr>
          <a:xfrm>
            <a:off x="6563420" y="3084215"/>
            <a:ext cx="5561211" cy="4361160"/>
          </a:xfrm>
          <a:prstGeom prst="roundRect">
            <a:avLst>
              <a:gd name="adj" fmla="val 3057"/>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391970" y="29127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1970" y="29127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Rounded Rectangle 16"/>
          <p:cNvSpPr/>
          <p:nvPr/>
        </p:nvSpPr>
        <p:spPr>
          <a:xfrm>
            <a:off x="1207095" y="7503914"/>
            <a:ext cx="3278188" cy="1404938"/>
          </a:xfrm>
          <a:prstGeom prst="roundRect">
            <a:avLst>
              <a:gd name="adj" fmla="val 9491"/>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35645" y="7332464"/>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5645" y="7332464"/>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0" name="Oval 19"/>
          <p:cNvSpPr/>
          <p:nvPr/>
        </p:nvSpPr>
        <p:spPr>
          <a:xfrm>
            <a:off x="12763500" y="2857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63500" y="2857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TextBox 21"/>
          <p:cNvSpPr txBox="1"/>
          <p:nvPr/>
        </p:nvSpPr>
        <p:spPr>
          <a:xfrm>
            <a:off x="13449300" y="28194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Explorer</a:t>
            </a:r>
          </a:p>
        </p:txBody>
      </p:sp>
      <p:sp>
        <p:nvSpPr>
          <p:cNvPr id="23" name="TextBox 22"/>
          <p:cNvSpPr txBox="1"/>
          <p:nvPr/>
        </p:nvSpPr>
        <p:spPr>
          <a:xfrm>
            <a:off x="13449300" y="32766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Your files and folders</a:t>
            </a:r>
          </a:p>
        </p:txBody>
      </p:sp>
      <p:sp>
        <p:nvSpPr>
          <p:cNvPr id="24" name="Oval 23"/>
          <p:cNvSpPr/>
          <p:nvPr/>
        </p:nvSpPr>
        <p:spPr>
          <a:xfrm>
            <a:off x="12763500" y="4286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63500" y="4286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TextBox 25"/>
          <p:cNvSpPr txBox="1"/>
          <p:nvPr/>
        </p:nvSpPr>
        <p:spPr>
          <a:xfrm>
            <a:off x="13449300" y="42481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Editor</a:t>
            </a:r>
          </a:p>
        </p:txBody>
      </p:sp>
      <p:sp>
        <p:nvSpPr>
          <p:cNvPr id="27" name="TextBox 26"/>
          <p:cNvSpPr txBox="1"/>
          <p:nvPr/>
        </p:nvSpPr>
        <p:spPr>
          <a:xfrm>
            <a:off x="13449300" y="47053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Where you type code</a:t>
            </a:r>
          </a:p>
        </p:txBody>
      </p:sp>
      <p:sp>
        <p:nvSpPr>
          <p:cNvPr id="28" name="Oval 27"/>
          <p:cNvSpPr/>
          <p:nvPr/>
        </p:nvSpPr>
        <p:spPr>
          <a:xfrm>
            <a:off x="12763500" y="57150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763500" y="57150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TextBox 29"/>
          <p:cNvSpPr txBox="1"/>
          <p:nvPr/>
        </p:nvSpPr>
        <p:spPr>
          <a:xfrm>
            <a:off x="13449300" y="567690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Tool panes</a:t>
            </a:r>
          </a:p>
        </p:txBody>
      </p:sp>
      <p:sp>
        <p:nvSpPr>
          <p:cNvPr id="31" name="TextBox 30"/>
          <p:cNvSpPr txBox="1"/>
          <p:nvPr/>
        </p:nvSpPr>
        <p:spPr>
          <a:xfrm>
            <a:off x="13449300" y="613410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AdvantageScope, Elastic, Choreo</a:t>
            </a:r>
          </a:p>
        </p:txBody>
      </p:sp>
      <p:sp>
        <p:nvSpPr>
          <p:cNvPr id="32" name="Oval 31"/>
          <p:cNvSpPr/>
          <p:nvPr/>
        </p:nvSpPr>
        <p:spPr>
          <a:xfrm>
            <a:off x="12763500" y="7143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763500" y="7143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4" name="TextBox 33"/>
          <p:cNvSpPr txBox="1"/>
          <p:nvPr/>
        </p:nvSpPr>
        <p:spPr>
          <a:xfrm>
            <a:off x="13449300" y="7105650"/>
            <a:ext cx="4000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Driver Station</a:t>
            </a:r>
          </a:p>
        </p:txBody>
      </p:sp>
      <p:sp>
        <p:nvSpPr>
          <p:cNvPr id="35" name="TextBox 34"/>
          <p:cNvSpPr txBox="1"/>
          <p:nvPr/>
        </p:nvSpPr>
        <p:spPr>
          <a:xfrm>
            <a:off x="13449300" y="7562850"/>
            <a:ext cx="4000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Start, enable and drive the robot</a:t>
            </a:r>
          </a:p>
        </p:txBody>
      </p:sp>
      <p:pic>
        <p:nvPicPr>
          <p:cNvPr id="36" name="Picture 3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Files and extensions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file</a:t>
            </a:r>
            <a:r>
              <a:rPr sz="2400" b="0" i="0">
                <a:solidFill>
                  <a:srgbClr val="F0E8E8"/>
                </a:solidFill>
                <a:latin typeface="Geist"/>
                <a:ea typeface="Geist"/>
                <a:cs typeface="Geist"/>
              </a:rPr>
              <a:t> is one saved thing, with a name</a:t>
            </a:r>
          </a:p>
        </p:txBody>
      </p:sp>
      <p:sp>
        <p:nvSpPr>
          <p:cNvPr id="6" name="TextBox 5"/>
          <p:cNvSpPr txBox="1"/>
          <p:nvPr/>
        </p:nvSpPr>
        <p:spPr>
          <a:xfrm>
            <a:off x="914400" y="353949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The extension</a:t>
            </a:r>
            <a:r>
              <a:rPr sz="2400" b="0" i="0">
                <a:solidFill>
                  <a:srgbClr val="F0E8E8"/>
                </a:solidFill>
                <a:latin typeface="Geist"/>
                <a:ea typeface="Geist"/>
                <a:cs typeface="Geist"/>
              </a:rPr>
              <a:t> after the dot says what kind</a:t>
            </a:r>
          </a:p>
        </p:txBody>
      </p:sp>
      <p:sp>
        <p:nvSpPr>
          <p:cNvPr id="7" name="TextBox 6"/>
          <p:cNvSpPr txBox="1"/>
          <p:nvPr/>
        </p:nvSpPr>
        <p:spPr>
          <a:xfrm>
            <a:off x="914400" y="4221480"/>
            <a:ext cx="7810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folder</a:t>
            </a:r>
            <a:r>
              <a:rPr sz="2400" b="0" i="0">
                <a:solidFill>
                  <a:srgbClr val="F0E8E8"/>
                </a:solidFill>
                <a:latin typeface="Geist"/>
                <a:ea typeface="Geist"/>
                <a:cs typeface="Geist"/>
              </a:rPr>
              <a:t> holds files and other folders</a:t>
            </a:r>
          </a:p>
        </p:txBody>
      </p:sp>
      <p:sp>
        <p:nvSpPr>
          <p:cNvPr id="8" name="Rounded Rectangle 7"/>
          <p:cNvSpPr/>
          <p:nvPr/>
        </p:nvSpPr>
        <p:spPr>
          <a:xfrm>
            <a:off x="9525000" y="2857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906000" y="2857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.java</a:t>
            </a:r>
          </a:p>
        </p:txBody>
      </p:sp>
      <p:sp>
        <p:nvSpPr>
          <p:cNvPr id="10" name="TextBox 9"/>
          <p:cNvSpPr txBox="1"/>
          <p:nvPr/>
        </p:nvSpPr>
        <p:spPr>
          <a:xfrm>
            <a:off x="12096750" y="2857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Java code: the robot program</a:t>
            </a:r>
          </a:p>
        </p:txBody>
      </p:sp>
      <p:sp>
        <p:nvSpPr>
          <p:cNvPr id="11" name="Rounded Rectangle 10"/>
          <p:cNvSpPr/>
          <p:nvPr/>
        </p:nvSpPr>
        <p:spPr>
          <a:xfrm>
            <a:off x="9525000" y="4191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06000" y="4191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.json</a:t>
            </a:r>
          </a:p>
        </p:txBody>
      </p:sp>
      <p:sp>
        <p:nvSpPr>
          <p:cNvPr id="13" name="TextBox 12"/>
          <p:cNvSpPr txBox="1"/>
          <p:nvPr/>
        </p:nvSpPr>
        <p:spPr>
          <a:xfrm>
            <a:off x="12096750" y="4191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Settings and data</a:t>
            </a:r>
          </a:p>
        </p:txBody>
      </p:sp>
      <p:sp>
        <p:nvSpPr>
          <p:cNvPr id="14" name="Rounded Rectangle 13"/>
          <p:cNvSpPr/>
          <p:nvPr/>
        </p:nvSpPr>
        <p:spPr>
          <a:xfrm>
            <a:off x="9525000" y="55245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906000" y="55245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.md</a:t>
            </a:r>
          </a:p>
        </p:txBody>
      </p:sp>
      <p:sp>
        <p:nvSpPr>
          <p:cNvPr id="16" name="TextBox 15"/>
          <p:cNvSpPr txBox="1"/>
          <p:nvPr/>
        </p:nvSpPr>
        <p:spPr>
          <a:xfrm>
            <a:off x="12096750" y="55245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Notes and instructions (Markdown)</a:t>
            </a:r>
          </a:p>
        </p:txBody>
      </p:sp>
      <p:sp>
        <p:nvSpPr>
          <p:cNvPr id="17" name="Rounded Rectangle 16"/>
          <p:cNvSpPr/>
          <p:nvPr/>
        </p:nvSpPr>
        <p:spPr>
          <a:xfrm>
            <a:off x="9525000" y="6858000"/>
            <a:ext cx="7848600" cy="1104900"/>
          </a:xfrm>
          <a:prstGeom prst="roundRect">
            <a:avLst>
              <a:gd name="adj" fmla="val 1379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906000" y="6858000"/>
            <a:ext cx="2095500" cy="1104900"/>
          </a:xfrm>
          <a:prstGeom prst="rect">
            <a:avLst/>
          </a:prstGeom>
          <a:noFill/>
        </p:spPr>
        <p:txBody>
          <a:bodyPr wrap="square" lIns="0" rIns="0" tIns="0" bIns="0" anchor="ctr">
            <a:spAutoFit/>
          </a:bodyPr>
          <a:lstStyle/>
          <a:p>
            <a:pPr algn="l"/>
            <a:r>
              <a:rPr sz="2700" b="0" i="0">
                <a:solidFill>
                  <a:srgbClr val="E0785F"/>
                </a:solidFill>
                <a:latin typeface="Geist Mono"/>
                <a:ea typeface="Geist Mono"/>
                <a:cs typeface="Geist Mono"/>
              </a:rPr>
              <a:t>.gradle</a:t>
            </a:r>
          </a:p>
        </p:txBody>
      </p:sp>
      <p:sp>
        <p:nvSpPr>
          <p:cNvPr id="19" name="TextBox 18"/>
          <p:cNvSpPr txBox="1"/>
          <p:nvPr/>
        </p:nvSpPr>
        <p:spPr>
          <a:xfrm>
            <a:off x="12096750" y="6858000"/>
            <a:ext cx="5048250" cy="11049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How to build the project</a:t>
            </a:r>
          </a:p>
        </p:txBody>
      </p:sp>
      <p:pic>
        <p:nvPicPr>
          <p:cNvPr id="20" name="Picture 19"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Projects and paths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810500" cy="6096000"/>
          </a:xfrm>
          <a:prstGeom prst="roundRect">
            <a:avLst>
              <a:gd name="adj" fmla="val 250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project/</a:t>
            </a:r>
          </a:p>
        </p:txBody>
      </p:sp>
      <p:sp>
        <p:nvSpPr>
          <p:cNvPr id="7" name="TextBox 6"/>
          <p:cNvSpPr txBox="1"/>
          <p:nvPr/>
        </p:nvSpPr>
        <p:spPr>
          <a:xfrm>
            <a:off x="1714500" y="36957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src/</a:t>
            </a:r>
          </a:p>
        </p:txBody>
      </p:sp>
      <p:sp>
        <p:nvSpPr>
          <p:cNvPr id="8" name="TextBox 7"/>
          <p:cNvSpPr txBox="1"/>
          <p:nvPr/>
        </p:nvSpPr>
        <p:spPr>
          <a:xfrm>
            <a:off x="2133600" y="42481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main/</a:t>
            </a:r>
          </a:p>
        </p:txBody>
      </p:sp>
      <p:sp>
        <p:nvSpPr>
          <p:cNvPr id="9" name="TextBox 8"/>
          <p:cNvSpPr txBox="1"/>
          <p:nvPr/>
        </p:nvSpPr>
        <p:spPr>
          <a:xfrm>
            <a:off x="2552700" y="48006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java/</a:t>
            </a:r>
          </a:p>
        </p:txBody>
      </p:sp>
      <p:sp>
        <p:nvSpPr>
          <p:cNvPr id="10" name="TextBox 9"/>
          <p:cNvSpPr txBox="1"/>
          <p:nvPr/>
        </p:nvSpPr>
        <p:spPr>
          <a:xfrm>
            <a:off x="2971800" y="53530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frc/</a:t>
            </a:r>
          </a:p>
        </p:txBody>
      </p:sp>
      <p:sp>
        <p:nvSpPr>
          <p:cNvPr id="11" name="TextBox 10"/>
          <p:cNvSpPr txBox="1"/>
          <p:nvPr/>
        </p:nvSpPr>
        <p:spPr>
          <a:xfrm>
            <a:off x="3390900" y="59055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a:t>
            </a:r>
          </a:p>
        </p:txBody>
      </p:sp>
      <p:sp>
        <p:nvSpPr>
          <p:cNvPr id="12" name="TextBox 11"/>
          <p:cNvSpPr txBox="1"/>
          <p:nvPr/>
        </p:nvSpPr>
        <p:spPr>
          <a:xfrm>
            <a:off x="3810000" y="6457950"/>
            <a:ext cx="6667500" cy="476250"/>
          </a:xfrm>
          <a:prstGeom prst="rect">
            <a:avLst/>
          </a:prstGeom>
          <a:noFill/>
        </p:spPr>
        <p:txBody>
          <a:bodyPr wrap="square" lIns="0" rIns="0" tIns="0" bIns="0" anchor="ctr">
            <a:spAutoFit/>
          </a:bodyPr>
          <a:lstStyle/>
          <a:p>
            <a:pPr algn="l"/>
            <a:r>
              <a:rPr sz="2100" b="1" i="0">
                <a:solidFill>
                  <a:srgbClr val="CC2200"/>
                </a:solidFill>
                <a:latin typeface="Geist Mono"/>
                <a:ea typeface="Geist Mono"/>
                <a:cs typeface="Geist Mono"/>
              </a:rPr>
              <a:t>Robot.java</a:t>
            </a:r>
          </a:p>
        </p:txBody>
      </p:sp>
      <p:sp>
        <p:nvSpPr>
          <p:cNvPr id="13" name="TextBox 12"/>
          <p:cNvSpPr txBox="1"/>
          <p:nvPr/>
        </p:nvSpPr>
        <p:spPr>
          <a:xfrm>
            <a:off x="3810000" y="70104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Constants.java</a:t>
            </a:r>
          </a:p>
        </p:txBody>
      </p:sp>
      <p:sp>
        <p:nvSpPr>
          <p:cNvPr id="14" name="TextBox 13"/>
          <p:cNvSpPr txBox="1"/>
          <p:nvPr/>
        </p:nvSpPr>
        <p:spPr>
          <a:xfrm>
            <a:off x="1714500" y="756285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build.gradle</a:t>
            </a:r>
          </a:p>
        </p:txBody>
      </p:sp>
      <p:sp>
        <p:nvSpPr>
          <p:cNvPr id="15" name="TextBox 14"/>
          <p:cNvSpPr txBox="1"/>
          <p:nvPr/>
        </p:nvSpPr>
        <p:spPr>
          <a:xfrm>
            <a:off x="1714500" y="8115300"/>
            <a:ext cx="6667500" cy="47625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README.md</a:t>
            </a:r>
          </a:p>
        </p:txBody>
      </p:sp>
      <p:sp>
        <p:nvSpPr>
          <p:cNvPr id="16" name="TextBox 15"/>
          <p:cNvSpPr txBox="1"/>
          <p:nvPr/>
        </p:nvSpPr>
        <p:spPr>
          <a:xfrm>
            <a:off x="9525000" y="285750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project</a:t>
            </a:r>
            <a:r>
              <a:rPr sz="2250" b="0" i="0">
                <a:solidFill>
                  <a:srgbClr val="F0E8E8"/>
                </a:solidFill>
                <a:latin typeface="Geist"/>
                <a:ea typeface="Geist"/>
                <a:cs typeface="Geist"/>
              </a:rPr>
              <a:t> is one folder with everything inside</a:t>
            </a:r>
          </a:p>
        </p:txBody>
      </p:sp>
      <p:sp>
        <p:nvSpPr>
          <p:cNvPr id="17" name="TextBox 16"/>
          <p:cNvSpPr txBox="1"/>
          <p:nvPr/>
        </p:nvSpPr>
        <p:spPr>
          <a:xfrm>
            <a:off x="9525000" y="3514725"/>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A path</a:t>
            </a:r>
            <a:r>
              <a:rPr sz="2250" b="0" i="0">
                <a:solidFill>
                  <a:srgbClr val="F0E8E8"/>
                </a:solidFill>
                <a:latin typeface="Geist"/>
                <a:ea typeface="Geist"/>
                <a:cs typeface="Geist"/>
              </a:rPr>
              <a:t> is a file's address, folder by folder</a:t>
            </a:r>
          </a:p>
        </p:txBody>
      </p:sp>
      <p:sp>
        <p:nvSpPr>
          <p:cNvPr id="18" name="TextBox 17"/>
          <p:cNvSpPr txBox="1"/>
          <p:nvPr/>
        </p:nvSpPr>
        <p:spPr>
          <a:xfrm>
            <a:off x="9525000" y="4171950"/>
            <a:ext cx="78486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Slashes separate the folders</a:t>
            </a:r>
          </a:p>
        </p:txBody>
      </p:sp>
      <p:sp>
        <p:nvSpPr>
          <p:cNvPr id="19" name="Rounded Rectangle 18"/>
          <p:cNvSpPr/>
          <p:nvPr/>
        </p:nvSpPr>
        <p:spPr>
          <a:xfrm>
            <a:off x="9525000" y="6667500"/>
            <a:ext cx="7848600" cy="1183005"/>
          </a:xfrm>
          <a:prstGeom prst="roundRect">
            <a:avLst>
              <a:gd name="adj" fmla="val 12882"/>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06000" y="7048500"/>
            <a:ext cx="70866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main</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java</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frc</a:t>
            </a:r>
            <a:r>
              <a:rPr sz="1950" b="0" i="0">
                <a:solidFill>
                  <a:srgbClr val="CC2200"/>
                </a:solidFill>
                <a:latin typeface="Geist Mono"/>
                <a:ea typeface="Geist Mono"/>
                <a:cs typeface="Geist Mono"/>
              </a:rPr>
              <a:t>/</a:t>
            </a:r>
            <a:r>
              <a:rPr sz="1950" b="0" i="0">
                <a:solidFill>
                  <a:srgbClr val="F0E8E8"/>
                </a:solidFill>
                <a:latin typeface="Geist Mono"/>
                <a:ea typeface="Geist Mono"/>
                <a:cs typeface="Geist Mono"/>
              </a:rPr>
              <a:t>robot</a:t>
            </a:r>
            <a:r>
              <a:rPr sz="1950" b="0" i="0">
                <a:solidFill>
                  <a:srgbClr val="CC2200"/>
                </a:solidFill>
                <a:latin typeface="Geist Mono"/>
                <a:ea typeface="Geist Mono"/>
                <a:cs typeface="Geist Mono"/>
              </a:rPr>
              <a:t>/</a:t>
            </a:r>
            <a:r>
              <a:rPr sz="1950" b="0" i="0">
                <a:solidFill>
                  <a:srgbClr val="E8C27A"/>
                </a:solidFill>
                <a:latin typeface="Geist Mono"/>
                <a:ea typeface="Geist Mono"/>
                <a:cs typeface="Geist Mono"/>
              </a:rPr>
              <a:t>Robot.java</a:t>
            </a:r>
          </a:p>
        </p:txBody>
      </p:sp>
      <p:pic>
        <p:nvPicPr>
          <p:cNvPr id="21" name="Picture 2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terminal: typing commands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pwd</a:t>
            </a:r>
          </a:p>
        </p:txBody>
      </p:sp>
      <p:sp>
        <p:nvSpPr>
          <p:cNvPr id="7" name="TextBox 6"/>
          <p:cNvSpPr txBox="1"/>
          <p:nvPr/>
        </p:nvSpPr>
        <p:spPr>
          <a:xfrm>
            <a:off x="4953000" y="28575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Where am I? Prints the folder you're in</a:t>
            </a:r>
          </a:p>
        </p:txBody>
      </p:sp>
      <p:sp>
        <p:nvSpPr>
          <p:cNvPr id="8" name="Rounded Rectangle 7"/>
          <p:cNvSpPr/>
          <p:nvPr/>
        </p:nvSpPr>
        <p:spPr>
          <a:xfrm>
            <a:off x="914400" y="39243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9243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ls</a:t>
            </a:r>
          </a:p>
        </p:txBody>
      </p:sp>
      <p:sp>
        <p:nvSpPr>
          <p:cNvPr id="10" name="TextBox 9"/>
          <p:cNvSpPr txBox="1"/>
          <p:nvPr/>
        </p:nvSpPr>
        <p:spPr>
          <a:xfrm>
            <a:off x="4953000" y="39243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What's here? Lists files and folders</a:t>
            </a:r>
          </a:p>
        </p:txBody>
      </p:sp>
      <p:sp>
        <p:nvSpPr>
          <p:cNvPr id="11" name="Rounded Rectangle 10"/>
          <p:cNvSpPr/>
          <p:nvPr/>
        </p:nvSpPr>
        <p:spPr>
          <a:xfrm>
            <a:off x="914400" y="49911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49911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cd robot</a:t>
            </a:r>
          </a:p>
        </p:txBody>
      </p:sp>
      <p:sp>
        <p:nvSpPr>
          <p:cNvPr id="13" name="TextBox 12"/>
          <p:cNvSpPr txBox="1"/>
          <p:nvPr/>
        </p:nvSpPr>
        <p:spPr>
          <a:xfrm>
            <a:off x="4953000" y="49911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Move into a folder</a:t>
            </a:r>
          </a:p>
        </p:txBody>
      </p:sp>
      <p:sp>
        <p:nvSpPr>
          <p:cNvPr id="14" name="Rounded Rectangle 13"/>
          <p:cNvSpPr/>
          <p:nvPr/>
        </p:nvSpPr>
        <p:spPr>
          <a:xfrm>
            <a:off x="914400" y="60579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60579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cat notes.txt</a:t>
            </a:r>
          </a:p>
        </p:txBody>
      </p:sp>
      <p:sp>
        <p:nvSpPr>
          <p:cNvPr id="16" name="TextBox 15"/>
          <p:cNvSpPr txBox="1"/>
          <p:nvPr/>
        </p:nvSpPr>
        <p:spPr>
          <a:xfrm>
            <a:off x="4953000" y="60579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Show what's in a file</a:t>
            </a:r>
          </a:p>
        </p:txBody>
      </p:sp>
      <p:sp>
        <p:nvSpPr>
          <p:cNvPr id="17" name="Rounded Rectangle 16"/>
          <p:cNvSpPr/>
          <p:nvPr/>
        </p:nvSpPr>
        <p:spPr>
          <a:xfrm>
            <a:off x="914400" y="7124700"/>
            <a:ext cx="10477500" cy="914400"/>
          </a:xfrm>
          <a:prstGeom prst="roundRect">
            <a:avLst>
              <a:gd name="adj" fmla="val 1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7124700"/>
            <a:ext cx="3429000" cy="914400"/>
          </a:xfrm>
          <a:prstGeom prst="rect">
            <a:avLst/>
          </a:prstGeom>
          <a:noFill/>
        </p:spPr>
        <p:txBody>
          <a:bodyPr wrap="square" lIns="0" rIns="0" tIns="0" bIns="0" anchor="ctr">
            <a:spAutoFit/>
          </a:bodyPr>
          <a:lstStyle/>
          <a:p>
            <a:pPr algn="l"/>
            <a:r>
              <a:rPr sz="2400" b="0" i="0">
                <a:solidFill>
                  <a:srgbClr val="E0785F"/>
                </a:solidFill>
                <a:latin typeface="Geist Mono"/>
                <a:ea typeface="Geist Mono"/>
                <a:cs typeface="Geist Mono"/>
              </a:rPr>
              <a:t>mkdir practice</a:t>
            </a:r>
          </a:p>
        </p:txBody>
      </p:sp>
      <p:sp>
        <p:nvSpPr>
          <p:cNvPr id="19" name="TextBox 18"/>
          <p:cNvSpPr txBox="1"/>
          <p:nvPr/>
        </p:nvSpPr>
        <p:spPr>
          <a:xfrm>
            <a:off x="4953000" y="7124700"/>
            <a:ext cx="6286500" cy="9144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Make a new folder</a:t>
            </a:r>
          </a:p>
        </p:txBody>
      </p:sp>
      <p:sp>
        <p:nvSpPr>
          <p:cNvPr id="20" name="Rounded Rectangle 19"/>
          <p:cNvSpPr/>
          <p:nvPr/>
        </p:nvSpPr>
        <p:spPr>
          <a:xfrm>
            <a:off x="12039600" y="2857500"/>
            <a:ext cx="5334000" cy="5181600"/>
          </a:xfrm>
          <a:prstGeom prst="roundRect">
            <a:avLst>
              <a:gd name="adj" fmla="val 2941"/>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terminal.png"/>
          <p:cNvPicPr>
            <a:picLocks noChangeAspect="1"/>
          </p:cNvPicPr>
          <p:nvPr/>
        </p:nvPicPr>
        <p:blipFill>
          <a:blip r:embed="rId3"/>
          <a:stretch>
            <a:fillRect/>
          </a:stretch>
        </p:blipFill>
        <p:spPr>
          <a:xfrm>
            <a:off x="12496800" y="3276600"/>
            <a:ext cx="696686" cy="609600"/>
          </a:xfrm>
          <a:prstGeom prst="rect">
            <a:avLst/>
          </a:prstGeom>
        </p:spPr>
      </p:pic>
      <p:sp>
        <p:nvSpPr>
          <p:cNvPr id="22" name="TextBox 21"/>
          <p:cNvSpPr txBox="1"/>
          <p:nvPr/>
        </p:nvSpPr>
        <p:spPr>
          <a:xfrm>
            <a:off x="12496800" y="4191000"/>
            <a:ext cx="4476750" cy="57150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Two tricks</a:t>
            </a:r>
          </a:p>
        </p:txBody>
      </p:sp>
      <p:sp>
        <p:nvSpPr>
          <p:cNvPr id="23" name="TextBox 22"/>
          <p:cNvSpPr txBox="1"/>
          <p:nvPr/>
        </p:nvSpPr>
        <p:spPr>
          <a:xfrm>
            <a:off x="12496800" y="4953000"/>
            <a:ext cx="447675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Up arrow</a:t>
            </a:r>
            <a:r>
              <a:rPr sz="2100" b="0" i="0">
                <a:solidFill>
                  <a:srgbClr val="F0E8E8"/>
                </a:solidFill>
                <a:latin typeface="Geist"/>
                <a:ea typeface="Geist"/>
                <a:cs typeface="Geist"/>
              </a:rPr>
              <a:t> brings back your last command</a:t>
            </a:r>
          </a:p>
        </p:txBody>
      </p:sp>
      <p:sp>
        <p:nvSpPr>
          <p:cNvPr id="24" name="TextBox 23"/>
          <p:cNvSpPr txBox="1"/>
          <p:nvPr/>
        </p:nvSpPr>
        <p:spPr>
          <a:xfrm>
            <a:off x="12496800" y="587502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Tab</a:t>
            </a:r>
            <a:r>
              <a:rPr sz="2100" b="0" i="0">
                <a:solidFill>
                  <a:srgbClr val="F0E8E8"/>
                </a:solidFill>
                <a:latin typeface="Geist"/>
                <a:ea typeface="Geist"/>
                <a:cs typeface="Geist"/>
              </a:rPr>
              <a:t> finishes a file name for you</a:t>
            </a:r>
          </a:p>
        </p:txBody>
      </p:sp>
      <p:sp>
        <p:nvSpPr>
          <p:cNvPr id="25" name="TextBox 24"/>
          <p:cNvSpPr txBox="1"/>
          <p:nvPr/>
        </p:nvSpPr>
        <p:spPr>
          <a:xfrm>
            <a:off x="12496800" y="6450330"/>
            <a:ext cx="447675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Ctrl+`</a:t>
            </a:r>
            <a:r>
              <a:rPr sz="2100" b="0" i="0">
                <a:solidFill>
                  <a:srgbClr val="F0E8E8"/>
                </a:solidFill>
                <a:latin typeface="Geist"/>
                <a:ea typeface="Geist"/>
                <a:cs typeface="Geist"/>
              </a:rPr>
              <a:t> opens the terminal</a:t>
            </a:r>
          </a:p>
        </p:txBody>
      </p:sp>
      <p:pic>
        <p:nvPicPr>
          <p:cNvPr id="26" name="Picture 25"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 things fast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Ctrl+P</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Open a file by typing part of its name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Ctrl+Shift+F</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for a word in every file</a:t>
            </a:r>
          </a:p>
        </p:txBody>
      </p:sp>
      <p:sp>
        <p:nvSpPr>
          <p:cNvPr id="13" name="Rounded Rectangle 12"/>
          <p:cNvSpPr/>
          <p:nvPr/>
        </p:nvSpPr>
        <p:spPr>
          <a:xfrm>
            <a:off x="9144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12573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573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Ctrl+F</a:t>
            </a:r>
          </a:p>
        </p:txBody>
      </p:sp>
      <p:sp>
        <p:nvSpPr>
          <p:cNvPr id="16" name="TextBox 15"/>
          <p:cNvSpPr txBox="1"/>
          <p:nvPr/>
        </p:nvSpPr>
        <p:spPr>
          <a:xfrm>
            <a:off x="43434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Search in the file you're in</a:t>
            </a:r>
          </a:p>
        </p:txBody>
      </p:sp>
      <p:sp>
        <p:nvSpPr>
          <p:cNvPr id="17" name="Rounded Rectangle 16"/>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333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Ctrl+Shift+P</a:t>
            </a:r>
          </a:p>
        </p:txBody>
      </p:sp>
      <p:sp>
        <p:nvSpPr>
          <p:cNvPr id="20" name="TextBox 19"/>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Find any command (the command palette)</a:t>
            </a:r>
          </a:p>
        </p:txBody>
      </p:sp>
      <p:sp>
        <p:nvSpPr>
          <p:cNvPr id="21" name="Rounded Rectangle 20"/>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77400" y="5238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Ctrl+S</a:t>
            </a:r>
          </a:p>
        </p:txBody>
      </p:sp>
      <p:sp>
        <p:nvSpPr>
          <p:cNvPr id="24" name="TextBox 23"/>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Save the file</a:t>
            </a:r>
          </a:p>
        </p:txBody>
      </p:sp>
      <p:sp>
        <p:nvSpPr>
          <p:cNvPr id="25" name="Rounded Rectangle 24"/>
          <p:cNvSpPr/>
          <p:nvPr/>
        </p:nvSpPr>
        <p:spPr>
          <a:xfrm>
            <a:off x="9334500" y="666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677400" y="714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77400" y="7143750"/>
            <a:ext cx="2762250" cy="723900"/>
          </a:xfrm>
          <a:prstGeom prst="rect">
            <a:avLst/>
          </a:prstGeom>
          <a:noFill/>
        </p:spPr>
        <p:txBody>
          <a:bodyPr wrap="square" lIns="0" rIns="0" tIns="0" bIns="0" anchor="ctr">
            <a:spAutoFit/>
          </a:bodyPr>
          <a:lstStyle/>
          <a:p>
            <a:pPr algn="ctr"/>
            <a:r>
              <a:rPr sz="2400" b="1" i="0">
                <a:solidFill>
                  <a:srgbClr val="CC2200"/>
                </a:solidFill>
                <a:latin typeface="Geist Mono"/>
                <a:ea typeface="Geist Mono"/>
                <a:cs typeface="Geist Mono"/>
              </a:rPr>
              <a:t>F2</a:t>
            </a:r>
          </a:p>
        </p:txBody>
      </p:sp>
      <p:sp>
        <p:nvSpPr>
          <p:cNvPr id="28" name="TextBox 27"/>
          <p:cNvSpPr txBox="1"/>
          <p:nvPr/>
        </p:nvSpPr>
        <p:spPr>
          <a:xfrm>
            <a:off x="12763500" y="6953250"/>
            <a:ext cx="4286250" cy="1104900"/>
          </a:xfrm>
          <a:prstGeom prst="rect">
            <a:avLst/>
          </a:prstGeom>
          <a:noFill/>
        </p:spPr>
        <p:txBody>
          <a:bodyPr wrap="square" lIns="0" rIns="0" tIns="0" bIns="0" anchor="ctr">
            <a:spAutoFit/>
          </a:bodyPr>
          <a:lstStyle/>
          <a:p>
            <a:pPr algn="l">
              <a:lnSpc>
                <a:spcPct val="120000"/>
              </a:lnSpc>
            </a:pPr>
            <a:r>
              <a:rPr sz="2250" b="0" i="0">
                <a:solidFill>
                  <a:srgbClr val="F0E8E8"/>
                </a:solidFill>
                <a:latin typeface="Geist"/>
                <a:ea typeface="Geist"/>
                <a:cs typeface="Geist"/>
              </a:rPr>
              <a:t>Rename the selected file or folder</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Editor power moves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2573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73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Alt+Click</a:t>
            </a:r>
          </a:p>
        </p:txBody>
      </p:sp>
      <p:sp>
        <p:nvSpPr>
          <p:cNvPr id="8" name="TextBox 7"/>
          <p:cNvSpPr txBox="1"/>
          <p:nvPr/>
        </p:nvSpPr>
        <p:spPr>
          <a:xfrm>
            <a:off x="43434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Add another cursor: edit many lines at once</a:t>
            </a:r>
          </a:p>
        </p:txBody>
      </p:sp>
      <p:sp>
        <p:nvSpPr>
          <p:cNvPr id="9" name="Rounded Rectangle 8"/>
          <p:cNvSpPr/>
          <p:nvPr/>
        </p:nvSpPr>
        <p:spPr>
          <a:xfrm>
            <a:off x="9144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12573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573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Ctrl+D</a:t>
            </a:r>
          </a:p>
        </p:txBody>
      </p:sp>
      <p:sp>
        <p:nvSpPr>
          <p:cNvPr id="12" name="TextBox 11"/>
          <p:cNvSpPr txBox="1"/>
          <p:nvPr/>
        </p:nvSpPr>
        <p:spPr>
          <a:xfrm>
            <a:off x="43434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Select the next match of the same word</a:t>
            </a:r>
          </a:p>
        </p:txBody>
      </p:sp>
      <p:sp>
        <p:nvSpPr>
          <p:cNvPr id="13" name="Rounded Rectangle 12"/>
          <p:cNvSpPr/>
          <p:nvPr/>
        </p:nvSpPr>
        <p:spPr>
          <a:xfrm>
            <a:off x="9334500" y="2857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9677400" y="3333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3333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Ctrl+Click</a:t>
            </a:r>
          </a:p>
        </p:txBody>
      </p:sp>
      <p:sp>
        <p:nvSpPr>
          <p:cNvPr id="16" name="TextBox 15"/>
          <p:cNvSpPr txBox="1"/>
          <p:nvPr/>
        </p:nvSpPr>
        <p:spPr>
          <a:xfrm>
            <a:off x="12763500" y="3143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Jump to where a method or variable is defined</a:t>
            </a:r>
          </a:p>
        </p:txBody>
      </p:sp>
      <p:sp>
        <p:nvSpPr>
          <p:cNvPr id="17" name="Rounded Rectangle 16"/>
          <p:cNvSpPr/>
          <p:nvPr/>
        </p:nvSpPr>
        <p:spPr>
          <a:xfrm>
            <a:off x="9334500" y="4762500"/>
            <a:ext cx="8039100" cy="1676400"/>
          </a:xfrm>
          <a:prstGeom prst="roundRect">
            <a:avLst>
              <a:gd name="adj" fmla="val 909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9677400" y="5238750"/>
            <a:ext cx="2762250" cy="72390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77400" y="5238750"/>
            <a:ext cx="2762250" cy="723900"/>
          </a:xfrm>
          <a:prstGeom prst="rect">
            <a:avLst/>
          </a:prstGeom>
          <a:noFill/>
        </p:spPr>
        <p:txBody>
          <a:bodyPr wrap="square" lIns="0" rIns="0" tIns="0" bIns="0" anchor="ctr">
            <a:spAutoFit/>
          </a:bodyPr>
          <a:lstStyle/>
          <a:p>
            <a:pPr algn="ctr"/>
            <a:r>
              <a:rPr sz="2250" b="1" i="0">
                <a:solidFill>
                  <a:srgbClr val="CC2200"/>
                </a:solidFill>
                <a:latin typeface="Geist Mono"/>
                <a:ea typeface="Geist Mono"/>
                <a:cs typeface="Geist Mono"/>
              </a:rPr>
              <a:t>Ctrl+Shift+P</a:t>
            </a:r>
          </a:p>
        </p:txBody>
      </p:sp>
      <p:sp>
        <p:nvSpPr>
          <p:cNvPr id="20" name="TextBox 19"/>
          <p:cNvSpPr txBox="1"/>
          <p:nvPr/>
        </p:nvSpPr>
        <p:spPr>
          <a:xfrm>
            <a:off x="12763500" y="5048250"/>
            <a:ext cx="4286250" cy="1104900"/>
          </a:xfrm>
          <a:prstGeom prst="rect">
            <a:avLst/>
          </a:prstGeom>
          <a:noFill/>
        </p:spPr>
        <p:txBody>
          <a:bodyPr wrap="square" lIns="0" rIns="0" tIns="0" bIns="0" anchor="ctr">
            <a:spAutoFit/>
          </a:bodyPr>
          <a:lstStyle/>
          <a:p>
            <a:pPr algn="l">
              <a:lnSpc>
                <a:spcPct val="120000"/>
              </a:lnSpc>
            </a:pPr>
            <a:r>
              <a:rPr sz="2100" b="0" i="0">
                <a:solidFill>
                  <a:srgbClr val="F0E8E8"/>
                </a:solidFill>
                <a:latin typeface="Geist"/>
                <a:ea typeface="Geist"/>
                <a:cs typeface="Geist"/>
              </a:rPr>
              <a:t>Run a command, like WPILib: Build Robot Code</a:t>
            </a:r>
          </a:p>
        </p:txBody>
      </p:sp>
      <p:sp>
        <p:nvSpPr>
          <p:cNvPr id="21" name="Rounded Rectangle 20"/>
          <p:cNvSpPr/>
          <p:nvPr/>
        </p:nvSpPr>
        <p:spPr>
          <a:xfrm>
            <a:off x="914400" y="6858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erminal.png"/>
          <p:cNvPicPr>
            <a:picLocks noChangeAspect="1"/>
          </p:cNvPicPr>
          <p:nvPr/>
        </p:nvPicPr>
        <p:blipFill>
          <a:blip r:embed="rId3"/>
          <a:stretch>
            <a:fillRect/>
          </a:stretch>
        </p:blipFill>
        <p:spPr>
          <a:xfrm>
            <a:off x="1333500" y="7115175"/>
            <a:ext cx="609600" cy="533400"/>
          </a:xfrm>
          <a:prstGeom prst="rect">
            <a:avLst/>
          </a:prstGeom>
        </p:spPr>
      </p:pic>
      <p:sp>
        <p:nvSpPr>
          <p:cNvPr id="23" name="TextBox 22"/>
          <p:cNvSpPr txBox="1"/>
          <p:nvPr/>
        </p:nvSpPr>
        <p:spPr>
          <a:xfrm>
            <a:off x="2190750" y="6858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Build failed?  </a:t>
            </a:r>
            <a:r>
              <a:rPr sz="2100" b="0" i="0">
                <a:solidFill>
                  <a:srgbClr val="F0E8E8"/>
                </a:solidFill>
                <a:latin typeface="Geist"/>
                <a:ea typeface="Geist"/>
                <a:cs typeface="Geist"/>
              </a:rPr>
              <a:t>Read the terminal. The compiler usually says what went wrong and on which line.</a:t>
            </a:r>
          </a:p>
        </p:txBody>
      </p:sp>
      <p:pic>
        <p:nvPicPr>
          <p:cNvPr id="24" name="Picture 23"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MEET THE EDITOR</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happens when you press Run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Main.java</a:t>
            </a:r>
          </a:p>
        </p:txBody>
      </p:sp>
      <p:sp>
        <p:nvSpPr>
          <p:cNvPr id="7" name="TextBox 6"/>
          <p:cNvSpPr txBox="1"/>
          <p:nvPr/>
        </p:nvSpPr>
        <p:spPr>
          <a:xfrm>
            <a:off x="10668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code you typed</a:t>
            </a:r>
          </a:p>
        </p:txBody>
      </p:sp>
      <p:cxnSp>
        <p:nvCxnSpPr>
          <p:cNvPr id="8" name="Connector 7"/>
          <p:cNvCxnSpPr/>
          <p:nvPr/>
        </p:nvCxnSpPr>
        <p:spPr>
          <a:xfrm>
            <a:off x="45339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2952750"/>
            <a:ext cx="3543300" cy="1714500"/>
          </a:xfrm>
          <a:prstGeom prst="roundRect">
            <a:avLst>
              <a:gd name="adj" fmla="val 888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Compile</a:t>
            </a:r>
          </a:p>
        </p:txBody>
      </p:sp>
      <p:sp>
        <p:nvSpPr>
          <p:cNvPr id="11" name="TextBox 10"/>
          <p:cNvSpPr txBox="1"/>
          <p:nvPr/>
        </p:nvSpPr>
        <p:spPr>
          <a:xfrm>
            <a:off x="53721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Check it and translate it</a:t>
            </a:r>
          </a:p>
        </p:txBody>
      </p:sp>
      <p:cxnSp>
        <p:nvCxnSpPr>
          <p:cNvPr id="12" name="Connector 11"/>
          <p:cNvCxnSpPr/>
          <p:nvPr/>
        </p:nvCxnSpPr>
        <p:spPr>
          <a:xfrm>
            <a:off x="88392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Run</a:t>
            </a:r>
          </a:p>
        </p:txBody>
      </p:sp>
      <p:sp>
        <p:nvSpPr>
          <p:cNvPr id="15" name="TextBox 14"/>
          <p:cNvSpPr txBox="1"/>
          <p:nvPr/>
        </p:nvSpPr>
        <p:spPr>
          <a:xfrm>
            <a:off x="96774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computer follows it</a:t>
            </a:r>
          </a:p>
        </p:txBody>
      </p:sp>
      <p:cxnSp>
        <p:nvCxnSpPr>
          <p:cNvPr id="16" name="Connector 15"/>
          <p:cNvCxnSpPr/>
          <p:nvPr/>
        </p:nvCxnSpPr>
        <p:spPr>
          <a:xfrm>
            <a:off x="13144500" y="3810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2952750"/>
            <a:ext cx="35433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333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Output</a:t>
            </a:r>
          </a:p>
        </p:txBody>
      </p:sp>
      <p:sp>
        <p:nvSpPr>
          <p:cNvPr id="19" name="TextBox 18"/>
          <p:cNvSpPr txBox="1"/>
          <p:nvPr/>
        </p:nvSpPr>
        <p:spPr>
          <a:xfrm>
            <a:off x="13982700" y="3924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Printed in the terminal</a:t>
            </a:r>
          </a:p>
        </p:txBody>
      </p:sp>
      <p:sp>
        <p:nvSpPr>
          <p:cNvPr id="20" name="Rounded Rectangle 19"/>
          <p:cNvSpPr/>
          <p:nvPr/>
        </p:nvSpPr>
        <p:spPr>
          <a:xfrm>
            <a:off x="914400" y="5619750"/>
            <a:ext cx="104775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33450" y="6842760"/>
            <a:ext cx="10439400" cy="42100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33450" y="6842760"/>
            <a:ext cx="57150" cy="42100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95400" y="6000750"/>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class </a:t>
            </a:r>
            <a:r>
              <a:rPr sz="1950" b="0" i="0">
                <a:solidFill>
                  <a:srgbClr val="F0E8E8"/>
                </a:solidFill>
                <a:latin typeface="Geist Mono"/>
                <a:ea typeface="Geist Mono"/>
                <a:cs typeface="Geist Mono"/>
              </a:rPr>
              <a:t>Main {</a:t>
            </a:r>
          </a:p>
        </p:txBody>
      </p:sp>
      <p:sp>
        <p:nvSpPr>
          <p:cNvPr id="24" name="TextBox 23"/>
          <p:cNvSpPr txBox="1"/>
          <p:nvPr/>
        </p:nvSpPr>
        <p:spPr>
          <a:xfrm>
            <a:off x="1295400" y="6421755"/>
            <a:ext cx="97155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  public static void </a:t>
            </a:r>
            <a:r>
              <a:rPr sz="1950" b="0" i="0">
                <a:solidFill>
                  <a:srgbClr val="F0E8E8"/>
                </a:solidFill>
                <a:latin typeface="Geist Mono"/>
                <a:ea typeface="Geist Mono"/>
                <a:cs typeface="Geist Mono"/>
              </a:rPr>
              <a:t>main(String[] args) {</a:t>
            </a:r>
          </a:p>
        </p:txBody>
      </p:sp>
      <p:sp>
        <p:nvSpPr>
          <p:cNvPr id="25" name="TextBox 24"/>
          <p:cNvSpPr txBox="1"/>
          <p:nvPr/>
        </p:nvSpPr>
        <p:spPr>
          <a:xfrm>
            <a:off x="1295400" y="684276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System.out.println(</a:t>
            </a:r>
            <a:r>
              <a:rPr sz="1950" b="0" i="0">
                <a:solidFill>
                  <a:srgbClr val="9FD29A"/>
                </a:solidFill>
                <a:latin typeface="Geist Mono"/>
                <a:ea typeface="Geist Mono"/>
                <a:cs typeface="Geist Mono"/>
              </a:rPr>
              <a:t>"Hello, my name is ..."</a:t>
            </a:r>
            <a:r>
              <a:rPr sz="1950" b="0" i="0">
                <a:solidFill>
                  <a:srgbClr val="F0E8E8"/>
                </a:solidFill>
                <a:latin typeface="Geist Mono"/>
                <a:ea typeface="Geist Mono"/>
                <a:cs typeface="Geist Mono"/>
              </a:rPr>
              <a:t>);</a:t>
            </a:r>
          </a:p>
        </p:txBody>
      </p:sp>
      <p:sp>
        <p:nvSpPr>
          <p:cNvPr id="26" name="TextBox 25"/>
          <p:cNvSpPr txBox="1"/>
          <p:nvPr/>
        </p:nvSpPr>
        <p:spPr>
          <a:xfrm>
            <a:off x="1295400" y="7263765"/>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27" name="TextBox 26"/>
          <p:cNvSpPr txBox="1"/>
          <p:nvPr/>
        </p:nvSpPr>
        <p:spPr>
          <a:xfrm>
            <a:off x="1295400" y="7684770"/>
            <a:ext cx="9715500" cy="42100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8" name="Rounded Rectangle 27"/>
          <p:cNvSpPr/>
          <p:nvPr/>
        </p:nvSpPr>
        <p:spPr>
          <a:xfrm>
            <a:off x="12039600" y="5619750"/>
            <a:ext cx="5334000" cy="3162300"/>
          </a:xfrm>
          <a:prstGeom prst="roundRect">
            <a:avLst>
              <a:gd name="adj" fmla="val 4819"/>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420600" y="5905500"/>
            <a:ext cx="4572000" cy="38100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OUTPUT</a:t>
            </a:r>
          </a:p>
        </p:txBody>
      </p:sp>
      <p:sp>
        <p:nvSpPr>
          <p:cNvPr id="30" name="TextBox 29"/>
          <p:cNvSpPr txBox="1"/>
          <p:nvPr/>
        </p:nvSpPr>
        <p:spPr>
          <a:xfrm>
            <a:off x="12420600" y="6381750"/>
            <a:ext cx="4572000" cy="571500"/>
          </a:xfrm>
          <a:prstGeom prst="rect">
            <a:avLst/>
          </a:prstGeom>
          <a:noFill/>
        </p:spPr>
        <p:txBody>
          <a:bodyPr wrap="square" lIns="0" rIns="0" tIns="0" bIns="0" anchor="t">
            <a:spAutoFit/>
          </a:bodyPr>
          <a:lstStyle/>
          <a:p>
            <a:pPr algn="l"/>
            <a:r>
              <a:rPr sz="2100" b="0" i="0">
                <a:solidFill>
                  <a:srgbClr val="9FD29A"/>
                </a:solidFill>
                <a:latin typeface="Geist Mono"/>
                <a:ea typeface="Geist Mono"/>
                <a:cs typeface="Geist Mono"/>
              </a:rPr>
              <a:t>Hello, my name is Ava</a:t>
            </a:r>
          </a:p>
        </p:txBody>
      </p:sp>
      <p:sp>
        <p:nvSpPr>
          <p:cNvPr id="31" name="TextBox 30"/>
          <p:cNvSpPr txBox="1"/>
          <p:nvPr/>
        </p:nvSpPr>
        <p:spPr>
          <a:xfrm>
            <a:off x="12420600" y="7143750"/>
            <a:ext cx="4572000" cy="142875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typo? Compiling stops and points at the line.</a:t>
            </a:r>
          </a:p>
        </p:txBody>
      </p:sp>
      <p:pic>
        <p:nvPicPr>
          <p:cNvPr id="32" name="Picture 31"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Git Basics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Version control: saving history and working as a team</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version control?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Remembers every version</a:t>
            </a:r>
            <a:r>
              <a:rPr sz="2400" b="0" i="0">
                <a:solidFill>
                  <a:srgbClr val="F0E8E8"/>
                </a:solidFill>
                <a:latin typeface="Geist"/>
                <a:ea typeface="Geist"/>
                <a:cs typeface="Geist"/>
              </a:rPr>
              <a:t> of your code</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Undo</a:t>
            </a:r>
            <a:r>
              <a:rPr sz="2400" b="0" i="0">
                <a:solidFill>
                  <a:srgbClr val="F0E8E8"/>
                </a:solidFill>
                <a:latin typeface="Geist"/>
                <a:ea typeface="Geist"/>
                <a:cs typeface="Geist"/>
              </a:rPr>
              <a:t> back to any earlier save point</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Many people</a:t>
            </a:r>
            <a:r>
              <a:rPr sz="2400" b="0" i="0">
                <a:solidFill>
                  <a:srgbClr val="F0E8E8"/>
                </a:solidFill>
                <a:latin typeface="Geist"/>
                <a:ea typeface="Geist"/>
                <a:cs typeface="Geist"/>
              </a:rPr>
              <a:t> work at once without overwriting</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Built on three ideas: </a:t>
            </a:r>
            <a:r>
              <a:rPr sz="2400" b="1" i="0">
                <a:solidFill>
                  <a:srgbClr val="F0E8E8"/>
                </a:solidFill>
                <a:latin typeface="Geist"/>
                <a:ea typeface="Geist"/>
                <a:cs typeface="Geist"/>
              </a:rPr>
              <a:t>repositories, commits, branches</a:t>
            </a:r>
          </a:p>
        </p:txBody>
      </p:sp>
      <p:sp>
        <p:nvSpPr>
          <p:cNvPr id="9" name="Rounded Rectangle 8"/>
          <p:cNvSpPr/>
          <p:nvPr/>
        </p:nvSpPr>
        <p:spPr>
          <a:xfrm>
            <a:off x="11430000" y="2857500"/>
            <a:ext cx="5943600" cy="5334000"/>
          </a:xfrm>
          <a:prstGeom prst="roundRect">
            <a:avLst>
              <a:gd name="adj" fmla="val 28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0" y="3143250"/>
            <a:ext cx="5181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WITHOUT GIT</a:t>
            </a:r>
          </a:p>
        </p:txBody>
      </p:sp>
      <p:pic>
        <p:nvPicPr>
          <p:cNvPr id="11" name="Picture 10" descr="folder2-open.png"/>
          <p:cNvPicPr>
            <a:picLocks noChangeAspect="1"/>
          </p:cNvPicPr>
          <p:nvPr/>
        </p:nvPicPr>
        <p:blipFill>
          <a:blip r:embed="rId3"/>
          <a:stretch>
            <a:fillRect/>
          </a:stretch>
        </p:blipFill>
        <p:spPr>
          <a:xfrm>
            <a:off x="11811000" y="3848100"/>
            <a:ext cx="461596" cy="381000"/>
          </a:xfrm>
          <a:prstGeom prst="rect">
            <a:avLst/>
          </a:prstGeom>
        </p:spPr>
      </p:pic>
      <p:sp>
        <p:nvSpPr>
          <p:cNvPr id="12" name="TextBox 11"/>
          <p:cNvSpPr txBox="1"/>
          <p:nvPr/>
        </p:nvSpPr>
        <p:spPr>
          <a:xfrm>
            <a:off x="12382500" y="3771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robot-code-v1</a:t>
            </a:r>
          </a:p>
        </p:txBody>
      </p:sp>
      <p:pic>
        <p:nvPicPr>
          <p:cNvPr id="13" name="Picture 12" descr="folder2-open.png"/>
          <p:cNvPicPr>
            <a:picLocks noChangeAspect="1"/>
          </p:cNvPicPr>
          <p:nvPr/>
        </p:nvPicPr>
        <p:blipFill>
          <a:blip r:embed="rId3"/>
          <a:stretch>
            <a:fillRect/>
          </a:stretch>
        </p:blipFill>
        <p:spPr>
          <a:xfrm>
            <a:off x="11811000" y="4610100"/>
            <a:ext cx="461596" cy="381000"/>
          </a:xfrm>
          <a:prstGeom prst="rect">
            <a:avLst/>
          </a:prstGeom>
        </p:spPr>
      </p:pic>
      <p:sp>
        <p:nvSpPr>
          <p:cNvPr id="14" name="TextBox 13"/>
          <p:cNvSpPr txBox="1"/>
          <p:nvPr/>
        </p:nvSpPr>
        <p:spPr>
          <a:xfrm>
            <a:off x="12382500" y="4533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robot-code-v2</a:t>
            </a:r>
          </a:p>
        </p:txBody>
      </p:sp>
      <p:pic>
        <p:nvPicPr>
          <p:cNvPr id="15" name="Picture 14" descr="folder2-open.png"/>
          <p:cNvPicPr>
            <a:picLocks noChangeAspect="1"/>
          </p:cNvPicPr>
          <p:nvPr/>
        </p:nvPicPr>
        <p:blipFill>
          <a:blip r:embed="rId3"/>
          <a:stretch>
            <a:fillRect/>
          </a:stretch>
        </p:blipFill>
        <p:spPr>
          <a:xfrm>
            <a:off x="11811000" y="5372100"/>
            <a:ext cx="461596" cy="381000"/>
          </a:xfrm>
          <a:prstGeom prst="rect">
            <a:avLst/>
          </a:prstGeom>
        </p:spPr>
      </p:pic>
      <p:sp>
        <p:nvSpPr>
          <p:cNvPr id="16" name="TextBox 15"/>
          <p:cNvSpPr txBox="1"/>
          <p:nvPr/>
        </p:nvSpPr>
        <p:spPr>
          <a:xfrm>
            <a:off x="12382500" y="5295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a:t>
            </a:r>
          </a:p>
        </p:txBody>
      </p:sp>
      <p:pic>
        <p:nvPicPr>
          <p:cNvPr id="17" name="Picture 16" descr="folder2-open.png"/>
          <p:cNvPicPr>
            <a:picLocks noChangeAspect="1"/>
          </p:cNvPicPr>
          <p:nvPr/>
        </p:nvPicPr>
        <p:blipFill>
          <a:blip r:embed="rId3"/>
          <a:stretch>
            <a:fillRect/>
          </a:stretch>
        </p:blipFill>
        <p:spPr>
          <a:xfrm>
            <a:off x="11811000" y="6134100"/>
            <a:ext cx="461596" cy="381000"/>
          </a:xfrm>
          <a:prstGeom prst="rect">
            <a:avLst/>
          </a:prstGeom>
        </p:spPr>
      </p:pic>
      <p:sp>
        <p:nvSpPr>
          <p:cNvPr id="18" name="TextBox 17"/>
          <p:cNvSpPr txBox="1"/>
          <p:nvPr/>
        </p:nvSpPr>
        <p:spPr>
          <a:xfrm>
            <a:off x="12382500" y="6057900"/>
            <a:ext cx="4762500" cy="533400"/>
          </a:xfrm>
          <a:prstGeom prst="rect">
            <a:avLst/>
          </a:prstGeom>
          <a:noFill/>
        </p:spPr>
        <p:txBody>
          <a:bodyPr wrap="square" lIns="0" rIns="0" tIns="0" bIns="0" anchor="ctr">
            <a:spAutoFit/>
          </a:bodyPr>
          <a:lstStyle/>
          <a:p>
            <a:pPr algn="l"/>
            <a:r>
              <a:rPr sz="2100" b="0" i="0">
                <a:solidFill>
                  <a:srgbClr val="9A7878"/>
                </a:solidFill>
                <a:latin typeface="Geist Mono"/>
                <a:ea typeface="Geist Mono"/>
                <a:cs typeface="Geist Mono"/>
              </a:rPr>
              <a:t>robot-code-final-2</a:t>
            </a:r>
          </a:p>
        </p:txBody>
      </p:sp>
      <p:pic>
        <p:nvPicPr>
          <p:cNvPr id="19" name="Picture 18" descr="folder2-open.png"/>
          <p:cNvPicPr>
            <a:picLocks noChangeAspect="1"/>
          </p:cNvPicPr>
          <p:nvPr/>
        </p:nvPicPr>
        <p:blipFill>
          <a:blip r:embed="rId3"/>
          <a:stretch>
            <a:fillRect/>
          </a:stretch>
        </p:blipFill>
        <p:spPr>
          <a:xfrm>
            <a:off x="11811000" y="6896100"/>
            <a:ext cx="461596" cy="381000"/>
          </a:xfrm>
          <a:prstGeom prst="rect">
            <a:avLst/>
          </a:prstGeom>
        </p:spPr>
      </p:pic>
      <p:sp>
        <p:nvSpPr>
          <p:cNvPr id="20" name="TextBox 19"/>
          <p:cNvSpPr txBox="1"/>
          <p:nvPr/>
        </p:nvSpPr>
        <p:spPr>
          <a:xfrm>
            <a:off x="12382500" y="6819900"/>
            <a:ext cx="4762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robot-code-final-really</a:t>
            </a:r>
          </a:p>
        </p:txBody>
      </p:sp>
      <p:sp>
        <p:nvSpPr>
          <p:cNvPr id="21" name="TextBox 20"/>
          <p:cNvSpPr txBox="1"/>
          <p:nvPr/>
        </p:nvSpPr>
        <p:spPr>
          <a:xfrm>
            <a:off x="11811000" y="7620000"/>
            <a:ext cx="51816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...emailed around, on a thumb drive</a:t>
            </a:r>
          </a:p>
        </p:txBody>
      </p:sp>
      <p:pic>
        <p:nvPicPr>
          <p:cNvPr id="22" name="Picture 2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Repositories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A repo</a:t>
            </a:r>
            <a:r>
              <a:rPr sz="2400" b="0" i="0">
                <a:solidFill>
                  <a:srgbClr val="F0E8E8"/>
                </a:solidFill>
                <a:latin typeface="Geist"/>
                <a:ea typeface="Geist"/>
                <a:cs typeface="Geist"/>
              </a:rPr>
              <a:t> is a project folder git is watching</a:t>
            </a:r>
          </a:p>
        </p:txBody>
      </p:sp>
      <p:sp>
        <p:nvSpPr>
          <p:cNvPr id="6" name="TextBox 5"/>
          <p:cNvSpPr txBox="1"/>
          <p:nvPr/>
        </p:nvSpPr>
        <p:spPr>
          <a:xfrm>
            <a:off x="914400" y="353949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Each project is usually its own repo</a:t>
            </a:r>
          </a:p>
        </p:txBody>
      </p:sp>
      <p:sp>
        <p:nvSpPr>
          <p:cNvPr id="7" name="TextBox 6"/>
          <p:cNvSpPr txBox="1"/>
          <p:nvPr/>
        </p:nvSpPr>
        <p:spPr>
          <a:xfrm>
            <a:off x="914400" y="4221480"/>
            <a:ext cx="85725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0" i="0">
                <a:solidFill>
                  <a:srgbClr val="F0E8E8"/>
                </a:solidFill>
                <a:latin typeface="Geist"/>
                <a:ea typeface="Geist"/>
                <a:cs typeface="Geist"/>
              </a:rPr>
              <a:t>The history lives in a hidden </a:t>
            </a:r>
            <a:r>
              <a:rPr sz="2400" b="0" i="0">
                <a:solidFill>
                  <a:srgbClr val="E0785F"/>
                </a:solidFill>
                <a:latin typeface="Geist Mono"/>
                <a:ea typeface="Geist Mono"/>
                <a:cs typeface="Geist Mono"/>
              </a:rPr>
              <a:t>  .git  </a:t>
            </a:r>
            <a:r>
              <a:rPr sz="2400" b="0" i="0">
                <a:solidFill>
                  <a:srgbClr val="F0E8E8"/>
                </a:solidFill>
                <a:latin typeface="Geist"/>
                <a:ea typeface="Geist"/>
                <a:cs typeface="Geist"/>
              </a:rPr>
              <a:t> folder</a:t>
            </a:r>
          </a:p>
        </p:txBody>
      </p:sp>
      <p:sp>
        <p:nvSpPr>
          <p:cNvPr id="8" name="Rounded Rectangle 7"/>
          <p:cNvSpPr/>
          <p:nvPr/>
        </p:nvSpPr>
        <p:spPr>
          <a:xfrm>
            <a:off x="10287000" y="2857500"/>
            <a:ext cx="7086600" cy="4953000"/>
          </a:xfrm>
          <a:prstGeom prst="roundRect">
            <a:avLst>
              <a:gd name="adj" fmla="val 307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668000" y="3238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RobotCode/</a:t>
            </a:r>
          </a:p>
        </p:txBody>
      </p:sp>
      <p:sp>
        <p:nvSpPr>
          <p:cNvPr id="10" name="TextBox 9"/>
          <p:cNvSpPr txBox="1"/>
          <p:nvPr/>
        </p:nvSpPr>
        <p:spPr>
          <a:xfrm>
            <a:off x="11087100" y="3905250"/>
            <a:ext cx="6096000" cy="571500"/>
          </a:xfrm>
          <a:prstGeom prst="rect">
            <a:avLst/>
          </a:prstGeom>
          <a:noFill/>
        </p:spPr>
        <p:txBody>
          <a:bodyPr wrap="square" lIns="0" rIns="0" tIns="0" bIns="0" anchor="ctr">
            <a:spAutoFit/>
          </a:bodyPr>
          <a:lstStyle/>
          <a:p>
            <a:pPr algn="l"/>
            <a:r>
              <a:rPr sz="2250" b="0" i="0">
                <a:solidFill>
                  <a:srgbClr val="E0785F"/>
                </a:solidFill>
                <a:latin typeface="Geist Mono"/>
                <a:ea typeface="Geist Mono"/>
                <a:cs typeface="Geist Mono"/>
              </a:rPr>
              <a:t>.git/</a:t>
            </a:r>
          </a:p>
        </p:txBody>
      </p:sp>
      <p:sp>
        <p:nvSpPr>
          <p:cNvPr id="11" name="TextBox 10"/>
          <p:cNvSpPr txBox="1"/>
          <p:nvPr/>
        </p:nvSpPr>
        <p:spPr>
          <a:xfrm>
            <a:off x="11087100" y="45720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src/</a:t>
            </a:r>
          </a:p>
        </p:txBody>
      </p:sp>
      <p:sp>
        <p:nvSpPr>
          <p:cNvPr id="12" name="TextBox 11"/>
          <p:cNvSpPr txBox="1"/>
          <p:nvPr/>
        </p:nvSpPr>
        <p:spPr>
          <a:xfrm>
            <a:off x="11087100" y="523875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build.gradle</a:t>
            </a:r>
          </a:p>
        </p:txBody>
      </p:sp>
      <p:sp>
        <p:nvSpPr>
          <p:cNvPr id="13" name="TextBox 12"/>
          <p:cNvSpPr txBox="1"/>
          <p:nvPr/>
        </p:nvSpPr>
        <p:spPr>
          <a:xfrm>
            <a:off x="11087100" y="5905500"/>
            <a:ext cx="6096000" cy="571500"/>
          </a:xfrm>
          <a:prstGeom prst="rect">
            <a:avLst/>
          </a:prstGeom>
          <a:noFill/>
        </p:spPr>
        <p:txBody>
          <a:bodyPr wrap="square" lIns="0" rIns="0" tIns="0" bIns="0" anchor="ctr">
            <a:spAutoFit/>
          </a:bodyPr>
          <a:lstStyle/>
          <a:p>
            <a:pPr algn="l"/>
            <a:r>
              <a:rPr sz="2250" b="0" i="0">
                <a:solidFill>
                  <a:srgbClr val="F0E8E8"/>
                </a:solidFill>
                <a:latin typeface="Geist Mono"/>
                <a:ea typeface="Geist Mono"/>
                <a:cs typeface="Geist Mono"/>
              </a:rPr>
              <a:t>README.md</a:t>
            </a:r>
          </a:p>
        </p:txBody>
      </p:sp>
      <p:sp>
        <p:nvSpPr>
          <p:cNvPr id="14" name="TextBox 13"/>
          <p:cNvSpPr txBox="1"/>
          <p:nvPr/>
        </p:nvSpPr>
        <p:spPr>
          <a:xfrm>
            <a:off x="10668000" y="6858000"/>
            <a:ext cx="60960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the .git folder holds every version</a:t>
            </a:r>
          </a:p>
        </p:txBody>
      </p:sp>
      <p:pic>
        <p:nvPicPr>
          <p:cNvPr id="15" name="Picture 1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Commits: save points with a message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 name="Connector 4"/>
          <p:cNvCxnSpPr/>
          <p:nvPr/>
        </p:nvCxnSpPr>
        <p:spPr>
          <a:xfrm>
            <a:off x="1524000" y="3238500"/>
            <a:ext cx="0" cy="34290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33500" y="3048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00250" y="2990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Created Arm subsystem</a:t>
            </a:r>
          </a:p>
        </p:txBody>
      </p:sp>
      <p:sp>
        <p:nvSpPr>
          <p:cNvPr id="8" name="Oval 7"/>
          <p:cNvSpPr/>
          <p:nvPr/>
        </p:nvSpPr>
        <p:spPr>
          <a:xfrm>
            <a:off x="1333500" y="4191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00250" y="4133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motors</a:t>
            </a:r>
          </a:p>
        </p:txBody>
      </p:sp>
      <p:sp>
        <p:nvSpPr>
          <p:cNvPr id="10" name="Oval 9"/>
          <p:cNvSpPr/>
          <p:nvPr/>
        </p:nvSpPr>
        <p:spPr>
          <a:xfrm>
            <a:off x="1333500" y="5334000"/>
            <a:ext cx="381000" cy="3810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0250" y="5276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Added arm PID controller</a:t>
            </a:r>
          </a:p>
        </p:txBody>
      </p:sp>
      <p:sp>
        <p:nvSpPr>
          <p:cNvPr id="12" name="Oval 11"/>
          <p:cNvSpPr/>
          <p:nvPr/>
        </p:nvSpPr>
        <p:spPr>
          <a:xfrm>
            <a:off x="1333500" y="647700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0250" y="6419850"/>
            <a:ext cx="6667500" cy="4953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Tuned arm PID controller</a:t>
            </a:r>
          </a:p>
        </p:txBody>
      </p:sp>
      <p:sp>
        <p:nvSpPr>
          <p:cNvPr id="14" name="TextBox 13"/>
          <p:cNvSpPr txBox="1"/>
          <p:nvPr/>
        </p:nvSpPr>
        <p:spPr>
          <a:xfrm>
            <a:off x="914400" y="7810500"/>
            <a:ext cx="7810500" cy="952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commit gets an ID (a SHA), shortened to 7 characters: </a:t>
            </a:r>
            <a:r>
              <a:rPr sz="1950" b="0" i="0">
                <a:solidFill>
                  <a:srgbClr val="E0785F"/>
                </a:solidFill>
                <a:latin typeface="Geist Mono"/>
                <a:ea typeface="Geist Mono"/>
                <a:cs typeface="Geist Mono"/>
              </a:rPr>
              <a:t>2c37172</a:t>
            </a:r>
          </a:p>
        </p:txBody>
      </p:sp>
      <p:sp>
        <p:nvSpPr>
          <p:cNvPr id="15" name="Rounded Rectangle 14"/>
          <p:cNvSpPr/>
          <p:nvPr/>
        </p:nvSpPr>
        <p:spPr>
          <a:xfrm>
            <a:off x="9525000" y="2857500"/>
            <a:ext cx="78486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06000" y="3143250"/>
            <a:ext cx="7086600" cy="381000"/>
          </a:xfrm>
          <a:prstGeom prst="rect">
            <a:avLst/>
          </a:prstGeom>
          <a:noFill/>
        </p:spPr>
        <p:txBody>
          <a:bodyPr wrap="square" lIns="0" rIns="0" tIns="0" bIns="0" anchor="t">
            <a:spAutoFit/>
          </a:bodyPr>
          <a:lstStyle/>
          <a:p>
            <a:pPr algn="l"/>
            <a:r>
              <a:rPr sz="1500" b="1" i="0" spc="130">
                <a:solidFill>
                  <a:srgbClr val="198754"/>
                </a:solidFill>
                <a:latin typeface="Geist"/>
                <a:ea typeface="Geist"/>
                <a:cs typeface="Geist"/>
              </a:rPr>
              <a:t>GOOD MESSAGES</a:t>
            </a:r>
          </a:p>
        </p:txBody>
      </p:sp>
      <p:sp>
        <p:nvSpPr>
          <p:cNvPr id="17" name="TextBox 16"/>
          <p:cNvSpPr txBox="1"/>
          <p:nvPr/>
        </p:nvSpPr>
        <p:spPr>
          <a:xfrm>
            <a:off x="9906000" y="361950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Say what changed</a:t>
            </a:r>
          </a:p>
        </p:txBody>
      </p:sp>
      <p:sp>
        <p:nvSpPr>
          <p:cNvPr id="18" name="TextBox 17"/>
          <p:cNvSpPr txBox="1"/>
          <p:nvPr/>
        </p:nvSpPr>
        <p:spPr>
          <a:xfrm>
            <a:off x="9906000" y="411861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One small step each</a:t>
            </a:r>
          </a:p>
        </p:txBody>
      </p:sp>
      <p:sp>
        <p:nvSpPr>
          <p:cNvPr id="19" name="TextBox 18"/>
          <p:cNvSpPr txBox="1"/>
          <p:nvPr/>
        </p:nvSpPr>
        <p:spPr>
          <a:xfrm>
            <a:off x="9906000" y="4617720"/>
            <a:ext cx="70866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Fit in 52 characters, or the commit is too big</a:t>
            </a:r>
          </a:p>
        </p:txBody>
      </p:sp>
      <p:sp>
        <p:nvSpPr>
          <p:cNvPr id="20" name="Rounded Rectangle 19"/>
          <p:cNvSpPr/>
          <p:nvPr/>
        </p:nvSpPr>
        <p:spPr>
          <a:xfrm>
            <a:off x="9525000" y="6000750"/>
            <a:ext cx="7848600" cy="2762250"/>
          </a:xfrm>
          <a:prstGeom prst="roundRect">
            <a:avLst>
              <a:gd name="adj" fmla="val 551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06000" y="6286500"/>
            <a:ext cx="7086600" cy="381000"/>
          </a:xfrm>
          <a:prstGeom prst="rect">
            <a:avLst/>
          </a:prstGeom>
          <a:noFill/>
        </p:spPr>
        <p:txBody>
          <a:bodyPr wrap="square" lIns="0" rIns="0" tIns="0" bIns="0" anchor="t">
            <a:spAutoFit/>
          </a:bodyPr>
          <a:lstStyle/>
          <a:p>
            <a:pPr algn="l"/>
            <a:r>
              <a:rPr sz="1500" b="1" i="0" spc="130">
                <a:solidFill>
                  <a:srgbClr val="E05540"/>
                </a:solidFill>
                <a:latin typeface="Geist"/>
                <a:ea typeface="Geist"/>
                <a:cs typeface="Geist"/>
              </a:rPr>
              <a:t>NOT HELPFUL</a:t>
            </a:r>
          </a:p>
        </p:txBody>
      </p:sp>
      <p:sp>
        <p:nvSpPr>
          <p:cNvPr id="22" name="TextBox 21"/>
          <p:cNvSpPr txBox="1"/>
          <p:nvPr/>
        </p:nvSpPr>
        <p:spPr>
          <a:xfrm>
            <a:off x="9906000" y="6762750"/>
            <a:ext cx="7086600" cy="1905000"/>
          </a:xfrm>
          <a:prstGeom prst="rect">
            <a:avLst/>
          </a:prstGeom>
          <a:noFill/>
        </p:spPr>
        <p:txBody>
          <a:bodyPr wrap="square" lIns="0" rIns="0" tIns="0" bIns="0" anchor="t">
            <a:spAutoFit/>
          </a:bodyPr>
          <a:lstStyle/>
          <a:p>
            <a:pPr algn="l">
              <a:lnSpc>
                <a:spcPct val="140000"/>
              </a:lnSpc>
            </a:pPr>
            <a:r>
              <a:rPr sz="2100" b="0" i="0">
                <a:solidFill>
                  <a:srgbClr val="9A7878"/>
                </a:solidFill>
                <a:latin typeface="Geist Mono"/>
                <a:ea typeface="Geist Mono"/>
                <a:cs typeface="Geist Mono"/>
              </a:rPr>
              <a:t>"stuff"</a:t>
            </a:r>
          </a:p>
          <a:p>
            <a:pPr algn="l">
              <a:lnSpc>
                <a:spcPct val="140000"/>
              </a:lnSpc>
            </a:pPr>
            <a:r>
              <a:rPr sz="2100" b="0" i="0">
                <a:solidFill>
                  <a:srgbClr val="9A7878"/>
                </a:solidFill>
                <a:latin typeface="Geist Mono"/>
                <a:ea typeface="Geist Mono"/>
                <a:cs typeface="Geist Mono"/>
              </a:rPr>
              <a:t>"fixed it"</a:t>
            </a:r>
          </a:p>
          <a:p>
            <a:pPr algn="l">
              <a:lnSpc>
                <a:spcPct val="140000"/>
              </a:lnSpc>
            </a:pPr>
            <a:r>
              <a:rPr sz="2100" b="0" i="0">
                <a:solidFill>
                  <a:srgbClr val="9A7878"/>
                </a:solidFill>
                <a:latin typeface="Geist Mono"/>
                <a:ea typeface="Geist Mono"/>
                <a:cs typeface="Geist Mono"/>
              </a:rPr>
              <a:t>"asdf"</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Four places your code lives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Working</a:t>
            </a:r>
          </a:p>
        </p:txBody>
      </p:sp>
      <p:sp>
        <p:nvSpPr>
          <p:cNvPr id="7" name="TextBox 6"/>
          <p:cNvSpPr txBox="1"/>
          <p:nvPr/>
        </p:nvSpPr>
        <p:spPr>
          <a:xfrm>
            <a:off x="10668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Files you edit and save</a:t>
            </a:r>
          </a:p>
        </p:txBody>
      </p:sp>
      <p:cxnSp>
        <p:nvCxnSpPr>
          <p:cNvPr id="8" name="Connector 7"/>
          <p:cNvCxnSpPr/>
          <p:nvPr/>
        </p:nvCxnSpPr>
        <p:spPr>
          <a:xfrm>
            <a:off x="45339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Staged</a:t>
            </a:r>
          </a:p>
        </p:txBody>
      </p:sp>
      <p:sp>
        <p:nvSpPr>
          <p:cNvPr id="11" name="TextBox 10"/>
          <p:cNvSpPr txBox="1"/>
          <p:nvPr/>
        </p:nvSpPr>
        <p:spPr>
          <a:xfrm>
            <a:off x="53721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Picked for the next commit</a:t>
            </a:r>
          </a:p>
        </p:txBody>
      </p:sp>
      <p:cxnSp>
        <p:nvCxnSpPr>
          <p:cNvPr id="12" name="Connector 11"/>
          <p:cNvCxnSpPr/>
          <p:nvPr/>
        </p:nvCxnSpPr>
        <p:spPr>
          <a:xfrm>
            <a:off x="88392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Local repo</a:t>
            </a:r>
          </a:p>
        </p:txBody>
      </p:sp>
      <p:sp>
        <p:nvSpPr>
          <p:cNvPr id="15" name="TextBox 14"/>
          <p:cNvSpPr txBox="1"/>
          <p:nvPr/>
        </p:nvSpPr>
        <p:spPr>
          <a:xfrm>
            <a:off x="96774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Commits on your computer</a:t>
            </a:r>
          </a:p>
        </p:txBody>
      </p:sp>
      <p:cxnSp>
        <p:nvCxnSpPr>
          <p:cNvPr id="16" name="Connector 15"/>
          <p:cNvCxnSpPr/>
          <p:nvPr/>
        </p:nvCxnSpPr>
        <p:spPr>
          <a:xfrm>
            <a:off x="13144500" y="419100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71475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Remote</a:t>
            </a:r>
          </a:p>
        </p:txBody>
      </p:sp>
      <p:sp>
        <p:nvSpPr>
          <p:cNvPr id="19" name="TextBox 18"/>
          <p:cNvSpPr txBox="1"/>
          <p:nvPr/>
        </p:nvSpPr>
        <p:spPr>
          <a:xfrm>
            <a:off x="13982700" y="430530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team's copy on GitHub</a:t>
            </a:r>
          </a:p>
        </p:txBody>
      </p:sp>
      <p:sp>
        <p:nvSpPr>
          <p:cNvPr id="20" name="TextBox 19"/>
          <p:cNvSpPr txBox="1"/>
          <p:nvPr/>
        </p:nvSpPr>
        <p:spPr>
          <a:xfrm>
            <a:off x="40767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add</a:t>
            </a:r>
          </a:p>
        </p:txBody>
      </p:sp>
      <p:sp>
        <p:nvSpPr>
          <p:cNvPr id="21" name="TextBox 20"/>
          <p:cNvSpPr txBox="1"/>
          <p:nvPr/>
        </p:nvSpPr>
        <p:spPr>
          <a:xfrm>
            <a:off x="83820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commit</a:t>
            </a:r>
          </a:p>
        </p:txBody>
      </p:sp>
      <p:sp>
        <p:nvSpPr>
          <p:cNvPr id="22" name="TextBox 21"/>
          <p:cNvSpPr txBox="1"/>
          <p:nvPr/>
        </p:nvSpPr>
        <p:spPr>
          <a:xfrm>
            <a:off x="12687300" y="2667000"/>
            <a:ext cx="1524000" cy="381000"/>
          </a:xfrm>
          <a:prstGeom prst="rect">
            <a:avLst/>
          </a:prstGeom>
          <a:noFill/>
        </p:spPr>
        <p:txBody>
          <a:bodyPr wrap="square" lIns="0" rIns="0" tIns="0" bIns="0" anchor="t">
            <a:spAutoFit/>
          </a:bodyPr>
          <a:lstStyle/>
          <a:p>
            <a:pPr algn="ctr"/>
            <a:r>
              <a:rPr sz="1500" b="0" i="0">
                <a:solidFill>
                  <a:srgbClr val="E0785F"/>
                </a:solidFill>
                <a:latin typeface="Geist Mono"/>
                <a:ea typeface="Geist Mono"/>
                <a:cs typeface="Geist Mono"/>
              </a:rPr>
              <a:t>git push</a:t>
            </a:r>
          </a:p>
        </p:txBody>
      </p:sp>
      <p:sp>
        <p:nvSpPr>
          <p:cNvPr id="23" name="TextBox 22"/>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EVERYDAY ROUTINE</a:t>
            </a:r>
          </a:p>
        </p:txBody>
      </p:sp>
      <p:sp>
        <p:nvSpPr>
          <p:cNvPr id="24" name="Rounded Rectangle 23"/>
          <p:cNvSpPr/>
          <p:nvPr/>
        </p:nvSpPr>
        <p:spPr>
          <a:xfrm>
            <a:off x="9144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44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1  Edit</a:t>
            </a:r>
          </a:p>
        </p:txBody>
      </p:sp>
      <p:sp>
        <p:nvSpPr>
          <p:cNvPr id="26" name="Rounded Rectangle 25"/>
          <p:cNvSpPr/>
          <p:nvPr/>
        </p:nvSpPr>
        <p:spPr>
          <a:xfrm>
            <a:off x="42672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2672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2  Save</a:t>
            </a:r>
          </a:p>
        </p:txBody>
      </p:sp>
      <p:sp>
        <p:nvSpPr>
          <p:cNvPr id="28" name="Rounded Rectangle 27"/>
          <p:cNvSpPr/>
          <p:nvPr/>
        </p:nvSpPr>
        <p:spPr>
          <a:xfrm>
            <a:off x="76200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200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3  Stage +</a:t>
            </a:r>
          </a:p>
        </p:txBody>
      </p:sp>
      <p:sp>
        <p:nvSpPr>
          <p:cNvPr id="30" name="Rounded Rectangle 29"/>
          <p:cNvSpPr/>
          <p:nvPr/>
        </p:nvSpPr>
        <p:spPr>
          <a:xfrm>
            <a:off x="109728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9728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4  Message</a:t>
            </a:r>
          </a:p>
        </p:txBody>
      </p:sp>
      <p:sp>
        <p:nvSpPr>
          <p:cNvPr id="32" name="Rounded Rectangle 31"/>
          <p:cNvSpPr/>
          <p:nvPr/>
        </p:nvSpPr>
        <p:spPr>
          <a:xfrm>
            <a:off x="14325600" y="6191250"/>
            <a:ext cx="3048000" cy="9144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4325600" y="6191250"/>
            <a:ext cx="3048000" cy="914400"/>
          </a:xfrm>
          <a:prstGeom prst="rect">
            <a:avLst/>
          </a:prstGeom>
          <a:noFill/>
        </p:spPr>
        <p:txBody>
          <a:bodyPr wrap="square" lIns="0" rIns="0" tIns="0" bIns="0" anchor="ctr">
            <a:spAutoFit/>
          </a:bodyPr>
          <a:lstStyle/>
          <a:p>
            <a:pPr algn="ctr"/>
            <a:r>
              <a:rPr sz="2250" b="1" i="0">
                <a:solidFill>
                  <a:srgbClr val="F0E8E8"/>
                </a:solidFill>
                <a:latin typeface="Geist"/>
                <a:ea typeface="Geist"/>
                <a:cs typeface="Geist"/>
              </a:rPr>
              <a:t>5  Commit</a:t>
            </a:r>
          </a:p>
        </p:txBody>
      </p:sp>
      <p:sp>
        <p:nvSpPr>
          <p:cNvPr id="34" name="TextBox 33"/>
          <p:cNvSpPr txBox="1"/>
          <p:nvPr/>
        </p:nvSpPr>
        <p:spPr>
          <a:xfrm>
            <a:off x="914400" y="752475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the editor, every step is a button in Source Control (the branch icon on the left).</a:t>
            </a:r>
          </a:p>
        </p:txBody>
      </p:sp>
      <p:pic>
        <p:nvPicPr>
          <p:cNvPr id="35" name="Picture 3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Branches: parallel lines of work</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5905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Your own line of work</a:t>
            </a:r>
          </a:p>
        </p:txBody>
      </p:sp>
      <p:sp>
        <p:nvSpPr>
          <p:cNvPr id="6" name="TextBox 5"/>
          <p:cNvSpPr txBox="1"/>
          <p:nvPr/>
        </p:nvSpPr>
        <p:spPr>
          <a:xfrm>
            <a:off x="914400" y="3514725"/>
            <a:ext cx="5905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Always branch for a new feature</a:t>
            </a:r>
          </a:p>
        </p:txBody>
      </p:sp>
      <p:sp>
        <p:nvSpPr>
          <p:cNvPr id="7" name="TextBox 6"/>
          <p:cNvSpPr txBox="1"/>
          <p:nvPr/>
        </p:nvSpPr>
        <p:spPr>
          <a:xfrm>
            <a:off x="914400" y="4171950"/>
            <a:ext cx="5905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Lets people work in parallel</a:t>
            </a:r>
          </a:p>
        </p:txBody>
      </p:sp>
      <p:sp>
        <p:nvSpPr>
          <p:cNvPr id="8" name="TextBox 7"/>
          <p:cNvSpPr txBox="1"/>
          <p:nvPr/>
        </p:nvSpPr>
        <p:spPr>
          <a:xfrm>
            <a:off x="7620000" y="3371850"/>
            <a:ext cx="2476500" cy="4953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main</a:t>
            </a:r>
          </a:p>
        </p:txBody>
      </p:sp>
      <p:sp>
        <p:nvSpPr>
          <p:cNvPr id="9" name="TextBox 8"/>
          <p:cNvSpPr txBox="1"/>
          <p:nvPr/>
        </p:nvSpPr>
        <p:spPr>
          <a:xfrm>
            <a:off x="7620000" y="5086350"/>
            <a:ext cx="2476500" cy="495300"/>
          </a:xfrm>
          <a:prstGeom prst="rect">
            <a:avLst/>
          </a:prstGeom>
          <a:noFill/>
        </p:spPr>
        <p:txBody>
          <a:bodyPr wrap="square" lIns="0" rIns="0" tIns="0" bIns="0" anchor="ctr">
            <a:spAutoFit/>
          </a:bodyPr>
          <a:lstStyle/>
          <a:p>
            <a:pPr algn="l"/>
            <a:r>
              <a:rPr sz="1950" b="0" i="0">
                <a:solidFill>
                  <a:srgbClr val="E05540"/>
                </a:solidFill>
                <a:latin typeface="Geist Mono"/>
                <a:ea typeface="Geist Mono"/>
                <a:cs typeface="Geist Mono"/>
              </a:rPr>
              <a:t>bugfix</a:t>
            </a:r>
          </a:p>
        </p:txBody>
      </p:sp>
      <p:sp>
        <p:nvSpPr>
          <p:cNvPr id="10" name="TextBox 9"/>
          <p:cNvSpPr txBox="1"/>
          <p:nvPr/>
        </p:nvSpPr>
        <p:spPr>
          <a:xfrm>
            <a:off x="7620000" y="6800850"/>
            <a:ext cx="2476500" cy="495300"/>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new-feature</a:t>
            </a:r>
          </a:p>
        </p:txBody>
      </p:sp>
      <p:cxnSp>
        <p:nvCxnSpPr>
          <p:cNvPr id="11" name="Connector 10"/>
          <p:cNvCxnSpPr/>
          <p:nvPr/>
        </p:nvCxnSpPr>
        <p:spPr>
          <a:xfrm>
            <a:off x="10287000" y="3619500"/>
            <a:ext cx="7086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573000" y="5334000"/>
            <a:ext cx="1714500" cy="0"/>
          </a:xfrm>
          <a:prstGeom prst="line">
            <a:avLst/>
          </a:prstGeom>
          <a:ln w="38100">
            <a:solidFill>
              <a:srgbClr val="E0554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0" y="7048500"/>
            <a:ext cx="2476500" cy="0"/>
          </a:xfrm>
          <a:prstGeom prst="line">
            <a:avLst/>
          </a:prstGeom>
          <a:ln w="38100">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1430000" y="3733800"/>
            <a:ext cx="1143000" cy="14859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811000" y="3733800"/>
            <a:ext cx="1905000" cy="32004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0515600" y="3467100"/>
            <a:ext cx="304800" cy="3048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77600" y="3467100"/>
            <a:ext cx="304800" cy="3048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658600" y="3467100"/>
            <a:ext cx="304800" cy="3048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563600" y="5181600"/>
            <a:ext cx="304800" cy="3048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3182600" y="5181600"/>
            <a:ext cx="304800" cy="304800"/>
          </a:xfrm>
          <a:prstGeom prst="ellips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706600" y="68961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230100" y="68961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087600" y="6896100"/>
            <a:ext cx="304800" cy="3048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our team uses branches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219450"/>
            <a:ext cx="4000500" cy="419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main</a:t>
            </a:r>
          </a:p>
        </p:txBody>
      </p:sp>
      <p:sp>
        <p:nvSpPr>
          <p:cNvPr id="6" name="TextBox 5"/>
          <p:cNvSpPr txBox="1"/>
          <p:nvPr/>
        </p:nvSpPr>
        <p:spPr>
          <a:xfrm>
            <a:off x="914400" y="4933950"/>
            <a:ext cx="4000500" cy="419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develop</a:t>
            </a:r>
          </a:p>
        </p:txBody>
      </p:sp>
      <p:sp>
        <p:nvSpPr>
          <p:cNvPr id="7" name="TextBox 6"/>
          <p:cNvSpPr txBox="1"/>
          <p:nvPr/>
        </p:nvSpPr>
        <p:spPr>
          <a:xfrm>
            <a:off x="914400" y="6648450"/>
            <a:ext cx="4000500" cy="419100"/>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issue-12-add-turbo-boost</a:t>
            </a:r>
          </a:p>
        </p:txBody>
      </p:sp>
      <p:cxnSp>
        <p:nvCxnSpPr>
          <p:cNvPr id="8" name="Connector 7"/>
          <p:cNvCxnSpPr/>
          <p:nvPr/>
        </p:nvCxnSpPr>
        <p:spPr>
          <a:xfrm>
            <a:off x="5334000" y="3429000"/>
            <a:ext cx="12039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334000" y="5143500"/>
            <a:ext cx="12039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191500" y="6858000"/>
            <a:ext cx="4572000" cy="0"/>
          </a:xfrm>
          <a:prstGeom prst="line">
            <a:avLst/>
          </a:prstGeom>
          <a:ln w="38100">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39000" y="5257800"/>
            <a:ext cx="952500" cy="14859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2763500" y="5257800"/>
            <a:ext cx="1143000" cy="14859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5240000" y="3543300"/>
            <a:ext cx="952500" cy="14859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5543550" y="3257550"/>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211550" y="3257550"/>
            <a:ext cx="342900" cy="3429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43550" y="4972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67550" y="4972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735050" y="4972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068550" y="49720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01050" y="6686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306050" y="6686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2211050" y="6686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144500" y="5715000"/>
            <a:ext cx="28575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merge</a:t>
            </a:r>
          </a:p>
        </p:txBody>
      </p:sp>
      <p:sp>
        <p:nvSpPr>
          <p:cNvPr id="24" name="TextBox 23"/>
          <p:cNvSpPr txBox="1"/>
          <p:nvPr/>
        </p:nvSpPr>
        <p:spPr>
          <a:xfrm>
            <a:off x="15811500" y="4095750"/>
            <a:ext cx="28575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release</a:t>
            </a:r>
          </a:p>
        </p:txBody>
      </p:sp>
      <p:sp>
        <p:nvSpPr>
          <p:cNvPr id="25" name="TextBox 24"/>
          <p:cNvSpPr txBox="1"/>
          <p:nvPr/>
        </p:nvSpPr>
        <p:spPr>
          <a:xfrm>
            <a:off x="914400" y="762000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1" i="0">
                <a:solidFill>
                  <a:srgbClr val="F0E8E8"/>
                </a:solidFill>
                <a:latin typeface="Geist"/>
                <a:ea typeface="Geist"/>
                <a:cs typeface="Geist"/>
              </a:rPr>
              <a:t>main</a:t>
            </a:r>
            <a:r>
              <a:rPr sz="1950" b="0" i="0">
                <a:solidFill>
                  <a:srgbClr val="F0E8E8"/>
                </a:solidFill>
                <a:latin typeface="Geist"/>
                <a:ea typeface="Geist"/>
                <a:cs typeface="Geist"/>
              </a:rPr>
              <a:t>: production-ready.  </a:t>
            </a:r>
            <a:r>
              <a:rPr sz="1950" b="1" i="0">
                <a:solidFill>
                  <a:srgbClr val="F0E8E8"/>
                </a:solidFill>
                <a:latin typeface="Geist"/>
                <a:ea typeface="Geist"/>
                <a:cs typeface="Geist"/>
              </a:rPr>
              <a:t>develop</a:t>
            </a:r>
            <a:r>
              <a:rPr sz="1950" b="0" i="0">
                <a:solidFill>
                  <a:srgbClr val="F0E8E8"/>
                </a:solidFill>
                <a:latin typeface="Geist"/>
                <a:ea typeface="Geist"/>
                <a:cs typeface="Geist"/>
              </a:rPr>
              <a:t>: finished features</a:t>
            </a:r>
          </a:p>
        </p:txBody>
      </p:sp>
      <p:sp>
        <p:nvSpPr>
          <p:cNvPr id="26" name="TextBox 25"/>
          <p:cNvSpPr txBox="1"/>
          <p:nvPr/>
        </p:nvSpPr>
        <p:spPr>
          <a:xfrm>
            <a:off x="914400" y="8075295"/>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Name branches </a:t>
            </a:r>
            <a:r>
              <a:rPr sz="1950" b="0" i="0">
                <a:solidFill>
                  <a:srgbClr val="E0785F"/>
                </a:solidFill>
                <a:latin typeface="Geist Mono"/>
                <a:ea typeface="Geist Mono"/>
                <a:cs typeface="Geist Mono"/>
              </a:rPr>
              <a:t>issue-&lt;number&gt;-&lt;description&gt;</a:t>
            </a:r>
          </a:p>
        </p:txBody>
      </p:sp>
      <p:sp>
        <p:nvSpPr>
          <p:cNvPr id="27" name="TextBox 26"/>
          <p:cNvSpPr txBox="1"/>
          <p:nvPr/>
        </p:nvSpPr>
        <p:spPr>
          <a:xfrm>
            <a:off x="914400" y="8530590"/>
            <a:ext cx="16459200" cy="321945"/>
          </a:xfrm>
          <a:prstGeom prst="rect">
            <a:avLst/>
          </a:prstGeom>
          <a:noFill/>
        </p:spPr>
        <p:txBody>
          <a:bodyPr wrap="square" lIns="0" rIns="0" tIns="0" bIns="0" anchor="t">
            <a:spAutoFit/>
          </a:bodyPr>
          <a:lstStyle/>
          <a:p>
            <a:pPr algn="l">
              <a:lnSpc>
                <a:spcPct val="125000"/>
              </a:lnSpc>
            </a:pPr>
            <a:r>
              <a:rPr sz="1950" b="1" i="0">
                <a:solidFill>
                  <a:srgbClr val="CC2200"/>
                </a:solidFill>
                <a:latin typeface="Geist"/>
                <a:ea typeface="Geist"/>
                <a:cs typeface="Geist"/>
              </a:rPr>
              <a:t>•  </a:t>
            </a:r>
            <a:r>
              <a:rPr sz="1950" b="0" i="0">
                <a:solidFill>
                  <a:srgbClr val="F0E8E8"/>
                </a:solidFill>
                <a:latin typeface="Geist"/>
                <a:ea typeface="Geist"/>
                <a:cs typeface="Geist"/>
              </a:rPr>
              <a:t>Nobody pushes straight to main or develop</a:t>
            </a:r>
          </a:p>
        </p:txBody>
      </p:sp>
      <p:pic>
        <p:nvPicPr>
          <p:cNvPr id="28" name="Picture 27"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Merging: bringing work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Combines two branches into one</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Stand on the branch that receives the work</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 the team, merges go through a pull request</a:t>
            </a:r>
          </a:p>
        </p:txBody>
      </p:sp>
      <p:sp>
        <p:nvSpPr>
          <p:cNvPr id="8" name="TextBox 7"/>
          <p:cNvSpPr txBox="1"/>
          <p:nvPr/>
        </p:nvSpPr>
        <p:spPr>
          <a:xfrm>
            <a:off x="9144000" y="3600450"/>
            <a:ext cx="1905000" cy="419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develop</a:t>
            </a:r>
          </a:p>
        </p:txBody>
      </p:sp>
      <p:sp>
        <p:nvSpPr>
          <p:cNvPr id="9" name="TextBox 8"/>
          <p:cNvSpPr txBox="1"/>
          <p:nvPr/>
        </p:nvSpPr>
        <p:spPr>
          <a:xfrm>
            <a:off x="9144000" y="5505450"/>
            <a:ext cx="1905000" cy="419100"/>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shooter</a:t>
            </a:r>
          </a:p>
        </p:txBody>
      </p:sp>
      <p:cxnSp>
        <p:nvCxnSpPr>
          <p:cNvPr id="10" name="Connector 9"/>
          <p:cNvCxnSpPr/>
          <p:nvPr/>
        </p:nvCxnSpPr>
        <p:spPr>
          <a:xfrm>
            <a:off x="11049000" y="3810000"/>
            <a:ext cx="6324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573000" y="5715000"/>
            <a:ext cx="2286000" cy="0"/>
          </a:xfrm>
          <a:prstGeom prst="line">
            <a:avLst/>
          </a:prstGeom>
          <a:ln w="38100">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811000" y="3924300"/>
            <a:ext cx="762000" cy="16764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4859000" y="3924300"/>
            <a:ext cx="952500" cy="167640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1258550" y="3638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639550" y="3638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830550" y="3638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782550" y="5543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3735050" y="5543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4497050" y="5543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00" y="4286250"/>
            <a:ext cx="20955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merge commit</a:t>
            </a:r>
          </a:p>
        </p:txBody>
      </p:sp>
      <p:pic>
        <p:nvPicPr>
          <p:cNvPr id="21" name="Picture 2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Merge conflicts: when git has to ask</a:t>
            </a:r>
          </a:p>
        </p:txBody>
      </p:sp>
      <p:sp>
        <p:nvSpPr>
          <p:cNvPr id="4" name="TextBox 3"/>
          <p:cNvSpPr txBox="1"/>
          <p:nvPr/>
        </p:nvSpPr>
        <p:spPr>
          <a:xfrm>
            <a:off x="914400" y="2724150"/>
            <a:ext cx="9906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5" name="Rounded Rectangle 4"/>
          <p:cNvSpPr/>
          <p:nvPr/>
        </p:nvSpPr>
        <p:spPr>
          <a:xfrm>
            <a:off x="914400" y="3143250"/>
            <a:ext cx="9906000" cy="2867025"/>
          </a:xfrm>
          <a:prstGeom prst="roundRect">
            <a:avLst>
              <a:gd name="adj" fmla="val 531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52425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&lt;&lt;&lt;&lt;&lt;&lt;&lt; HEAD</a:t>
            </a:r>
          </a:p>
        </p:txBody>
      </p:sp>
      <p:sp>
        <p:nvSpPr>
          <p:cNvPr id="7" name="TextBox 6"/>
          <p:cNvSpPr txBox="1"/>
          <p:nvPr/>
        </p:nvSpPr>
        <p:spPr>
          <a:xfrm>
            <a:off x="1295400" y="394525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4.0</a:t>
            </a:r>
            <a:r>
              <a:rPr sz="1950" b="0" i="0">
                <a:solidFill>
                  <a:srgbClr val="F0E8E8"/>
                </a:solidFill>
                <a:latin typeface="Geist Mono"/>
                <a:ea typeface="Geist Mono"/>
                <a:cs typeface="Geist Mono"/>
              </a:rPr>
              <a:t>;</a:t>
            </a:r>
          </a:p>
        </p:txBody>
      </p:sp>
      <p:sp>
        <p:nvSpPr>
          <p:cNvPr id="8" name="TextBox 7"/>
          <p:cNvSpPr txBox="1"/>
          <p:nvPr/>
        </p:nvSpPr>
        <p:spPr>
          <a:xfrm>
            <a:off x="1295400" y="436626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a:t>
            </a:r>
          </a:p>
        </p:txBody>
      </p:sp>
      <p:sp>
        <p:nvSpPr>
          <p:cNvPr id="9" name="TextBox 8"/>
          <p:cNvSpPr txBox="1"/>
          <p:nvPr/>
        </p:nvSpPr>
        <p:spPr>
          <a:xfrm>
            <a:off x="1295400" y="4787265"/>
            <a:ext cx="9144000" cy="42100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 static final double </a:t>
            </a:r>
            <a:r>
              <a:rPr sz="1950" b="0" i="0">
                <a:solidFill>
                  <a:srgbClr val="F0E8E8"/>
                </a:solidFill>
                <a:latin typeface="Geist Mono"/>
                <a:ea typeface="Geist Mono"/>
                <a:cs typeface="Geist Mono"/>
              </a:rPr>
              <a:t>MAX_SPEED = </a:t>
            </a:r>
            <a:r>
              <a:rPr sz="1950" b="0" i="0">
                <a:solidFill>
                  <a:srgbClr val="E8C27A"/>
                </a:solidFill>
                <a:latin typeface="Geist Mono"/>
                <a:ea typeface="Geist Mono"/>
                <a:cs typeface="Geist Mono"/>
              </a:rPr>
              <a:t>5.0</a:t>
            </a:r>
            <a:r>
              <a:rPr sz="1950" b="0" i="0">
                <a:solidFill>
                  <a:srgbClr val="F0E8E8"/>
                </a:solidFill>
                <a:latin typeface="Geist Mono"/>
                <a:ea typeface="Geist Mono"/>
                <a:cs typeface="Geist Mono"/>
              </a:rPr>
              <a:t>;</a:t>
            </a:r>
          </a:p>
        </p:txBody>
      </p:sp>
      <p:sp>
        <p:nvSpPr>
          <p:cNvPr id="10" name="TextBox 9"/>
          <p:cNvSpPr txBox="1"/>
          <p:nvPr/>
        </p:nvSpPr>
        <p:spPr>
          <a:xfrm>
            <a:off x="1295400" y="5208270"/>
            <a:ext cx="9144000" cy="421005"/>
          </a:xfrm>
          <a:prstGeom prst="rect">
            <a:avLst/>
          </a:prstGeom>
          <a:noFill/>
        </p:spPr>
        <p:txBody>
          <a:bodyPr wrap="square" lIns="0" rIns="0" tIns="0" bIns="0" anchor="ctr">
            <a:spAutoFit/>
          </a:bodyPr>
          <a:lstStyle/>
          <a:p>
            <a:pPr algn="l"/>
            <a:r>
              <a:rPr sz="1950" b="0" i="0">
                <a:solidFill>
                  <a:srgbClr val="CC2200"/>
                </a:solidFill>
                <a:latin typeface="Geist Mono"/>
                <a:ea typeface="Geist Mono"/>
                <a:cs typeface="Geist Mono"/>
              </a:rPr>
              <a:t>&gt;&gt;&gt;&gt;&gt;&gt;&gt; issue-9-max-speed</a:t>
            </a:r>
          </a:p>
        </p:txBody>
      </p:sp>
      <p:sp>
        <p:nvSpPr>
          <p:cNvPr id="11" name="Oval 10"/>
          <p:cNvSpPr/>
          <p:nvPr/>
        </p:nvSpPr>
        <p:spPr>
          <a:xfrm>
            <a:off x="10096500" y="390715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96500" y="390715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3" name="Oval 12"/>
          <p:cNvSpPr/>
          <p:nvPr/>
        </p:nvSpPr>
        <p:spPr>
          <a:xfrm>
            <a:off x="10096500" y="4749165"/>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96500" y="474916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Oval 14"/>
          <p:cNvSpPr/>
          <p:nvPr/>
        </p:nvSpPr>
        <p:spPr>
          <a:xfrm>
            <a:off x="11620500" y="31432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20500" y="31432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TextBox 16"/>
          <p:cNvSpPr txBox="1"/>
          <p:nvPr/>
        </p:nvSpPr>
        <p:spPr>
          <a:xfrm>
            <a:off x="12306300" y="31051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Yours</a:t>
            </a:r>
          </a:p>
        </p:txBody>
      </p:sp>
      <p:sp>
        <p:nvSpPr>
          <p:cNvPr id="18" name="TextBox 17"/>
          <p:cNvSpPr txBox="1"/>
          <p:nvPr/>
        </p:nvSpPr>
        <p:spPr>
          <a:xfrm>
            <a:off x="12306300" y="35623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What's on the branch you're on</a:t>
            </a:r>
          </a:p>
        </p:txBody>
      </p:sp>
      <p:sp>
        <p:nvSpPr>
          <p:cNvPr id="19" name="Oval 18"/>
          <p:cNvSpPr/>
          <p:nvPr/>
        </p:nvSpPr>
        <p:spPr>
          <a:xfrm>
            <a:off x="11620500" y="476250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20500" y="476250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1" name="TextBox 20"/>
          <p:cNvSpPr txBox="1"/>
          <p:nvPr/>
        </p:nvSpPr>
        <p:spPr>
          <a:xfrm>
            <a:off x="12306300" y="472440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Incoming</a:t>
            </a:r>
          </a:p>
        </p:txBody>
      </p:sp>
      <p:sp>
        <p:nvSpPr>
          <p:cNvPr id="22" name="TextBox 21"/>
          <p:cNvSpPr txBox="1"/>
          <p:nvPr/>
        </p:nvSpPr>
        <p:spPr>
          <a:xfrm>
            <a:off x="12306300" y="518160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What the other branch changed</a:t>
            </a:r>
          </a:p>
        </p:txBody>
      </p:sp>
      <p:sp>
        <p:nvSpPr>
          <p:cNvPr id="23" name="Oval 22"/>
          <p:cNvSpPr/>
          <p:nvPr/>
        </p:nvSpPr>
        <p:spPr>
          <a:xfrm>
            <a:off x="11620500" y="6381750"/>
            <a:ext cx="495300" cy="495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20500" y="6381750"/>
            <a:ext cx="495300" cy="4953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5" name="TextBox 24"/>
          <p:cNvSpPr txBox="1"/>
          <p:nvPr/>
        </p:nvSpPr>
        <p:spPr>
          <a:xfrm>
            <a:off x="12306300" y="6343650"/>
            <a:ext cx="5143500" cy="3810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You decide</a:t>
            </a:r>
          </a:p>
        </p:txBody>
      </p:sp>
      <p:sp>
        <p:nvSpPr>
          <p:cNvPr id="26" name="TextBox 25"/>
          <p:cNvSpPr txBox="1"/>
          <p:nvPr/>
        </p:nvSpPr>
        <p:spPr>
          <a:xfrm>
            <a:off x="12306300" y="6800850"/>
            <a:ext cx="5143500" cy="952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Keep one, save, stage with +, commit</a:t>
            </a:r>
          </a:p>
        </p:txBody>
      </p:sp>
      <p:sp>
        <p:nvSpPr>
          <p:cNvPr id="27" name="Rounded Rectangle 2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Why?  </a:t>
            </a:r>
            <a:r>
              <a:rPr sz="2100" b="0" i="0">
                <a:solidFill>
                  <a:srgbClr val="F0E8E8"/>
                </a:solidFill>
                <a:latin typeface="Geist"/>
                <a:ea typeface="Geist"/>
                <a:cs typeface="Geist"/>
              </a:rPr>
              <a:t>Two branches changed the same line, so git can't pick. That's normal, not an error.</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Rebase: replay your work on top</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571750"/>
            <a:ext cx="3810000" cy="38100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BEFORE</a:t>
            </a:r>
          </a:p>
        </p:txBody>
      </p:sp>
      <p:cxnSp>
        <p:nvCxnSpPr>
          <p:cNvPr id="6" name="Connector 5"/>
          <p:cNvCxnSpPr/>
          <p:nvPr/>
        </p:nvCxnSpPr>
        <p:spPr>
          <a:xfrm>
            <a:off x="914400" y="3429000"/>
            <a:ext cx="8610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162050" y="3257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686050" y="3257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10050" y="3257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10050" y="2762250"/>
            <a:ext cx="571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a:t>
            </a:r>
          </a:p>
        </p:txBody>
      </p:sp>
      <p:sp>
        <p:nvSpPr>
          <p:cNvPr id="11" name="TextBox 10"/>
          <p:cNvSpPr txBox="1"/>
          <p:nvPr/>
        </p:nvSpPr>
        <p:spPr>
          <a:xfrm>
            <a:off x="914400" y="5238750"/>
            <a:ext cx="3810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AFTER REBASE</a:t>
            </a:r>
          </a:p>
        </p:txBody>
      </p:sp>
      <p:cxnSp>
        <p:nvCxnSpPr>
          <p:cNvPr id="12" name="Connector 11"/>
          <p:cNvCxnSpPr/>
          <p:nvPr/>
        </p:nvCxnSpPr>
        <p:spPr>
          <a:xfrm>
            <a:off x="914400" y="6096000"/>
            <a:ext cx="8610600" cy="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162050" y="5924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686050" y="5924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210050" y="5924550"/>
            <a:ext cx="342900" cy="3429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10050" y="5429250"/>
            <a:ext cx="571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a:t>
            </a:r>
          </a:p>
        </p:txBody>
      </p:sp>
      <p:cxnSp>
        <p:nvCxnSpPr>
          <p:cNvPr id="17" name="Connector 16"/>
          <p:cNvCxnSpPr/>
          <p:nvPr/>
        </p:nvCxnSpPr>
        <p:spPr>
          <a:xfrm>
            <a:off x="2857500" y="3429000"/>
            <a:ext cx="762000" cy="104775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19500" y="4476750"/>
            <a:ext cx="2286000" cy="0"/>
          </a:xfrm>
          <a:prstGeom prst="line">
            <a:avLst/>
          </a:prstGeom>
          <a:ln w="38100">
            <a:solidFill>
              <a:srgbClr val="CC2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734050" y="430530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4381500" y="6096000"/>
            <a:ext cx="3238500" cy="0"/>
          </a:xfrm>
          <a:prstGeom prst="line">
            <a:avLst/>
          </a:prstGeom>
          <a:ln w="38100">
            <a:solidFill>
              <a:srgbClr val="CC2200"/>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448550" y="5924550"/>
            <a:ext cx="342900" cy="3429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0" y="6381750"/>
            <a:ext cx="190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your commit</a:t>
            </a:r>
          </a:p>
        </p:txBody>
      </p:sp>
      <p:sp>
        <p:nvSpPr>
          <p:cNvPr id="23" name="Rounded Rectangle 22"/>
          <p:cNvSpPr/>
          <p:nvPr/>
        </p:nvSpPr>
        <p:spPr>
          <a:xfrm>
            <a:off x="10668000" y="2857500"/>
            <a:ext cx="6705600" cy="5143500"/>
          </a:xfrm>
          <a:prstGeom prst="roundRect">
            <a:avLst>
              <a:gd name="adj" fmla="val 296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049000" y="3238500"/>
            <a:ext cx="59055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Merge or rebase?</a:t>
            </a:r>
          </a:p>
        </p:txBody>
      </p:sp>
      <p:sp>
        <p:nvSpPr>
          <p:cNvPr id="25" name="TextBox 24"/>
          <p:cNvSpPr txBox="1"/>
          <p:nvPr/>
        </p:nvSpPr>
        <p:spPr>
          <a:xfrm>
            <a:off x="11049000" y="4000500"/>
            <a:ext cx="5905500" cy="69342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Rebase</a:t>
            </a:r>
            <a:r>
              <a:rPr sz="2100" b="0" i="0">
                <a:solidFill>
                  <a:srgbClr val="F0E8E8"/>
                </a:solidFill>
                <a:latin typeface="Geist"/>
                <a:ea typeface="Geist"/>
                <a:cs typeface="Geist"/>
              </a:rPr>
              <a:t>: one straight line, but rewrites commits</a:t>
            </a:r>
          </a:p>
        </p:txBody>
      </p:sp>
      <p:sp>
        <p:nvSpPr>
          <p:cNvPr id="26" name="TextBox 25"/>
          <p:cNvSpPr txBox="1"/>
          <p:nvPr/>
        </p:nvSpPr>
        <p:spPr>
          <a:xfrm>
            <a:off x="11049000" y="492252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1" i="0">
                <a:solidFill>
                  <a:srgbClr val="F0E8E8"/>
                </a:solidFill>
                <a:latin typeface="Geist"/>
                <a:ea typeface="Geist"/>
                <a:cs typeface="Geist"/>
              </a:rPr>
              <a:t>Merge</a:t>
            </a:r>
            <a:r>
              <a:rPr sz="2100" b="0" i="0">
                <a:solidFill>
                  <a:srgbClr val="F0E8E8"/>
                </a:solidFill>
                <a:latin typeface="Geist"/>
                <a:ea typeface="Geist"/>
                <a:cs typeface="Geist"/>
              </a:rPr>
              <a:t>: keeps history as it was, always safe</a:t>
            </a:r>
          </a:p>
        </p:txBody>
      </p:sp>
      <p:sp>
        <p:nvSpPr>
          <p:cNvPr id="27" name="TextBox 26"/>
          <p:cNvSpPr txBox="1"/>
          <p:nvPr/>
        </p:nvSpPr>
        <p:spPr>
          <a:xfrm>
            <a:off x="11049000" y="5497830"/>
            <a:ext cx="59055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Only rebase branches nobody else has</a:t>
            </a:r>
          </a:p>
        </p:txBody>
      </p:sp>
      <p:pic>
        <p:nvPicPr>
          <p:cNvPr id="28" name="Picture 27"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Local and remote: push and pull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533400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isplay.png"/>
          <p:cNvPicPr>
            <a:picLocks noChangeAspect="1"/>
          </p:cNvPicPr>
          <p:nvPr/>
        </p:nvPicPr>
        <p:blipFill>
          <a:blip r:embed="rId3"/>
          <a:stretch>
            <a:fillRect/>
          </a:stretch>
        </p:blipFill>
        <p:spPr>
          <a:xfrm>
            <a:off x="1295400" y="3524250"/>
            <a:ext cx="780288" cy="609600"/>
          </a:xfrm>
          <a:prstGeom prst="rect">
            <a:avLst/>
          </a:prstGeom>
        </p:spPr>
      </p:pic>
      <p:sp>
        <p:nvSpPr>
          <p:cNvPr id="7" name="TextBox 6"/>
          <p:cNvSpPr txBox="1"/>
          <p:nvPr/>
        </p:nvSpPr>
        <p:spPr>
          <a:xfrm>
            <a:off x="12954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Local</a:t>
            </a:r>
          </a:p>
        </p:txBody>
      </p:sp>
      <p:sp>
        <p:nvSpPr>
          <p:cNvPr id="8" name="TextBox 7"/>
          <p:cNvSpPr txBox="1"/>
          <p:nvPr/>
        </p:nvSpPr>
        <p:spPr>
          <a:xfrm>
            <a:off x="12954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copy, on your computer</a:t>
            </a:r>
          </a:p>
        </p:txBody>
      </p:sp>
      <p:sp>
        <p:nvSpPr>
          <p:cNvPr id="9" name="Rounded Rectangle 8"/>
          <p:cNvSpPr/>
          <p:nvPr/>
        </p:nvSpPr>
        <p:spPr>
          <a:xfrm>
            <a:off x="12039600" y="3143250"/>
            <a:ext cx="5334000" cy="2857500"/>
          </a:xfrm>
          <a:prstGeom prst="roundRect">
            <a:avLst>
              <a:gd name="adj" fmla="val 5333"/>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ud-arrow-up.png"/>
          <p:cNvPicPr>
            <a:picLocks noChangeAspect="1"/>
          </p:cNvPicPr>
          <p:nvPr/>
        </p:nvPicPr>
        <p:blipFill>
          <a:blip r:embed="rId4"/>
          <a:stretch>
            <a:fillRect/>
          </a:stretch>
        </p:blipFill>
        <p:spPr>
          <a:xfrm>
            <a:off x="12420600" y="3524250"/>
            <a:ext cx="831273" cy="571500"/>
          </a:xfrm>
          <a:prstGeom prst="rect">
            <a:avLst/>
          </a:prstGeom>
        </p:spPr>
      </p:pic>
      <p:sp>
        <p:nvSpPr>
          <p:cNvPr id="11" name="TextBox 10"/>
          <p:cNvSpPr txBox="1"/>
          <p:nvPr/>
        </p:nvSpPr>
        <p:spPr>
          <a:xfrm>
            <a:off x="12420600" y="4381500"/>
            <a:ext cx="4572000" cy="571500"/>
          </a:xfrm>
          <a:prstGeom prst="rect">
            <a:avLst/>
          </a:prstGeom>
          <a:noFill/>
        </p:spPr>
        <p:txBody>
          <a:bodyPr wrap="square" lIns="0" rIns="0" tIns="0" bIns="0" anchor="t">
            <a:spAutoFit/>
          </a:bodyPr>
          <a:lstStyle/>
          <a:p>
            <a:pPr algn="l"/>
            <a:r>
              <a:rPr sz="3000" b="1" i="0">
                <a:solidFill>
                  <a:srgbClr val="F0E8E8"/>
                </a:solidFill>
                <a:latin typeface="Geist"/>
                <a:ea typeface="Geist"/>
                <a:cs typeface="Geist"/>
              </a:rPr>
              <a:t>Remote (origin)</a:t>
            </a:r>
          </a:p>
        </p:txBody>
      </p:sp>
      <p:sp>
        <p:nvSpPr>
          <p:cNvPr id="12" name="TextBox 11"/>
          <p:cNvSpPr txBox="1"/>
          <p:nvPr/>
        </p:nvSpPr>
        <p:spPr>
          <a:xfrm>
            <a:off x="12420600" y="4953000"/>
            <a:ext cx="4572000" cy="762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The shared copy on GitHub</a:t>
            </a:r>
          </a:p>
        </p:txBody>
      </p:sp>
      <p:cxnSp>
        <p:nvCxnSpPr>
          <p:cNvPr id="13" name="Connector 12"/>
          <p:cNvCxnSpPr/>
          <p:nvPr/>
        </p:nvCxnSpPr>
        <p:spPr>
          <a:xfrm>
            <a:off x="6477000" y="4000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77000" y="3429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push: send your commits</a:t>
            </a:r>
          </a:p>
        </p:txBody>
      </p:sp>
      <p:cxnSp>
        <p:nvCxnSpPr>
          <p:cNvPr id="15" name="Connector 14"/>
          <p:cNvCxnSpPr/>
          <p:nvPr/>
        </p:nvCxnSpPr>
        <p:spPr>
          <a:xfrm flipH="1">
            <a:off x="6477000" y="5143500"/>
            <a:ext cx="5334000" cy="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77000" y="5334000"/>
            <a:ext cx="533400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pull: get teammates' commits</a:t>
            </a:r>
          </a:p>
        </p:txBody>
      </p:sp>
      <p:sp>
        <p:nvSpPr>
          <p:cNvPr id="17" name="Rounded Rectangle 16"/>
          <p:cNvSpPr/>
          <p:nvPr/>
        </p:nvSpPr>
        <p:spPr>
          <a:xfrm>
            <a:off x="914400" y="638175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exclamation-circle.png"/>
          <p:cNvPicPr>
            <a:picLocks noChangeAspect="1"/>
          </p:cNvPicPr>
          <p:nvPr/>
        </p:nvPicPr>
        <p:blipFill>
          <a:blip r:embed="rId5"/>
          <a:stretch>
            <a:fillRect/>
          </a:stretch>
        </p:blipFill>
        <p:spPr>
          <a:xfrm>
            <a:off x="1333500" y="6638925"/>
            <a:ext cx="533400" cy="533400"/>
          </a:xfrm>
          <a:prstGeom prst="rect">
            <a:avLst/>
          </a:prstGeom>
        </p:spPr>
      </p:pic>
      <p:sp>
        <p:nvSpPr>
          <p:cNvPr id="19" name="TextBox 18"/>
          <p:cNvSpPr txBox="1"/>
          <p:nvPr/>
        </p:nvSpPr>
        <p:spPr>
          <a:xfrm>
            <a:off x="2190750" y="638175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Golden rule:  </a:t>
            </a:r>
            <a:r>
              <a:rPr sz="2100" b="0" i="0">
                <a:solidFill>
                  <a:srgbClr val="F0E8E8"/>
                </a:solidFill>
                <a:latin typeface="Geist"/>
                <a:ea typeface="Geist"/>
                <a:cs typeface="Geist"/>
              </a:rPr>
              <a:t>pull when you start a session, push when you finish. Use Push and Pull, not Sync Changes.</a:t>
            </a:r>
          </a:p>
        </p:txBody>
      </p:sp>
      <p:sp>
        <p:nvSpPr>
          <p:cNvPr id="20" name="Rounded Rectangle 19"/>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archive.png"/>
          <p:cNvPicPr>
            <a:picLocks noChangeAspect="1"/>
          </p:cNvPicPr>
          <p:nvPr/>
        </p:nvPicPr>
        <p:blipFill>
          <a:blip r:embed="rId6"/>
          <a:stretch>
            <a:fillRect/>
          </a:stretch>
        </p:blipFill>
        <p:spPr>
          <a:xfrm>
            <a:off x="1333500" y="7877175"/>
            <a:ext cx="609600" cy="533400"/>
          </a:xfrm>
          <a:prstGeom prst="rect">
            <a:avLst/>
          </a:prstGeom>
        </p:spPr>
      </p:pic>
      <p:sp>
        <p:nvSpPr>
          <p:cNvPr id="22" name="TextBox 21"/>
          <p:cNvSpPr txBox="1"/>
          <p:nvPr/>
        </p:nvSpPr>
        <p:spPr>
          <a:xfrm>
            <a:off x="2190750" y="76200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Stash  </a:t>
            </a:r>
            <a:r>
              <a:rPr sz="2100" b="0" i="0">
                <a:solidFill>
                  <a:srgbClr val="F0E8E8"/>
                </a:solidFill>
                <a:latin typeface="Geist"/>
                <a:ea typeface="Geist"/>
                <a:cs typeface="Geist"/>
              </a:rPr>
              <a:t>Shelve unfinished work so you can switch branches. Stash pop brings it back.</a:t>
            </a:r>
          </a:p>
        </p:txBody>
      </p:sp>
      <p:pic>
        <p:nvPicPr>
          <p:cNvPr id="23" name="Picture 22" descr="mw_logo_small.png"/>
          <p:cNvPicPr>
            <a:picLocks noChangeAspect="1"/>
          </p:cNvPicPr>
          <p:nvPr/>
        </p:nvPicPr>
        <p:blipFill>
          <a:blip r:embed="rId7"/>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GitHub: how the team works together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fill.png"/>
          <p:cNvPicPr>
            <a:picLocks noChangeAspect="1"/>
          </p:cNvPicPr>
          <p:nvPr/>
        </p:nvPicPr>
        <p:blipFill>
          <a:blip r:embed="rId3"/>
          <a:stretch>
            <a:fillRect/>
          </a:stretch>
        </p:blipFill>
        <p:spPr>
          <a:xfrm>
            <a:off x="1295400" y="3238500"/>
            <a:ext cx="914400" cy="685800"/>
          </a:xfrm>
          <a:prstGeom prst="rect">
            <a:avLst/>
          </a:prstGeom>
        </p:spPr>
      </p:pic>
      <p:sp>
        <p:nvSpPr>
          <p:cNvPr id="7" name="TextBox 6"/>
          <p:cNvSpPr txBox="1"/>
          <p:nvPr/>
        </p:nvSpPr>
        <p:spPr>
          <a:xfrm>
            <a:off x="1295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Pull requests</a:t>
            </a:r>
          </a:p>
        </p:txBody>
      </p:sp>
      <p:sp>
        <p:nvSpPr>
          <p:cNvPr id="8" name="TextBox 7"/>
          <p:cNvSpPr txBox="1"/>
          <p:nvPr/>
        </p:nvSpPr>
        <p:spPr>
          <a:xfrm>
            <a:off x="1295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Ask to merge a branch. Teammates review the code first.</a:t>
            </a:r>
          </a:p>
        </p:txBody>
      </p:sp>
      <p:sp>
        <p:nvSpPr>
          <p:cNvPr id="9" name="Rounded Rectangle 8"/>
          <p:cNvSpPr/>
          <p:nvPr/>
        </p:nvSpPr>
        <p:spPr>
          <a:xfrm>
            <a:off x="6502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circle.png"/>
          <p:cNvPicPr>
            <a:picLocks noChangeAspect="1"/>
          </p:cNvPicPr>
          <p:nvPr/>
        </p:nvPicPr>
        <p:blipFill>
          <a:blip r:embed="rId4"/>
          <a:stretch>
            <a:fillRect/>
          </a:stretch>
        </p:blipFill>
        <p:spPr>
          <a:xfrm>
            <a:off x="6883400" y="3238500"/>
            <a:ext cx="685800" cy="685800"/>
          </a:xfrm>
          <a:prstGeom prst="rect">
            <a:avLst/>
          </a:prstGeom>
        </p:spPr>
      </p:pic>
      <p:sp>
        <p:nvSpPr>
          <p:cNvPr id="11" name="TextBox 10"/>
          <p:cNvSpPr txBox="1"/>
          <p:nvPr/>
        </p:nvSpPr>
        <p:spPr>
          <a:xfrm>
            <a:off x="6883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Issues</a:t>
            </a:r>
          </a:p>
        </p:txBody>
      </p:sp>
      <p:sp>
        <p:nvSpPr>
          <p:cNvPr id="12" name="TextBox 11"/>
          <p:cNvSpPr txBox="1"/>
          <p:nvPr/>
        </p:nvSpPr>
        <p:spPr>
          <a:xfrm>
            <a:off x="6883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One task or bug each. The number goes in your branch name.</a:t>
            </a:r>
          </a:p>
        </p:txBody>
      </p:sp>
      <p:sp>
        <p:nvSpPr>
          <p:cNvPr id="13" name="Rounded Rectangle 12"/>
          <p:cNvSpPr/>
          <p:nvPr/>
        </p:nvSpPr>
        <p:spPr>
          <a:xfrm>
            <a:off x="12090400" y="2857500"/>
            <a:ext cx="52832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png"/>
          <p:cNvPicPr>
            <a:picLocks noChangeAspect="1"/>
          </p:cNvPicPr>
          <p:nvPr/>
        </p:nvPicPr>
        <p:blipFill>
          <a:blip r:embed="rId5"/>
          <a:stretch>
            <a:fillRect/>
          </a:stretch>
        </p:blipFill>
        <p:spPr>
          <a:xfrm>
            <a:off x="12471400" y="3238500"/>
            <a:ext cx="642938" cy="685800"/>
          </a:xfrm>
          <a:prstGeom prst="rect">
            <a:avLst/>
          </a:prstGeom>
        </p:spPr>
      </p:pic>
      <p:sp>
        <p:nvSpPr>
          <p:cNvPr id="15" name="TextBox 14"/>
          <p:cNvSpPr txBox="1"/>
          <p:nvPr/>
        </p:nvSpPr>
        <p:spPr>
          <a:xfrm>
            <a:off x="12471400" y="4191000"/>
            <a:ext cx="4521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Projects</a:t>
            </a:r>
          </a:p>
        </p:txBody>
      </p:sp>
      <p:sp>
        <p:nvSpPr>
          <p:cNvPr id="16" name="TextBox 15"/>
          <p:cNvSpPr txBox="1"/>
          <p:nvPr/>
        </p:nvSpPr>
        <p:spPr>
          <a:xfrm>
            <a:off x="12471400" y="4802505"/>
            <a:ext cx="4521200" cy="2476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board of issues by status, from Backlog to Done.</a:t>
            </a:r>
          </a:p>
        </p:txBody>
      </p:sp>
      <p:sp>
        <p:nvSpPr>
          <p:cNvPr id="17" name="TextBox 16"/>
          <p:cNvSpPr txBox="1"/>
          <p:nvPr/>
        </p:nvSpPr>
        <p:spPr>
          <a:xfrm>
            <a:off x="914400" y="76200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All our code lives at github.com/FRC-Team-4143</a:t>
            </a:r>
          </a:p>
        </p:txBody>
      </p:sp>
      <p:pic>
        <p:nvPicPr>
          <p:cNvPr id="18" name="Picture 17"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GIT BASICS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team workflow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7" name="TextBox 6"/>
          <p:cNvSpPr txBox="1"/>
          <p:nvPr/>
        </p:nvSpPr>
        <p:spPr>
          <a:xfrm>
            <a:off x="11430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Issue</a:t>
            </a:r>
          </a:p>
        </p:txBody>
      </p:sp>
      <p:sp>
        <p:nvSpPr>
          <p:cNvPr id="8" name="TextBox 7"/>
          <p:cNvSpPr txBox="1"/>
          <p:nvPr/>
        </p:nvSpPr>
        <p:spPr>
          <a:xfrm>
            <a:off x="11430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Find it, assign yourself</a:t>
            </a:r>
          </a:p>
        </p:txBody>
      </p:sp>
      <p:sp>
        <p:nvSpPr>
          <p:cNvPr id="9" name="Rounded Rectangle 8"/>
          <p:cNvSpPr/>
          <p:nvPr/>
        </p:nvSpPr>
        <p:spPr>
          <a:xfrm>
            <a:off x="36957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43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1" name="TextBox 10"/>
          <p:cNvSpPr txBox="1"/>
          <p:nvPr/>
        </p:nvSpPr>
        <p:spPr>
          <a:xfrm>
            <a:off x="39243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Branch</a:t>
            </a:r>
          </a:p>
        </p:txBody>
      </p:sp>
      <p:sp>
        <p:nvSpPr>
          <p:cNvPr id="12" name="TextBox 11"/>
          <p:cNvSpPr txBox="1"/>
          <p:nvPr/>
        </p:nvSpPr>
        <p:spPr>
          <a:xfrm>
            <a:off x="39243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Mono"/>
                <a:ea typeface="Geist Mono"/>
                <a:cs typeface="Geist Mono"/>
              </a:rPr>
              <a:t>issue-12-turbo-boost</a:t>
            </a:r>
          </a:p>
        </p:txBody>
      </p:sp>
      <p:sp>
        <p:nvSpPr>
          <p:cNvPr id="13" name="Rounded Rectangle 12"/>
          <p:cNvSpPr/>
          <p:nvPr/>
        </p:nvSpPr>
        <p:spPr>
          <a:xfrm>
            <a:off x="64770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056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5" name="TextBox 14"/>
          <p:cNvSpPr txBox="1"/>
          <p:nvPr/>
        </p:nvSpPr>
        <p:spPr>
          <a:xfrm>
            <a:off x="67056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Commit</a:t>
            </a:r>
          </a:p>
        </p:txBody>
      </p:sp>
      <p:sp>
        <p:nvSpPr>
          <p:cNvPr id="16" name="TextBox 15"/>
          <p:cNvSpPr txBox="1"/>
          <p:nvPr/>
        </p:nvSpPr>
        <p:spPr>
          <a:xfrm>
            <a:off x="67056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Small steps, update the issue</a:t>
            </a:r>
          </a:p>
        </p:txBody>
      </p:sp>
      <p:sp>
        <p:nvSpPr>
          <p:cNvPr id="17" name="Rounded Rectangle 16"/>
          <p:cNvSpPr/>
          <p:nvPr/>
        </p:nvSpPr>
        <p:spPr>
          <a:xfrm>
            <a:off x="92583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4869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19" name="TextBox 18"/>
          <p:cNvSpPr txBox="1"/>
          <p:nvPr/>
        </p:nvSpPr>
        <p:spPr>
          <a:xfrm>
            <a:off x="9486900" y="3562350"/>
            <a:ext cx="2095500" cy="47625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Pull request</a:t>
            </a:r>
          </a:p>
        </p:txBody>
      </p:sp>
      <p:sp>
        <p:nvSpPr>
          <p:cNvPr id="20" name="TextBox 19"/>
          <p:cNvSpPr txBox="1"/>
          <p:nvPr/>
        </p:nvSpPr>
        <p:spPr>
          <a:xfrm>
            <a:off x="94869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Linked to the issue</a:t>
            </a:r>
          </a:p>
        </p:txBody>
      </p:sp>
      <p:sp>
        <p:nvSpPr>
          <p:cNvPr id="21" name="Rounded Rectangle 20"/>
          <p:cNvSpPr/>
          <p:nvPr/>
        </p:nvSpPr>
        <p:spPr>
          <a:xfrm>
            <a:off x="120396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2682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3" name="TextBox 22"/>
          <p:cNvSpPr txBox="1"/>
          <p:nvPr/>
        </p:nvSpPr>
        <p:spPr>
          <a:xfrm>
            <a:off x="122682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Review</a:t>
            </a:r>
          </a:p>
        </p:txBody>
      </p:sp>
      <p:sp>
        <p:nvSpPr>
          <p:cNvPr id="24" name="TextBox 23"/>
          <p:cNvSpPr txBox="1"/>
          <p:nvPr/>
        </p:nvSpPr>
        <p:spPr>
          <a:xfrm>
            <a:off x="122682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Teammate or mentor</a:t>
            </a:r>
          </a:p>
        </p:txBody>
      </p:sp>
      <p:sp>
        <p:nvSpPr>
          <p:cNvPr id="25" name="Rounded Rectangle 24"/>
          <p:cNvSpPr/>
          <p:nvPr/>
        </p:nvSpPr>
        <p:spPr>
          <a:xfrm>
            <a:off x="14820900" y="2857500"/>
            <a:ext cx="25527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5049500" y="3086100"/>
            <a:ext cx="7620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06</a:t>
            </a:r>
          </a:p>
        </p:txBody>
      </p:sp>
      <p:sp>
        <p:nvSpPr>
          <p:cNvPr id="27" name="TextBox 26"/>
          <p:cNvSpPr txBox="1"/>
          <p:nvPr/>
        </p:nvSpPr>
        <p:spPr>
          <a:xfrm>
            <a:off x="15049500" y="3562350"/>
            <a:ext cx="20955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Merge</a:t>
            </a:r>
          </a:p>
        </p:txBody>
      </p:sp>
      <p:sp>
        <p:nvSpPr>
          <p:cNvPr id="28" name="TextBox 27"/>
          <p:cNvSpPr txBox="1"/>
          <p:nvPr/>
        </p:nvSpPr>
        <p:spPr>
          <a:xfrm>
            <a:off x="15049500" y="4095750"/>
            <a:ext cx="2095500" cy="952500"/>
          </a:xfrm>
          <a:prstGeom prst="rect">
            <a:avLst/>
          </a:prstGeom>
          <a:noFill/>
        </p:spPr>
        <p:txBody>
          <a:bodyPr wrap="square" lIns="0" rIns="0" tIns="0" bIns="0" anchor="t">
            <a:spAutoFit/>
          </a:bodyPr>
          <a:lstStyle/>
          <a:p>
            <a:pPr algn="l">
              <a:lnSpc>
                <a:spcPct val="125000"/>
              </a:lnSpc>
            </a:pPr>
            <a:r>
              <a:rPr sz="1650" b="0" i="0">
                <a:solidFill>
                  <a:srgbClr val="9A7878"/>
                </a:solidFill>
                <a:latin typeface="Geist"/>
                <a:ea typeface="Geist"/>
                <a:cs typeface="Geist"/>
              </a:rPr>
              <a:t>Then delete the branch</a:t>
            </a:r>
          </a:p>
        </p:txBody>
      </p:sp>
      <p:sp>
        <p:nvSpPr>
          <p:cNvPr id="29" name="TextBox 28"/>
          <p:cNvSpPr txBox="1"/>
          <p:nvPr/>
        </p:nvSpPr>
        <p:spPr>
          <a:xfrm>
            <a:off x="914400" y="5715000"/>
            <a:ext cx="16459200" cy="38100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THE PROJECT BOARD</a:t>
            </a:r>
          </a:p>
        </p:txBody>
      </p:sp>
      <p:sp>
        <p:nvSpPr>
          <p:cNvPr id="30" name="Rounded Rectangle 29"/>
          <p:cNvSpPr/>
          <p:nvPr/>
        </p:nvSpPr>
        <p:spPr>
          <a:xfrm>
            <a:off x="91440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4300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Backlog</a:t>
            </a:r>
          </a:p>
        </p:txBody>
      </p:sp>
      <p:sp>
        <p:nvSpPr>
          <p:cNvPr id="32" name="Rounded Rectangle 31"/>
          <p:cNvSpPr/>
          <p:nvPr/>
        </p:nvSpPr>
        <p:spPr>
          <a:xfrm>
            <a:off x="114300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114300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425196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8056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Ready</a:t>
            </a:r>
          </a:p>
        </p:txBody>
      </p:sp>
      <p:sp>
        <p:nvSpPr>
          <p:cNvPr id="36" name="Rounded Rectangle 35"/>
          <p:cNvSpPr/>
          <p:nvPr/>
        </p:nvSpPr>
        <p:spPr>
          <a:xfrm>
            <a:off x="448056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448056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589520" y="6191250"/>
            <a:ext cx="3108960" cy="2095500"/>
          </a:xfrm>
          <a:prstGeom prst="roundRect">
            <a:avLst>
              <a:gd name="adj" fmla="val 545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1812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progress</a:t>
            </a:r>
          </a:p>
        </p:txBody>
      </p:sp>
      <p:sp>
        <p:nvSpPr>
          <p:cNvPr id="40" name="Rounded Rectangle 39"/>
          <p:cNvSpPr/>
          <p:nvPr/>
        </p:nvSpPr>
        <p:spPr>
          <a:xfrm>
            <a:off x="781812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092708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115568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In review</a:t>
            </a:r>
          </a:p>
        </p:txBody>
      </p:sp>
      <p:sp>
        <p:nvSpPr>
          <p:cNvPr id="43" name="Rounded Rectangle 42"/>
          <p:cNvSpPr/>
          <p:nvPr/>
        </p:nvSpPr>
        <p:spPr>
          <a:xfrm>
            <a:off x="1115568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1115568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4264640" y="6191250"/>
            <a:ext cx="3108960" cy="2095500"/>
          </a:xfrm>
          <a:prstGeom prst="roundRect">
            <a:avLst>
              <a:gd name="adj" fmla="val 5454"/>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4493240" y="6381750"/>
            <a:ext cx="265176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Done</a:t>
            </a:r>
          </a:p>
        </p:txBody>
      </p:sp>
      <p:sp>
        <p:nvSpPr>
          <p:cNvPr id="47" name="Rounded Rectangle 46"/>
          <p:cNvSpPr/>
          <p:nvPr/>
        </p:nvSpPr>
        <p:spPr>
          <a:xfrm>
            <a:off x="14493240" y="697230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4493240" y="7562850"/>
            <a:ext cx="2651760" cy="457200"/>
          </a:xfrm>
          <a:prstGeom prst="roundRect">
            <a:avLst>
              <a:gd name="adj" fmla="val 1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9" name="Picture 4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AdvantageScope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Telemetry: seeing what the robot is doing</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telemetry?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 code</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values every loop</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Sends them to the laptop</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AdvantageScope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Graphs and draws them</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Shows drivers what matters</a:t>
            </a:r>
          </a:p>
        </p:txBody>
      </p:sp>
      <p:sp>
        <p:nvSpPr>
          <p:cNvPr id="20" name="TextBox 19"/>
          <p:cNvSpPr txBox="1"/>
          <p:nvPr/>
        </p:nvSpPr>
        <p:spPr>
          <a:xfrm>
            <a:off x="914400" y="581025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Telemetry</a:t>
            </a:r>
            <a:r>
              <a:rPr sz="2250" b="0" i="0">
                <a:solidFill>
                  <a:srgbClr val="F0E8E8"/>
                </a:solidFill>
                <a:latin typeface="Geist"/>
                <a:ea typeface="Geist"/>
                <a:cs typeface="Geist"/>
              </a:rPr>
              <a:t>: data the robot reports about itself</a:t>
            </a:r>
          </a:p>
        </p:txBody>
      </p:sp>
      <p:sp>
        <p:nvSpPr>
          <p:cNvPr id="21" name="TextBox 20"/>
          <p:cNvSpPr txBox="1"/>
          <p:nvPr/>
        </p:nvSpPr>
        <p:spPr>
          <a:xfrm>
            <a:off x="914400" y="6410325"/>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Sent about </a:t>
            </a:r>
            <a:r>
              <a:rPr sz="2250" b="1" i="0">
                <a:solidFill>
                  <a:srgbClr val="F0E8E8"/>
                </a:solidFill>
                <a:latin typeface="Geist"/>
                <a:ea typeface="Geist"/>
                <a:cs typeface="Geist"/>
              </a:rPr>
              <a:t>50 times a second</a:t>
            </a:r>
            <a:r>
              <a:rPr sz="2250" b="0" i="0">
                <a:solidFill>
                  <a:srgbClr val="F0E8E8"/>
                </a:solidFill>
                <a:latin typeface="Geist"/>
                <a:ea typeface="Geist"/>
                <a:cs typeface="Geist"/>
              </a:rPr>
              <a:t> while it runs</a:t>
            </a:r>
          </a:p>
        </p:txBody>
      </p:sp>
      <p:sp>
        <p:nvSpPr>
          <p:cNvPr id="22" name="TextBox 21"/>
          <p:cNvSpPr txBox="1"/>
          <p:nvPr/>
        </p:nvSpPr>
        <p:spPr>
          <a:xfrm>
            <a:off x="914400" y="7010400"/>
            <a:ext cx="164592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Live while running, or saved to a </a:t>
            </a:r>
            <a:r>
              <a:rPr sz="2250" b="1" i="0">
                <a:solidFill>
                  <a:srgbClr val="F0E8E8"/>
                </a:solidFill>
                <a:latin typeface="Geist"/>
                <a:ea typeface="Geist"/>
                <a:cs typeface="Geist"/>
              </a:rPr>
              <a:t>log file</a:t>
            </a:r>
            <a:r>
              <a:rPr sz="2250" b="0" i="0">
                <a:solidFill>
                  <a:srgbClr val="F0E8E8"/>
                </a:solidFill>
                <a:latin typeface="Geist"/>
                <a:ea typeface="Geist"/>
                <a:cs typeface="Geist"/>
              </a:rPr>
              <a:t> to replay later</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Fields and their types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09600"/>
          </a:xfrm>
          <a:prstGeom prst="roundRect">
            <a:avLst>
              <a:gd name="adj" fmla="val 125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TYPE</a:t>
            </a:r>
          </a:p>
        </p:txBody>
      </p:sp>
      <p:sp>
        <p:nvSpPr>
          <p:cNvPr id="7" name="TextBox 6"/>
          <p:cNvSpPr txBox="1"/>
          <p:nvPr/>
        </p:nvSpPr>
        <p:spPr>
          <a:xfrm>
            <a:off x="6667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EXAMPLE FIELD</a:t>
            </a:r>
          </a:p>
        </p:txBody>
      </p:sp>
      <p:sp>
        <p:nvSpPr>
          <p:cNvPr id="8" name="TextBox 7"/>
          <p:cNvSpPr txBox="1"/>
          <p:nvPr/>
        </p:nvSpPr>
        <p:spPr>
          <a:xfrm>
            <a:off x="12001500" y="2857500"/>
            <a:ext cx="4762500" cy="609600"/>
          </a:xfrm>
          <a:prstGeom prst="rect">
            <a:avLst/>
          </a:prstGeom>
          <a:noFill/>
        </p:spPr>
        <p:txBody>
          <a:bodyPr wrap="square" lIns="0" rIns="0" tIns="0" bIns="0" anchor="ctr">
            <a:spAutoFit/>
          </a:bodyPr>
          <a:lstStyle/>
          <a:p>
            <a:pPr algn="l"/>
            <a:r>
              <a:rPr sz="1500" b="1" i="0" spc="130">
                <a:solidFill>
                  <a:srgbClr val="9A7878"/>
                </a:solidFill>
                <a:latin typeface="Geist"/>
                <a:ea typeface="Geist"/>
                <a:cs typeface="Geist"/>
              </a:rPr>
              <a:t>SHOWN AS</a:t>
            </a:r>
          </a:p>
        </p:txBody>
      </p:sp>
      <p:sp>
        <p:nvSpPr>
          <p:cNvPr id="9" name="Rounded Rectangle 8"/>
          <p:cNvSpPr/>
          <p:nvPr/>
        </p:nvSpPr>
        <p:spPr>
          <a:xfrm>
            <a:off x="914400" y="36195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95400" y="36195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Number</a:t>
            </a:r>
          </a:p>
        </p:txBody>
      </p:sp>
      <p:sp>
        <p:nvSpPr>
          <p:cNvPr id="11" name="TextBox 10"/>
          <p:cNvSpPr txBox="1"/>
          <p:nvPr/>
        </p:nvSpPr>
        <p:spPr>
          <a:xfrm>
            <a:off x="6667500" y="36195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FlywheelRPM</a:t>
            </a:r>
          </a:p>
        </p:txBody>
      </p:sp>
      <p:sp>
        <p:nvSpPr>
          <p:cNvPr id="12" name="TextBox 11"/>
          <p:cNvSpPr txBox="1"/>
          <p:nvPr/>
        </p:nvSpPr>
        <p:spPr>
          <a:xfrm>
            <a:off x="12001500" y="36195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 line on a graph</a:t>
            </a:r>
          </a:p>
        </p:txBody>
      </p:sp>
      <p:sp>
        <p:nvSpPr>
          <p:cNvPr id="13" name="Rounded Rectangle 12"/>
          <p:cNvSpPr/>
          <p:nvPr/>
        </p:nvSpPr>
        <p:spPr>
          <a:xfrm>
            <a:off x="914400" y="45339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95400" y="45339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Boolean</a:t>
            </a:r>
          </a:p>
        </p:txBody>
      </p:sp>
      <p:sp>
        <p:nvSpPr>
          <p:cNvPr id="15" name="TextBox 14"/>
          <p:cNvSpPr txBox="1"/>
          <p:nvPr/>
        </p:nvSpPr>
        <p:spPr>
          <a:xfrm>
            <a:off x="6667500" y="45339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GamePieceLoaded</a:t>
            </a:r>
          </a:p>
        </p:txBody>
      </p:sp>
      <p:sp>
        <p:nvSpPr>
          <p:cNvPr id="16" name="TextBox 15"/>
          <p:cNvSpPr txBox="1"/>
          <p:nvPr/>
        </p:nvSpPr>
        <p:spPr>
          <a:xfrm>
            <a:off x="12001500" y="45339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Colored true/false bands</a:t>
            </a:r>
          </a:p>
        </p:txBody>
      </p:sp>
      <p:sp>
        <p:nvSpPr>
          <p:cNvPr id="17" name="Rounded Rectangle 16"/>
          <p:cNvSpPr/>
          <p:nvPr/>
        </p:nvSpPr>
        <p:spPr>
          <a:xfrm>
            <a:off x="914400" y="54483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5400" y="54483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Pose2d</a:t>
            </a:r>
          </a:p>
        </p:txBody>
      </p:sp>
      <p:sp>
        <p:nvSpPr>
          <p:cNvPr id="19" name="TextBox 18"/>
          <p:cNvSpPr txBox="1"/>
          <p:nvPr/>
        </p:nvSpPr>
        <p:spPr>
          <a:xfrm>
            <a:off x="6667500" y="54483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RobotPose2d</a:t>
            </a:r>
          </a:p>
        </p:txBody>
      </p:sp>
      <p:sp>
        <p:nvSpPr>
          <p:cNvPr id="20" name="TextBox 19"/>
          <p:cNvSpPr txBox="1"/>
          <p:nvPr/>
        </p:nvSpPr>
        <p:spPr>
          <a:xfrm>
            <a:off x="12001500" y="54483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on a 2D field</a:t>
            </a:r>
          </a:p>
        </p:txBody>
      </p:sp>
      <p:sp>
        <p:nvSpPr>
          <p:cNvPr id="21" name="Rounded Rectangle 20"/>
          <p:cNvSpPr/>
          <p:nvPr/>
        </p:nvSpPr>
        <p:spPr>
          <a:xfrm>
            <a:off x="914400" y="63627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5400" y="63627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Pose3d</a:t>
            </a:r>
          </a:p>
        </p:txBody>
      </p:sp>
      <p:sp>
        <p:nvSpPr>
          <p:cNvPr id="23" name="TextBox 22"/>
          <p:cNvSpPr txBox="1"/>
          <p:nvPr/>
        </p:nvSpPr>
        <p:spPr>
          <a:xfrm>
            <a:off x="6667500" y="63627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RobotPose3d</a:t>
            </a:r>
          </a:p>
        </p:txBody>
      </p:sp>
      <p:sp>
        <p:nvSpPr>
          <p:cNvPr id="24" name="TextBox 23"/>
          <p:cNvSpPr txBox="1"/>
          <p:nvPr/>
        </p:nvSpPr>
        <p:spPr>
          <a:xfrm>
            <a:off x="12001500" y="63627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The robot in 3D</a:t>
            </a:r>
          </a:p>
        </p:txBody>
      </p:sp>
      <p:sp>
        <p:nvSpPr>
          <p:cNvPr id="25" name="Rounded Rectangle 24"/>
          <p:cNvSpPr/>
          <p:nvPr/>
        </p:nvSpPr>
        <p:spPr>
          <a:xfrm>
            <a:off x="914400" y="7277100"/>
            <a:ext cx="16459200" cy="800100"/>
          </a:xfrm>
          <a:prstGeom prst="roundRect">
            <a:avLst>
              <a:gd name="adj" fmla="val 119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95400" y="7277100"/>
            <a:ext cx="5334000" cy="8001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SwerveModuleState[]</a:t>
            </a:r>
          </a:p>
        </p:txBody>
      </p:sp>
      <p:sp>
        <p:nvSpPr>
          <p:cNvPr id="27" name="TextBox 26"/>
          <p:cNvSpPr txBox="1"/>
          <p:nvPr/>
        </p:nvSpPr>
        <p:spPr>
          <a:xfrm>
            <a:off x="6667500" y="7277100"/>
            <a:ext cx="5143500" cy="8001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SwerveModuleStates</a:t>
            </a:r>
          </a:p>
        </p:txBody>
      </p:sp>
      <p:sp>
        <p:nvSpPr>
          <p:cNvPr id="28" name="TextBox 27"/>
          <p:cNvSpPr txBox="1"/>
          <p:nvPr/>
        </p:nvSpPr>
        <p:spPr>
          <a:xfrm>
            <a:off x="12001500" y="7277100"/>
            <a:ext cx="5143500" cy="8001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Wheel arrows on the Swerve tab</a:t>
            </a:r>
          </a:p>
        </p:txBody>
      </p:sp>
      <p:pic>
        <p:nvPicPr>
          <p:cNvPr id="29" name="Picture 2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Line graphs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Left and right axes</a:t>
            </a:r>
            <a:r>
              <a:rPr sz="2250" b="0" i="0">
                <a:solidFill>
                  <a:srgbClr val="F0E8E8"/>
                </a:solidFill>
                <a:latin typeface="Geist"/>
                <a:ea typeface="Geist"/>
                <a:cs typeface="Geist"/>
              </a:rPr>
              <a:t> each have their own scale</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Lock the range</a:t>
            </a:r>
            <a:r>
              <a:rPr sz="2250" b="0" i="0">
                <a:solidFill>
                  <a:srgbClr val="F0E8E8"/>
                </a:solidFill>
                <a:latin typeface="Geist"/>
                <a:ea typeface="Geist"/>
                <a:cs typeface="Geist"/>
              </a:rPr>
              <a:t> so the scale stops jumping</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Discrete fields</a:t>
            </a:r>
            <a:r>
              <a:rPr sz="2250" b="0" i="0">
                <a:solidFill>
                  <a:srgbClr val="F0E8E8"/>
                </a:solidFill>
                <a:latin typeface="Geist"/>
                <a:ea typeface="Geist"/>
                <a:cs typeface="Geist"/>
              </a:rPr>
              <a:t> show true/false as bands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Hover to read a value; scroll to zoom in time</a:t>
            </a:r>
          </a:p>
        </p:txBody>
      </p:sp>
      <p:sp>
        <p:nvSpPr>
          <p:cNvPr id="9" name="Rectangle 8"/>
          <p:cNvSpPr/>
          <p:nvPr/>
        </p:nvSpPr>
        <p:spPr>
          <a:xfrm>
            <a:off x="8763000" y="2857500"/>
            <a:ext cx="8610600" cy="4762738"/>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scope.jpg"/>
          <p:cNvPicPr>
            <a:picLocks noChangeAspect="1"/>
          </p:cNvPicPr>
          <p:nvPr/>
        </p:nvPicPr>
        <p:blipFill>
          <a:blip r:embed="rId3"/>
          <a:stretch>
            <a:fillRect/>
          </a:stretch>
        </p:blipFill>
        <p:spPr>
          <a:xfrm>
            <a:off x="8763000" y="2857500"/>
            <a:ext cx="8610600" cy="4762738"/>
          </a:xfrm>
          <a:prstGeom prst="rect">
            <a:avLst/>
          </a:prstGeom>
        </p:spPr>
      </p:pic>
      <p:sp>
        <p:nvSpPr>
          <p:cNvPr id="11" name="Rectangle 10"/>
          <p:cNvSpPr/>
          <p:nvPr/>
        </p:nvSpPr>
        <p:spPr>
          <a:xfrm>
            <a:off x="8763000" y="2857500"/>
            <a:ext cx="8610600" cy="4762738"/>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Differentiate: how fast is it changing?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4572000"/>
          </a:xfrm>
          <a:prstGeom prst="roundRect">
            <a:avLst>
              <a:gd name="adj" fmla="val 3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1524000" y="6667500"/>
            <a:ext cx="15240000" cy="0"/>
          </a:xfrm>
          <a:prstGeom prst="line">
            <a:avLst/>
          </a:prstGeom>
          <a:ln w="28575">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24000" y="6096000"/>
            <a:ext cx="1905000" cy="47625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3429000" y="4381500"/>
            <a:ext cx="1524000" cy="17145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953000" y="3619500"/>
            <a:ext cx="1524000" cy="762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6477000" y="3429000"/>
            <a:ext cx="1524000" cy="1905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01000" y="3429000"/>
            <a:ext cx="8763000" cy="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24000" y="5334000"/>
            <a:ext cx="1905000" cy="123825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429000" y="4953000"/>
            <a:ext cx="1524000" cy="3810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53000" y="4953000"/>
            <a:ext cx="1524000" cy="114300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477000" y="6096000"/>
            <a:ext cx="1524000" cy="47625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6572250"/>
            <a:ext cx="8763000" cy="0"/>
          </a:xfrm>
          <a:prstGeom prst="line">
            <a:avLst/>
          </a:prstGeom>
          <a:ln w="47625">
            <a:solidFill>
              <a:srgbClr val="CC22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335000" y="2952750"/>
            <a:ext cx="3619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FlywheelRPM</a:t>
            </a:r>
          </a:p>
        </p:txBody>
      </p:sp>
      <p:sp>
        <p:nvSpPr>
          <p:cNvPr id="18" name="TextBox 17"/>
          <p:cNvSpPr txBox="1"/>
          <p:nvPr/>
        </p:nvSpPr>
        <p:spPr>
          <a:xfrm>
            <a:off x="13335000" y="6000750"/>
            <a:ext cx="3619500" cy="381000"/>
          </a:xfrm>
          <a:prstGeom prst="rect">
            <a:avLst/>
          </a:prstGeom>
          <a:noFill/>
        </p:spPr>
        <p:txBody>
          <a:bodyPr wrap="square" lIns="0" rIns="0" tIns="0" bIns="0" anchor="t">
            <a:spAutoFit/>
          </a:bodyPr>
          <a:lstStyle/>
          <a:p>
            <a:pPr algn="l"/>
            <a:r>
              <a:rPr sz="1800" b="0" i="0">
                <a:solidFill>
                  <a:srgbClr val="CC2200"/>
                </a:solidFill>
                <a:latin typeface="Geist Mono"/>
                <a:ea typeface="Geist Mono"/>
                <a:cs typeface="Geist Mono"/>
              </a:rPr>
              <a:t>differentiated</a:t>
            </a:r>
          </a:p>
        </p:txBody>
      </p:sp>
      <p:sp>
        <p:nvSpPr>
          <p:cNvPr id="19" name="TextBox 18"/>
          <p:cNvSpPr txBox="1"/>
          <p:nvPr/>
        </p:nvSpPr>
        <p:spPr>
          <a:xfrm>
            <a:off x="3429000" y="6858000"/>
            <a:ext cx="5715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spinning up: changing fast</a:t>
            </a:r>
          </a:p>
        </p:txBody>
      </p:sp>
      <p:sp>
        <p:nvSpPr>
          <p:cNvPr id="20" name="TextBox 19"/>
          <p:cNvSpPr txBox="1"/>
          <p:nvPr/>
        </p:nvSpPr>
        <p:spPr>
          <a:xfrm>
            <a:off x="10477500" y="6858000"/>
            <a:ext cx="5715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holding speed: change is zero</a:t>
            </a:r>
          </a:p>
        </p:txBody>
      </p:sp>
      <p:sp>
        <p:nvSpPr>
          <p:cNvPr id="21" name="TextBox 20"/>
          <p:cNvSpPr txBox="1"/>
          <p:nvPr/>
        </p:nvSpPr>
        <p:spPr>
          <a:xfrm>
            <a:off x="914400" y="7810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Speed is to acceleration as RPM is to its derivative.</a:t>
            </a:r>
          </a:p>
        </p:txBody>
      </p:sp>
      <p:pic>
        <p:nvPicPr>
          <p:cNvPr id="22" name="Picture 21"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Poses: where is the robot?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1524000" y="7239000"/>
            <a:ext cx="7429500" cy="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524000" y="3238500"/>
            <a:ext cx="0" cy="40005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572500" y="7334250"/>
            <a:ext cx="571500" cy="2857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x</a:t>
            </a:r>
          </a:p>
        </p:txBody>
      </p:sp>
      <p:sp>
        <p:nvSpPr>
          <p:cNvPr id="9" name="TextBox 8"/>
          <p:cNvSpPr txBox="1"/>
          <p:nvPr/>
        </p:nvSpPr>
        <p:spPr>
          <a:xfrm>
            <a:off x="1238250" y="3143250"/>
            <a:ext cx="285750" cy="2857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y</a:t>
            </a:r>
          </a:p>
        </p:txBody>
      </p:sp>
      <p:sp>
        <p:nvSpPr>
          <p:cNvPr id="10" name="Rounded Rectangle 9"/>
          <p:cNvSpPr/>
          <p:nvPr/>
        </p:nvSpPr>
        <p:spPr>
          <a:xfrm>
            <a:off x="5334000" y="4476750"/>
            <a:ext cx="1143000" cy="1143000"/>
          </a:xfrm>
          <a:prstGeom prst="roundRect">
            <a:avLst>
              <a:gd name="adj" fmla="val 6666"/>
            </a:avLst>
          </a:prstGeom>
          <a:noFill/>
          <a:ln w="4762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5905500" y="4286250"/>
            <a:ext cx="1333500" cy="762000"/>
          </a:xfrm>
          <a:prstGeom prst="line">
            <a:avLst/>
          </a:prstGeom>
          <a:ln w="47625">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24000" y="5048250"/>
            <a:ext cx="4381500" cy="2190750"/>
          </a:xfrm>
          <a:prstGeom prst="line">
            <a:avLst/>
          </a:prstGeom>
          <a:ln w="19050">
            <a:solidFill>
              <a:srgbClr val="2A1A1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667500" y="5334000"/>
            <a:ext cx="2667000" cy="381000"/>
          </a:xfrm>
          <a:prstGeom prst="rect">
            <a:avLst/>
          </a:prstGeom>
          <a:noFill/>
        </p:spPr>
        <p:txBody>
          <a:bodyPr wrap="square" lIns="0" rIns="0" tIns="0" bIns="0" anchor="t">
            <a:spAutoFit/>
          </a:bodyPr>
          <a:lstStyle/>
          <a:p>
            <a:pPr algn="l"/>
            <a:r>
              <a:rPr sz="1650" b="0" i="0">
                <a:solidFill>
                  <a:srgbClr val="CC2200"/>
                </a:solidFill>
                <a:latin typeface="Geist"/>
                <a:ea typeface="Geist"/>
                <a:cs typeface="Geist"/>
              </a:rPr>
              <a:t>heading</a:t>
            </a:r>
          </a:p>
        </p:txBody>
      </p:sp>
      <p:sp>
        <p:nvSpPr>
          <p:cNvPr id="14" name="TextBox 13"/>
          <p:cNvSpPr txBox="1"/>
          <p:nvPr/>
        </p:nvSpPr>
        <p:spPr>
          <a:xfrm>
            <a:off x="10096500" y="285750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x, y</a:t>
            </a:r>
            <a:r>
              <a:rPr sz="2250" b="0" i="0">
                <a:solidFill>
                  <a:srgbClr val="F0E8E8"/>
                </a:solidFill>
                <a:latin typeface="Geist"/>
                <a:ea typeface="Geist"/>
                <a:cs typeface="Geist"/>
              </a:rPr>
              <a:t>: meters from the field corner</a:t>
            </a:r>
          </a:p>
        </p:txBody>
      </p:sp>
      <p:sp>
        <p:nvSpPr>
          <p:cNvPr id="15" name="TextBox 14"/>
          <p:cNvSpPr txBox="1"/>
          <p:nvPr/>
        </p:nvSpPr>
        <p:spPr>
          <a:xfrm>
            <a:off x="10096500" y="351472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Rotation</a:t>
            </a:r>
            <a:r>
              <a:rPr sz="2250" b="0" i="0">
                <a:solidFill>
                  <a:srgbClr val="F0E8E8"/>
                </a:solidFill>
                <a:latin typeface="Geist"/>
                <a:ea typeface="Geist"/>
                <a:cs typeface="Geist"/>
              </a:rPr>
              <a:t>: which way it faces</a:t>
            </a:r>
          </a:p>
        </p:txBody>
      </p:sp>
      <p:sp>
        <p:nvSpPr>
          <p:cNvPr id="16" name="TextBox 15"/>
          <p:cNvSpPr txBox="1"/>
          <p:nvPr/>
        </p:nvSpPr>
        <p:spPr>
          <a:xfrm>
            <a:off x="10096500" y="4171950"/>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Pose2d</a:t>
            </a:r>
            <a:r>
              <a:rPr sz="2250" b="0" i="0">
                <a:solidFill>
                  <a:srgbClr val="F0E8E8"/>
                </a:solidFill>
                <a:latin typeface="Geist"/>
                <a:ea typeface="Geist"/>
                <a:cs typeface="Geist"/>
              </a:rPr>
              <a:t> is flat; </a:t>
            </a:r>
            <a:r>
              <a:rPr sz="2250" b="1" i="0">
                <a:solidFill>
                  <a:srgbClr val="F0E8E8"/>
                </a:solidFill>
                <a:latin typeface="Geist"/>
                <a:ea typeface="Geist"/>
                <a:cs typeface="Geist"/>
              </a:rPr>
              <a:t>Pose3d</a:t>
            </a:r>
            <a:r>
              <a:rPr sz="2250" b="0" i="0">
                <a:solidFill>
                  <a:srgbClr val="F0E8E8"/>
                </a:solidFill>
                <a:latin typeface="Geist"/>
                <a:ea typeface="Geist"/>
                <a:cs typeface="Geist"/>
              </a:rPr>
              <a:t> adds height and tilt</a:t>
            </a:r>
          </a:p>
        </p:txBody>
      </p:sp>
      <p:sp>
        <p:nvSpPr>
          <p:cNvPr id="17" name="TextBox 16"/>
          <p:cNvSpPr txBox="1"/>
          <p:nvPr/>
        </p:nvSpPr>
        <p:spPr>
          <a:xfrm>
            <a:off x="10096500" y="4829175"/>
            <a:ext cx="72771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2D and 3D Field tabs draw it live</a:t>
            </a:r>
          </a:p>
        </p:txBody>
      </p:sp>
      <p:pic>
        <p:nvPicPr>
          <p:cNvPr id="18" name="Picture 17"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9" name="TextBox 1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Live data or log files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roadcast.png"/>
          <p:cNvPicPr>
            <a:picLocks noChangeAspect="1"/>
          </p:cNvPicPr>
          <p:nvPr/>
        </p:nvPicPr>
        <p:blipFill>
          <a:blip r:embed="rId3"/>
          <a:stretch>
            <a:fillRect/>
          </a:stretch>
        </p:blipFill>
        <p:spPr>
          <a:xfrm>
            <a:off x="1371600" y="3238500"/>
            <a:ext cx="839019" cy="609600"/>
          </a:xfrm>
          <a:prstGeom prst="rect">
            <a:avLst/>
          </a:prstGeom>
        </p:spPr>
      </p:pic>
      <p:sp>
        <p:nvSpPr>
          <p:cNvPr id="7" name="TextBox 6"/>
          <p:cNvSpPr txBox="1"/>
          <p:nvPr/>
        </p:nvSpPr>
        <p:spPr>
          <a:xfrm>
            <a:off x="25336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Live</a:t>
            </a:r>
          </a:p>
        </p:txBody>
      </p:sp>
      <p:sp>
        <p:nvSpPr>
          <p:cNvPr id="8" name="TextBox 7"/>
          <p:cNvSpPr txBox="1"/>
          <p:nvPr/>
        </p:nvSpPr>
        <p:spPr>
          <a:xfrm>
            <a:off x="13716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While the robot or sim runs</a:t>
            </a:r>
          </a:p>
        </p:txBody>
      </p:sp>
      <p:sp>
        <p:nvSpPr>
          <p:cNvPr id="9" name="TextBox 8"/>
          <p:cNvSpPr txBox="1"/>
          <p:nvPr/>
        </p:nvSpPr>
        <p:spPr>
          <a:xfrm>
            <a:off x="13716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Anything published to NetworkTables</a:t>
            </a:r>
          </a:p>
        </p:txBody>
      </p:sp>
      <p:sp>
        <p:nvSpPr>
          <p:cNvPr id="10" name="TextBox 9"/>
          <p:cNvSpPr txBox="1"/>
          <p:nvPr/>
        </p:nvSpPr>
        <p:spPr>
          <a:xfrm>
            <a:off x="13716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Connect to Robot</a:t>
            </a:r>
          </a:p>
        </p:txBody>
      </p:sp>
      <p:sp>
        <p:nvSpPr>
          <p:cNvPr id="11" name="TextBox 10"/>
          <p:cNvSpPr txBox="1"/>
          <p:nvPr/>
        </p:nvSpPr>
        <p:spPr>
          <a:xfrm>
            <a:off x="13716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or Connect to Simulator</a:t>
            </a:r>
          </a:p>
        </p:txBody>
      </p:sp>
      <p:sp>
        <p:nvSpPr>
          <p:cNvPr id="12" name="Rounded Rectangle 11"/>
          <p:cNvSpPr/>
          <p:nvPr/>
        </p:nvSpPr>
        <p:spPr>
          <a:xfrm>
            <a:off x="93345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journal-code.png"/>
          <p:cNvPicPr>
            <a:picLocks noChangeAspect="1"/>
          </p:cNvPicPr>
          <p:nvPr/>
        </p:nvPicPr>
        <p:blipFill>
          <a:blip r:embed="rId4"/>
          <a:stretch>
            <a:fillRect/>
          </a:stretch>
        </p:blipFill>
        <p:spPr>
          <a:xfrm>
            <a:off x="9791700" y="3238500"/>
            <a:ext cx="571500" cy="609600"/>
          </a:xfrm>
          <a:prstGeom prst="rect">
            <a:avLst/>
          </a:prstGeom>
        </p:spPr>
      </p:pic>
      <p:sp>
        <p:nvSpPr>
          <p:cNvPr id="14" name="TextBox 13"/>
          <p:cNvSpPr txBox="1"/>
          <p:nvPr/>
        </p:nvSpPr>
        <p:spPr>
          <a:xfrm>
            <a:off x="10953750" y="3181350"/>
            <a:ext cx="5715000" cy="666750"/>
          </a:xfrm>
          <a:prstGeom prst="rect">
            <a:avLst/>
          </a:prstGeom>
          <a:noFill/>
        </p:spPr>
        <p:txBody>
          <a:bodyPr wrap="square" lIns="0" rIns="0" tIns="0" bIns="0" anchor="ctr">
            <a:spAutoFit/>
          </a:bodyPr>
          <a:lstStyle/>
          <a:p>
            <a:pPr algn="l"/>
            <a:r>
              <a:rPr sz="3300" b="1" i="0">
                <a:solidFill>
                  <a:srgbClr val="F0E8E8"/>
                </a:solidFill>
                <a:latin typeface="Geist"/>
                <a:ea typeface="Geist"/>
                <a:cs typeface="Geist"/>
              </a:rPr>
              <a:t>Log files</a:t>
            </a:r>
          </a:p>
        </p:txBody>
      </p:sp>
      <p:sp>
        <p:nvSpPr>
          <p:cNvPr id="15" name="TextBox 14"/>
          <p:cNvSpPr txBox="1"/>
          <p:nvPr/>
        </p:nvSpPr>
        <p:spPr>
          <a:xfrm>
            <a:off x="9791700" y="4095750"/>
            <a:ext cx="6667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After a test or a match</a:t>
            </a:r>
          </a:p>
        </p:txBody>
      </p:sp>
      <p:sp>
        <p:nvSpPr>
          <p:cNvPr id="16" name="TextBox 15"/>
          <p:cNvSpPr txBox="1"/>
          <p:nvPr/>
        </p:nvSpPr>
        <p:spPr>
          <a:xfrm>
            <a:off x="9791700" y="476250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E0785F"/>
                </a:solidFill>
                <a:latin typeface="Geist Mono"/>
                <a:ea typeface="Geist Mono"/>
                <a:cs typeface="Geist Mono"/>
              </a:rPr>
              <a:t>  .wpilog  .hoot  .dslog  </a:t>
            </a:r>
          </a:p>
        </p:txBody>
      </p:sp>
      <p:sp>
        <p:nvSpPr>
          <p:cNvPr id="17" name="TextBox 16"/>
          <p:cNvSpPr txBox="1"/>
          <p:nvPr/>
        </p:nvSpPr>
        <p:spPr>
          <a:xfrm>
            <a:off x="9791700" y="531876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File &gt; Open Log(s)</a:t>
            </a:r>
          </a:p>
        </p:txBody>
      </p:sp>
      <p:sp>
        <p:nvSpPr>
          <p:cNvPr id="18" name="TextBox 17"/>
          <p:cNvSpPr txBox="1"/>
          <p:nvPr/>
        </p:nvSpPr>
        <p:spPr>
          <a:xfrm>
            <a:off x="9791700" y="5875020"/>
            <a:ext cx="7239000" cy="346710"/>
          </a:xfrm>
          <a:prstGeom prst="rect">
            <a:avLst/>
          </a:prstGeom>
          <a:noFill/>
        </p:spPr>
        <p:txBody>
          <a:bodyPr wrap="square" lIns="0" rIns="0" tIns="0" bIns="0" anchor="t">
            <a:spAutoFit/>
          </a:bodyPr>
          <a:lstStyle/>
          <a:p>
            <a:pPr algn="l">
              <a:lnSpc>
                <a:spcPct val="125000"/>
              </a:lnSpc>
            </a:pPr>
            <a:r>
              <a:rPr sz="2100" b="1" i="0">
                <a:solidFill>
                  <a:srgbClr val="CC2200"/>
                </a:solidFill>
                <a:latin typeface="Geist"/>
                <a:ea typeface="Geist"/>
                <a:cs typeface="Geist"/>
              </a:rPr>
              <a:t>•  </a:t>
            </a:r>
            <a:r>
              <a:rPr sz="2100" b="0" i="0">
                <a:solidFill>
                  <a:srgbClr val="F0E8E8"/>
                </a:solidFill>
                <a:latin typeface="Geist"/>
                <a:ea typeface="Geist"/>
                <a:cs typeface="Geist"/>
              </a:rPr>
              <a:t>Replay exactly what happened</a:t>
            </a:r>
          </a:p>
        </p:txBody>
      </p:sp>
      <p:sp>
        <p:nvSpPr>
          <p:cNvPr id="19" name="Rounded Rectangle 18"/>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For the pits, not the match.  </a:t>
            </a:r>
            <a:r>
              <a:rPr sz="2100" b="0" i="0">
                <a:solidFill>
                  <a:srgbClr val="F0E8E8"/>
                </a:solidFill>
                <a:latin typeface="Geist"/>
                <a:ea typeface="Geist"/>
                <a:cs typeface="Geist"/>
              </a:rPr>
              <a:t>Drivers use Elastic. Load the team's layouts with File &gt; Import Layout.</a:t>
            </a:r>
          </a:p>
        </p:txBody>
      </p:sp>
      <p:pic>
        <p:nvPicPr>
          <p:cNvPr id="21" name="Picture 20"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2" name="TextBox 2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ADVANTAGESCOPE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Mode: changing values live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Most fields are read-only</a:t>
            </a:r>
          </a:p>
        </p:txBody>
      </p:sp>
      <p:sp>
        <p:nvSpPr>
          <p:cNvPr id="6" name="TextBox 5"/>
          <p:cNvSpPr txBox="1"/>
          <p:nvPr/>
        </p:nvSpPr>
        <p:spPr>
          <a:xfrm>
            <a:off x="914400" y="351472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Tuning Mode</a:t>
            </a:r>
            <a:r>
              <a:rPr sz="2250" b="0" i="0">
                <a:solidFill>
                  <a:srgbClr val="F0E8E8"/>
                </a:solidFill>
                <a:latin typeface="Geist"/>
                <a:ea typeface="Geist"/>
                <a:cs typeface="Geist"/>
              </a:rPr>
              <a:t> (the slider icon) lets you type new values</a:t>
            </a:r>
          </a:p>
        </p:txBody>
      </p:sp>
      <p:sp>
        <p:nvSpPr>
          <p:cNvPr id="7" name="TextBox 6"/>
          <p:cNvSpPr txBox="1"/>
          <p:nvPr/>
        </p:nvSpPr>
        <p:spPr>
          <a:xfrm>
            <a:off x="914400" y="4171950"/>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Only for values under </a:t>
            </a:r>
            <a:r>
              <a:rPr sz="2250" b="0" i="0">
                <a:solidFill>
                  <a:srgbClr val="E0785F"/>
                </a:solidFill>
                <a:latin typeface="Geist Mono"/>
                <a:ea typeface="Geist Mono"/>
                <a:cs typeface="Geist Mono"/>
              </a:rPr>
              <a:t>/Tuning</a:t>
            </a:r>
          </a:p>
        </p:txBody>
      </p:sp>
      <p:sp>
        <p:nvSpPr>
          <p:cNvPr id="8" name="TextBox 7"/>
          <p:cNvSpPr txBox="1"/>
          <p:nvPr/>
        </p:nvSpPr>
        <p:spPr>
          <a:xfrm>
            <a:off x="914400" y="4829175"/>
            <a:ext cx="9525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Tune things like flywheel speed without redeploying</a:t>
            </a:r>
          </a:p>
        </p:txBody>
      </p:sp>
      <p:sp>
        <p:nvSpPr>
          <p:cNvPr id="9" name="Rounded Rectangle 8"/>
          <p:cNvSpPr/>
          <p:nvPr/>
        </p:nvSpPr>
        <p:spPr>
          <a:xfrm>
            <a:off x="11430000" y="2857500"/>
            <a:ext cx="59436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liders.png"/>
          <p:cNvPicPr>
            <a:picLocks noChangeAspect="1"/>
          </p:cNvPicPr>
          <p:nvPr/>
        </p:nvPicPr>
        <p:blipFill>
          <a:blip r:embed="rId3"/>
          <a:stretch>
            <a:fillRect/>
          </a:stretch>
        </p:blipFill>
        <p:spPr>
          <a:xfrm>
            <a:off x="13792200" y="3429000"/>
            <a:ext cx="1300480" cy="1219200"/>
          </a:xfrm>
          <a:prstGeom prst="rect">
            <a:avLst/>
          </a:prstGeom>
        </p:spPr>
      </p:pic>
      <p:sp>
        <p:nvSpPr>
          <p:cNvPr id="11" name="TextBox 10"/>
          <p:cNvSpPr txBox="1"/>
          <p:nvPr/>
        </p:nvSpPr>
        <p:spPr>
          <a:xfrm>
            <a:off x="11811000" y="5143500"/>
            <a:ext cx="5181600" cy="571500"/>
          </a:xfrm>
          <a:prstGeom prst="rect">
            <a:avLst/>
          </a:prstGeom>
          <a:noFill/>
        </p:spPr>
        <p:txBody>
          <a:bodyPr wrap="square" lIns="0" rIns="0" tIns="0" bIns="0" anchor="t">
            <a:spAutoFit/>
          </a:bodyPr>
          <a:lstStyle/>
          <a:p>
            <a:pPr algn="ctr"/>
            <a:r>
              <a:rPr sz="1950" b="0" i="0">
                <a:solidFill>
                  <a:srgbClr val="E0785F"/>
                </a:solidFill>
                <a:latin typeface="Geist Mono"/>
                <a:ea typeface="Geist Mono"/>
                <a:cs typeface="Geist Mono"/>
              </a:rPr>
              <a:t>/Tuning/FlywheelTargetRPM</a:t>
            </a:r>
          </a:p>
        </p:txBody>
      </p:sp>
      <p:sp>
        <p:nvSpPr>
          <p:cNvPr id="12" name="TextBox 11"/>
          <p:cNvSpPr txBox="1"/>
          <p:nvPr/>
        </p:nvSpPr>
        <p:spPr>
          <a:xfrm>
            <a:off x="11811000" y="5810250"/>
            <a:ext cx="5181600" cy="1333500"/>
          </a:xfrm>
          <a:prstGeom prst="rect">
            <a:avLst/>
          </a:prstGeom>
          <a:noFill/>
        </p:spPr>
        <p:txBody>
          <a:bodyPr wrap="square" lIns="0" rIns="0" tIns="0" bIns="0" anchor="t">
            <a:spAutoFit/>
          </a:bodyPr>
          <a:lstStyle/>
          <a:p>
            <a:pPr algn="ctr">
              <a:lnSpc>
                <a:spcPct val="130000"/>
              </a:lnSpc>
            </a:pPr>
            <a:r>
              <a:rPr sz="1950" b="0" i="0">
                <a:solidFill>
                  <a:srgbClr val="9A7878"/>
                </a:solidFill>
                <a:latin typeface="Geist"/>
                <a:ea typeface="Geist"/>
                <a:cs typeface="Geist"/>
              </a:rPr>
              <a:t>Writable, because it's published under /Tuning</a:t>
            </a:r>
          </a:p>
        </p:txBody>
      </p:sp>
      <p:pic>
        <p:nvPicPr>
          <p:cNvPr id="13" name="Picture 12"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4" name="TextBox 1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Elastic</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Dashboards: what drivers see during a match</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Dashboard or analysis tool?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AdvantageScope</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programmers</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Graphs, fields, replays</a:t>
            </a:r>
          </a:p>
        </p:txBody>
      </p:sp>
      <p:sp>
        <p:nvSpPr>
          <p:cNvPr id="9" name="TextBox 8"/>
          <p:cNvSpPr txBox="1"/>
          <p:nvPr/>
        </p:nvSpPr>
        <p:spPr>
          <a:xfrm>
            <a:off x="13716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Digging into what happened</a:t>
            </a:r>
          </a:p>
        </p:txBody>
      </p:sp>
      <p:sp>
        <p:nvSpPr>
          <p:cNvPr id="10" name="TextBox 9"/>
          <p:cNvSpPr txBox="1"/>
          <p:nvPr/>
        </p:nvSpPr>
        <p:spPr>
          <a:xfrm>
            <a:off x="13716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Used in the pits and while testing</a:t>
            </a:r>
          </a:p>
        </p:txBody>
      </p:sp>
      <p:sp>
        <p:nvSpPr>
          <p:cNvPr id="11" name="Rounded Rectangle 10"/>
          <p:cNvSpPr/>
          <p:nvPr/>
        </p:nvSpPr>
        <p:spPr>
          <a:xfrm>
            <a:off x="9334500" y="2857500"/>
            <a:ext cx="8039100" cy="5334000"/>
          </a:xfrm>
          <a:prstGeom prst="roundRect">
            <a:avLst>
              <a:gd name="adj" fmla="val 2857"/>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6667500" cy="666750"/>
          </a:xfrm>
          <a:prstGeom prst="rect">
            <a:avLst/>
          </a:prstGeom>
          <a:noFill/>
        </p:spPr>
        <p:txBody>
          <a:bodyPr wrap="square" lIns="0" rIns="0" tIns="0" bIns="0" anchor="t">
            <a:spAutoFit/>
          </a:bodyPr>
          <a:lstStyle/>
          <a:p>
            <a:pPr algn="l"/>
            <a:r>
              <a:rPr sz="3300" b="1" i="0">
                <a:solidFill>
                  <a:srgbClr val="F0E8E8"/>
                </a:solidFill>
                <a:latin typeface="Geist"/>
                <a:ea typeface="Geist"/>
                <a:cs typeface="Geist"/>
              </a:rPr>
              <a:t>Elastic</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For drivers</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Big, simple widgets</a:t>
            </a:r>
          </a:p>
        </p:txBody>
      </p:sp>
      <p:sp>
        <p:nvSpPr>
          <p:cNvPr id="15" name="TextBox 14"/>
          <p:cNvSpPr txBox="1"/>
          <p:nvPr/>
        </p:nvSpPr>
        <p:spPr>
          <a:xfrm>
            <a:off x="9791700" y="52673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Read in a glance during a match</a:t>
            </a:r>
          </a:p>
        </p:txBody>
      </p:sp>
      <p:sp>
        <p:nvSpPr>
          <p:cNvPr id="16" name="TextBox 15"/>
          <p:cNvSpPr txBox="1"/>
          <p:nvPr/>
        </p:nvSpPr>
        <p:spPr>
          <a:xfrm>
            <a:off x="9791700" y="58674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Set options like the auto routine</a:t>
            </a:r>
          </a:p>
        </p:txBody>
      </p:sp>
      <p:pic>
        <p:nvPicPr>
          <p:cNvPr id="17" name="Picture 16"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Topics: values with names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Robot</a:t>
            </a:r>
          </a:p>
        </p:txBody>
      </p:sp>
      <p:sp>
        <p:nvSpPr>
          <p:cNvPr id="7" name="TextBox 6"/>
          <p:cNvSpPr txBox="1"/>
          <p:nvPr/>
        </p:nvSpPr>
        <p:spPr>
          <a:xfrm>
            <a:off x="10668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Publishes ClimberSpeed</a:t>
            </a:r>
          </a:p>
        </p:txBody>
      </p:sp>
      <p:cxnSp>
        <p:nvCxnSpPr>
          <p:cNvPr id="8" name="Connector 7"/>
          <p:cNvCxnSpPr/>
          <p:nvPr/>
        </p:nvCxnSpPr>
        <p:spPr>
          <a:xfrm>
            <a:off x="59690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54800" y="3143250"/>
            <a:ext cx="49784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500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NetworkTables</a:t>
            </a:r>
          </a:p>
        </p:txBody>
      </p:sp>
      <p:sp>
        <p:nvSpPr>
          <p:cNvPr id="11" name="TextBox 10"/>
          <p:cNvSpPr txBox="1"/>
          <p:nvPr/>
        </p:nvSpPr>
        <p:spPr>
          <a:xfrm>
            <a:off x="68072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A shared table of topics</a:t>
            </a:r>
          </a:p>
        </p:txBody>
      </p:sp>
      <p:cxnSp>
        <p:nvCxnSpPr>
          <p:cNvPr id="12" name="Connector 11"/>
          <p:cNvCxnSpPr/>
          <p:nvPr/>
        </p:nvCxnSpPr>
        <p:spPr>
          <a:xfrm>
            <a:off x="117094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2395200" y="3143250"/>
            <a:ext cx="49784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490450" y="3619500"/>
            <a:ext cx="47879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Elastic</a:t>
            </a:r>
          </a:p>
        </p:txBody>
      </p:sp>
      <p:sp>
        <p:nvSpPr>
          <p:cNvPr id="15" name="TextBox 14"/>
          <p:cNvSpPr txBox="1"/>
          <p:nvPr/>
        </p:nvSpPr>
        <p:spPr>
          <a:xfrm>
            <a:off x="12547600" y="4210050"/>
            <a:ext cx="46736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Subscribes by name</a:t>
            </a:r>
          </a:p>
        </p:txBody>
      </p:sp>
      <p:sp>
        <p:nvSpPr>
          <p:cNvPr id="16" name="Rounded Rectangle 15"/>
          <p:cNvSpPr/>
          <p:nvPr/>
        </p:nvSpPr>
        <p:spPr>
          <a:xfrm>
            <a:off x="914400" y="5715000"/>
            <a:ext cx="16459200" cy="2857500"/>
          </a:xfrm>
          <a:prstGeom prst="roundRect">
            <a:avLst>
              <a:gd name="adj" fmla="val 533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95400" y="60007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ClimberSpeed</a:t>
            </a:r>
          </a:p>
        </p:txBody>
      </p:sp>
      <p:sp>
        <p:nvSpPr>
          <p:cNvPr id="18" name="TextBox 17"/>
          <p:cNvSpPr txBox="1"/>
          <p:nvPr/>
        </p:nvSpPr>
        <p:spPr>
          <a:xfrm>
            <a:off x="8572500" y="60007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0.65</a:t>
            </a:r>
          </a:p>
        </p:txBody>
      </p:sp>
      <p:sp>
        <p:nvSpPr>
          <p:cNvPr id="19" name="TextBox 18"/>
          <p:cNvSpPr txBox="1"/>
          <p:nvPr/>
        </p:nvSpPr>
        <p:spPr>
          <a:xfrm>
            <a:off x="1295400" y="66103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BatteryVoltage</a:t>
            </a:r>
          </a:p>
        </p:txBody>
      </p:sp>
      <p:sp>
        <p:nvSpPr>
          <p:cNvPr id="20" name="TextBox 19"/>
          <p:cNvSpPr txBox="1"/>
          <p:nvPr/>
        </p:nvSpPr>
        <p:spPr>
          <a:xfrm>
            <a:off x="8572500" y="6610350"/>
            <a:ext cx="6667500" cy="5334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12.4</a:t>
            </a:r>
          </a:p>
        </p:txBody>
      </p:sp>
      <p:sp>
        <p:nvSpPr>
          <p:cNvPr id="21" name="TextBox 20"/>
          <p:cNvSpPr txBox="1"/>
          <p:nvPr/>
        </p:nvSpPr>
        <p:spPr>
          <a:xfrm>
            <a:off x="1295400" y="72199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GamePieceLoaded</a:t>
            </a:r>
          </a:p>
        </p:txBody>
      </p:sp>
      <p:sp>
        <p:nvSpPr>
          <p:cNvPr id="22" name="TextBox 21"/>
          <p:cNvSpPr txBox="1"/>
          <p:nvPr/>
        </p:nvSpPr>
        <p:spPr>
          <a:xfrm>
            <a:off x="8572500" y="7219950"/>
            <a:ext cx="6667500" cy="53340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true</a:t>
            </a:r>
          </a:p>
        </p:txBody>
      </p:sp>
      <p:sp>
        <p:nvSpPr>
          <p:cNvPr id="23" name="TextBox 22"/>
          <p:cNvSpPr txBox="1"/>
          <p:nvPr/>
        </p:nvSpPr>
        <p:spPr>
          <a:xfrm>
            <a:off x="1295400" y="7829550"/>
            <a:ext cx="6667500" cy="5334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AutoRoutine</a:t>
            </a:r>
          </a:p>
        </p:txBody>
      </p:sp>
      <p:sp>
        <p:nvSpPr>
          <p:cNvPr id="24" name="TextBox 23"/>
          <p:cNvSpPr txBox="1"/>
          <p:nvPr/>
        </p:nvSpPr>
        <p:spPr>
          <a:xfrm>
            <a:off x="8572500" y="7829550"/>
            <a:ext cx="6667500" cy="53340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"Left, shoot 2"</a:t>
            </a:r>
          </a:p>
        </p:txBody>
      </p:sp>
      <p:pic>
        <p:nvPicPr>
          <p:cNvPr id="25" name="Picture 2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Widgets match the data</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Boolean Box</a:t>
            </a:r>
          </a:p>
        </p:txBody>
      </p:sp>
      <p:sp>
        <p:nvSpPr>
          <p:cNvPr id="7" name="TextBox 6"/>
          <p:cNvSpPr txBox="1"/>
          <p:nvPr/>
        </p:nvSpPr>
        <p:spPr>
          <a:xfrm>
            <a:off x="12954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Game piece loaded?  ·  </a:t>
            </a:r>
            <a:r>
              <a:rPr sz="1800" b="0" i="0">
                <a:solidFill>
                  <a:srgbClr val="E0785F"/>
                </a:solidFill>
                <a:latin typeface="Geist Mono"/>
                <a:ea typeface="Geist Mono"/>
                <a:cs typeface="Geist Mono"/>
              </a:rPr>
              <a:t>true / false</a:t>
            </a:r>
          </a:p>
        </p:txBody>
      </p:sp>
      <p:sp>
        <p:nvSpPr>
          <p:cNvPr id="8" name="Rounded Rectangle 7"/>
          <p:cNvSpPr/>
          <p:nvPr/>
        </p:nvSpPr>
        <p:spPr>
          <a:xfrm>
            <a:off x="9144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Number Bar</a:t>
            </a:r>
          </a:p>
        </p:txBody>
      </p:sp>
      <p:sp>
        <p:nvSpPr>
          <p:cNvPr id="10" name="TextBox 9"/>
          <p:cNvSpPr txBox="1"/>
          <p:nvPr/>
        </p:nvSpPr>
        <p:spPr>
          <a:xfrm>
            <a:off x="12954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Climber speed  ·  </a:t>
            </a:r>
            <a:r>
              <a:rPr sz="1800" b="0" i="0">
                <a:solidFill>
                  <a:srgbClr val="E0785F"/>
                </a:solidFill>
                <a:latin typeface="Geist Mono"/>
                <a:ea typeface="Geist Mono"/>
                <a:cs typeface="Geist Mono"/>
              </a:rPr>
              <a:t>number in a range</a:t>
            </a:r>
          </a:p>
        </p:txBody>
      </p:sp>
      <p:sp>
        <p:nvSpPr>
          <p:cNvPr id="11" name="Rounded Rectangle 10"/>
          <p:cNvSpPr/>
          <p:nvPr/>
        </p:nvSpPr>
        <p:spPr>
          <a:xfrm>
            <a:off x="9144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Voltage View</a:t>
            </a:r>
          </a:p>
        </p:txBody>
      </p:sp>
      <p:sp>
        <p:nvSpPr>
          <p:cNvPr id="13" name="TextBox 12"/>
          <p:cNvSpPr txBox="1"/>
          <p:nvPr/>
        </p:nvSpPr>
        <p:spPr>
          <a:xfrm>
            <a:off x="12954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Battery voltage  ·  </a:t>
            </a:r>
            <a:r>
              <a:rPr sz="1800" b="0" i="0">
                <a:solidFill>
                  <a:srgbClr val="E0785F"/>
                </a:solidFill>
                <a:latin typeface="Geist Mono"/>
                <a:ea typeface="Geist Mono"/>
                <a:cs typeface="Geist Mono"/>
              </a:rPr>
              <a:t>number</a:t>
            </a:r>
          </a:p>
        </p:txBody>
      </p:sp>
      <p:sp>
        <p:nvSpPr>
          <p:cNvPr id="14" name="Rounded Rectangle 13"/>
          <p:cNvSpPr/>
          <p:nvPr/>
        </p:nvSpPr>
        <p:spPr>
          <a:xfrm>
            <a:off x="9334500" y="28575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715500" y="31242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Radial Gauge</a:t>
            </a:r>
          </a:p>
        </p:txBody>
      </p:sp>
      <p:sp>
        <p:nvSpPr>
          <p:cNvPr id="16" name="TextBox 15"/>
          <p:cNvSpPr txBox="1"/>
          <p:nvPr/>
        </p:nvSpPr>
        <p:spPr>
          <a:xfrm>
            <a:off x="9715500" y="36957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Gyro heading  ·  </a:t>
            </a:r>
            <a:r>
              <a:rPr sz="1800" b="0" i="0">
                <a:solidFill>
                  <a:srgbClr val="E0785F"/>
                </a:solidFill>
                <a:latin typeface="Geist Mono"/>
                <a:ea typeface="Geist Mono"/>
                <a:cs typeface="Geist Mono"/>
              </a:rPr>
              <a:t>number in degrees</a:t>
            </a:r>
          </a:p>
        </p:txBody>
      </p:sp>
      <p:sp>
        <p:nvSpPr>
          <p:cNvPr id="17" name="Rounded Rectangle 16"/>
          <p:cNvSpPr/>
          <p:nvPr/>
        </p:nvSpPr>
        <p:spPr>
          <a:xfrm>
            <a:off x="9334500" y="466725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715500" y="493395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Match Time</a:t>
            </a:r>
          </a:p>
        </p:txBody>
      </p:sp>
      <p:sp>
        <p:nvSpPr>
          <p:cNvPr id="19" name="TextBox 18"/>
          <p:cNvSpPr txBox="1"/>
          <p:nvPr/>
        </p:nvSpPr>
        <p:spPr>
          <a:xfrm>
            <a:off x="9715500" y="550545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Time left  ·  </a:t>
            </a:r>
            <a:r>
              <a:rPr sz="1800" b="0" i="0">
                <a:solidFill>
                  <a:srgbClr val="E0785F"/>
                </a:solidFill>
                <a:latin typeface="Geist Mono"/>
                <a:ea typeface="Geist Mono"/>
                <a:cs typeface="Geist Mono"/>
              </a:rPr>
              <a:t>number of seconds</a:t>
            </a:r>
          </a:p>
        </p:txBody>
      </p:sp>
      <p:sp>
        <p:nvSpPr>
          <p:cNvPr id="20" name="Rounded Rectangle 19"/>
          <p:cNvSpPr/>
          <p:nvPr/>
        </p:nvSpPr>
        <p:spPr>
          <a:xfrm>
            <a:off x="9334500" y="6477000"/>
            <a:ext cx="8039100" cy="1581150"/>
          </a:xfrm>
          <a:prstGeom prst="roundRect">
            <a:avLst>
              <a:gd name="adj" fmla="val 96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5500" y="6743700"/>
            <a:ext cx="7239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Field</a:t>
            </a:r>
          </a:p>
        </p:txBody>
      </p:sp>
      <p:sp>
        <p:nvSpPr>
          <p:cNvPr id="22" name="TextBox 21"/>
          <p:cNvSpPr txBox="1"/>
          <p:nvPr/>
        </p:nvSpPr>
        <p:spPr>
          <a:xfrm>
            <a:off x="9715500" y="7315200"/>
            <a:ext cx="7239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pose  ·  </a:t>
            </a:r>
            <a:r>
              <a:rPr sz="1800" b="0" i="0">
                <a:solidFill>
                  <a:srgbClr val="E0785F"/>
                </a:solidFill>
                <a:latin typeface="Geist Mono"/>
                <a:ea typeface="Geist Mono"/>
                <a:cs typeface="Geist Mono"/>
              </a:rPr>
              <a:t>Pose2d</a:t>
            </a:r>
          </a:p>
        </p:txBody>
      </p:sp>
      <p:pic>
        <p:nvPicPr>
          <p:cNvPr id="23" name="Picture 22"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ELASTIC</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Showing values, and sending them</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4381500"/>
          </a:xfrm>
          <a:prstGeom prst="roundRect">
            <a:avLst>
              <a:gd name="adj" fmla="val 347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3716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Show</a:t>
            </a:r>
          </a:p>
        </p:txBody>
      </p:sp>
      <p:sp>
        <p:nvSpPr>
          <p:cNvPr id="7" name="TextBox 6"/>
          <p:cNvSpPr txBox="1"/>
          <p:nvPr/>
        </p:nvSpPr>
        <p:spPr>
          <a:xfrm>
            <a:off x="13716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Robot → driver</a:t>
            </a:r>
          </a:p>
        </p:txBody>
      </p:sp>
      <p:sp>
        <p:nvSpPr>
          <p:cNvPr id="8" name="TextBox 7"/>
          <p:cNvSpPr txBox="1"/>
          <p:nvPr/>
        </p:nvSpPr>
        <p:spPr>
          <a:xfrm>
            <a:off x="13716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Display, Number Bar</a:t>
            </a:r>
          </a:p>
        </p:txBody>
      </p:sp>
      <p:sp>
        <p:nvSpPr>
          <p:cNvPr id="9" name="TextBox 8"/>
          <p:cNvSpPr txBox="1"/>
          <p:nvPr/>
        </p:nvSpPr>
        <p:spPr>
          <a:xfrm>
            <a:off x="13716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Voltage View, Radial Gauge</a:t>
            </a:r>
          </a:p>
        </p:txBody>
      </p:sp>
      <p:sp>
        <p:nvSpPr>
          <p:cNvPr id="10" name="TextBox 9"/>
          <p:cNvSpPr txBox="1"/>
          <p:nvPr/>
        </p:nvSpPr>
        <p:spPr>
          <a:xfrm>
            <a:off x="13716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Graph, Match Time, Boolean Box</a:t>
            </a:r>
          </a:p>
        </p:txBody>
      </p:sp>
      <p:sp>
        <p:nvSpPr>
          <p:cNvPr id="11" name="Rounded Rectangle 10"/>
          <p:cNvSpPr/>
          <p:nvPr/>
        </p:nvSpPr>
        <p:spPr>
          <a:xfrm>
            <a:off x="9334500" y="2857500"/>
            <a:ext cx="8039100" cy="4381500"/>
          </a:xfrm>
          <a:prstGeom prst="roundRect">
            <a:avLst>
              <a:gd name="adj" fmla="val 3478"/>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791700" y="3238500"/>
            <a:ext cx="3810000" cy="666750"/>
          </a:xfrm>
          <a:prstGeom prst="rect">
            <a:avLst/>
          </a:prstGeom>
          <a:noFill/>
        </p:spPr>
        <p:txBody>
          <a:bodyPr wrap="square" lIns="0" rIns="0" tIns="0" bIns="0" anchor="t">
            <a:spAutoFit/>
          </a:bodyPr>
          <a:lstStyle/>
          <a:p>
            <a:pPr algn="l"/>
            <a:r>
              <a:rPr sz="3600" b="1" i="0">
                <a:solidFill>
                  <a:srgbClr val="F0E8E8"/>
                </a:solidFill>
                <a:latin typeface="Geist"/>
                <a:ea typeface="Geist"/>
                <a:cs typeface="Geist"/>
              </a:rPr>
              <a:t>Send</a:t>
            </a:r>
          </a:p>
        </p:txBody>
      </p:sp>
      <p:sp>
        <p:nvSpPr>
          <p:cNvPr id="13" name="TextBox 12"/>
          <p:cNvSpPr txBox="1"/>
          <p:nvPr/>
        </p:nvSpPr>
        <p:spPr>
          <a:xfrm>
            <a:off x="9791700" y="3905250"/>
            <a:ext cx="57150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Driver → robot</a:t>
            </a:r>
          </a:p>
        </p:txBody>
      </p:sp>
      <p:sp>
        <p:nvSpPr>
          <p:cNvPr id="14" name="TextBox 13"/>
          <p:cNvSpPr txBox="1"/>
          <p:nvPr/>
        </p:nvSpPr>
        <p:spPr>
          <a:xfrm>
            <a:off x="9791700" y="46672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Number Slider, Toggle Button</a:t>
            </a:r>
          </a:p>
        </p:txBody>
      </p:sp>
      <p:sp>
        <p:nvSpPr>
          <p:cNvPr id="15" name="TextBox 14"/>
          <p:cNvSpPr txBox="1"/>
          <p:nvPr/>
        </p:nvSpPr>
        <p:spPr>
          <a:xfrm>
            <a:off x="9791700" y="52482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Choosers: pick the auto routine</a:t>
            </a:r>
          </a:p>
        </p:txBody>
      </p:sp>
      <p:sp>
        <p:nvSpPr>
          <p:cNvPr id="16" name="TextBox 15"/>
          <p:cNvSpPr txBox="1"/>
          <p:nvPr/>
        </p:nvSpPr>
        <p:spPr>
          <a:xfrm>
            <a:off x="9791700" y="58293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Text with a Submit button</a:t>
            </a:r>
          </a:p>
        </p:txBody>
      </p:sp>
      <p:sp>
        <p:nvSpPr>
          <p:cNvPr id="17" name="Rounded Rectangle 16"/>
          <p:cNvSpPr/>
          <p:nvPr/>
        </p:nvSpPr>
        <p:spPr>
          <a:xfrm>
            <a:off x="914400" y="76200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33500" y="76200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Tabs and layouts:  </a:t>
            </a:r>
            <a:r>
              <a:rPr sz="2100" b="0" i="0">
                <a:solidFill>
                  <a:srgbClr val="F0E8E8"/>
                </a:solidFill>
                <a:latin typeface="Geist"/>
                <a:ea typeface="Geist"/>
                <a:cs typeface="Geist"/>
              </a:rPr>
              <a:t>a few tabs for competition, the rest for debugging. Use File &gt; Save.</a:t>
            </a:r>
          </a:p>
        </p:txBody>
      </p:sp>
      <p:pic>
        <p:nvPicPr>
          <p:cNvPr id="19" name="Picture 18"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Choreo</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Planning paths for autonomous</a:t>
            </a:r>
          </a:p>
        </p:txBody>
      </p:sp>
      <p:pic>
        <p:nvPicPr>
          <p:cNvPr id="5" name="Picture 4"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autonomous?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The start of every match</a:t>
            </a:r>
          </a:p>
        </p:txBody>
      </p:sp>
      <p:sp>
        <p:nvSpPr>
          <p:cNvPr id="6" name="TextBox 5"/>
          <p:cNvSpPr txBox="1"/>
          <p:nvPr/>
        </p:nvSpPr>
        <p:spPr>
          <a:xfrm>
            <a:off x="914400" y="351472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No driver: the robot follows a plan</a:t>
            </a:r>
          </a:p>
        </p:txBody>
      </p:sp>
      <p:sp>
        <p:nvSpPr>
          <p:cNvPr id="7" name="TextBox 6"/>
          <p:cNvSpPr txBox="1"/>
          <p:nvPr/>
        </p:nvSpPr>
        <p:spPr>
          <a:xfrm>
            <a:off x="914400" y="4171950"/>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Points scored here often decide matches</a:t>
            </a:r>
          </a:p>
        </p:txBody>
      </p:sp>
      <p:sp>
        <p:nvSpPr>
          <p:cNvPr id="8" name="TextBox 7"/>
          <p:cNvSpPr txBox="1"/>
          <p:nvPr/>
        </p:nvSpPr>
        <p:spPr>
          <a:xfrm>
            <a:off x="914400" y="4829175"/>
            <a:ext cx="72390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Choreo makes the plan: a trajectory</a:t>
            </a:r>
          </a:p>
        </p:txBody>
      </p:sp>
      <p:sp>
        <p:nvSpPr>
          <p:cNvPr id="9" name="Rectangle 8"/>
          <p:cNvSpPr/>
          <p:nvPr/>
        </p:nvSpPr>
        <p:spPr>
          <a:xfrm>
            <a:off x="9144000" y="2857500"/>
            <a:ext cx="8103949" cy="5715000"/>
          </a:xfrm>
          <a:prstGeom prst="rect">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oreo.png"/>
          <p:cNvPicPr>
            <a:picLocks noChangeAspect="1"/>
          </p:cNvPicPr>
          <p:nvPr/>
        </p:nvPicPr>
        <p:blipFill>
          <a:blip r:embed="rId3"/>
          <a:stretch>
            <a:fillRect/>
          </a:stretch>
        </p:blipFill>
        <p:spPr>
          <a:xfrm>
            <a:off x="9144000" y="2857500"/>
            <a:ext cx="8103949" cy="5715000"/>
          </a:xfrm>
          <a:prstGeom prst="rect">
            <a:avLst/>
          </a:prstGeom>
        </p:spPr>
      </p:pic>
      <p:sp>
        <p:nvSpPr>
          <p:cNvPr id="11" name="Rectangle 10"/>
          <p:cNvSpPr/>
          <p:nvPr/>
        </p:nvSpPr>
        <p:spPr>
          <a:xfrm>
            <a:off x="9144000" y="2857500"/>
            <a:ext cx="8103949" cy="5715000"/>
          </a:xfrm>
          <a:prstGeom prst="rect">
            <a:avLst/>
          </a:prstGeom>
          <a:no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Path vs trajectory</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in-map.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Path</a:t>
            </a:r>
          </a:p>
        </p:txBody>
      </p:sp>
      <p:sp>
        <p:nvSpPr>
          <p:cNvPr id="8" name="TextBox 7"/>
          <p:cNvSpPr txBox="1"/>
          <p:nvPr/>
        </p:nvSpPr>
        <p:spPr>
          <a:xfrm>
            <a:off x="1295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the points the robot drives through.</a:t>
            </a:r>
          </a:p>
        </p:txBody>
      </p:sp>
      <p:sp>
        <p:nvSpPr>
          <p:cNvPr id="9" name="Rounded Rectangle 8"/>
          <p:cNvSpPr/>
          <p:nvPr/>
        </p:nvSpPr>
        <p:spPr>
          <a:xfrm>
            <a:off x="9296400" y="2857500"/>
            <a:ext cx="8077200" cy="4000500"/>
          </a:xfrm>
          <a:prstGeom prst="roundRect">
            <a:avLst>
              <a:gd name="adj" fmla="val 380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pwatch.png"/>
          <p:cNvPicPr>
            <a:picLocks noChangeAspect="1"/>
          </p:cNvPicPr>
          <p:nvPr/>
        </p:nvPicPr>
        <p:blipFill>
          <a:blip r:embed="rId4"/>
          <a:stretch>
            <a:fillRect/>
          </a:stretch>
        </p:blipFill>
        <p:spPr>
          <a:xfrm>
            <a:off x="9677400" y="3238500"/>
            <a:ext cx="619432"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Trajectory</a:t>
            </a:r>
          </a:p>
        </p:txBody>
      </p:sp>
      <p:sp>
        <p:nvSpPr>
          <p:cNvPr id="12" name="TextBox 11"/>
          <p:cNvSpPr txBox="1"/>
          <p:nvPr/>
        </p:nvSpPr>
        <p:spPr>
          <a:xfrm>
            <a:off x="9677400" y="4802505"/>
            <a:ext cx="7315200" cy="2095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route plus timing: position, heading and speed at every moment.</a:t>
            </a:r>
          </a:p>
        </p:txBody>
      </p:sp>
      <p:sp>
        <p:nvSpPr>
          <p:cNvPr id="13" name="Rounded Rectangle 12"/>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png"/>
          <p:cNvPicPr>
            <a:picLocks noChangeAspect="1"/>
          </p:cNvPicPr>
          <p:nvPr/>
        </p:nvPicPr>
        <p:blipFill>
          <a:blip r:embed="rId5"/>
          <a:stretch>
            <a:fillRect/>
          </a:stretch>
        </p:blipFill>
        <p:spPr>
          <a:xfrm>
            <a:off x="1333500" y="7686675"/>
            <a:ext cx="568960" cy="533400"/>
          </a:xfrm>
          <a:prstGeom prst="rect">
            <a:avLst/>
          </a:prstGeom>
        </p:spPr>
      </p:pic>
      <p:sp>
        <p:nvSpPr>
          <p:cNvPr id="15" name="TextBox 14"/>
          <p:cNvSpPr txBox="1"/>
          <p:nvPr/>
        </p:nvSpPr>
        <p:spPr>
          <a:xfrm>
            <a:off x="2190750" y="7429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Robot code  </a:t>
            </a:r>
            <a:r>
              <a:rPr sz="2100" b="0" i="0">
                <a:solidFill>
                  <a:srgbClr val="F0E8E8"/>
                </a:solidFill>
                <a:latin typeface="Geist"/>
                <a:ea typeface="Geist"/>
                <a:cs typeface="Geist"/>
              </a:rPr>
              <a:t>follows the trajectory, checking every loop where it should be right now.</a:t>
            </a:r>
          </a:p>
        </p:txBody>
      </p:sp>
      <p:pic>
        <p:nvPicPr>
          <p:cNvPr id="16" name="Picture 15" descr="mw_logo_small.png"/>
          <p:cNvPicPr>
            <a:picLocks noChangeAspect="1"/>
          </p:cNvPicPr>
          <p:nvPr/>
        </p:nvPicPr>
        <p:blipFill>
          <a:blip r:embed="rId6"/>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Waypoints and constraints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Pose waypoint</a:t>
            </a:r>
          </a:p>
        </p:txBody>
      </p:sp>
      <p:sp>
        <p:nvSpPr>
          <p:cNvPr id="7" name="TextBox 6"/>
          <p:cNvSpPr txBox="1"/>
          <p:nvPr/>
        </p:nvSpPr>
        <p:spPr>
          <a:xfrm>
            <a:off x="1295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where the robot is and which way it faces. Use for start and end.</a:t>
            </a:r>
          </a:p>
        </p:txBody>
      </p:sp>
      <p:sp>
        <p:nvSpPr>
          <p:cNvPr id="8" name="Rounded Rectangle 7"/>
          <p:cNvSpPr/>
          <p:nvPr/>
        </p:nvSpPr>
        <p:spPr>
          <a:xfrm>
            <a:off x="6502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83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Translation waypoint</a:t>
            </a:r>
          </a:p>
        </p:txBody>
      </p:sp>
      <p:sp>
        <p:nvSpPr>
          <p:cNvPr id="10" name="TextBox 9"/>
          <p:cNvSpPr txBox="1"/>
          <p:nvPr/>
        </p:nvSpPr>
        <p:spPr>
          <a:xfrm>
            <a:off x="6883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Pins only where it is. Choreo picks the heading.</a:t>
            </a:r>
          </a:p>
        </p:txBody>
      </p:sp>
      <p:sp>
        <p:nvSpPr>
          <p:cNvPr id="11" name="Rounded Rectangle 10"/>
          <p:cNvSpPr/>
          <p:nvPr/>
        </p:nvSpPr>
        <p:spPr>
          <a:xfrm>
            <a:off x="12090400" y="2857500"/>
            <a:ext cx="5283200" cy="40005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471400" y="323850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Constraint</a:t>
            </a:r>
          </a:p>
        </p:txBody>
      </p:sp>
      <p:sp>
        <p:nvSpPr>
          <p:cNvPr id="13" name="TextBox 12"/>
          <p:cNvSpPr txBox="1"/>
          <p:nvPr/>
        </p:nvSpPr>
        <p:spPr>
          <a:xfrm>
            <a:off x="12471400" y="3825240"/>
            <a:ext cx="4521200" cy="3048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rule the path must obey, like Max Velocity in one zone.</a:t>
            </a:r>
          </a:p>
        </p:txBody>
      </p:sp>
      <p:sp>
        <p:nvSpPr>
          <p:cNvPr id="14" name="Rounded Rectangle 13"/>
          <p:cNvSpPr/>
          <p:nvPr/>
        </p:nvSpPr>
        <p:spPr>
          <a:xfrm>
            <a:off x="914400" y="7429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333500" y="7429500"/>
            <a:ext cx="1565910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Starter rules  </a:t>
            </a:r>
            <a:r>
              <a:rPr sz="2100" b="0" i="0">
                <a:solidFill>
                  <a:srgbClr val="F0E8E8"/>
                </a:solidFill>
                <a:latin typeface="Geist"/>
                <a:ea typeface="Geist"/>
                <a:cs typeface="Geist"/>
              </a:rPr>
              <a:t>Every path begins with Stop at the start and end.</a:t>
            </a:r>
          </a:p>
        </p:txBody>
      </p:sp>
      <p:pic>
        <p:nvPicPr>
          <p:cNvPr id="16" name="Picture 15"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17" name="TextBox 1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CHOREO</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Generate: solving for the fastest path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Waypoints</a:t>
            </a:r>
          </a:p>
        </p:txBody>
      </p:sp>
      <p:sp>
        <p:nvSpPr>
          <p:cNvPr id="7" name="TextBox 6"/>
          <p:cNvSpPr txBox="1"/>
          <p:nvPr/>
        </p:nvSpPr>
        <p:spPr>
          <a:xfrm>
            <a:off x="10668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Where to go</a:t>
            </a:r>
          </a:p>
        </p:txBody>
      </p:sp>
      <p:cxnSp>
        <p:nvCxnSpPr>
          <p:cNvPr id="8" name="Connector 7"/>
          <p:cNvCxnSpPr/>
          <p:nvPr/>
        </p:nvCxnSpPr>
        <p:spPr>
          <a:xfrm>
            <a:off x="45339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197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149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Constraints</a:t>
            </a:r>
          </a:p>
        </p:txBody>
      </p:sp>
      <p:sp>
        <p:nvSpPr>
          <p:cNvPr id="11" name="TextBox 10"/>
          <p:cNvSpPr txBox="1"/>
          <p:nvPr/>
        </p:nvSpPr>
        <p:spPr>
          <a:xfrm>
            <a:off x="53721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Rules to obey</a:t>
            </a:r>
          </a:p>
        </p:txBody>
      </p:sp>
      <p:cxnSp>
        <p:nvCxnSpPr>
          <p:cNvPr id="12" name="Connector 11"/>
          <p:cNvCxnSpPr/>
          <p:nvPr/>
        </p:nvCxnSpPr>
        <p:spPr>
          <a:xfrm>
            <a:off x="88392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25000" y="3143250"/>
            <a:ext cx="3543300" cy="1905000"/>
          </a:xfrm>
          <a:prstGeom prst="roundRect">
            <a:avLst>
              <a:gd name="adj" fmla="val 8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20250" y="3619500"/>
            <a:ext cx="33528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Generate</a:t>
            </a:r>
          </a:p>
        </p:txBody>
      </p:sp>
      <p:sp>
        <p:nvSpPr>
          <p:cNvPr id="15" name="TextBox 14"/>
          <p:cNvSpPr txBox="1"/>
          <p:nvPr/>
        </p:nvSpPr>
        <p:spPr>
          <a:xfrm>
            <a:off x="96774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Solve with real limits</a:t>
            </a:r>
          </a:p>
        </p:txBody>
      </p:sp>
      <p:cxnSp>
        <p:nvCxnSpPr>
          <p:cNvPr id="16" name="Connector 15"/>
          <p:cNvCxnSpPr/>
          <p:nvPr/>
        </p:nvCxnSpPr>
        <p:spPr>
          <a:xfrm>
            <a:off x="13144500" y="4095750"/>
            <a:ext cx="609600" cy="0"/>
          </a:xfrm>
          <a:prstGeom prst="line">
            <a:avLst/>
          </a:prstGeom>
          <a:ln w="28575">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830300" y="3143250"/>
            <a:ext cx="35433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925550" y="3619500"/>
            <a:ext cx="3352800" cy="533400"/>
          </a:xfrm>
          <a:prstGeom prst="rect">
            <a:avLst/>
          </a:prstGeom>
          <a:noFill/>
        </p:spPr>
        <p:txBody>
          <a:bodyPr wrap="square" lIns="0" rIns="0" tIns="0" bIns="0" anchor="t">
            <a:spAutoFit/>
          </a:bodyPr>
          <a:lstStyle/>
          <a:p>
            <a:pPr algn="ctr"/>
            <a:r>
              <a:rPr sz="2550" b="1" i="0">
                <a:solidFill>
                  <a:srgbClr val="F0E8E8"/>
                </a:solidFill>
                <a:latin typeface="Geist Mono"/>
                <a:ea typeface="Geist Mono"/>
                <a:cs typeface="Geist Mono"/>
              </a:rPr>
              <a:t>.traj file</a:t>
            </a:r>
          </a:p>
        </p:txBody>
      </p:sp>
      <p:sp>
        <p:nvSpPr>
          <p:cNvPr id="19" name="TextBox 18"/>
          <p:cNvSpPr txBox="1"/>
          <p:nvPr/>
        </p:nvSpPr>
        <p:spPr>
          <a:xfrm>
            <a:off x="13982700" y="4210050"/>
            <a:ext cx="32385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robot follows it</a:t>
            </a:r>
          </a:p>
        </p:txBody>
      </p:sp>
      <p:sp>
        <p:nvSpPr>
          <p:cNvPr id="20" name="Rounded Rectangle 19"/>
          <p:cNvSpPr/>
          <p:nvPr/>
        </p:nvSpPr>
        <p:spPr>
          <a:xfrm>
            <a:off x="914400" y="5715000"/>
            <a:ext cx="16459200" cy="1238250"/>
          </a:xfrm>
          <a:prstGeom prst="roundRect">
            <a:avLst>
              <a:gd name="adj" fmla="val 1230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exclamation-circle.png"/>
          <p:cNvPicPr>
            <a:picLocks noChangeAspect="1"/>
          </p:cNvPicPr>
          <p:nvPr/>
        </p:nvPicPr>
        <p:blipFill>
          <a:blip r:embed="rId3"/>
          <a:stretch>
            <a:fillRect/>
          </a:stretch>
        </p:blipFill>
        <p:spPr>
          <a:xfrm>
            <a:off x="1333500" y="6067425"/>
            <a:ext cx="533400" cy="533400"/>
          </a:xfrm>
          <a:prstGeom prst="rect">
            <a:avLst/>
          </a:prstGeom>
        </p:spPr>
      </p:pic>
      <p:sp>
        <p:nvSpPr>
          <p:cNvPr id="22" name="TextBox 21"/>
          <p:cNvSpPr txBox="1"/>
          <p:nvPr/>
        </p:nvSpPr>
        <p:spPr>
          <a:xfrm>
            <a:off x="2190750" y="5715000"/>
            <a:ext cx="14801850" cy="1238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Won't generate?  </a:t>
            </a:r>
            <a:r>
              <a:rPr sz="2100" b="0" i="0">
                <a:solidFill>
                  <a:srgbClr val="F0E8E8"/>
                </a:solidFill>
                <a:latin typeface="Geist"/>
                <a:ea typeface="Geist"/>
                <a:cs typeface="Geist"/>
              </a:rPr>
              <a:t>A rule the robot can't meet leaves it unsolved. Change the numbers or untick the constraint.</a:t>
            </a:r>
          </a:p>
        </p:txBody>
      </p:sp>
      <p:sp>
        <p:nvSpPr>
          <p:cNvPr id="23" name="TextBox 22"/>
          <p:cNvSpPr txBox="1"/>
          <p:nvPr/>
        </p:nvSpPr>
        <p:spPr>
          <a:xfrm>
            <a:off x="914400" y="7429500"/>
            <a:ext cx="16459200" cy="38100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You'll make robots follow these in the Choreo Autonomous lesson.</a:t>
            </a:r>
          </a:p>
        </p:txBody>
      </p:sp>
      <p:pic>
        <p:nvPicPr>
          <p:cNvPr id="24" name="Picture 23" descr="mw_logo_small.png"/>
          <p:cNvPicPr>
            <a:picLocks noChangeAspect="1"/>
          </p:cNvPicPr>
          <p:nvPr/>
        </p:nvPicPr>
        <p:blipFill>
          <a:blip r:embed="rId4"/>
          <a:stretch>
            <a:fillRect/>
          </a:stretch>
        </p:blipFill>
        <p:spPr>
          <a:xfrm>
            <a:off x="914400" y="9410700"/>
            <a:ext cx="583564" cy="495300"/>
          </a:xfrm>
          <a:prstGeom prst="rect">
            <a:avLst/>
          </a:prstGeom>
        </p:spPr>
      </p:pic>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PRACTICE IN SCRIPTUM</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Lesson checkpoints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5</a:t>
            </a:r>
          </a:p>
        </p:txBody>
      </p:sp>
      <p:sp>
        <p:nvSpPr>
          <p:cNvPr id="7" name="TextBox 6"/>
          <p:cNvSpPr txBox="1"/>
          <p:nvPr/>
        </p:nvSpPr>
        <p:spPr>
          <a:xfrm>
            <a:off x="118110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8" name="TextBox 7"/>
          <p:cNvSpPr txBox="1"/>
          <p:nvPr/>
        </p:nvSpPr>
        <p:spPr>
          <a:xfrm>
            <a:off x="118110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Meet the Editor</a:t>
            </a:r>
          </a:p>
        </p:txBody>
      </p:sp>
      <p:sp>
        <p:nvSpPr>
          <p:cNvPr id="9" name="TextBox 8"/>
          <p:cNvSpPr txBox="1"/>
          <p:nvPr/>
        </p:nvSpPr>
        <p:spPr>
          <a:xfrm>
            <a:off x="118110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Make a folder and a file</a:t>
            </a:r>
          </a:p>
        </p:txBody>
      </p:sp>
      <p:sp>
        <p:nvSpPr>
          <p:cNvPr id="10" name="TextBox 9"/>
          <p:cNvSpPr txBox="1"/>
          <p:nvPr/>
        </p:nvSpPr>
        <p:spPr>
          <a:xfrm>
            <a:off x="1181100" y="59359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Rename and delete files</a:t>
            </a:r>
          </a:p>
        </p:txBody>
      </p:sp>
      <p:sp>
        <p:nvSpPr>
          <p:cNvPr id="11" name="TextBox 10"/>
          <p:cNvSpPr txBox="1"/>
          <p:nvPr/>
        </p:nvSpPr>
        <p:spPr>
          <a:xfrm>
            <a:off x="1181100" y="636079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Run src/Main.java</a:t>
            </a:r>
          </a:p>
        </p:txBody>
      </p:sp>
      <p:sp>
        <p:nvSpPr>
          <p:cNvPr id="12" name="Rounded Rectangle 11"/>
          <p:cNvSpPr/>
          <p:nvPr/>
        </p:nvSpPr>
        <p:spPr>
          <a:xfrm>
            <a:off x="425196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1866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14" name="TextBox 13"/>
          <p:cNvSpPr txBox="1"/>
          <p:nvPr/>
        </p:nvSpPr>
        <p:spPr>
          <a:xfrm>
            <a:off x="451866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15" name="TextBox 14"/>
          <p:cNvSpPr txBox="1"/>
          <p:nvPr/>
        </p:nvSpPr>
        <p:spPr>
          <a:xfrm>
            <a:off x="451866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Git Basics</a:t>
            </a:r>
          </a:p>
        </p:txBody>
      </p:sp>
      <p:sp>
        <p:nvSpPr>
          <p:cNvPr id="16" name="TextBox 15"/>
          <p:cNvSpPr txBox="1"/>
          <p:nvPr/>
        </p:nvSpPr>
        <p:spPr>
          <a:xfrm>
            <a:off x="451866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First commit, feature branch</a:t>
            </a:r>
          </a:p>
        </p:txBody>
      </p:sp>
      <p:sp>
        <p:nvSpPr>
          <p:cNvPr id="17" name="TextBox 16"/>
          <p:cNvSpPr txBox="1"/>
          <p:nvPr/>
        </p:nvSpPr>
        <p:spPr>
          <a:xfrm>
            <a:off x="451866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Merge and a merge conflict</a:t>
            </a:r>
          </a:p>
        </p:txBody>
      </p:sp>
      <p:sp>
        <p:nvSpPr>
          <p:cNvPr id="18" name="TextBox 17"/>
          <p:cNvSpPr txBox="1"/>
          <p:nvPr/>
        </p:nvSpPr>
        <p:spPr>
          <a:xfrm>
            <a:off x="4518660" y="663321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Rebase, push, pull, stash</a:t>
            </a:r>
          </a:p>
        </p:txBody>
      </p:sp>
      <p:sp>
        <p:nvSpPr>
          <p:cNvPr id="19" name="Rounded Rectangle 18"/>
          <p:cNvSpPr/>
          <p:nvPr/>
        </p:nvSpPr>
        <p:spPr>
          <a:xfrm>
            <a:off x="758952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5622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8</a:t>
            </a:r>
          </a:p>
        </p:txBody>
      </p:sp>
      <p:sp>
        <p:nvSpPr>
          <p:cNvPr id="21" name="TextBox 20"/>
          <p:cNvSpPr txBox="1"/>
          <p:nvPr/>
        </p:nvSpPr>
        <p:spPr>
          <a:xfrm>
            <a:off x="785622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2" name="TextBox 21"/>
          <p:cNvSpPr txBox="1"/>
          <p:nvPr/>
        </p:nvSpPr>
        <p:spPr>
          <a:xfrm>
            <a:off x="7856220" y="4381500"/>
            <a:ext cx="2575560" cy="7620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AdvantageScope</a:t>
            </a:r>
          </a:p>
        </p:txBody>
      </p:sp>
      <p:sp>
        <p:nvSpPr>
          <p:cNvPr id="23" name="TextBox 22"/>
          <p:cNvSpPr txBox="1"/>
          <p:nvPr/>
        </p:nvSpPr>
        <p:spPr>
          <a:xfrm>
            <a:off x="7856220" y="523875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Line graph, locked axis, differentiate</a:t>
            </a:r>
          </a:p>
        </p:txBody>
      </p:sp>
      <p:sp>
        <p:nvSpPr>
          <p:cNvPr id="24" name="TextBox 23"/>
          <p:cNvSpPr txBox="1"/>
          <p:nvPr/>
        </p:nvSpPr>
        <p:spPr>
          <a:xfrm>
            <a:off x="7856220" y="5935980"/>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Discrete field, 2D and 3D field</a:t>
            </a:r>
          </a:p>
        </p:txBody>
      </p:sp>
      <p:sp>
        <p:nvSpPr>
          <p:cNvPr id="25" name="TextBox 24"/>
          <p:cNvSpPr txBox="1"/>
          <p:nvPr/>
        </p:nvSpPr>
        <p:spPr>
          <a:xfrm>
            <a:off x="7856220" y="663321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Swerve tab, tuned value</a:t>
            </a:r>
          </a:p>
        </p:txBody>
      </p:sp>
      <p:sp>
        <p:nvSpPr>
          <p:cNvPr id="26" name="Rounded Rectangle 25"/>
          <p:cNvSpPr/>
          <p:nvPr/>
        </p:nvSpPr>
        <p:spPr>
          <a:xfrm>
            <a:off x="1092708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119378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19</a:t>
            </a:r>
          </a:p>
        </p:txBody>
      </p:sp>
      <p:sp>
        <p:nvSpPr>
          <p:cNvPr id="28" name="TextBox 27"/>
          <p:cNvSpPr txBox="1"/>
          <p:nvPr/>
        </p:nvSpPr>
        <p:spPr>
          <a:xfrm>
            <a:off x="1119378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29" name="TextBox 28"/>
          <p:cNvSpPr txBox="1"/>
          <p:nvPr/>
        </p:nvSpPr>
        <p:spPr>
          <a:xfrm>
            <a:off x="1119378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Elastic</a:t>
            </a:r>
          </a:p>
        </p:txBody>
      </p:sp>
      <p:sp>
        <p:nvSpPr>
          <p:cNvPr id="30" name="TextBox 29"/>
          <p:cNvSpPr txBox="1"/>
          <p:nvPr/>
        </p:nvSpPr>
        <p:spPr>
          <a:xfrm>
            <a:off x="1119378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Ten display widgets</a:t>
            </a:r>
          </a:p>
        </p:txBody>
      </p:sp>
      <p:sp>
        <p:nvSpPr>
          <p:cNvPr id="31" name="TextBox 30"/>
          <p:cNvSpPr txBox="1"/>
          <p:nvPr/>
        </p:nvSpPr>
        <p:spPr>
          <a:xfrm>
            <a:off x="11193780" y="566356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Sliders, choosers and toggles</a:t>
            </a:r>
          </a:p>
        </p:txBody>
      </p:sp>
      <p:sp>
        <p:nvSpPr>
          <p:cNvPr id="32" name="TextBox 31"/>
          <p:cNvSpPr txBox="1"/>
          <p:nvPr/>
        </p:nvSpPr>
        <p:spPr>
          <a:xfrm>
            <a:off x="11193780" y="6360795"/>
            <a:ext cx="2575560" cy="544830"/>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Live writes to the robot</a:t>
            </a:r>
          </a:p>
        </p:txBody>
      </p:sp>
      <p:sp>
        <p:nvSpPr>
          <p:cNvPr id="33" name="Rounded Rectangle 32"/>
          <p:cNvSpPr/>
          <p:nvPr/>
        </p:nvSpPr>
        <p:spPr>
          <a:xfrm>
            <a:off x="14264640" y="2857500"/>
            <a:ext cx="3108960" cy="5334000"/>
          </a:xfrm>
          <a:prstGeom prst="roundRect">
            <a:avLst>
              <a:gd name="adj" fmla="val 490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4531340" y="3143250"/>
            <a:ext cx="2575560" cy="857250"/>
          </a:xfrm>
          <a:prstGeom prst="rect">
            <a:avLst/>
          </a:prstGeom>
          <a:noFill/>
        </p:spPr>
        <p:txBody>
          <a:bodyPr wrap="square" lIns="0" rIns="0" tIns="0" bIns="0" anchor="t">
            <a:spAutoFit/>
          </a:bodyPr>
          <a:lstStyle/>
          <a:p>
            <a:pPr algn="l"/>
            <a:r>
              <a:rPr sz="5400" b="1" i="0">
                <a:solidFill>
                  <a:srgbClr val="CC2200"/>
                </a:solidFill>
                <a:latin typeface="Geist"/>
                <a:ea typeface="Geist"/>
                <a:cs typeface="Geist"/>
              </a:rPr>
              <a:t>4</a:t>
            </a:r>
          </a:p>
        </p:txBody>
      </p:sp>
      <p:sp>
        <p:nvSpPr>
          <p:cNvPr id="35" name="TextBox 34"/>
          <p:cNvSpPr txBox="1"/>
          <p:nvPr/>
        </p:nvSpPr>
        <p:spPr>
          <a:xfrm>
            <a:off x="14531340" y="4000500"/>
            <a:ext cx="2575560" cy="285750"/>
          </a:xfrm>
          <a:prstGeom prst="rect">
            <a:avLst/>
          </a:prstGeom>
          <a:noFill/>
        </p:spPr>
        <p:txBody>
          <a:bodyPr wrap="square" lIns="0" rIns="0" tIns="0" bIns="0" anchor="t">
            <a:spAutoFit/>
          </a:bodyPr>
          <a:lstStyle/>
          <a:p>
            <a:pPr algn="l"/>
            <a:r>
              <a:rPr sz="1350" b="1" i="0" spc="130">
                <a:solidFill>
                  <a:srgbClr val="9A7878"/>
                </a:solidFill>
                <a:latin typeface="Geist"/>
                <a:ea typeface="Geist"/>
                <a:cs typeface="Geist"/>
              </a:rPr>
              <a:t>CHECKPOINTS</a:t>
            </a:r>
          </a:p>
        </p:txBody>
      </p:sp>
      <p:sp>
        <p:nvSpPr>
          <p:cNvPr id="36" name="TextBox 35"/>
          <p:cNvSpPr txBox="1"/>
          <p:nvPr/>
        </p:nvSpPr>
        <p:spPr>
          <a:xfrm>
            <a:off x="14531340" y="4381500"/>
            <a:ext cx="257556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Choreo</a:t>
            </a:r>
          </a:p>
        </p:txBody>
      </p:sp>
      <p:sp>
        <p:nvSpPr>
          <p:cNvPr id="37" name="TextBox 36"/>
          <p:cNvSpPr txBox="1"/>
          <p:nvPr/>
        </p:nvSpPr>
        <p:spPr>
          <a:xfrm>
            <a:off x="14531340" y="523875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Waypoints on two paths</a:t>
            </a:r>
          </a:p>
        </p:txBody>
      </p:sp>
      <p:sp>
        <p:nvSpPr>
          <p:cNvPr id="38" name="TextBox 37"/>
          <p:cNvSpPr txBox="1"/>
          <p:nvPr/>
        </p:nvSpPr>
        <p:spPr>
          <a:xfrm>
            <a:off x="14531340" y="5663565"/>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A real constraint</a:t>
            </a:r>
          </a:p>
        </p:txBody>
      </p:sp>
      <p:sp>
        <p:nvSpPr>
          <p:cNvPr id="39" name="TextBox 38"/>
          <p:cNvSpPr txBox="1"/>
          <p:nvPr/>
        </p:nvSpPr>
        <p:spPr>
          <a:xfrm>
            <a:off x="14531340" y="6088380"/>
            <a:ext cx="2575560" cy="272415"/>
          </a:xfrm>
          <a:prstGeom prst="rect">
            <a:avLst/>
          </a:prstGeom>
          <a:noFill/>
        </p:spPr>
        <p:txBody>
          <a:bodyPr wrap="square" lIns="0" rIns="0" tIns="0" bIns="0" anchor="t">
            <a:spAutoFit/>
          </a:bodyPr>
          <a:lstStyle/>
          <a:p>
            <a:pPr algn="l">
              <a:lnSpc>
                <a:spcPct val="125000"/>
              </a:lnSpc>
            </a:pPr>
            <a:r>
              <a:rPr sz="1650" b="1" i="0">
                <a:solidFill>
                  <a:srgbClr val="CC2200"/>
                </a:solidFill>
                <a:latin typeface="Geist"/>
                <a:ea typeface="Geist"/>
                <a:cs typeface="Geist"/>
              </a:rPr>
              <a:t>•  </a:t>
            </a:r>
            <a:r>
              <a:rPr sz="1650" b="0" i="0">
                <a:solidFill>
                  <a:srgbClr val="F0E8E8"/>
                </a:solidFill>
                <a:latin typeface="Geist"/>
                <a:ea typeface="Geist"/>
                <a:cs typeface="Geist"/>
              </a:rPr>
              <a:t>Both paths generate</a:t>
            </a:r>
          </a:p>
        </p:txBody>
      </p:sp>
      <p:sp>
        <p:nvSpPr>
          <p:cNvPr id="40" name="TextBox 39"/>
          <p:cNvSpPr txBox="1"/>
          <p:nvPr/>
        </p:nvSpPr>
        <p:spPr>
          <a:xfrm>
            <a:off x="914400" y="85725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In Scriptum: </a:t>
            </a:r>
            <a:r>
              <a:rPr sz="1950" b="1" i="0">
                <a:solidFill>
                  <a:srgbClr val="F0E8E8"/>
                </a:solidFill>
                <a:latin typeface="Geist"/>
                <a:ea typeface="Geist"/>
                <a:cs typeface="Geist"/>
              </a:rPr>
              <a:t>Tools track</a:t>
            </a:r>
            <a:r>
              <a:rPr sz="1950" b="0" i="0">
                <a:solidFill>
                  <a:srgbClr val="9A7878"/>
                </a:solidFill>
                <a:latin typeface="Geist"/>
                <a:ea typeface="Geist"/>
                <a:cs typeface="Geist"/>
              </a:rPr>
              <a:t>  ·  open the lesson chip and press Verify</a:t>
            </a:r>
          </a:p>
        </p:txBody>
      </p:sp>
      <p:pic>
        <p:nvPicPr>
          <p:cNvPr id="41" name="Picture 40" descr="mw_logo_small.png"/>
          <p:cNvPicPr>
            <a:picLocks noChangeAspect="1"/>
          </p:cNvPicPr>
          <p:nvPr/>
        </p:nvPicPr>
        <p:blipFill>
          <a:blip r:embed="rId3"/>
          <a:stretch>
            <a:fillRect/>
          </a:stretch>
        </p:blipFill>
        <p:spPr>
          <a:xfrm>
            <a:off x="914400" y="9410700"/>
            <a:ext cx="583564" cy="495300"/>
          </a:xfrm>
          <a:prstGeom prst="rect">
            <a:avLst/>
          </a:prstGeom>
        </p:spPr>
      </p:pic>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Find your way around the editor and run a program</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Commit, branch, merge and resolve a conflict</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Push and pull with the team's GitHub</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robot telemetry in AdvantageScope</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Build a driver dashboard in Elastic</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9525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Plan and generate a Choreo path</a:t>
            </a:r>
          </a:p>
        </p:txBody>
      </p:sp>
      <p:sp>
        <p:nvSpPr>
          <p:cNvPr id="17" name="Rounded Rectangle 16"/>
          <p:cNvSpPr/>
          <p:nvPr/>
        </p:nvSpPr>
        <p:spPr>
          <a:xfrm>
            <a:off x="12039600" y="2857500"/>
            <a:ext cx="53340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496800" y="3276600"/>
            <a:ext cx="438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pic>
        <p:nvPicPr>
          <p:cNvPr id="19" name="Picture 18" descr="code-slash.png"/>
          <p:cNvPicPr>
            <a:picLocks noChangeAspect="1"/>
          </p:cNvPicPr>
          <p:nvPr/>
        </p:nvPicPr>
        <p:blipFill>
          <a:blip r:embed="rId4"/>
          <a:stretch>
            <a:fillRect/>
          </a:stretch>
        </p:blipFill>
        <p:spPr>
          <a:xfrm>
            <a:off x="12496800" y="3810000"/>
            <a:ext cx="571500" cy="533400"/>
          </a:xfrm>
          <a:prstGeom prst="rect">
            <a:avLst/>
          </a:prstGeom>
        </p:spPr>
      </p:pic>
      <p:sp>
        <p:nvSpPr>
          <p:cNvPr id="20" name="TextBox 19"/>
          <p:cNvSpPr txBox="1"/>
          <p:nvPr/>
        </p:nvSpPr>
        <p:spPr>
          <a:xfrm>
            <a:off x="12496800" y="4572000"/>
            <a:ext cx="4476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Motors and Drivetrains</a:t>
            </a:r>
          </a:p>
        </p:txBody>
      </p:sp>
      <p:sp>
        <p:nvSpPr>
          <p:cNvPr id="21" name="TextBox 20"/>
          <p:cNvSpPr txBox="1"/>
          <p:nvPr/>
        </p:nvSpPr>
        <p:spPr>
          <a:xfrm>
            <a:off x="12496800" y="5810250"/>
            <a:ext cx="4476750" cy="1714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first FRC Robot lesson: tank drive, then arcade drive.</a:t>
            </a:r>
          </a:p>
        </p:txBody>
      </p:sp>
      <p:pic>
        <p:nvPicPr>
          <p:cNvPr id="22" name="Picture 21" descr="mw_logo_small.png"/>
          <p:cNvPicPr>
            <a:picLocks noChangeAspect="1"/>
          </p:cNvPicPr>
          <p:nvPr/>
        </p:nvPicPr>
        <p:blipFill>
          <a:blip r:embed="rId5"/>
          <a:stretch>
            <a:fillRect/>
          </a:stretch>
        </p:blipFill>
        <p:spPr>
          <a:xfrm>
            <a:off x="914400" y="9410700"/>
            <a:ext cx="583564" cy="495300"/>
          </a:xfrm>
          <a:prstGeom prst="rect">
            <a:avLst/>
          </a:prstGeom>
        </p:spPr>
      </p:pic>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