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7. Last time the flywheel learned to hold its speed. Today the shooter gets organized: we give it a state machine so it can never feed a game piece into a slow wheel, and we connect it to the controller with commands. The hands-on part is the State Machines and Commands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idea of a state machine with everyday examples, then the Java that writes one, then the shooter's own machine, then commands and buttons. By the end of the lesson, holding one button spins the shooter up and only feeds once it's at speed. Ask: what's something at home that has modes? (Microwave, washing machine, phone ringer.)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what a state machine is, and how to draw one. Everyday examples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traffic light is a state machine. It's always in exactly one state: red, green or yellow. Never two at once, never none. Each state has a job: stop, go, get ready to stop. The arrows are the transitions, and each has a reason: here, a timer running out. Notice what's missing: there's no arrow from red straight to yellow, so it can't happen. Ask: which state is the light in right now on this slide? (Red, the outlined box.) What would happen to drivers if red could jump to yellow?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to learn. A state is a mode the mechanism can be in, and each state has one job: what the motors and outputs do while it's in that state. A transition is a move from one state to another, and it always has a reason, called its condition: a button, a sensor, a timer. Robots use finite state machines: a short, fixed list of states. Activity: have students name the states of a washing machine (fill, wash, rinse, spin, done) and the condition for each move.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docs' dimmer switch, and the old training's example. Four states, each setting a brightness number. The on button steps up: OFF to DIMMED to NORMAL to BRIGHT. The off button goes straight back to OFF from any of them. Notice the arrows decide everything: pressing on while BRIGHT does nothing, because there's no arrow out of BRIGHT for the on button. Ask: the light is in NORMAL. The driver presses on twice. Where does it end up? (BRIGHT: the second press has no arrow.)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example from Dozer's guide: an intake. IDLE to INTAKING when the driver asks. INTAKING to HOLDING only when the sensor sees a game piece. HOLDING to EJECTING when the driver wants it out. Letting go goes back to IDLE. Look at what's missing: no arrow from IDLE straight to HOLDING. That's on purpose: you can't be holding a piece you never pulled in. Activity: have pairs draw the machine for a door (CLOSED, OPENING, OPEN, CLOSING) on paper before showing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subsystems keep two states apart. The wanted state is what the driver or a command asks for. The real state, system_state_, is where the mechanism actually is. Every 20 ms the subsystem looks at what's wanted, checks its rules, and picks the real state it's allowed to be in. Then a switch makes the motors do that state's job. So a driver mashing buttons can't break anything: the rules decide. Ask: the driver wants SHOOT but the wheel is stopped. What's the real state? (SPIN_UP.)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of Java. You met enum and switch on the drivetrain; today you write your own. The boolean operators are new.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enum is a list of every state a subsystem is allowed to be in. ShooterStates has three: IDLE, SPIN_UP and SHOOT. Nothing else exists, so you can't mistype one: Java catches SHOT before the robot runs. The enum lives in ShooterConstants. You write ShooterStates.SHOOT to name one. Compare: using numbers 0, 1, 2 for states works, but what does 2 mean six months from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is a menu: look at a value and run the matching case. Here it looks at the lamp's state. Each case does one job, then break says: done, leave the switch. default catches anything not listed. Putting case OFF and default together means: OFF, or anything unexpected, turns the lamp off. That's the safe answer. Ask: what brightness does the lamp get in DIM? (0.3.)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drivetrain in this lesson is already a state machine, and it's the pattern you copy. Two states: IDLE and ARCADE. Robot.java asks for IDLE when disabled and ARCADE when teleop starts. The drivetrain has no special rules, so MWLib's default handleStateTransition just copies the wanted state. updateLogic runs every 20 ms and the switch does each state's job. Read it first: the shooter's switch looks just like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switch bug: forgetting break. Without it, Java doesn't stop at the end of a case: it falls through and runs the next case too. Here, SPIN_UP is supposed to keep the roller still, but with no break it runs on into SHOOT's code and starts feeding into a slow wheel. Exactly what the state machine was meant to stop. The fix is one word. Ask: in the lamp switch, why is it fine that case OFF has no break? (Nothing is in it: it falls into default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Transitions need yes-or-no questions. A boolean is true or false. A comparison like speed &gt;= 291 gives a boolean. Three operators combine them: &amp;&amp; means and (both must be true), || means or (either one), ! means not (flips it). The old training's intake used one: if we're intaking AND a game piece is detected, go to IDLE. Activity: read each line on the right aloud as an English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thing. The shooter from Control Theory gets three states and four rules.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shooter needs this. Last lesson the driver held one button to spin up and another to feed. Nothing stopped them feeding into a wheel that wasn't up to speed, so the shot falls short. And the subsystem read the buttons itself, which gets messy as robots grow. Two mechanisms: the flywheel launches, the roller feeds game pieces into it. The state machine decides when each may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shooter's whole machine. IDLE: everything stopped. SPIN_UP: flywheel only, roller waits. SHOOT: flywheel and roller. Rules: wanting SHOOT moves IDLE to SPIN_UP. SPIN_UP moves to SHOOT once isAtSpeed() is true. A launch slows the wheel: if hasDipped(), SHOOT drops back to SPIN_UP. Letting go of the button wants IDLE, which goes straight to IDLE from anywhere. There's no IDLE to SHOOT arrow: that's the whole point. Activity: have three students stand as the states and one hold a token for the current state; call out events.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transition conditions are yes-or-no methods, already written for you. The target is 300 radians per second. isAtSpeed: true once the flywheel is within 3 percent, so at 291 or more. hasDipped: true when it falls more than 8 percent below, under 276. The gap between them stops the state flickering back and forth. Names like isAtSpeed read like English inside an if. Ask: the wheel is at 285. Which is true? (Neither: not at speed, not dipped. The state stays where it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in the method MWLib calls every loop with the wanted state. First: if IDLE is wanted, go to IDLE, no matter what. That's the safe answer and it always wins. Otherwise the driver wants to shoot, so take one safe step from wherever we are: IDLE steps to SPIN_UP, SPIN_UP steps to SHOOT only if isAtSpeed(), SHOOT steps back to SPIN_UP if hasDipped(). The lesson's solution writes each case on three lines; it's squeezed here to fit. Ask: why is there no case that sets SHOOT from IDLE?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method: what the motors do in each state. Same shape as the drivetrain's switch. IDLE stops both. SPIN_UP runs the flywheel with runFlywheel(), the control code from last lesson, and keeps the roller still. SHOOT runs the flywheel and feeds with the roller at half power. Keep the two jobs separate: the rules pick the state, the switch acts on it. No motor code in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whole shot, as the flywheel speed graph. 1: the driver holds the button, IDLE steps to SPIN_UP and the wheel speeds up. 2: it crosses 291, isAtSpeed() is true, SHOOT: the roller feeds. 3: a game piece launches and drags the wheel under 276, hasDipped(), back to SPIN_UP; the roller stops. 4: back above 291, SHOOT again. 5: button let go, IDLE, the wheel coasts down. The band under the graph is the state. The lesson's checks time step 1 to 2 and count the SHOOTs.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it like a detective, one loop at a time. Cover the state column and have the class fill it in from the wanted state and the speed. Row 2 is the one people get wrong: the driver wants SHOOT, but from IDLE the rules only allow SPIN_UP. Row 5 shows the dip after a launch.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mistakes Dozer sees most. A state with no way out: you can get in but no rule leaves, so the mechanism is stuck. No default: an unexpected state leaves motors running. Motor code inside the rules: now two places decide what the motors do. Forgetting break: one case runs into the next. When a mechanism acts strangely, first ask: which state is it in? The logged State tells you. Ask: in our shooter, how do you get out of SHOOT? (hasDipped, or wanting IDLE.)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is a state machine. Now the robot itself becomes one, sitting on top of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robot actions need more than one subsystem. Shooting means the drivetrain keeps driving and the shooter spins up and feeds. So we put one more state machine on top: the super state machine, which lives in RobotContainer. Buttons, and later autonomous routines, only ask the robot for a state with setWantedState. Every loop, before the subsystems run, the robot asks each subsystem for the state it needs. Each subsystem still decides for itself when it may get there: the shooter still spins up before it feeds. Ask: what would happen if the button talked to the shooter directly and the autonomous code did too? (Two places to keep in sync, and they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robot's states are in RobotStates.java: IDLE, DRIVE and SHOOT. Each robot state is one row: what it asks the drivetrain for and what it asks the shooter for. Robot.java asks for IDLE when the robot is disabled and DRIVE when teleop starts; the right bumper asks for SHOOT. Notice SHOOT keeps driving: the driver can still move while shooting. Ask: which row would you add for an intake? (A new robot state, with a new column for the intake.)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the lesson: RobotContainer's updateLogic. It's the same switch you wrote for the shooter, one level up. 1: switch on the robot's own state, system_state_. 2: every case asks every subsystem for a state, here the drivetrain and the shooter. 3: break, so the cases don't fall through. IDLE is the default: both subsystems IDLE. There's no if inside: each state simply asks for what it needs, every loop. RobotContainer extends MW-Lib's MwSuperStateMachine, so it's written just like a subsystem.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bother? Write it once. The right bumper asks the robot for SHOOT. In Deck 9 an autonomous routine asks for the very same SHOOT, so shooting is written once, in RobotContainer, and teleop and auto can never drift apart. On the 2026 competition robot SHOOT is bigger: buttons and autos ask for SHOOT, but the robot is never in SHOOT itself. Each loop it picks a step state: SHOOT_WAIT while the shooter spins up, SHOOT_FEED once it's ready, and a couple more. Ask: why split SHOOT into steps? (Each step asks the subsystems for different things, and the robot can report when it's done.)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knows how to behave. Now: how does a button ask it for something? With a command.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command is a small action the robot can take. Buttons start commands, and our commands only ask the robot for a state. On our team the rule is: commands stay thin. All the real behavior lives in the state machines: RobotContainer and the subsystems. That's why the shooter no longer reads buttons itself, and there are no per-subsystem command files. Ask: if the shoot logic lived in the command, what would the autonomous code have to copy? (All of it. Instead, auto asks for SHOOT too.)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every command runs like a little state machine, driven by WPILib's command scheduler every 20 ms. When it's scheduled, initialize runs once. Then execute runs every loop. After each execute the scheduler asks isFinished: if false, execute again; if true, end runs once. end also runs if the command is interrupted, for example when you let go of the button. Ask: which part runs over and over? (execute.)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command you hand it some code to run later. A lambda is a tiny method with no name: empty parentheses for no inputs, an arrow, then what to do. The key idea: writing a lambda does not run it. It's a note you hand over: when this command starts, do this. Compare the two lines on the right: the first changes the state right now; the second is a note for later. Activity: write a sticky note “when the bell rings, stand up”, hand it to a student, and ring the bell later.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can build simple commands from lambdas, no new class needed. Each fills in a different part of the life cycle, shown in red. runOnce runs its lambda in initialize and finishes straight away. run runs its lambda in execute, every loop, until interrupted. startEnd runs one lambda at the start and another at the end. This lesson uses runOnce and startEnd. Ask: which one would you use to ring a bell once? To keep a fan on while a button is held?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OI.java is the Operator Interface: everything the drivers do. The controller is a CommandXboxController, an Xbox controller whose buttons can start commands. configureBindings runs once at startup. 1: get the robot. 2: right bumper, whileTrue, a startEnd command: ask for SHOOT when it starts and DRIVE when it ends. 3: A, onTrue, a runOnce command: one fake launch, which pushes back on the flywheel like a real game piece. Notice neither button touches the shooter's states: the bumper asks the robot.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bind, drawn over time. The top row is the button: up while held. whileTrue: the command runs exactly while the button is held and is interrupted when you let go, so its end runs. That's shoot. onTrue: the command starts once on each press. Our launch command finishes right away. toggleOnTrue: one press starts it, the next press stops it. Ask: which would suit a climber that should keep pulling after the driver lets go? (onTrue or toggleOnTrue.)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all together. 1: the driver holds the right bumper. 2: whileTrue starts the startEnd command, whose start lambda asks the robot for SHOOT, and the robot asks the shooter for SHOOT. 3: next loop the shooter's rules see IDLE and step to SPIN_UP; the flywheel runs. 4: once isAtSpeed(), SHOOT: the roller feeds. 5: the driver lets go, the command ends, the robot goes back to DRIVE, and it asks the shooter for IDLE. Ask: which of these five steps touched a motor directly? (Only the subsystem's switch ever does.)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in Scriptum. Start, enable Teleop. No gamepad? U is the right bumper and K is the A button. Hold U: in AdvantageScope, Shooter State goes SPIN_UP, then SHOOT. Keep holding and tap K: it falls back to SPIN_UP and returns to SHOOT, and ShotCount goes up to 2. On the real robot you do the same with an Xbox controller and AdvantageScope on the laptop.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State Machines lesson in Scriptum's FRC Robot track. Part 1 is the state machine in ShooterSubsystem, part 2 the robot's state machine in RobotContainer and the bindings. Press Verify on each checkpoint: the first reads your OI code, the other two watch the shooter while you hold U and tap K. The README suggests about 3 hours.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 subsystem on our robots is built this way: an enum of states, rules that pick the state, a switch that acts on it, and thin commands that say what's wanted. Next deck the robot learns to see AprilTags. The Java lessons in the middle are optional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0.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9.png"/><Relationship Id="rId8"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7</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State Machines and Commands</a:t>
            </a:r>
          </a:p>
        </p:txBody>
      </p:sp>
      <p:sp>
        <p:nvSpPr>
          <p:cNvPr id="6" name="TextBox 5"/>
          <p:cNvSpPr txBox="1"/>
          <p:nvPr/>
        </p:nvSpPr>
        <p:spPr>
          <a:xfrm>
            <a:off x="914400" y="4953000"/>
            <a:ext cx="104775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Give the shooter a state machine, make the robot one too, then ask it for states from buttons.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state at a time. Even I can manage that!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states to buttons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toplights.png"/>
          <p:cNvPicPr>
            <a:picLocks noChangeAspect="1"/>
          </p:cNvPicPr>
          <p:nvPr/>
        </p:nvPicPr>
        <p:blipFill>
          <a:blip r:embed="rId3"/>
          <a:stretch>
            <a:fillRect/>
          </a:stretch>
        </p:blipFill>
        <p:spPr>
          <a:xfrm>
            <a:off x="1363980" y="3238500"/>
            <a:ext cx="54864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State machines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States, transitions and diagrams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slash.png"/>
          <p:cNvPicPr>
            <a:picLocks noChangeAspect="1"/>
          </p:cNvPicPr>
          <p:nvPr/>
        </p:nvPicPr>
        <p:blipFill>
          <a:blip r:embed="rId4"/>
          <a:stretch>
            <a:fillRect/>
          </a:stretch>
        </p:blipFill>
        <p:spPr>
          <a:xfrm>
            <a:off x="4614182" y="3238500"/>
            <a:ext cx="734786"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Java for states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enum, switch and boolean logic</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iagram-2.png"/>
          <p:cNvPicPr>
            <a:picLocks noChangeAspect="1"/>
          </p:cNvPicPr>
          <p:nvPr/>
        </p:nvPicPr>
        <p:blipFill>
          <a:blip r:embed="rId5"/>
          <a:stretch>
            <a:fillRect/>
          </a:stretch>
        </p:blipFill>
        <p:spPr>
          <a:xfrm>
            <a:off x="8039100" y="3238500"/>
            <a:ext cx="5715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shooter's machine</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IDLE, SPIN_UP and SHOOT</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diagram-3.png"/>
          <p:cNvPicPr>
            <a:picLocks noChangeAspect="1"/>
          </p:cNvPicPr>
          <p:nvPr/>
        </p:nvPicPr>
        <p:blipFill>
          <a:blip r:embed="rId6"/>
          <a:stretch>
            <a:fillRect/>
          </a:stretch>
        </p:blipFill>
        <p:spPr>
          <a:xfrm>
            <a:off x="11287125" y="3295650"/>
            <a:ext cx="762000" cy="5715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robot's machine</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RobotContainer on top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ntroller.png"/>
          <p:cNvPicPr>
            <a:picLocks noChangeAspect="1"/>
          </p:cNvPicPr>
          <p:nvPr/>
        </p:nvPicPr>
        <p:blipFill>
          <a:blip r:embed="rId7"/>
          <a:stretch>
            <a:fillRect/>
          </a:stretch>
        </p:blipFill>
        <p:spPr>
          <a:xfrm>
            <a:off x="14630400" y="3294089"/>
            <a:ext cx="762000" cy="574623"/>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Buttons and commands</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Lambdas, whileTrue, onTrue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one button asks the robot for SHOOT; the shooter spins up, then feeds at speed.</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Always in exactly one state, with clear rules for moving on</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traffic light never shows red and green at once. Neither do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traffic light is a state machine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6400" y="4000500"/>
            <a:ext cx="3619500" cy="1905000"/>
          </a:xfrm>
          <a:prstGeom prst="roundRect">
            <a:avLst>
              <a:gd name="adj" fmla="val 11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26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7" name="Rounded Rectangle 6"/>
          <p:cNvSpPr/>
          <p:nvPr/>
        </p:nvSpPr>
        <p:spPr>
          <a:xfrm>
            <a:off x="1828800" y="3829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28800" y="3829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9" name="Oval 8"/>
          <p:cNvSpPr/>
          <p:nvPr/>
        </p:nvSpPr>
        <p:spPr>
          <a:xfrm>
            <a:off x="2057400" y="4572000"/>
            <a:ext cx="762000" cy="762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RED</a:t>
            </a:r>
          </a:p>
        </p:txBody>
      </p:sp>
      <p:sp>
        <p:nvSpPr>
          <p:cNvPr id="11" name="TextBox 10"/>
          <p:cNvSpPr txBox="1"/>
          <p:nvPr/>
        </p:nvSpPr>
        <p:spPr>
          <a:xfrm>
            <a:off x="30480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stop</a:t>
            </a:r>
          </a:p>
        </p:txBody>
      </p:sp>
      <p:sp>
        <p:nvSpPr>
          <p:cNvPr id="12" name="Rounded Rectangle 11"/>
          <p:cNvSpPr/>
          <p:nvPr/>
        </p:nvSpPr>
        <p:spPr>
          <a:xfrm>
            <a:off x="733425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1045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4" name="Oval 13"/>
          <p:cNvSpPr/>
          <p:nvPr/>
        </p:nvSpPr>
        <p:spPr>
          <a:xfrm>
            <a:off x="7715250" y="4572000"/>
            <a:ext cx="762000" cy="7620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585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GREEN</a:t>
            </a:r>
          </a:p>
        </p:txBody>
      </p:sp>
      <p:sp>
        <p:nvSpPr>
          <p:cNvPr id="16" name="TextBox 15"/>
          <p:cNvSpPr txBox="1"/>
          <p:nvPr/>
        </p:nvSpPr>
        <p:spPr>
          <a:xfrm>
            <a:off x="870585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go</a:t>
            </a:r>
          </a:p>
        </p:txBody>
      </p:sp>
      <p:sp>
        <p:nvSpPr>
          <p:cNvPr id="17" name="Rounded Rectangle 16"/>
          <p:cNvSpPr/>
          <p:nvPr/>
        </p:nvSpPr>
        <p:spPr>
          <a:xfrm>
            <a:off x="1299210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0683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9" name="Oval 18"/>
          <p:cNvSpPr/>
          <p:nvPr/>
        </p:nvSpPr>
        <p:spPr>
          <a:xfrm>
            <a:off x="13373100" y="4572000"/>
            <a:ext cx="762000" cy="762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637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YELLOW</a:t>
            </a:r>
          </a:p>
        </p:txBody>
      </p:sp>
      <p:sp>
        <p:nvSpPr>
          <p:cNvPr id="21" name="TextBox 20"/>
          <p:cNvSpPr txBox="1"/>
          <p:nvPr/>
        </p:nvSpPr>
        <p:spPr>
          <a:xfrm>
            <a:off x="143637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Get ready to stop</a:t>
            </a:r>
          </a:p>
        </p:txBody>
      </p:sp>
      <p:sp>
        <p:nvSpPr>
          <p:cNvPr id="22" name="Rectangle 21"/>
          <p:cNvSpPr/>
          <p:nvPr/>
        </p:nvSpPr>
        <p:spPr>
          <a:xfrm>
            <a:off x="537210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0866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5074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5074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26" name="Rectangle 25"/>
          <p:cNvSpPr/>
          <p:nvPr/>
        </p:nvSpPr>
        <p:spPr>
          <a:xfrm>
            <a:off x="1102995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27444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60859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60859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30" name="Rectangle 29"/>
          <p:cNvSpPr/>
          <p:nvPr/>
        </p:nvSpPr>
        <p:spPr>
          <a:xfrm>
            <a:off x="14782800" y="5886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a:off x="14766275"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4659996"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4484350"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4241547"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3934639"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3567485"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3144704"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2671612"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215415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598849"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012669"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0402990"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777478"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144000"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8510522"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885010"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275331"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6689151"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133842"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638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5143296"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720515"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353361"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046453"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803650"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628004"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521725"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486150"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3467100" y="6023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a:off x="3409950" y="5905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779669" y="697563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779669" y="697563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63" name="Rectangle 62"/>
          <p:cNvSpPr/>
          <p:nvPr/>
        </p:nvSpPr>
        <p:spPr>
          <a:xfrm>
            <a:off x="4038600" y="3733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flipV="1">
            <a:off x="4057650" y="3663267"/>
            <a:ext cx="31982" cy="8958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85175" y="3488594"/>
            <a:ext cx="157904" cy="86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7" y="3327171"/>
            <a:ext cx="275907" cy="785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167331" y="3187094"/>
            <a:ext cx="380076" cy="6690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972713" y="3075386"/>
            <a:ext cx="465186" cy="519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937115" y="2997649"/>
            <a:ext cx="526970" cy="3433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012181" y="2957781"/>
            <a:ext cx="562328" cy="150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144000" y="2952750"/>
            <a:ext cx="569491" cy="503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75819" y="2972810"/>
            <a:ext cx="548096" cy="2483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350885" y="3031985"/>
            <a:ext cx="499216" cy="4340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315287" y="3127307"/>
            <a:ext cx="425306" cy="597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120669" y="3253996"/>
            <a:ext cx="330067" cy="7317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726643" y="3405700"/>
            <a:ext cx="218278" cy="8289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4102825" y="3574811"/>
            <a:ext cx="95543" cy="8845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4211300" y="3714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Isosceles Triangle 78"/>
          <p:cNvSpPr/>
          <p:nvPr/>
        </p:nvSpPr>
        <p:spPr>
          <a:xfrm rot="10800000">
            <a:off x="14154150" y="3848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169944" y="2784634"/>
            <a:ext cx="432911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7169944" y="2784634"/>
            <a:ext cx="432911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RED → YELLOW arrow, so it can't happen</a:t>
            </a:r>
          </a:p>
        </p:txBody>
      </p:sp>
      <p:sp>
        <p:nvSpPr>
          <p:cNvPr id="82" name="Oval 81"/>
          <p:cNvSpPr/>
          <p:nvPr/>
        </p:nvSpPr>
        <p:spPr>
          <a:xfrm>
            <a:off x="6553200" y="2743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53200" y="2743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84" name="Rounded Rectangle 8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5" name="Picture 84" descr="stoplights.png"/>
          <p:cNvPicPr>
            <a:picLocks noChangeAspect="1"/>
          </p:cNvPicPr>
          <p:nvPr/>
        </p:nvPicPr>
        <p:blipFill>
          <a:blip r:embed="rId3"/>
          <a:stretch>
            <a:fillRect/>
          </a:stretch>
        </p:blipFill>
        <p:spPr>
          <a:xfrm>
            <a:off x="1333500" y="8305800"/>
            <a:ext cx="426720" cy="533400"/>
          </a:xfrm>
          <a:prstGeom prst="rect">
            <a:avLst/>
          </a:prstGeom>
        </p:spPr>
      </p:pic>
      <p:sp>
        <p:nvSpPr>
          <p:cNvPr id="86" name="TextBox 85"/>
          <p:cNvSpPr txBox="1"/>
          <p:nvPr/>
        </p:nvSpPr>
        <p:spPr>
          <a:xfrm>
            <a:off x="2190750" y="80962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Two rules:  </a:t>
            </a:r>
            <a:r>
              <a:rPr sz="2100" b="0" i="0">
                <a:solidFill>
                  <a:srgbClr val="F0E8E8"/>
                </a:solidFill>
                <a:latin typeface="Geist"/>
                <a:ea typeface="Geist"/>
                <a:cs typeface="Geist"/>
              </a:rPr>
              <a:t>always exactly one state, and only the moves you draw an arrow for.</a:t>
            </a:r>
          </a:p>
        </p:txBody>
      </p:sp>
      <p:sp>
        <p:nvSpPr>
          <p:cNvPr id="87" name="TextBox 8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8" name="TextBox 8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States and transitions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ui-radios.png"/>
          <p:cNvPicPr>
            <a:picLocks noChangeAspect="1"/>
          </p:cNvPicPr>
          <p:nvPr/>
        </p:nvPicPr>
        <p:blipFill>
          <a:blip r:embed="rId3"/>
          <a:stretch>
            <a:fillRect/>
          </a:stretch>
        </p:blipFill>
        <p:spPr>
          <a:xfrm>
            <a:off x="1295400" y="3238500"/>
            <a:ext cx="653143" cy="609600"/>
          </a:xfrm>
          <a:prstGeom prst="rect">
            <a:avLst/>
          </a:prstGeom>
        </p:spPr>
      </p:pic>
      <p:sp>
        <p:nvSpPr>
          <p:cNvPr id="7" name="TextBox 6"/>
          <p:cNvSpPr txBox="1"/>
          <p:nvPr/>
        </p:nvSpPr>
        <p:spPr>
          <a:xfrm>
            <a:off x="129540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State</a:t>
            </a:r>
          </a:p>
        </p:txBody>
      </p:sp>
      <p:sp>
        <p:nvSpPr>
          <p:cNvPr id="8" name="TextBox 7"/>
          <p:cNvSpPr txBox="1"/>
          <p:nvPr/>
        </p:nvSpPr>
        <p:spPr>
          <a:xfrm>
            <a:off x="129540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mode the mechanism can be in. Each state has one job: what the motors do while it's in it.
Only one state at a time.</a:t>
            </a:r>
          </a:p>
        </p:txBody>
      </p:sp>
      <p:sp>
        <p:nvSpPr>
          <p:cNvPr id="9" name="Rounded Rectangle 8"/>
          <p:cNvSpPr/>
          <p:nvPr/>
        </p:nvSpPr>
        <p:spPr>
          <a:xfrm>
            <a:off x="630555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row-right.png"/>
          <p:cNvPicPr>
            <a:picLocks noChangeAspect="1"/>
          </p:cNvPicPr>
          <p:nvPr/>
        </p:nvPicPr>
        <p:blipFill>
          <a:blip r:embed="rId4"/>
          <a:stretch>
            <a:fillRect/>
          </a:stretch>
        </p:blipFill>
        <p:spPr>
          <a:xfrm>
            <a:off x="6686550" y="3238500"/>
            <a:ext cx="948267" cy="609600"/>
          </a:xfrm>
          <a:prstGeom prst="rect">
            <a:avLst/>
          </a:prstGeom>
        </p:spPr>
      </p:pic>
      <p:sp>
        <p:nvSpPr>
          <p:cNvPr id="11" name="TextBox 10"/>
          <p:cNvSpPr txBox="1"/>
          <p:nvPr/>
        </p:nvSpPr>
        <p:spPr>
          <a:xfrm>
            <a:off x="668655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Transition</a:t>
            </a:r>
          </a:p>
        </p:txBody>
      </p:sp>
      <p:sp>
        <p:nvSpPr>
          <p:cNvPr id="12" name="TextBox 11"/>
          <p:cNvSpPr txBox="1"/>
          <p:nvPr/>
        </p:nvSpPr>
        <p:spPr>
          <a:xfrm>
            <a:off x="668655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move from one state to another. Each one has a reason, called its condition:
a button, a sensor, a timer.</a:t>
            </a:r>
          </a:p>
        </p:txBody>
      </p:sp>
      <p:sp>
        <p:nvSpPr>
          <p:cNvPr id="13" name="Rounded Rectangle 12"/>
          <p:cNvSpPr/>
          <p:nvPr/>
        </p:nvSpPr>
        <p:spPr>
          <a:xfrm>
            <a:off x="11811000" y="2857500"/>
            <a:ext cx="556260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 WASHING MACHINE</a:t>
            </a:r>
          </a:p>
        </p:txBody>
      </p:sp>
      <p:sp>
        <p:nvSpPr>
          <p:cNvPr id="15" name="Rounded Rectangle 14"/>
          <p:cNvSpPr/>
          <p:nvPr/>
        </p:nvSpPr>
        <p:spPr>
          <a:xfrm>
            <a:off x="12382500" y="3657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382500" y="3657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FILL</a:t>
            </a:r>
          </a:p>
        </p:txBody>
      </p:sp>
      <p:sp>
        <p:nvSpPr>
          <p:cNvPr id="17" name="Rectangle 16"/>
          <p:cNvSpPr/>
          <p:nvPr/>
        </p:nvSpPr>
        <p:spPr>
          <a:xfrm>
            <a:off x="13320712" y="40814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10800000">
            <a:off x="13258800" y="41529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382500" y="4324350"/>
            <a:ext cx="1905000" cy="419100"/>
          </a:xfrm>
          <a:prstGeom prst="roundRect">
            <a:avLst>
              <a:gd name="adj" fmla="val 31818"/>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382500" y="43243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WASH</a:t>
            </a:r>
          </a:p>
        </p:txBody>
      </p:sp>
      <p:sp>
        <p:nvSpPr>
          <p:cNvPr id="21" name="Rectangle 20"/>
          <p:cNvSpPr/>
          <p:nvPr/>
        </p:nvSpPr>
        <p:spPr>
          <a:xfrm>
            <a:off x="13320712" y="47482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0800000">
            <a:off x="13258800" y="48196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82500" y="49911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382500" y="49911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RINSE</a:t>
            </a:r>
          </a:p>
        </p:txBody>
      </p:sp>
      <p:sp>
        <p:nvSpPr>
          <p:cNvPr id="25" name="Rectangle 24"/>
          <p:cNvSpPr/>
          <p:nvPr/>
        </p:nvSpPr>
        <p:spPr>
          <a:xfrm>
            <a:off x="13320712" y="54149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13258800" y="54864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382500" y="565785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382500" y="56578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SPIN</a:t>
            </a:r>
          </a:p>
        </p:txBody>
      </p:sp>
      <p:sp>
        <p:nvSpPr>
          <p:cNvPr id="29" name="Rectangle 28"/>
          <p:cNvSpPr/>
          <p:nvPr/>
        </p:nvSpPr>
        <p:spPr>
          <a:xfrm>
            <a:off x="13320712" y="60817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10800000">
            <a:off x="13258800" y="61531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82500" y="6324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382500" y="6324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DONE</a:t>
            </a:r>
          </a:p>
        </p:txBody>
      </p:sp>
      <p:sp>
        <p:nvSpPr>
          <p:cNvPr id="33" name="TextBox 32"/>
          <p:cNvSpPr txBox="1"/>
          <p:nvPr/>
        </p:nvSpPr>
        <p:spPr>
          <a:xfrm>
            <a:off x="14478000" y="40576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tub full</a:t>
            </a:r>
          </a:p>
        </p:txBody>
      </p:sp>
      <p:sp>
        <p:nvSpPr>
          <p:cNvPr id="34" name="TextBox 33"/>
          <p:cNvSpPr txBox="1"/>
          <p:nvPr/>
        </p:nvSpPr>
        <p:spPr>
          <a:xfrm>
            <a:off x="14478000" y="47244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5" name="TextBox 34"/>
          <p:cNvSpPr txBox="1"/>
          <p:nvPr/>
        </p:nvSpPr>
        <p:spPr>
          <a:xfrm>
            <a:off x="14478000" y="53911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6" name="TextBox 35"/>
          <p:cNvSpPr txBox="1"/>
          <p:nvPr/>
        </p:nvSpPr>
        <p:spPr>
          <a:xfrm>
            <a:off x="14478000" y="60579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water out</a:t>
            </a:r>
          </a:p>
        </p:txBody>
      </p:sp>
      <p:sp>
        <p:nvSpPr>
          <p:cNvPr id="37" name="Rounded Rectangle 36"/>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robot.png"/>
          <p:cNvPicPr>
            <a:picLocks noChangeAspect="1"/>
          </p:cNvPicPr>
          <p:nvPr/>
        </p:nvPicPr>
        <p:blipFill>
          <a:blip r:embed="rId5"/>
          <a:stretch>
            <a:fillRect/>
          </a:stretch>
        </p:blipFill>
        <p:spPr>
          <a:xfrm>
            <a:off x="1333500" y="7829550"/>
            <a:ext cx="568960" cy="533400"/>
          </a:xfrm>
          <a:prstGeom prst="rect">
            <a:avLst/>
          </a:prstGeom>
        </p:spPr>
      </p:pic>
      <p:sp>
        <p:nvSpPr>
          <p:cNvPr id="39" name="TextBox 38"/>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a robot:  </a:t>
            </a:r>
            <a:r>
              <a:rPr sz="2100" b="0" i="0">
                <a:solidFill>
                  <a:srgbClr val="F0E8E8"/>
                </a:solidFill>
                <a:latin typeface="Geist"/>
                <a:ea typeface="Geist"/>
                <a:cs typeface="Geist"/>
              </a:rPr>
              <a:t>a short, fixed list of states, so you always know what every motor is doing.</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Draw it first: a dimmer switch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OFF</a:t>
            </a:r>
          </a:p>
        </p:txBody>
      </p:sp>
      <p:sp>
        <p:nvSpPr>
          <p:cNvPr id="7" name="TextBox 6"/>
          <p:cNvSpPr txBox="1"/>
          <p:nvPr/>
        </p:nvSpPr>
        <p:spPr>
          <a:xfrm>
            <a:off x="10287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0</a:t>
            </a:r>
          </a:p>
        </p:txBody>
      </p:sp>
      <p:sp>
        <p:nvSpPr>
          <p:cNvPr id="8" name="Rounded Rectangle 7"/>
          <p:cNvSpPr/>
          <p:nvPr/>
        </p:nvSpPr>
        <p:spPr>
          <a:xfrm>
            <a:off x="5381625"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57825"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DIMMED</a:t>
            </a:r>
          </a:p>
        </p:txBody>
      </p:sp>
      <p:sp>
        <p:nvSpPr>
          <p:cNvPr id="10" name="TextBox 9"/>
          <p:cNvSpPr txBox="1"/>
          <p:nvPr/>
        </p:nvSpPr>
        <p:spPr>
          <a:xfrm>
            <a:off x="5495925"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1</a:t>
            </a:r>
          </a:p>
        </p:txBody>
      </p:sp>
      <p:sp>
        <p:nvSpPr>
          <p:cNvPr id="11" name="Rounded Rectangle 10"/>
          <p:cNvSpPr/>
          <p:nvPr/>
        </p:nvSpPr>
        <p:spPr>
          <a:xfrm>
            <a:off x="9848850" y="3143250"/>
            <a:ext cx="3048000" cy="1619250"/>
          </a:xfrm>
          <a:prstGeom prst="roundRect">
            <a:avLst>
              <a:gd name="adj" fmla="val 12941"/>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2505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NORMAL</a:t>
            </a:r>
          </a:p>
        </p:txBody>
      </p:sp>
      <p:sp>
        <p:nvSpPr>
          <p:cNvPr id="13" name="TextBox 12"/>
          <p:cNvSpPr txBox="1"/>
          <p:nvPr/>
        </p:nvSpPr>
        <p:spPr>
          <a:xfrm>
            <a:off x="996315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2</a:t>
            </a:r>
          </a:p>
        </p:txBody>
      </p:sp>
      <p:sp>
        <p:nvSpPr>
          <p:cNvPr id="14" name="Rounded Rectangle 13"/>
          <p:cNvSpPr/>
          <p:nvPr/>
        </p:nvSpPr>
        <p:spPr>
          <a:xfrm>
            <a:off x="10001250" y="297180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01250" y="2971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6" name="Rounded Rectangle 15"/>
          <p:cNvSpPr/>
          <p:nvPr/>
        </p:nvSpPr>
        <p:spPr>
          <a:xfrm>
            <a:off x="143256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4018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BRIGHT</a:t>
            </a:r>
          </a:p>
        </p:txBody>
      </p:sp>
      <p:sp>
        <p:nvSpPr>
          <p:cNvPr id="18" name="TextBox 17"/>
          <p:cNvSpPr txBox="1"/>
          <p:nvPr/>
        </p:nvSpPr>
        <p:spPr>
          <a:xfrm>
            <a:off x="144399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3</a:t>
            </a:r>
          </a:p>
        </p:txBody>
      </p:sp>
      <p:sp>
        <p:nvSpPr>
          <p:cNvPr id="19" name="Rectangle 18"/>
          <p:cNvSpPr/>
          <p:nvPr/>
        </p:nvSpPr>
        <p:spPr>
          <a:xfrm>
            <a:off x="4019550"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153025"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57700"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57700"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3" name="Rectangle 22"/>
          <p:cNvSpPr/>
          <p:nvPr/>
        </p:nvSpPr>
        <p:spPr>
          <a:xfrm>
            <a:off x="8486775"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962025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24925"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24925"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7" name="Rectangle 26"/>
          <p:cNvSpPr/>
          <p:nvPr/>
        </p:nvSpPr>
        <p:spPr>
          <a:xfrm>
            <a:off x="12954000" y="39338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09700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3396912"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96912"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31" name="Rectangle 30"/>
          <p:cNvSpPr/>
          <p:nvPr/>
        </p:nvSpPr>
        <p:spPr>
          <a:xfrm>
            <a:off x="6505575"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H="1">
            <a:off x="6513875"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481758"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8680"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355308"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262564"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151614"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023854"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88089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724523"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556715"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379578"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195340"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5006317"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795838" y="5596867"/>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604408" y="5600700"/>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7" name="Connector 46"/>
          <p:cNvCxnSpPr/>
          <p:nvPr/>
        </p:nvCxnSpPr>
        <p:spPr>
          <a:xfrm flipH="1" flipV="1">
            <a:off x="4434435"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250197"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073060"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905252"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748884"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360592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3478161"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3367211"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274467"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201095"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148017"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115900"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3105150"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30861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Isosceles Triangle 60"/>
          <p:cNvSpPr/>
          <p:nvPr/>
        </p:nvSpPr>
        <p:spPr>
          <a:xfrm>
            <a:off x="302895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97280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3" name="Connector 62"/>
          <p:cNvCxnSpPr/>
          <p:nvPr/>
        </p:nvCxnSpPr>
        <p:spPr>
          <a:xfrm flipH="1">
            <a:off x="10964959"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0884624"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0751854"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0568321"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0336332"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058803"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739226"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9381619"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990480"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570726"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127638"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666786"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7193966"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15125"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236284"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5763464"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302612"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4859524"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439770"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48631"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691024"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371447"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093918"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861929"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678396"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545626"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2465291"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2438400"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241935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Isosceles Triangle 91"/>
          <p:cNvSpPr/>
          <p:nvPr/>
        </p:nvSpPr>
        <p:spPr>
          <a:xfrm>
            <a:off x="236220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544955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a:off x="15425538"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5296894"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1508428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14790388"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4418895"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13974478"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3462728"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2890079"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2263733"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159156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088203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0144054"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9386911"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8620125"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7853339"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7096196"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6358217"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564868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497651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4350171"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3777522"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3265772"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821355"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49862"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flipV="1">
            <a:off x="2155964"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194335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1814712"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1771650"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17526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9545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7805738" y="6975634"/>
            <a:ext cx="162877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7805738" y="6975634"/>
            <a:ext cx="162877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off (from any)</a:t>
            </a:r>
          </a:p>
        </p:txBody>
      </p:sp>
      <p:sp>
        <p:nvSpPr>
          <p:cNvPr id="126" name="TextBox 125"/>
          <p:cNvSpPr txBox="1"/>
          <p:nvPr/>
        </p:nvSpPr>
        <p:spPr>
          <a:xfrm>
            <a:off x="914400" y="8191500"/>
            <a:ext cx="1428750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No arrow for </a:t>
            </a:r>
            <a:r>
              <a:rPr sz="1950" b="1" i="0">
                <a:solidFill>
                  <a:srgbClr val="9A7878"/>
                </a:solidFill>
                <a:latin typeface="Geist"/>
                <a:ea typeface="Geist"/>
                <a:cs typeface="Geist"/>
              </a:rPr>
              <a:t>on</a:t>
            </a:r>
            <a:r>
              <a:rPr sz="1950" b="0" i="0">
                <a:solidFill>
                  <a:srgbClr val="9A7878"/>
                </a:solidFill>
                <a:latin typeface="Geist"/>
                <a:ea typeface="Geist"/>
                <a:cs typeface="Geist"/>
              </a:rPr>
              <a:t> out of BRIGHT, so pressing it there does nothing.</a:t>
            </a:r>
          </a:p>
        </p:txBody>
      </p:sp>
      <p:sp>
        <p:nvSpPr>
          <p:cNvPr id="127" name="TextBox 1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28" name="TextBox 1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robot intake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IDLE</a:t>
            </a:r>
          </a:p>
        </p:txBody>
      </p:sp>
      <p:sp>
        <p:nvSpPr>
          <p:cNvPr id="7" name="TextBox 6"/>
          <p:cNvSpPr txBox="1"/>
          <p:nvPr/>
        </p:nvSpPr>
        <p:spPr>
          <a:xfrm>
            <a:off x="10287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rollers stopped</a:t>
            </a:r>
          </a:p>
        </p:txBody>
      </p:sp>
      <p:sp>
        <p:nvSpPr>
          <p:cNvPr id="8" name="Rounded Rectangle 7"/>
          <p:cNvSpPr/>
          <p:nvPr/>
        </p:nvSpPr>
        <p:spPr>
          <a:xfrm>
            <a:off x="5448300" y="4762500"/>
            <a:ext cx="2857500" cy="1333500"/>
          </a:xfrm>
          <a:prstGeom prst="roundRect">
            <a:avLst>
              <a:gd name="adj" fmla="val 15714"/>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245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INTAKING</a:t>
            </a:r>
          </a:p>
        </p:txBody>
      </p:sp>
      <p:sp>
        <p:nvSpPr>
          <p:cNvPr id="10" name="TextBox 9"/>
          <p:cNvSpPr txBox="1"/>
          <p:nvPr/>
        </p:nvSpPr>
        <p:spPr>
          <a:xfrm>
            <a:off x="55626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pull a piece in</a:t>
            </a:r>
          </a:p>
        </p:txBody>
      </p:sp>
      <p:sp>
        <p:nvSpPr>
          <p:cNvPr id="11" name="Rounded Rectangle 10"/>
          <p:cNvSpPr/>
          <p:nvPr/>
        </p:nvSpPr>
        <p:spPr>
          <a:xfrm>
            <a:off x="5600700" y="4591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007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99822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584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HOLDING</a:t>
            </a:r>
          </a:p>
        </p:txBody>
      </p:sp>
      <p:sp>
        <p:nvSpPr>
          <p:cNvPr id="15" name="TextBox 14"/>
          <p:cNvSpPr txBox="1"/>
          <p:nvPr/>
        </p:nvSpPr>
        <p:spPr>
          <a:xfrm>
            <a:off x="100965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keep it</a:t>
            </a:r>
          </a:p>
        </p:txBody>
      </p:sp>
      <p:sp>
        <p:nvSpPr>
          <p:cNvPr id="16" name="Rounded Rectangle 15"/>
          <p:cNvSpPr/>
          <p:nvPr/>
        </p:nvSpPr>
        <p:spPr>
          <a:xfrm>
            <a:off x="145161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5923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EJECTING</a:t>
            </a:r>
          </a:p>
        </p:txBody>
      </p:sp>
      <p:sp>
        <p:nvSpPr>
          <p:cNvPr id="18" name="TextBox 17"/>
          <p:cNvSpPr txBox="1"/>
          <p:nvPr/>
        </p:nvSpPr>
        <p:spPr>
          <a:xfrm>
            <a:off x="146304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push it out</a:t>
            </a:r>
          </a:p>
        </p:txBody>
      </p:sp>
      <p:sp>
        <p:nvSpPr>
          <p:cNvPr id="19" name="Rectangle 18"/>
          <p:cNvSpPr/>
          <p:nvPr/>
        </p:nvSpPr>
        <p:spPr>
          <a:xfrm>
            <a:off x="38290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2197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19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intake</a:t>
            </a:r>
          </a:p>
        </p:txBody>
      </p:sp>
      <p:sp>
        <p:nvSpPr>
          <p:cNvPr id="22" name="Rectangle 21"/>
          <p:cNvSpPr/>
          <p:nvPr/>
        </p:nvSpPr>
        <p:spPr>
          <a:xfrm>
            <a:off x="83629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97536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5800" y="4629150"/>
            <a:ext cx="1676400" cy="666750"/>
          </a:xfrm>
          <a:prstGeom prst="rect">
            <a:avLst/>
          </a:prstGeom>
          <a:noFill/>
        </p:spPr>
        <p:txBody>
          <a:bodyPr wrap="square" lIns="0" rIns="0" tIns="0" bIns="0" anchor="t">
            <a:spAutoFit/>
          </a:bodyPr>
          <a:lstStyle/>
          <a:p>
            <a:pPr algn="ctr"/>
            <a:r>
              <a:rPr sz="1575" b="1" i="0">
                <a:solidFill>
                  <a:srgbClr val="CC2200"/>
                </a:solidFill>
                <a:latin typeface="Geist"/>
                <a:ea typeface="Geist"/>
                <a:cs typeface="Geist"/>
              </a:rPr>
              <a:t>sensor sees</a:t>
            </a:r>
          </a:p>
          <a:p>
            <a:pPr algn="ctr"/>
            <a:r>
              <a:rPr sz="1575" b="1" i="0">
                <a:solidFill>
                  <a:srgbClr val="CC2200"/>
                </a:solidFill>
                <a:latin typeface="Geist"/>
                <a:ea typeface="Geist"/>
                <a:cs typeface="Geist"/>
              </a:rPr>
              <a:t>a piece</a:t>
            </a:r>
          </a:p>
        </p:txBody>
      </p:sp>
      <p:sp>
        <p:nvSpPr>
          <p:cNvPr id="25" name="Rectangle 24"/>
          <p:cNvSpPr/>
          <p:nvPr/>
        </p:nvSpPr>
        <p:spPr>
          <a:xfrm>
            <a:off x="128968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42875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397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eject</a:t>
            </a:r>
          </a:p>
        </p:txBody>
      </p:sp>
      <p:sp>
        <p:nvSpPr>
          <p:cNvPr id="28" name="Rectangle 27"/>
          <p:cNvSpPr/>
          <p:nvPr/>
        </p:nvSpPr>
        <p:spPr>
          <a:xfrm>
            <a:off x="68580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6863994"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824989"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760527"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671417"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558780"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4034"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268872"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095245"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905338"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701538"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486408"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262654"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033089"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800600"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568111"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4338546"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114792"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3899662"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3695862"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3505955"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3332328"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177166"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042420"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929783"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840673"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776211"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737206"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724150"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2705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Isosceles Triangle 57"/>
          <p:cNvSpPr/>
          <p:nvPr/>
        </p:nvSpPr>
        <p:spPr>
          <a:xfrm>
            <a:off x="2647950" y="6096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336256" y="697563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36256" y="697563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61" name="Rectangle 60"/>
          <p:cNvSpPr/>
          <p:nvPr/>
        </p:nvSpPr>
        <p:spPr>
          <a:xfrm>
            <a:off x="159258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2" name="Connector 61"/>
          <p:cNvCxnSpPr/>
          <p:nvPr/>
        </p:nvCxnSpPr>
        <p:spPr>
          <a:xfrm flipH="1">
            <a:off x="1590089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5769562"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5552519"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5252489"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873245"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419558"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3897131"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3312535"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2673122"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1986933"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126259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0509222"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9736283"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8953500"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170717"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7397778"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6644403"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92006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5233878"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594465"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09869"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487442"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033755"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654511"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354481"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137438"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006110"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96215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43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Isosceles Triangle 90"/>
          <p:cNvSpPr/>
          <p:nvPr/>
        </p:nvSpPr>
        <p:spPr>
          <a:xfrm>
            <a:off x="1885950" y="6096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8489156" y="802338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8489156" y="802338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94" name="Rectangle 93"/>
          <p:cNvSpPr/>
          <p:nvPr/>
        </p:nvSpPr>
        <p:spPr>
          <a:xfrm>
            <a:off x="270510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5" name="Connector 94"/>
          <p:cNvCxnSpPr/>
          <p:nvPr/>
        </p:nvCxnSpPr>
        <p:spPr>
          <a:xfrm flipV="1">
            <a:off x="2724150" y="4382609"/>
            <a:ext cx="27310" cy="1322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33048" y="4124757"/>
            <a:ext cx="134839" cy="12727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154282" y="3886467"/>
            <a:ext cx="235606" cy="11592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671743" y="3679686"/>
            <a:ext cx="324559" cy="987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359484" y="3514784"/>
            <a:ext cx="397238" cy="7664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183019" y="3400029"/>
            <a:ext cx="449997" cy="506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101053" y="3341177"/>
            <a:ext cx="480190" cy="221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067550" y="3333750"/>
            <a:ext cx="486307" cy="74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034047" y="3363363"/>
            <a:ext cx="468037" cy="366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952081" y="3450716"/>
            <a:ext cx="426297" cy="6406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775616" y="3591429"/>
            <a:ext cx="363182" cy="8825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463357" y="3778446"/>
            <a:ext cx="281855" cy="1080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80818" y="4002390"/>
            <a:ext cx="186395" cy="12236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302052" y="4252031"/>
            <a:ext cx="81588" cy="13057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13919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Isosceles Triangle 109"/>
          <p:cNvSpPr/>
          <p:nvPr/>
        </p:nvSpPr>
        <p:spPr>
          <a:xfrm rot="10800000">
            <a:off x="113347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5693569" y="3165634"/>
            <a:ext cx="31289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5693569" y="3165634"/>
            <a:ext cx="31289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HOLDING: on purpose</a:t>
            </a:r>
          </a:p>
        </p:txBody>
      </p:sp>
      <p:sp>
        <p:nvSpPr>
          <p:cNvPr id="113" name="Oval 112"/>
          <p:cNvSpPr/>
          <p:nvPr/>
        </p:nvSpPr>
        <p:spPr>
          <a:xfrm>
            <a:off x="5048250" y="3124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48250" y="3124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115" name="TextBox 1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6" name="TextBox 1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want vs. where you are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Driver or command</a:t>
            </a:r>
          </a:p>
        </p:txBody>
      </p:sp>
      <p:sp>
        <p:nvSpPr>
          <p:cNvPr id="7" name="TextBox 6"/>
          <p:cNvSpPr txBox="1"/>
          <p:nvPr/>
        </p:nvSpPr>
        <p:spPr>
          <a:xfrm>
            <a:off x="990600" y="4191000"/>
            <a:ext cx="2876550" cy="5715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asks for a state</a:t>
            </a:r>
          </a:p>
        </p:txBody>
      </p:sp>
      <p:sp>
        <p:nvSpPr>
          <p:cNvPr id="8" name="Rectangle 7"/>
          <p:cNvSpPr/>
          <p:nvPr/>
        </p:nvSpPr>
        <p:spPr>
          <a:xfrm>
            <a:off x="39624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0767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672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624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Wanted state</a:t>
            </a:r>
          </a:p>
        </p:txBody>
      </p:sp>
      <p:sp>
        <p:nvSpPr>
          <p:cNvPr id="12" name="TextBox 11"/>
          <p:cNvSpPr txBox="1"/>
          <p:nvPr/>
        </p:nvSpPr>
        <p:spPr>
          <a:xfrm>
            <a:off x="43434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SHOOT</a:t>
            </a:r>
          </a:p>
        </p:txBody>
      </p:sp>
      <p:sp>
        <p:nvSpPr>
          <p:cNvPr id="13" name="Rectangle 12"/>
          <p:cNvSpPr/>
          <p:nvPr/>
        </p:nvSpPr>
        <p:spPr>
          <a:xfrm>
            <a:off x="73152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74295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200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152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rules</a:t>
            </a:r>
          </a:p>
        </p:txBody>
      </p:sp>
      <p:sp>
        <p:nvSpPr>
          <p:cNvPr id="17" name="TextBox 16"/>
          <p:cNvSpPr txBox="1"/>
          <p:nvPr/>
        </p:nvSpPr>
        <p:spPr>
          <a:xfrm>
            <a:off x="76962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handleStateTransition()</a:t>
            </a:r>
          </a:p>
        </p:txBody>
      </p:sp>
      <p:sp>
        <p:nvSpPr>
          <p:cNvPr id="18" name="Rectangle 17"/>
          <p:cNvSpPr/>
          <p:nvPr/>
        </p:nvSpPr>
        <p:spPr>
          <a:xfrm>
            <a:off x="106680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07823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0" y="3048000"/>
            <a:ext cx="3028950" cy="2286000"/>
          </a:xfrm>
          <a:prstGeom prst="roundRect">
            <a:avLst>
              <a:gd name="adj" fmla="val 75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0680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Real state</a:t>
            </a:r>
          </a:p>
        </p:txBody>
      </p:sp>
      <p:sp>
        <p:nvSpPr>
          <p:cNvPr id="22" name="TextBox 21"/>
          <p:cNvSpPr txBox="1"/>
          <p:nvPr/>
        </p:nvSpPr>
        <p:spPr>
          <a:xfrm>
            <a:off x="110490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SPIN_UP</a:t>
            </a:r>
          </a:p>
        </p:txBody>
      </p:sp>
      <p:sp>
        <p:nvSpPr>
          <p:cNvPr id="23" name="Rectangle 22"/>
          <p:cNvSpPr/>
          <p:nvPr/>
        </p:nvSpPr>
        <p:spPr>
          <a:xfrm>
            <a:off x="140208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41351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3256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4208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switch</a:t>
            </a:r>
          </a:p>
        </p:txBody>
      </p:sp>
      <p:sp>
        <p:nvSpPr>
          <p:cNvPr id="27" name="TextBox 26"/>
          <p:cNvSpPr txBox="1"/>
          <p:nvPr/>
        </p:nvSpPr>
        <p:spPr>
          <a:xfrm>
            <a:off x="144018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updateLogic()</a:t>
            </a:r>
          </a:p>
        </p:txBody>
      </p:sp>
      <p:sp>
        <p:nvSpPr>
          <p:cNvPr id="28" name="TextBox 27"/>
          <p:cNvSpPr txBox="1"/>
          <p:nvPr/>
        </p:nvSpPr>
        <p:spPr>
          <a:xfrm>
            <a:off x="914400" y="5524500"/>
            <a:ext cx="164592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every 20 ms, for every subsystem</a:t>
            </a:r>
          </a:p>
        </p:txBody>
      </p:sp>
      <p:sp>
        <p:nvSpPr>
          <p:cNvPr id="29" name="Rounded Rectangle 28"/>
          <p:cNvSpPr/>
          <p:nvPr/>
        </p:nvSpPr>
        <p:spPr>
          <a:xfrm>
            <a:off x="914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95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Wanted</a:t>
            </a:r>
          </a:p>
        </p:txBody>
      </p:sp>
      <p:sp>
        <p:nvSpPr>
          <p:cNvPr id="31" name="TextBox 30"/>
          <p:cNvSpPr txBox="1"/>
          <p:nvPr/>
        </p:nvSpPr>
        <p:spPr>
          <a:xfrm>
            <a:off x="1295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What someone asks for. Set with setWantedState().</a:t>
            </a:r>
          </a:p>
        </p:txBody>
      </p:sp>
      <p:sp>
        <p:nvSpPr>
          <p:cNvPr id="32" name="Rounded Rectangle 31"/>
          <p:cNvSpPr/>
          <p:nvPr/>
        </p:nvSpPr>
        <p:spPr>
          <a:xfrm>
            <a:off x="6502400" y="6191250"/>
            <a:ext cx="5283200" cy="2286000"/>
          </a:xfrm>
          <a:prstGeom prst="roundRect">
            <a:avLst>
              <a:gd name="adj" fmla="val 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83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Real</a:t>
            </a:r>
          </a:p>
        </p:txBody>
      </p:sp>
      <p:sp>
        <p:nvSpPr>
          <p:cNvPr id="34" name="TextBox 33"/>
          <p:cNvSpPr txBox="1"/>
          <p:nvPr/>
        </p:nvSpPr>
        <p:spPr>
          <a:xfrm>
            <a:off x="6883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it actually is: system_state_. Only the rules change it.</a:t>
            </a:r>
          </a:p>
        </p:txBody>
      </p:sp>
      <p:sp>
        <p:nvSpPr>
          <p:cNvPr id="35" name="Rounded Rectangle 34"/>
          <p:cNvSpPr/>
          <p:nvPr/>
        </p:nvSpPr>
        <p:spPr>
          <a:xfrm>
            <a:off x="12090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471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Why two?</a:t>
            </a:r>
          </a:p>
        </p:txBody>
      </p:sp>
      <p:sp>
        <p:nvSpPr>
          <p:cNvPr id="37" name="TextBox 36"/>
          <p:cNvSpPr txBox="1"/>
          <p:nvPr/>
        </p:nvSpPr>
        <p:spPr>
          <a:xfrm>
            <a:off x="12471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wheel needs time to spin up. Asking can't skip that.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Java for 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enum lists the states, switch acts on them, booleans decide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An enum is a menu with no typos allowed. I like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enum: the list of states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3143250"/>
            <a:ext cx="10096500" cy="4216718"/>
          </a:xfrm>
          <a:prstGeom prst="roundRect">
            <a:avLst>
              <a:gd name="adj" fmla="val 361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7582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75822"/>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43538"/>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43538"/>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21125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211252"/>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The things the shooter can be doing. */</a:t>
            </a:r>
          </a:p>
        </p:txBody>
      </p:sp>
      <p:sp>
        <p:nvSpPr>
          <p:cNvPr id="14" name="TextBox 13"/>
          <p:cNvSpPr txBox="1"/>
          <p:nvPr/>
        </p:nvSpPr>
        <p:spPr>
          <a:xfrm>
            <a:off x="1295400" y="3908108"/>
            <a:ext cx="9563100" cy="38385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enum</a:t>
            </a:r>
            <a:r>
              <a:rPr sz="1950" b="0" i="0">
                <a:solidFill>
                  <a:srgbClr val="F0E8E8"/>
                </a:solidFill>
                <a:latin typeface="Geist Mono"/>
                <a:ea typeface="Geist Mono"/>
                <a:cs typeface="Geist Mono"/>
              </a:rPr>
              <a:t> ShooterStates {</a:t>
            </a:r>
          </a:p>
        </p:txBody>
      </p:sp>
      <p:sp>
        <p:nvSpPr>
          <p:cNvPr id="15" name="TextBox 14"/>
          <p:cNvSpPr txBox="1"/>
          <p:nvPr/>
        </p:nvSpPr>
        <p:spPr>
          <a:xfrm>
            <a:off x="1295400" y="429196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Everything stopped. */</a:t>
            </a:r>
          </a:p>
        </p:txBody>
      </p:sp>
      <p:sp>
        <p:nvSpPr>
          <p:cNvPr id="16" name="TextBox 15"/>
          <p:cNvSpPr txBox="1"/>
          <p:nvPr/>
        </p:nvSpPr>
        <p:spPr>
          <a:xfrm>
            <a:off x="1295400" y="467582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IDLE,</a:t>
            </a:r>
          </a:p>
        </p:txBody>
      </p:sp>
      <p:sp>
        <p:nvSpPr>
          <p:cNvPr id="17" name="TextBox 16"/>
          <p:cNvSpPr txBox="1"/>
          <p:nvPr/>
        </p:nvSpPr>
        <p:spPr>
          <a:xfrm>
            <a:off x="1295400" y="505968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Getting the flywheel up to speed. */</a:t>
            </a:r>
          </a:p>
        </p:txBody>
      </p:sp>
      <p:sp>
        <p:nvSpPr>
          <p:cNvPr id="18" name="TextBox 17"/>
          <p:cNvSpPr txBox="1"/>
          <p:nvPr/>
        </p:nvSpPr>
        <p:spPr>
          <a:xfrm>
            <a:off x="1295400" y="5443538"/>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SPIN_UP,</a:t>
            </a:r>
          </a:p>
        </p:txBody>
      </p:sp>
      <p:sp>
        <p:nvSpPr>
          <p:cNvPr id="19" name="TextBox 18"/>
          <p:cNvSpPr txBox="1"/>
          <p:nvPr/>
        </p:nvSpPr>
        <p:spPr>
          <a:xfrm>
            <a:off x="1295400" y="582739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speed, so the roller feeds. */</a:t>
            </a:r>
          </a:p>
        </p:txBody>
      </p:sp>
      <p:sp>
        <p:nvSpPr>
          <p:cNvPr id="20" name="TextBox 19"/>
          <p:cNvSpPr txBox="1"/>
          <p:nvPr/>
        </p:nvSpPr>
        <p:spPr>
          <a:xfrm>
            <a:off x="1295400" y="621125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SHOOT</a:t>
            </a:r>
          </a:p>
        </p:txBody>
      </p:sp>
      <p:sp>
        <p:nvSpPr>
          <p:cNvPr id="21" name="TextBox 20"/>
          <p:cNvSpPr txBox="1"/>
          <p:nvPr/>
        </p:nvSpPr>
        <p:spPr>
          <a:xfrm>
            <a:off x="1295400" y="659511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2" name="Oval 21"/>
          <p:cNvSpPr/>
          <p:nvPr/>
        </p:nvSpPr>
        <p:spPr>
          <a:xfrm>
            <a:off x="10401300" y="390953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390953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401300" y="467725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01300" y="467725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401300" y="62126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01300" y="62126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pic>
        <p:nvPicPr>
          <p:cNvPr id="28" name="Picture 27" descr="code-slash.png"/>
          <p:cNvPicPr>
            <a:picLocks noChangeAspect="1"/>
          </p:cNvPicPr>
          <p:nvPr/>
        </p:nvPicPr>
        <p:blipFill>
          <a:blip r:embed="rId3"/>
          <a:stretch>
            <a:fillRect/>
          </a:stretch>
        </p:blipFill>
        <p:spPr>
          <a:xfrm>
            <a:off x="914400" y="8420100"/>
            <a:ext cx="224518" cy="209550"/>
          </a:xfrm>
          <a:prstGeom prst="rect">
            <a:avLst/>
          </a:prstGeom>
        </p:spPr>
      </p:pic>
      <p:sp>
        <p:nvSpPr>
          <p:cNvPr id="29" name="TextBox 28"/>
          <p:cNvSpPr txBox="1"/>
          <p:nvPr/>
        </p:nvSpPr>
        <p:spPr>
          <a:xfrm>
            <a:off x="1295400" y="8382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 (enums)</a:t>
            </a:r>
          </a:p>
        </p:txBody>
      </p:sp>
      <p:sp>
        <p:nvSpPr>
          <p:cNvPr id="30" name="Oval 29"/>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enum</a:t>
            </a:r>
          </a:p>
        </p:txBody>
      </p:sp>
      <p:sp>
        <p:nvSpPr>
          <p:cNvPr id="33" name="TextBox 32"/>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type with a fixed list of values</a:t>
            </a:r>
          </a:p>
        </p:txBody>
      </p:sp>
      <p:sp>
        <p:nvSpPr>
          <p:cNvPr id="34" name="Oval 33"/>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value per state</a:t>
            </a:r>
          </a:p>
        </p:txBody>
      </p:sp>
      <p:sp>
        <p:nvSpPr>
          <p:cNvPr id="37" name="TextBox 36"/>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Each with a comment saying what it means</a:t>
            </a:r>
          </a:p>
        </p:txBody>
      </p:sp>
      <p:sp>
        <p:nvSpPr>
          <p:cNvPr id="38" name="Oval 37"/>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 it by name</a:t>
            </a:r>
          </a:p>
        </p:txBody>
      </p:sp>
      <p:sp>
        <p:nvSpPr>
          <p:cNvPr id="41" name="TextBox 40"/>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ShooterStates.SHOOT. A typo won't compile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switch: one job per state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8191500" cy="4821936"/>
          </a:xfrm>
          <a:prstGeom prst="roundRect">
            <a:avLst>
              <a:gd name="adj" fmla="val 316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4877562"/>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77562"/>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215890"/>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215890"/>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54218"/>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554218"/>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3524250"/>
            <a:ext cx="7658100" cy="338328"/>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386257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ON:</a:t>
            </a:r>
          </a:p>
        </p:txBody>
      </p:sp>
      <p:sp>
        <p:nvSpPr>
          <p:cNvPr id="14" name="TextBox 13"/>
          <p:cNvSpPr txBox="1"/>
          <p:nvPr/>
        </p:nvSpPr>
        <p:spPr>
          <a:xfrm>
            <a:off x="1295400" y="420090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5" name="TextBox 14"/>
          <p:cNvSpPr txBox="1"/>
          <p:nvPr/>
        </p:nvSpPr>
        <p:spPr>
          <a:xfrm>
            <a:off x="1295400" y="453923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487756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DIM:</a:t>
            </a:r>
          </a:p>
        </p:txBody>
      </p:sp>
      <p:sp>
        <p:nvSpPr>
          <p:cNvPr id="17" name="TextBox 16"/>
          <p:cNvSpPr txBox="1"/>
          <p:nvPr/>
        </p:nvSpPr>
        <p:spPr>
          <a:xfrm>
            <a:off x="1295400" y="521589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0.3</a:t>
            </a:r>
            <a:r>
              <a:rPr sz="1800" b="0" i="0">
                <a:solidFill>
                  <a:srgbClr val="F0E8E8"/>
                </a:solidFill>
                <a:latin typeface="Geist Mono"/>
                <a:ea typeface="Geist Mono"/>
                <a:cs typeface="Geist Mono"/>
              </a:rPr>
              <a:t>);</a:t>
            </a:r>
          </a:p>
        </p:txBody>
      </p:sp>
      <p:sp>
        <p:nvSpPr>
          <p:cNvPr id="18" name="TextBox 17"/>
          <p:cNvSpPr txBox="1"/>
          <p:nvPr/>
        </p:nvSpPr>
        <p:spPr>
          <a:xfrm>
            <a:off x="1295400" y="555421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9" name="TextBox 18"/>
          <p:cNvSpPr txBox="1"/>
          <p:nvPr/>
        </p:nvSpPr>
        <p:spPr>
          <a:xfrm>
            <a:off x="1295400" y="589254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OFF:</a:t>
            </a:r>
          </a:p>
        </p:txBody>
      </p:sp>
      <p:sp>
        <p:nvSpPr>
          <p:cNvPr id="20" name="TextBox 19"/>
          <p:cNvSpPr txBox="1"/>
          <p:nvPr/>
        </p:nvSpPr>
        <p:spPr>
          <a:xfrm>
            <a:off x="1295400" y="623087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21" name="TextBox 20"/>
          <p:cNvSpPr txBox="1"/>
          <p:nvPr/>
        </p:nvSpPr>
        <p:spPr>
          <a:xfrm>
            <a:off x="1295400" y="656920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2" name="TextBox 21"/>
          <p:cNvSpPr txBox="1"/>
          <p:nvPr/>
        </p:nvSpPr>
        <p:spPr>
          <a:xfrm>
            <a:off x="1295400" y="690753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3" name="TextBox 22"/>
          <p:cNvSpPr txBox="1"/>
          <p:nvPr/>
        </p:nvSpPr>
        <p:spPr>
          <a:xfrm>
            <a:off x="1295400" y="724585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4" name="Oval 23"/>
          <p:cNvSpPr/>
          <p:nvPr/>
        </p:nvSpPr>
        <p:spPr>
          <a:xfrm>
            <a:off x="8496300" y="350291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96300" y="350291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8496300" y="485622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485622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8496300" y="553288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96300" y="553288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8496300" y="62095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6300" y="6209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pic>
        <p:nvPicPr>
          <p:cNvPr id="32" name="Picture 31" descr="code-slash.png"/>
          <p:cNvPicPr>
            <a:picLocks noChangeAspect="1"/>
          </p:cNvPicPr>
          <p:nvPr/>
        </p:nvPicPr>
        <p:blipFill>
          <a:blip r:embed="rId3"/>
          <a:stretch>
            <a:fillRect/>
          </a:stretch>
        </p:blipFill>
        <p:spPr>
          <a:xfrm>
            <a:off x="914400" y="8610600"/>
            <a:ext cx="224518" cy="209550"/>
          </a:xfrm>
          <a:prstGeom prst="rect">
            <a:avLst/>
          </a:prstGeom>
        </p:spPr>
      </p:pic>
      <p:sp>
        <p:nvSpPr>
          <p:cNvPr id="33" name="TextBox 32"/>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34" name="TextBox 33"/>
          <p:cNvSpPr txBox="1"/>
          <p:nvPr/>
        </p:nvSpPr>
        <p:spPr>
          <a:xfrm>
            <a:off x="9810750" y="2857500"/>
            <a:ext cx="75628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system_state_ is DIM</a:t>
            </a:r>
          </a:p>
        </p:txBody>
      </p:sp>
      <p:sp>
        <p:nvSpPr>
          <p:cNvPr id="35" name="Rounded Rectangle 34"/>
          <p:cNvSpPr/>
          <p:nvPr/>
        </p:nvSpPr>
        <p:spPr>
          <a:xfrm>
            <a:off x="9810750" y="35242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39350" y="35242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case ON</a:t>
            </a:r>
          </a:p>
        </p:txBody>
      </p:sp>
      <p:sp>
        <p:nvSpPr>
          <p:cNvPr id="37" name="Rounded Rectangle 36"/>
          <p:cNvSpPr/>
          <p:nvPr/>
        </p:nvSpPr>
        <p:spPr>
          <a:xfrm>
            <a:off x="9810750" y="4572000"/>
            <a:ext cx="3619500" cy="819150"/>
          </a:xfrm>
          <a:prstGeom prst="roundRect">
            <a:avLst>
              <a:gd name="adj" fmla="val 16279"/>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39350" y="4572000"/>
            <a:ext cx="3238500" cy="8191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case DIM</a:t>
            </a:r>
          </a:p>
        </p:txBody>
      </p:sp>
      <p:sp>
        <p:nvSpPr>
          <p:cNvPr id="39" name="Rectangle 38"/>
          <p:cNvSpPr/>
          <p:nvPr/>
        </p:nvSpPr>
        <p:spPr>
          <a:xfrm>
            <a:off x="13525500" y="4962525"/>
            <a:ext cx="7391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5400000">
            <a:off x="14230350" y="490537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4497050" y="4572000"/>
            <a:ext cx="2857500" cy="819150"/>
          </a:xfrm>
          <a:prstGeom prst="roundRect">
            <a:avLst>
              <a:gd name="adj" fmla="val 16279"/>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4497050" y="4572000"/>
            <a:ext cx="2857500" cy="819150"/>
          </a:xfrm>
          <a:prstGeom prst="rect">
            <a:avLst/>
          </a:prstGeom>
          <a:noFill/>
        </p:spPr>
        <p:txBody>
          <a:bodyPr wrap="square" lIns="0" rIns="0" tIns="0" bIns="0" anchor="ctr">
            <a:spAutoFit/>
          </a:bodyPr>
          <a:lstStyle/>
          <a:p>
            <a:pPr algn="ctr"/>
            <a:r>
              <a:rPr sz="1950" b="0" i="0">
                <a:solidFill>
                  <a:srgbClr val="F0E8E8"/>
                </a:solidFill>
                <a:latin typeface="Geist"/>
                <a:ea typeface="Geist"/>
                <a:cs typeface="Geist"/>
              </a:rPr>
              <a:t>brightness 0.3</a:t>
            </a:r>
          </a:p>
        </p:txBody>
      </p:sp>
      <p:sp>
        <p:nvSpPr>
          <p:cNvPr id="43" name="Rounded Rectangle 42"/>
          <p:cNvSpPr/>
          <p:nvPr/>
        </p:nvSpPr>
        <p:spPr>
          <a:xfrm>
            <a:off x="9810750" y="56197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39350" y="56197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OFF / default</a:t>
            </a:r>
          </a:p>
        </p:txBody>
      </p:sp>
      <p:sp>
        <p:nvSpPr>
          <p:cNvPr id="45" name="Oval 44"/>
          <p:cNvSpPr/>
          <p:nvPr/>
        </p:nvSpPr>
        <p:spPr>
          <a:xfrm>
            <a:off x="9810750" y="685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107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7" name="TextBox 46"/>
          <p:cNvSpPr txBox="1"/>
          <p:nvPr/>
        </p:nvSpPr>
        <p:spPr>
          <a:xfrm>
            <a:off x="10420350" y="68199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Look at the state</a:t>
            </a:r>
          </a:p>
        </p:txBody>
      </p:sp>
      <p:sp>
        <p:nvSpPr>
          <p:cNvPr id="48" name="TextBox 47"/>
          <p:cNvSpPr txBox="1"/>
          <p:nvPr/>
        </p:nvSpPr>
        <p:spPr>
          <a:xfrm>
            <a:off x="10420350" y="72390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49" name="Oval 48"/>
          <p:cNvSpPr/>
          <p:nvPr/>
        </p:nvSpPr>
        <p:spPr>
          <a:xfrm>
            <a:off x="9810750" y="72961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72961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1" name="TextBox 50"/>
          <p:cNvSpPr txBox="1"/>
          <p:nvPr/>
        </p:nvSpPr>
        <p:spPr>
          <a:xfrm>
            <a:off x="10420350" y="72580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 the matching case</a:t>
            </a:r>
          </a:p>
        </p:txBody>
      </p:sp>
      <p:sp>
        <p:nvSpPr>
          <p:cNvPr id="52" name="TextBox 51"/>
          <p:cNvSpPr txBox="1"/>
          <p:nvPr/>
        </p:nvSpPr>
        <p:spPr>
          <a:xfrm>
            <a:off x="10420350" y="76771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3" name="Oval 52"/>
          <p:cNvSpPr/>
          <p:nvPr/>
        </p:nvSpPr>
        <p:spPr>
          <a:xfrm>
            <a:off x="9810750" y="77343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10750" y="77343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5" name="TextBox 54"/>
          <p:cNvSpPr txBox="1"/>
          <p:nvPr/>
        </p:nvSpPr>
        <p:spPr>
          <a:xfrm>
            <a:off x="10420350" y="76962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break: leave the switch</a:t>
            </a:r>
          </a:p>
        </p:txBody>
      </p:sp>
      <p:sp>
        <p:nvSpPr>
          <p:cNvPr id="56" name="TextBox 55"/>
          <p:cNvSpPr txBox="1"/>
          <p:nvPr/>
        </p:nvSpPr>
        <p:spPr>
          <a:xfrm>
            <a:off x="10420350" y="81153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7" name="Oval 56"/>
          <p:cNvSpPr/>
          <p:nvPr/>
        </p:nvSpPr>
        <p:spPr>
          <a:xfrm>
            <a:off x="9810750" y="8172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817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9" name="TextBox 58"/>
          <p:cNvSpPr txBox="1"/>
          <p:nvPr/>
        </p:nvSpPr>
        <p:spPr>
          <a:xfrm>
            <a:off x="10420350" y="81343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default: anything else</a:t>
            </a:r>
          </a:p>
        </p:txBody>
      </p:sp>
      <p:sp>
        <p:nvSpPr>
          <p:cNvPr id="60" name="TextBox 59"/>
          <p:cNvSpPr txBox="1"/>
          <p:nvPr/>
        </p:nvSpPr>
        <p:spPr>
          <a:xfrm>
            <a:off x="10420350" y="85534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61" name="TextBox 6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2" name="TextBox 6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this first: the drivetrain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143250"/>
            <a:ext cx="104775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2100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2100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5529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5529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99441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updateLogic(</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timestamp) {</a:t>
            </a:r>
          </a:p>
        </p:txBody>
      </p:sp>
      <p:sp>
        <p:nvSpPr>
          <p:cNvPr id="12" name="TextBox 11"/>
          <p:cNvSpPr txBox="1"/>
          <p:nvPr/>
        </p:nvSpPr>
        <p:spPr>
          <a:xfrm>
            <a:off x="1295400" y="38671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42100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ARCADE:</a:t>
            </a:r>
          </a:p>
        </p:txBody>
      </p:sp>
      <p:sp>
        <p:nvSpPr>
          <p:cNvPr id="14" name="TextBox 13"/>
          <p:cNvSpPr txBox="1"/>
          <p:nvPr/>
        </p:nvSpPr>
        <p:spPr>
          <a:xfrm>
            <a:off x="1295400" y="45529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drive_.arcadeDrive(OI.getForward(), OI.getTurn());</a:t>
            </a:r>
          </a:p>
        </p:txBody>
      </p:sp>
      <p:sp>
        <p:nvSpPr>
          <p:cNvPr id="15" name="TextBox 14"/>
          <p:cNvSpPr txBox="1"/>
          <p:nvPr/>
        </p:nvSpPr>
        <p:spPr>
          <a:xfrm>
            <a:off x="1295400" y="48958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52387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IDLE:</a:t>
            </a:r>
          </a:p>
        </p:txBody>
      </p:sp>
      <p:sp>
        <p:nvSpPr>
          <p:cNvPr id="17" name="TextBox 16"/>
          <p:cNvSpPr txBox="1"/>
          <p:nvPr/>
        </p:nvSpPr>
        <p:spPr>
          <a:xfrm>
            <a:off x="1295400" y="55816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18" name="TextBox 17"/>
          <p:cNvSpPr txBox="1"/>
          <p:nvPr/>
        </p:nvSpPr>
        <p:spPr>
          <a:xfrm>
            <a:off x="1295400" y="59245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9" name="TextBox 18"/>
          <p:cNvSpPr txBox="1"/>
          <p:nvPr/>
        </p:nvSpPr>
        <p:spPr>
          <a:xfrm>
            <a:off x="1295400" y="62674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0" name="TextBox 19"/>
          <p:cNvSpPr txBox="1"/>
          <p:nvPr/>
        </p:nvSpPr>
        <p:spPr>
          <a:xfrm>
            <a:off x="1295400" y="66103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6953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107823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2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782300" y="4533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23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782300" y="5562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2300" y="5562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Rounded Rectangle 27"/>
          <p:cNvSpPr/>
          <p:nvPr/>
        </p:nvSpPr>
        <p:spPr>
          <a:xfrm>
            <a:off x="11906250" y="2857500"/>
            <a:ext cx="546735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8725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WHO ASKS FOR WHICH</a:t>
            </a:r>
          </a:p>
        </p:txBody>
      </p:sp>
      <p:sp>
        <p:nvSpPr>
          <p:cNvPr id="30" name="TextBox 29"/>
          <p:cNvSpPr txBox="1"/>
          <p:nvPr/>
        </p:nvSpPr>
        <p:spPr>
          <a:xfrm>
            <a:off x="12287250" y="3810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disabledInit()</a:t>
            </a:r>
          </a:p>
        </p:txBody>
      </p:sp>
      <p:sp>
        <p:nvSpPr>
          <p:cNvPr id="31" name="Rectangle 30"/>
          <p:cNvSpPr/>
          <p:nvPr/>
        </p:nvSpPr>
        <p:spPr>
          <a:xfrm>
            <a:off x="12463462" y="4291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10800000">
            <a:off x="12401550" y="4572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87250" y="4800600"/>
            <a:ext cx="2286000" cy="571500"/>
          </a:xfrm>
          <a:prstGeom prst="roundRect">
            <a:avLst>
              <a:gd name="adj" fmla="val 2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87250" y="4800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IDLE</a:t>
            </a:r>
          </a:p>
        </p:txBody>
      </p:sp>
      <p:sp>
        <p:nvSpPr>
          <p:cNvPr id="35" name="TextBox 34"/>
          <p:cNvSpPr txBox="1"/>
          <p:nvPr/>
        </p:nvSpPr>
        <p:spPr>
          <a:xfrm>
            <a:off x="14763750" y="4800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36" name="TextBox 35"/>
          <p:cNvSpPr txBox="1"/>
          <p:nvPr/>
        </p:nvSpPr>
        <p:spPr>
          <a:xfrm>
            <a:off x="12287250" y="5715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teleopInit()</a:t>
            </a:r>
          </a:p>
        </p:txBody>
      </p:sp>
      <p:sp>
        <p:nvSpPr>
          <p:cNvPr id="37" name="Rectangle 36"/>
          <p:cNvSpPr/>
          <p:nvPr/>
        </p:nvSpPr>
        <p:spPr>
          <a:xfrm>
            <a:off x="12463462" y="6196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2401550" y="6477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287250" y="6705600"/>
            <a:ext cx="2286000" cy="571500"/>
          </a:xfrm>
          <a:prstGeom prst="roundRect">
            <a:avLst>
              <a:gd name="adj" fmla="val 23333"/>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87250" y="6705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ARCADE</a:t>
            </a:r>
          </a:p>
        </p:txBody>
      </p:sp>
      <p:sp>
        <p:nvSpPr>
          <p:cNvPr id="41" name="TextBox 40"/>
          <p:cNvSpPr txBox="1"/>
          <p:nvPr/>
        </p:nvSpPr>
        <p:spPr>
          <a:xfrm>
            <a:off x="14763750" y="6705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42" name="TextBox 41"/>
          <p:cNvSpPr txBox="1"/>
          <p:nvPr/>
        </p:nvSpPr>
        <p:spPr>
          <a:xfrm>
            <a:off x="12287250" y="7524750"/>
            <a:ext cx="4762500" cy="5715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Set in Robot.java</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Gotcha: the missing break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100965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5010150"/>
            <a:ext cx="100584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010150"/>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95631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switch</a:t>
            </a:r>
            <a:r>
              <a:rPr sz="1950" b="0" i="0">
                <a:solidFill>
                  <a:srgbClr val="F0E8E8"/>
                </a:solidFill>
                <a:latin typeface="Geist Mono"/>
                <a:ea typeface="Geist Mono"/>
                <a:cs typeface="Geist Mono"/>
              </a:rPr>
              <a:t> (system_state_) {</a:t>
            </a:r>
          </a:p>
        </p:txBody>
      </p:sp>
      <p:sp>
        <p:nvSpPr>
          <p:cNvPr id="9" name="TextBox 8"/>
          <p:cNvSpPr txBox="1"/>
          <p:nvPr/>
        </p:nvSpPr>
        <p:spPr>
          <a:xfrm>
            <a:off x="1295400" y="38957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SPIN_UP:</a:t>
            </a:r>
          </a:p>
        </p:txBody>
      </p:sp>
      <p:sp>
        <p:nvSpPr>
          <p:cNvPr id="10" name="TextBox 9"/>
          <p:cNvSpPr txBox="1"/>
          <p:nvPr/>
        </p:nvSpPr>
        <p:spPr>
          <a:xfrm>
            <a:off x="1295400" y="42672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1" name="TextBox 10"/>
          <p:cNvSpPr txBox="1"/>
          <p:nvPr/>
        </p:nvSpPr>
        <p:spPr>
          <a:xfrm>
            <a:off x="1295400" y="46386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12" name="TextBox 11"/>
          <p:cNvSpPr txBox="1"/>
          <p:nvPr/>
        </p:nvSpPr>
        <p:spPr>
          <a:xfrm>
            <a:off x="1295400" y="50101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forgot break!</a:t>
            </a:r>
          </a:p>
        </p:txBody>
      </p:sp>
      <p:sp>
        <p:nvSpPr>
          <p:cNvPr id="13" name="TextBox 12"/>
          <p:cNvSpPr txBox="1"/>
          <p:nvPr/>
        </p:nvSpPr>
        <p:spPr>
          <a:xfrm>
            <a:off x="1295400" y="53816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SHOOT:</a:t>
            </a:r>
          </a:p>
        </p:txBody>
      </p:sp>
      <p:sp>
        <p:nvSpPr>
          <p:cNvPr id="14" name="TextBox 13"/>
          <p:cNvSpPr txBox="1"/>
          <p:nvPr/>
        </p:nvSpPr>
        <p:spPr>
          <a:xfrm>
            <a:off x="1295400" y="57531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5" name="TextBox 14"/>
          <p:cNvSpPr txBox="1"/>
          <p:nvPr/>
        </p:nvSpPr>
        <p:spPr>
          <a:xfrm>
            <a:off x="1295400" y="61245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0.5</a:t>
            </a:r>
            <a:r>
              <a:rPr sz="1950" b="0" i="0">
                <a:solidFill>
                  <a:srgbClr val="F0E8E8"/>
                </a:solidFill>
                <a:latin typeface="Geist Mono"/>
                <a:ea typeface="Geist Mono"/>
                <a:cs typeface="Geist Mono"/>
              </a:rPr>
              <a:t>);</a:t>
            </a:r>
          </a:p>
        </p:txBody>
      </p:sp>
      <p:sp>
        <p:nvSpPr>
          <p:cNvPr id="16" name="TextBox 15"/>
          <p:cNvSpPr txBox="1"/>
          <p:nvPr/>
        </p:nvSpPr>
        <p:spPr>
          <a:xfrm>
            <a:off x="1295400" y="64960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break</a:t>
            </a:r>
            <a:r>
              <a:rPr sz="1950" b="0" i="0">
                <a:solidFill>
                  <a:srgbClr val="F0E8E8"/>
                </a:solidFill>
                <a:latin typeface="Geist Mono"/>
                <a:ea typeface="Geist Mono"/>
                <a:cs typeface="Geist Mono"/>
              </a:rPr>
              <a:t>;</a:t>
            </a:r>
          </a:p>
        </p:txBody>
      </p:sp>
      <p:sp>
        <p:nvSpPr>
          <p:cNvPr id="17" name="TextBox 16"/>
          <p:cNvSpPr txBox="1"/>
          <p:nvPr/>
        </p:nvSpPr>
        <p:spPr>
          <a:xfrm>
            <a:off x="1295400" y="68675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Oval 17"/>
          <p:cNvSpPr/>
          <p:nvPr/>
        </p:nvSpPr>
        <p:spPr>
          <a:xfrm>
            <a:off x="10401300" y="50053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50053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Rectangle 19"/>
          <p:cNvSpPr/>
          <p:nvPr/>
        </p:nvSpPr>
        <p:spPr>
          <a:xfrm>
            <a:off x="11277600" y="5176838"/>
            <a:ext cx="41910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658600" y="5176838"/>
            <a:ext cx="38100" cy="781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414760" y="5919788"/>
            <a:ext cx="2819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11296650" y="5862638"/>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30050" y="5381625"/>
            <a:ext cx="1905000" cy="57150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falls</a:t>
            </a:r>
          </a:p>
          <a:p>
            <a:pPr algn="l"/>
            <a:r>
              <a:rPr sz="1650" b="1" i="0">
                <a:solidFill>
                  <a:srgbClr val="CC2200"/>
                </a:solidFill>
                <a:latin typeface="Geist"/>
                <a:ea typeface="Geist"/>
                <a:cs typeface="Geist"/>
              </a:rPr>
              <a:t>through</a:t>
            </a:r>
          </a:p>
        </p:txBody>
      </p:sp>
      <p:sp>
        <p:nvSpPr>
          <p:cNvPr id="25" name="Rounded Rectangle 24"/>
          <p:cNvSpPr/>
          <p:nvPr/>
        </p:nvSpPr>
        <p:spPr>
          <a:xfrm>
            <a:off x="13716000" y="2857500"/>
            <a:ext cx="3657600" cy="3238500"/>
          </a:xfrm>
          <a:prstGeom prst="roundRect">
            <a:avLst>
              <a:gd name="adj" fmla="val 470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058900" y="3200400"/>
            <a:ext cx="314325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HAPPENS</a:t>
            </a:r>
          </a:p>
        </p:txBody>
      </p:sp>
      <p:sp>
        <p:nvSpPr>
          <p:cNvPr id="27" name="TextBox 26"/>
          <p:cNvSpPr txBox="1"/>
          <p:nvPr/>
        </p:nvSpPr>
        <p:spPr>
          <a:xfrm>
            <a:off x="14058900" y="3714750"/>
            <a:ext cx="3048000" cy="2286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In SPIN_UP the roller is set to 0, then straight away to 0.5. It feeds into a slow wheel.</a:t>
            </a:r>
          </a:p>
        </p:txBody>
      </p:sp>
      <p:pic>
        <p:nvPicPr>
          <p:cNvPr id="28" name="Picture 27" descr="dozer_wide_left.png"/>
          <p:cNvPicPr>
            <a:picLocks noChangeAspect="1"/>
          </p:cNvPicPr>
          <p:nvPr/>
        </p:nvPicPr>
        <p:blipFill>
          <a:blip r:embed="rId3"/>
          <a:stretch>
            <a:fillRect/>
          </a:stretch>
        </p:blipFill>
        <p:spPr>
          <a:xfrm>
            <a:off x="15049500" y="6286500"/>
            <a:ext cx="2190750" cy="1346530"/>
          </a:xfrm>
          <a:prstGeom prst="rect">
            <a:avLst/>
          </a:prstGeom>
        </p:spPr>
      </p:pic>
      <p:sp>
        <p:nvSpPr>
          <p:cNvPr id="29" name="Rounded Rectangle 28"/>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3500" y="80962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Fix:  </a:t>
            </a:r>
            <a:r>
              <a:rPr sz="2100" b="0" i="0">
                <a:solidFill>
                  <a:srgbClr val="F0E8E8"/>
                </a:solidFill>
                <a:latin typeface="Geist"/>
                <a:ea typeface="Geist"/>
                <a:cs typeface="Geist"/>
              </a:rPr>
              <a:t>end every case with break. Only leave it out on purpose, like case OFF: default:.</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Yes or no: boolean 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&amp;&amp;</a:t>
            </a:r>
          </a:p>
        </p:txBody>
      </p:sp>
      <p:sp>
        <p:nvSpPr>
          <p:cNvPr id="7" name="TextBox 6"/>
          <p:cNvSpPr txBox="1"/>
          <p:nvPr/>
        </p:nvSpPr>
        <p:spPr>
          <a:xfrm>
            <a:off x="2381250" y="3028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and</a:t>
            </a:r>
          </a:p>
        </p:txBody>
      </p:sp>
      <p:sp>
        <p:nvSpPr>
          <p:cNvPr id="8" name="TextBox 7"/>
          <p:cNvSpPr txBox="1"/>
          <p:nvPr/>
        </p:nvSpPr>
        <p:spPr>
          <a:xfrm>
            <a:off x="2381250" y="3467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both must be true</a:t>
            </a:r>
          </a:p>
        </p:txBody>
      </p:sp>
      <p:sp>
        <p:nvSpPr>
          <p:cNvPr id="9" name="TextBox 8"/>
          <p:cNvSpPr txBox="1"/>
          <p:nvPr/>
        </p:nvSpPr>
        <p:spPr>
          <a:xfrm>
            <a:off x="5619750" y="2857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&amp;&amp; false  →  false</a:t>
            </a:r>
          </a:p>
        </p:txBody>
      </p:sp>
      <p:sp>
        <p:nvSpPr>
          <p:cNvPr id="10" name="Rounded Rectangle 9"/>
          <p:cNvSpPr/>
          <p:nvPr/>
        </p:nvSpPr>
        <p:spPr>
          <a:xfrm>
            <a:off x="914400" y="41910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1910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t>
            </a:r>
          </a:p>
        </p:txBody>
      </p:sp>
      <p:sp>
        <p:nvSpPr>
          <p:cNvPr id="12" name="TextBox 11"/>
          <p:cNvSpPr txBox="1"/>
          <p:nvPr/>
        </p:nvSpPr>
        <p:spPr>
          <a:xfrm>
            <a:off x="2381250" y="43624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or</a:t>
            </a:r>
          </a:p>
        </p:txBody>
      </p:sp>
      <p:sp>
        <p:nvSpPr>
          <p:cNvPr id="13" name="TextBox 12"/>
          <p:cNvSpPr txBox="1"/>
          <p:nvPr/>
        </p:nvSpPr>
        <p:spPr>
          <a:xfrm>
            <a:off x="2381250" y="48006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either one is enough</a:t>
            </a:r>
          </a:p>
        </p:txBody>
      </p:sp>
      <p:sp>
        <p:nvSpPr>
          <p:cNvPr id="14" name="TextBox 13"/>
          <p:cNvSpPr txBox="1"/>
          <p:nvPr/>
        </p:nvSpPr>
        <p:spPr>
          <a:xfrm>
            <a:off x="5619750" y="41910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  →  true</a:t>
            </a:r>
          </a:p>
        </p:txBody>
      </p:sp>
      <p:sp>
        <p:nvSpPr>
          <p:cNvPr id="15" name="Rounded Rectangle 14"/>
          <p:cNvSpPr/>
          <p:nvPr/>
        </p:nvSpPr>
        <p:spPr>
          <a:xfrm>
            <a:off x="914400" y="5524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5245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t>
            </a:r>
          </a:p>
        </p:txBody>
      </p:sp>
      <p:sp>
        <p:nvSpPr>
          <p:cNvPr id="17" name="TextBox 16"/>
          <p:cNvSpPr txBox="1"/>
          <p:nvPr/>
        </p:nvSpPr>
        <p:spPr>
          <a:xfrm>
            <a:off x="2381250" y="5695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a:t>
            </a:r>
          </a:p>
        </p:txBody>
      </p:sp>
      <p:sp>
        <p:nvSpPr>
          <p:cNvPr id="18" name="TextBox 17"/>
          <p:cNvSpPr txBox="1"/>
          <p:nvPr/>
        </p:nvSpPr>
        <p:spPr>
          <a:xfrm>
            <a:off x="2381250" y="6134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flips it</a:t>
            </a:r>
          </a:p>
        </p:txBody>
      </p:sp>
      <p:sp>
        <p:nvSpPr>
          <p:cNvPr id="19" name="TextBox 18"/>
          <p:cNvSpPr txBox="1"/>
          <p:nvPr/>
        </p:nvSpPr>
        <p:spPr>
          <a:xfrm>
            <a:off x="5619750" y="5524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a:t>
            </a:r>
          </a:p>
        </p:txBody>
      </p:sp>
      <p:sp>
        <p:nvSpPr>
          <p:cNvPr id="20" name="TextBox 19"/>
          <p:cNvSpPr txBox="1"/>
          <p:nvPr/>
        </p:nvSpPr>
        <p:spPr>
          <a:xfrm>
            <a:off x="9906000" y="2724150"/>
            <a:ext cx="7467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An old intake rule</a:t>
            </a:r>
          </a:p>
        </p:txBody>
      </p:sp>
      <p:sp>
        <p:nvSpPr>
          <p:cNvPr id="21" name="Rounded Rectangle 20"/>
          <p:cNvSpPr/>
          <p:nvPr/>
        </p:nvSpPr>
        <p:spPr>
          <a:xfrm>
            <a:off x="9906000" y="3143250"/>
            <a:ext cx="74676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87000" y="3524250"/>
            <a:ext cx="69342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(system_state_ == IntakeStates.INTAKE</a:t>
            </a:r>
          </a:p>
        </p:txBody>
      </p:sp>
      <p:sp>
        <p:nvSpPr>
          <p:cNvPr id="23" name="TextBox 22"/>
          <p:cNvSpPr txBox="1"/>
          <p:nvPr/>
        </p:nvSpPr>
        <p:spPr>
          <a:xfrm>
            <a:off x="10287000" y="385953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isGamePieceDetected()) {</a:t>
            </a:r>
          </a:p>
        </p:txBody>
      </p:sp>
      <p:sp>
        <p:nvSpPr>
          <p:cNvPr id="24" name="TextBox 23"/>
          <p:cNvSpPr txBox="1"/>
          <p:nvPr/>
        </p:nvSpPr>
        <p:spPr>
          <a:xfrm>
            <a:off x="10287000" y="419481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IntakeStates.IDLE;</a:t>
            </a:r>
          </a:p>
        </p:txBody>
      </p:sp>
      <p:sp>
        <p:nvSpPr>
          <p:cNvPr id="25" name="TextBox 24"/>
          <p:cNvSpPr txBox="1"/>
          <p:nvPr/>
        </p:nvSpPr>
        <p:spPr>
          <a:xfrm>
            <a:off x="10287000" y="453009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6" name="TextBox 25"/>
          <p:cNvSpPr txBox="1"/>
          <p:nvPr/>
        </p:nvSpPr>
        <p:spPr>
          <a:xfrm>
            <a:off x="9906000" y="6096000"/>
            <a:ext cx="74676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Read it: </a:t>
            </a:r>
            <a:r>
              <a:rPr sz="1950" b="1" i="0">
                <a:solidFill>
                  <a:srgbClr val="F0E8E8"/>
                </a:solidFill>
                <a:latin typeface="Geist"/>
                <a:ea typeface="Geist"/>
                <a:cs typeface="Geist"/>
              </a:rPr>
              <a:t>if</a:t>
            </a:r>
            <a:r>
              <a:rPr sz="1950" b="0" i="0">
                <a:solidFill>
                  <a:srgbClr val="F0E8E8"/>
                </a:solidFill>
                <a:latin typeface="Geist"/>
                <a:ea typeface="Geist"/>
                <a:cs typeface="Geist"/>
              </a:rPr>
              <a:t> intaking </a:t>
            </a:r>
            <a:r>
              <a:rPr sz="1950" b="1" i="0">
                <a:solidFill>
                  <a:srgbClr val="F0E8E8"/>
                </a:solidFill>
                <a:latin typeface="Geist"/>
                <a:ea typeface="Geist"/>
                <a:cs typeface="Geist"/>
              </a:rPr>
              <a:t>and</a:t>
            </a:r>
            <a:r>
              <a:rPr sz="1950" b="0" i="0">
                <a:solidFill>
                  <a:srgbClr val="F0E8E8"/>
                </a:solidFill>
                <a:latin typeface="Geist"/>
                <a:ea typeface="Geist"/>
                <a:cs typeface="Geist"/>
              </a:rPr>
              <a:t> a piece is detected, </a:t>
            </a:r>
            <a:r>
              <a:rPr sz="1950" b="1" i="0">
                <a:solidFill>
                  <a:srgbClr val="F0E8E8"/>
                </a:solidFill>
                <a:latin typeface="Geist"/>
                <a:ea typeface="Geist"/>
                <a:cs typeface="Geist"/>
              </a:rPr>
              <a:t>go idle</a:t>
            </a:r>
            <a:r>
              <a:rPr sz="1950" b="0" i="0">
                <a:solidFill>
                  <a:srgbClr val="F0E8E8"/>
                </a:solidFill>
                <a:latin typeface="Geist"/>
                <a:ea typeface="Geist"/>
                <a:cs typeface="Geist"/>
              </a:rPr>
              <a:t>.</a:t>
            </a:r>
          </a:p>
        </p:txBody>
      </p:sp>
      <p:sp>
        <p:nvSpPr>
          <p:cNvPr id="27" name="Rounded Rectangle 26"/>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ghtbulb.png"/>
          <p:cNvPicPr>
            <a:picLocks noChangeAspect="1"/>
          </p:cNvPicPr>
          <p:nvPr/>
        </p:nvPicPr>
        <p:blipFill>
          <a:blip r:embed="rId3"/>
          <a:stretch>
            <a:fillRect/>
          </a:stretch>
        </p:blipFill>
        <p:spPr>
          <a:xfrm>
            <a:off x="1333500" y="8020050"/>
            <a:ext cx="400050" cy="533400"/>
          </a:xfrm>
          <a:prstGeom prst="rect">
            <a:avLst/>
          </a:prstGeom>
        </p:spPr>
      </p:pic>
      <p:sp>
        <p:nvSpPr>
          <p:cNvPr id="29" name="TextBox 28"/>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Tip:  </a:t>
            </a:r>
            <a:r>
              <a:rPr sz="2100" b="0" i="0">
                <a:solidFill>
                  <a:srgbClr val="F0E8E8"/>
                </a:solidFill>
                <a:latin typeface="Geist"/>
                <a:ea typeface="Geist"/>
                <a:cs typeface="Geist"/>
              </a:rPr>
              <a:t>== compares (is it equal?). A single = stores a value.</a:t>
            </a:r>
          </a:p>
        </p:txBody>
      </p:sp>
      <p:pic>
        <p:nvPicPr>
          <p:cNvPr id="30" name="Picture 29" descr="code-slash.png"/>
          <p:cNvPicPr>
            <a:picLocks noChangeAspect="1"/>
          </p:cNvPicPr>
          <p:nvPr/>
        </p:nvPicPr>
        <p:blipFill>
          <a:blip r:embed="rId4"/>
          <a:stretch>
            <a:fillRect/>
          </a:stretch>
        </p:blipFill>
        <p:spPr>
          <a:xfrm>
            <a:off x="914400" y="7105650"/>
            <a:ext cx="224518" cy="209550"/>
          </a:xfrm>
          <a:prstGeom prst="rect">
            <a:avLst/>
          </a:prstGeom>
        </p:spPr>
      </p:pic>
      <p:sp>
        <p:nvSpPr>
          <p:cNvPr id="31" name="TextBox 30"/>
          <p:cNvSpPr txBox="1"/>
          <p:nvPr/>
        </p:nvSpPr>
        <p:spPr>
          <a:xfrm>
            <a:off x="1295400" y="70675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shooter's state machine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Never feed a game piece into a slow flywheel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car can't start at 60 mph. A flywheel can't start at full speed either.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mechanisms, one rule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H="1" flipV="1">
            <a:off x="4576392" y="6537880"/>
            <a:ext cx="233733" cy="15320"/>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4346658" y="6492183"/>
            <a:ext cx="229734" cy="4569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124854" y="6416891"/>
            <a:ext cx="221804" cy="7529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3914775" y="6313292"/>
            <a:ext cx="210079" cy="10359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3720016" y="6183158"/>
            <a:ext cx="194759" cy="1301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543909" y="6028716"/>
            <a:ext cx="176107" cy="15444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389467" y="5852609"/>
            <a:ext cx="154442" cy="17610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259333" y="5657850"/>
            <a:ext cx="130134" cy="19475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155734" y="5447771"/>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080442" y="5225967"/>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034745" y="49962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019425" y="4762500"/>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9425" y="4528767"/>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34745" y="42990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80442" y="4077229"/>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155734" y="3867150"/>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748212" y="6510338"/>
            <a:ext cx="2676525" cy="85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762375" y="3714750"/>
            <a:ext cx="2095500" cy="20955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5063137" y="4531999"/>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77919" y="3902259"/>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180385" y="4132760"/>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49884" y="4830294"/>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579624" y="5015512"/>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95343" y="4947718"/>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621530" y="4573905"/>
            <a:ext cx="377190" cy="37719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5448300" y="3657148"/>
            <a:ext cx="104012" cy="669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552312" y="3724123"/>
            <a:ext cx="97040" cy="767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649352" y="3800852"/>
            <a:ext cx="89156" cy="857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38508" y="3886615"/>
            <a:ext cx="80435" cy="939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18943" y="3980607"/>
            <a:ext cx="70957" cy="1013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89900" y="4081945"/>
            <a:ext cx="60813" cy="1077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50713" y="4189675"/>
            <a:ext cx="50098" cy="1131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00811" y="4302787"/>
            <a:ext cx="38912" cy="1174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39723" y="4420218"/>
            <a:ext cx="27361" cy="12064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67084" y="4540864"/>
            <a:ext cx="15553" cy="1227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058824" y="4639780"/>
            <a:ext cx="47625" cy="17128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a:off x="6077845" y="4787250"/>
            <a:ext cx="8390" cy="1234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057545" y="4910675"/>
            <a:ext cx="20300" cy="1220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025527" y="5032708"/>
            <a:ext cx="32018" cy="1194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982090" y="5152203"/>
            <a:ext cx="43437" cy="1158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5927644" y="5268036"/>
            <a:ext cx="54446" cy="1110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787866" y="5379121"/>
            <a:ext cx="139778" cy="20380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324600" y="5124450"/>
            <a:ext cx="876300" cy="8763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6868555" y="5466209"/>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791100" y="5202863"/>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499404" y="5299254"/>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03013" y="5590950"/>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666359" y="5668405"/>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40205" y="5640055"/>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683883" y="5483733"/>
            <a:ext cx="157734" cy="15773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6189913" y="5278500"/>
            <a:ext cx="33486" cy="756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223399" y="5208122"/>
            <a:ext cx="43410" cy="7037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266809" y="5144267"/>
            <a:ext cx="52534" cy="638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319343" y="5088109"/>
            <a:ext cx="60693" cy="561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380036" y="5040681"/>
            <a:ext cx="67734" cy="4742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6447770" y="5002855"/>
            <a:ext cx="73530" cy="378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521300" y="4975329"/>
            <a:ext cx="77972" cy="275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599272" y="4958608"/>
            <a:ext cx="80980" cy="167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80252" y="4953000"/>
            <a:ext cx="82498" cy="56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762750" y="4953000"/>
            <a:ext cx="82498" cy="56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845248" y="4958608"/>
            <a:ext cx="80980" cy="167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926228" y="4975329"/>
            <a:ext cx="77972" cy="275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004200" y="5002855"/>
            <a:ext cx="73530" cy="378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77730" y="5040681"/>
            <a:ext cx="67734" cy="4742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145464" y="5088109"/>
            <a:ext cx="60693" cy="561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206157" y="5144267"/>
            <a:ext cx="52534" cy="638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58691" y="5208122"/>
            <a:ext cx="76896" cy="145983"/>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6153150" y="586740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385435" y="6172200"/>
            <a:ext cx="69151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Isosceles Triangle 74"/>
          <p:cNvSpPr/>
          <p:nvPr/>
        </p:nvSpPr>
        <p:spPr>
          <a:xfrm rot="16200000">
            <a:off x="5267325" y="6115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62726" y="5225367"/>
            <a:ext cx="647700" cy="6477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214550" y="392484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195625" y="34581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919525" y="30390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643425" y="29247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367325" y="31152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091225" y="3610515"/>
            <a:ext cx="133350" cy="1333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476625" y="6743700"/>
            <a:ext cx="2667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Flywheel</a:t>
            </a:r>
          </a:p>
        </p:txBody>
      </p:sp>
      <p:sp>
        <p:nvSpPr>
          <p:cNvPr id="84" name="TextBox 83"/>
          <p:cNvSpPr txBox="1"/>
          <p:nvPr/>
        </p:nvSpPr>
        <p:spPr>
          <a:xfrm>
            <a:off x="3476625" y="7143750"/>
            <a:ext cx="2667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launches it</a:t>
            </a:r>
          </a:p>
        </p:txBody>
      </p:sp>
      <p:sp>
        <p:nvSpPr>
          <p:cNvPr id="85" name="TextBox 84"/>
          <p:cNvSpPr txBox="1"/>
          <p:nvPr/>
        </p:nvSpPr>
        <p:spPr>
          <a:xfrm>
            <a:off x="5619750" y="6743700"/>
            <a:ext cx="2286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Roller</a:t>
            </a:r>
          </a:p>
        </p:txBody>
      </p:sp>
      <p:sp>
        <p:nvSpPr>
          <p:cNvPr id="86" name="TextBox 85"/>
          <p:cNvSpPr txBox="1"/>
          <p:nvPr/>
        </p:nvSpPr>
        <p:spPr>
          <a:xfrm>
            <a:off x="5619750" y="7143750"/>
            <a:ext cx="2286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feeds it in</a:t>
            </a:r>
          </a:p>
        </p:txBody>
      </p:sp>
      <p:sp>
        <p:nvSpPr>
          <p:cNvPr id="87" name="TextBox 86"/>
          <p:cNvSpPr txBox="1"/>
          <p:nvPr/>
        </p:nvSpPr>
        <p:spPr>
          <a:xfrm>
            <a:off x="7381875" y="3476625"/>
            <a:ext cx="1905000" cy="323850"/>
          </a:xfrm>
          <a:prstGeom prst="rect">
            <a:avLst/>
          </a:prstGeom>
          <a:noFill/>
        </p:spPr>
        <p:txBody>
          <a:bodyPr wrap="square" lIns="0" rIns="0" tIns="0" bIns="0" anchor="t">
            <a:spAutoFit/>
          </a:bodyPr>
          <a:lstStyle/>
          <a:p>
            <a:pPr algn="l"/>
            <a:r>
              <a:rPr sz="1650" b="0" i="0">
                <a:solidFill>
                  <a:srgbClr val="E8C27A"/>
                </a:solidFill>
                <a:latin typeface="Geist"/>
                <a:ea typeface="Geist"/>
                <a:cs typeface="Geist"/>
              </a:rPr>
              <a:t>game piece</a:t>
            </a:r>
          </a:p>
        </p:txBody>
      </p:sp>
      <p:sp>
        <p:nvSpPr>
          <p:cNvPr id="88" name="TextBox 87"/>
          <p:cNvSpPr txBox="1"/>
          <p:nvPr/>
        </p:nvSpPr>
        <p:spPr>
          <a:xfrm>
            <a:off x="10096500" y="304800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Flywheel</a:t>
            </a:r>
            <a:r>
              <a:rPr sz="2250" b="0" i="0">
                <a:solidFill>
                  <a:srgbClr val="F0E8E8"/>
                </a:solidFill>
                <a:latin typeface="Geist"/>
                <a:ea typeface="Geist"/>
                <a:cs typeface="Geist"/>
              </a:rPr>
              <a:t>: must be at speed first</a:t>
            </a:r>
          </a:p>
        </p:txBody>
      </p:sp>
      <p:sp>
        <p:nvSpPr>
          <p:cNvPr id="89" name="TextBox 88"/>
          <p:cNvSpPr txBox="1"/>
          <p:nvPr/>
        </p:nvSpPr>
        <p:spPr>
          <a:xfrm>
            <a:off x="10096500" y="370522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Roller</a:t>
            </a:r>
            <a:r>
              <a:rPr sz="2250" b="0" i="0">
                <a:solidFill>
                  <a:srgbClr val="F0E8E8"/>
                </a:solidFill>
                <a:latin typeface="Geist"/>
                <a:ea typeface="Geist"/>
                <a:cs typeface="Geist"/>
              </a:rPr>
              <a:t>: only feeds when it is</a:t>
            </a:r>
          </a:p>
        </p:txBody>
      </p:sp>
      <p:sp>
        <p:nvSpPr>
          <p:cNvPr id="90" name="TextBox 89"/>
          <p:cNvSpPr txBox="1"/>
          <p:nvPr/>
        </p:nvSpPr>
        <p:spPr>
          <a:xfrm>
            <a:off x="10096500" y="436245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driver just says </a:t>
            </a:r>
            <a:r>
              <a:rPr sz="2250" b="1" i="0">
                <a:solidFill>
                  <a:srgbClr val="F0E8E8"/>
                </a:solidFill>
                <a:latin typeface="Geist"/>
                <a:ea typeface="Geist"/>
                <a:cs typeface="Geist"/>
              </a:rPr>
              <a:t>“shoot”</a:t>
            </a:r>
          </a:p>
        </p:txBody>
      </p:sp>
      <p:sp>
        <p:nvSpPr>
          <p:cNvPr id="91" name="TextBox 90"/>
          <p:cNvSpPr txBox="1"/>
          <p:nvPr/>
        </p:nvSpPr>
        <p:spPr>
          <a:xfrm>
            <a:off x="10096500" y="501967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a:t>
            </a:r>
            <a:r>
              <a:rPr sz="2250" b="1" i="0">
                <a:solidFill>
                  <a:srgbClr val="F0E8E8"/>
                </a:solidFill>
                <a:latin typeface="Geist"/>
                <a:ea typeface="Geist"/>
                <a:cs typeface="Geist"/>
              </a:rPr>
              <a:t>state machine</a:t>
            </a:r>
            <a:r>
              <a:rPr sz="2250" b="0" i="0">
                <a:solidFill>
                  <a:srgbClr val="F0E8E8"/>
                </a:solidFill>
                <a:latin typeface="Geist"/>
                <a:ea typeface="Geist"/>
                <a:cs typeface="Geist"/>
              </a:rPr>
              <a:t> decides the safe order</a:t>
            </a:r>
          </a:p>
        </p:txBody>
      </p:sp>
      <p:sp>
        <p:nvSpPr>
          <p:cNvPr id="92" name="Rounded Rectangle 9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fan.png"/>
          <p:cNvPicPr>
            <a:picLocks noChangeAspect="1"/>
          </p:cNvPicPr>
          <p:nvPr/>
        </p:nvPicPr>
        <p:blipFill>
          <a:blip r:embed="rId3"/>
          <a:stretch>
            <a:fillRect/>
          </a:stretch>
        </p:blipFill>
        <p:spPr>
          <a:xfrm>
            <a:off x="1333500" y="8353425"/>
            <a:ext cx="533400" cy="533400"/>
          </a:xfrm>
          <a:prstGeom prst="rect">
            <a:avLst/>
          </a:prstGeom>
        </p:spPr>
      </p:pic>
      <p:sp>
        <p:nvSpPr>
          <p:cNvPr id="94" name="TextBox 9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rule:  </a:t>
            </a:r>
            <a:r>
              <a:rPr sz="2100" b="0" i="0">
                <a:solidFill>
                  <a:srgbClr val="F0E8E8"/>
                </a:solidFill>
                <a:latin typeface="Geist"/>
                <a:ea typeface="Geist"/>
                <a:cs typeface="Geist"/>
              </a:rPr>
              <a:t>never feed a game piece into a slow flywheel.</a:t>
            </a:r>
          </a:p>
        </p:txBody>
      </p:sp>
      <p:sp>
        <p:nvSpPr>
          <p:cNvPr id="95" name="TextBox 9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6" name="TextBox 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IDLE, SPIN_UP, SHOOT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IDLE</a:t>
            </a:r>
          </a:p>
        </p:txBody>
      </p:sp>
      <p:sp>
        <p:nvSpPr>
          <p:cNvPr id="7" name="TextBox 6"/>
          <p:cNvSpPr txBox="1"/>
          <p:nvPr/>
        </p:nvSpPr>
        <p:spPr>
          <a:xfrm>
            <a:off x="10287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everything stopped</a:t>
            </a:r>
          </a:p>
        </p:txBody>
      </p:sp>
      <p:sp>
        <p:nvSpPr>
          <p:cNvPr id="8" name="Rounded Rectangle 7"/>
          <p:cNvSpPr/>
          <p:nvPr/>
        </p:nvSpPr>
        <p:spPr>
          <a:xfrm>
            <a:off x="7239000" y="4762500"/>
            <a:ext cx="3810000" cy="1619250"/>
          </a:xfrm>
          <a:prstGeom prst="roundRect">
            <a:avLst>
              <a:gd name="adj" fmla="val 12941"/>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SPIN_UP</a:t>
            </a:r>
          </a:p>
        </p:txBody>
      </p:sp>
      <p:sp>
        <p:nvSpPr>
          <p:cNvPr id="10" name="TextBox 9"/>
          <p:cNvSpPr txBox="1"/>
          <p:nvPr/>
        </p:nvSpPr>
        <p:spPr>
          <a:xfrm>
            <a:off x="73533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only</a:t>
            </a:r>
          </a:p>
        </p:txBody>
      </p:sp>
      <p:sp>
        <p:nvSpPr>
          <p:cNvPr id="11" name="Rounded Rectangle 10"/>
          <p:cNvSpPr/>
          <p:nvPr/>
        </p:nvSpPr>
        <p:spPr>
          <a:xfrm>
            <a:off x="7391400" y="4591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914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135636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6398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SHOOT</a:t>
            </a:r>
          </a:p>
        </p:txBody>
      </p:sp>
      <p:sp>
        <p:nvSpPr>
          <p:cNvPr id="15" name="TextBox 14"/>
          <p:cNvSpPr txBox="1"/>
          <p:nvPr/>
        </p:nvSpPr>
        <p:spPr>
          <a:xfrm>
            <a:off x="136779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 roller</a:t>
            </a:r>
          </a:p>
        </p:txBody>
      </p:sp>
      <p:sp>
        <p:nvSpPr>
          <p:cNvPr id="16" name="Rectangle 15"/>
          <p:cNvSpPr/>
          <p:nvPr/>
        </p:nvSpPr>
        <p:spPr>
          <a:xfrm>
            <a:off x="4781550" y="5553075"/>
            <a:ext cx="2263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7010400" y="5495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17331" y="5023009"/>
            <a:ext cx="13287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17331" y="5023009"/>
            <a:ext cx="1328738"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SHOOT</a:t>
            </a:r>
          </a:p>
        </p:txBody>
      </p:sp>
      <p:sp>
        <p:nvSpPr>
          <p:cNvPr id="20" name="Rectangle 19"/>
          <p:cNvSpPr/>
          <p:nvPr/>
        </p:nvSpPr>
        <p:spPr>
          <a:xfrm>
            <a:off x="11101388" y="5548312"/>
            <a:ext cx="227266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3335000" y="54959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531918" y="5023009"/>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531918" y="5023009"/>
            <a:ext cx="1548765" cy="336232"/>
          </a:xfrm>
          <a:prstGeom prst="rect">
            <a:avLst/>
          </a:prstGeom>
          <a:noFill/>
        </p:spPr>
        <p:txBody>
          <a:bodyPr wrap="square" lIns="0" rIns="0" tIns="0" bIns="0" anchor="ctr">
            <a:spAutoFit/>
          </a:bodyPr>
          <a:lstStyle/>
          <a:p>
            <a:pPr algn="ctr"/>
            <a:r>
              <a:rPr sz="1575" b="0" i="0">
                <a:solidFill>
                  <a:srgbClr val="CC2200"/>
                </a:solidFill>
                <a:latin typeface="Geist Mono"/>
                <a:ea typeface="Geist Mono"/>
                <a:cs typeface="Geist Mono"/>
              </a:rPr>
              <a:t>isAtSpeed()</a:t>
            </a:r>
          </a:p>
        </p:txBody>
      </p:sp>
      <p:sp>
        <p:nvSpPr>
          <p:cNvPr id="24" name="Rectangle 23"/>
          <p:cNvSpPr/>
          <p:nvPr/>
        </p:nvSpPr>
        <p:spPr>
          <a:xfrm>
            <a:off x="14687550" y="44958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flipH="1" flipV="1">
            <a:off x="14691507"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4646419"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4571903"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4468896"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14338692"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4182930"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4003568"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802863"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5833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347751"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09906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840417"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575048"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2287250" y="3890033"/>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2018502" y="3886200"/>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0" name="Connector 39"/>
          <p:cNvCxnSpPr/>
          <p:nvPr/>
        </p:nvCxnSpPr>
        <p:spPr>
          <a:xfrm flipH="1">
            <a:off x="11772183"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513531"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126484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1029263"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08097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609032"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429670"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273908"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143704"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40697"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966181"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921093"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906000"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886950" y="447675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Isosceles Triangle 53"/>
          <p:cNvSpPr/>
          <p:nvPr/>
        </p:nvSpPr>
        <p:spPr>
          <a:xfrm rot="10800000">
            <a:off x="9829800" y="46101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531918" y="3737134"/>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1531918" y="3737134"/>
            <a:ext cx="1548765" cy="336232"/>
          </a:xfrm>
          <a:prstGeom prst="rect">
            <a:avLst/>
          </a:prstGeom>
          <a:noFill/>
        </p:spPr>
        <p:txBody>
          <a:bodyPr wrap="square" lIns="0" rIns="0" tIns="0" bIns="0" anchor="ctr">
            <a:spAutoFit/>
          </a:bodyPr>
          <a:lstStyle/>
          <a:p>
            <a:pPr algn="ctr"/>
            <a:r>
              <a:rPr sz="1575" b="0" i="0">
                <a:solidFill>
                  <a:srgbClr val="F0E8E8"/>
                </a:solidFill>
                <a:latin typeface="Geist Mono"/>
                <a:ea typeface="Geist Mono"/>
                <a:cs typeface="Geist Mono"/>
              </a:rPr>
              <a:t>hasDipped()</a:t>
            </a:r>
          </a:p>
        </p:txBody>
      </p:sp>
      <p:sp>
        <p:nvSpPr>
          <p:cNvPr id="57" name="Rectangle 56"/>
          <p:cNvSpPr/>
          <p:nvPr/>
        </p:nvSpPr>
        <p:spPr>
          <a:xfrm>
            <a:off x="280035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2819400" y="4339950"/>
            <a:ext cx="43062" cy="1749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991106" y="3998921"/>
            <a:ext cx="212608" cy="1683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497612" y="3683763"/>
            <a:ext cx="371493" cy="1533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313522" y="3410278"/>
            <a:ext cx="511750" cy="1306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397921" y="3192182"/>
            <a:ext cx="626346" cy="10136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696433" y="3040410"/>
            <a:ext cx="709534" cy="670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143946" y="2962572"/>
            <a:ext cx="757143" cy="2934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667875" y="2952750"/>
            <a:ext cx="766786" cy="98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191804" y="2991915"/>
            <a:ext cx="737979" cy="4849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639317" y="3107447"/>
            <a:ext cx="672166" cy="847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3937829" y="3293551"/>
            <a:ext cx="572649" cy="1167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5022228" y="3540897"/>
            <a:ext cx="444417" cy="1428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5838138" y="3837080"/>
            <a:ext cx="293898" cy="1618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6344644" y="4167250"/>
            <a:ext cx="128644" cy="1727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64973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Isosceles Triangle 72"/>
          <p:cNvSpPr/>
          <p:nvPr/>
        </p:nvSpPr>
        <p:spPr>
          <a:xfrm rot="10800000">
            <a:off x="164401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945981" y="2898934"/>
            <a:ext cx="17287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945981" y="2898934"/>
            <a:ext cx="17287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SHOOT</a:t>
            </a:r>
          </a:p>
        </p:txBody>
      </p:sp>
      <p:sp>
        <p:nvSpPr>
          <p:cNvPr id="76" name="Oval 75"/>
          <p:cNvSpPr/>
          <p:nvPr/>
        </p:nvSpPr>
        <p:spPr>
          <a:xfrm>
            <a:off x="5172075" y="29146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72075" y="291465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78" name="Rectangle 77"/>
          <p:cNvSpPr/>
          <p:nvPr/>
        </p:nvSpPr>
        <p:spPr>
          <a:xfrm>
            <a:off x="91249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9" name="Connector 78"/>
          <p:cNvCxnSpPr/>
          <p:nvPr/>
        </p:nvCxnSpPr>
        <p:spPr>
          <a:xfrm flipH="1">
            <a:off x="9125613"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9070685"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897990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8854416"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8695795"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8506037"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8287529"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8043018"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7775580"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7488577"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7185619"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6870515"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6547229"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6200775" y="7310768"/>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873371" y="7315200"/>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flipV="1">
            <a:off x="5569135"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5254031"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4951073"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4664070"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4396632"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4152121"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933613"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743855"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585234"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3459745"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336896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3314037"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3295650"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32766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Isosceles Triangle 107"/>
          <p:cNvSpPr/>
          <p:nvPr/>
        </p:nvSpPr>
        <p:spPr>
          <a:xfrm>
            <a:off x="3219450" y="6381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54495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0" name="Connector 109"/>
          <p:cNvCxnSpPr/>
          <p:nvPr/>
        </p:nvCxnSpPr>
        <p:spPr>
          <a:xfrm flipH="1">
            <a:off x="15427335"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a:off x="15304059"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15100322"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14818686"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4462693"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14036820"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3546422"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2997667"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2397455"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175333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1073406"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0366219"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9640667"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8905875"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8171083"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7445531"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6738344"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flipV="1">
            <a:off x="6058415"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541429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flipV="1">
            <a:off x="4814083"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flipV="1">
            <a:off x="4265328"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3774930"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3349057"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2993064"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2711428"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2507691"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2384415"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2343150"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23241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Isosceles Triangle 138"/>
          <p:cNvSpPr/>
          <p:nvPr/>
        </p:nvSpPr>
        <p:spPr>
          <a:xfrm>
            <a:off x="2266950" y="6381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7491412" y="8023384"/>
            <a:ext cx="28289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7491412" y="8023384"/>
            <a:ext cx="28289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IDLE (button let go)</a:t>
            </a:r>
          </a:p>
        </p:txBody>
      </p:sp>
      <p:sp>
        <p:nvSpPr>
          <p:cNvPr id="142" name="TextBox 1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3" name="TextBox 1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yes-or-no questions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64592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6459200" cy="3505200"/>
          </a:xfrm>
          <a:prstGeom prst="roundRect">
            <a:avLst>
              <a:gd name="adj" fmla="val 434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isAtSpeed() {</a:t>
            </a:r>
          </a:p>
        </p:txBody>
      </p:sp>
      <p:sp>
        <p:nvSpPr>
          <p:cNvPr id="8" name="TextBox 7"/>
          <p:cNvSpPr txBox="1"/>
          <p:nvPr/>
        </p:nvSpPr>
        <p:spPr>
          <a:xfrm>
            <a:off x="1295400" y="38671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9" name="TextBox 8"/>
          <p:cNvSpPr txBox="1"/>
          <p:nvPr/>
        </p:nvSpPr>
        <p:spPr>
          <a:xfrm>
            <a:off x="1295400" y="42100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CONSTANTS.AT_SPEED_TOLERANCE);</a:t>
            </a:r>
          </a:p>
        </p:txBody>
      </p:sp>
      <p:sp>
        <p:nvSpPr>
          <p:cNvPr id="10" name="TextBox 9"/>
          <p:cNvSpPr txBox="1"/>
          <p:nvPr/>
        </p:nvSpPr>
        <p:spPr>
          <a:xfrm>
            <a:off x="1295400" y="45529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1" name="TextBox 10"/>
          <p:cNvSpPr txBox="1"/>
          <p:nvPr/>
        </p:nvSpPr>
        <p:spPr>
          <a:xfrm>
            <a:off x="1295400" y="48958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hasDipped() {</a:t>
            </a:r>
          </a:p>
        </p:txBody>
      </p:sp>
      <p:sp>
        <p:nvSpPr>
          <p:cNvPr id="12" name="TextBox 11"/>
          <p:cNvSpPr txBox="1"/>
          <p:nvPr/>
        </p:nvSpPr>
        <p:spPr>
          <a:xfrm>
            <a:off x="1295400" y="52387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13" name="TextBox 12"/>
          <p:cNvSpPr txBox="1"/>
          <p:nvPr/>
        </p:nvSpPr>
        <p:spPr>
          <a:xfrm>
            <a:off x="1295400" y="55816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CONSTANTS.DIP_TOLERANCE);</a:t>
            </a:r>
          </a:p>
        </p:txBody>
      </p:sp>
      <p:sp>
        <p:nvSpPr>
          <p:cNvPr id="14" name="TextBox 13"/>
          <p:cNvSpPr txBox="1"/>
          <p:nvPr/>
        </p:nvSpPr>
        <p:spPr>
          <a:xfrm>
            <a:off x="1295400" y="59245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Oval 14"/>
          <p:cNvSpPr/>
          <p:nvPr/>
        </p:nvSpPr>
        <p:spPr>
          <a:xfrm>
            <a:off x="16764000" y="35052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764000" y="35052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6764000" y="48768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640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Rectangle 18"/>
          <p:cNvSpPr/>
          <p:nvPr/>
        </p:nvSpPr>
        <p:spPr>
          <a:xfrm>
            <a:off x="1638300" y="7677150"/>
            <a:ext cx="15011400" cy="762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557760" y="7677150"/>
            <a:ext cx="4053840" cy="762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676400" y="7677150"/>
            <a:ext cx="768096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243060" y="760095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7962900"/>
            <a:ext cx="38100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276: hasDipped() below</a:t>
            </a:r>
          </a:p>
        </p:txBody>
      </p:sp>
      <p:sp>
        <p:nvSpPr>
          <p:cNvPr id="24" name="Oval 23"/>
          <p:cNvSpPr/>
          <p:nvPr/>
        </p:nvSpPr>
        <p:spPr>
          <a:xfrm>
            <a:off x="12443460" y="7600950"/>
            <a:ext cx="228600" cy="2286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52760" y="7962900"/>
            <a:ext cx="3810000" cy="323850"/>
          </a:xfrm>
          <a:prstGeom prst="rect">
            <a:avLst/>
          </a:prstGeom>
          <a:noFill/>
        </p:spPr>
        <p:txBody>
          <a:bodyPr wrap="square" lIns="0" rIns="0" tIns="0" bIns="0" anchor="t">
            <a:spAutoFit/>
          </a:bodyPr>
          <a:lstStyle/>
          <a:p>
            <a:pPr algn="ctr"/>
            <a:r>
              <a:rPr sz="1650" b="1" i="0">
                <a:solidFill>
                  <a:srgbClr val="198754"/>
                </a:solidFill>
                <a:latin typeface="Geist"/>
                <a:ea typeface="Geist"/>
                <a:cs typeface="Geist"/>
              </a:rPr>
              <a:t>291: isAtSpeed() above</a:t>
            </a:r>
          </a:p>
        </p:txBody>
      </p:sp>
      <p:sp>
        <p:nvSpPr>
          <p:cNvPr id="26" name="Oval 25"/>
          <p:cNvSpPr/>
          <p:nvPr/>
        </p:nvSpPr>
        <p:spPr>
          <a:xfrm>
            <a:off x="14363700" y="7600950"/>
            <a:ext cx="228600" cy="2286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73000" y="7105650"/>
            <a:ext cx="3810000" cy="3238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300: target</a:t>
            </a:r>
          </a:p>
        </p:txBody>
      </p:sp>
      <p:sp>
        <p:nvSpPr>
          <p:cNvPr id="28" name="TextBox 27"/>
          <p:cNvSpPr txBox="1"/>
          <p:nvPr/>
        </p:nvSpPr>
        <p:spPr>
          <a:xfrm>
            <a:off x="9624060" y="7105650"/>
            <a:ext cx="2667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neither: stay put</a:t>
            </a:r>
          </a:p>
        </p:txBody>
      </p:sp>
      <p:sp>
        <p:nvSpPr>
          <p:cNvPr id="29" name="TextBox 28"/>
          <p:cNvSpPr txBox="1"/>
          <p:nvPr/>
        </p:nvSpPr>
        <p:spPr>
          <a:xfrm>
            <a:off x="1676400" y="84772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flywheel speed (rad/s)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the transition rules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200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2001500" cy="4911090"/>
          </a:xfrm>
          <a:prstGeom prst="roundRect">
            <a:avLst>
              <a:gd name="adj" fmla="val 31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0144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0144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7863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7863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65582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65582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11468100" cy="37719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handleStateTransition(ShooterStates wanted) {</a:t>
            </a:r>
          </a:p>
        </p:txBody>
      </p:sp>
      <p:sp>
        <p:nvSpPr>
          <p:cNvPr id="14" name="TextBox 13"/>
          <p:cNvSpPr txBox="1"/>
          <p:nvPr/>
        </p:nvSpPr>
        <p:spPr>
          <a:xfrm>
            <a:off x="1295400" y="390144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(wanted == ShooterStates.IDLE) {</a:t>
            </a:r>
          </a:p>
        </p:txBody>
      </p:sp>
      <p:sp>
        <p:nvSpPr>
          <p:cNvPr id="15" name="TextBox 14"/>
          <p:cNvSpPr txBox="1"/>
          <p:nvPr/>
        </p:nvSpPr>
        <p:spPr>
          <a:xfrm>
            <a:off x="1295400" y="427863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ShooterStates.IDLE;</a:t>
            </a:r>
          </a:p>
        </p:txBody>
      </p:sp>
      <p:sp>
        <p:nvSpPr>
          <p:cNvPr id="16" name="TextBox 15"/>
          <p:cNvSpPr txBox="1"/>
          <p:nvPr/>
        </p:nvSpPr>
        <p:spPr>
          <a:xfrm>
            <a:off x="1295400" y="465582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a:t>
            </a:r>
          </a:p>
        </p:txBody>
      </p:sp>
      <p:sp>
        <p:nvSpPr>
          <p:cNvPr id="17" name="TextBox 16"/>
          <p:cNvSpPr txBox="1"/>
          <p:nvPr/>
        </p:nvSpPr>
        <p:spPr>
          <a:xfrm>
            <a:off x="1295400" y="503301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41020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9" name="TextBox 18"/>
          <p:cNvSpPr txBox="1"/>
          <p:nvPr/>
        </p:nvSpPr>
        <p:spPr>
          <a:xfrm>
            <a:off x="1295400" y="578739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16458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(isAtSpeed()) system_state_ = ShooterStates.SHOOT;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1" name="TextBox 20"/>
          <p:cNvSpPr txBox="1"/>
          <p:nvPr/>
        </p:nvSpPr>
        <p:spPr>
          <a:xfrm>
            <a:off x="1295400" y="654177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(hasDipped())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2" name="TextBox 21"/>
          <p:cNvSpPr txBox="1"/>
          <p:nvPr/>
        </p:nvSpPr>
        <p:spPr>
          <a:xfrm>
            <a:off x="1295400" y="691896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3" name="TextBox 22"/>
          <p:cNvSpPr txBox="1"/>
          <p:nvPr/>
        </p:nvSpPr>
        <p:spPr>
          <a:xfrm>
            <a:off x="1295400" y="729615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4" name="Oval 23"/>
          <p:cNvSpPr/>
          <p:nvPr/>
        </p:nvSpPr>
        <p:spPr>
          <a:xfrm>
            <a:off x="12306300" y="389953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06300" y="389953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2306300" y="578548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06300" y="578548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2306300" y="61626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306300" y="6162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306300" y="65398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06300" y="65398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2" name="Oval 31"/>
          <p:cNvSpPr/>
          <p:nvPr/>
        </p:nvSpPr>
        <p:spPr>
          <a:xfrm>
            <a:off x="13430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430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4" name="TextBox 33"/>
          <p:cNvSpPr txBox="1"/>
          <p:nvPr/>
        </p:nvSpPr>
        <p:spPr>
          <a:xfrm>
            <a:off x="14039850" y="2819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IDLE wins</a:t>
            </a:r>
          </a:p>
        </p:txBody>
      </p:sp>
      <p:sp>
        <p:nvSpPr>
          <p:cNvPr id="35" name="TextBox 34"/>
          <p:cNvSpPr txBox="1"/>
          <p:nvPr/>
        </p:nvSpPr>
        <p:spPr>
          <a:xfrm>
            <a:off x="14039850" y="3238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Wanting IDLE goes straight there</a:t>
            </a:r>
          </a:p>
        </p:txBody>
      </p:sp>
      <p:sp>
        <p:nvSpPr>
          <p:cNvPr id="36" name="Oval 35"/>
          <p:cNvSpPr/>
          <p:nvPr/>
        </p:nvSpPr>
        <p:spPr>
          <a:xfrm>
            <a:off x="13430250" y="419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430250" y="419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TextBox 37"/>
          <p:cNvSpPr txBox="1"/>
          <p:nvPr/>
        </p:nvSpPr>
        <p:spPr>
          <a:xfrm>
            <a:off x="14039850" y="4152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step up</a:t>
            </a:r>
          </a:p>
        </p:txBody>
      </p:sp>
      <p:sp>
        <p:nvSpPr>
          <p:cNvPr id="39" name="TextBox 38"/>
          <p:cNvSpPr txBox="1"/>
          <p:nvPr/>
        </p:nvSpPr>
        <p:spPr>
          <a:xfrm>
            <a:off x="14039850" y="4572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can only go to SPIN_UP</a:t>
            </a:r>
          </a:p>
        </p:txBody>
      </p:sp>
      <p:sp>
        <p:nvSpPr>
          <p:cNvPr id="40" name="Oval 39"/>
          <p:cNvSpPr/>
          <p:nvPr/>
        </p:nvSpPr>
        <p:spPr>
          <a:xfrm>
            <a:off x="13430250" y="5524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43025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2" name="TextBox 41"/>
          <p:cNvSpPr txBox="1"/>
          <p:nvPr/>
        </p:nvSpPr>
        <p:spPr>
          <a:xfrm>
            <a:off x="14039850" y="5486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speed?</a:t>
            </a:r>
          </a:p>
        </p:txBody>
      </p:sp>
      <p:sp>
        <p:nvSpPr>
          <p:cNvPr id="43" name="TextBox 42"/>
          <p:cNvSpPr txBox="1"/>
          <p:nvPr/>
        </p:nvSpPr>
        <p:spPr>
          <a:xfrm>
            <a:off x="14039850" y="5905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SHOOT</a:t>
            </a:r>
          </a:p>
        </p:txBody>
      </p:sp>
      <p:sp>
        <p:nvSpPr>
          <p:cNvPr id="44" name="Oval 43"/>
          <p:cNvSpPr/>
          <p:nvPr/>
        </p:nvSpPr>
        <p:spPr>
          <a:xfrm>
            <a:off x="13430250" y="685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4302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6" name="TextBox 45"/>
          <p:cNvSpPr txBox="1"/>
          <p:nvPr/>
        </p:nvSpPr>
        <p:spPr>
          <a:xfrm>
            <a:off x="14039850" y="6819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Dipped?</a:t>
            </a:r>
          </a:p>
        </p:txBody>
      </p:sp>
      <p:sp>
        <p:nvSpPr>
          <p:cNvPr id="47" name="TextBox 46"/>
          <p:cNvSpPr txBox="1"/>
          <p:nvPr/>
        </p:nvSpPr>
        <p:spPr>
          <a:xfrm>
            <a:off x="14039850" y="7239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SPIN_UP</a:t>
            </a:r>
          </a:p>
        </p:txBody>
      </p:sp>
      <p:pic>
        <p:nvPicPr>
          <p:cNvPr id="48" name="Picture 47" descr="code-slash.png"/>
          <p:cNvPicPr>
            <a:picLocks noChangeAspect="1"/>
          </p:cNvPicPr>
          <p:nvPr/>
        </p:nvPicPr>
        <p:blipFill>
          <a:blip r:embed="rId3"/>
          <a:stretch>
            <a:fillRect/>
          </a:stretch>
        </p:blipFill>
        <p:spPr>
          <a:xfrm>
            <a:off x="914400" y="8610600"/>
            <a:ext cx="224518" cy="209550"/>
          </a:xfrm>
          <a:prstGeom prst="rect">
            <a:avLst/>
          </a:prstGeom>
        </p:spPr>
      </p:pic>
      <p:sp>
        <p:nvSpPr>
          <p:cNvPr id="49" name="TextBox 48"/>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what each state does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  ·  updateLogic()</a:t>
            </a:r>
          </a:p>
        </p:txBody>
      </p:sp>
      <p:sp>
        <p:nvSpPr>
          <p:cNvPr id="6" name="Rounded Rectangle 5"/>
          <p:cNvSpPr/>
          <p:nvPr/>
        </p:nvSpPr>
        <p:spPr>
          <a:xfrm>
            <a:off x="914400" y="3143250"/>
            <a:ext cx="114300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410200"/>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410200"/>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724525"/>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72452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8966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2" name="TextBox 11"/>
          <p:cNvSpPr txBox="1"/>
          <p:nvPr/>
        </p:nvSpPr>
        <p:spPr>
          <a:xfrm>
            <a:off x="1295400" y="38385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a:t>
            </a:r>
          </a:p>
        </p:txBody>
      </p:sp>
      <p:sp>
        <p:nvSpPr>
          <p:cNvPr id="13" name="TextBox 12"/>
          <p:cNvSpPr txBox="1"/>
          <p:nvPr/>
        </p:nvSpPr>
        <p:spPr>
          <a:xfrm>
            <a:off x="1295400" y="41529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4" name="TextBox 13"/>
          <p:cNvSpPr txBox="1"/>
          <p:nvPr/>
        </p:nvSpPr>
        <p:spPr>
          <a:xfrm>
            <a:off x="1295400" y="44672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15" name="TextBox 14"/>
          <p:cNvSpPr txBox="1"/>
          <p:nvPr/>
        </p:nvSpPr>
        <p:spPr>
          <a:xfrm>
            <a:off x="1295400" y="47815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16" name="TextBox 15"/>
          <p:cNvSpPr txBox="1"/>
          <p:nvPr/>
        </p:nvSpPr>
        <p:spPr>
          <a:xfrm>
            <a:off x="1295400" y="50958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a:t>
            </a:r>
          </a:p>
        </p:txBody>
      </p:sp>
      <p:sp>
        <p:nvSpPr>
          <p:cNvPr id="17" name="TextBox 16"/>
          <p:cNvSpPr txBox="1"/>
          <p:nvPr/>
        </p:nvSpPr>
        <p:spPr>
          <a:xfrm>
            <a:off x="1295400" y="54102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8" name="TextBox 17"/>
          <p:cNvSpPr txBox="1"/>
          <p:nvPr/>
        </p:nvSpPr>
        <p:spPr>
          <a:xfrm>
            <a:off x="1295400" y="57245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roller_.setTargetDutyCycle(CONSTANTS.INDEX_DUTY_CYCLE);</a:t>
            </a:r>
          </a:p>
        </p:txBody>
      </p:sp>
      <p:sp>
        <p:nvSpPr>
          <p:cNvPr id="19" name="TextBox 18"/>
          <p:cNvSpPr txBox="1"/>
          <p:nvPr/>
        </p:nvSpPr>
        <p:spPr>
          <a:xfrm>
            <a:off x="1295400" y="60388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3531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a:t>
            </a:r>
          </a:p>
        </p:txBody>
      </p:sp>
      <p:sp>
        <p:nvSpPr>
          <p:cNvPr id="21" name="TextBox 20"/>
          <p:cNvSpPr txBox="1"/>
          <p:nvPr/>
        </p:nvSpPr>
        <p:spPr>
          <a:xfrm>
            <a:off x="1295400" y="66675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default</a:t>
            </a:r>
            <a:r>
              <a:rPr sz="1650" b="0" i="0">
                <a:solidFill>
                  <a:srgbClr val="F0E8E8"/>
                </a:solidFill>
                <a:latin typeface="Geist Mono"/>
                <a:ea typeface="Geist Mono"/>
                <a:cs typeface="Geist Mono"/>
              </a:rPr>
              <a:t>:</a:t>
            </a:r>
          </a:p>
        </p:txBody>
      </p:sp>
      <p:sp>
        <p:nvSpPr>
          <p:cNvPr id="22" name="TextBox 21"/>
          <p:cNvSpPr txBox="1"/>
          <p:nvPr/>
        </p:nvSpPr>
        <p:spPr>
          <a:xfrm>
            <a:off x="1295400" y="69818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flywheel_.setTargetDutyCycle(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3" name="Oval 22"/>
          <p:cNvSpPr/>
          <p:nvPr/>
        </p:nvSpPr>
        <p:spPr>
          <a:xfrm>
            <a:off x="11734800" y="38052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34800" y="3805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1734800" y="50625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734800" y="5062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1734800" y="63198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34800" y="63198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Rounded Rectangle 28"/>
          <p:cNvSpPr/>
          <p:nvPr/>
        </p:nvSpPr>
        <p:spPr>
          <a:xfrm>
            <a:off x="12858750" y="2857500"/>
            <a:ext cx="4514850" cy="5334000"/>
          </a:xfrm>
          <a:prstGeom prst="roundRect">
            <a:avLst>
              <a:gd name="adj" fmla="val 3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39750" y="3200400"/>
            <a:ext cx="381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  MOTORS</a:t>
            </a:r>
          </a:p>
        </p:txBody>
      </p:sp>
      <p:sp>
        <p:nvSpPr>
          <p:cNvPr id="31" name="TextBox 30"/>
          <p:cNvSpPr txBox="1"/>
          <p:nvPr/>
        </p:nvSpPr>
        <p:spPr>
          <a:xfrm>
            <a:off x="13239750" y="38100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SPIN_UP</a:t>
            </a:r>
          </a:p>
        </p:txBody>
      </p:sp>
      <p:sp>
        <p:nvSpPr>
          <p:cNvPr id="32" name="Rounded Rectangle 31"/>
          <p:cNvSpPr/>
          <p:nvPr/>
        </p:nvSpPr>
        <p:spPr>
          <a:xfrm>
            <a:off x="13239750" y="428625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239750" y="428625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4" name="Rounded Rectangle 33"/>
          <p:cNvSpPr/>
          <p:nvPr/>
        </p:nvSpPr>
        <p:spPr>
          <a:xfrm>
            <a:off x="15144750" y="42862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5144750" y="42862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36" name="TextBox 35"/>
          <p:cNvSpPr txBox="1"/>
          <p:nvPr/>
        </p:nvSpPr>
        <p:spPr>
          <a:xfrm>
            <a:off x="13239750" y="523875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a:t>
            </a:r>
          </a:p>
        </p:txBody>
      </p:sp>
      <p:sp>
        <p:nvSpPr>
          <p:cNvPr id="37" name="Rounded Rectangle 36"/>
          <p:cNvSpPr/>
          <p:nvPr/>
        </p:nvSpPr>
        <p:spPr>
          <a:xfrm>
            <a:off x="13239750" y="571500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239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9" name="Rounded Rectangle 38"/>
          <p:cNvSpPr/>
          <p:nvPr/>
        </p:nvSpPr>
        <p:spPr>
          <a:xfrm>
            <a:off x="15144750" y="571500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5144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roller on</a:t>
            </a:r>
          </a:p>
        </p:txBody>
      </p:sp>
      <p:sp>
        <p:nvSpPr>
          <p:cNvPr id="41" name="TextBox 40"/>
          <p:cNvSpPr txBox="1"/>
          <p:nvPr/>
        </p:nvSpPr>
        <p:spPr>
          <a:xfrm>
            <a:off x="13239750" y="66675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IDLE</a:t>
            </a:r>
          </a:p>
        </p:txBody>
      </p:sp>
      <p:sp>
        <p:nvSpPr>
          <p:cNvPr id="42" name="Rounded Rectangle 41"/>
          <p:cNvSpPr/>
          <p:nvPr/>
        </p:nvSpPr>
        <p:spPr>
          <a:xfrm>
            <a:off x="13239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239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flywheel off</a:t>
            </a:r>
          </a:p>
        </p:txBody>
      </p:sp>
      <p:sp>
        <p:nvSpPr>
          <p:cNvPr id="44" name="Rounded Rectangle 43"/>
          <p:cNvSpPr/>
          <p:nvPr/>
        </p:nvSpPr>
        <p:spPr>
          <a:xfrm>
            <a:off x="15144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144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shot, step by step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667000"/>
            <a:ext cx="118110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6848475"/>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7750" y="670560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5598319"/>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47750" y="5455444"/>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1895475" y="4348162"/>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7750" y="4205288"/>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1895475" y="3098006"/>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7750" y="2955131"/>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1895475" y="3210520"/>
            <a:ext cx="10306050" cy="19050"/>
          </a:xfrm>
          <a:prstGeom prst="rect">
            <a:avLst/>
          </a:prstGeom>
          <a:solidFill>
            <a:srgbClr val="198754"/>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95475" y="3398044"/>
            <a:ext cx="10306050" cy="19050"/>
          </a:xfrm>
          <a:prstGeom prst="rect">
            <a:avLst/>
          </a:prstGeom>
          <a:solidFill>
            <a:srgbClr val="E0554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0" y="2896195"/>
            <a:ext cx="762000" cy="266700"/>
          </a:xfrm>
          <a:prstGeom prst="rect">
            <a:avLst/>
          </a:prstGeom>
          <a:noFill/>
        </p:spPr>
        <p:txBody>
          <a:bodyPr wrap="square" lIns="0" rIns="0" tIns="0" bIns="0" anchor="t">
            <a:spAutoFit/>
          </a:bodyPr>
          <a:lstStyle/>
          <a:p>
            <a:pPr algn="r"/>
            <a:r>
              <a:rPr sz="1350" b="0" i="0">
                <a:solidFill>
                  <a:srgbClr val="198754"/>
                </a:solidFill>
                <a:latin typeface="Geist Mono"/>
                <a:ea typeface="Geist Mono"/>
                <a:cs typeface="Geist Mono"/>
              </a:rPr>
              <a:t>291</a:t>
            </a:r>
          </a:p>
        </p:txBody>
      </p:sp>
      <p:sp>
        <p:nvSpPr>
          <p:cNvPr id="17" name="TextBox 16"/>
          <p:cNvSpPr txBox="1"/>
          <p:nvPr/>
        </p:nvSpPr>
        <p:spPr>
          <a:xfrm>
            <a:off x="11430000" y="3445669"/>
            <a:ext cx="762000" cy="266700"/>
          </a:xfrm>
          <a:prstGeom prst="rect">
            <a:avLst/>
          </a:prstGeom>
          <a:noFill/>
        </p:spPr>
        <p:txBody>
          <a:bodyPr wrap="square" lIns="0" rIns="0" tIns="0" bIns="0" anchor="t">
            <a:spAutoFit/>
          </a:bodyPr>
          <a:lstStyle/>
          <a:p>
            <a:pPr algn="r"/>
            <a:r>
              <a:rPr sz="1350" b="0" i="0">
                <a:solidFill>
                  <a:srgbClr val="E05540"/>
                </a:solidFill>
                <a:latin typeface="Geist Mono"/>
                <a:ea typeface="Geist Mono"/>
                <a:cs typeface="Geist Mono"/>
              </a:rPr>
              <a:t>276</a:t>
            </a:r>
          </a:p>
        </p:txBody>
      </p:sp>
      <p:sp>
        <p:nvSpPr>
          <p:cNvPr id="18" name="Rectangle 17"/>
          <p:cNvSpPr/>
          <p:nvPr/>
        </p:nvSpPr>
        <p:spPr>
          <a:xfrm>
            <a:off x="18764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25411"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974396"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023382"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072368"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121354"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170339"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2193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268311"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317296"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366282"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415268"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464254"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513239"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5622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 name="Connector 32"/>
          <p:cNvCxnSpPr/>
          <p:nvPr/>
        </p:nvCxnSpPr>
        <p:spPr>
          <a:xfrm flipV="1">
            <a:off x="2639786" y="6569650"/>
            <a:ext cx="48985" cy="2883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88771" y="6303470"/>
            <a:ext cx="48986" cy="2661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37757" y="6057754"/>
            <a:ext cx="48986" cy="2457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86743" y="5830931"/>
            <a:ext cx="48986" cy="2268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35729" y="5621546"/>
            <a:ext cx="48985" cy="2093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884714" y="5428259"/>
            <a:ext cx="48986" cy="1932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33700" y="5249833"/>
            <a:ext cx="48986" cy="1784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982686" y="5085125"/>
            <a:ext cx="48985" cy="1647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031671" y="4933080"/>
            <a:ext cx="48986" cy="152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080657" y="4792725"/>
            <a:ext cx="48986" cy="1403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29643" y="4663162"/>
            <a:ext cx="48986" cy="1295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178629" y="4543559"/>
            <a:ext cx="48985" cy="1196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27614" y="4433152"/>
            <a:ext cx="48986" cy="1104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76600" y="4331233"/>
            <a:ext cx="48986" cy="1019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325586" y="4237151"/>
            <a:ext cx="48985" cy="940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374571" y="4150301"/>
            <a:ext cx="48986" cy="86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423557" y="4070129"/>
            <a:ext cx="48986" cy="801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472543" y="3996121"/>
            <a:ext cx="48986" cy="740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521529" y="3927803"/>
            <a:ext cx="48985" cy="683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570514" y="3864738"/>
            <a:ext cx="48986" cy="630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619500" y="3806521"/>
            <a:ext cx="48986" cy="582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668486" y="3752780"/>
            <a:ext cx="48985" cy="537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717471" y="3703171"/>
            <a:ext cx="48986" cy="496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766457" y="3657376"/>
            <a:ext cx="48986" cy="457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815443" y="3615102"/>
            <a:ext cx="48986" cy="422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864429" y="3576078"/>
            <a:ext cx="48985" cy="390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913414" y="3540055"/>
            <a:ext cx="48986" cy="360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962400" y="3506801"/>
            <a:ext cx="48986" cy="332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011386" y="3476103"/>
            <a:ext cx="48985" cy="306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60371" y="3447766"/>
            <a:ext cx="48986" cy="283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109357" y="3421608"/>
            <a:ext cx="48986" cy="261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58343" y="3397460"/>
            <a:ext cx="48986" cy="241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7329" y="3375169"/>
            <a:ext cx="48985" cy="222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56314" y="3354592"/>
            <a:ext cx="48986" cy="20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05300" y="3335597"/>
            <a:ext cx="48986" cy="189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54286" y="3318063"/>
            <a:ext cx="48985" cy="175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03271" y="3301876"/>
            <a:ext cx="48986" cy="16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257" y="3286935"/>
            <a:ext cx="48986" cy="149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1243" y="3273141"/>
            <a:ext cx="48986" cy="137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50229" y="3260409"/>
            <a:ext cx="48985" cy="127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599214" y="3248655"/>
            <a:ext cx="48986" cy="117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48200" y="3237805"/>
            <a:ext cx="48986" cy="10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697186" y="3227789"/>
            <a:ext cx="48985" cy="10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46171" y="3218543"/>
            <a:ext cx="48986" cy="92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795157" y="3210008"/>
            <a:ext cx="48986" cy="85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844143" y="3202129"/>
            <a:ext cx="48986" cy="78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893129" y="3194856"/>
            <a:ext cx="48985" cy="72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942114" y="3188142"/>
            <a:ext cx="48986" cy="67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91100" y="3181945"/>
            <a:ext cx="48986" cy="61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040086" y="3176223"/>
            <a:ext cx="48985" cy="57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089071" y="3170942"/>
            <a:ext cx="48986" cy="52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138057" y="3166067"/>
            <a:ext cx="48986" cy="48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5158468" y="313749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207454" y="313299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56439" y="312883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305425" y="31250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54411" y="312146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403396" y="311819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52382" y="311517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01368" y="311239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550354" y="310982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5599339" y="310744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5648325" y="310525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5697311" y="310323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746296" y="310136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5795282" y="309964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5844268" y="30980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5893254" y="309658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5942239" y="309523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5991225" y="309398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040211" y="30928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089196" y="309175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138182" y="309077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187168" y="308986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236154" y="308902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285139" y="30882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334125" y="308753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383111" y="308687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432096" y="308626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481082" y="308570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530068" y="308518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579054" y="308470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628039" y="308426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677025" y="308385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6726011" y="308348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8" name="Connector 117"/>
          <p:cNvCxnSpPr/>
          <p:nvPr/>
        </p:nvCxnSpPr>
        <p:spPr>
          <a:xfrm>
            <a:off x="6803571" y="3111708"/>
            <a:ext cx="48986" cy="2153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852557" y="3327010"/>
            <a:ext cx="48986" cy="2153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901543" y="3542311"/>
            <a:ext cx="48986" cy="2153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950529" y="3707632"/>
            <a:ext cx="48985" cy="499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999514" y="3661494"/>
            <a:ext cx="48986" cy="461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048500" y="3618903"/>
            <a:ext cx="48986" cy="42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097486" y="3579587"/>
            <a:ext cx="48985" cy="393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146471" y="3543294"/>
            <a:ext cx="48986" cy="362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195457" y="3509791"/>
            <a:ext cx="48986" cy="335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244443" y="3478864"/>
            <a:ext cx="48986" cy="309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293429" y="3450314"/>
            <a:ext cx="48985" cy="285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342414" y="3423960"/>
            <a:ext cx="48986" cy="263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391400" y="3399632"/>
            <a:ext cx="48986" cy="243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440386" y="3377174"/>
            <a:ext cx="48985" cy="224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489371" y="3356443"/>
            <a:ext cx="48986" cy="207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538357" y="3337306"/>
            <a:ext cx="48986" cy="191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587343" y="3319640"/>
            <a:ext cx="48986" cy="176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636329" y="3303332"/>
            <a:ext cx="48985" cy="163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685314" y="3288278"/>
            <a:ext cx="48986" cy="150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734300" y="3274382"/>
            <a:ext cx="48986" cy="138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7783286" y="3261554"/>
            <a:ext cx="48985" cy="128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7832271" y="3249712"/>
            <a:ext cx="48986" cy="118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7881257" y="3238780"/>
            <a:ext cx="48986" cy="109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7930243" y="3228689"/>
            <a:ext cx="48986" cy="100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7979229" y="3219374"/>
            <a:ext cx="48985" cy="9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8028214" y="3210775"/>
            <a:ext cx="48986" cy="85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8077200" y="3202838"/>
            <a:ext cx="48986" cy="79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8126186" y="3195510"/>
            <a:ext cx="48985" cy="73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8175171" y="3188746"/>
            <a:ext cx="48986" cy="67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8224157" y="3182502"/>
            <a:ext cx="48986" cy="62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8273143" y="3176738"/>
            <a:ext cx="48986" cy="57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8322129" y="3171417"/>
            <a:ext cx="48985" cy="53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8371114" y="3166505"/>
            <a:ext cx="48986" cy="49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1" name="Rectangle 150"/>
          <p:cNvSpPr/>
          <p:nvPr/>
        </p:nvSpPr>
        <p:spPr>
          <a:xfrm>
            <a:off x="8391525" y="313793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8440511" y="313339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8489496" y="312921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8538482" y="312534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8587468" y="312178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8636454" y="311848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8685439" y="311544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8734425" y="311264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8783411" y="31100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8832396" y="310766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8881382" y="31054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8930368" y="310341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8979354" y="310153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9028339" y="309980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9077325" y="309819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9126311" y="309671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9175296" y="30953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9224282" y="309409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9273268" y="309292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9322254" y="30918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9371239" y="309086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9420225" y="308994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9469211" y="30891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9518196" y="308832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9567182" y="30876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9616168" y="308693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9665154" y="308632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9714139" y="308575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763125" y="308523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812111" y="308475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861096" y="308430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910082" y="308389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3" name="Connector 182"/>
          <p:cNvCxnSpPr/>
          <p:nvPr/>
        </p:nvCxnSpPr>
        <p:spPr>
          <a:xfrm>
            <a:off x="9987643" y="3112090"/>
            <a:ext cx="48986" cy="823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036629" y="3194415"/>
            <a:ext cx="48985" cy="805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085614" y="3274930"/>
            <a:ext cx="48986" cy="787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0134600" y="3353675"/>
            <a:ext cx="48986" cy="770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0183586" y="3430690"/>
            <a:ext cx="48985" cy="753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0232571" y="3506013"/>
            <a:ext cx="48986" cy="736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81557" y="3579680"/>
            <a:ext cx="48986" cy="720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330543" y="3651728"/>
            <a:ext cx="48986" cy="704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0379529" y="3722192"/>
            <a:ext cx="48985" cy="689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10428514" y="3791108"/>
            <a:ext cx="48986" cy="674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0477500" y="3858510"/>
            <a:ext cx="48986" cy="659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6486" y="3924430"/>
            <a:ext cx="48985" cy="644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575471" y="3988902"/>
            <a:ext cx="48986" cy="630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0624457" y="4051956"/>
            <a:ext cx="48986" cy="616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673443" y="4113625"/>
            <a:ext cx="48986" cy="603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722429" y="4173938"/>
            <a:ext cx="48985" cy="589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771414" y="4232926"/>
            <a:ext cx="48986" cy="576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10820400" y="4290618"/>
            <a:ext cx="48986" cy="564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0869386" y="4347042"/>
            <a:ext cx="48985" cy="551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10918371" y="4402225"/>
            <a:ext cx="48986" cy="539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0967357" y="4456196"/>
            <a:ext cx="48986" cy="52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1016343" y="4508981"/>
            <a:ext cx="48986" cy="516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11065329" y="4560606"/>
            <a:ext cx="48985" cy="504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11114314" y="4611096"/>
            <a:ext cx="48986" cy="493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1163300" y="4660476"/>
            <a:ext cx="48986" cy="482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11212286" y="4708771"/>
            <a:ext cx="48985" cy="472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1261271" y="4756005"/>
            <a:ext cx="48986" cy="461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1310257" y="4802201"/>
            <a:ext cx="48986" cy="451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1359243" y="4847382"/>
            <a:ext cx="48986" cy="44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11408229" y="4891569"/>
            <a:ext cx="48985" cy="432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1457214" y="4934786"/>
            <a:ext cx="48986" cy="42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1506200" y="4977053"/>
            <a:ext cx="48986" cy="413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1555186" y="5018390"/>
            <a:ext cx="48985" cy="4043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1604171" y="5058820"/>
            <a:ext cx="48986" cy="395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11653157" y="5098360"/>
            <a:ext cx="48986" cy="386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1702143" y="5137032"/>
            <a:ext cx="48986" cy="37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1751129" y="5174854"/>
            <a:ext cx="48985" cy="369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1800114" y="5211845"/>
            <a:ext cx="48986" cy="361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1849100" y="5248023"/>
            <a:ext cx="48986" cy="353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11898086" y="5283405"/>
            <a:ext cx="48985" cy="346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11947071" y="5318010"/>
            <a:ext cx="48986" cy="338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1996057" y="5351855"/>
            <a:ext cx="48986" cy="331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2045043" y="5384956"/>
            <a:ext cx="48986" cy="323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12094029" y="5417329"/>
            <a:ext cx="48985" cy="316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2143014" y="5448991"/>
            <a:ext cx="48986" cy="309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952500" y="28003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flywheel rad/s</a:t>
            </a:r>
          </a:p>
        </p:txBody>
      </p:sp>
      <p:sp>
        <p:nvSpPr>
          <p:cNvPr id="229" name="Rectangle 228"/>
          <p:cNvSpPr/>
          <p:nvPr/>
        </p:nvSpPr>
        <p:spPr>
          <a:xfrm>
            <a:off x="1905000" y="7143750"/>
            <a:ext cx="734786"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2639786" y="7143750"/>
            <a:ext cx="2155371"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2639786" y="7143750"/>
            <a:ext cx="2155371"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2" name="Rectangle 231"/>
          <p:cNvSpPr/>
          <p:nvPr/>
        </p:nvSpPr>
        <p:spPr>
          <a:xfrm>
            <a:off x="4795157" y="7143750"/>
            <a:ext cx="2081893" cy="47625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4795157" y="7143750"/>
            <a:ext cx="2081893"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4" name="Rectangle 233"/>
          <p:cNvSpPr/>
          <p:nvPr/>
        </p:nvSpPr>
        <p:spPr>
          <a:xfrm>
            <a:off x="6877050" y="7143750"/>
            <a:ext cx="1151164"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TextBox 234"/>
          <p:cNvSpPr txBox="1"/>
          <p:nvPr/>
        </p:nvSpPr>
        <p:spPr>
          <a:xfrm>
            <a:off x="6877050" y="7143750"/>
            <a:ext cx="1151164"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6" name="Rectangle 235"/>
          <p:cNvSpPr/>
          <p:nvPr/>
        </p:nvSpPr>
        <p:spPr>
          <a:xfrm>
            <a:off x="8028214" y="7143750"/>
            <a:ext cx="1959429" cy="47625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TextBox 236"/>
          <p:cNvSpPr txBox="1"/>
          <p:nvPr/>
        </p:nvSpPr>
        <p:spPr>
          <a:xfrm>
            <a:off x="8028214" y="7143750"/>
            <a:ext cx="1959429"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8" name="Rectangle 237"/>
          <p:cNvSpPr/>
          <p:nvPr/>
        </p:nvSpPr>
        <p:spPr>
          <a:xfrm>
            <a:off x="9987643" y="7143750"/>
            <a:ext cx="2228850"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TextBox 238"/>
          <p:cNvSpPr txBox="1"/>
          <p:nvPr/>
        </p:nvSpPr>
        <p:spPr>
          <a:xfrm>
            <a:off x="9987643" y="7143750"/>
            <a:ext cx="2228850"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40" name="TextBox 239"/>
          <p:cNvSpPr txBox="1"/>
          <p:nvPr/>
        </p:nvSpPr>
        <p:spPr>
          <a:xfrm>
            <a:off x="952500" y="77152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state</a:t>
            </a:r>
          </a:p>
        </p:txBody>
      </p:sp>
      <p:sp>
        <p:nvSpPr>
          <p:cNvPr id="241" name="TextBox 240"/>
          <p:cNvSpPr txBox="1"/>
          <p:nvPr/>
        </p:nvSpPr>
        <p:spPr>
          <a:xfrm>
            <a:off x="1905000" y="7715250"/>
            <a:ext cx="10287000" cy="26670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time →</a:t>
            </a:r>
          </a:p>
        </p:txBody>
      </p:sp>
      <p:sp>
        <p:nvSpPr>
          <p:cNvPr id="242" name="Oval 241"/>
          <p:cNvSpPr/>
          <p:nvPr/>
        </p:nvSpPr>
        <p:spPr>
          <a:xfrm>
            <a:off x="2449286" y="6248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2449286" y="6248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4" name="Oval 243"/>
          <p:cNvSpPr/>
          <p:nvPr/>
        </p:nvSpPr>
        <p:spPr>
          <a:xfrm>
            <a:off x="4318907" y="26294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4318907" y="26294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6" name="Oval 245"/>
          <p:cNvSpPr/>
          <p:nvPr/>
        </p:nvSpPr>
        <p:spPr>
          <a:xfrm>
            <a:off x="6686550" y="35790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6686550" y="35790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8" name="Oval 247"/>
          <p:cNvSpPr/>
          <p:nvPr/>
        </p:nvSpPr>
        <p:spPr>
          <a:xfrm>
            <a:off x="8066314" y="25913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8066314" y="25913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0" name="Oval 249"/>
          <p:cNvSpPr/>
          <p:nvPr/>
        </p:nvSpPr>
        <p:spPr>
          <a:xfrm>
            <a:off x="10082893" y="25405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082893" y="25405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52" name="Oval 251"/>
          <p:cNvSpPr/>
          <p:nvPr/>
        </p:nvSpPr>
        <p:spPr>
          <a:xfrm>
            <a:off x="13144500" y="276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3144500" y="276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4" name="TextBox 253"/>
          <p:cNvSpPr txBox="1"/>
          <p:nvPr/>
        </p:nvSpPr>
        <p:spPr>
          <a:xfrm>
            <a:off x="13754100" y="27241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held</a:t>
            </a:r>
          </a:p>
        </p:txBody>
      </p:sp>
      <p:sp>
        <p:nvSpPr>
          <p:cNvPr id="255" name="TextBox 254"/>
          <p:cNvSpPr txBox="1"/>
          <p:nvPr/>
        </p:nvSpPr>
        <p:spPr>
          <a:xfrm>
            <a:off x="13754100" y="31432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 SPIN_UP</a:t>
            </a:r>
          </a:p>
        </p:txBody>
      </p:sp>
      <p:sp>
        <p:nvSpPr>
          <p:cNvPr id="256" name="Oval 255"/>
          <p:cNvSpPr/>
          <p:nvPr/>
        </p:nvSpPr>
        <p:spPr>
          <a:xfrm>
            <a:off x="13144500" y="39433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3144500" y="3943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8" name="TextBox 257"/>
          <p:cNvSpPr txBox="1"/>
          <p:nvPr/>
        </p:nvSpPr>
        <p:spPr>
          <a:xfrm>
            <a:off x="13754100" y="39052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 291</a:t>
            </a:r>
          </a:p>
        </p:txBody>
      </p:sp>
      <p:sp>
        <p:nvSpPr>
          <p:cNvPr id="259" name="TextBox 258"/>
          <p:cNvSpPr txBox="1"/>
          <p:nvPr/>
        </p:nvSpPr>
        <p:spPr>
          <a:xfrm>
            <a:off x="13754100" y="43243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isAtSpeed(): SHOOT, roller feeds</a:t>
            </a:r>
          </a:p>
        </p:txBody>
      </p:sp>
      <p:sp>
        <p:nvSpPr>
          <p:cNvPr id="260" name="Oval 259"/>
          <p:cNvSpPr/>
          <p:nvPr/>
        </p:nvSpPr>
        <p:spPr>
          <a:xfrm>
            <a:off x="13144500" y="5124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3144500" y="5124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2" name="TextBox 261"/>
          <p:cNvSpPr txBox="1"/>
          <p:nvPr/>
        </p:nvSpPr>
        <p:spPr>
          <a:xfrm>
            <a:off x="13754100" y="50863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Launch!</a:t>
            </a:r>
          </a:p>
        </p:txBody>
      </p:sp>
      <p:sp>
        <p:nvSpPr>
          <p:cNvPr id="263" name="TextBox 262"/>
          <p:cNvSpPr txBox="1"/>
          <p:nvPr/>
        </p:nvSpPr>
        <p:spPr>
          <a:xfrm>
            <a:off x="13754100" y="55054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276: back to SPIN_UP</a:t>
            </a:r>
          </a:p>
        </p:txBody>
      </p:sp>
      <p:sp>
        <p:nvSpPr>
          <p:cNvPr id="264" name="Oval 263"/>
          <p:cNvSpPr/>
          <p:nvPr/>
        </p:nvSpPr>
        <p:spPr>
          <a:xfrm>
            <a:off x="13144500" y="63055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3144500" y="63055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66" name="TextBox 265"/>
          <p:cNvSpPr txBox="1"/>
          <p:nvPr/>
        </p:nvSpPr>
        <p:spPr>
          <a:xfrm>
            <a:off x="13754100" y="62674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Recovered</a:t>
            </a:r>
          </a:p>
        </p:txBody>
      </p:sp>
      <p:sp>
        <p:nvSpPr>
          <p:cNvPr id="267" name="TextBox 266"/>
          <p:cNvSpPr txBox="1"/>
          <p:nvPr/>
        </p:nvSpPr>
        <p:spPr>
          <a:xfrm>
            <a:off x="13754100" y="66865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again</a:t>
            </a:r>
          </a:p>
        </p:txBody>
      </p:sp>
      <p:sp>
        <p:nvSpPr>
          <p:cNvPr id="268" name="Oval 267"/>
          <p:cNvSpPr/>
          <p:nvPr/>
        </p:nvSpPr>
        <p:spPr>
          <a:xfrm>
            <a:off x="13144500" y="74866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144500" y="74866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70" name="TextBox 269"/>
          <p:cNvSpPr txBox="1"/>
          <p:nvPr/>
        </p:nvSpPr>
        <p:spPr>
          <a:xfrm>
            <a:off x="13754100" y="74485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Let go</a:t>
            </a:r>
          </a:p>
        </p:txBody>
      </p:sp>
      <p:sp>
        <p:nvSpPr>
          <p:cNvPr id="271" name="TextBox 270"/>
          <p:cNvSpPr txBox="1"/>
          <p:nvPr/>
        </p:nvSpPr>
        <p:spPr>
          <a:xfrm>
            <a:off x="13754100" y="78676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the wheel coasts down</a:t>
            </a:r>
          </a:p>
        </p:txBody>
      </p:sp>
      <p:sp>
        <p:nvSpPr>
          <p:cNvPr id="272" name="TextBox 27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3" name="TextBox 27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Trace it, loop by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762250"/>
            <a:ext cx="21145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time</a:t>
            </a:r>
          </a:p>
        </p:txBody>
      </p:sp>
      <p:sp>
        <p:nvSpPr>
          <p:cNvPr id="7" name="TextBox 6"/>
          <p:cNvSpPr txBox="1"/>
          <p:nvPr/>
        </p:nvSpPr>
        <p:spPr>
          <a:xfrm>
            <a:off x="35623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wanted</a:t>
            </a:r>
          </a:p>
        </p:txBody>
      </p:sp>
      <p:sp>
        <p:nvSpPr>
          <p:cNvPr id="8" name="TextBox 7"/>
          <p:cNvSpPr txBox="1"/>
          <p:nvPr/>
        </p:nvSpPr>
        <p:spPr>
          <a:xfrm>
            <a:off x="64198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flywheel</a:t>
            </a:r>
          </a:p>
        </p:txBody>
      </p:sp>
      <p:sp>
        <p:nvSpPr>
          <p:cNvPr id="9" name="TextBox 8"/>
          <p:cNvSpPr txBox="1"/>
          <p:nvPr/>
        </p:nvSpPr>
        <p:spPr>
          <a:xfrm>
            <a:off x="9277350" y="2762250"/>
            <a:ext cx="3352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state</a:t>
            </a:r>
          </a:p>
        </p:txBody>
      </p:sp>
      <p:sp>
        <p:nvSpPr>
          <p:cNvPr id="10" name="TextBox 9"/>
          <p:cNvSpPr txBox="1"/>
          <p:nvPr/>
        </p:nvSpPr>
        <p:spPr>
          <a:xfrm>
            <a:off x="12896850" y="2762250"/>
            <a:ext cx="44767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roller</a:t>
            </a:r>
          </a:p>
        </p:txBody>
      </p:sp>
      <p:sp>
        <p:nvSpPr>
          <p:cNvPr id="11" name="Rectangle 10"/>
          <p:cNvSpPr/>
          <p:nvPr/>
        </p:nvSpPr>
        <p:spPr>
          <a:xfrm>
            <a:off x="904875" y="418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46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0 ms</a:t>
            </a:r>
          </a:p>
        </p:txBody>
      </p:sp>
      <p:sp>
        <p:nvSpPr>
          <p:cNvPr id="13" name="TextBox 12"/>
          <p:cNvSpPr txBox="1"/>
          <p:nvPr/>
        </p:nvSpPr>
        <p:spPr>
          <a:xfrm>
            <a:off x="3562350" y="346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14" name="TextBox 13"/>
          <p:cNvSpPr txBox="1"/>
          <p:nvPr/>
        </p:nvSpPr>
        <p:spPr>
          <a:xfrm>
            <a:off x="6419850" y="346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15" name="TextBox 14"/>
          <p:cNvSpPr txBox="1"/>
          <p:nvPr/>
        </p:nvSpPr>
        <p:spPr>
          <a:xfrm>
            <a:off x="9277350" y="346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16" name="TextBox 15"/>
          <p:cNvSpPr txBox="1"/>
          <p:nvPr/>
        </p:nvSpPr>
        <p:spPr>
          <a:xfrm>
            <a:off x="12896850" y="346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17" name="Rounded Rectangle 16"/>
          <p:cNvSpPr/>
          <p:nvPr/>
        </p:nvSpPr>
        <p:spPr>
          <a:xfrm>
            <a:off x="914400" y="4229100"/>
            <a:ext cx="16459200" cy="685800"/>
          </a:xfrm>
          <a:prstGeom prst="roundRect">
            <a:avLst>
              <a:gd name="adj" fmla="val 1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04875" y="4943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1100" y="4229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300 ms</a:t>
            </a:r>
          </a:p>
        </p:txBody>
      </p:sp>
      <p:sp>
        <p:nvSpPr>
          <p:cNvPr id="20" name="TextBox 19"/>
          <p:cNvSpPr txBox="1"/>
          <p:nvPr/>
        </p:nvSpPr>
        <p:spPr>
          <a:xfrm>
            <a:off x="3562350" y="4229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1" name="TextBox 20"/>
          <p:cNvSpPr txBox="1"/>
          <p:nvPr/>
        </p:nvSpPr>
        <p:spPr>
          <a:xfrm>
            <a:off x="6419850" y="4229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22" name="TextBox 21"/>
          <p:cNvSpPr txBox="1"/>
          <p:nvPr/>
        </p:nvSpPr>
        <p:spPr>
          <a:xfrm>
            <a:off x="9277350" y="4229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3" name="TextBox 22"/>
          <p:cNvSpPr txBox="1"/>
          <p:nvPr/>
        </p:nvSpPr>
        <p:spPr>
          <a:xfrm>
            <a:off x="12896850" y="4229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24" name="Rectangle 23"/>
          <p:cNvSpPr/>
          <p:nvPr/>
        </p:nvSpPr>
        <p:spPr>
          <a:xfrm>
            <a:off x="904875" y="5705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81100" y="4991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800 ms</a:t>
            </a:r>
          </a:p>
        </p:txBody>
      </p:sp>
      <p:sp>
        <p:nvSpPr>
          <p:cNvPr id="26" name="TextBox 25"/>
          <p:cNvSpPr txBox="1"/>
          <p:nvPr/>
        </p:nvSpPr>
        <p:spPr>
          <a:xfrm>
            <a:off x="3562350" y="4991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7" name="TextBox 26"/>
          <p:cNvSpPr txBox="1"/>
          <p:nvPr/>
        </p:nvSpPr>
        <p:spPr>
          <a:xfrm>
            <a:off x="6419850" y="4991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260</a:t>
            </a:r>
          </a:p>
        </p:txBody>
      </p:sp>
      <p:sp>
        <p:nvSpPr>
          <p:cNvPr id="28" name="TextBox 27"/>
          <p:cNvSpPr txBox="1"/>
          <p:nvPr/>
        </p:nvSpPr>
        <p:spPr>
          <a:xfrm>
            <a:off x="9277350" y="4991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9" name="TextBox 28"/>
          <p:cNvSpPr txBox="1"/>
          <p:nvPr/>
        </p:nvSpPr>
        <p:spPr>
          <a:xfrm>
            <a:off x="12896850" y="4991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30" name="Rectangle 29"/>
          <p:cNvSpPr/>
          <p:nvPr/>
        </p:nvSpPr>
        <p:spPr>
          <a:xfrm>
            <a:off x="904875" y="6467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5753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1200 ms</a:t>
            </a:r>
          </a:p>
        </p:txBody>
      </p:sp>
      <p:sp>
        <p:nvSpPr>
          <p:cNvPr id="32" name="TextBox 31"/>
          <p:cNvSpPr txBox="1"/>
          <p:nvPr/>
        </p:nvSpPr>
        <p:spPr>
          <a:xfrm>
            <a:off x="3562350" y="5753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3" name="TextBox 32"/>
          <p:cNvSpPr txBox="1"/>
          <p:nvPr/>
        </p:nvSpPr>
        <p:spPr>
          <a:xfrm>
            <a:off x="6419850" y="5753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292</a:t>
            </a:r>
          </a:p>
        </p:txBody>
      </p:sp>
      <p:sp>
        <p:nvSpPr>
          <p:cNvPr id="34" name="TextBox 33"/>
          <p:cNvSpPr txBox="1"/>
          <p:nvPr/>
        </p:nvSpPr>
        <p:spPr>
          <a:xfrm>
            <a:off x="9277350" y="5753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SHOOT</a:t>
            </a:r>
          </a:p>
        </p:txBody>
      </p:sp>
      <p:sp>
        <p:nvSpPr>
          <p:cNvPr id="35" name="TextBox 34"/>
          <p:cNvSpPr txBox="1"/>
          <p:nvPr/>
        </p:nvSpPr>
        <p:spPr>
          <a:xfrm>
            <a:off x="12896850" y="5753100"/>
            <a:ext cx="4476750" cy="685800"/>
          </a:xfrm>
          <a:prstGeom prst="rect">
            <a:avLst/>
          </a:prstGeom>
          <a:noFill/>
        </p:spPr>
        <p:txBody>
          <a:bodyPr wrap="square" lIns="0" rIns="0" tIns="0" bIns="0" anchor="ctr">
            <a:spAutoFit/>
          </a:bodyPr>
          <a:lstStyle/>
          <a:p>
            <a:pPr algn="l"/>
            <a:r>
              <a:rPr sz="2100" b="0" i="0">
                <a:solidFill>
                  <a:srgbClr val="CC2200"/>
                </a:solidFill>
                <a:latin typeface="Geist"/>
                <a:ea typeface="Geist"/>
                <a:cs typeface="Geist"/>
              </a:rPr>
              <a:t>feeding</a:t>
            </a:r>
          </a:p>
        </p:txBody>
      </p:sp>
      <p:sp>
        <p:nvSpPr>
          <p:cNvPr id="36" name="Rectangle 35"/>
          <p:cNvSpPr/>
          <p:nvPr/>
        </p:nvSpPr>
        <p:spPr>
          <a:xfrm>
            <a:off x="904875" y="7229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81100" y="6515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2020 ms</a:t>
            </a:r>
          </a:p>
        </p:txBody>
      </p:sp>
      <p:sp>
        <p:nvSpPr>
          <p:cNvPr id="38" name="TextBox 37"/>
          <p:cNvSpPr txBox="1"/>
          <p:nvPr/>
        </p:nvSpPr>
        <p:spPr>
          <a:xfrm>
            <a:off x="3562350" y="6515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9" name="TextBox 38"/>
          <p:cNvSpPr txBox="1"/>
          <p:nvPr/>
        </p:nvSpPr>
        <p:spPr>
          <a:xfrm>
            <a:off x="6419850" y="6515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270</a:t>
            </a:r>
          </a:p>
        </p:txBody>
      </p:sp>
      <p:sp>
        <p:nvSpPr>
          <p:cNvPr id="40" name="TextBox 39"/>
          <p:cNvSpPr txBox="1"/>
          <p:nvPr/>
        </p:nvSpPr>
        <p:spPr>
          <a:xfrm>
            <a:off x="9277350" y="6515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41" name="TextBox 40"/>
          <p:cNvSpPr txBox="1"/>
          <p:nvPr/>
        </p:nvSpPr>
        <p:spPr>
          <a:xfrm>
            <a:off x="12896850" y="6515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2" name="Rectangle 41"/>
          <p:cNvSpPr/>
          <p:nvPr/>
        </p:nvSpPr>
        <p:spPr>
          <a:xfrm>
            <a:off x="904875" y="799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81100" y="727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3300 ms</a:t>
            </a:r>
          </a:p>
        </p:txBody>
      </p:sp>
      <p:sp>
        <p:nvSpPr>
          <p:cNvPr id="44" name="TextBox 43"/>
          <p:cNvSpPr txBox="1"/>
          <p:nvPr/>
        </p:nvSpPr>
        <p:spPr>
          <a:xfrm>
            <a:off x="3562350" y="727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45" name="TextBox 44"/>
          <p:cNvSpPr txBox="1"/>
          <p:nvPr/>
        </p:nvSpPr>
        <p:spPr>
          <a:xfrm>
            <a:off x="6419850" y="727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296</a:t>
            </a:r>
          </a:p>
        </p:txBody>
      </p:sp>
      <p:sp>
        <p:nvSpPr>
          <p:cNvPr id="46" name="TextBox 45"/>
          <p:cNvSpPr txBox="1"/>
          <p:nvPr/>
        </p:nvSpPr>
        <p:spPr>
          <a:xfrm>
            <a:off x="9277350" y="727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47" name="TextBox 46"/>
          <p:cNvSpPr txBox="1"/>
          <p:nvPr/>
        </p:nvSpPr>
        <p:spPr>
          <a:xfrm>
            <a:off x="12896850" y="727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8" name="Rounded Rectangle 47"/>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Row 2:  </a:t>
            </a:r>
            <a:r>
              <a:rPr sz="2100" b="0" i="0">
                <a:solidFill>
                  <a:srgbClr val="F0E8E8"/>
                </a:solidFill>
                <a:latin typeface="Geist"/>
                <a:ea typeface="Geist"/>
                <a:cs typeface="Geist"/>
              </a:rPr>
              <a:t>the driver wants SHOOT, but from IDLE the only step allowed is SPIN_UP.</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Common mistakes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hourglass-split.png"/>
          <p:cNvPicPr>
            <a:picLocks noChangeAspect="1"/>
          </p:cNvPicPr>
          <p:nvPr/>
        </p:nvPicPr>
        <p:blipFill>
          <a:blip r:embed="rId3"/>
          <a:stretch>
            <a:fillRect/>
          </a:stretch>
        </p:blipFill>
        <p:spPr>
          <a:xfrm>
            <a:off x="1295400" y="3238500"/>
            <a:ext cx="489857"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way out</a:t>
            </a:r>
          </a:p>
        </p:txBody>
      </p:sp>
      <p:sp>
        <p:nvSpPr>
          <p:cNvPr id="8" name="TextBox 7"/>
          <p:cNvSpPr txBox="1"/>
          <p:nvPr/>
        </p:nvSpPr>
        <p:spPr>
          <a:xfrm>
            <a:off x="1295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state you can enter but no rule leaves. Stuck.</a:t>
            </a:r>
          </a:p>
        </p:txBody>
      </p:sp>
      <p:sp>
        <p:nvSpPr>
          <p:cNvPr id="9" name="Rounded Rectangle 8"/>
          <p:cNvSpPr/>
          <p:nvPr/>
        </p:nvSpPr>
        <p:spPr>
          <a:xfrm>
            <a:off x="5105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triangle-fill.png"/>
          <p:cNvPicPr>
            <a:picLocks noChangeAspect="1"/>
          </p:cNvPicPr>
          <p:nvPr/>
        </p:nvPicPr>
        <p:blipFill>
          <a:blip r:embed="rId4"/>
          <a:stretch>
            <a:fillRect/>
          </a:stretch>
        </p:blipFill>
        <p:spPr>
          <a:xfrm>
            <a:off x="5486400" y="3238500"/>
            <a:ext cx="653143"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default</a:t>
            </a:r>
          </a:p>
        </p:txBody>
      </p:sp>
      <p:sp>
        <p:nvSpPr>
          <p:cNvPr id="12" name="TextBox 11"/>
          <p:cNvSpPr txBox="1"/>
          <p:nvPr/>
        </p:nvSpPr>
        <p:spPr>
          <a:xfrm>
            <a:off x="5486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Something unexpected leaves the motors running.</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iagram-2.png"/>
          <p:cNvPicPr>
            <a:picLocks noChangeAspect="1"/>
          </p:cNvPicPr>
          <p:nvPr/>
        </p:nvPicPr>
        <p:blipFill>
          <a:blip r:embed="rId5"/>
          <a:stretch>
            <a:fillRect/>
          </a:stretch>
        </p:blipFill>
        <p:spPr>
          <a:xfrm>
            <a:off x="9677400" y="3238500"/>
            <a:ext cx="476250"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Motors in the rules</a:t>
            </a:r>
          </a:p>
        </p:txBody>
      </p:sp>
      <p:sp>
        <p:nvSpPr>
          <p:cNvPr id="16" name="TextBox 15"/>
          <p:cNvSpPr txBox="1"/>
          <p:nvPr/>
        </p:nvSpPr>
        <p:spPr>
          <a:xfrm>
            <a:off x="9677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motors only in updateLogic, never in the rules.</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g.png"/>
          <p:cNvPicPr>
            <a:picLocks noChangeAspect="1"/>
          </p:cNvPicPr>
          <p:nvPr/>
        </p:nvPicPr>
        <p:blipFill>
          <a:blip r:embed="rId6"/>
          <a:stretch>
            <a:fillRect/>
          </a:stretch>
        </p:blipFill>
        <p:spPr>
          <a:xfrm>
            <a:off x="13868400" y="3238500"/>
            <a:ext cx="516194"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Missing break</a:t>
            </a:r>
          </a:p>
        </p:txBody>
      </p:sp>
      <p:sp>
        <p:nvSpPr>
          <p:cNvPr id="20" name="TextBox 19"/>
          <p:cNvSpPr txBox="1"/>
          <p:nvPr/>
        </p:nvSpPr>
        <p:spPr>
          <a:xfrm>
            <a:off x="13868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One case runs into the next.</a:t>
            </a:r>
          </a:p>
        </p:txBody>
      </p:sp>
      <p:pic>
        <p:nvPicPr>
          <p:cNvPr id="21" name="Picture 20" descr="dozer_wide_left.png"/>
          <p:cNvPicPr>
            <a:picLocks noChangeAspect="1"/>
          </p:cNvPicPr>
          <p:nvPr/>
        </p:nvPicPr>
        <p:blipFill>
          <a:blip r:embed="rId7"/>
          <a:stretch>
            <a:fillRect/>
          </a:stretch>
        </p:blipFill>
        <p:spPr>
          <a:xfrm>
            <a:off x="14859000" y="7239000"/>
            <a:ext cx="2381250" cy="1463620"/>
          </a:xfrm>
          <a:prstGeom prst="rect">
            <a:avLst/>
          </a:prstGeom>
        </p:spPr>
      </p:pic>
      <p:sp>
        <p:nvSpPr>
          <p:cNvPr id="22" name="TextBox 21"/>
          <p:cNvSpPr txBox="1"/>
          <p:nvPr/>
        </p:nvSpPr>
        <p:spPr>
          <a:xfrm>
            <a:off x="914400" y="7429500"/>
            <a:ext cx="13335000" cy="952500"/>
          </a:xfrm>
          <a:prstGeom prst="rect">
            <a:avLst/>
          </a:prstGeom>
          <a:noFill/>
        </p:spPr>
        <p:txBody>
          <a:bodyPr wrap="square" lIns="0" rIns="0" tIns="0" bIns="0" anchor="t">
            <a:spAutoFit/>
          </a:bodyPr>
          <a:lstStyle/>
          <a:p>
            <a:pPr algn="l">
              <a:lnSpc>
                <a:spcPct val="130000"/>
              </a:lnSpc>
            </a:pPr>
            <a:r>
              <a:rPr sz="2250" b="1" i="0">
                <a:solidFill>
                  <a:srgbClr val="F0E8E8"/>
                </a:solidFill>
                <a:latin typeface="Geist"/>
                <a:ea typeface="Geist"/>
                <a:cs typeface="Geist"/>
              </a:rPr>
              <a:t>Acting strange?  </a:t>
            </a:r>
            <a:r>
              <a:rPr sz="2250" b="0" i="0">
                <a:solidFill>
                  <a:srgbClr val="F0E8E8"/>
                </a:solidFill>
                <a:latin typeface="Geist"/>
                <a:ea typeface="Geist"/>
                <a:cs typeface="Geist"/>
              </a:rPr>
              <a:t>First ask: which state is it in? Graph </a:t>
            </a:r>
            <a:r>
              <a:rPr sz="2250" b="0" i="0">
                <a:solidFill>
                  <a:srgbClr val="F0E8E8"/>
                </a:solidFill>
                <a:latin typeface="Geist Mono"/>
                <a:ea typeface="Geist Mono"/>
                <a:cs typeface="Geist Mono"/>
              </a:rPr>
              <a:t>Shooter/State</a:t>
            </a:r>
            <a:r>
              <a:rPr sz="2250" b="0" i="0">
                <a:solidFill>
                  <a:srgbClr val="F0E8E8"/>
                </a:solidFill>
                <a:latin typeface="Geist"/>
                <a:ea typeface="Geist"/>
                <a:cs typeface="Geist"/>
              </a:rPr>
              <a: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robot's state machine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RobotContainer: the super state machine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Buttons ask me. I ask the subsystems. Nobody gets confused!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more state machine,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2343150" y="28575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2628900" y="3218201"/>
            <a:ext cx="609600" cy="459698"/>
          </a:xfrm>
          <a:prstGeom prst="rect">
            <a:avLst/>
          </a:prstGeom>
        </p:spPr>
      </p:pic>
      <p:sp>
        <p:nvSpPr>
          <p:cNvPr id="7" name="TextBox 6"/>
          <p:cNvSpPr txBox="1"/>
          <p:nvPr/>
        </p:nvSpPr>
        <p:spPr>
          <a:xfrm>
            <a:off x="3486150" y="30289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Buttons</a:t>
            </a:r>
          </a:p>
        </p:txBody>
      </p:sp>
      <p:sp>
        <p:nvSpPr>
          <p:cNvPr id="8" name="TextBox 7"/>
          <p:cNvSpPr txBox="1"/>
          <p:nvPr/>
        </p:nvSpPr>
        <p:spPr>
          <a:xfrm>
            <a:off x="3486150" y="3505200"/>
            <a:ext cx="2667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OI.java</a:t>
            </a:r>
          </a:p>
        </p:txBody>
      </p:sp>
      <p:sp>
        <p:nvSpPr>
          <p:cNvPr id="9" name="Rectangle 8"/>
          <p:cNvSpPr/>
          <p:nvPr/>
        </p:nvSpPr>
        <p:spPr>
          <a:xfrm>
            <a:off x="4324350" y="41148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0800000">
            <a:off x="4267200" y="46101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19900" y="28575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ignpost-split.png"/>
          <p:cNvPicPr>
            <a:picLocks noChangeAspect="1"/>
          </p:cNvPicPr>
          <p:nvPr/>
        </p:nvPicPr>
        <p:blipFill>
          <a:blip r:embed="rId4"/>
          <a:stretch>
            <a:fillRect/>
          </a:stretch>
        </p:blipFill>
        <p:spPr>
          <a:xfrm>
            <a:off x="7105650" y="3148050"/>
            <a:ext cx="609600" cy="600000"/>
          </a:xfrm>
          <a:prstGeom prst="rect">
            <a:avLst/>
          </a:prstGeom>
        </p:spPr>
      </p:pic>
      <p:sp>
        <p:nvSpPr>
          <p:cNvPr id="13" name="TextBox 12"/>
          <p:cNvSpPr txBox="1"/>
          <p:nvPr/>
        </p:nvSpPr>
        <p:spPr>
          <a:xfrm>
            <a:off x="7962900" y="30289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14" name="TextBox 13"/>
          <p:cNvSpPr txBox="1"/>
          <p:nvPr/>
        </p:nvSpPr>
        <p:spPr>
          <a:xfrm>
            <a:off x="7962900" y="3505200"/>
            <a:ext cx="2667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Deck 9</a:t>
            </a:r>
          </a:p>
        </p:txBody>
      </p:sp>
      <p:sp>
        <p:nvSpPr>
          <p:cNvPr id="15" name="Rectangle 14"/>
          <p:cNvSpPr/>
          <p:nvPr/>
        </p:nvSpPr>
        <p:spPr>
          <a:xfrm>
            <a:off x="8801100" y="41148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10800000">
            <a:off x="8743950" y="46101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47310" y="4273868"/>
            <a:ext cx="2868930" cy="348615"/>
          </a:xfrm>
          <a:prstGeom prst="roundRect">
            <a:avLst>
              <a:gd name="adj" fmla="val 21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47310" y="4273868"/>
            <a:ext cx="2868930" cy="348615"/>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setWantedState(SHOOT)</a:t>
            </a:r>
          </a:p>
        </p:txBody>
      </p:sp>
      <p:sp>
        <p:nvSpPr>
          <p:cNvPr id="19" name="Rounded Rectangle 18"/>
          <p:cNvSpPr/>
          <p:nvPr/>
        </p:nvSpPr>
        <p:spPr>
          <a:xfrm>
            <a:off x="2343150" y="4800600"/>
            <a:ext cx="8477250" cy="1428750"/>
          </a:xfrm>
          <a:prstGeom prst="roundRect">
            <a:avLst>
              <a:gd name="adj" fmla="val 12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343150" y="4953000"/>
            <a:ext cx="8477250" cy="571500"/>
          </a:xfrm>
          <a:prstGeom prst="rect">
            <a:avLst/>
          </a:prstGeom>
          <a:noFill/>
        </p:spPr>
        <p:txBody>
          <a:bodyPr wrap="square" lIns="0" rIns="0" tIns="0" bIns="0" anchor="t">
            <a:spAutoFit/>
          </a:bodyPr>
          <a:lstStyle/>
          <a:p>
            <a:pPr algn="ctr"/>
            <a:r>
              <a:rPr sz="3000" b="1" i="0">
                <a:solidFill>
                  <a:srgbClr val="F0E8E8"/>
                </a:solidFill>
                <a:latin typeface="Geist Mono"/>
                <a:ea typeface="Geist Mono"/>
                <a:cs typeface="Geist Mono"/>
              </a:rPr>
              <a:t>RobotContainer</a:t>
            </a:r>
          </a:p>
        </p:txBody>
      </p:sp>
      <p:sp>
        <p:nvSpPr>
          <p:cNvPr id="21" name="TextBox 20"/>
          <p:cNvSpPr txBox="1"/>
          <p:nvPr/>
        </p:nvSpPr>
        <p:spPr>
          <a:xfrm>
            <a:off x="2343150" y="5562600"/>
            <a:ext cx="8477250" cy="47625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the super state machine  ·  IDLE · DRIVE · SHOOT</a:t>
            </a:r>
          </a:p>
        </p:txBody>
      </p:sp>
      <p:sp>
        <p:nvSpPr>
          <p:cNvPr id="22" name="Rectangle 21"/>
          <p:cNvSpPr/>
          <p:nvPr/>
        </p:nvSpPr>
        <p:spPr>
          <a:xfrm>
            <a:off x="4324350" y="62484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0800000">
            <a:off x="4267200" y="6743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43150" y="69342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r-front.png"/>
          <p:cNvPicPr>
            <a:picLocks noChangeAspect="1"/>
          </p:cNvPicPr>
          <p:nvPr/>
        </p:nvPicPr>
        <p:blipFill>
          <a:blip r:embed="rId5"/>
          <a:stretch>
            <a:fillRect/>
          </a:stretch>
        </p:blipFill>
        <p:spPr>
          <a:xfrm>
            <a:off x="2628900" y="7296150"/>
            <a:ext cx="609600" cy="457200"/>
          </a:xfrm>
          <a:prstGeom prst="rect">
            <a:avLst/>
          </a:prstGeom>
        </p:spPr>
      </p:pic>
      <p:sp>
        <p:nvSpPr>
          <p:cNvPr id="26" name="TextBox 25"/>
          <p:cNvSpPr txBox="1"/>
          <p:nvPr/>
        </p:nvSpPr>
        <p:spPr>
          <a:xfrm>
            <a:off x="3486150" y="71056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Drivetrain</a:t>
            </a:r>
          </a:p>
        </p:txBody>
      </p:sp>
      <p:sp>
        <p:nvSpPr>
          <p:cNvPr id="27" name="TextBox 26"/>
          <p:cNvSpPr txBox="1"/>
          <p:nvPr/>
        </p:nvSpPr>
        <p:spPr>
          <a:xfrm>
            <a:off x="3486150" y="7581900"/>
            <a:ext cx="2667000" cy="3810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wants ARCADE</a:t>
            </a:r>
          </a:p>
        </p:txBody>
      </p:sp>
      <p:sp>
        <p:nvSpPr>
          <p:cNvPr id="28" name="Rectangle 27"/>
          <p:cNvSpPr/>
          <p:nvPr/>
        </p:nvSpPr>
        <p:spPr>
          <a:xfrm>
            <a:off x="8801100" y="62484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sosceles Triangle 28"/>
          <p:cNvSpPr/>
          <p:nvPr/>
        </p:nvSpPr>
        <p:spPr>
          <a:xfrm rot="10800000">
            <a:off x="8743950" y="6743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19900" y="69342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n.png"/>
          <p:cNvPicPr>
            <a:picLocks noChangeAspect="1"/>
          </p:cNvPicPr>
          <p:nvPr/>
        </p:nvPicPr>
        <p:blipFill>
          <a:blip r:embed="rId6"/>
          <a:stretch>
            <a:fillRect/>
          </a:stretch>
        </p:blipFill>
        <p:spPr>
          <a:xfrm>
            <a:off x="7105650" y="7219950"/>
            <a:ext cx="609600" cy="609600"/>
          </a:xfrm>
          <a:prstGeom prst="rect">
            <a:avLst/>
          </a:prstGeom>
        </p:spPr>
      </p:pic>
      <p:sp>
        <p:nvSpPr>
          <p:cNvPr id="32" name="TextBox 31"/>
          <p:cNvSpPr txBox="1"/>
          <p:nvPr/>
        </p:nvSpPr>
        <p:spPr>
          <a:xfrm>
            <a:off x="7962900" y="71056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Shooter</a:t>
            </a:r>
          </a:p>
        </p:txBody>
      </p:sp>
      <p:sp>
        <p:nvSpPr>
          <p:cNvPr id="33" name="TextBox 32"/>
          <p:cNvSpPr txBox="1"/>
          <p:nvPr/>
        </p:nvSpPr>
        <p:spPr>
          <a:xfrm>
            <a:off x="7962900" y="7581900"/>
            <a:ext cx="2667000" cy="3810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wants SHOOT</a:t>
            </a:r>
          </a:p>
        </p:txBody>
      </p:sp>
      <p:sp>
        <p:nvSpPr>
          <p:cNvPr id="34" name="Oval 33"/>
          <p:cNvSpPr/>
          <p:nvPr/>
        </p:nvSpPr>
        <p:spPr>
          <a:xfrm>
            <a:off x="1200150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611100" y="31051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Only ask the robot</a:t>
            </a:r>
          </a:p>
        </p:txBody>
      </p:sp>
      <p:sp>
        <p:nvSpPr>
          <p:cNvPr id="37" name="TextBox 36"/>
          <p:cNvSpPr txBox="1"/>
          <p:nvPr/>
        </p:nvSpPr>
        <p:spPr>
          <a:xfrm>
            <a:off x="12611100" y="35433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Buttons and autos call setWantedState on RobotContainer</a:t>
            </a:r>
          </a:p>
        </p:txBody>
      </p:sp>
      <p:sp>
        <p:nvSpPr>
          <p:cNvPr id="38" name="Oval 37"/>
          <p:cNvSpPr/>
          <p:nvPr/>
        </p:nvSpPr>
        <p:spPr>
          <a:xfrm>
            <a:off x="1200150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01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611100" y="48196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The robot asks the subsystems</a:t>
            </a:r>
          </a:p>
        </p:txBody>
      </p:sp>
      <p:sp>
        <p:nvSpPr>
          <p:cNvPr id="41" name="TextBox 40"/>
          <p:cNvSpPr txBox="1"/>
          <p:nvPr/>
        </p:nvSpPr>
        <p:spPr>
          <a:xfrm>
            <a:off x="12611100" y="52578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loop, before they run</a:t>
            </a:r>
          </a:p>
        </p:txBody>
      </p:sp>
      <p:sp>
        <p:nvSpPr>
          <p:cNvPr id="42" name="Oval 41"/>
          <p:cNvSpPr/>
          <p:nvPr/>
        </p:nvSpPr>
        <p:spPr>
          <a:xfrm>
            <a:off x="1200150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611100" y="65341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Subsystems still decide</a:t>
            </a:r>
          </a:p>
        </p:txBody>
      </p:sp>
      <p:sp>
        <p:nvSpPr>
          <p:cNvPr id="45" name="TextBox 44"/>
          <p:cNvSpPr txBox="1"/>
          <p:nvPr/>
        </p:nvSpPr>
        <p:spPr>
          <a:xfrm>
            <a:off x="12611100" y="69723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shooter still spins up before it feeds</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states: one row each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1100" y="2857500"/>
            <a:ext cx="276225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Robot state</a:t>
            </a:r>
          </a:p>
        </p:txBody>
      </p:sp>
      <p:sp>
        <p:nvSpPr>
          <p:cNvPr id="6" name="TextBox 5"/>
          <p:cNvSpPr txBox="1"/>
          <p:nvPr/>
        </p:nvSpPr>
        <p:spPr>
          <a:xfrm>
            <a:off x="4324350" y="2857500"/>
            <a:ext cx="457200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Asked for when</a:t>
            </a:r>
          </a:p>
        </p:txBody>
      </p:sp>
      <p:sp>
        <p:nvSpPr>
          <p:cNvPr id="7" name="TextBox 6"/>
          <p:cNvSpPr txBox="1"/>
          <p:nvPr/>
        </p:nvSpPr>
        <p:spPr>
          <a:xfrm>
            <a:off x="9277350" y="2857500"/>
            <a:ext cx="371475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drive_ wants</a:t>
            </a:r>
          </a:p>
        </p:txBody>
      </p:sp>
      <p:sp>
        <p:nvSpPr>
          <p:cNvPr id="8" name="TextBox 7"/>
          <p:cNvSpPr txBox="1"/>
          <p:nvPr/>
        </p:nvSpPr>
        <p:spPr>
          <a:xfrm>
            <a:off x="13373100" y="2857500"/>
            <a:ext cx="388620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shooter_ wants</a:t>
            </a:r>
          </a:p>
        </p:txBody>
      </p:sp>
      <p:sp>
        <p:nvSpPr>
          <p:cNvPr id="9" name="Rounded Rectangle 8"/>
          <p:cNvSpPr/>
          <p:nvPr/>
        </p:nvSpPr>
        <p:spPr>
          <a:xfrm>
            <a:off x="914400" y="3524250"/>
            <a:ext cx="164592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 y="35242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IDLE</a:t>
            </a:r>
          </a:p>
        </p:txBody>
      </p:sp>
      <p:sp>
        <p:nvSpPr>
          <p:cNvPr id="11" name="TextBox 10"/>
          <p:cNvSpPr txBox="1"/>
          <p:nvPr/>
        </p:nvSpPr>
        <p:spPr>
          <a:xfrm>
            <a:off x="4324350" y="35242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Disabled</a:t>
            </a:r>
          </a:p>
        </p:txBody>
      </p:sp>
      <p:sp>
        <p:nvSpPr>
          <p:cNvPr id="12" name="TextBox 11"/>
          <p:cNvSpPr txBox="1"/>
          <p:nvPr/>
        </p:nvSpPr>
        <p:spPr>
          <a:xfrm>
            <a:off x="9277350" y="35242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3" name="TextBox 12"/>
          <p:cNvSpPr txBox="1"/>
          <p:nvPr/>
        </p:nvSpPr>
        <p:spPr>
          <a:xfrm>
            <a:off x="13373100" y="35242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4" name="Rounded Rectangle 13"/>
          <p:cNvSpPr/>
          <p:nvPr/>
        </p:nvSpPr>
        <p:spPr>
          <a:xfrm>
            <a:off x="914400" y="4857750"/>
            <a:ext cx="164592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48577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DRIVE</a:t>
            </a:r>
          </a:p>
        </p:txBody>
      </p:sp>
      <p:sp>
        <p:nvSpPr>
          <p:cNvPr id="16" name="TextBox 15"/>
          <p:cNvSpPr txBox="1"/>
          <p:nvPr/>
        </p:nvSpPr>
        <p:spPr>
          <a:xfrm>
            <a:off x="4324350" y="48577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Teleop starts</a:t>
            </a:r>
          </a:p>
        </p:txBody>
      </p:sp>
      <p:sp>
        <p:nvSpPr>
          <p:cNvPr id="17" name="TextBox 16"/>
          <p:cNvSpPr txBox="1"/>
          <p:nvPr/>
        </p:nvSpPr>
        <p:spPr>
          <a:xfrm>
            <a:off x="9277350" y="48577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a:t>
            </a:r>
          </a:p>
        </p:txBody>
      </p:sp>
      <p:sp>
        <p:nvSpPr>
          <p:cNvPr id="18" name="TextBox 17"/>
          <p:cNvSpPr txBox="1"/>
          <p:nvPr/>
        </p:nvSpPr>
        <p:spPr>
          <a:xfrm>
            <a:off x="13373100" y="48577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9" name="Rounded Rectangle 18"/>
          <p:cNvSpPr/>
          <p:nvPr/>
        </p:nvSpPr>
        <p:spPr>
          <a:xfrm>
            <a:off x="914400" y="6191250"/>
            <a:ext cx="16459200" cy="1143000"/>
          </a:xfrm>
          <a:prstGeom prst="roundRect">
            <a:avLst>
              <a:gd name="adj" fmla="val 11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1100" y="61912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SHOOT</a:t>
            </a:r>
          </a:p>
        </p:txBody>
      </p:sp>
      <p:sp>
        <p:nvSpPr>
          <p:cNvPr id="21" name="TextBox 20"/>
          <p:cNvSpPr txBox="1"/>
          <p:nvPr/>
        </p:nvSpPr>
        <p:spPr>
          <a:xfrm>
            <a:off x="4324350" y="61912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Right bumper held</a:t>
            </a:r>
          </a:p>
        </p:txBody>
      </p:sp>
      <p:sp>
        <p:nvSpPr>
          <p:cNvPr id="22" name="TextBox 21"/>
          <p:cNvSpPr txBox="1"/>
          <p:nvPr/>
        </p:nvSpPr>
        <p:spPr>
          <a:xfrm>
            <a:off x="9277350" y="61912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a:t>
            </a:r>
          </a:p>
        </p:txBody>
      </p:sp>
      <p:sp>
        <p:nvSpPr>
          <p:cNvPr id="23" name="TextBox 22"/>
          <p:cNvSpPr txBox="1"/>
          <p:nvPr/>
        </p:nvSpPr>
        <p:spPr>
          <a:xfrm>
            <a:off x="13373100" y="61912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SHOOT</a:t>
            </a:r>
          </a:p>
        </p:txBody>
      </p:sp>
      <p:sp>
        <p:nvSpPr>
          <p:cNvPr id="24" name="Rounded Rectangle 23"/>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ghtbulb.png"/>
          <p:cNvPicPr>
            <a:picLocks noChangeAspect="1"/>
          </p:cNvPicPr>
          <p:nvPr/>
        </p:nvPicPr>
        <p:blipFill>
          <a:blip r:embed="rId3"/>
          <a:stretch>
            <a:fillRect/>
          </a:stretch>
        </p:blipFill>
        <p:spPr>
          <a:xfrm>
            <a:off x="1333500" y="8020050"/>
            <a:ext cx="400050" cy="533400"/>
          </a:xfrm>
          <a:prstGeom prst="rect">
            <a:avLst/>
          </a:prstGeom>
        </p:spPr>
      </p:pic>
      <p:sp>
        <p:nvSpPr>
          <p:cNvPr id="26" name="TextBox 25"/>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SHOOT keeps driving.  </a:t>
            </a:r>
            <a:r>
              <a:rPr sz="2100" b="0" i="0">
                <a:solidFill>
                  <a:srgbClr val="F0E8E8"/>
                </a:solidFill>
                <a:latin typeface="Geist"/>
                <a:ea typeface="Geist"/>
                <a:cs typeface="Geist"/>
              </a:rPr>
              <a:t>Each row asks every subsystem for something, so nothing is left over from the last state.</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RobotContainer.updateLogic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6" name="Rounded Rectangle 5"/>
          <p:cNvSpPr/>
          <p:nvPr/>
        </p:nvSpPr>
        <p:spPr>
          <a:xfrm>
            <a:off x="914400" y="3143250"/>
            <a:ext cx="11239500" cy="5176361"/>
          </a:xfrm>
          <a:prstGeom prst="roundRect">
            <a:avLst>
              <a:gd name="adj" fmla="val 29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42949"/>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42949"/>
            <a:ext cx="57150" cy="33956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882515"/>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882515"/>
            <a:ext cx="57150" cy="33956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706100" cy="339566"/>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protected</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2" name="TextBox 11"/>
          <p:cNvSpPr txBox="1"/>
          <p:nvPr/>
        </p:nvSpPr>
        <p:spPr>
          <a:xfrm>
            <a:off x="1295400" y="386381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switch</a:t>
            </a:r>
            <a:r>
              <a:rPr sz="1725" b="0" i="0">
                <a:solidFill>
                  <a:srgbClr val="F0E8E8"/>
                </a:solidFill>
                <a:latin typeface="Geist Mono"/>
                <a:ea typeface="Geist Mono"/>
                <a:cs typeface="Geist Mono"/>
              </a:rPr>
              <a:t> (system_state_) {</a:t>
            </a:r>
          </a:p>
        </p:txBody>
      </p:sp>
      <p:sp>
        <p:nvSpPr>
          <p:cNvPr id="13" name="TextBox 12"/>
          <p:cNvSpPr txBox="1"/>
          <p:nvPr/>
        </p:nvSpPr>
        <p:spPr>
          <a:xfrm>
            <a:off x="1295400" y="4203382"/>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case</a:t>
            </a:r>
            <a:r>
              <a:rPr sz="1725" b="0" i="0">
                <a:solidFill>
                  <a:srgbClr val="F0E8E8"/>
                </a:solidFill>
                <a:latin typeface="Geist Mono"/>
                <a:ea typeface="Geist Mono"/>
                <a:cs typeface="Geist Mono"/>
              </a:rPr>
              <a:t> SHOOT:</a:t>
            </a:r>
          </a:p>
        </p:txBody>
      </p:sp>
      <p:sp>
        <p:nvSpPr>
          <p:cNvPr id="14" name="TextBox 13"/>
          <p:cNvSpPr txBox="1"/>
          <p:nvPr/>
        </p:nvSpPr>
        <p:spPr>
          <a:xfrm>
            <a:off x="1295400" y="4542949"/>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drive_.setWantedState(DriveStates.ARCADE);</a:t>
            </a:r>
          </a:p>
        </p:txBody>
      </p:sp>
      <p:sp>
        <p:nvSpPr>
          <p:cNvPr id="15" name="TextBox 14"/>
          <p:cNvSpPr txBox="1"/>
          <p:nvPr/>
        </p:nvSpPr>
        <p:spPr>
          <a:xfrm>
            <a:off x="1295400" y="4882515"/>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shooter_.setWantedState(ShooterStates.SHOOT);</a:t>
            </a:r>
          </a:p>
        </p:txBody>
      </p:sp>
      <p:sp>
        <p:nvSpPr>
          <p:cNvPr id="16" name="TextBox 15"/>
          <p:cNvSpPr txBox="1"/>
          <p:nvPr/>
        </p:nvSpPr>
        <p:spPr>
          <a:xfrm>
            <a:off x="1295400" y="5222081"/>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break</a:t>
            </a:r>
            <a:r>
              <a:rPr sz="1725" b="0" i="0">
                <a:solidFill>
                  <a:srgbClr val="F0E8E8"/>
                </a:solidFill>
                <a:latin typeface="Geist Mono"/>
                <a:ea typeface="Geist Mono"/>
                <a:cs typeface="Geist Mono"/>
              </a:rPr>
              <a:t>;</a:t>
            </a:r>
          </a:p>
        </p:txBody>
      </p:sp>
      <p:sp>
        <p:nvSpPr>
          <p:cNvPr id="17" name="TextBox 16"/>
          <p:cNvSpPr txBox="1"/>
          <p:nvPr/>
        </p:nvSpPr>
        <p:spPr>
          <a:xfrm>
            <a:off x="1295400" y="5561648"/>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case</a:t>
            </a:r>
            <a:r>
              <a:rPr sz="1725" b="0" i="0">
                <a:solidFill>
                  <a:srgbClr val="F0E8E8"/>
                </a:solidFill>
                <a:latin typeface="Geist Mono"/>
                <a:ea typeface="Geist Mono"/>
                <a:cs typeface="Geist Mono"/>
              </a:rPr>
              <a:t> DRIVE:</a:t>
            </a:r>
          </a:p>
        </p:txBody>
      </p:sp>
      <p:sp>
        <p:nvSpPr>
          <p:cNvPr id="18" name="TextBox 17"/>
          <p:cNvSpPr txBox="1"/>
          <p:nvPr/>
        </p:nvSpPr>
        <p:spPr>
          <a:xfrm>
            <a:off x="1295400" y="5901214"/>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drive_.setWantedState(DriveStates.ARCADE);</a:t>
            </a:r>
          </a:p>
        </p:txBody>
      </p:sp>
      <p:sp>
        <p:nvSpPr>
          <p:cNvPr id="19" name="TextBox 18"/>
          <p:cNvSpPr txBox="1"/>
          <p:nvPr/>
        </p:nvSpPr>
        <p:spPr>
          <a:xfrm>
            <a:off x="1295400" y="6240780"/>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shooter_.setWantedState(ShooterStates.IDLE);</a:t>
            </a:r>
          </a:p>
        </p:txBody>
      </p:sp>
      <p:sp>
        <p:nvSpPr>
          <p:cNvPr id="20" name="TextBox 19"/>
          <p:cNvSpPr txBox="1"/>
          <p:nvPr/>
        </p:nvSpPr>
        <p:spPr>
          <a:xfrm>
            <a:off x="1295400" y="658034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break</a:t>
            </a:r>
            <a:r>
              <a:rPr sz="1725" b="0" i="0">
                <a:solidFill>
                  <a:srgbClr val="F0E8E8"/>
                </a:solidFill>
                <a:latin typeface="Geist Mono"/>
                <a:ea typeface="Geist Mono"/>
                <a:cs typeface="Geist Mono"/>
              </a:rPr>
              <a:t>;</a:t>
            </a:r>
          </a:p>
        </p:txBody>
      </p:sp>
      <p:sp>
        <p:nvSpPr>
          <p:cNvPr id="21" name="TextBox 20"/>
          <p:cNvSpPr txBox="1"/>
          <p:nvPr/>
        </p:nvSpPr>
        <p:spPr>
          <a:xfrm>
            <a:off x="1295400" y="6919912"/>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1">
                <a:solidFill>
                  <a:srgbClr val="9A7878"/>
                </a:solidFill>
                <a:latin typeface="Geist Mono"/>
                <a:ea typeface="Geist Mono"/>
                <a:cs typeface="Geist Mono"/>
              </a:rPr>
              <a:t>// IDLE (default): both IDLE</a:t>
            </a:r>
          </a:p>
        </p:txBody>
      </p:sp>
      <p:sp>
        <p:nvSpPr>
          <p:cNvPr id="22" name="TextBox 21"/>
          <p:cNvSpPr txBox="1"/>
          <p:nvPr/>
        </p:nvSpPr>
        <p:spPr>
          <a:xfrm>
            <a:off x="1295400" y="7259479"/>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7599045"/>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4" name="Oval 23"/>
          <p:cNvSpPr/>
          <p:nvPr/>
        </p:nvSpPr>
        <p:spPr>
          <a:xfrm>
            <a:off x="11544300" y="384309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44300" y="384309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1544300" y="452223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44300" y="45222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1544300" y="52013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52013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robot's state</a:t>
            </a:r>
          </a:p>
        </p:txBody>
      </p:sp>
      <p:sp>
        <p:nvSpPr>
          <p:cNvPr id="33" name="TextBox 32"/>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system_state_, like a subsystem</a:t>
            </a:r>
          </a:p>
        </p:txBody>
      </p:sp>
      <p:sp>
        <p:nvSpPr>
          <p:cNvPr id="34" name="Oval 33"/>
          <p:cNvSpPr/>
          <p:nvPr/>
        </p:nvSpPr>
        <p:spPr>
          <a:xfrm>
            <a:off x="12668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every subsystem</a:t>
            </a:r>
          </a:p>
        </p:txBody>
      </p:sp>
      <p:sp>
        <p:nvSpPr>
          <p:cNvPr id="37" name="TextBox 36"/>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setWantedState each</a:t>
            </a:r>
          </a:p>
        </p:txBody>
      </p:sp>
      <p:sp>
        <p:nvSpPr>
          <p:cNvPr id="38" name="Oval 37"/>
          <p:cNvSpPr/>
          <p:nvPr/>
        </p:nvSpPr>
        <p:spPr>
          <a:xfrm>
            <a:off x="1266825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break</a:t>
            </a:r>
          </a:p>
        </p:txBody>
      </p:sp>
      <p:sp>
        <p:nvSpPr>
          <p:cNvPr id="41" name="TextBox 40"/>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Don't fall into the next case</a:t>
            </a:r>
          </a:p>
        </p:txBody>
      </p:sp>
      <p:sp>
        <p:nvSpPr>
          <p:cNvPr id="42" name="Rounded Rectangle 41"/>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check-circle-fill.png"/>
          <p:cNvPicPr>
            <a:picLocks noChangeAspect="1"/>
          </p:cNvPicPr>
          <p:nvPr/>
        </p:nvPicPr>
        <p:blipFill>
          <a:blip r:embed="rId3"/>
          <a:stretch>
            <a:fillRect/>
          </a:stretch>
        </p:blipFill>
        <p:spPr>
          <a:xfrm>
            <a:off x="1333500" y="8496300"/>
            <a:ext cx="533400" cy="533400"/>
          </a:xfrm>
          <a:prstGeom prst="rect">
            <a:avLst/>
          </a:prstGeom>
        </p:spPr>
      </p:pic>
      <p:sp>
        <p:nvSpPr>
          <p:cNvPr id="44" name="TextBox 43"/>
          <p:cNvSpPr txBox="1"/>
          <p:nvPr/>
        </p:nvSpPr>
        <p:spPr>
          <a:xfrm>
            <a:off x="2190750" y="83820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if inside.  </a:t>
            </a:r>
            <a:r>
              <a:rPr sz="2100" b="0" i="0">
                <a:solidFill>
                  <a:srgbClr val="F0E8E8"/>
                </a:solidFill>
                <a:latin typeface="Geist"/>
                <a:ea typeface="Geist"/>
                <a:cs typeface="Geist"/>
              </a:rPr>
              <a:t>Each robot state just asks for what it needs, every loop.</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Write it once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0005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200150" y="3599201"/>
            <a:ext cx="609600" cy="459698"/>
          </a:xfrm>
          <a:prstGeom prst="rect">
            <a:avLst/>
          </a:prstGeom>
        </p:spPr>
      </p:pic>
      <p:sp>
        <p:nvSpPr>
          <p:cNvPr id="7" name="TextBox 6"/>
          <p:cNvSpPr txBox="1"/>
          <p:nvPr/>
        </p:nvSpPr>
        <p:spPr>
          <a:xfrm>
            <a:off x="2057400" y="3429000"/>
            <a:ext cx="27622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8" name="TextBox 7"/>
          <p:cNvSpPr txBox="1"/>
          <p:nvPr/>
        </p:nvSpPr>
        <p:spPr>
          <a:xfrm>
            <a:off x="2057400" y="3924300"/>
            <a:ext cx="27622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teleop</a:t>
            </a:r>
          </a:p>
        </p:txBody>
      </p:sp>
      <p:cxnSp>
        <p:nvCxnSpPr>
          <p:cNvPr id="9" name="Connector 8"/>
          <p:cNvCxnSpPr/>
          <p:nvPr/>
        </p:nvCxnSpPr>
        <p:spPr>
          <a:xfrm>
            <a:off x="4953000" y="3857625"/>
            <a:ext cx="1143000" cy="952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5048250"/>
            <a:ext cx="40005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ignpost-split.png"/>
          <p:cNvPicPr>
            <a:picLocks noChangeAspect="1"/>
          </p:cNvPicPr>
          <p:nvPr/>
        </p:nvPicPr>
        <p:blipFill>
          <a:blip r:embed="rId4"/>
          <a:stretch>
            <a:fillRect/>
          </a:stretch>
        </p:blipFill>
        <p:spPr>
          <a:xfrm>
            <a:off x="1200150" y="5434050"/>
            <a:ext cx="609600" cy="600000"/>
          </a:xfrm>
          <a:prstGeom prst="rect">
            <a:avLst/>
          </a:prstGeom>
        </p:spPr>
      </p:pic>
      <p:sp>
        <p:nvSpPr>
          <p:cNvPr id="12" name="TextBox 11"/>
          <p:cNvSpPr txBox="1"/>
          <p:nvPr/>
        </p:nvSpPr>
        <p:spPr>
          <a:xfrm>
            <a:off x="2057400" y="5334000"/>
            <a:ext cx="27622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 tree</a:t>
            </a:r>
          </a:p>
        </p:txBody>
      </p:sp>
      <p:sp>
        <p:nvSpPr>
          <p:cNvPr id="13" name="TextBox 12"/>
          <p:cNvSpPr txBox="1"/>
          <p:nvPr/>
        </p:nvSpPr>
        <p:spPr>
          <a:xfrm>
            <a:off x="2057400" y="5829300"/>
            <a:ext cx="27622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Deck 9</a:t>
            </a:r>
          </a:p>
        </p:txBody>
      </p:sp>
      <p:cxnSp>
        <p:nvCxnSpPr>
          <p:cNvPr id="14" name="Connector 13"/>
          <p:cNvCxnSpPr/>
          <p:nvPr/>
        </p:nvCxnSpPr>
        <p:spPr>
          <a:xfrm flipV="1">
            <a:off x="4953000" y="4810125"/>
            <a:ext cx="1143000" cy="952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34100" y="4095750"/>
            <a:ext cx="3238500" cy="1428750"/>
          </a:xfrm>
          <a:prstGeom prst="roundRect">
            <a:avLst>
              <a:gd name="adj" fmla="val 12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34100" y="4095750"/>
            <a:ext cx="3238500" cy="1428750"/>
          </a:xfrm>
          <a:prstGeom prst="rect">
            <a:avLst/>
          </a:prstGeom>
          <a:noFill/>
        </p:spPr>
        <p:txBody>
          <a:bodyPr wrap="square" lIns="0" rIns="0" tIns="0" bIns="0" anchor="ctr">
            <a:spAutoFit/>
          </a:bodyPr>
          <a:lstStyle/>
          <a:p>
            <a:pPr algn="ctr"/>
            <a:r>
              <a:rPr sz="3300" b="1" i="0">
                <a:solidFill>
                  <a:srgbClr val="F0E8E8"/>
                </a:solidFill>
                <a:latin typeface="Geist Mono"/>
                <a:ea typeface="Geist Mono"/>
                <a:cs typeface="Geist Mono"/>
              </a:rPr>
              <a:t>SHOOT</a:t>
            </a:r>
          </a:p>
        </p:txBody>
      </p:sp>
      <p:sp>
        <p:nvSpPr>
          <p:cNvPr id="17" name="TextBox 16"/>
          <p:cNvSpPr txBox="1"/>
          <p:nvPr/>
        </p:nvSpPr>
        <p:spPr>
          <a:xfrm>
            <a:off x="914400" y="7239000"/>
            <a:ext cx="8572500" cy="11430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One SHOOT, written once in RobotContainer. Teleop and auto can't drift apart.</a:t>
            </a:r>
          </a:p>
        </p:txBody>
      </p:sp>
      <p:sp>
        <p:nvSpPr>
          <p:cNvPr id="18" name="Rounded Rectangle 17"/>
          <p:cNvSpPr/>
          <p:nvPr/>
        </p:nvSpPr>
        <p:spPr>
          <a:xfrm>
            <a:off x="10096500" y="2857500"/>
            <a:ext cx="72771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477500" y="3200400"/>
            <a:ext cx="6477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2026 ROBOT</a:t>
            </a:r>
          </a:p>
        </p:txBody>
      </p:sp>
      <p:sp>
        <p:nvSpPr>
          <p:cNvPr id="20" name="TextBox 19"/>
          <p:cNvSpPr txBox="1"/>
          <p:nvPr/>
        </p:nvSpPr>
        <p:spPr>
          <a:xfrm>
            <a:off x="10477500" y="3619500"/>
            <a:ext cx="657225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SHOOT is split into step states. The robot picks one every loop:</a:t>
            </a:r>
          </a:p>
        </p:txBody>
      </p:sp>
      <p:sp>
        <p:nvSpPr>
          <p:cNvPr id="21" name="Rounded Rectangle 20"/>
          <p:cNvSpPr/>
          <p:nvPr/>
        </p:nvSpPr>
        <p:spPr>
          <a:xfrm>
            <a:off x="10477500" y="4667250"/>
            <a:ext cx="3810000" cy="914400"/>
          </a:xfrm>
          <a:prstGeom prst="roundRect">
            <a:avLst>
              <a:gd name="adj" fmla="val 2291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553700" y="466725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SHOOT_WAIT</a:t>
            </a:r>
          </a:p>
        </p:txBody>
      </p:sp>
      <p:sp>
        <p:nvSpPr>
          <p:cNvPr id="23" name="TextBox 22"/>
          <p:cNvSpPr txBox="1"/>
          <p:nvPr/>
        </p:nvSpPr>
        <p:spPr>
          <a:xfrm>
            <a:off x="14573250" y="466725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Spinning up, not feeding yet</a:t>
            </a:r>
          </a:p>
        </p:txBody>
      </p:sp>
      <p:sp>
        <p:nvSpPr>
          <p:cNvPr id="24" name="Rounded Rectangle 23"/>
          <p:cNvSpPr/>
          <p:nvPr/>
        </p:nvSpPr>
        <p:spPr>
          <a:xfrm>
            <a:off x="10477500" y="5905500"/>
            <a:ext cx="3810000" cy="914400"/>
          </a:xfrm>
          <a:prstGeom prst="roundRect">
            <a:avLst>
              <a:gd name="adj" fmla="val 22916"/>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553700" y="590550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SHOOT_FEED</a:t>
            </a:r>
          </a:p>
        </p:txBody>
      </p:sp>
      <p:sp>
        <p:nvSpPr>
          <p:cNvPr id="26" name="Rounded Rectangle 25"/>
          <p:cNvSpPr/>
          <p:nvPr/>
        </p:nvSpPr>
        <p:spPr>
          <a:xfrm>
            <a:off x="10629900" y="5734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29900" y="5734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28" name="TextBox 27"/>
          <p:cNvSpPr txBox="1"/>
          <p:nvPr/>
        </p:nvSpPr>
        <p:spPr>
          <a:xfrm>
            <a:off x="14573250" y="590550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Ready: feed while driving</a:t>
            </a:r>
          </a:p>
        </p:txBody>
      </p:sp>
      <p:sp>
        <p:nvSpPr>
          <p:cNvPr id="29" name="Rounded Rectangle 28"/>
          <p:cNvSpPr/>
          <p:nvPr/>
        </p:nvSpPr>
        <p:spPr>
          <a:xfrm>
            <a:off x="10477500" y="7143750"/>
            <a:ext cx="3810000" cy="914400"/>
          </a:xfrm>
          <a:prstGeom prst="roundRect">
            <a:avLst>
              <a:gd name="adj" fmla="val 2291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553700" y="714375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SHOOT_FEED_BRAKED</a:t>
            </a:r>
          </a:p>
        </p:txBody>
      </p:sp>
      <p:sp>
        <p:nvSpPr>
          <p:cNvPr id="31" name="TextBox 30"/>
          <p:cNvSpPr txBox="1"/>
          <p:nvPr/>
        </p:nvSpPr>
        <p:spPr>
          <a:xfrm>
            <a:off x="14573250" y="714375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Ready and stopped</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Buttons and commands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Small actions that ask the robot for a state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command is a sticky note: “when this happens, do that.”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commands fit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2247900" y="3446489"/>
            <a:ext cx="762000" cy="574623"/>
          </a:xfrm>
          <a:prstGeom prst="rect">
            <a:avLst/>
          </a:prstGeom>
        </p:spPr>
      </p:pic>
      <p:sp>
        <p:nvSpPr>
          <p:cNvPr id="7" name="TextBox 6"/>
          <p:cNvSpPr txBox="1"/>
          <p:nvPr/>
        </p:nvSpPr>
        <p:spPr>
          <a:xfrm>
            <a:off x="10096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Button</a:t>
            </a:r>
          </a:p>
        </p:txBody>
      </p:sp>
      <p:sp>
        <p:nvSpPr>
          <p:cNvPr id="8" name="TextBox 7"/>
          <p:cNvSpPr txBox="1"/>
          <p:nvPr/>
        </p:nvSpPr>
        <p:spPr>
          <a:xfrm>
            <a:off x="10668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44196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50101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57800" y="3048000"/>
            <a:ext cx="34290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nd.png"/>
          <p:cNvPicPr>
            <a:picLocks noChangeAspect="1"/>
          </p:cNvPicPr>
          <p:nvPr/>
        </p:nvPicPr>
        <p:blipFill>
          <a:blip r:embed="rId4"/>
          <a:stretch>
            <a:fillRect/>
          </a:stretch>
        </p:blipFill>
        <p:spPr>
          <a:xfrm>
            <a:off x="6629400" y="3390900"/>
            <a:ext cx="685800" cy="685800"/>
          </a:xfrm>
          <a:prstGeom prst="rect">
            <a:avLst/>
          </a:prstGeom>
        </p:spPr>
      </p:pic>
      <p:sp>
        <p:nvSpPr>
          <p:cNvPr id="13" name="TextBox 12"/>
          <p:cNvSpPr txBox="1"/>
          <p:nvPr/>
        </p:nvSpPr>
        <p:spPr>
          <a:xfrm>
            <a:off x="53530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Command</a:t>
            </a:r>
          </a:p>
        </p:txBody>
      </p:sp>
      <p:sp>
        <p:nvSpPr>
          <p:cNvPr id="14" name="TextBox 13"/>
          <p:cNvSpPr txBox="1"/>
          <p:nvPr/>
        </p:nvSpPr>
        <p:spPr>
          <a:xfrm>
            <a:off x="54102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startEnd(...)</a:t>
            </a:r>
          </a:p>
        </p:txBody>
      </p:sp>
      <p:sp>
        <p:nvSpPr>
          <p:cNvPr id="15" name="Rectangle 14"/>
          <p:cNvSpPr/>
          <p:nvPr/>
        </p:nvSpPr>
        <p:spPr>
          <a:xfrm>
            <a:off x="87630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93535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agram-2.png"/>
          <p:cNvPicPr>
            <a:picLocks noChangeAspect="1"/>
          </p:cNvPicPr>
          <p:nvPr/>
        </p:nvPicPr>
        <p:blipFill>
          <a:blip r:embed="rId5"/>
          <a:stretch>
            <a:fillRect/>
          </a:stretch>
        </p:blipFill>
        <p:spPr>
          <a:xfrm>
            <a:off x="11029950" y="3390900"/>
            <a:ext cx="571500" cy="685800"/>
          </a:xfrm>
          <a:prstGeom prst="rect">
            <a:avLst/>
          </a:prstGeom>
        </p:spPr>
      </p:pic>
      <p:sp>
        <p:nvSpPr>
          <p:cNvPr id="19" name="TextBox 18"/>
          <p:cNvSpPr txBox="1"/>
          <p:nvPr/>
        </p:nvSpPr>
        <p:spPr>
          <a:xfrm>
            <a:off x="96964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Robot</a:t>
            </a:r>
          </a:p>
        </p:txBody>
      </p:sp>
      <p:sp>
        <p:nvSpPr>
          <p:cNvPr id="20" name="TextBox 19"/>
          <p:cNvSpPr txBox="1"/>
          <p:nvPr/>
        </p:nvSpPr>
        <p:spPr>
          <a:xfrm>
            <a:off x="97536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setWantedState(SHOOT)</a:t>
            </a:r>
          </a:p>
        </p:txBody>
      </p:sp>
      <p:sp>
        <p:nvSpPr>
          <p:cNvPr id="21" name="Rectangle 20"/>
          <p:cNvSpPr/>
          <p:nvPr/>
        </p:nvSpPr>
        <p:spPr>
          <a:xfrm>
            <a:off x="131064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36969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9446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n.png"/>
          <p:cNvPicPr>
            <a:picLocks noChangeAspect="1"/>
          </p:cNvPicPr>
          <p:nvPr/>
        </p:nvPicPr>
        <p:blipFill>
          <a:blip r:embed="rId6"/>
          <a:stretch>
            <a:fillRect/>
          </a:stretch>
        </p:blipFill>
        <p:spPr>
          <a:xfrm>
            <a:off x="15316200" y="3390900"/>
            <a:ext cx="685800" cy="685800"/>
          </a:xfrm>
          <a:prstGeom prst="rect">
            <a:avLst/>
          </a:prstGeom>
        </p:spPr>
      </p:pic>
      <p:sp>
        <p:nvSpPr>
          <p:cNvPr id="25" name="TextBox 24"/>
          <p:cNvSpPr txBox="1"/>
          <p:nvPr/>
        </p:nvSpPr>
        <p:spPr>
          <a:xfrm>
            <a:off x="140398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Subsystems</a:t>
            </a:r>
          </a:p>
        </p:txBody>
      </p:sp>
      <p:sp>
        <p:nvSpPr>
          <p:cNvPr id="26" name="TextBox 25"/>
          <p:cNvSpPr txBox="1"/>
          <p:nvPr/>
        </p:nvSpPr>
        <p:spPr>
          <a:xfrm>
            <a:off x="140970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Drivetrain and shooter</a:t>
            </a:r>
          </a:p>
        </p:txBody>
      </p:sp>
      <p:sp>
        <p:nvSpPr>
          <p:cNvPr id="27" name="Rounded Rectangle 26"/>
          <p:cNvSpPr/>
          <p:nvPr/>
        </p:nvSpPr>
        <p:spPr>
          <a:xfrm>
            <a:off x="914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circle-fill.png"/>
          <p:cNvPicPr>
            <a:picLocks noChangeAspect="1"/>
          </p:cNvPicPr>
          <p:nvPr/>
        </p:nvPicPr>
        <p:blipFill>
          <a:blip r:embed="rId7"/>
          <a:stretch>
            <a:fillRect/>
          </a:stretch>
        </p:blipFill>
        <p:spPr>
          <a:xfrm>
            <a:off x="1295400" y="6572250"/>
            <a:ext cx="457200" cy="457200"/>
          </a:xfrm>
          <a:prstGeom prst="rect">
            <a:avLst/>
          </a:prstGeom>
        </p:spPr>
      </p:pic>
      <p:sp>
        <p:nvSpPr>
          <p:cNvPr id="29" name="TextBox 28"/>
          <p:cNvSpPr txBox="1"/>
          <p:nvPr/>
        </p:nvSpPr>
        <p:spPr>
          <a:xfrm>
            <a:off x="1295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Commands stay thin</a:t>
            </a:r>
          </a:p>
        </p:txBody>
      </p:sp>
      <p:sp>
        <p:nvSpPr>
          <p:cNvPr id="30" name="TextBox 29"/>
          <p:cNvSpPr txBox="1"/>
          <p:nvPr/>
        </p:nvSpPr>
        <p:spPr>
          <a:xfrm>
            <a:off x="1295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They only ask the robot for a state.</a:t>
            </a:r>
          </a:p>
        </p:txBody>
      </p:sp>
      <p:sp>
        <p:nvSpPr>
          <p:cNvPr id="31" name="Rounded Rectangle 30"/>
          <p:cNvSpPr/>
          <p:nvPr/>
        </p:nvSpPr>
        <p:spPr>
          <a:xfrm>
            <a:off x="9296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diagram-3.png"/>
          <p:cNvPicPr>
            <a:picLocks noChangeAspect="1"/>
          </p:cNvPicPr>
          <p:nvPr/>
        </p:nvPicPr>
        <p:blipFill>
          <a:blip r:embed="rId8"/>
          <a:stretch>
            <a:fillRect/>
          </a:stretch>
        </p:blipFill>
        <p:spPr>
          <a:xfrm>
            <a:off x="9677400" y="6572250"/>
            <a:ext cx="609600" cy="457200"/>
          </a:xfrm>
          <a:prstGeom prst="rect">
            <a:avLst/>
          </a:prstGeom>
        </p:spPr>
      </p:pic>
      <p:sp>
        <p:nvSpPr>
          <p:cNvPr id="33" name="TextBox 32"/>
          <p:cNvSpPr txBox="1"/>
          <p:nvPr/>
        </p:nvSpPr>
        <p:spPr>
          <a:xfrm>
            <a:off x="9677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State machines decide</a:t>
            </a:r>
          </a:p>
        </p:txBody>
      </p:sp>
      <p:sp>
        <p:nvSpPr>
          <p:cNvPr id="34" name="TextBox 33"/>
          <p:cNvSpPr txBox="1"/>
          <p:nvPr/>
        </p:nvSpPr>
        <p:spPr>
          <a:xfrm>
            <a:off x="9677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RobotContainer and the subsystems hold the behavior.</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command is a state machine too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581150" y="4667250"/>
            <a:ext cx="571500" cy="5715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91150"/>
            <a:ext cx="2095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scheduled</a:t>
            </a:r>
          </a:p>
        </p:txBody>
      </p:sp>
      <p:sp>
        <p:nvSpPr>
          <p:cNvPr id="7" name="Rounded Rectangle 6"/>
          <p:cNvSpPr/>
          <p:nvPr/>
        </p:nvSpPr>
        <p:spPr>
          <a:xfrm>
            <a:off x="4000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767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initialize()</a:t>
            </a:r>
          </a:p>
        </p:txBody>
      </p:sp>
      <p:sp>
        <p:nvSpPr>
          <p:cNvPr id="9" name="TextBox 8"/>
          <p:cNvSpPr txBox="1"/>
          <p:nvPr/>
        </p:nvSpPr>
        <p:spPr>
          <a:xfrm>
            <a:off x="41148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10" name="Rounded Rectangle 9"/>
          <p:cNvSpPr/>
          <p:nvPr/>
        </p:nvSpPr>
        <p:spPr>
          <a:xfrm>
            <a:off x="8001000" y="4286250"/>
            <a:ext cx="2857500" cy="1333500"/>
          </a:xfrm>
          <a:prstGeom prst="roundRect">
            <a:avLst>
              <a:gd name="adj" fmla="val 15714"/>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772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execute()</a:t>
            </a:r>
          </a:p>
        </p:txBody>
      </p:sp>
      <p:sp>
        <p:nvSpPr>
          <p:cNvPr id="12" name="TextBox 11"/>
          <p:cNvSpPr txBox="1"/>
          <p:nvPr/>
        </p:nvSpPr>
        <p:spPr>
          <a:xfrm>
            <a:off x="81153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 20 ms</a:t>
            </a:r>
          </a:p>
        </p:txBody>
      </p:sp>
      <p:sp>
        <p:nvSpPr>
          <p:cNvPr id="13" name="Rounded Rectangle 12"/>
          <p:cNvSpPr/>
          <p:nvPr/>
        </p:nvSpPr>
        <p:spPr>
          <a:xfrm>
            <a:off x="8153400" y="411480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53400" y="4114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5" name="Rounded Rectangle 14"/>
          <p:cNvSpPr/>
          <p:nvPr/>
        </p:nvSpPr>
        <p:spPr>
          <a:xfrm>
            <a:off x="12001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77700" y="4286250"/>
            <a:ext cx="2705100" cy="13335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isFinished()?</a:t>
            </a:r>
          </a:p>
        </p:txBody>
      </p:sp>
      <p:sp>
        <p:nvSpPr>
          <p:cNvPr id="17" name="Rounded Rectangle 16"/>
          <p:cNvSpPr/>
          <p:nvPr/>
        </p:nvSpPr>
        <p:spPr>
          <a:xfrm>
            <a:off x="15430500" y="4286250"/>
            <a:ext cx="19431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506700" y="4647057"/>
            <a:ext cx="17907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end()</a:t>
            </a:r>
          </a:p>
        </p:txBody>
      </p:sp>
      <p:sp>
        <p:nvSpPr>
          <p:cNvPr id="19" name="TextBox 18"/>
          <p:cNvSpPr txBox="1"/>
          <p:nvPr/>
        </p:nvSpPr>
        <p:spPr>
          <a:xfrm>
            <a:off x="15544800" y="5067300"/>
            <a:ext cx="17145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20" name="Rectangle 19"/>
          <p:cNvSpPr/>
          <p:nvPr/>
        </p:nvSpPr>
        <p:spPr>
          <a:xfrm>
            <a:off x="2209800" y="4933950"/>
            <a:ext cx="1596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3771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151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7724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156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1772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916150" y="4933950"/>
            <a:ext cx="3200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5201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830425" y="4403884"/>
            <a:ext cx="62865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4830425" y="4403884"/>
            <a:ext cx="62865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true</a:t>
            </a:r>
          </a:p>
        </p:txBody>
      </p:sp>
      <p:sp>
        <p:nvSpPr>
          <p:cNvPr id="30" name="Rectangle 29"/>
          <p:cNvSpPr/>
          <p:nvPr/>
        </p:nvSpPr>
        <p:spPr>
          <a:xfrm>
            <a:off x="13411200" y="40195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flipV="1">
            <a:off x="13417673"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380100"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318003"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232163"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123660"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993858"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844390"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12677135"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12494197"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12297876"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12090641"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1875097"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1653957"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11430000"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1206043"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984903"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769359"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562124"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365803"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182865"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015610"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866142"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736340"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9627837"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541997"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9479900"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442327"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429750"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410700" y="400050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rot="10800000">
            <a:off x="9353550" y="41338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115550" y="2879884"/>
            <a:ext cx="262890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0115550" y="2879884"/>
            <a:ext cx="262890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false: run execute again</a:t>
            </a:r>
          </a:p>
        </p:txBody>
      </p:sp>
      <p:sp>
        <p:nvSpPr>
          <p:cNvPr id="63" name="Rectangle 62"/>
          <p:cNvSpPr/>
          <p:nvPr/>
        </p:nvSpPr>
        <p:spPr>
          <a:xfrm>
            <a:off x="9415462" y="5605462"/>
            <a:ext cx="28575" cy="276225"/>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a:off x="9429750" y="5867400"/>
            <a:ext cx="21920" cy="13224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451670" y="5999641"/>
            <a:ext cx="65485" cy="13057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17155" y="6130219"/>
            <a:ext cx="108226" cy="127274"/>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625381" y="6257493"/>
            <a:ext cx="149606" cy="12236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774987" y="6379860"/>
            <a:ext cx="189105" cy="115923"/>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964092" y="6495783"/>
            <a:ext cx="226226" cy="10802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190318" y="6603804"/>
            <a:ext cx="260502" cy="98760"/>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450820" y="6702564"/>
            <a:ext cx="291501" cy="8825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742321" y="6790821"/>
            <a:ext cx="318835" cy="76645"/>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061156" y="6867466"/>
            <a:ext cx="342160" cy="6406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1403316" y="6931534"/>
            <a:ext cx="361182" cy="5068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1764498" y="6982221"/>
            <a:ext cx="375661" cy="3666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2140159" y="7018887"/>
            <a:ext cx="385416" cy="2218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2525575" y="7041073"/>
            <a:ext cx="390325" cy="742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15900" y="7041073"/>
            <a:ext cx="390325" cy="742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306225" y="7018887"/>
            <a:ext cx="385416" cy="2218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691641" y="6982221"/>
            <a:ext cx="375661" cy="3666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067302" y="6931534"/>
            <a:ext cx="361182" cy="5068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4428484" y="6867466"/>
            <a:ext cx="342160" cy="6406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4770644" y="6790821"/>
            <a:ext cx="318835" cy="76645"/>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5089479" y="6702564"/>
            <a:ext cx="291501" cy="8825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5380980" y="6603804"/>
            <a:ext cx="260502" cy="98760"/>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5641482" y="6495783"/>
            <a:ext cx="226226" cy="10802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5867708" y="6379860"/>
            <a:ext cx="189105" cy="115923"/>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6056813" y="6257493"/>
            <a:ext cx="149606" cy="12236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6206419" y="6130219"/>
            <a:ext cx="108226" cy="127274"/>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6314645" y="5999641"/>
            <a:ext cx="65485" cy="13057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6380130" y="5867400"/>
            <a:ext cx="21920" cy="13224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6387762" y="5742622"/>
            <a:ext cx="28575" cy="158115"/>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Isosceles Triangle 92"/>
          <p:cNvSpPr/>
          <p:nvPr/>
        </p:nvSpPr>
        <p:spPr>
          <a:xfrm>
            <a:off x="16325850" y="5619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1451431" y="6880384"/>
            <a:ext cx="29289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1451431" y="6880384"/>
            <a:ext cx="2928938" cy="336232"/>
          </a:xfrm>
          <a:prstGeom prst="rect">
            <a:avLst/>
          </a:prstGeom>
          <a:noFill/>
        </p:spPr>
        <p:txBody>
          <a:bodyPr wrap="square" lIns="0" rIns="0" tIns="0" bIns="0" anchor="ctr">
            <a:spAutoFit/>
          </a:bodyPr>
          <a:lstStyle/>
          <a:p>
            <a:pPr algn="ctr"/>
            <a:r>
              <a:rPr sz="1575" b="0" i="0">
                <a:solidFill>
                  <a:srgbClr val="E05540"/>
                </a:solidFill>
                <a:latin typeface="Geist"/>
                <a:ea typeface="Geist"/>
                <a:cs typeface="Geist"/>
              </a:rPr>
              <a:t>interrupted (button let go)</a:t>
            </a:r>
          </a:p>
        </p:txBody>
      </p:sp>
      <p:sp>
        <p:nvSpPr>
          <p:cNvPr id="96" name="Rounded Rectangle 95"/>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list-ol.png"/>
          <p:cNvPicPr>
            <a:picLocks noChangeAspect="1"/>
          </p:cNvPicPr>
          <p:nvPr/>
        </p:nvPicPr>
        <p:blipFill>
          <a:blip r:embed="rId3"/>
          <a:stretch>
            <a:fillRect/>
          </a:stretch>
        </p:blipFill>
        <p:spPr>
          <a:xfrm>
            <a:off x="1333500" y="8353425"/>
            <a:ext cx="694660" cy="533400"/>
          </a:xfrm>
          <a:prstGeom prst="rect">
            <a:avLst/>
          </a:prstGeom>
        </p:spPr>
      </p:pic>
      <p:sp>
        <p:nvSpPr>
          <p:cNvPr id="98" name="TextBox 97"/>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scheduler  </a:t>
            </a:r>
            <a:r>
              <a:rPr sz="2100" b="0" i="0">
                <a:solidFill>
                  <a:srgbClr val="F0E8E8"/>
                </a:solidFill>
                <a:latin typeface="Geist"/>
                <a:ea typeface="Geist"/>
                <a:cs typeface="Geist"/>
              </a:rPr>
              <a:t>runs every active command every 20 ms. Robot.java calls it from robotPeriodic().</a:t>
            </a:r>
          </a:p>
        </p:txBody>
      </p:sp>
      <p:sp>
        <p:nvSpPr>
          <p:cNvPr id="99" name="TextBox 9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0" name="TextBox 9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Lambdas: code to run later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429000"/>
            <a:ext cx="15925800" cy="518160"/>
          </a:xfrm>
          <a:prstGeom prst="rect">
            <a:avLst/>
          </a:prstGeom>
          <a:noFill/>
        </p:spPr>
        <p:txBody>
          <a:bodyPr wrap="square" lIns="0" rIns="0" tIns="0" bIns="0" anchor="ctr">
            <a:spAutoFit/>
          </a:bodyPr>
          <a:lstStyle/>
          <a:p>
            <a:pPr algn="l"/>
            <a:r>
              <a:rPr sz="2550" b="0" i="0">
                <a:solidFill>
                  <a:srgbClr val="F0E8E8"/>
                </a:solidFill>
                <a:latin typeface="Geist Mono"/>
                <a:ea typeface="Geist Mono"/>
                <a:cs typeface="Geist Mono"/>
              </a:rPr>
              <a:t>() -&gt; robot.setWantedState(RobotStates.SHOOT)</a:t>
            </a:r>
          </a:p>
        </p:txBody>
      </p:sp>
      <p:sp>
        <p:nvSpPr>
          <p:cNvPr id="7" name="Rectangle 6"/>
          <p:cNvSpPr/>
          <p:nvPr/>
        </p:nvSpPr>
        <p:spPr>
          <a:xfrm>
            <a:off x="128111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inputs</a:t>
            </a:r>
          </a:p>
        </p:txBody>
      </p:sp>
      <p:sp>
        <p:nvSpPr>
          <p:cNvPr id="9" name="Rectangle 8"/>
          <p:cNvSpPr/>
          <p:nvPr/>
        </p:nvSpPr>
        <p:spPr>
          <a:xfrm>
            <a:off x="186404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63115" y="4505325"/>
            <a:ext cx="19050"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3890" y="49149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arrow</a:t>
            </a:r>
          </a:p>
        </p:txBody>
      </p:sp>
      <p:sp>
        <p:nvSpPr>
          <p:cNvPr id="12" name="Rectangle 11"/>
          <p:cNvSpPr/>
          <p:nvPr/>
        </p:nvSpPr>
        <p:spPr>
          <a:xfrm>
            <a:off x="2446972" y="4462462"/>
            <a:ext cx="7995285"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15865"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what to do, later</a:t>
            </a:r>
          </a:p>
        </p:txBody>
      </p:sp>
      <p:sp>
        <p:nvSpPr>
          <p:cNvPr id="14" name="Rounded Rectangle 13"/>
          <p:cNvSpPr/>
          <p:nvPr/>
        </p:nvSpPr>
        <p:spPr>
          <a:xfrm>
            <a:off x="914400" y="5524500"/>
            <a:ext cx="164592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573405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Runs now</a:t>
            </a:r>
          </a:p>
        </p:txBody>
      </p:sp>
      <p:sp>
        <p:nvSpPr>
          <p:cNvPr id="16" name="TextBox 15"/>
          <p:cNvSpPr txBox="1"/>
          <p:nvPr/>
        </p:nvSpPr>
        <p:spPr>
          <a:xfrm>
            <a:off x="1295400" y="630555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robot.setWantedState(RobotStates.SHOOT);</a:t>
            </a:r>
          </a:p>
        </p:txBody>
      </p:sp>
      <p:sp>
        <p:nvSpPr>
          <p:cNvPr id="17" name="TextBox 16"/>
          <p:cNvSpPr txBox="1"/>
          <p:nvPr/>
        </p:nvSpPr>
        <p:spPr>
          <a:xfrm>
            <a:off x="11906250" y="552450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The state changes this instant.</a:t>
            </a:r>
          </a:p>
        </p:txBody>
      </p:sp>
      <p:sp>
        <p:nvSpPr>
          <p:cNvPr id="18" name="Rounded Rectangle 17"/>
          <p:cNvSpPr/>
          <p:nvPr/>
        </p:nvSpPr>
        <p:spPr>
          <a:xfrm>
            <a:off x="914400" y="7143750"/>
            <a:ext cx="16459200" cy="1428750"/>
          </a:xfrm>
          <a:prstGeom prst="roundRect">
            <a:avLst>
              <a:gd name="adj" fmla="val 10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7353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note for later</a:t>
            </a:r>
          </a:p>
        </p:txBody>
      </p:sp>
      <p:sp>
        <p:nvSpPr>
          <p:cNvPr id="20" name="TextBox 19"/>
          <p:cNvSpPr txBox="1"/>
          <p:nvPr/>
        </p:nvSpPr>
        <p:spPr>
          <a:xfrm>
            <a:off x="1295400" y="792480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 -&gt; robot.setWantedState(RobotStates.SHOOT)</a:t>
            </a:r>
          </a:p>
        </p:txBody>
      </p:sp>
      <p:sp>
        <p:nvSpPr>
          <p:cNvPr id="21" name="TextBox 20"/>
          <p:cNvSpPr txBox="1"/>
          <p:nvPr/>
        </p:nvSpPr>
        <p:spPr>
          <a:xfrm>
            <a:off x="11906250" y="714375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Nothing happens until someone runs it.</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ready-made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19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Commands.runOnce</a:t>
            </a:r>
          </a:p>
        </p:txBody>
      </p:sp>
      <p:sp>
        <p:nvSpPr>
          <p:cNvPr id="7" name="Rounded Rectangle 6"/>
          <p:cNvSpPr/>
          <p:nvPr/>
        </p:nvSpPr>
        <p:spPr>
          <a:xfrm>
            <a:off x="1485900" y="38481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85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9" name="Rectangle 8"/>
          <p:cNvSpPr/>
          <p:nvPr/>
        </p:nvSpPr>
        <p:spPr>
          <a:xfrm>
            <a:off x="3541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0800000">
            <a:off x="3479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85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85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13" name="Rectangle 12"/>
          <p:cNvSpPr/>
          <p:nvPr/>
        </p:nvSpPr>
        <p:spPr>
          <a:xfrm>
            <a:off x="3541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10800000">
            <a:off x="3479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85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85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17" name="TextBox 16"/>
          <p:cNvSpPr txBox="1"/>
          <p:nvPr/>
        </p:nvSpPr>
        <p:spPr>
          <a:xfrm>
            <a:off x="1219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then finishes.</a:t>
            </a:r>
          </a:p>
        </p:txBody>
      </p:sp>
      <p:sp>
        <p:nvSpPr>
          <p:cNvPr id="18" name="TextBox 17"/>
          <p:cNvSpPr txBox="1"/>
          <p:nvPr/>
        </p:nvSpPr>
        <p:spPr>
          <a:xfrm>
            <a:off x="1219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bell.ring()</a:t>
            </a:r>
          </a:p>
        </p:txBody>
      </p:sp>
      <p:sp>
        <p:nvSpPr>
          <p:cNvPr id="19" name="Rounded Rectangle 18"/>
          <p:cNvSpPr/>
          <p:nvPr/>
        </p:nvSpPr>
        <p:spPr>
          <a:xfrm>
            <a:off x="6502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07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a:t>
            </a:r>
          </a:p>
        </p:txBody>
      </p:sp>
      <p:sp>
        <p:nvSpPr>
          <p:cNvPr id="21" name="Rounded Rectangle 20"/>
          <p:cNvSpPr/>
          <p:nvPr/>
        </p:nvSpPr>
        <p:spPr>
          <a:xfrm>
            <a:off x="7073900" y="38481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73900" y="38481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initialize()</a:t>
            </a:r>
          </a:p>
        </p:txBody>
      </p:sp>
      <p:sp>
        <p:nvSpPr>
          <p:cNvPr id="23" name="Rectangle 22"/>
          <p:cNvSpPr/>
          <p:nvPr/>
        </p:nvSpPr>
        <p:spPr>
          <a:xfrm>
            <a:off x="9129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9067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73900" y="48387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73900" y="48387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execute()</a:t>
            </a:r>
          </a:p>
        </p:txBody>
      </p:sp>
      <p:sp>
        <p:nvSpPr>
          <p:cNvPr id="27" name="Rectangle 26"/>
          <p:cNvSpPr/>
          <p:nvPr/>
        </p:nvSpPr>
        <p:spPr>
          <a:xfrm>
            <a:off x="9129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10800000">
            <a:off x="9067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73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73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31" name="TextBox 30"/>
          <p:cNvSpPr txBox="1"/>
          <p:nvPr/>
        </p:nvSpPr>
        <p:spPr>
          <a:xfrm>
            <a:off x="6807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loop until interrupted.</a:t>
            </a:r>
          </a:p>
        </p:txBody>
      </p:sp>
      <p:sp>
        <p:nvSpPr>
          <p:cNvPr id="32" name="TextBox 31"/>
          <p:cNvSpPr txBox="1"/>
          <p:nvPr/>
        </p:nvSpPr>
        <p:spPr>
          <a:xfrm>
            <a:off x="6807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fan.spin()</a:t>
            </a:r>
          </a:p>
        </p:txBody>
      </p:sp>
      <p:sp>
        <p:nvSpPr>
          <p:cNvPr id="33" name="Rounded Rectangle 32"/>
          <p:cNvSpPr/>
          <p:nvPr/>
        </p:nvSpPr>
        <p:spPr>
          <a:xfrm>
            <a:off x="12090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95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Commands.startEnd</a:t>
            </a:r>
          </a:p>
        </p:txBody>
      </p:sp>
      <p:sp>
        <p:nvSpPr>
          <p:cNvPr id="35" name="Rounded Rectangle 34"/>
          <p:cNvSpPr/>
          <p:nvPr/>
        </p:nvSpPr>
        <p:spPr>
          <a:xfrm>
            <a:off x="12661900" y="38481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661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37" name="Rectangle 36"/>
          <p:cNvSpPr/>
          <p:nvPr/>
        </p:nvSpPr>
        <p:spPr>
          <a:xfrm>
            <a:off x="14717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4655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661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661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41" name="Rectangle 40"/>
          <p:cNvSpPr/>
          <p:nvPr/>
        </p:nvSpPr>
        <p:spPr>
          <a:xfrm>
            <a:off x="14717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10800000">
            <a:off x="14655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661900" y="58293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661900" y="58293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end()</a:t>
            </a:r>
          </a:p>
        </p:txBody>
      </p:sp>
      <p:sp>
        <p:nvSpPr>
          <p:cNvPr id="45" name="TextBox 44"/>
          <p:cNvSpPr txBox="1"/>
          <p:nvPr/>
        </p:nvSpPr>
        <p:spPr>
          <a:xfrm>
            <a:off x="12395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lambda at the start, one at the end.</a:t>
            </a:r>
          </a:p>
        </p:txBody>
      </p:sp>
      <p:sp>
        <p:nvSpPr>
          <p:cNvPr id="46" name="TextBox 45"/>
          <p:cNvSpPr txBox="1"/>
          <p:nvPr/>
        </p:nvSpPr>
        <p:spPr>
          <a:xfrm>
            <a:off x="12395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on(), () -&gt; off()</a:t>
            </a:r>
          </a:p>
        </p:txBody>
      </p:sp>
      <p:sp>
        <p:nvSpPr>
          <p:cNvPr id="47" name="TextBox 46"/>
          <p:cNvSpPr txBox="1"/>
          <p:nvPr/>
        </p:nvSpPr>
        <p:spPr>
          <a:xfrm>
            <a:off x="914400" y="8763000"/>
            <a:ext cx="164592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Red: where your lambda runs. Dashed: nothing to do there.</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bind the buttons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620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  ·  configureBindings()</a:t>
            </a:r>
          </a:p>
        </p:txBody>
      </p:sp>
      <p:sp>
        <p:nvSpPr>
          <p:cNvPr id="6" name="Rounded Rectangle 5"/>
          <p:cNvSpPr/>
          <p:nvPr/>
        </p:nvSpPr>
        <p:spPr>
          <a:xfrm>
            <a:off x="914400" y="3143250"/>
            <a:ext cx="11620500" cy="4450080"/>
          </a:xfrm>
          <a:prstGeom prst="roundRect">
            <a:avLst>
              <a:gd name="adj" fmla="val 342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65370"/>
            <a:ext cx="115824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6537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200650"/>
            <a:ext cx="115824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20065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RobotContainer robot = RobotContainer.getInstance();</a:t>
            </a:r>
          </a:p>
        </p:txBody>
      </p:sp>
      <p:sp>
        <p:nvSpPr>
          <p:cNvPr id="12" name="TextBox 11"/>
          <p:cNvSpPr txBox="1"/>
          <p:nvPr/>
        </p:nvSpPr>
        <p:spPr>
          <a:xfrm>
            <a:off x="1295400" y="385953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3" name="TextBox 12"/>
          <p:cNvSpPr txBox="1"/>
          <p:nvPr/>
        </p:nvSpPr>
        <p:spPr>
          <a:xfrm>
            <a:off x="1295400" y="419481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driver_controller_.rightBumper().whileTrue(</a:t>
            </a:r>
          </a:p>
        </p:txBody>
      </p:sp>
      <p:sp>
        <p:nvSpPr>
          <p:cNvPr id="14" name="TextBox 13"/>
          <p:cNvSpPr txBox="1"/>
          <p:nvPr/>
        </p:nvSpPr>
        <p:spPr>
          <a:xfrm>
            <a:off x="1295400" y="453009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Commands.startEnd(</a:t>
            </a:r>
          </a:p>
        </p:txBody>
      </p:sp>
      <p:sp>
        <p:nvSpPr>
          <p:cNvPr id="15" name="TextBox 14"/>
          <p:cNvSpPr txBox="1"/>
          <p:nvPr/>
        </p:nvSpPr>
        <p:spPr>
          <a:xfrm>
            <a:off x="1295400" y="486537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robot.setWantedState(RobotStates.SHOOT),</a:t>
            </a:r>
          </a:p>
        </p:txBody>
      </p:sp>
      <p:sp>
        <p:nvSpPr>
          <p:cNvPr id="16" name="TextBox 15"/>
          <p:cNvSpPr txBox="1"/>
          <p:nvPr/>
        </p:nvSpPr>
        <p:spPr>
          <a:xfrm>
            <a:off x="1295400" y="52006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robot.setWantedState(RobotStates.DRIVE)));</a:t>
            </a:r>
          </a:p>
        </p:txBody>
      </p:sp>
      <p:sp>
        <p:nvSpPr>
          <p:cNvPr id="17" name="TextBox 16"/>
          <p:cNvSpPr txBox="1"/>
          <p:nvPr/>
        </p:nvSpPr>
        <p:spPr>
          <a:xfrm>
            <a:off x="1295400" y="553593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87121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driver_controller_.a().onTrue(</a:t>
            </a:r>
          </a:p>
        </p:txBody>
      </p:sp>
      <p:sp>
        <p:nvSpPr>
          <p:cNvPr id="19" name="TextBox 18"/>
          <p:cNvSpPr txBox="1"/>
          <p:nvPr/>
        </p:nvSpPr>
        <p:spPr>
          <a:xfrm>
            <a:off x="1295400" y="620649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Commands.runOnce(</a:t>
            </a:r>
          </a:p>
        </p:txBody>
      </p:sp>
      <p:sp>
        <p:nvSpPr>
          <p:cNvPr id="20" name="TextBox 19"/>
          <p:cNvSpPr txBox="1"/>
          <p:nvPr/>
        </p:nvSpPr>
        <p:spPr>
          <a:xfrm>
            <a:off x="1295400" y="654177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ShooterSubsystem.getInstance()</a:t>
            </a:r>
          </a:p>
        </p:txBody>
      </p:sp>
      <p:sp>
        <p:nvSpPr>
          <p:cNvPr id="21" name="TextBox 20"/>
          <p:cNvSpPr txBox="1"/>
          <p:nvPr/>
        </p:nvSpPr>
        <p:spPr>
          <a:xfrm>
            <a:off x="1295400" y="68770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.simulateBallLaunch()));</a:t>
            </a:r>
          </a:p>
        </p:txBody>
      </p:sp>
      <p:sp>
        <p:nvSpPr>
          <p:cNvPr id="22" name="Oval 21"/>
          <p:cNvSpPr/>
          <p:nvPr/>
        </p:nvSpPr>
        <p:spPr>
          <a:xfrm>
            <a:off x="11925300" y="3501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25300" y="3501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1925300" y="45072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925300" y="45072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1925300" y="61836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25300" y="61836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2954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954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3563600" y="281940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a:t>
            </a:r>
          </a:p>
        </p:txBody>
      </p:sp>
      <p:sp>
        <p:nvSpPr>
          <p:cNvPr id="31" name="TextBox 30"/>
          <p:cNvSpPr txBox="1"/>
          <p:nvPr/>
        </p:nvSpPr>
        <p:spPr>
          <a:xfrm>
            <a:off x="13563600" y="323850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There's only one: getInstance()</a:t>
            </a:r>
          </a:p>
        </p:txBody>
      </p:sp>
      <p:sp>
        <p:nvSpPr>
          <p:cNvPr id="32" name="Oval 31"/>
          <p:cNvSpPr/>
          <p:nvPr/>
        </p:nvSpPr>
        <p:spPr>
          <a:xfrm>
            <a:off x="1295400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5400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3563600" y="443865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 whileTrue</a:t>
            </a:r>
          </a:p>
        </p:txBody>
      </p:sp>
      <p:sp>
        <p:nvSpPr>
          <p:cNvPr id="35" name="TextBox 34"/>
          <p:cNvSpPr txBox="1"/>
          <p:nvPr/>
        </p:nvSpPr>
        <p:spPr>
          <a:xfrm>
            <a:off x="13563600" y="485775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while held, DRIVE when let go</a:t>
            </a:r>
          </a:p>
        </p:txBody>
      </p:sp>
      <p:sp>
        <p:nvSpPr>
          <p:cNvPr id="36" name="Oval 35"/>
          <p:cNvSpPr/>
          <p:nvPr/>
        </p:nvSpPr>
        <p:spPr>
          <a:xfrm>
            <a:off x="1295400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5400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3563600" y="605790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onTrue</a:t>
            </a:r>
          </a:p>
        </p:txBody>
      </p:sp>
      <p:sp>
        <p:nvSpPr>
          <p:cNvPr id="39" name="TextBox 38"/>
          <p:cNvSpPr txBox="1"/>
          <p:nvPr/>
        </p:nvSpPr>
        <p:spPr>
          <a:xfrm>
            <a:off x="13563600" y="647700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fake launch per press</a:t>
            </a:r>
          </a:p>
        </p:txBody>
      </p:sp>
      <p:sp>
        <p:nvSpPr>
          <p:cNvPr id="40" name="Rounded Rectangle 39"/>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hand-index.png"/>
          <p:cNvPicPr>
            <a:picLocks noChangeAspect="1"/>
          </p:cNvPicPr>
          <p:nvPr/>
        </p:nvPicPr>
        <p:blipFill>
          <a:blip r:embed="rId3"/>
          <a:stretch>
            <a:fillRect/>
          </a:stretch>
        </p:blipFill>
        <p:spPr>
          <a:xfrm>
            <a:off x="1333500" y="8448675"/>
            <a:ext cx="443805" cy="533400"/>
          </a:xfrm>
          <a:prstGeom prst="rect">
            <a:avLst/>
          </a:prstGeom>
        </p:spPr>
      </p:pic>
      <p:sp>
        <p:nvSpPr>
          <p:cNvPr id="42" name="TextBox 41"/>
          <p:cNvSpPr txBox="1"/>
          <p:nvPr/>
        </p:nvSpPr>
        <p:spPr>
          <a:xfrm>
            <a:off x="2190750" y="82867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command files.  </a:t>
            </a:r>
            <a:r>
              <a:rPr sz="2100" b="0" i="0">
                <a:solidFill>
                  <a:srgbClr val="F0E8E8"/>
                </a:solidFill>
                <a:latin typeface="Geist"/>
                <a:ea typeface="Geist"/>
                <a:cs typeface="Geist"/>
              </a:rPr>
              <a:t>The bumper asks the robot for SHOOT. It never touches the shooter's states.</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whileTrue, onTrue, toggleOnTrue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3810000" cy="571500"/>
          </a:xfrm>
          <a:prstGeom prst="rect">
            <a:avLst/>
          </a:prstGeom>
          <a:noFill/>
        </p:spPr>
        <p:txBody>
          <a:bodyPr wrap="square" lIns="0" rIns="0" tIns="0" bIns="0" anchor="ctr">
            <a:spAutoFit/>
          </a:bodyPr>
          <a:lstStyle/>
          <a:p>
            <a:pPr algn="l"/>
            <a:r>
              <a:rPr sz="2250" b="1" i="0">
                <a:solidFill>
                  <a:srgbClr val="9A7878"/>
                </a:solidFill>
                <a:latin typeface="Geist"/>
                <a:ea typeface="Geist"/>
                <a:cs typeface="Geist"/>
              </a:rPr>
              <a:t>Button</a:t>
            </a:r>
          </a:p>
        </p:txBody>
      </p:sp>
      <p:sp>
        <p:nvSpPr>
          <p:cNvPr id="6" name="Rectangle 5"/>
          <p:cNvSpPr/>
          <p:nvPr/>
        </p:nvSpPr>
        <p:spPr>
          <a:xfrm>
            <a:off x="4943475" y="37052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929188" y="3633788"/>
            <a:ext cx="12668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48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148388" y="3176588"/>
            <a:ext cx="37052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8059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805988" y="3633788"/>
            <a:ext cx="24860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2244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2244388" y="3176588"/>
            <a:ext cx="30956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5292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5292388" y="3633788"/>
            <a:ext cx="18764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857500"/>
            <a:ext cx="3657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7" name="TextBox 16"/>
          <p:cNvSpPr txBox="1"/>
          <p:nvPr/>
        </p:nvSpPr>
        <p:spPr>
          <a:xfrm>
            <a:off x="12268200" y="2857500"/>
            <a:ext cx="3048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8" name="TextBox 17"/>
          <p:cNvSpPr txBox="1"/>
          <p:nvPr/>
        </p:nvSpPr>
        <p:spPr>
          <a:xfrm>
            <a:off x="914400" y="45720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whileTrue</a:t>
            </a:r>
          </a:p>
        </p:txBody>
      </p:sp>
      <p:sp>
        <p:nvSpPr>
          <p:cNvPr id="19" name="Rectangle 18"/>
          <p:cNvSpPr/>
          <p:nvPr/>
        </p:nvSpPr>
        <p:spPr>
          <a:xfrm>
            <a:off x="4943475" y="51339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172200" y="4667250"/>
            <a:ext cx="36576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2268200" y="4667250"/>
            <a:ext cx="30480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62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258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4400" y="600075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onTrue</a:t>
            </a:r>
          </a:p>
        </p:txBody>
      </p:sp>
      <p:sp>
        <p:nvSpPr>
          <p:cNvPr id="25" name="Rectangle 24"/>
          <p:cNvSpPr/>
          <p:nvPr/>
        </p:nvSpPr>
        <p:spPr>
          <a:xfrm>
            <a:off x="4943475" y="65627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2200" y="6096000"/>
            <a:ext cx="146304" cy="419100"/>
          </a:xfrm>
          <a:prstGeom prst="roundRect">
            <a:avLst>
              <a:gd name="adj" fmla="val 39062"/>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2268200" y="6096000"/>
            <a:ext cx="146304" cy="419100"/>
          </a:xfrm>
          <a:prstGeom prst="roundRect">
            <a:avLst>
              <a:gd name="adj" fmla="val 39062"/>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62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2258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4400" y="74295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toggleOnTrue</a:t>
            </a:r>
          </a:p>
        </p:txBody>
      </p:sp>
      <p:sp>
        <p:nvSpPr>
          <p:cNvPr id="31" name="Rectangle 30"/>
          <p:cNvSpPr/>
          <p:nvPr/>
        </p:nvSpPr>
        <p:spPr>
          <a:xfrm>
            <a:off x="4943475" y="79914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172200" y="7524750"/>
            <a:ext cx="60960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162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58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72200" y="52387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SHOOT while held, DRIVE when let go</a:t>
            </a:r>
          </a:p>
        </p:txBody>
      </p:sp>
      <p:sp>
        <p:nvSpPr>
          <p:cNvPr id="36" name="TextBox 35"/>
          <p:cNvSpPr txBox="1"/>
          <p:nvPr/>
        </p:nvSpPr>
        <p:spPr>
          <a:xfrm>
            <a:off x="6172200" y="6667500"/>
            <a:ext cx="666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the launch: starts once per press</a:t>
            </a:r>
          </a:p>
        </p:txBody>
      </p:sp>
      <p:sp>
        <p:nvSpPr>
          <p:cNvPr id="37" name="TextBox 36"/>
          <p:cNvSpPr txBox="1"/>
          <p:nvPr/>
        </p:nvSpPr>
        <p:spPr>
          <a:xfrm>
            <a:off x="6172200" y="8096250"/>
            <a:ext cx="762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press to start, press again to stop</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press, start to finish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1049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Hold RB</a:t>
            </a:r>
          </a:p>
        </p:txBody>
      </p:sp>
      <p:sp>
        <p:nvSpPr>
          <p:cNvPr id="9" name="TextBox 8"/>
          <p:cNvSpPr txBox="1"/>
          <p:nvPr/>
        </p:nvSpPr>
        <p:spPr>
          <a:xfrm>
            <a:off x="11049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Driver presses the right bumper</a:t>
            </a:r>
          </a:p>
        </p:txBody>
      </p:sp>
      <p:sp>
        <p:nvSpPr>
          <p:cNvPr id="10" name="Rectangle 9"/>
          <p:cNvSpPr/>
          <p:nvPr/>
        </p:nvSpPr>
        <p:spPr>
          <a:xfrm>
            <a:off x="38481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0957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053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339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39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44958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Robot: SHOOT</a:t>
            </a:r>
          </a:p>
        </p:txBody>
      </p:sp>
      <p:sp>
        <p:nvSpPr>
          <p:cNvPr id="16" name="TextBox 15"/>
          <p:cNvSpPr txBox="1"/>
          <p:nvPr/>
        </p:nvSpPr>
        <p:spPr>
          <a:xfrm>
            <a:off x="44958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Asks the shooter for SHOOT</a:t>
            </a:r>
          </a:p>
        </p:txBody>
      </p:sp>
      <p:sp>
        <p:nvSpPr>
          <p:cNvPr id="17" name="Rectangle 16"/>
          <p:cNvSpPr/>
          <p:nvPr/>
        </p:nvSpPr>
        <p:spPr>
          <a:xfrm>
            <a:off x="72390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74866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962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248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8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78867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SPIN_UP</a:t>
            </a:r>
          </a:p>
        </p:txBody>
      </p:sp>
      <p:sp>
        <p:nvSpPr>
          <p:cNvPr id="23" name="TextBox 22"/>
          <p:cNvSpPr txBox="1"/>
          <p:nvPr/>
        </p:nvSpPr>
        <p:spPr>
          <a:xfrm>
            <a:off x="78867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Shooter rules: IDLE steps up</a:t>
            </a:r>
          </a:p>
        </p:txBody>
      </p:sp>
      <p:sp>
        <p:nvSpPr>
          <p:cNvPr id="24" name="Rectangle 23"/>
          <p:cNvSpPr/>
          <p:nvPr/>
        </p:nvSpPr>
        <p:spPr>
          <a:xfrm>
            <a:off x="106299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08775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087100" y="3429000"/>
            <a:ext cx="2895600" cy="2476500"/>
          </a:xfrm>
          <a:prstGeom prst="roundRect">
            <a:avLst>
              <a:gd name="adj" fmla="val 6153"/>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3157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3157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12776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SHOOT</a:t>
            </a:r>
          </a:p>
        </p:txBody>
      </p:sp>
      <p:sp>
        <p:nvSpPr>
          <p:cNvPr id="30" name="TextBox 29"/>
          <p:cNvSpPr txBox="1"/>
          <p:nvPr/>
        </p:nvSpPr>
        <p:spPr>
          <a:xfrm>
            <a:off x="112776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isAtSpeed(): roller feeds</a:t>
            </a:r>
          </a:p>
        </p:txBody>
      </p:sp>
      <p:sp>
        <p:nvSpPr>
          <p:cNvPr id="31" name="Rectangle 30"/>
          <p:cNvSpPr/>
          <p:nvPr/>
        </p:nvSpPr>
        <p:spPr>
          <a:xfrm>
            <a:off x="140208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142684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44780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47066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7066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6" name="TextBox 35"/>
          <p:cNvSpPr txBox="1"/>
          <p:nvPr/>
        </p:nvSpPr>
        <p:spPr>
          <a:xfrm>
            <a:off x="146685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Let go</a:t>
            </a:r>
          </a:p>
        </p:txBody>
      </p:sp>
      <p:sp>
        <p:nvSpPr>
          <p:cNvPr id="37" name="TextBox 36"/>
          <p:cNvSpPr txBox="1"/>
          <p:nvPr/>
        </p:nvSpPr>
        <p:spPr>
          <a:xfrm>
            <a:off x="146685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Robot: DRIVE, shooter: IDLE</a:t>
            </a:r>
          </a:p>
        </p:txBody>
      </p:sp>
      <p:sp>
        <p:nvSpPr>
          <p:cNvPr id="38" name="Rectangle 37"/>
          <p:cNvSpPr/>
          <p:nvPr/>
        </p:nvSpPr>
        <p:spPr>
          <a:xfrm>
            <a:off x="9906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Driver</a:t>
            </a:r>
          </a:p>
        </p:txBody>
      </p:sp>
      <p:sp>
        <p:nvSpPr>
          <p:cNvPr id="40" name="Rectangle 39"/>
          <p:cNvSpPr/>
          <p:nvPr/>
        </p:nvSpPr>
        <p:spPr>
          <a:xfrm>
            <a:off x="43815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3053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2" name="Rectangle 41"/>
          <p:cNvSpPr/>
          <p:nvPr/>
        </p:nvSpPr>
        <p:spPr>
          <a:xfrm>
            <a:off x="7772400" y="6267450"/>
            <a:ext cx="613410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696200" y="6438900"/>
            <a:ext cx="62865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State machine</a:t>
            </a:r>
          </a:p>
        </p:txBody>
      </p:sp>
      <p:sp>
        <p:nvSpPr>
          <p:cNvPr id="44" name="Rectangle 43"/>
          <p:cNvSpPr/>
          <p:nvPr/>
        </p:nvSpPr>
        <p:spPr>
          <a:xfrm>
            <a:off x="145542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44780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Command ends</a:t>
            </a:r>
          </a:p>
        </p:txBody>
      </p:sp>
      <p:sp>
        <p:nvSpPr>
          <p:cNvPr id="46" name="Rounded Rectangle 45"/>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iagram-2.png"/>
          <p:cNvPicPr>
            <a:picLocks noChangeAspect="1"/>
          </p:cNvPicPr>
          <p:nvPr/>
        </p:nvPicPr>
        <p:blipFill>
          <a:blip r:embed="rId3"/>
          <a:stretch>
            <a:fillRect/>
          </a:stretch>
        </p:blipFill>
        <p:spPr>
          <a:xfrm>
            <a:off x="1333500" y="7829550"/>
            <a:ext cx="444500" cy="533400"/>
          </a:xfrm>
          <a:prstGeom prst="rect">
            <a:avLst/>
          </a:prstGeom>
        </p:spPr>
      </p:pic>
      <p:sp>
        <p:nvSpPr>
          <p:cNvPr id="48" name="TextBox 47"/>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Only the state machine  </a:t>
            </a:r>
            <a:r>
              <a:rPr sz="2100" b="0" i="0">
                <a:solidFill>
                  <a:srgbClr val="F0E8E8"/>
                </a:solidFill>
                <a:latin typeface="Geist"/>
                <a:ea typeface="Geist"/>
                <a:cs typeface="Geist"/>
              </a:rPr>
              <a:t>ever sets a motor. Buttons ask the robot; the robot asks the subsystems.</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Try it and watch the states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00400"/>
            <a:ext cx="5905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 SCRIPTUM: KEYBOARD</a:t>
            </a:r>
          </a:p>
        </p:txBody>
      </p:sp>
      <p:sp>
        <p:nvSpPr>
          <p:cNvPr id="7" name="Rounded Rectangle 6"/>
          <p:cNvSpPr/>
          <p:nvPr/>
        </p:nvSpPr>
        <p:spPr>
          <a:xfrm>
            <a:off x="1295400" y="381000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81000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U</a:t>
            </a:r>
          </a:p>
        </p:txBody>
      </p:sp>
      <p:sp>
        <p:nvSpPr>
          <p:cNvPr id="9" name="TextBox 8"/>
          <p:cNvSpPr txBox="1"/>
          <p:nvPr/>
        </p:nvSpPr>
        <p:spPr>
          <a:xfrm>
            <a:off x="2914650" y="396240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Right bumper</a:t>
            </a:r>
          </a:p>
        </p:txBody>
      </p:sp>
      <p:sp>
        <p:nvSpPr>
          <p:cNvPr id="10" name="TextBox 9"/>
          <p:cNvSpPr txBox="1"/>
          <p:nvPr/>
        </p:nvSpPr>
        <p:spPr>
          <a:xfrm>
            <a:off x="2914650" y="44386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shoot</a:t>
            </a:r>
          </a:p>
        </p:txBody>
      </p:sp>
      <p:sp>
        <p:nvSpPr>
          <p:cNvPr id="11" name="Rounded Rectangle 10"/>
          <p:cNvSpPr/>
          <p:nvPr/>
        </p:nvSpPr>
        <p:spPr>
          <a:xfrm>
            <a:off x="1295400" y="542925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542925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K</a:t>
            </a:r>
          </a:p>
        </p:txBody>
      </p:sp>
      <p:sp>
        <p:nvSpPr>
          <p:cNvPr id="13" name="TextBox 12"/>
          <p:cNvSpPr txBox="1"/>
          <p:nvPr/>
        </p:nvSpPr>
        <p:spPr>
          <a:xfrm>
            <a:off x="2914650" y="558165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 button</a:t>
            </a:r>
          </a:p>
        </p:txBody>
      </p:sp>
      <p:sp>
        <p:nvSpPr>
          <p:cNvPr id="14" name="TextBox 13"/>
          <p:cNvSpPr txBox="1"/>
          <p:nvPr/>
        </p:nvSpPr>
        <p:spPr>
          <a:xfrm>
            <a:off x="2914650" y="605790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fake launch</a:t>
            </a:r>
          </a:p>
        </p:txBody>
      </p:sp>
      <p:sp>
        <p:nvSpPr>
          <p:cNvPr id="15" name="TextBox 14"/>
          <p:cNvSpPr txBox="1"/>
          <p:nvPr/>
        </p:nvSpPr>
        <p:spPr>
          <a:xfrm>
            <a:off x="1295400" y="7239000"/>
            <a:ext cx="59055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 the real robot: an Xbox controller.</a:t>
            </a:r>
          </a:p>
        </p:txBody>
      </p:sp>
      <p:sp>
        <p:nvSpPr>
          <p:cNvPr id="16" name="Rounded Rectangle 15"/>
          <p:cNvSpPr/>
          <p:nvPr/>
        </p:nvSpPr>
        <p:spPr>
          <a:xfrm>
            <a:off x="8001000" y="2857500"/>
            <a:ext cx="9372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82000" y="3200400"/>
            <a:ext cx="857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 ADVANTAGESCOPE</a:t>
            </a:r>
          </a:p>
        </p:txBody>
      </p:sp>
      <p:sp>
        <p:nvSpPr>
          <p:cNvPr id="18" name="TextBox 17"/>
          <p:cNvSpPr txBox="1"/>
          <p:nvPr/>
        </p:nvSpPr>
        <p:spPr>
          <a:xfrm>
            <a:off x="8382000" y="361950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Subsystem/Shooter/State</a:t>
            </a:r>
          </a:p>
        </p:txBody>
      </p:sp>
      <p:sp>
        <p:nvSpPr>
          <p:cNvPr id="19" name="Rectangle 18"/>
          <p:cNvSpPr/>
          <p:nvPr/>
        </p:nvSpPr>
        <p:spPr>
          <a:xfrm>
            <a:off x="8382000"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82000"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1" name="Rectangle 20"/>
          <p:cNvSpPr/>
          <p:nvPr/>
        </p:nvSpPr>
        <p:spPr>
          <a:xfrm>
            <a:off x="9415272" y="4095750"/>
            <a:ext cx="1894332"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15272" y="4095750"/>
            <a:ext cx="189433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 name="Rectangle 22"/>
          <p:cNvSpPr/>
          <p:nvPr/>
        </p:nvSpPr>
        <p:spPr>
          <a:xfrm>
            <a:off x="11309604" y="4095750"/>
            <a:ext cx="1894332" cy="60960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09604" y="4095750"/>
            <a:ext cx="1894332"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5" name="Rectangle 24"/>
          <p:cNvSpPr/>
          <p:nvPr/>
        </p:nvSpPr>
        <p:spPr>
          <a:xfrm>
            <a:off x="13203936" y="4095750"/>
            <a:ext cx="1205484"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203936" y="4095750"/>
            <a:ext cx="1205484"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7" name="Rectangle 26"/>
          <p:cNvSpPr/>
          <p:nvPr/>
        </p:nvSpPr>
        <p:spPr>
          <a:xfrm>
            <a:off x="14409420" y="4095750"/>
            <a:ext cx="1549908" cy="60960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4409420" y="4095750"/>
            <a:ext cx="1549908"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9" name="Rectangle 28"/>
          <p:cNvSpPr/>
          <p:nvPr/>
        </p:nvSpPr>
        <p:spPr>
          <a:xfrm>
            <a:off x="15959328"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5959328"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31" name="TextBox 30"/>
          <p:cNvSpPr txBox="1"/>
          <p:nvPr/>
        </p:nvSpPr>
        <p:spPr>
          <a:xfrm>
            <a:off x="8462772"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hold U</a:t>
            </a:r>
          </a:p>
        </p:txBody>
      </p:sp>
      <p:sp>
        <p:nvSpPr>
          <p:cNvPr id="32" name="TextBox 31"/>
          <p:cNvSpPr txBox="1"/>
          <p:nvPr/>
        </p:nvSpPr>
        <p:spPr>
          <a:xfrm>
            <a:off x="12251436"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tap K</a:t>
            </a:r>
          </a:p>
        </p:txBody>
      </p:sp>
      <p:sp>
        <p:nvSpPr>
          <p:cNvPr id="33" name="TextBox 32"/>
          <p:cNvSpPr txBox="1"/>
          <p:nvPr/>
        </p:nvSpPr>
        <p:spPr>
          <a:xfrm>
            <a:off x="8382000" y="542925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Subsystem/Shooter/ShotCount</a:t>
            </a:r>
          </a:p>
        </p:txBody>
      </p:sp>
      <p:sp>
        <p:nvSpPr>
          <p:cNvPr id="34" name="Rectangle 33"/>
          <p:cNvSpPr/>
          <p:nvPr/>
        </p:nvSpPr>
        <p:spPr>
          <a:xfrm>
            <a:off x="8382000" y="5905500"/>
            <a:ext cx="2927604"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82000" y="5905500"/>
            <a:ext cx="2927604"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0</a:t>
            </a:r>
          </a:p>
        </p:txBody>
      </p:sp>
      <p:sp>
        <p:nvSpPr>
          <p:cNvPr id="36" name="Rectangle 35"/>
          <p:cNvSpPr/>
          <p:nvPr/>
        </p:nvSpPr>
        <p:spPr>
          <a:xfrm>
            <a:off x="11309604" y="5905500"/>
            <a:ext cx="3099816"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309604" y="5905500"/>
            <a:ext cx="3099816"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1</a:t>
            </a:r>
          </a:p>
        </p:txBody>
      </p:sp>
      <p:sp>
        <p:nvSpPr>
          <p:cNvPr id="38" name="Rectangle 37"/>
          <p:cNvSpPr/>
          <p:nvPr/>
        </p:nvSpPr>
        <p:spPr>
          <a:xfrm>
            <a:off x="14409420" y="5905500"/>
            <a:ext cx="2583180"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4409420" y="5905500"/>
            <a:ext cx="2583180"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2</a:t>
            </a:r>
          </a:p>
        </p:txBody>
      </p:sp>
      <p:sp>
        <p:nvSpPr>
          <p:cNvPr id="40" name="TextBox 39"/>
          <p:cNvSpPr txBox="1"/>
          <p:nvPr/>
        </p:nvSpPr>
        <p:spPr>
          <a:xfrm>
            <a:off x="8382000" y="6858000"/>
            <a:ext cx="8572500" cy="1143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Goal: SPIN_UP before every SHOOT, and a shot count of 2 after one tap.</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 Machines</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the shooter's transition rules and switch, then RobotContainer's switch, and bind the buttons.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3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 states</a:t>
            </a:r>
          </a:p>
        </p:txBody>
      </p:sp>
      <p:sp>
        <p:nvSpPr>
          <p:cNvPr id="9" name="TextBox 8"/>
          <p:cNvSpPr txBox="1"/>
          <p:nvPr/>
        </p:nvSpPr>
        <p:spPr>
          <a:xfrm>
            <a:off x="2038350" y="4972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RobotContainer asks both subsystems; RB asks for SHOOT</a:t>
            </a:r>
          </a:p>
        </p:txBody>
      </p:sp>
      <p:pic>
        <p:nvPicPr>
          <p:cNvPr id="10" name="Picture 9" descr="check-circle-fill.png"/>
          <p:cNvPicPr>
            <a:picLocks noChangeAspect="1"/>
          </p:cNvPicPr>
          <p:nvPr/>
        </p:nvPicPr>
        <p:blipFill>
          <a:blip r:embed="rId3"/>
          <a:stretch>
            <a:fillRect/>
          </a:stretch>
        </p:blipFill>
        <p:spPr>
          <a:xfrm>
            <a:off x="1524000" y="5543550"/>
            <a:ext cx="323850" cy="323850"/>
          </a:xfrm>
          <a:prstGeom prst="rect">
            <a:avLst/>
          </a:prstGeom>
        </p:spPr>
      </p:pic>
      <p:sp>
        <p:nvSpPr>
          <p:cNvPr id="11" name="TextBox 10"/>
          <p:cNvSpPr txBox="1"/>
          <p:nvPr/>
        </p:nvSpPr>
        <p:spPr>
          <a:xfrm>
            <a:off x="2038350" y="54864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 before shooting</a:t>
            </a:r>
          </a:p>
        </p:txBody>
      </p:sp>
      <p:sp>
        <p:nvSpPr>
          <p:cNvPr id="12" name="TextBox 11"/>
          <p:cNvSpPr txBox="1"/>
          <p:nvPr/>
        </p:nvSpPr>
        <p:spPr>
          <a:xfrm>
            <a:off x="2038350" y="59245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RB: SPIN_UP comes before SHOOT</a:t>
            </a:r>
          </a:p>
        </p:txBody>
      </p:sp>
      <p:pic>
        <p:nvPicPr>
          <p:cNvPr id="13" name="Picture 12" descr="check-circle-fill.png"/>
          <p:cNvPicPr>
            <a:picLocks noChangeAspect="1"/>
          </p:cNvPicPr>
          <p:nvPr/>
        </p:nvPicPr>
        <p:blipFill>
          <a:blip r:embed="rId3"/>
          <a:stretch>
            <a:fillRect/>
          </a:stretch>
        </p:blipFill>
        <p:spPr>
          <a:xfrm>
            <a:off x="1524000" y="6496050"/>
            <a:ext cx="323850" cy="323850"/>
          </a:xfrm>
          <a:prstGeom prst="rect">
            <a:avLst/>
          </a:prstGeom>
        </p:spPr>
      </p:pic>
      <p:sp>
        <p:nvSpPr>
          <p:cNvPr id="14" name="TextBox 13"/>
          <p:cNvSpPr txBox="1"/>
          <p:nvPr/>
        </p:nvSpPr>
        <p:spPr>
          <a:xfrm>
            <a:off x="2038350" y="6438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Recovers after a launch</a:t>
            </a:r>
          </a:p>
        </p:txBody>
      </p:sp>
      <p:sp>
        <p:nvSpPr>
          <p:cNvPr id="15" name="TextBox 14"/>
          <p:cNvSpPr txBox="1"/>
          <p:nvPr/>
        </p:nvSpPr>
        <p:spPr>
          <a:xfrm>
            <a:off x="2038350" y="6877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A: back to SPIN_UP, then SHOOT, 2 shots</a:t>
            </a:r>
          </a:p>
        </p:txBody>
      </p:sp>
      <p:sp>
        <p:nvSpPr>
          <p:cNvPr id="16" name="TextBox 15"/>
          <p:cNvSpPr txBox="1"/>
          <p:nvPr/>
        </p:nvSpPr>
        <p:spPr>
          <a:xfrm>
            <a:off x="1524000" y="7620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a ReadyToShoot light, a slower close shot on the trigger</a:t>
            </a:r>
          </a:p>
        </p:txBody>
      </p:sp>
      <p:sp>
        <p:nvSpPr>
          <p:cNvPr id="17" name="TextBox 16"/>
          <p:cNvSpPr txBox="1"/>
          <p:nvPr/>
        </p:nvSpPr>
        <p:spPr>
          <a:xfrm>
            <a:off x="1524000" y="80962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State Machines</a:t>
            </a:r>
          </a:p>
        </p:txBody>
      </p:sp>
      <p:pic>
        <p:nvPicPr>
          <p:cNvPr id="18" name="Picture 17" descr="dozer.png"/>
          <p:cNvPicPr>
            <a:picLocks noChangeAspect="1"/>
          </p:cNvPicPr>
          <p:nvPr/>
        </p:nvPicPr>
        <p:blipFill>
          <a:blip r:embed="rId4"/>
          <a:stretch>
            <a:fillRect/>
          </a:stretch>
        </p:blipFill>
        <p:spPr>
          <a:xfrm>
            <a:off x="14287500" y="5905500"/>
            <a:ext cx="2667000" cy="1639254"/>
          </a:xfrm>
          <a:prstGeom prst="rect">
            <a:avLst/>
          </a:prstGeom>
        </p:spPr>
      </p:pic>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Draw a state machine with transitions</a:t>
            </a:r>
          </a:p>
        </p:txBody>
      </p:sp>
      <p:pic>
        <p:nvPicPr>
          <p:cNvPr id="7" name="Picture 6" descr="check-circle-fill.png"/>
          <p:cNvPicPr>
            <a:picLocks noChangeAspect="1"/>
          </p:cNvPicPr>
          <p:nvPr/>
        </p:nvPicPr>
        <p:blipFill>
          <a:blip r:embed="rId3"/>
          <a:stretch>
            <a:fillRect/>
          </a:stretch>
        </p:blipFill>
        <p:spPr>
          <a:xfrm>
            <a:off x="914400" y="3657600"/>
            <a:ext cx="381000" cy="381000"/>
          </a:xfrm>
          <a:prstGeom prst="rect">
            <a:avLst/>
          </a:prstGeom>
        </p:spPr>
      </p:pic>
      <p:sp>
        <p:nvSpPr>
          <p:cNvPr id="8" name="TextBox 7"/>
          <p:cNvSpPr txBox="1"/>
          <p:nvPr/>
        </p:nvSpPr>
        <p:spPr>
          <a:xfrm>
            <a:off x="1524000" y="3619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Keep wanted and real state apart</a:t>
            </a:r>
          </a:p>
        </p:txBody>
      </p:sp>
      <p:pic>
        <p:nvPicPr>
          <p:cNvPr id="9" name="Picture 8" descr="check-circle-fill.png"/>
          <p:cNvPicPr>
            <a:picLocks noChangeAspect="1"/>
          </p:cNvPicPr>
          <p:nvPr/>
        </p:nvPicPr>
        <p:blipFill>
          <a:blip r:embed="rId3"/>
          <a:stretch>
            <a:fillRect/>
          </a:stretch>
        </p:blipFill>
        <p:spPr>
          <a:xfrm>
            <a:off x="914400" y="4419600"/>
            <a:ext cx="381000" cy="381000"/>
          </a:xfrm>
          <a:prstGeom prst="rect">
            <a:avLst/>
          </a:prstGeom>
        </p:spPr>
      </p:pic>
      <p:sp>
        <p:nvSpPr>
          <p:cNvPr id="10" name="TextBox 9"/>
          <p:cNvSpPr txBox="1"/>
          <p:nvPr/>
        </p:nvSpPr>
        <p:spPr>
          <a:xfrm>
            <a:off x="1524000" y="4381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List states with an enum</a:t>
            </a:r>
          </a:p>
        </p:txBody>
      </p:sp>
      <p:pic>
        <p:nvPicPr>
          <p:cNvPr id="11" name="Picture 10" descr="check-circle-fill.png"/>
          <p:cNvPicPr>
            <a:picLocks noChangeAspect="1"/>
          </p:cNvPicPr>
          <p:nvPr/>
        </p:nvPicPr>
        <p:blipFill>
          <a:blip r:embed="rId3"/>
          <a:stretch>
            <a:fillRect/>
          </a:stretch>
        </p:blipFill>
        <p:spPr>
          <a:xfrm>
            <a:off x="914400" y="5181600"/>
            <a:ext cx="381000" cy="381000"/>
          </a:xfrm>
          <a:prstGeom prst="rect">
            <a:avLst/>
          </a:prstGeom>
        </p:spPr>
      </p:pic>
      <p:sp>
        <p:nvSpPr>
          <p:cNvPr id="12" name="TextBox 11"/>
          <p:cNvSpPr txBox="1"/>
          <p:nvPr/>
        </p:nvSpPr>
        <p:spPr>
          <a:xfrm>
            <a:off x="1524000" y="5143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Act on a state with a switch</a:t>
            </a:r>
          </a:p>
        </p:txBody>
      </p:sp>
      <p:pic>
        <p:nvPicPr>
          <p:cNvPr id="13" name="Picture 12" descr="check-circle-fill.png"/>
          <p:cNvPicPr>
            <a:picLocks noChangeAspect="1"/>
          </p:cNvPicPr>
          <p:nvPr/>
        </p:nvPicPr>
        <p:blipFill>
          <a:blip r:embed="rId3"/>
          <a:stretch>
            <a:fillRect/>
          </a:stretch>
        </p:blipFill>
        <p:spPr>
          <a:xfrm>
            <a:off x="914400" y="5943600"/>
            <a:ext cx="381000" cy="381000"/>
          </a:xfrm>
          <a:prstGeom prst="rect">
            <a:avLst/>
          </a:prstGeom>
        </p:spPr>
      </p:pic>
      <p:sp>
        <p:nvSpPr>
          <p:cNvPr id="14" name="TextBox 13"/>
          <p:cNvSpPr txBox="1"/>
          <p:nvPr/>
        </p:nvSpPr>
        <p:spPr>
          <a:xfrm>
            <a:off x="1524000" y="5905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safe transition rules</a:t>
            </a:r>
          </a:p>
        </p:txBody>
      </p:sp>
      <p:pic>
        <p:nvPicPr>
          <p:cNvPr id="15" name="Picture 14" descr="check-circle-fill.png"/>
          <p:cNvPicPr>
            <a:picLocks noChangeAspect="1"/>
          </p:cNvPicPr>
          <p:nvPr/>
        </p:nvPicPr>
        <p:blipFill>
          <a:blip r:embed="rId3"/>
          <a:stretch>
            <a:fillRect/>
          </a:stretch>
        </p:blipFill>
        <p:spPr>
          <a:xfrm>
            <a:off x="914400" y="6705600"/>
            <a:ext cx="381000" cy="381000"/>
          </a:xfrm>
          <a:prstGeom prst="rect">
            <a:avLst/>
          </a:prstGeom>
        </p:spPr>
      </p:pic>
      <p:sp>
        <p:nvSpPr>
          <p:cNvPr id="16" name="TextBox 15"/>
          <p:cNvSpPr txBox="1"/>
          <p:nvPr/>
        </p:nvSpPr>
        <p:spPr>
          <a:xfrm>
            <a:off x="1524000" y="666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Make the robot a state machine</a:t>
            </a:r>
          </a:p>
        </p:txBody>
      </p:sp>
      <p:pic>
        <p:nvPicPr>
          <p:cNvPr id="17" name="Picture 16" descr="check-circle-fill.png"/>
          <p:cNvPicPr>
            <a:picLocks noChangeAspect="1"/>
          </p:cNvPicPr>
          <p:nvPr/>
        </p:nvPicPr>
        <p:blipFill>
          <a:blip r:embed="rId3"/>
          <a:stretch>
            <a:fillRect/>
          </a:stretch>
        </p:blipFill>
        <p:spPr>
          <a:xfrm>
            <a:off x="914400" y="7467600"/>
            <a:ext cx="381000" cy="381000"/>
          </a:xfrm>
          <a:prstGeom prst="rect">
            <a:avLst/>
          </a:prstGeom>
        </p:spPr>
      </p:pic>
      <p:sp>
        <p:nvSpPr>
          <p:cNvPr id="18" name="TextBox 17"/>
          <p:cNvSpPr txBox="1"/>
          <p:nvPr/>
        </p:nvSpPr>
        <p:spPr>
          <a:xfrm>
            <a:off x="1524000" y="7429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Bind buttons to robot states</a:t>
            </a:r>
          </a:p>
        </p:txBody>
      </p:sp>
      <p:sp>
        <p:nvSpPr>
          <p:cNvPr id="19" name="Rounded Rectangle 18"/>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21" name="Picture 20" descr="code-slash.png"/>
          <p:cNvPicPr>
            <a:picLocks noChangeAspect="1"/>
          </p:cNvPicPr>
          <p:nvPr/>
        </p:nvPicPr>
        <p:blipFill>
          <a:blip r:embed="rId4"/>
          <a:stretch>
            <a:fillRect/>
          </a:stretch>
        </p:blipFill>
        <p:spPr>
          <a:xfrm>
            <a:off x="9334500" y="3962400"/>
            <a:ext cx="326571" cy="304800"/>
          </a:xfrm>
          <a:prstGeom prst="rect">
            <a:avLst/>
          </a:prstGeom>
        </p:spPr>
      </p:pic>
      <p:sp>
        <p:nvSpPr>
          <p:cNvPr id="22" name="TextBox 21"/>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3" name="Picture 22" descr="code-slash.png"/>
          <p:cNvPicPr>
            <a:picLocks noChangeAspect="1"/>
          </p:cNvPicPr>
          <p:nvPr/>
        </p:nvPicPr>
        <p:blipFill>
          <a:blip r:embed="rId4"/>
          <a:stretch>
            <a:fillRect/>
          </a:stretch>
        </p:blipFill>
        <p:spPr>
          <a:xfrm>
            <a:off x="9334500" y="4724400"/>
            <a:ext cx="326571" cy="304800"/>
          </a:xfrm>
          <a:prstGeom prst="rect">
            <a:avLst/>
          </a:prstGeom>
        </p:spPr>
      </p:pic>
      <p:sp>
        <p:nvSpPr>
          <p:cNvPr id="24" name="TextBox 23"/>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sp>
        <p:nvSpPr>
          <p:cNvPr id="25" name="TextBox 24"/>
          <p:cNvSpPr txBox="1"/>
          <p:nvPr/>
        </p:nvSpPr>
        <p:spPr>
          <a:xfrm>
            <a:off x="9334500" y="5334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switch and boolean logic are in Conditions; enums are in Variables.</a:t>
            </a:r>
          </a:p>
        </p:txBody>
      </p:sp>
      <p:sp>
        <p:nvSpPr>
          <p:cNvPr id="26" name="TextBox 25"/>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7" name="Rounded Rectangle 26"/>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9" name="TextBox 28"/>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Computer Vision</a:t>
            </a:r>
          </a:p>
        </p:txBody>
      </p:sp>
      <p:sp>
        <p:nvSpPr>
          <p:cNvPr id="30" name="TextBox 29"/>
          <p:cNvSpPr txBox="1"/>
          <p:nvPr/>
        </p:nvSpPr>
        <p:spPr>
          <a:xfrm>
            <a:off x="13716000" y="4476750"/>
            <a:ext cx="3333750" cy="2190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Teach the robot to see AprilTags, so it always knows where it is on the field and can aim at the goal.</a:t>
            </a:r>
          </a:p>
        </p:txBody>
      </p:sp>
      <p:pic>
        <p:nvPicPr>
          <p:cNvPr id="31" name="Picture 30" descr="dozer.png"/>
          <p:cNvPicPr>
            <a:picLocks noChangeAspect="1"/>
          </p:cNvPicPr>
          <p:nvPr/>
        </p:nvPicPr>
        <p:blipFill>
          <a:blip r:embed="rId5"/>
          <a:stretch>
            <a:fillRect/>
          </a:stretch>
        </p:blipFill>
        <p:spPr>
          <a:xfrm>
            <a:off x="14287500" y="6858000"/>
            <a:ext cx="2476500" cy="1522165"/>
          </a:xfrm>
          <a:prstGeom prst="rect">
            <a:avLst/>
          </a:prstGeom>
        </p:spPr>
      </p:pic>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