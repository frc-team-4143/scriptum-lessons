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Deck 3. Last lesson all the drive math lived in one long robotPeriodic. Today we learn to write methods, our own named pieces of code, and move that math into them: wheel radians to meters, the robot's speed and turn rate, arcade drive that never clips, and an average built with an array and a for loop. The hands-on part is the Drive Math and Methods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The big new Java idea today is writing your own methods; arrays and for loops come along for the ride. Ask: what's the longest method you've written so far? (Probably robotPeriodic or teleopPeriodic, and WPILib wrote the first line for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learn how to write a method, let's see why we'd want to. We start from the code you finished last lesson.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end of last lesson's robotPeriodic, the Sensors and Feedback solution. It works, but look at it. 1: it's all one method, so to check any of this math you have to run the whole robot. 2: the same 'times radius' is typed four times. 3: the averages and the turn rate are written right inline, with no name saying what they are. Ask: if the wheel size changed, how many lines would you touch? And if one of them had a typo, how would you find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today's Robot.java, already written for you. The same work, but every piece of math is now a method with a name. 1: the drivetrain reports meters and meters per second itself. 2: one call does arcade drive. 3: autonomous reads like English: if the distance is under 2 meters, drive. Note MathUtil.applyDeadband: the deadband you wrote by hand last time is built into WPILib. Ask: read line 1 out loud as a sentence. (Log the robot's linear 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we split code into methods. Reuse: write the conversion once, call it from four places. Read: a good name says what the code does, so the code that uses it reads like a sentence. Test: a method that only does math can be checked with plain numbers, no robot needed. That's exactly how Scriptum's Verify button checks your DriveMath methods. Fix once: a bug in the math lives in one place. Ask: which of the four helps most when a mentor is debugging with you? (Read: they can follow the 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a method as a machine. Numbers go in the top, it does one job, one answer comes out. radiansToMeters takes how far the wheel turned, in radians, and the wheel's radius, and hands back meters. It never touches a motor or a sensor: give it the same numbers and it always gives the same answer. Activity: be the machine. Call out inputs (6.28 rad, one full turn, radius 0.0762) and have the class compute the output with a calculator. (0.479 m.) Then try 26.2 rad. (About 2.0 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parts of a method, one at a time. We use a tiny made-up method first, then the real ones from the lesson.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method has two parts. The first line is the signature: who can call it, the type of answer it gives back, its name, and its parameters in parentheses, each with a type and a name. Then the body between the curly braces does the work, and return hands back the answer. This example converts Celsius to Fahrenheit. Ask: what's the return type? (double.) How many parameters?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Defining a method writes the recipe; calling it cooks it. When the call runs, the argument 100.0 is copied into the parameter celsius. The body works it out, and return hands 212.0 back. The whole call is then replaced by that answer, so f becomes 212.0. Words: the parameter is the name inside the method; the argument is the value you pass in. Activity: call toFahrenheit(0.0) and toFahrenheit(37.0) as a class. (32.0 and 98.6.)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reuse in the real lesson. You write radiansToMeters once in DriveMath. The drivetrain calls it from four places: left and right distance, and left and right speed. The speed ones pass radians per second instead of radians, and get meters per second back: same math, different argument. If the wheel math were wrong, you'd fix one method and all four readings are fixed. Ask: how many places did last lesson's code do this math? (Four, each typed by hand.)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method. Some give back an answer: the return type is double (or int, boolean, an array...) and the body must end in return with a value of that type. Others just do something: the return type is void, meaning nothing comes back. setLeftDutyCycle sets a motor request; there's no answer to hand back. return also ends the method right away: any line after it never runs. Ask: is getLinearSpeed void or not? (Not: it returns the speed.)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a method for what it does, in camelCase: first word lowercase, every next word capitalized. The team's habits: get for a method that hands back a value, set for one that changes something, a verb for one that does a job, and XToY for a conversion. Variables are different: snake_case, and a trailing underscore for things the object keeps, like drive_. Activity: name a method that turns meters into wheel radians. (metersToRadians: it's a bonus challenge.)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you'll call methods today. DriveMath.linearSpeed starts with the class name: it's a static method, it belongs to the class, so you don't need an object. That fits pure math. drive_.getLinearSpeed starts with an object: it uses that drivetrain's own encoder readings. public on both means code in other files may call them. Ask: why can't linearSpeed be called on its own without the inputs? (It needs the left and right speeds handed 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Curly braces make a scope. A parameter or a variable made inside a method only exists inside that method's braces. total in average can't be seen from linearSpeed, and values can't be seen from anywhere else either. That's a good thing: two methods can each have a variable called total without bumping into each other. Ask: can average use left_meters_per_second? (No: it belongs to linearSpeed.)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method in the lesson starts with a Javadoc comment: slash and two stars. The first sentence says what the method does. @param describes each parameter; @return describes the answer. VS Code shows this box when you hover over a call, so you don't have to go read the method. Write one for the two methods you create yourself. Ask: what would the @return line for linearSpeed say? (The robot's forward speed in meters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errors you will meet today. cannot find symbol: Robot.java calls linearSpeed, so the name must match exactly. linearspeed or LinearSpeed won't do. missing return statement: the return type says double but the body never returns. incompatible types: you returned something that isn't the declared type, or tried to use a void method's answer. In Scriptum these show up as red squiggles before you even build. Ask: why does the starter project show red errors before you write anything? (Robot.java already calls two methods that don't exist yet.)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math the lesson's DriveMath methods do. None of it touches a motor: numbers in, a number out.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drivetrain tells us how far each wheel turned in radians, but we think in meters. A radian is the angle where the arc along the rim is exactly one radius long. So when the wheel rolls 1 radian, the robot moves forward one radius: 0.0762 m for our wheels. That's the whole rule: meters = radians times the radius. One full turn is 2π, about 6.28 radians, so it moves 6.28 × 0.0762, about 0.479 m. The same multiply turns rad/s into m/s. Activity: roll a real wheel with a tape mark along a tape measure. Ask: how many radians to drive 2 meters? (2 / 0.0762, about 26.2 rad.)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method in DriveMath. The signature is already written; you write the body: one line, radians times the radius. No pi needed: radians already count the arc in radii. 1: the parameters are named with their units, so you can't mix them up. 2: the answer. Below, the drivetrain uses it to report meters. Press Verify on the checkpoint as soon as it's written. Ask: why does the parameter name end in _meters? (So the caller knows what units to pass.)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side of the robot has its own speed. How fast is the whole robot going forward? The average of the two sides. Same speed both sides: that speed. Different speeds: the middle of the robot moves at the average, while it also turns. Opposite speeds: the middle stays put, so the linear speed is 0, even though the wheels are spinning. Activity: two students walk side by side at different paces holding a meter stick; watch the middle of the stick.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fast is the robot turning? Take the difference between the sides and divide by the track width, the distance between the left and right wheels. The answer is in radians per second. Positive means turning left, counterclockwise, which happens when the right side is faster. Our track width is 0.61 m. Left at -1 m/s and right at +1 m/s gives 2 / 0.61 = 3.3 rad/s, a bit more than π rad, half a turn, every second. Ask: what if both sides are the same? (0: not turning.)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you write from scratch: signature and all. They aren't in the file yet, but Robot.java and the drivetrain already call them, so the names must match exactly. 1: public static, return type double, the name. 2: the parameters, each a double with a name. 3: the answer. angularSpeed has a third parameter, the track width. Once both exist the red errors go away. Ask: the robot code passes 3 arguments to angularSpeed. What happens if you only write 2 parameters? (Error: the call doesn't match.)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it by hand before the robot does. Cover the last two columns and have students fill them in, then say what the robot is doing. Track width 0.61 m. The last row shows the sign: right slower than left gives a negative angular speed, so the robot turns right. These are exactly the kinds of numbers Verify throws at your methods.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deck, arcade drive just added and subtracted, and anything past 1.0 got clipped by the motor. Clipping changes the turn. Say the math wants left 1.2 and right 0.4: a 3 to 1 ratio. The motor cuts 1.2 down to 1.0, and now it's 2.5 to 1: the robot turns less than you asked. The fix: divide both sides by the bigger one, 1.2. They shrink together and keep the same 3 to 1 shape. Ask: what if both are under 1.0? (Leave them alone.)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arcade method. 1: the same mix as last deck. 2: how big is the bigger side? Math.abs drops the minus sign so a big backward number counts too, and Math.max picks the larger. 3: only if it's past 1.0, divide both. left /= biggest is short for left = left / biggest. 4: a method can only return one thing, so both speeds go back together in an array. More on arrays in the next section. Ask: forward 1.0, turn 1.0. What comes back? (2 and 0, divided by 2: 1.0 and 0.0.)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Java ideas the lesson needs: arrays, to hold several numbers under one name, and the for loop, to visit each one.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method can hand back only one thing. arcadeToWheelSpeeds needs to return two speeds, so it returns one array holding both. An array is a row of boxes under one name, numbered from 0. Box 0 is left, box 1 is right. The caller picks each one out with square brackets: speeds[0] and speeds[1]. This is your arcadeDrive in the drivetrain. Ask: what's in speeds[1] when forward is 0.5 and turn is 0.2? (0.3.)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Arrays hold as many values as you ask for. new double[5] makes five boxes, all starting at 0.0. They're numbered 0 to 4: the last index is always the length minus 1. values.length tells you how many there are. Robot.java keeps the last 5 speed readings in one like this. Ask for index 5 and Java stops with ArrayIndexOutOfBoundsException. Ask: an array of length 10, what's the last index? (9.)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 loop repeats its body once for each index. Three parts in the parentheses, separated by semicolons. Start: int i = 0, run once. Check: i &lt; values.length, tested before every pass; when it's false the loop ends. Step: i++, adds 1 after every pass. So i takes the values 0, 1, 2, ... up to length minus 1: exactly every index. Activity: one student is i, holding up fingers, while the class runs the check out loud.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lesson's average method. Start a running total at 0. The loop visits every index and adds that box to the total, like keeping a tally. After the loop, divide by how many there are. The table traces it for the array 2, 4, 6. total += values[i] is short for total = total + values[i]. Activity: trace it on the board for 1, 2, 3, 4. (Total 10, average 2.5.)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Robot.java keep the last 5 speeds? Every loop it writes the newest reading into the next slot, then moves next_slot_ along. % is remainder: (4 + 1) % 5 is 0, so after slot 4 it wraps back to slot 0 and overwrites the oldest reading. The array always holds the 5 newest. Then it logs DriveMath.average of them as Robot/SmoothedSpeed. Ask: what is 7 % 5? (2.) And 10 % 5? (0.)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The raw speed from the encoders jitters, like a shaky hand. The smoothed speed is the average of the last 5 readings, so the shakes cancel out and the line is calm. The price: it reacts a little later, about 2 loops behind. In the lesson, put Robot/LinearSpeed and Robot/SmoothedSpeed on one AdvantageScope graph and drive. Full speed reads about 5 m/s. This graph is an illustration with the jitter made bigger so you can see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three methods go in the drivetrain itself. Then we follow a stick push from Robot.java all the way to the motors.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void methods in DifferentialDriveMech. 1 and 2: set just one side. Copy how setDutyCycles does it: clamp the value to -1..1 and store it in that side's request. 3: arcadeDrive calls your DriveMath method and hands both answers to setDutyCycles. Notice none of these talks to a motor directly: they only store what you want. Ask: why might disabledPeriodic use setLeftDutyCycle and setRightDutyCycle with 0.0? (To make sure each side is told to stop.)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calls. Top row: driving. teleopPeriodic in Robot.java calls arcadeDrive on the drivetrain, which calls your arcadeToWheelSpeeds in DriveMath, then setDutyCycles stores the result. Bottom row: reading. robotPeriodic asks the drivetrain for getLinearSpeed, which converts each side with radiansToMeters and then calls linearSpeed. Each file has one kind of job. Activity: three students stand as the three files and pass the call along.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do the motors actually get the numbers? The library runs the same three steps every 20 ms. readInputs: the drivetrain asks its motors for position and velocity. Then your code runs, robotPeriodic and teleopPeriodic, and says what you want using fresh readings. Then writeOutputs sends the stored requests to the motors. You never call readInputs or writeOutputs yourself. Ask: in the lesson, find readInputs and writeOutputs in DifferentialDriveMech. Which one is the only place that talks to the motors? (writeOutputs.)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methods pay off in autonomous. autonomousInit resets the encoders so distance starts at 0. Then every loop: if the robot has gone less than 2 meters, arcade drive forward at 0.4; otherwise stop. getDistanceMeters uses your radiansToMeters, arcadeDrive uses your arcadeToWheelSpeeds. This is the same bang-bang drive as last deck, now built from methods. Run Auto in the lesson to see it. Ask: what would you change to drive 3 meters backward?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part: the Drive Math and Methods lesson in Scriptum's FRC Robot track. The first five checkpoints test each DriveMath method on its own with numbers, so press Verify as soon as one is written. The last three drive the robot: start it, enable Teleop and drive with the left stick (W and S, A and D). Bonuses are optional. If you're stuck, Dozer's guides explain each idea.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Methods are how every robot program from here on is organized, so it's worth getting comfortable. Next deck: objects and odometry, where the robot works out where it is on the field. The Java lessons on the right are optional practice for today's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FRC ROBOT  ·  DECK 3</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Drive Math and Methods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Move the drive math into methods you write yourself: conversions, speeds, arcade drive and an average.</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My math is a mess. Let's give it some names!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one long method to many small ones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uzzle.png"/>
          <p:cNvPicPr>
            <a:picLocks noChangeAspect="1"/>
          </p:cNvPicPr>
          <p:nvPr/>
        </p:nvPicPr>
        <p:blipFill>
          <a:blip r:embed="rId3"/>
          <a:stretch>
            <a:fillRect/>
          </a:stretch>
        </p:blipFill>
        <p:spPr>
          <a:xfrm>
            <a:off x="1257300" y="3295650"/>
            <a:ext cx="762000" cy="5715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Why methods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Short code, happy life</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slash.png"/>
          <p:cNvPicPr>
            <a:picLocks noChangeAspect="1"/>
          </p:cNvPicPr>
          <p:nvPr/>
        </p:nvPicPr>
        <p:blipFill>
          <a:blip r:embed="rId4"/>
          <a:stretch>
            <a:fillRect/>
          </a:stretch>
        </p:blipFill>
        <p:spPr>
          <a:xfrm>
            <a:off x="4614182" y="3238500"/>
            <a:ext cx="734786"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Anatomy of a method</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Return type, name, parameters, return</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lculator.png"/>
          <p:cNvPicPr>
            <a:picLocks noChangeAspect="1"/>
          </p:cNvPicPr>
          <p:nvPr/>
        </p:nvPicPr>
        <p:blipFill>
          <a:blip r:embed="rId5"/>
          <a:stretch>
            <a:fillRect/>
          </a:stretch>
        </p:blipFill>
        <p:spPr>
          <a:xfrm>
            <a:off x="8067675" y="3238500"/>
            <a:ext cx="51435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Drive math</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Meters, speeds and arcade drive</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rid-3x2.png"/>
          <p:cNvPicPr>
            <a:picLocks noChangeAspect="1"/>
          </p:cNvPicPr>
          <p:nvPr/>
        </p:nvPicPr>
        <p:blipFill>
          <a:blip r:embed="rId6"/>
          <a:stretch>
            <a:fillRect/>
          </a:stretch>
        </p:blipFill>
        <p:spPr>
          <a:xfrm>
            <a:off x="11287125" y="3319462"/>
            <a:ext cx="762000" cy="523875"/>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Arrays and loops</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Two answers, and an average</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gear.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Methods in the drivetrain</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How it all calls together</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Robot.java reads like a sentence, and every piece of drive math is a method you wrote.</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Why methods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Short code, happy life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Write it once, call it everywhere. Less typing, more driving!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WHY METHODS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Last lesson: one long method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2001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 (last lesson)</a:t>
            </a:r>
          </a:p>
        </p:txBody>
      </p:sp>
      <p:sp>
        <p:nvSpPr>
          <p:cNvPr id="6" name="Rounded Rectangle 5"/>
          <p:cNvSpPr/>
          <p:nvPr/>
        </p:nvSpPr>
        <p:spPr>
          <a:xfrm>
            <a:off x="914400" y="2857500"/>
            <a:ext cx="12001500" cy="4305300"/>
          </a:xfrm>
          <a:prstGeom prst="roundRect">
            <a:avLst>
              <a:gd name="adj" fmla="val 353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29050"/>
            <a:ext cx="11963400" cy="2952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29050"/>
            <a:ext cx="57150" cy="2952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124325"/>
            <a:ext cx="11963400" cy="2952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124325"/>
            <a:ext cx="57150" cy="2952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419600"/>
            <a:ext cx="11963400" cy="2952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419600"/>
            <a:ext cx="57150" cy="2952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4714875"/>
            <a:ext cx="11963400" cy="2952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4714875"/>
            <a:ext cx="57150" cy="2952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238500"/>
            <a:ext cx="11468100" cy="295275"/>
          </a:xfrm>
          <a:prstGeom prst="rect">
            <a:avLst/>
          </a:prstGeom>
          <a:noFill/>
        </p:spPr>
        <p:txBody>
          <a:bodyPr wrap="square" lIns="0" rIns="0" tIns="0" bIns="0" anchor="ctr">
            <a:spAutoFit/>
          </a:bodyPr>
          <a:lstStyle/>
          <a:p>
            <a:pPr algn="l"/>
            <a:r>
              <a:rPr sz="1500" b="0" i="0">
                <a:solidFill>
                  <a:srgbClr val="E0785F"/>
                </a:solidFill>
                <a:latin typeface="Geist Mono"/>
                <a:ea typeface="Geist Mono"/>
                <a:cs typeface="Geist Mono"/>
              </a:rPr>
              <a:t>public</a:t>
            </a:r>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void</a:t>
            </a:r>
            <a:r>
              <a:rPr sz="1500" b="0" i="0">
                <a:solidFill>
                  <a:srgbClr val="F0E8E8"/>
                </a:solidFill>
                <a:latin typeface="Geist Mono"/>
                <a:ea typeface="Geist Mono"/>
                <a:cs typeface="Geist Mono"/>
              </a:rPr>
              <a:t> robotPeriodic() {</a:t>
            </a:r>
          </a:p>
        </p:txBody>
      </p:sp>
      <p:sp>
        <p:nvSpPr>
          <p:cNvPr id="16" name="TextBox 15"/>
          <p:cNvSpPr txBox="1"/>
          <p:nvPr/>
        </p:nvSpPr>
        <p:spPr>
          <a:xfrm>
            <a:off x="1295400" y="3533775"/>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radius = Constants.WHEEL_RADIUS_METERS;</a:t>
            </a:r>
          </a:p>
        </p:txBody>
      </p:sp>
      <p:sp>
        <p:nvSpPr>
          <p:cNvPr id="17" name="TextBox 16"/>
          <p:cNvSpPr txBox="1"/>
          <p:nvPr/>
        </p:nvSpPr>
        <p:spPr>
          <a:xfrm>
            <a:off x="1295400" y="3829050"/>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left_meters = drive_.getLeftPositionRad() * radius;</a:t>
            </a:r>
          </a:p>
        </p:txBody>
      </p:sp>
      <p:sp>
        <p:nvSpPr>
          <p:cNvPr id="18" name="TextBox 17"/>
          <p:cNvSpPr txBox="1"/>
          <p:nvPr/>
        </p:nvSpPr>
        <p:spPr>
          <a:xfrm>
            <a:off x="1295400" y="4124325"/>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right_meters = drive_.getRightPositionRad() * radius;</a:t>
            </a:r>
          </a:p>
        </p:txBody>
      </p:sp>
      <p:sp>
        <p:nvSpPr>
          <p:cNvPr id="19" name="TextBox 18"/>
          <p:cNvSpPr txBox="1"/>
          <p:nvPr/>
        </p:nvSpPr>
        <p:spPr>
          <a:xfrm>
            <a:off x="1295400" y="4419600"/>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left_meters_per_second = drive_.getLeftVelocityRadPerSec() * radius;</a:t>
            </a:r>
          </a:p>
        </p:txBody>
      </p:sp>
      <p:sp>
        <p:nvSpPr>
          <p:cNvPr id="20" name="TextBox 19"/>
          <p:cNvSpPr txBox="1"/>
          <p:nvPr/>
        </p:nvSpPr>
        <p:spPr>
          <a:xfrm>
            <a:off x="1295400" y="4714875"/>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right_meters_per_second = drive_.getRightVelocityRadPerSec() * radius;</a:t>
            </a:r>
          </a:p>
        </p:txBody>
      </p:sp>
      <p:sp>
        <p:nvSpPr>
          <p:cNvPr id="21" name="TextBox 20"/>
          <p:cNvSpPr txBox="1"/>
          <p:nvPr/>
        </p:nvSpPr>
        <p:spPr>
          <a:xfrm>
            <a:off x="1295400" y="5010150"/>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linear_speed = (left_meters_per_second + right_meters_per_second) / </a:t>
            </a:r>
            <a:r>
              <a:rPr sz="1500" b="0" i="0">
                <a:solidFill>
                  <a:srgbClr val="E8C27A"/>
                </a:solidFill>
                <a:latin typeface="Geist Mono"/>
                <a:ea typeface="Geist Mono"/>
                <a:cs typeface="Geist Mono"/>
              </a:rPr>
              <a:t>2.0</a:t>
            </a:r>
            <a:r>
              <a:rPr sz="1500" b="0" i="0">
                <a:solidFill>
                  <a:srgbClr val="F0E8E8"/>
                </a:solidFill>
                <a:latin typeface="Geist Mono"/>
                <a:ea typeface="Geist Mono"/>
                <a:cs typeface="Geist Mono"/>
              </a:rPr>
              <a:t>;</a:t>
            </a:r>
          </a:p>
        </p:txBody>
      </p:sp>
      <p:sp>
        <p:nvSpPr>
          <p:cNvPr id="22" name="TextBox 21"/>
          <p:cNvSpPr txBox="1"/>
          <p:nvPr/>
        </p:nvSpPr>
        <p:spPr>
          <a:xfrm>
            <a:off x="1295400" y="5305425"/>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0">
                <a:solidFill>
                  <a:srgbClr val="E0785F"/>
                </a:solidFill>
                <a:latin typeface="Geist Mono"/>
                <a:ea typeface="Geist Mono"/>
                <a:cs typeface="Geist Mono"/>
              </a:rPr>
              <a:t>double</a:t>
            </a:r>
            <a:r>
              <a:rPr sz="1500" b="0" i="0">
                <a:solidFill>
                  <a:srgbClr val="F0E8E8"/>
                </a:solidFill>
                <a:latin typeface="Geist Mono"/>
                <a:ea typeface="Geist Mono"/>
                <a:cs typeface="Geist Mono"/>
              </a:rPr>
              <a:t> angular_speed =</a:t>
            </a:r>
          </a:p>
        </p:txBody>
      </p:sp>
      <p:sp>
        <p:nvSpPr>
          <p:cNvPr id="23" name="TextBox 22"/>
          <p:cNvSpPr txBox="1"/>
          <p:nvPr/>
        </p:nvSpPr>
        <p:spPr>
          <a:xfrm>
            <a:off x="1295400" y="5600700"/>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(right_meters_per_second - left_meters_per_second) / Constants.TRACK_WIDTH_METERS;</a:t>
            </a:r>
          </a:p>
        </p:txBody>
      </p:sp>
      <p:sp>
        <p:nvSpPr>
          <p:cNvPr id="24" name="TextBox 23"/>
          <p:cNvSpPr txBox="1"/>
          <p:nvPr/>
        </p:nvSpPr>
        <p:spPr>
          <a:xfrm>
            <a:off x="1295400" y="5895975"/>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distance_meters_ = (left_meters + right_meters) / </a:t>
            </a:r>
            <a:r>
              <a:rPr sz="1500" b="0" i="0">
                <a:solidFill>
                  <a:srgbClr val="E8C27A"/>
                </a:solidFill>
                <a:latin typeface="Geist Mono"/>
                <a:ea typeface="Geist Mono"/>
                <a:cs typeface="Geist Mono"/>
              </a:rPr>
              <a:t>2.0</a:t>
            </a:r>
            <a:r>
              <a:rPr sz="1500" b="0" i="0">
                <a:solidFill>
                  <a:srgbClr val="F0E8E8"/>
                </a:solidFill>
                <a:latin typeface="Geist Mono"/>
                <a:ea typeface="Geist Mono"/>
                <a:cs typeface="Geist Mono"/>
              </a:rPr>
              <a:t>;</a:t>
            </a:r>
          </a:p>
        </p:txBody>
      </p:sp>
      <p:sp>
        <p:nvSpPr>
          <p:cNvPr id="25" name="TextBox 24"/>
          <p:cNvSpPr txBox="1"/>
          <p:nvPr/>
        </p:nvSpPr>
        <p:spPr>
          <a:xfrm>
            <a:off x="1295400" y="6191250"/>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  </a:t>
            </a:r>
            <a:r>
              <a:rPr sz="1500" b="0" i="1">
                <a:solidFill>
                  <a:srgbClr val="9A7878"/>
                </a:solidFill>
                <a:latin typeface="Geist Mono"/>
                <a:ea typeface="Geist Mono"/>
                <a:cs typeface="Geist Mono"/>
              </a:rPr>
              <a:t>// ... then log it all</a:t>
            </a:r>
          </a:p>
        </p:txBody>
      </p:sp>
      <p:sp>
        <p:nvSpPr>
          <p:cNvPr id="26" name="TextBox 25"/>
          <p:cNvSpPr txBox="1"/>
          <p:nvPr/>
        </p:nvSpPr>
        <p:spPr>
          <a:xfrm>
            <a:off x="1295400" y="6486525"/>
            <a:ext cx="11468100" cy="295275"/>
          </a:xfrm>
          <a:prstGeom prst="rect">
            <a:avLst/>
          </a:prstGeom>
          <a:noFill/>
        </p:spPr>
        <p:txBody>
          <a:bodyPr wrap="square" lIns="0" rIns="0" tIns="0" bIns="0" anchor="ctr">
            <a:spAutoFit/>
          </a:bodyPr>
          <a:lstStyle/>
          <a:p>
            <a:pPr algn="l"/>
            <a:r>
              <a:rPr sz="1500" b="0" i="0">
                <a:solidFill>
                  <a:srgbClr val="F0E8E8"/>
                </a:solidFill>
                <a:latin typeface="Geist Mono"/>
                <a:ea typeface="Geist Mono"/>
                <a:cs typeface="Geist Mono"/>
              </a:rPr>
              <a:t>}</a:t>
            </a:r>
          </a:p>
        </p:txBody>
      </p:sp>
      <p:sp>
        <p:nvSpPr>
          <p:cNvPr id="27" name="Oval 26"/>
          <p:cNvSpPr/>
          <p:nvPr/>
        </p:nvSpPr>
        <p:spPr>
          <a:xfrm>
            <a:off x="12306300" y="319563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306300" y="31956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Oval 28"/>
          <p:cNvSpPr/>
          <p:nvPr/>
        </p:nvSpPr>
        <p:spPr>
          <a:xfrm>
            <a:off x="12306300" y="378618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06300" y="37861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Oval 30"/>
          <p:cNvSpPr/>
          <p:nvPr/>
        </p:nvSpPr>
        <p:spPr>
          <a:xfrm>
            <a:off x="12306300" y="496728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306300" y="49672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Oval 32"/>
          <p:cNvSpPr/>
          <p:nvPr/>
        </p:nvSpPr>
        <p:spPr>
          <a:xfrm>
            <a:off x="13430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430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5" name="TextBox 34"/>
          <p:cNvSpPr txBox="1"/>
          <p:nvPr/>
        </p:nvSpPr>
        <p:spPr>
          <a:xfrm>
            <a:off x="14039850" y="2819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All in one method</a:t>
            </a:r>
          </a:p>
        </p:txBody>
      </p:sp>
      <p:sp>
        <p:nvSpPr>
          <p:cNvPr id="36" name="TextBox 35"/>
          <p:cNvSpPr txBox="1"/>
          <p:nvPr/>
        </p:nvSpPr>
        <p:spPr>
          <a:xfrm>
            <a:off x="14039850" y="3238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Testing any of it means running the whole robot</a:t>
            </a:r>
          </a:p>
        </p:txBody>
      </p:sp>
      <p:sp>
        <p:nvSpPr>
          <p:cNvPr id="37" name="Oval 36"/>
          <p:cNvSpPr/>
          <p:nvPr/>
        </p:nvSpPr>
        <p:spPr>
          <a:xfrm>
            <a:off x="13430250" y="4572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4302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TextBox 38"/>
          <p:cNvSpPr txBox="1"/>
          <p:nvPr/>
        </p:nvSpPr>
        <p:spPr>
          <a:xfrm>
            <a:off x="14039850" y="45339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Copy and paste</a:t>
            </a:r>
          </a:p>
        </p:txBody>
      </p:sp>
      <p:sp>
        <p:nvSpPr>
          <p:cNvPr id="40" name="TextBox 39"/>
          <p:cNvSpPr txBox="1"/>
          <p:nvPr/>
        </p:nvSpPr>
        <p:spPr>
          <a:xfrm>
            <a:off x="14039850" y="49530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same conversion, typed four times</a:t>
            </a:r>
          </a:p>
        </p:txBody>
      </p:sp>
      <p:sp>
        <p:nvSpPr>
          <p:cNvPr id="41" name="Oval 40"/>
          <p:cNvSpPr/>
          <p:nvPr/>
        </p:nvSpPr>
        <p:spPr>
          <a:xfrm>
            <a:off x="1343025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430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3" name="TextBox 42"/>
          <p:cNvSpPr txBox="1"/>
          <p:nvPr/>
        </p:nvSpPr>
        <p:spPr>
          <a:xfrm>
            <a:off x="14039850" y="6248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 names</a:t>
            </a:r>
          </a:p>
        </p:txBody>
      </p:sp>
      <p:sp>
        <p:nvSpPr>
          <p:cNvPr id="44" name="TextBox 43"/>
          <p:cNvSpPr txBox="1"/>
          <p:nvPr/>
        </p:nvSpPr>
        <p:spPr>
          <a:xfrm>
            <a:off x="14039850" y="6667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Averages and turn rate written inline</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WHY METHODS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Today: it reads like a sentence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477500" cy="4419600"/>
          </a:xfrm>
          <a:prstGeom prst="roundRect">
            <a:avLst>
              <a:gd name="adj" fmla="val 344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524250"/>
            <a:ext cx="10439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52425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621530"/>
            <a:ext cx="10439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62153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084570"/>
            <a:ext cx="10439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08457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9944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"Robot/LinearSpeed"</a:t>
            </a:r>
            <a:r>
              <a:rPr sz="1800" b="0" i="0">
                <a:solidFill>
                  <a:srgbClr val="F0E8E8"/>
                </a:solidFill>
                <a:latin typeface="Geist Mono"/>
                <a:ea typeface="Geist Mono"/>
                <a:cs typeface="Geist Mono"/>
              </a:rPr>
              <a:t>, drive_.getLinearSpeed());</a:t>
            </a:r>
          </a:p>
        </p:txBody>
      </p:sp>
      <p:sp>
        <p:nvSpPr>
          <p:cNvPr id="14" name="TextBox 13"/>
          <p:cNvSpPr txBox="1"/>
          <p:nvPr/>
        </p:nvSpPr>
        <p:spPr>
          <a:xfrm>
            <a:off x="1295400" y="3890010"/>
            <a:ext cx="9944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MwLog.log(</a:t>
            </a:r>
            <a:r>
              <a:rPr sz="1800" b="0" i="0">
                <a:solidFill>
                  <a:srgbClr val="9FD29A"/>
                </a:solidFill>
                <a:latin typeface="Geist Mono"/>
                <a:ea typeface="Geist Mono"/>
                <a:cs typeface="Geist Mono"/>
              </a:rPr>
              <a:t>"Robot/AngularSpeed"</a:t>
            </a:r>
            <a:r>
              <a:rPr sz="1800" b="0" i="0">
                <a:solidFill>
                  <a:srgbClr val="F0E8E8"/>
                </a:solidFill>
                <a:latin typeface="Geist Mono"/>
                <a:ea typeface="Geist Mono"/>
                <a:cs typeface="Geist Mono"/>
              </a:rPr>
              <a:t>, drive_.getAngularSpeed());</a:t>
            </a:r>
          </a:p>
        </p:txBody>
      </p:sp>
      <p:sp>
        <p:nvSpPr>
          <p:cNvPr id="15" name="TextBox 14"/>
          <p:cNvSpPr txBox="1"/>
          <p:nvPr/>
        </p:nvSpPr>
        <p:spPr>
          <a:xfrm>
            <a:off x="1295400" y="4255770"/>
            <a:ext cx="9944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6" name="TextBox 15"/>
          <p:cNvSpPr txBox="1"/>
          <p:nvPr/>
        </p:nvSpPr>
        <p:spPr>
          <a:xfrm>
            <a:off x="1295400" y="4621530"/>
            <a:ext cx="9944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drive_.arcadeDrive(</a:t>
            </a:r>
          </a:p>
        </p:txBody>
      </p:sp>
      <p:sp>
        <p:nvSpPr>
          <p:cNvPr id="17" name="TextBox 16"/>
          <p:cNvSpPr txBox="1"/>
          <p:nvPr/>
        </p:nvSpPr>
        <p:spPr>
          <a:xfrm>
            <a:off x="1295400" y="4987290"/>
            <a:ext cx="9944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MathUtil.applyDeadband(-controller_.getLeftY(),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18" name="TextBox 17"/>
          <p:cNvSpPr txBox="1"/>
          <p:nvPr/>
        </p:nvSpPr>
        <p:spPr>
          <a:xfrm>
            <a:off x="1295400" y="5353050"/>
            <a:ext cx="9944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MathUtil.applyDeadband(controller_.getLeftX(),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19" name="TextBox 18"/>
          <p:cNvSpPr txBox="1"/>
          <p:nvPr/>
        </p:nvSpPr>
        <p:spPr>
          <a:xfrm>
            <a:off x="1295400" y="5718810"/>
            <a:ext cx="9944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0" name="TextBox 19"/>
          <p:cNvSpPr txBox="1"/>
          <p:nvPr/>
        </p:nvSpPr>
        <p:spPr>
          <a:xfrm>
            <a:off x="1295400" y="6084570"/>
            <a:ext cx="99441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(drive_.getDistanceMeters() &lt;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 {</a:t>
            </a:r>
          </a:p>
        </p:txBody>
      </p:sp>
      <p:sp>
        <p:nvSpPr>
          <p:cNvPr id="21" name="TextBox 20"/>
          <p:cNvSpPr txBox="1"/>
          <p:nvPr/>
        </p:nvSpPr>
        <p:spPr>
          <a:xfrm>
            <a:off x="1295400" y="6450330"/>
            <a:ext cx="9944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0.4</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2" name="TextBox 21"/>
          <p:cNvSpPr txBox="1"/>
          <p:nvPr/>
        </p:nvSpPr>
        <p:spPr>
          <a:xfrm>
            <a:off x="1295400" y="6816090"/>
            <a:ext cx="9944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3" name="Oval 22"/>
          <p:cNvSpPr/>
          <p:nvPr/>
        </p:nvSpPr>
        <p:spPr>
          <a:xfrm>
            <a:off x="10782300" y="351663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2300" y="35166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Oval 24"/>
          <p:cNvSpPr/>
          <p:nvPr/>
        </p:nvSpPr>
        <p:spPr>
          <a:xfrm>
            <a:off x="10782300" y="46139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82300" y="46139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Oval 26"/>
          <p:cNvSpPr/>
          <p:nvPr/>
        </p:nvSpPr>
        <p:spPr>
          <a:xfrm>
            <a:off x="10782300" y="60769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2300" y="60769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9" name="Oval 28"/>
          <p:cNvSpPr/>
          <p:nvPr/>
        </p:nvSpPr>
        <p:spPr>
          <a:xfrm>
            <a:off x="1200150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015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2611100" y="3105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for meters</a:t>
            </a:r>
          </a:p>
        </p:txBody>
      </p:sp>
      <p:sp>
        <p:nvSpPr>
          <p:cNvPr id="32" name="TextBox 31"/>
          <p:cNvSpPr txBox="1"/>
          <p:nvPr/>
        </p:nvSpPr>
        <p:spPr>
          <a:xfrm>
            <a:off x="12611100" y="3524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drivetrain does the conversion</a:t>
            </a:r>
          </a:p>
        </p:txBody>
      </p:sp>
      <p:sp>
        <p:nvSpPr>
          <p:cNvPr id="33" name="Oval 32"/>
          <p:cNvSpPr/>
          <p:nvPr/>
        </p:nvSpPr>
        <p:spPr>
          <a:xfrm>
            <a:off x="1200150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0150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2611100" y="47244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call drives</a:t>
            </a:r>
          </a:p>
        </p:txBody>
      </p:sp>
      <p:sp>
        <p:nvSpPr>
          <p:cNvPr id="36" name="TextBox 35"/>
          <p:cNvSpPr txBox="1"/>
          <p:nvPr/>
        </p:nvSpPr>
        <p:spPr>
          <a:xfrm>
            <a:off x="12611100" y="51435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Arcade math is hidden inside arcadeDrive</a:t>
            </a:r>
          </a:p>
        </p:txBody>
      </p:sp>
      <p:sp>
        <p:nvSpPr>
          <p:cNvPr id="37" name="Oval 36"/>
          <p:cNvSpPr/>
          <p:nvPr/>
        </p:nvSpPr>
        <p:spPr>
          <a:xfrm>
            <a:off x="12001500" y="6381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0150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2611100" y="63436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 in plain words</a:t>
            </a:r>
          </a:p>
        </p:txBody>
      </p:sp>
      <p:sp>
        <p:nvSpPr>
          <p:cNvPr id="40" name="TextBox 39"/>
          <p:cNvSpPr txBox="1"/>
          <p:nvPr/>
        </p:nvSpPr>
        <p:spPr>
          <a:xfrm>
            <a:off x="12611100" y="67627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2 meters? Keep driving</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WHY METHODS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split code into methods?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recycle.png"/>
          <p:cNvPicPr>
            <a:picLocks noChangeAspect="1"/>
          </p:cNvPicPr>
          <p:nvPr/>
        </p:nvPicPr>
        <p:blipFill>
          <a:blip r:embed="rId3"/>
          <a:stretch>
            <a:fillRect/>
          </a:stretch>
        </p:blipFill>
        <p:spPr>
          <a:xfrm>
            <a:off x="1295400" y="3238500"/>
            <a:ext cx="614516"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Reuse</a:t>
            </a:r>
          </a:p>
        </p:txBody>
      </p:sp>
      <p:sp>
        <p:nvSpPr>
          <p:cNvPr id="8" name="TextBox 7"/>
          <p:cNvSpPr txBox="1"/>
          <p:nvPr/>
        </p:nvSpPr>
        <p:spPr>
          <a:xfrm>
            <a:off x="1295400" y="4701540"/>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Write it once. Call it from anywhere, as often as you like.</a:t>
            </a:r>
          </a:p>
        </p:txBody>
      </p:sp>
      <p:sp>
        <p:nvSpPr>
          <p:cNvPr id="9" name="Rounded Rectangle 8"/>
          <p:cNvSpPr/>
          <p:nvPr/>
        </p:nvSpPr>
        <p:spPr>
          <a:xfrm>
            <a:off x="5105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left-text.png"/>
          <p:cNvPicPr>
            <a:picLocks noChangeAspect="1"/>
          </p:cNvPicPr>
          <p:nvPr/>
        </p:nvPicPr>
        <p:blipFill>
          <a:blip r:embed="rId4"/>
          <a:stretch>
            <a:fillRect/>
          </a:stretch>
        </p:blipFill>
        <p:spPr>
          <a:xfrm>
            <a:off x="5486400" y="3238500"/>
            <a:ext cx="636970"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Read</a:t>
            </a:r>
          </a:p>
        </p:txBody>
      </p:sp>
      <p:sp>
        <p:nvSpPr>
          <p:cNvPr id="12" name="TextBox 11"/>
          <p:cNvSpPr txBox="1"/>
          <p:nvPr/>
        </p:nvSpPr>
        <p:spPr>
          <a:xfrm>
            <a:off x="5486400" y="4701540"/>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good name says what the code does. The caller reads like a sentence.</a:t>
            </a:r>
          </a:p>
        </p:txBody>
      </p:sp>
      <p:sp>
        <p:nvSpPr>
          <p:cNvPr id="13" name="Rounded Rectangle 12"/>
          <p:cNvSpPr/>
          <p:nvPr/>
        </p:nvSpPr>
        <p:spPr>
          <a:xfrm>
            <a:off x="9296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ug.png"/>
          <p:cNvPicPr>
            <a:picLocks noChangeAspect="1"/>
          </p:cNvPicPr>
          <p:nvPr/>
        </p:nvPicPr>
        <p:blipFill>
          <a:blip r:embed="rId5"/>
          <a:stretch>
            <a:fillRect/>
          </a:stretch>
        </p:blipFill>
        <p:spPr>
          <a:xfrm>
            <a:off x="9677400" y="3238500"/>
            <a:ext cx="550606"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Test</a:t>
            </a:r>
          </a:p>
        </p:txBody>
      </p:sp>
      <p:sp>
        <p:nvSpPr>
          <p:cNvPr id="16" name="TextBox 15"/>
          <p:cNvSpPr txBox="1"/>
          <p:nvPr/>
        </p:nvSpPr>
        <p:spPr>
          <a:xfrm>
            <a:off x="9677400" y="4701540"/>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Pure math can be checked with plain numbers. No robot needed.</a:t>
            </a:r>
          </a:p>
        </p:txBody>
      </p:sp>
      <p:sp>
        <p:nvSpPr>
          <p:cNvPr id="17" name="Rounded Rectangle 16"/>
          <p:cNvSpPr/>
          <p:nvPr/>
        </p:nvSpPr>
        <p:spPr>
          <a:xfrm>
            <a:off x="13487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ools.png"/>
          <p:cNvPicPr>
            <a:picLocks noChangeAspect="1"/>
          </p:cNvPicPr>
          <p:nvPr/>
        </p:nvPicPr>
        <p:blipFill>
          <a:blip r:embed="rId6"/>
          <a:stretch>
            <a:fillRect/>
          </a:stretch>
        </p:blipFill>
        <p:spPr>
          <a:xfrm>
            <a:off x="13868400" y="3238500"/>
            <a:ext cx="609600"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Fix once</a:t>
            </a:r>
          </a:p>
        </p:txBody>
      </p:sp>
      <p:sp>
        <p:nvSpPr>
          <p:cNvPr id="20" name="TextBox 19"/>
          <p:cNvSpPr txBox="1"/>
          <p:nvPr/>
        </p:nvSpPr>
        <p:spPr>
          <a:xfrm>
            <a:off x="13868400" y="4701540"/>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 bug in the math lives in one place, so you fix it once.</a:t>
            </a:r>
          </a:p>
        </p:txBody>
      </p:sp>
      <p:sp>
        <p:nvSpPr>
          <p:cNvPr id="21" name="Rounded Rectangle 20"/>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ightbulb.png"/>
          <p:cNvPicPr>
            <a:picLocks noChangeAspect="1"/>
          </p:cNvPicPr>
          <p:nvPr/>
        </p:nvPicPr>
        <p:blipFill>
          <a:blip r:embed="rId7"/>
          <a:stretch>
            <a:fillRect/>
          </a:stretch>
        </p:blipFill>
        <p:spPr>
          <a:xfrm>
            <a:off x="1333500" y="8020050"/>
            <a:ext cx="400050" cy="533400"/>
          </a:xfrm>
          <a:prstGeom prst="rect">
            <a:avLst/>
          </a:prstGeom>
        </p:spPr>
      </p:pic>
      <p:sp>
        <p:nvSpPr>
          <p:cNvPr id="23" name="TextBox 22"/>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Programmers are lazy.  </a:t>
            </a:r>
            <a:r>
              <a:rPr sz="2100" b="0" i="0">
                <a:solidFill>
                  <a:srgbClr val="F0E8E8"/>
                </a:solidFill>
                <a:latin typeface="Geist"/>
                <a:ea typeface="Geist"/>
                <a:cs typeface="Geist"/>
              </a:rPr>
              <a:t>If you're about to type the same thing twice, make it a method.</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WHY METHODS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method is a machine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3619500" y="3048000"/>
            <a:ext cx="3238500" cy="762000"/>
          </a:xfrm>
          <a:prstGeom prst="roundRect">
            <a:avLst>
              <a:gd name="adj" fmla="val 1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619500" y="3048000"/>
            <a:ext cx="3238500" cy="762000"/>
          </a:xfrm>
          <a:prstGeom prst="rect">
            <a:avLst/>
          </a:prstGeom>
          <a:noFill/>
        </p:spPr>
        <p:txBody>
          <a:bodyPr wrap="square" lIns="0" rIns="0" tIns="0" bIns="0" anchor="ctr">
            <a:spAutoFit/>
          </a:bodyPr>
          <a:lstStyle/>
          <a:p>
            <a:pPr algn="ctr"/>
            <a:r>
              <a:rPr sz="2700" b="1" i="0">
                <a:solidFill>
                  <a:srgbClr val="E8C27A"/>
                </a:solidFill>
                <a:latin typeface="Geist Mono"/>
                <a:ea typeface="Geist Mono"/>
                <a:cs typeface="Geist Mono"/>
              </a:rPr>
              <a:t>6.28</a:t>
            </a:r>
          </a:p>
        </p:txBody>
      </p:sp>
      <p:sp>
        <p:nvSpPr>
          <p:cNvPr id="7" name="TextBox 6"/>
          <p:cNvSpPr txBox="1"/>
          <p:nvPr/>
        </p:nvSpPr>
        <p:spPr>
          <a:xfrm>
            <a:off x="3238500" y="2743200"/>
            <a:ext cx="4000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wheel_radians</a:t>
            </a:r>
          </a:p>
        </p:txBody>
      </p:sp>
      <p:sp>
        <p:nvSpPr>
          <p:cNvPr id="8" name="Rectangle 7"/>
          <p:cNvSpPr/>
          <p:nvPr/>
        </p:nvSpPr>
        <p:spPr>
          <a:xfrm>
            <a:off x="5219700" y="3829050"/>
            <a:ext cx="38100" cy="472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10800000">
            <a:off x="5162550" y="42672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39000" y="3048000"/>
            <a:ext cx="3238500" cy="762000"/>
          </a:xfrm>
          <a:prstGeom prst="roundRect">
            <a:avLst>
              <a:gd name="adj" fmla="val 1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39000" y="3048000"/>
            <a:ext cx="3238500" cy="762000"/>
          </a:xfrm>
          <a:prstGeom prst="rect">
            <a:avLst/>
          </a:prstGeom>
          <a:noFill/>
        </p:spPr>
        <p:txBody>
          <a:bodyPr wrap="square" lIns="0" rIns="0" tIns="0" bIns="0" anchor="ctr">
            <a:spAutoFit/>
          </a:bodyPr>
          <a:lstStyle/>
          <a:p>
            <a:pPr algn="ctr"/>
            <a:r>
              <a:rPr sz="2700" b="1" i="0">
                <a:solidFill>
                  <a:srgbClr val="E8C27A"/>
                </a:solidFill>
                <a:latin typeface="Geist Mono"/>
                <a:ea typeface="Geist Mono"/>
                <a:cs typeface="Geist Mono"/>
              </a:rPr>
              <a:t>0.0762</a:t>
            </a:r>
          </a:p>
        </p:txBody>
      </p:sp>
      <p:sp>
        <p:nvSpPr>
          <p:cNvPr id="12" name="TextBox 11"/>
          <p:cNvSpPr txBox="1"/>
          <p:nvPr/>
        </p:nvSpPr>
        <p:spPr>
          <a:xfrm>
            <a:off x="6858000" y="2743200"/>
            <a:ext cx="40005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wheel_radius_meters</a:t>
            </a:r>
          </a:p>
        </p:txBody>
      </p:sp>
      <p:sp>
        <p:nvSpPr>
          <p:cNvPr id="13" name="Rectangle 12"/>
          <p:cNvSpPr/>
          <p:nvPr/>
        </p:nvSpPr>
        <p:spPr>
          <a:xfrm>
            <a:off x="8839200" y="3829050"/>
            <a:ext cx="38100" cy="472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10800000">
            <a:off x="8782050" y="42672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72000" y="4476750"/>
            <a:ext cx="4953000" cy="2476500"/>
          </a:xfrm>
          <a:prstGeom prst="roundRect">
            <a:avLst>
              <a:gd name="adj" fmla="val 769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0" y="4953000"/>
            <a:ext cx="4953000" cy="571500"/>
          </a:xfrm>
          <a:prstGeom prst="rect">
            <a:avLst/>
          </a:prstGeom>
          <a:noFill/>
        </p:spPr>
        <p:txBody>
          <a:bodyPr wrap="square" lIns="0" rIns="0" tIns="0" bIns="0" anchor="t">
            <a:spAutoFit/>
          </a:bodyPr>
          <a:lstStyle/>
          <a:p>
            <a:pPr algn="ctr"/>
            <a:r>
              <a:rPr sz="2850" b="1" i="0">
                <a:solidFill>
                  <a:srgbClr val="F0E8E8"/>
                </a:solidFill>
                <a:latin typeface="Geist Mono"/>
                <a:ea typeface="Geist Mono"/>
                <a:cs typeface="Geist Mono"/>
              </a:rPr>
              <a:t>radiansToMeters</a:t>
            </a:r>
          </a:p>
        </p:txBody>
      </p:sp>
      <p:sp>
        <p:nvSpPr>
          <p:cNvPr id="17" name="TextBox 16"/>
          <p:cNvSpPr txBox="1"/>
          <p:nvPr/>
        </p:nvSpPr>
        <p:spPr>
          <a:xfrm>
            <a:off x="4572000" y="5715000"/>
            <a:ext cx="4953000" cy="476250"/>
          </a:xfrm>
          <a:prstGeom prst="rect">
            <a:avLst/>
          </a:prstGeom>
          <a:noFill/>
        </p:spPr>
        <p:txBody>
          <a:bodyPr wrap="square" lIns="0" rIns="0" tIns="0" bIns="0" anchor="t">
            <a:spAutoFit/>
          </a:bodyPr>
          <a:lstStyle/>
          <a:p>
            <a:pPr algn="ctr"/>
            <a:r>
              <a:rPr sz="2100" b="0" i="0">
                <a:solidFill>
                  <a:srgbClr val="9A7878"/>
                </a:solidFill>
                <a:latin typeface="Geist"/>
                <a:ea typeface="Geist"/>
                <a:cs typeface="Geist"/>
              </a:rPr>
              <a:t>radians × radius</a:t>
            </a:r>
          </a:p>
        </p:txBody>
      </p:sp>
      <p:sp>
        <p:nvSpPr>
          <p:cNvPr id="18" name="Rectangle 17"/>
          <p:cNvSpPr/>
          <p:nvPr/>
        </p:nvSpPr>
        <p:spPr>
          <a:xfrm>
            <a:off x="7019925" y="6962775"/>
            <a:ext cx="57150" cy="73228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10800000">
            <a:off x="6968490" y="7650480"/>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29250" y="7905750"/>
            <a:ext cx="3238500" cy="762000"/>
          </a:xfrm>
          <a:prstGeom prst="roundRect">
            <a:avLst>
              <a:gd name="adj" fmla="val 17500"/>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29250" y="7905750"/>
            <a:ext cx="3238500" cy="762000"/>
          </a:xfrm>
          <a:prstGeom prst="rect">
            <a:avLst/>
          </a:prstGeom>
          <a:noFill/>
        </p:spPr>
        <p:txBody>
          <a:bodyPr wrap="square" lIns="0" rIns="0" tIns="0" bIns="0" anchor="ctr">
            <a:spAutoFit/>
          </a:bodyPr>
          <a:lstStyle/>
          <a:p>
            <a:pPr algn="ctr"/>
            <a:r>
              <a:rPr sz="3000" b="1" i="0">
                <a:solidFill>
                  <a:srgbClr val="E8C27A"/>
                </a:solidFill>
                <a:latin typeface="Geist Mono"/>
                <a:ea typeface="Geist Mono"/>
                <a:cs typeface="Geist Mono"/>
              </a:rPr>
              <a:t>0.479</a:t>
            </a:r>
          </a:p>
        </p:txBody>
      </p:sp>
      <p:sp>
        <p:nvSpPr>
          <p:cNvPr id="22" name="TextBox 21"/>
          <p:cNvSpPr txBox="1"/>
          <p:nvPr/>
        </p:nvSpPr>
        <p:spPr>
          <a:xfrm>
            <a:off x="8858250" y="7905750"/>
            <a:ext cx="1905000" cy="7620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meters</a:t>
            </a:r>
          </a:p>
        </p:txBody>
      </p:sp>
      <p:sp>
        <p:nvSpPr>
          <p:cNvPr id="23" name="Oval 22"/>
          <p:cNvSpPr/>
          <p:nvPr/>
        </p:nvSpPr>
        <p:spPr>
          <a:xfrm>
            <a:off x="12763500" y="3238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76350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TextBox 24"/>
          <p:cNvSpPr txBox="1"/>
          <p:nvPr/>
        </p:nvSpPr>
        <p:spPr>
          <a:xfrm>
            <a:off x="13373100" y="3200400"/>
            <a:ext cx="400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Inputs</a:t>
            </a:r>
          </a:p>
        </p:txBody>
      </p:sp>
      <p:sp>
        <p:nvSpPr>
          <p:cNvPr id="26" name="TextBox 25"/>
          <p:cNvSpPr txBox="1"/>
          <p:nvPr/>
        </p:nvSpPr>
        <p:spPr>
          <a:xfrm>
            <a:off x="13373100" y="3619500"/>
            <a:ext cx="4000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go in as parameters</a:t>
            </a:r>
          </a:p>
        </p:txBody>
      </p:sp>
      <p:sp>
        <p:nvSpPr>
          <p:cNvPr id="27" name="Oval 26"/>
          <p:cNvSpPr/>
          <p:nvPr/>
        </p:nvSpPr>
        <p:spPr>
          <a:xfrm>
            <a:off x="12763500" y="4857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76350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TextBox 28"/>
          <p:cNvSpPr txBox="1"/>
          <p:nvPr/>
        </p:nvSpPr>
        <p:spPr>
          <a:xfrm>
            <a:off x="13373100" y="4819650"/>
            <a:ext cx="400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job</a:t>
            </a:r>
          </a:p>
        </p:txBody>
      </p:sp>
      <p:sp>
        <p:nvSpPr>
          <p:cNvPr id="30" name="TextBox 29"/>
          <p:cNvSpPr txBox="1"/>
          <p:nvPr/>
        </p:nvSpPr>
        <p:spPr>
          <a:xfrm>
            <a:off x="13373100" y="5238750"/>
            <a:ext cx="4000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the body does the math</a:t>
            </a:r>
          </a:p>
        </p:txBody>
      </p:sp>
      <p:sp>
        <p:nvSpPr>
          <p:cNvPr id="31" name="Oval 30"/>
          <p:cNvSpPr/>
          <p:nvPr/>
        </p:nvSpPr>
        <p:spPr>
          <a:xfrm>
            <a:off x="12763500" y="6477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76350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TextBox 32"/>
          <p:cNvSpPr txBox="1"/>
          <p:nvPr/>
        </p:nvSpPr>
        <p:spPr>
          <a:xfrm>
            <a:off x="13373100" y="6438900"/>
            <a:ext cx="4000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answer</a:t>
            </a:r>
          </a:p>
        </p:txBody>
      </p:sp>
      <p:sp>
        <p:nvSpPr>
          <p:cNvPr id="34" name="TextBox 33"/>
          <p:cNvSpPr txBox="1"/>
          <p:nvPr/>
        </p:nvSpPr>
        <p:spPr>
          <a:xfrm>
            <a:off x="13373100" y="6858000"/>
            <a:ext cx="40005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comes back with return</a:t>
            </a:r>
          </a:p>
        </p:txBody>
      </p:sp>
      <p:sp>
        <p:nvSpPr>
          <p:cNvPr id="35" name="Oval 34"/>
          <p:cNvSpPr/>
          <p:nvPr/>
        </p:nvSpPr>
        <p:spPr>
          <a:xfrm>
            <a:off x="3048000" y="32194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48000" y="3219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7" name="Oval 36"/>
          <p:cNvSpPr/>
          <p:nvPr/>
        </p:nvSpPr>
        <p:spPr>
          <a:xfrm>
            <a:off x="967740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740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Oval 38"/>
          <p:cNvSpPr/>
          <p:nvPr/>
        </p:nvSpPr>
        <p:spPr>
          <a:xfrm>
            <a:off x="4857750" y="80772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57750" y="80772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Anatomy of a method</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Return type, name, parameters, return</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method is a job with a name. Hand it numbers, get an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parts of a method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3238500"/>
            <a:ext cx="3581400" cy="533400"/>
          </a:xfrm>
          <a:prstGeom prst="rect">
            <a:avLst/>
          </a:prstGeom>
          <a:noFill/>
        </p:spPr>
        <p:txBody>
          <a:bodyPr wrap="square" lIns="0" rIns="0" tIns="0" bIns="0" anchor="t">
            <a:spAutoFit/>
          </a:bodyPr>
          <a:lstStyle/>
          <a:p>
            <a:pPr algn="l"/>
            <a:r>
              <a:rPr sz="3000" b="1" i="0">
                <a:solidFill>
                  <a:srgbClr val="E0785F"/>
                </a:solidFill>
                <a:latin typeface="Geist Mono"/>
                <a:ea typeface="Geist Mono"/>
                <a:cs typeface="Geist Mono"/>
              </a:rPr>
              <a:t>public static </a:t>
            </a:r>
          </a:p>
        </p:txBody>
      </p:sp>
      <p:sp>
        <p:nvSpPr>
          <p:cNvPr id="7" name="Rectangle 6"/>
          <p:cNvSpPr/>
          <p:nvPr/>
        </p:nvSpPr>
        <p:spPr>
          <a:xfrm>
            <a:off x="1452562" y="3814762"/>
            <a:ext cx="31527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790700" y="394335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who can call it</a:t>
            </a:r>
          </a:p>
        </p:txBody>
      </p:sp>
      <p:sp>
        <p:nvSpPr>
          <p:cNvPr id="9" name="TextBox 8"/>
          <p:cNvSpPr txBox="1"/>
          <p:nvPr/>
        </p:nvSpPr>
        <p:spPr>
          <a:xfrm>
            <a:off x="4629150" y="3238500"/>
            <a:ext cx="1981200" cy="533400"/>
          </a:xfrm>
          <a:prstGeom prst="rect">
            <a:avLst/>
          </a:prstGeom>
          <a:noFill/>
        </p:spPr>
        <p:txBody>
          <a:bodyPr wrap="square" lIns="0" rIns="0" tIns="0" bIns="0" anchor="t">
            <a:spAutoFit/>
          </a:bodyPr>
          <a:lstStyle/>
          <a:p>
            <a:pPr algn="l"/>
            <a:r>
              <a:rPr sz="3000" b="1" i="0">
                <a:solidFill>
                  <a:srgbClr val="E0785F"/>
                </a:solidFill>
                <a:latin typeface="Geist Mono"/>
                <a:ea typeface="Geist Mono"/>
                <a:cs typeface="Geist Mono"/>
              </a:rPr>
              <a:t>double </a:t>
            </a:r>
          </a:p>
        </p:txBody>
      </p:sp>
      <p:sp>
        <p:nvSpPr>
          <p:cNvPr id="10" name="Rectangle 9"/>
          <p:cNvSpPr/>
          <p:nvPr/>
        </p:nvSpPr>
        <p:spPr>
          <a:xfrm>
            <a:off x="4652962" y="3814762"/>
            <a:ext cx="1552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91000" y="394335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return type</a:t>
            </a:r>
          </a:p>
        </p:txBody>
      </p:sp>
      <p:sp>
        <p:nvSpPr>
          <p:cNvPr id="12" name="TextBox 11"/>
          <p:cNvSpPr txBox="1"/>
          <p:nvPr/>
        </p:nvSpPr>
        <p:spPr>
          <a:xfrm>
            <a:off x="6229350" y="3238500"/>
            <a:ext cx="3124200" cy="533400"/>
          </a:xfrm>
          <a:prstGeom prst="rect">
            <a:avLst/>
          </a:prstGeom>
          <a:noFill/>
        </p:spPr>
        <p:txBody>
          <a:bodyPr wrap="square" lIns="0" rIns="0" tIns="0" bIns="0" anchor="t">
            <a:spAutoFit/>
          </a:bodyPr>
          <a:lstStyle/>
          <a:p>
            <a:pPr algn="l"/>
            <a:r>
              <a:rPr sz="3000" b="1" i="0">
                <a:solidFill>
                  <a:srgbClr val="E0404B"/>
                </a:solidFill>
                <a:latin typeface="Geist Mono"/>
                <a:ea typeface="Geist Mono"/>
                <a:cs typeface="Geist Mono"/>
              </a:rPr>
              <a:t>toFahrenheit</a:t>
            </a:r>
          </a:p>
        </p:txBody>
      </p:sp>
      <p:sp>
        <p:nvSpPr>
          <p:cNvPr id="13" name="Rectangle 12"/>
          <p:cNvSpPr/>
          <p:nvPr/>
        </p:nvSpPr>
        <p:spPr>
          <a:xfrm>
            <a:off x="6253162" y="3814762"/>
            <a:ext cx="2695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62700" y="394335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name</a:t>
            </a:r>
          </a:p>
        </p:txBody>
      </p:sp>
      <p:sp>
        <p:nvSpPr>
          <p:cNvPr id="15" name="TextBox 14"/>
          <p:cNvSpPr txBox="1"/>
          <p:nvPr/>
        </p:nvSpPr>
        <p:spPr>
          <a:xfrm>
            <a:off x="8972550" y="3238500"/>
            <a:ext cx="4038600" cy="5334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(double celsius)</a:t>
            </a:r>
          </a:p>
        </p:txBody>
      </p:sp>
      <p:sp>
        <p:nvSpPr>
          <p:cNvPr id="16" name="Rectangle 15"/>
          <p:cNvSpPr/>
          <p:nvPr/>
        </p:nvSpPr>
        <p:spPr>
          <a:xfrm>
            <a:off x="8996362" y="3814762"/>
            <a:ext cx="3609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63100" y="394335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parameter</a:t>
            </a:r>
          </a:p>
        </p:txBody>
      </p:sp>
      <p:sp>
        <p:nvSpPr>
          <p:cNvPr id="18" name="TextBox 17"/>
          <p:cNvSpPr txBox="1"/>
          <p:nvPr/>
        </p:nvSpPr>
        <p:spPr>
          <a:xfrm>
            <a:off x="12630150" y="3238500"/>
            <a:ext cx="838200" cy="5334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 {</a:t>
            </a:r>
          </a:p>
        </p:txBody>
      </p:sp>
      <p:sp>
        <p:nvSpPr>
          <p:cNvPr id="19" name="Rounded Rectangle 18"/>
          <p:cNvSpPr/>
          <p:nvPr/>
        </p:nvSpPr>
        <p:spPr>
          <a:xfrm>
            <a:off x="914400" y="5524500"/>
            <a:ext cx="10096500" cy="2042160"/>
          </a:xfrm>
          <a:prstGeom prst="roundRect">
            <a:avLst>
              <a:gd name="adj" fmla="val 746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33450" y="6332220"/>
            <a:ext cx="10058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33450" y="6332220"/>
            <a:ext cx="57150" cy="42672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5905500"/>
            <a:ext cx="95631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public</a:t>
            </a:r>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static</a:t>
            </a:r>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toFahrenheit(</a:t>
            </a:r>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celsius) {</a:t>
            </a:r>
          </a:p>
        </p:txBody>
      </p:sp>
      <p:sp>
        <p:nvSpPr>
          <p:cNvPr id="23" name="TextBox 22"/>
          <p:cNvSpPr txBox="1"/>
          <p:nvPr/>
        </p:nvSpPr>
        <p:spPr>
          <a:xfrm>
            <a:off x="1295400" y="6332220"/>
            <a:ext cx="9563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return</a:t>
            </a:r>
            <a:r>
              <a:rPr sz="2100" b="0" i="0">
                <a:solidFill>
                  <a:srgbClr val="F0E8E8"/>
                </a:solidFill>
                <a:latin typeface="Geist Mono"/>
                <a:ea typeface="Geist Mono"/>
                <a:cs typeface="Geist Mono"/>
              </a:rPr>
              <a:t> celsius * </a:t>
            </a:r>
            <a:r>
              <a:rPr sz="2100" b="0" i="0">
                <a:solidFill>
                  <a:srgbClr val="E8C27A"/>
                </a:solidFill>
                <a:latin typeface="Geist Mono"/>
                <a:ea typeface="Geist Mono"/>
                <a:cs typeface="Geist Mono"/>
              </a:rPr>
              <a:t>9.0</a:t>
            </a:r>
            <a:r>
              <a:rPr sz="2100" b="0" i="0">
                <a:solidFill>
                  <a:srgbClr val="F0E8E8"/>
                </a:solidFill>
                <a:latin typeface="Geist Mono"/>
                <a:ea typeface="Geist Mono"/>
                <a:cs typeface="Geist Mono"/>
              </a:rPr>
              <a:t> / </a:t>
            </a:r>
            <a:r>
              <a:rPr sz="2100" b="0" i="0">
                <a:solidFill>
                  <a:srgbClr val="E8C27A"/>
                </a:solidFill>
                <a:latin typeface="Geist Mono"/>
                <a:ea typeface="Geist Mono"/>
                <a:cs typeface="Geist Mono"/>
              </a:rPr>
              <a:t>5.0</a:t>
            </a:r>
            <a:r>
              <a:rPr sz="2100" b="0" i="0">
                <a:solidFill>
                  <a:srgbClr val="F0E8E8"/>
                </a:solidFill>
                <a:latin typeface="Geist Mono"/>
                <a:ea typeface="Geist Mono"/>
                <a:cs typeface="Geist Mono"/>
              </a:rPr>
              <a:t> + </a:t>
            </a:r>
            <a:r>
              <a:rPr sz="2100" b="0" i="0">
                <a:solidFill>
                  <a:srgbClr val="E8C27A"/>
                </a:solidFill>
                <a:latin typeface="Geist Mono"/>
                <a:ea typeface="Geist Mono"/>
                <a:cs typeface="Geist Mono"/>
              </a:rPr>
              <a:t>32.0</a:t>
            </a:r>
            <a:r>
              <a:rPr sz="2100" b="0" i="0">
                <a:solidFill>
                  <a:srgbClr val="F0E8E8"/>
                </a:solidFill>
                <a:latin typeface="Geist Mono"/>
                <a:ea typeface="Geist Mono"/>
                <a:cs typeface="Geist Mono"/>
              </a:rPr>
              <a:t>;</a:t>
            </a:r>
          </a:p>
        </p:txBody>
      </p:sp>
      <p:sp>
        <p:nvSpPr>
          <p:cNvPr id="24" name="TextBox 23"/>
          <p:cNvSpPr txBox="1"/>
          <p:nvPr/>
        </p:nvSpPr>
        <p:spPr>
          <a:xfrm>
            <a:off x="1295400" y="6758940"/>
            <a:ext cx="9563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t>
            </a:r>
          </a:p>
        </p:txBody>
      </p:sp>
      <p:sp>
        <p:nvSpPr>
          <p:cNvPr id="25" name="Oval 24"/>
          <p:cNvSpPr/>
          <p:nvPr/>
        </p:nvSpPr>
        <p:spPr>
          <a:xfrm>
            <a:off x="10401300" y="592836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01300" y="59283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Oval 26"/>
          <p:cNvSpPr/>
          <p:nvPr/>
        </p:nvSpPr>
        <p:spPr>
          <a:xfrm>
            <a:off x="10401300" y="635508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01300" y="635508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Oval 28"/>
          <p:cNvSpPr/>
          <p:nvPr/>
        </p:nvSpPr>
        <p:spPr>
          <a:xfrm>
            <a:off x="11677650" y="5524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77650" y="5524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2287250" y="5486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Signature</a:t>
            </a:r>
          </a:p>
        </p:txBody>
      </p:sp>
      <p:sp>
        <p:nvSpPr>
          <p:cNvPr id="32" name="TextBox 31"/>
          <p:cNvSpPr txBox="1"/>
          <p:nvPr/>
        </p:nvSpPr>
        <p:spPr>
          <a:xfrm>
            <a:off x="12287250" y="5905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first line: name, answer type, inputs</a:t>
            </a:r>
          </a:p>
        </p:txBody>
      </p:sp>
      <p:sp>
        <p:nvSpPr>
          <p:cNvPr id="33" name="Oval 32"/>
          <p:cNvSpPr/>
          <p:nvPr/>
        </p:nvSpPr>
        <p:spPr>
          <a:xfrm>
            <a:off x="11677650" y="695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677650" y="695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2287250" y="69151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Body and return</a:t>
            </a:r>
          </a:p>
        </p:txBody>
      </p:sp>
      <p:sp>
        <p:nvSpPr>
          <p:cNvPr id="36" name="TextBox 35"/>
          <p:cNvSpPr txBox="1"/>
          <p:nvPr/>
        </p:nvSpPr>
        <p:spPr>
          <a:xfrm>
            <a:off x="12287250" y="73342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work inside { }. return hands back the answer</a:t>
            </a:r>
          </a:p>
        </p:txBody>
      </p:sp>
      <p:pic>
        <p:nvPicPr>
          <p:cNvPr id="37" name="Picture 36" descr="code-slash.png"/>
          <p:cNvPicPr>
            <a:picLocks noChangeAspect="1"/>
          </p:cNvPicPr>
          <p:nvPr/>
        </p:nvPicPr>
        <p:blipFill>
          <a:blip r:embed="rId3"/>
          <a:stretch>
            <a:fillRect/>
          </a:stretch>
        </p:blipFill>
        <p:spPr>
          <a:xfrm>
            <a:off x="914400" y="8610600"/>
            <a:ext cx="224518" cy="209550"/>
          </a:xfrm>
          <a:prstGeom prst="rect">
            <a:avLst/>
          </a:prstGeom>
        </p:spPr>
      </p:pic>
      <p:sp>
        <p:nvSpPr>
          <p:cNvPr id="38" name="TextBox 37"/>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Methods</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Defining vs calling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5715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DEFINE IT ONCE</a:t>
            </a:r>
          </a:p>
        </p:txBody>
      </p:sp>
      <p:sp>
        <p:nvSpPr>
          <p:cNvPr id="6" name="Rounded Rectangle 5"/>
          <p:cNvSpPr/>
          <p:nvPr/>
        </p:nvSpPr>
        <p:spPr>
          <a:xfrm>
            <a:off x="914400" y="3143250"/>
            <a:ext cx="1181100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11277600" cy="48768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public</a:t>
            </a:r>
            <a:r>
              <a:rPr sz="2400" b="0" i="0">
                <a:solidFill>
                  <a:srgbClr val="F0E8E8"/>
                </a:solidFill>
                <a:latin typeface="Geist Mono"/>
                <a:ea typeface="Geist Mono"/>
                <a:cs typeface="Geist Mono"/>
              </a:rPr>
              <a:t> </a:t>
            </a:r>
            <a:r>
              <a:rPr sz="2400" b="0" i="0">
                <a:solidFill>
                  <a:srgbClr val="E0785F"/>
                </a:solidFill>
                <a:latin typeface="Geist Mono"/>
                <a:ea typeface="Geist Mono"/>
                <a:cs typeface="Geist Mono"/>
              </a:rPr>
              <a:t>static</a:t>
            </a:r>
            <a:r>
              <a:rPr sz="2400" b="0" i="0">
                <a:solidFill>
                  <a:srgbClr val="F0E8E8"/>
                </a:solidFill>
                <a:latin typeface="Geist Mono"/>
                <a:ea typeface="Geist Mono"/>
                <a:cs typeface="Geist Mono"/>
              </a:rPr>
              <a:t> </a:t>
            </a:r>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 toFahrenheit(</a:t>
            </a:r>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 celsius) {</a:t>
            </a:r>
          </a:p>
        </p:txBody>
      </p:sp>
      <p:sp>
        <p:nvSpPr>
          <p:cNvPr id="8" name="TextBox 7"/>
          <p:cNvSpPr txBox="1"/>
          <p:nvPr/>
        </p:nvSpPr>
        <p:spPr>
          <a:xfrm>
            <a:off x="1295400" y="4011930"/>
            <a:ext cx="11277600" cy="487680"/>
          </a:xfrm>
          <a:prstGeom prst="rect">
            <a:avLst/>
          </a:prstGeom>
          <a:noFill/>
        </p:spPr>
        <p:txBody>
          <a:bodyPr wrap="square" lIns="0" rIns="0" tIns="0" bIns="0" anchor="ctr">
            <a:spAutoFit/>
          </a:bodyPr>
          <a:lstStyle/>
          <a:p>
            <a:pPr algn="l"/>
            <a:r>
              <a:rPr sz="2400" b="0" i="0">
                <a:solidFill>
                  <a:srgbClr val="F0E8E8"/>
                </a:solidFill>
                <a:latin typeface="Geist Mono"/>
                <a:ea typeface="Geist Mono"/>
                <a:cs typeface="Geist Mono"/>
              </a:rPr>
              <a:t>  </a:t>
            </a:r>
            <a:r>
              <a:rPr sz="2400" b="0" i="0">
                <a:solidFill>
                  <a:srgbClr val="E0785F"/>
                </a:solidFill>
                <a:latin typeface="Geist Mono"/>
                <a:ea typeface="Geist Mono"/>
                <a:cs typeface="Geist Mono"/>
              </a:rPr>
              <a:t>return</a:t>
            </a:r>
            <a:r>
              <a:rPr sz="2400" b="0" i="0">
                <a:solidFill>
                  <a:srgbClr val="F0E8E8"/>
                </a:solidFill>
                <a:latin typeface="Geist Mono"/>
                <a:ea typeface="Geist Mono"/>
                <a:cs typeface="Geist Mono"/>
              </a:rPr>
              <a:t> celsius * </a:t>
            </a:r>
            <a:r>
              <a:rPr sz="2400" b="0" i="0">
                <a:solidFill>
                  <a:srgbClr val="E8C27A"/>
                </a:solidFill>
                <a:latin typeface="Geist Mono"/>
                <a:ea typeface="Geist Mono"/>
                <a:cs typeface="Geist Mono"/>
              </a:rPr>
              <a:t>9.0</a:t>
            </a:r>
            <a:r>
              <a:rPr sz="2400" b="0" i="0">
                <a:solidFill>
                  <a:srgbClr val="F0E8E8"/>
                </a:solidFill>
                <a:latin typeface="Geist Mono"/>
                <a:ea typeface="Geist Mono"/>
                <a:cs typeface="Geist Mono"/>
              </a:rPr>
              <a:t> / </a:t>
            </a:r>
            <a:r>
              <a:rPr sz="2400" b="0" i="0">
                <a:solidFill>
                  <a:srgbClr val="E8C27A"/>
                </a:solidFill>
                <a:latin typeface="Geist Mono"/>
                <a:ea typeface="Geist Mono"/>
                <a:cs typeface="Geist Mono"/>
              </a:rPr>
              <a:t>5.0</a:t>
            </a:r>
            <a:r>
              <a:rPr sz="2400" b="0" i="0">
                <a:solidFill>
                  <a:srgbClr val="F0E8E8"/>
                </a:solidFill>
                <a:latin typeface="Geist Mono"/>
                <a:ea typeface="Geist Mono"/>
                <a:cs typeface="Geist Mono"/>
              </a:rPr>
              <a:t> + </a:t>
            </a:r>
            <a:r>
              <a:rPr sz="2400" b="0" i="0">
                <a:solidFill>
                  <a:srgbClr val="E8C27A"/>
                </a:solidFill>
                <a:latin typeface="Geist Mono"/>
                <a:ea typeface="Geist Mono"/>
                <a:cs typeface="Geist Mono"/>
              </a:rPr>
              <a:t>32.0</a:t>
            </a:r>
            <a:r>
              <a:rPr sz="2400" b="0" i="0">
                <a:solidFill>
                  <a:srgbClr val="F0E8E8"/>
                </a:solidFill>
                <a:latin typeface="Geist Mono"/>
                <a:ea typeface="Geist Mono"/>
                <a:cs typeface="Geist Mono"/>
              </a:rPr>
              <a:t>;</a:t>
            </a:r>
          </a:p>
        </p:txBody>
      </p:sp>
      <p:sp>
        <p:nvSpPr>
          <p:cNvPr id="9" name="TextBox 8"/>
          <p:cNvSpPr txBox="1"/>
          <p:nvPr/>
        </p:nvSpPr>
        <p:spPr>
          <a:xfrm>
            <a:off x="1295400" y="4499610"/>
            <a:ext cx="11277600" cy="487680"/>
          </a:xfrm>
          <a:prstGeom prst="rect">
            <a:avLst/>
          </a:prstGeom>
          <a:noFill/>
        </p:spPr>
        <p:txBody>
          <a:bodyPr wrap="square" lIns="0" rIns="0" tIns="0" bIns="0" anchor="ctr">
            <a:spAutoFit/>
          </a:bodyPr>
          <a:lstStyle/>
          <a:p>
            <a:pPr algn="l"/>
            <a:r>
              <a:rPr sz="2400" b="0" i="0">
                <a:solidFill>
                  <a:srgbClr val="F0E8E8"/>
                </a:solidFill>
                <a:latin typeface="Geist Mono"/>
                <a:ea typeface="Geist Mono"/>
                <a:cs typeface="Geist Mono"/>
              </a:rPr>
              <a:t>}</a:t>
            </a:r>
          </a:p>
        </p:txBody>
      </p:sp>
      <p:sp>
        <p:nvSpPr>
          <p:cNvPr id="10" name="TextBox 9"/>
          <p:cNvSpPr txBox="1"/>
          <p:nvPr/>
        </p:nvSpPr>
        <p:spPr>
          <a:xfrm>
            <a:off x="4206240" y="6477000"/>
            <a:ext cx="5715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CALL IT</a:t>
            </a:r>
          </a:p>
        </p:txBody>
      </p:sp>
      <p:sp>
        <p:nvSpPr>
          <p:cNvPr id="11" name="Rounded Rectangle 10"/>
          <p:cNvSpPr/>
          <p:nvPr/>
        </p:nvSpPr>
        <p:spPr>
          <a:xfrm>
            <a:off x="4206240" y="6858000"/>
            <a:ext cx="6431280" cy="1249680"/>
          </a:xfrm>
          <a:prstGeom prst="roundRect">
            <a:avLst>
              <a:gd name="adj" fmla="val 1219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87240" y="7239000"/>
            <a:ext cx="5897880" cy="48768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 f = toFahrenheit(</a:t>
            </a:r>
            <a:r>
              <a:rPr sz="2400" b="0" i="0">
                <a:solidFill>
                  <a:srgbClr val="E8C27A"/>
                </a:solidFill>
                <a:latin typeface="Geist Mono"/>
                <a:ea typeface="Geist Mono"/>
                <a:cs typeface="Geist Mono"/>
              </a:rPr>
              <a:t>100.0</a:t>
            </a:r>
            <a:r>
              <a:rPr sz="2400" b="0" i="0">
                <a:solidFill>
                  <a:srgbClr val="F0E8E8"/>
                </a:solidFill>
                <a:latin typeface="Geist Mono"/>
                <a:ea typeface="Geist Mono"/>
                <a:cs typeface="Geist Mono"/>
              </a:rPr>
              <a:t>);</a:t>
            </a:r>
          </a:p>
        </p:txBody>
      </p:sp>
      <p:sp>
        <p:nvSpPr>
          <p:cNvPr id="13" name="Rectangle 12"/>
          <p:cNvSpPr/>
          <p:nvPr/>
        </p:nvSpPr>
        <p:spPr>
          <a:xfrm>
            <a:off x="9409748" y="4163377"/>
            <a:ext cx="47625" cy="300418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a:off x="9357360" y="405003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62160" y="5558790"/>
            <a:ext cx="4000500" cy="666750"/>
          </a:xfrm>
          <a:prstGeom prst="rect">
            <a:avLst/>
          </a:prstGeom>
          <a:noFill/>
        </p:spPr>
        <p:txBody>
          <a:bodyPr wrap="square" lIns="0" rIns="0" tIns="0" bIns="0" anchor="t">
            <a:spAutoFit/>
          </a:bodyPr>
          <a:lstStyle/>
          <a:p>
            <a:pPr algn="l">
              <a:lnSpc>
                <a:spcPct val="120000"/>
              </a:lnSpc>
            </a:pPr>
            <a:r>
              <a:rPr sz="1800" b="0" i="0">
                <a:solidFill>
                  <a:srgbClr val="F0E8E8"/>
                </a:solidFill>
                <a:latin typeface="Geist"/>
                <a:ea typeface="Geist"/>
                <a:cs typeface="Geist"/>
              </a:rPr>
              <a:t>100.0 is copied into celsius</a:t>
            </a:r>
          </a:p>
        </p:txBody>
      </p:sp>
      <p:sp>
        <p:nvSpPr>
          <p:cNvPr id="16" name="Rounded Rectangle 15"/>
          <p:cNvSpPr/>
          <p:nvPr/>
        </p:nvSpPr>
        <p:spPr>
          <a:xfrm>
            <a:off x="914400" y="6858000"/>
            <a:ext cx="3143250" cy="1249680"/>
          </a:xfrm>
          <a:prstGeom prst="roundRect">
            <a:avLst>
              <a:gd name="adj" fmla="val 12195"/>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4400" y="6858000"/>
            <a:ext cx="3143250" cy="1249680"/>
          </a:xfrm>
          <a:prstGeom prst="rect">
            <a:avLst/>
          </a:prstGeom>
          <a:noFill/>
        </p:spPr>
        <p:txBody>
          <a:bodyPr wrap="square" lIns="0" rIns="0" tIns="0" bIns="0" anchor="ctr">
            <a:spAutoFit/>
          </a:bodyPr>
          <a:lstStyle/>
          <a:p>
            <a:pPr algn="ctr"/>
            <a:r>
              <a:rPr sz="2550" b="1" i="0">
                <a:solidFill>
                  <a:srgbClr val="F0E8E8"/>
                </a:solidFill>
                <a:latin typeface="Geist Mono"/>
                <a:ea typeface="Geist Mono"/>
                <a:cs typeface="Geist Mono"/>
              </a:rPr>
              <a:t>f = </a:t>
            </a:r>
            <a:r>
              <a:rPr sz="2550" b="1" i="0">
                <a:solidFill>
                  <a:srgbClr val="E8C27A"/>
                </a:solidFill>
                <a:latin typeface="Geist Mono"/>
                <a:ea typeface="Geist Mono"/>
                <a:cs typeface="Geist Mono"/>
              </a:rPr>
              <a:t>212.0</a:t>
            </a:r>
          </a:p>
        </p:txBody>
      </p:sp>
      <p:sp>
        <p:nvSpPr>
          <p:cNvPr id="18" name="Rectangle 17"/>
          <p:cNvSpPr/>
          <p:nvPr/>
        </p:nvSpPr>
        <p:spPr>
          <a:xfrm>
            <a:off x="2094547" y="4418648"/>
            <a:ext cx="47625" cy="224980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10800000">
            <a:off x="2042160" y="66294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46960" y="5558790"/>
            <a:ext cx="2857500" cy="666750"/>
          </a:xfrm>
          <a:prstGeom prst="rect">
            <a:avLst/>
          </a:prstGeom>
          <a:noFill/>
        </p:spPr>
        <p:txBody>
          <a:bodyPr wrap="square" lIns="0" rIns="0" tIns="0" bIns="0" anchor="t">
            <a:spAutoFit/>
          </a:bodyPr>
          <a:lstStyle/>
          <a:p>
            <a:pPr algn="l">
              <a:lnSpc>
                <a:spcPct val="120000"/>
              </a:lnSpc>
            </a:pPr>
            <a:r>
              <a:rPr sz="1800" b="0" i="0">
                <a:solidFill>
                  <a:srgbClr val="F0E8E8"/>
                </a:solidFill>
                <a:latin typeface="Geist"/>
                <a:ea typeface="Geist"/>
                <a:cs typeface="Geist"/>
              </a:rPr>
              <a:t>return hands back 212.0</a:t>
            </a:r>
          </a:p>
        </p:txBody>
      </p:sp>
      <p:sp>
        <p:nvSpPr>
          <p:cNvPr id="21" name="TextBox 20"/>
          <p:cNvSpPr txBox="1"/>
          <p:nvPr/>
        </p:nvSpPr>
        <p:spPr>
          <a:xfrm>
            <a:off x="914400" y="8858250"/>
            <a:ext cx="16459200" cy="381000"/>
          </a:xfrm>
          <a:prstGeom prst="rect">
            <a:avLst/>
          </a:prstGeom>
          <a:noFill/>
        </p:spPr>
        <p:txBody>
          <a:bodyPr wrap="square" lIns="0" rIns="0" tIns="0" bIns="0" anchor="t">
            <a:spAutoFit/>
          </a:bodyPr>
          <a:lstStyle/>
          <a:p>
            <a:pPr algn="l"/>
            <a:r>
              <a:rPr sz="1950" b="1" i="0">
                <a:solidFill>
                  <a:srgbClr val="9A7878"/>
                </a:solidFill>
                <a:latin typeface="Geist"/>
                <a:ea typeface="Geist"/>
                <a:cs typeface="Geist"/>
              </a:rPr>
              <a:t>Parameter</a:t>
            </a:r>
            <a:r>
              <a:rPr sz="1950" b="0" i="0">
                <a:solidFill>
                  <a:srgbClr val="9A7878"/>
                </a:solidFill>
                <a:latin typeface="Geist"/>
                <a:ea typeface="Geist"/>
                <a:cs typeface="Geist"/>
              </a:rPr>
              <a:t>: the name inside the method.   </a:t>
            </a:r>
            <a:r>
              <a:rPr sz="1950" b="1" i="0">
                <a:solidFill>
                  <a:srgbClr val="9A7878"/>
                </a:solidFill>
                <a:latin typeface="Geist"/>
                <a:ea typeface="Geist"/>
                <a:cs typeface="Geist"/>
              </a:rPr>
              <a:t>Argument</a:t>
            </a:r>
            <a:r>
              <a:rPr sz="1950" b="0" i="0">
                <a:solidFill>
                  <a:srgbClr val="9A7878"/>
                </a:solidFill>
                <a:latin typeface="Geist"/>
                <a:ea typeface="Geist"/>
                <a:cs typeface="Geist"/>
              </a:rPr>
              <a:t>: the value you pass in when you call it.</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Define once, call many times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0960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28950"/>
            <a:ext cx="5524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getLeftMeters()</a:t>
            </a:r>
          </a:p>
        </p:txBody>
      </p:sp>
      <p:sp>
        <p:nvSpPr>
          <p:cNvPr id="7" name="TextBox 6"/>
          <p:cNvSpPr txBox="1"/>
          <p:nvPr/>
        </p:nvSpPr>
        <p:spPr>
          <a:xfrm>
            <a:off x="1295400" y="348615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passes the left position in rad</a:t>
            </a:r>
          </a:p>
        </p:txBody>
      </p:sp>
      <p:cxnSp>
        <p:nvCxnSpPr>
          <p:cNvPr id="8" name="Connector 7"/>
          <p:cNvCxnSpPr/>
          <p:nvPr/>
        </p:nvCxnSpPr>
        <p:spPr>
          <a:xfrm>
            <a:off x="7086600" y="3429000"/>
            <a:ext cx="2438400" cy="22860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 y="4286250"/>
            <a:ext cx="60960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457700"/>
            <a:ext cx="5524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getRightMeters()</a:t>
            </a:r>
          </a:p>
        </p:txBody>
      </p:sp>
      <p:sp>
        <p:nvSpPr>
          <p:cNvPr id="11" name="TextBox 10"/>
          <p:cNvSpPr txBox="1"/>
          <p:nvPr/>
        </p:nvSpPr>
        <p:spPr>
          <a:xfrm>
            <a:off x="1295400" y="49149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passes the right position in rad</a:t>
            </a:r>
          </a:p>
        </p:txBody>
      </p:sp>
      <p:cxnSp>
        <p:nvCxnSpPr>
          <p:cNvPr id="12" name="Connector 11"/>
          <p:cNvCxnSpPr/>
          <p:nvPr/>
        </p:nvCxnSpPr>
        <p:spPr>
          <a:xfrm>
            <a:off x="7086600" y="4857750"/>
            <a:ext cx="2438400" cy="85725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5715000"/>
            <a:ext cx="60960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5886450"/>
            <a:ext cx="5524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getLeftMetersPerSecond()</a:t>
            </a:r>
          </a:p>
        </p:txBody>
      </p:sp>
      <p:sp>
        <p:nvSpPr>
          <p:cNvPr id="15" name="TextBox 14"/>
          <p:cNvSpPr txBox="1"/>
          <p:nvPr/>
        </p:nvSpPr>
        <p:spPr>
          <a:xfrm>
            <a:off x="1295400" y="634365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passes the left velocity in rad/s</a:t>
            </a:r>
          </a:p>
        </p:txBody>
      </p:sp>
      <p:cxnSp>
        <p:nvCxnSpPr>
          <p:cNvPr id="16" name="Connector 15"/>
          <p:cNvCxnSpPr/>
          <p:nvPr/>
        </p:nvCxnSpPr>
        <p:spPr>
          <a:xfrm flipV="1">
            <a:off x="7086600" y="5715000"/>
            <a:ext cx="2438400" cy="5715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14400" y="7143750"/>
            <a:ext cx="60960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7315200"/>
            <a:ext cx="5524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getRightMetersPerSecond()</a:t>
            </a:r>
          </a:p>
        </p:txBody>
      </p:sp>
      <p:sp>
        <p:nvSpPr>
          <p:cNvPr id="19" name="TextBox 18"/>
          <p:cNvSpPr txBox="1"/>
          <p:nvPr/>
        </p:nvSpPr>
        <p:spPr>
          <a:xfrm>
            <a:off x="1295400" y="7772400"/>
            <a:ext cx="5524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passes the right velocity in rad/s</a:t>
            </a:r>
          </a:p>
        </p:txBody>
      </p:sp>
      <p:cxnSp>
        <p:nvCxnSpPr>
          <p:cNvPr id="20" name="Connector 19"/>
          <p:cNvCxnSpPr/>
          <p:nvPr/>
        </p:nvCxnSpPr>
        <p:spPr>
          <a:xfrm flipV="1">
            <a:off x="7086600" y="5715000"/>
            <a:ext cx="2438400" cy="200025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620250" y="4572000"/>
            <a:ext cx="4953000" cy="2286000"/>
          </a:xfrm>
          <a:prstGeom prst="roundRect">
            <a:avLst>
              <a:gd name="adj" fmla="val 75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20250" y="4857750"/>
            <a:ext cx="4953000" cy="381000"/>
          </a:xfrm>
          <a:prstGeom prst="rect">
            <a:avLst/>
          </a:prstGeom>
          <a:noFill/>
        </p:spPr>
        <p:txBody>
          <a:bodyPr wrap="square" lIns="0" rIns="0" tIns="0" bIns="0" anchor="t">
            <a:spAutoFit/>
          </a:bodyPr>
          <a:lstStyle/>
          <a:p>
            <a:pPr algn="ctr"/>
            <a:r>
              <a:rPr sz="1950" b="0" i="0">
                <a:solidFill>
                  <a:srgbClr val="9A7878"/>
                </a:solidFill>
                <a:latin typeface="Geist Mono"/>
                <a:ea typeface="Geist Mono"/>
                <a:cs typeface="Geist Mono"/>
              </a:rPr>
              <a:t>DriveMath</a:t>
            </a:r>
          </a:p>
        </p:txBody>
      </p:sp>
      <p:sp>
        <p:nvSpPr>
          <p:cNvPr id="23" name="TextBox 22"/>
          <p:cNvSpPr txBox="1"/>
          <p:nvPr/>
        </p:nvSpPr>
        <p:spPr>
          <a:xfrm>
            <a:off x="9620250" y="5334000"/>
            <a:ext cx="4953000" cy="571500"/>
          </a:xfrm>
          <a:prstGeom prst="rect">
            <a:avLst/>
          </a:prstGeom>
          <a:noFill/>
        </p:spPr>
        <p:txBody>
          <a:bodyPr wrap="square" lIns="0" rIns="0" tIns="0" bIns="0" anchor="t">
            <a:spAutoFit/>
          </a:bodyPr>
          <a:lstStyle/>
          <a:p>
            <a:pPr algn="ctr"/>
            <a:r>
              <a:rPr sz="2700" b="1" i="0">
                <a:solidFill>
                  <a:srgbClr val="F0E8E8"/>
                </a:solidFill>
                <a:latin typeface="Geist Mono"/>
                <a:ea typeface="Geist Mono"/>
                <a:cs typeface="Geist Mono"/>
              </a:rPr>
              <a:t>radiansToMeters</a:t>
            </a:r>
          </a:p>
        </p:txBody>
      </p:sp>
      <p:sp>
        <p:nvSpPr>
          <p:cNvPr id="24" name="TextBox 23"/>
          <p:cNvSpPr txBox="1"/>
          <p:nvPr/>
        </p:nvSpPr>
        <p:spPr>
          <a:xfrm>
            <a:off x="9620250" y="6096000"/>
            <a:ext cx="4953000" cy="381000"/>
          </a:xfrm>
          <a:prstGeom prst="rect">
            <a:avLst/>
          </a:prstGeom>
          <a:noFill/>
        </p:spPr>
        <p:txBody>
          <a:bodyPr wrap="square" lIns="0" rIns="0" tIns="0" bIns="0" anchor="t">
            <a:spAutoFit/>
          </a:bodyPr>
          <a:lstStyle/>
          <a:p>
            <a:pPr algn="ctr"/>
            <a:r>
              <a:rPr sz="1800" b="1" i="0">
                <a:solidFill>
                  <a:srgbClr val="D5000E"/>
                </a:solidFill>
                <a:latin typeface="Geist"/>
                <a:ea typeface="Geist"/>
                <a:cs typeface="Geist"/>
              </a:rPr>
              <a:t>written once</a:t>
            </a:r>
          </a:p>
        </p:txBody>
      </p:sp>
      <p:sp>
        <p:nvSpPr>
          <p:cNvPr id="25" name="TextBox 24"/>
          <p:cNvSpPr txBox="1"/>
          <p:nvPr/>
        </p:nvSpPr>
        <p:spPr>
          <a:xfrm>
            <a:off x="15049500" y="4476750"/>
            <a:ext cx="2476500" cy="247650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Fix the math here, and all four readings are fixed.</a:t>
            </a:r>
          </a:p>
        </p:txBody>
      </p:sp>
      <p:sp>
        <p:nvSpPr>
          <p:cNvPr id="26" name="TextBox 25"/>
          <p:cNvSpPr txBox="1"/>
          <p:nvPr/>
        </p:nvSpPr>
        <p:spPr>
          <a:xfrm>
            <a:off x="914400" y="876300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Called from </a:t>
            </a:r>
            <a:r>
              <a:rPr sz="1800" b="0" i="0">
                <a:solidFill>
                  <a:srgbClr val="9A7878"/>
                </a:solidFill>
                <a:latin typeface="Geist Mono"/>
                <a:ea typeface="Geist Mono"/>
                <a:cs typeface="Geist Mono"/>
              </a:rPr>
              <a:t>DifferentialDriveMech.java</a:t>
            </a:r>
            <a:r>
              <a:rPr sz="1800" b="0" i="0">
                <a:solidFill>
                  <a:srgbClr val="9A7878"/>
                </a:solidFill>
                <a:latin typeface="Geist"/>
                <a:ea typeface="Geist"/>
                <a:cs typeface="Geist"/>
              </a:rPr>
              <a:t>. You write it in </a:t>
            </a:r>
            <a:r>
              <a:rPr sz="1800" b="0" i="0">
                <a:solidFill>
                  <a:srgbClr val="9A7878"/>
                </a:solidFill>
                <a:latin typeface="Geist Mono"/>
                <a:ea typeface="Geist Mono"/>
                <a:cs typeface="Geist Mono"/>
              </a:rPr>
              <a:t>DriveMath.java</a:t>
            </a:r>
            <a:r>
              <a:rPr sz="1800" b="0" i="0">
                <a:solidFill>
                  <a:srgbClr val="9A7878"/>
                </a:solidFill>
                <a:latin typeface="Geist"/>
                <a:ea typeface="Geist"/>
                <a:cs typeface="Geist"/>
              </a:rPr>
              <a:t>.</a:t>
            </a:r>
          </a:p>
        </p:txBody>
      </p:sp>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return, and void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Gives back an answer</a:t>
            </a:r>
          </a:p>
        </p:txBody>
      </p:sp>
      <p:sp>
        <p:nvSpPr>
          <p:cNvPr id="7" name="Rounded Rectangle 6"/>
          <p:cNvSpPr/>
          <p:nvPr/>
        </p:nvSpPr>
        <p:spPr>
          <a:xfrm>
            <a:off x="1295400" y="3810000"/>
            <a:ext cx="7315200" cy="2990850"/>
          </a:xfrm>
          <a:prstGeom prst="roundRect">
            <a:avLst>
              <a:gd name="adj" fmla="val 509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314450" y="5305425"/>
            <a:ext cx="72771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314450" y="5305425"/>
            <a:ext cx="57150" cy="3714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314450" y="5676900"/>
            <a:ext cx="72771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314450" y="5676900"/>
            <a:ext cx="57150" cy="3714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676400" y="4191000"/>
            <a:ext cx="6781800" cy="37147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static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radiansToMeters(</a:t>
            </a:r>
          </a:p>
        </p:txBody>
      </p:sp>
      <p:sp>
        <p:nvSpPr>
          <p:cNvPr id="13" name="TextBox 12"/>
          <p:cNvSpPr txBox="1"/>
          <p:nvPr/>
        </p:nvSpPr>
        <p:spPr>
          <a:xfrm>
            <a:off x="1676400" y="4562475"/>
            <a:ext cx="67818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wheel_radians,</a:t>
            </a:r>
          </a:p>
        </p:txBody>
      </p:sp>
      <p:sp>
        <p:nvSpPr>
          <p:cNvPr id="14" name="TextBox 13"/>
          <p:cNvSpPr txBox="1"/>
          <p:nvPr/>
        </p:nvSpPr>
        <p:spPr>
          <a:xfrm>
            <a:off x="1676400" y="4933950"/>
            <a:ext cx="67818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wheel_radius_meters) {</a:t>
            </a:r>
          </a:p>
        </p:txBody>
      </p:sp>
      <p:sp>
        <p:nvSpPr>
          <p:cNvPr id="15" name="TextBox 14"/>
          <p:cNvSpPr txBox="1"/>
          <p:nvPr/>
        </p:nvSpPr>
        <p:spPr>
          <a:xfrm>
            <a:off x="1676400" y="5305425"/>
            <a:ext cx="67818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return</a:t>
            </a:r>
            <a:r>
              <a:rPr sz="1950" b="0" i="0">
                <a:solidFill>
                  <a:srgbClr val="F0E8E8"/>
                </a:solidFill>
                <a:latin typeface="Geist Mono"/>
                <a:ea typeface="Geist Mono"/>
                <a:cs typeface="Geist Mono"/>
              </a:rPr>
              <a:t> wheel_radians</a:t>
            </a:r>
          </a:p>
        </p:txBody>
      </p:sp>
      <p:sp>
        <p:nvSpPr>
          <p:cNvPr id="16" name="TextBox 15"/>
          <p:cNvSpPr txBox="1"/>
          <p:nvPr/>
        </p:nvSpPr>
        <p:spPr>
          <a:xfrm>
            <a:off x="1676400" y="5676900"/>
            <a:ext cx="67818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wheel_radius_meters;</a:t>
            </a:r>
          </a:p>
        </p:txBody>
      </p:sp>
      <p:sp>
        <p:nvSpPr>
          <p:cNvPr id="17" name="TextBox 16"/>
          <p:cNvSpPr txBox="1"/>
          <p:nvPr/>
        </p:nvSpPr>
        <p:spPr>
          <a:xfrm>
            <a:off x="1676400" y="6048375"/>
            <a:ext cx="67818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8" name="TextBox 17"/>
          <p:cNvSpPr txBox="1"/>
          <p:nvPr/>
        </p:nvSpPr>
        <p:spPr>
          <a:xfrm>
            <a:off x="1295400" y="7524750"/>
            <a:ext cx="73152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Return type double, so it must return a double.</a:t>
            </a:r>
          </a:p>
        </p:txBody>
      </p:sp>
      <p:sp>
        <p:nvSpPr>
          <p:cNvPr id="19" name="Rounded Rectangle 18"/>
          <p:cNvSpPr/>
          <p:nvPr/>
        </p:nvSpPr>
        <p:spPr>
          <a:xfrm>
            <a:off x="9296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77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Just does something</a:t>
            </a:r>
          </a:p>
        </p:txBody>
      </p:sp>
      <p:sp>
        <p:nvSpPr>
          <p:cNvPr id="21" name="Rounded Rectangle 20"/>
          <p:cNvSpPr/>
          <p:nvPr/>
        </p:nvSpPr>
        <p:spPr>
          <a:xfrm>
            <a:off x="9677400" y="3810000"/>
            <a:ext cx="7315200" cy="2247900"/>
          </a:xfrm>
          <a:prstGeom prst="roundRect">
            <a:avLst>
              <a:gd name="adj" fmla="val 677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696450" y="4933950"/>
            <a:ext cx="72771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696450" y="4933950"/>
            <a:ext cx="57150" cy="3714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058400" y="4191000"/>
            <a:ext cx="6781800" cy="37147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setLeftDutyCycle(</a:t>
            </a:r>
          </a:p>
        </p:txBody>
      </p:sp>
      <p:sp>
        <p:nvSpPr>
          <p:cNvPr id="25" name="TextBox 24"/>
          <p:cNvSpPr txBox="1"/>
          <p:nvPr/>
        </p:nvSpPr>
        <p:spPr>
          <a:xfrm>
            <a:off x="10058400" y="4562475"/>
            <a:ext cx="67818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left) {</a:t>
            </a:r>
          </a:p>
        </p:txBody>
      </p:sp>
      <p:sp>
        <p:nvSpPr>
          <p:cNvPr id="26" name="TextBox 25"/>
          <p:cNvSpPr txBox="1"/>
          <p:nvPr/>
        </p:nvSpPr>
        <p:spPr>
          <a:xfrm>
            <a:off x="10058400" y="4933950"/>
            <a:ext cx="67818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left_request_.Output = clamp(left);</a:t>
            </a:r>
          </a:p>
        </p:txBody>
      </p:sp>
      <p:sp>
        <p:nvSpPr>
          <p:cNvPr id="27" name="TextBox 26"/>
          <p:cNvSpPr txBox="1"/>
          <p:nvPr/>
        </p:nvSpPr>
        <p:spPr>
          <a:xfrm>
            <a:off x="10058400" y="5305425"/>
            <a:ext cx="67818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8" name="TextBox 27"/>
          <p:cNvSpPr txBox="1"/>
          <p:nvPr/>
        </p:nvSpPr>
        <p:spPr>
          <a:xfrm>
            <a:off x="9677400" y="7524750"/>
            <a:ext cx="73152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void: nothing comes back. No return needed.</a:t>
            </a:r>
          </a:p>
        </p:txBody>
      </p:sp>
      <p:sp>
        <p:nvSpPr>
          <p:cNvPr id="29" name="TextBox 28"/>
          <p:cNvSpPr txBox="1"/>
          <p:nvPr/>
        </p:nvSpPr>
        <p:spPr>
          <a:xfrm>
            <a:off x="914400" y="8572500"/>
            <a:ext cx="16459200" cy="381000"/>
          </a:xfrm>
          <a:prstGeom prst="rect">
            <a:avLst/>
          </a:prstGeom>
          <a:noFill/>
        </p:spPr>
        <p:txBody>
          <a:bodyPr wrap="square" lIns="0" rIns="0" tIns="0" bIns="0" anchor="t">
            <a:spAutoFit/>
          </a:bodyPr>
          <a:lstStyle/>
          <a:p>
            <a:pPr algn="l"/>
            <a:r>
              <a:rPr sz="1950" b="1" i="0">
                <a:solidFill>
                  <a:srgbClr val="9A7878"/>
                </a:solidFill>
                <a:latin typeface="Geist"/>
                <a:ea typeface="Geist"/>
                <a:cs typeface="Geist"/>
              </a:rPr>
              <a:t>return ends the method.</a:t>
            </a:r>
            <a:r>
              <a:rPr sz="1950" b="0" i="0">
                <a:solidFill>
                  <a:srgbClr val="9A7878"/>
                </a:solidFill>
                <a:latin typeface="Geist"/>
                <a:ea typeface="Geist"/>
                <a:cs typeface="Geist"/>
              </a:rPr>
              <a:t> Any line after it never runs.</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Naming methods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25908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Pattern</a:t>
            </a:r>
          </a:p>
        </p:txBody>
      </p:sp>
      <p:sp>
        <p:nvSpPr>
          <p:cNvPr id="7" name="TextBox 6"/>
          <p:cNvSpPr txBox="1"/>
          <p:nvPr/>
        </p:nvSpPr>
        <p:spPr>
          <a:xfrm>
            <a:off x="4038600" y="2857500"/>
            <a:ext cx="65913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Example from the lesson</a:t>
            </a:r>
          </a:p>
        </p:txBody>
      </p:sp>
      <p:sp>
        <p:nvSpPr>
          <p:cNvPr id="8" name="TextBox 7"/>
          <p:cNvSpPr txBox="1"/>
          <p:nvPr/>
        </p:nvSpPr>
        <p:spPr>
          <a:xfrm>
            <a:off x="10896600" y="2857500"/>
            <a:ext cx="64770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Means</a:t>
            </a:r>
          </a:p>
        </p:txBody>
      </p:sp>
      <p:sp>
        <p:nvSpPr>
          <p:cNvPr id="9" name="Rectangle 8"/>
          <p:cNvSpPr/>
          <p:nvPr/>
        </p:nvSpPr>
        <p:spPr>
          <a:xfrm>
            <a:off x="904875" y="45434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 y="3619500"/>
            <a:ext cx="25146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get...</a:t>
            </a:r>
          </a:p>
        </p:txBody>
      </p:sp>
      <p:sp>
        <p:nvSpPr>
          <p:cNvPr id="11" name="TextBox 10"/>
          <p:cNvSpPr txBox="1"/>
          <p:nvPr/>
        </p:nvSpPr>
        <p:spPr>
          <a:xfrm>
            <a:off x="4038600" y="3619500"/>
            <a:ext cx="6515100" cy="8953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getLinearSpeed()</a:t>
            </a:r>
          </a:p>
        </p:txBody>
      </p:sp>
      <p:sp>
        <p:nvSpPr>
          <p:cNvPr id="12" name="TextBox 11"/>
          <p:cNvSpPr txBox="1"/>
          <p:nvPr/>
        </p:nvSpPr>
        <p:spPr>
          <a:xfrm>
            <a:off x="10896600" y="3619500"/>
            <a:ext cx="64008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Hands back a value</a:t>
            </a:r>
          </a:p>
        </p:txBody>
      </p:sp>
      <p:sp>
        <p:nvSpPr>
          <p:cNvPr id="13" name="Rectangle 12"/>
          <p:cNvSpPr/>
          <p:nvPr/>
        </p:nvSpPr>
        <p:spPr>
          <a:xfrm>
            <a:off x="904875" y="55340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81100" y="4610100"/>
            <a:ext cx="25146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set...</a:t>
            </a:r>
          </a:p>
        </p:txBody>
      </p:sp>
      <p:sp>
        <p:nvSpPr>
          <p:cNvPr id="15" name="TextBox 14"/>
          <p:cNvSpPr txBox="1"/>
          <p:nvPr/>
        </p:nvSpPr>
        <p:spPr>
          <a:xfrm>
            <a:off x="4038600" y="4610100"/>
            <a:ext cx="6515100" cy="8953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setLeftDutyCycle(0.5)</a:t>
            </a:r>
          </a:p>
        </p:txBody>
      </p:sp>
      <p:sp>
        <p:nvSpPr>
          <p:cNvPr id="16" name="TextBox 15"/>
          <p:cNvSpPr txBox="1"/>
          <p:nvPr/>
        </p:nvSpPr>
        <p:spPr>
          <a:xfrm>
            <a:off x="10896600" y="4610100"/>
            <a:ext cx="64008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Changes something</a:t>
            </a:r>
          </a:p>
        </p:txBody>
      </p:sp>
      <p:sp>
        <p:nvSpPr>
          <p:cNvPr id="17" name="Rectangle 16"/>
          <p:cNvSpPr/>
          <p:nvPr/>
        </p:nvSpPr>
        <p:spPr>
          <a:xfrm>
            <a:off x="904875" y="65246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5600700"/>
            <a:ext cx="25146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verb</a:t>
            </a:r>
          </a:p>
        </p:txBody>
      </p:sp>
      <p:sp>
        <p:nvSpPr>
          <p:cNvPr id="19" name="TextBox 18"/>
          <p:cNvSpPr txBox="1"/>
          <p:nvPr/>
        </p:nvSpPr>
        <p:spPr>
          <a:xfrm>
            <a:off x="4038600" y="5600700"/>
            <a:ext cx="6515100" cy="8953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arcadeDrive(f, t)</a:t>
            </a:r>
          </a:p>
        </p:txBody>
      </p:sp>
      <p:sp>
        <p:nvSpPr>
          <p:cNvPr id="20" name="TextBox 19"/>
          <p:cNvSpPr txBox="1"/>
          <p:nvPr/>
        </p:nvSpPr>
        <p:spPr>
          <a:xfrm>
            <a:off x="10896600" y="5600700"/>
            <a:ext cx="64008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Does a job</a:t>
            </a:r>
          </a:p>
        </p:txBody>
      </p:sp>
      <p:sp>
        <p:nvSpPr>
          <p:cNvPr id="21" name="Rectangle 20"/>
          <p:cNvSpPr/>
          <p:nvPr/>
        </p:nvSpPr>
        <p:spPr>
          <a:xfrm>
            <a:off x="904875" y="75152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181100" y="6591300"/>
            <a:ext cx="25146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XToY</a:t>
            </a:r>
          </a:p>
        </p:txBody>
      </p:sp>
      <p:sp>
        <p:nvSpPr>
          <p:cNvPr id="23" name="TextBox 22"/>
          <p:cNvSpPr txBox="1"/>
          <p:nvPr/>
        </p:nvSpPr>
        <p:spPr>
          <a:xfrm>
            <a:off x="4038600" y="6591300"/>
            <a:ext cx="6515100" cy="89535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radiansToMeters(a, r)</a:t>
            </a:r>
          </a:p>
        </p:txBody>
      </p:sp>
      <p:sp>
        <p:nvSpPr>
          <p:cNvPr id="24" name="TextBox 23"/>
          <p:cNvSpPr txBox="1"/>
          <p:nvPr/>
        </p:nvSpPr>
        <p:spPr>
          <a:xfrm>
            <a:off x="10896600" y="6591300"/>
            <a:ext cx="6400800" cy="89535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Converts units</a:t>
            </a:r>
          </a:p>
        </p:txBody>
      </p:sp>
      <p:sp>
        <p:nvSpPr>
          <p:cNvPr id="25" name="Rounded Rectangle 24"/>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input-cursor-text.png"/>
          <p:cNvPicPr>
            <a:picLocks noChangeAspect="1"/>
          </p:cNvPicPr>
          <p:nvPr/>
        </p:nvPicPr>
        <p:blipFill>
          <a:blip r:embed="rId3"/>
          <a:stretch>
            <a:fillRect/>
          </a:stretch>
        </p:blipFill>
        <p:spPr>
          <a:xfrm>
            <a:off x="1333500" y="8020050"/>
            <a:ext cx="656492" cy="533400"/>
          </a:xfrm>
          <a:prstGeom prst="rect">
            <a:avLst/>
          </a:prstGeom>
        </p:spPr>
      </p:pic>
      <p:sp>
        <p:nvSpPr>
          <p:cNvPr id="27" name="TextBox 26"/>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camelCase for methods,  </a:t>
            </a:r>
            <a:r>
              <a:rPr sz="2100" b="0" i="0">
                <a:solidFill>
                  <a:srgbClr val="F0E8E8"/>
                </a:solidFill>
                <a:latin typeface="Geist"/>
                <a:ea typeface="Geist"/>
                <a:cs typeface="Geist"/>
              </a:rPr>
              <a:t>snake_case for variables. Members end in _, like drive_.</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Calling: class or object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16459200" cy="2095500"/>
          </a:xfrm>
          <a:prstGeom prst="roundRect">
            <a:avLst>
              <a:gd name="adj" fmla="val 727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3333750"/>
            <a:ext cx="2644140" cy="586740"/>
          </a:xfrm>
          <a:prstGeom prst="rect">
            <a:avLst/>
          </a:prstGeom>
          <a:noFill/>
        </p:spPr>
        <p:txBody>
          <a:bodyPr wrap="square" lIns="0" rIns="0" tIns="0" bIns="0" anchor="t">
            <a:spAutoFit/>
          </a:bodyPr>
          <a:lstStyle/>
          <a:p>
            <a:pPr algn="l"/>
            <a:r>
              <a:rPr sz="3300" b="1" i="0">
                <a:solidFill>
                  <a:srgbClr val="F0E8E8"/>
                </a:solidFill>
                <a:latin typeface="Geist Mono"/>
                <a:ea typeface="Geist Mono"/>
                <a:cs typeface="Geist Mono"/>
              </a:rPr>
              <a:t>DriveMath</a:t>
            </a:r>
          </a:p>
        </p:txBody>
      </p:sp>
      <p:sp>
        <p:nvSpPr>
          <p:cNvPr id="7" name="Rectangle 6"/>
          <p:cNvSpPr/>
          <p:nvPr/>
        </p:nvSpPr>
        <p:spPr>
          <a:xfrm>
            <a:off x="1452562" y="4100512"/>
            <a:ext cx="2215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2070" y="4229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class</a:t>
            </a:r>
          </a:p>
        </p:txBody>
      </p:sp>
      <p:sp>
        <p:nvSpPr>
          <p:cNvPr id="9" name="TextBox 8"/>
          <p:cNvSpPr txBox="1"/>
          <p:nvPr/>
        </p:nvSpPr>
        <p:spPr>
          <a:xfrm>
            <a:off x="3691890" y="3333750"/>
            <a:ext cx="3398520" cy="586740"/>
          </a:xfrm>
          <a:prstGeom prst="rect">
            <a:avLst/>
          </a:prstGeom>
          <a:noFill/>
        </p:spPr>
        <p:txBody>
          <a:bodyPr wrap="square" lIns="0" rIns="0" tIns="0" bIns="0" anchor="t">
            <a:spAutoFit/>
          </a:bodyPr>
          <a:lstStyle/>
          <a:p>
            <a:pPr algn="l"/>
            <a:r>
              <a:rPr sz="3300" b="1" i="0">
                <a:solidFill>
                  <a:srgbClr val="E0404B"/>
                </a:solidFill>
                <a:latin typeface="Geist Mono"/>
                <a:ea typeface="Geist Mono"/>
                <a:cs typeface="Geist Mono"/>
              </a:rPr>
              <a:t>.linearSpeed</a:t>
            </a:r>
          </a:p>
        </p:txBody>
      </p:sp>
      <p:sp>
        <p:nvSpPr>
          <p:cNvPr id="10" name="Rectangle 9"/>
          <p:cNvSpPr/>
          <p:nvPr/>
        </p:nvSpPr>
        <p:spPr>
          <a:xfrm>
            <a:off x="3715702" y="4100512"/>
            <a:ext cx="29698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962400" y="4229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method</a:t>
            </a:r>
          </a:p>
        </p:txBody>
      </p:sp>
      <p:sp>
        <p:nvSpPr>
          <p:cNvPr id="12" name="TextBox 11"/>
          <p:cNvSpPr txBox="1"/>
          <p:nvPr/>
        </p:nvSpPr>
        <p:spPr>
          <a:xfrm>
            <a:off x="6709410" y="3333750"/>
            <a:ext cx="2895600" cy="586740"/>
          </a:xfrm>
          <a:prstGeom prst="rect">
            <a:avLst/>
          </a:prstGeom>
          <a:noFill/>
        </p:spPr>
        <p:txBody>
          <a:bodyPr wrap="square" lIns="0" rIns="0" tIns="0" bIns="0" anchor="t">
            <a:spAutoFit/>
          </a:bodyPr>
          <a:lstStyle/>
          <a:p>
            <a:pPr algn="l"/>
            <a:r>
              <a:rPr sz="3300" b="1" i="0">
                <a:solidFill>
                  <a:srgbClr val="E8C27A"/>
                </a:solidFill>
                <a:latin typeface="Geist Mono"/>
                <a:ea typeface="Geist Mono"/>
                <a:cs typeface="Geist Mono"/>
              </a:rPr>
              <a:t>(1.0, 3.0)</a:t>
            </a:r>
          </a:p>
        </p:txBody>
      </p:sp>
      <p:sp>
        <p:nvSpPr>
          <p:cNvPr id="13" name="Rectangle 12"/>
          <p:cNvSpPr/>
          <p:nvPr/>
        </p:nvSpPr>
        <p:spPr>
          <a:xfrm>
            <a:off x="6733222" y="4100512"/>
            <a:ext cx="2466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8460" y="4229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arguments</a:t>
            </a:r>
          </a:p>
        </p:txBody>
      </p:sp>
      <p:sp>
        <p:nvSpPr>
          <p:cNvPr id="15" name="TextBox 14"/>
          <p:cNvSpPr txBox="1"/>
          <p:nvPr/>
        </p:nvSpPr>
        <p:spPr>
          <a:xfrm>
            <a:off x="9224010" y="3333750"/>
            <a:ext cx="632460" cy="586740"/>
          </a:xfrm>
          <a:prstGeom prst="rect">
            <a:avLst/>
          </a:prstGeom>
          <a:noFill/>
        </p:spPr>
        <p:txBody>
          <a:bodyPr wrap="square" lIns="0" rIns="0" tIns="0" bIns="0" anchor="t">
            <a:spAutoFit/>
          </a:bodyPr>
          <a:lstStyle/>
          <a:p>
            <a:pPr algn="l"/>
            <a:r>
              <a:rPr sz="3300" b="1" i="0">
                <a:solidFill>
                  <a:srgbClr val="F0E8E8"/>
                </a:solidFill>
                <a:latin typeface="Geist Mono"/>
                <a:ea typeface="Geist Mono"/>
                <a:cs typeface="Geist Mono"/>
              </a:rPr>
              <a:t>;</a:t>
            </a:r>
          </a:p>
        </p:txBody>
      </p:sp>
      <p:sp>
        <p:nvSpPr>
          <p:cNvPr id="16" name="TextBox 15"/>
          <p:cNvSpPr txBox="1"/>
          <p:nvPr/>
        </p:nvSpPr>
        <p:spPr>
          <a:xfrm>
            <a:off x="10477500" y="3143250"/>
            <a:ext cx="6572250" cy="171450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static: belongs to the class. Numbers in, answer out.</a:t>
            </a:r>
          </a:p>
        </p:txBody>
      </p:sp>
      <p:sp>
        <p:nvSpPr>
          <p:cNvPr id="17" name="Rounded Rectangle 16"/>
          <p:cNvSpPr/>
          <p:nvPr/>
        </p:nvSpPr>
        <p:spPr>
          <a:xfrm>
            <a:off x="914400" y="5429250"/>
            <a:ext cx="16459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428750" y="5810250"/>
            <a:ext cx="1889760" cy="586740"/>
          </a:xfrm>
          <a:prstGeom prst="rect">
            <a:avLst/>
          </a:prstGeom>
          <a:noFill/>
        </p:spPr>
        <p:txBody>
          <a:bodyPr wrap="square" lIns="0" rIns="0" tIns="0" bIns="0" anchor="t">
            <a:spAutoFit/>
          </a:bodyPr>
          <a:lstStyle/>
          <a:p>
            <a:pPr algn="l"/>
            <a:r>
              <a:rPr sz="3300" b="1" i="0">
                <a:solidFill>
                  <a:srgbClr val="F0E8E8"/>
                </a:solidFill>
                <a:latin typeface="Geist Mono"/>
                <a:ea typeface="Geist Mono"/>
                <a:cs typeface="Geist Mono"/>
              </a:rPr>
              <a:t>drive_</a:t>
            </a:r>
          </a:p>
        </p:txBody>
      </p:sp>
      <p:sp>
        <p:nvSpPr>
          <p:cNvPr id="19" name="Rectangle 18"/>
          <p:cNvSpPr/>
          <p:nvPr/>
        </p:nvSpPr>
        <p:spPr>
          <a:xfrm>
            <a:off x="1452562" y="6577012"/>
            <a:ext cx="14611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44880" y="67056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object</a:t>
            </a:r>
          </a:p>
        </p:txBody>
      </p:sp>
      <p:sp>
        <p:nvSpPr>
          <p:cNvPr id="21" name="TextBox 20"/>
          <p:cNvSpPr txBox="1"/>
          <p:nvPr/>
        </p:nvSpPr>
        <p:spPr>
          <a:xfrm>
            <a:off x="2937510" y="5810250"/>
            <a:ext cx="4152900" cy="586740"/>
          </a:xfrm>
          <a:prstGeom prst="rect">
            <a:avLst/>
          </a:prstGeom>
          <a:noFill/>
        </p:spPr>
        <p:txBody>
          <a:bodyPr wrap="square" lIns="0" rIns="0" tIns="0" bIns="0" anchor="t">
            <a:spAutoFit/>
          </a:bodyPr>
          <a:lstStyle/>
          <a:p>
            <a:pPr algn="l"/>
            <a:r>
              <a:rPr sz="3300" b="1" i="0">
                <a:solidFill>
                  <a:srgbClr val="E0404B"/>
                </a:solidFill>
                <a:latin typeface="Geist Mono"/>
                <a:ea typeface="Geist Mono"/>
                <a:cs typeface="Geist Mono"/>
              </a:rPr>
              <a:t>.getLinearSpeed</a:t>
            </a:r>
          </a:p>
        </p:txBody>
      </p:sp>
      <p:sp>
        <p:nvSpPr>
          <p:cNvPr id="22" name="Rectangle 21"/>
          <p:cNvSpPr/>
          <p:nvPr/>
        </p:nvSpPr>
        <p:spPr>
          <a:xfrm>
            <a:off x="2961322" y="6577012"/>
            <a:ext cx="37242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585210" y="67056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method</a:t>
            </a:r>
          </a:p>
        </p:txBody>
      </p:sp>
      <p:sp>
        <p:nvSpPr>
          <p:cNvPr id="24" name="TextBox 23"/>
          <p:cNvSpPr txBox="1"/>
          <p:nvPr/>
        </p:nvSpPr>
        <p:spPr>
          <a:xfrm>
            <a:off x="6709410" y="5810250"/>
            <a:ext cx="883920" cy="586740"/>
          </a:xfrm>
          <a:prstGeom prst="rect">
            <a:avLst/>
          </a:prstGeom>
          <a:noFill/>
        </p:spPr>
        <p:txBody>
          <a:bodyPr wrap="square" lIns="0" rIns="0" tIns="0" bIns="0" anchor="t">
            <a:spAutoFit/>
          </a:bodyPr>
          <a:lstStyle/>
          <a:p>
            <a:pPr algn="l"/>
            <a:r>
              <a:rPr sz="3300" b="1" i="0">
                <a:solidFill>
                  <a:srgbClr val="E8C27A"/>
                </a:solidFill>
                <a:latin typeface="Geist Mono"/>
                <a:ea typeface="Geist Mono"/>
                <a:cs typeface="Geist Mono"/>
              </a:rPr>
              <a:t>()</a:t>
            </a:r>
          </a:p>
        </p:txBody>
      </p:sp>
      <p:sp>
        <p:nvSpPr>
          <p:cNvPr id="25" name="Rectangle 24"/>
          <p:cNvSpPr/>
          <p:nvPr/>
        </p:nvSpPr>
        <p:spPr>
          <a:xfrm>
            <a:off x="6733222" y="6577012"/>
            <a:ext cx="4552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722620" y="67056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no arguments</a:t>
            </a:r>
          </a:p>
        </p:txBody>
      </p:sp>
      <p:sp>
        <p:nvSpPr>
          <p:cNvPr id="27" name="TextBox 26"/>
          <p:cNvSpPr txBox="1"/>
          <p:nvPr/>
        </p:nvSpPr>
        <p:spPr>
          <a:xfrm>
            <a:off x="7212330" y="5810250"/>
            <a:ext cx="632460" cy="586740"/>
          </a:xfrm>
          <a:prstGeom prst="rect">
            <a:avLst/>
          </a:prstGeom>
          <a:noFill/>
        </p:spPr>
        <p:txBody>
          <a:bodyPr wrap="square" lIns="0" rIns="0" tIns="0" bIns="0" anchor="t">
            <a:spAutoFit/>
          </a:bodyPr>
          <a:lstStyle/>
          <a:p>
            <a:pPr algn="l"/>
            <a:r>
              <a:rPr sz="3300" b="1" i="0">
                <a:solidFill>
                  <a:srgbClr val="F0E8E8"/>
                </a:solidFill>
                <a:latin typeface="Geist Mono"/>
                <a:ea typeface="Geist Mono"/>
                <a:cs typeface="Geist Mono"/>
              </a:rPr>
              <a:t>;</a:t>
            </a:r>
          </a:p>
        </p:txBody>
      </p:sp>
      <p:sp>
        <p:nvSpPr>
          <p:cNvPr id="28" name="TextBox 27"/>
          <p:cNvSpPr txBox="1"/>
          <p:nvPr/>
        </p:nvSpPr>
        <p:spPr>
          <a:xfrm>
            <a:off x="10477500" y="5619750"/>
            <a:ext cx="6572250" cy="171450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Uses this drivetrain's own readings.</a:t>
            </a:r>
          </a:p>
        </p:txBody>
      </p:sp>
      <p:sp>
        <p:nvSpPr>
          <p:cNvPr id="29" name="TextBox 28"/>
          <p:cNvSpPr txBox="1"/>
          <p:nvPr/>
        </p:nvSpPr>
        <p:spPr>
          <a:xfrm>
            <a:off x="914400" y="8191500"/>
            <a:ext cx="16459200" cy="381000"/>
          </a:xfrm>
          <a:prstGeom prst="rect">
            <a:avLst/>
          </a:prstGeom>
          <a:noFill/>
        </p:spPr>
        <p:txBody>
          <a:bodyPr wrap="square" lIns="0" rIns="0" tIns="0" bIns="0" anchor="t">
            <a:spAutoFit/>
          </a:bodyPr>
          <a:lstStyle/>
          <a:p>
            <a:pPr algn="l"/>
            <a:r>
              <a:rPr sz="1950" b="0" i="0">
                <a:solidFill>
                  <a:srgbClr val="9A7878"/>
                </a:solidFill>
                <a:latin typeface="Geist Mono"/>
                <a:ea typeface="Geist Mono"/>
                <a:cs typeface="Geist Mono"/>
              </a:rPr>
              <a:t>public</a:t>
            </a:r>
            <a:r>
              <a:rPr sz="1950" b="0" i="0">
                <a:solidFill>
                  <a:srgbClr val="9A7878"/>
                </a:solidFill>
                <a:latin typeface="Geist"/>
                <a:ea typeface="Geist"/>
                <a:cs typeface="Geist"/>
              </a:rPr>
              <a:t>: code in other files can call it.   </a:t>
            </a:r>
            <a:r>
              <a:rPr sz="1950" b="0" i="0">
                <a:solidFill>
                  <a:srgbClr val="9A7878"/>
                </a:solidFill>
                <a:latin typeface="Geist Mono"/>
                <a:ea typeface="Geist Mono"/>
                <a:cs typeface="Geist Mono"/>
              </a:rPr>
              <a:t>static</a:t>
            </a:r>
            <a:r>
              <a:rPr sz="1950" b="0" i="0">
                <a:solidFill>
                  <a:srgbClr val="9A7878"/>
                </a:solidFill>
                <a:latin typeface="Geist"/>
                <a:ea typeface="Geist"/>
                <a:cs typeface="Geist"/>
              </a:rPr>
              <a:t>: call it on the class, no object needed.</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Scope: what lives where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5715000"/>
          </a:xfrm>
          <a:prstGeom prst="roundRect">
            <a:avLst>
              <a:gd name="adj" fmla="val 3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8572500" cy="419100"/>
          </a:xfrm>
          <a:prstGeom prst="rect">
            <a:avLst/>
          </a:prstGeom>
          <a:noFill/>
        </p:spPr>
        <p:txBody>
          <a:bodyPr wrap="square" lIns="0" rIns="0" tIns="0" bIns="0" anchor="t">
            <a:spAutoFit/>
          </a:bodyPr>
          <a:lstStyle/>
          <a:p>
            <a:pPr algn="l"/>
            <a:r>
              <a:rPr sz="2100" b="0" i="0">
                <a:solidFill>
                  <a:srgbClr val="9A7878"/>
                </a:solidFill>
                <a:latin typeface="Geist Mono"/>
                <a:ea typeface="Geist Mono"/>
                <a:cs typeface="Geist Mono"/>
              </a:rPr>
              <a:t>class DriveMath { }</a:t>
            </a:r>
          </a:p>
        </p:txBody>
      </p:sp>
      <p:sp>
        <p:nvSpPr>
          <p:cNvPr id="7" name="Rounded Rectangle 6"/>
          <p:cNvSpPr/>
          <p:nvPr/>
        </p:nvSpPr>
        <p:spPr>
          <a:xfrm>
            <a:off x="1295400" y="3714750"/>
            <a:ext cx="9715500" cy="2095500"/>
          </a:xfrm>
          <a:prstGeom prst="roundRect">
            <a:avLst>
              <a:gd name="adj" fmla="val 636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581150" y="3886200"/>
            <a:ext cx="8572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linearSpeed( )</a:t>
            </a:r>
          </a:p>
        </p:txBody>
      </p:sp>
      <p:sp>
        <p:nvSpPr>
          <p:cNvPr id="9" name="Rounded Rectangle 8"/>
          <p:cNvSpPr/>
          <p:nvPr/>
        </p:nvSpPr>
        <p:spPr>
          <a:xfrm>
            <a:off x="1581150" y="4667250"/>
            <a:ext cx="3147060" cy="5715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81150" y="4667250"/>
            <a:ext cx="314706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left_meters_per_second</a:t>
            </a:r>
          </a:p>
        </p:txBody>
      </p:sp>
      <p:sp>
        <p:nvSpPr>
          <p:cNvPr id="11" name="Rounded Rectangle 10"/>
          <p:cNvSpPr/>
          <p:nvPr/>
        </p:nvSpPr>
        <p:spPr>
          <a:xfrm>
            <a:off x="4918710" y="4667250"/>
            <a:ext cx="3272790" cy="5715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18710" y="4667250"/>
            <a:ext cx="327279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right_meters_per_second</a:t>
            </a:r>
          </a:p>
        </p:txBody>
      </p:sp>
      <p:sp>
        <p:nvSpPr>
          <p:cNvPr id="13" name="Rounded Rectangle 12"/>
          <p:cNvSpPr/>
          <p:nvPr/>
        </p:nvSpPr>
        <p:spPr>
          <a:xfrm>
            <a:off x="1295400" y="6096000"/>
            <a:ext cx="9715500" cy="2095500"/>
          </a:xfrm>
          <a:prstGeom prst="roundRect">
            <a:avLst>
              <a:gd name="adj" fmla="val 6363"/>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1150" y="6267450"/>
            <a:ext cx="8572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average( )</a:t>
            </a:r>
          </a:p>
        </p:txBody>
      </p:sp>
      <p:sp>
        <p:nvSpPr>
          <p:cNvPr id="15" name="Rounded Rectangle 14"/>
          <p:cNvSpPr/>
          <p:nvPr/>
        </p:nvSpPr>
        <p:spPr>
          <a:xfrm>
            <a:off x="1581150" y="7048500"/>
            <a:ext cx="1135380" cy="5715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81150" y="7048500"/>
            <a:ext cx="113538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values</a:t>
            </a:r>
          </a:p>
        </p:txBody>
      </p:sp>
      <p:sp>
        <p:nvSpPr>
          <p:cNvPr id="17" name="Rounded Rectangle 16"/>
          <p:cNvSpPr/>
          <p:nvPr/>
        </p:nvSpPr>
        <p:spPr>
          <a:xfrm>
            <a:off x="2907030" y="7048500"/>
            <a:ext cx="1009650" cy="5715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907030" y="7048500"/>
            <a:ext cx="100965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total</a:t>
            </a:r>
          </a:p>
        </p:txBody>
      </p:sp>
      <p:sp>
        <p:nvSpPr>
          <p:cNvPr id="19" name="Rounded Rectangle 18"/>
          <p:cNvSpPr/>
          <p:nvPr/>
        </p:nvSpPr>
        <p:spPr>
          <a:xfrm>
            <a:off x="4107180" y="7048500"/>
            <a:ext cx="506730" cy="571500"/>
          </a:xfrm>
          <a:prstGeom prst="roundRect">
            <a:avLst>
              <a:gd name="adj" fmla="val 563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107180" y="7048500"/>
            <a:ext cx="506730" cy="5715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i</a:t>
            </a:r>
          </a:p>
        </p:txBody>
      </p:sp>
      <p:sp>
        <p:nvSpPr>
          <p:cNvPr id="21" name="Rounded Rectangle 20"/>
          <p:cNvSpPr/>
          <p:nvPr/>
        </p:nvSpPr>
        <p:spPr>
          <a:xfrm>
            <a:off x="11811000" y="2857500"/>
            <a:ext cx="5562600" cy="3619500"/>
          </a:xfrm>
          <a:prstGeom prst="roundRect">
            <a:avLst>
              <a:gd name="adj" fmla="val 421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192000" y="3200400"/>
            <a:ext cx="4762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INSIDE THE BRACES ONLY</a:t>
            </a:r>
          </a:p>
        </p:txBody>
      </p:sp>
      <p:sp>
        <p:nvSpPr>
          <p:cNvPr id="23" name="TextBox 22"/>
          <p:cNvSpPr txBox="1"/>
          <p:nvPr/>
        </p:nvSpPr>
        <p:spPr>
          <a:xfrm>
            <a:off x="12192000" y="3676650"/>
            <a:ext cx="4800600" cy="2571750"/>
          </a:xfrm>
          <a:prstGeom prst="rect">
            <a:avLst/>
          </a:prstGeom>
          <a:noFill/>
        </p:spPr>
        <p:txBody>
          <a:bodyPr wrap="square" lIns="0" rIns="0" tIns="0" bIns="0" anchor="t">
            <a:spAutoFit/>
          </a:bodyPr>
          <a:lstStyle/>
          <a:p>
            <a:pPr algn="l">
              <a:lnSpc>
                <a:spcPct val="135000"/>
              </a:lnSpc>
            </a:pPr>
            <a:r>
              <a:rPr sz="2100" b="0" i="0">
                <a:solidFill>
                  <a:srgbClr val="F0E8E8"/>
                </a:solidFill>
                <a:latin typeface="Geist"/>
                <a:ea typeface="Geist"/>
                <a:cs typeface="Geist"/>
              </a:rPr>
              <a:t>Parameters and variables live only inside their own method's { }. Outside, Java has never heard of them.</a:t>
            </a:r>
          </a:p>
        </p:txBody>
      </p:sp>
      <p:pic>
        <p:nvPicPr>
          <p:cNvPr id="24" name="Picture 23" descr="dozer_look_up.png"/>
          <p:cNvPicPr>
            <a:picLocks noChangeAspect="1"/>
          </p:cNvPicPr>
          <p:nvPr/>
        </p:nvPicPr>
        <p:blipFill>
          <a:blip r:embed="rId3"/>
          <a:stretch>
            <a:fillRect/>
          </a:stretch>
        </p:blipFill>
        <p:spPr>
          <a:xfrm>
            <a:off x="14859000" y="6858000"/>
            <a:ext cx="2095500" cy="1287986"/>
          </a:xfrm>
          <a:prstGeom prst="rect">
            <a:avLst/>
          </a:prstGeom>
        </p:spPr>
      </p:pic>
      <p:sp>
        <p:nvSpPr>
          <p:cNvPr id="25" name="TextBox 24"/>
          <p:cNvSpPr txBox="1"/>
          <p:nvPr/>
        </p:nvSpPr>
        <p:spPr>
          <a:xfrm>
            <a:off x="11811000" y="6858000"/>
            <a:ext cx="2762250" cy="1524000"/>
          </a:xfrm>
          <a:prstGeom prst="rect">
            <a:avLst/>
          </a:prstGeom>
          <a:noFill/>
        </p:spPr>
        <p:txBody>
          <a:bodyPr wrap="square" lIns="0" rIns="0" tIns="0" bIns="0" anchor="ctr">
            <a:spAutoFit/>
          </a:bodyPr>
          <a:lstStyle/>
          <a:p>
            <a:pPr algn="l">
              <a:lnSpc>
                <a:spcPct val="130000"/>
              </a:lnSpc>
            </a:pPr>
            <a:r>
              <a:rPr sz="1800" b="0" i="0">
                <a:solidFill>
                  <a:srgbClr val="9A7878"/>
                </a:solidFill>
                <a:latin typeface="Geist"/>
                <a:ea typeface="Geist"/>
                <a:cs typeface="Geist"/>
              </a:rPr>
              <a:t>Same name in two methods? No problem.</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Javadoc: describe it for the next person</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571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2857500"/>
            <a:ext cx="10477500" cy="3950970"/>
          </a:xfrm>
          <a:prstGeom prst="roundRect">
            <a:avLst>
              <a:gd name="adj" fmla="val 3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238500"/>
            <a:ext cx="99441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a:t>
            </a:r>
          </a:p>
        </p:txBody>
      </p:sp>
      <p:sp>
        <p:nvSpPr>
          <p:cNvPr id="8" name="TextBox 7"/>
          <p:cNvSpPr txBox="1"/>
          <p:nvPr/>
        </p:nvSpPr>
        <p:spPr>
          <a:xfrm>
            <a:off x="1295400" y="3592830"/>
            <a:ext cx="99441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 Converts a wheel angle in radians into meters.</a:t>
            </a:r>
          </a:p>
        </p:txBody>
      </p:sp>
      <p:sp>
        <p:nvSpPr>
          <p:cNvPr id="9" name="TextBox 8"/>
          <p:cNvSpPr txBox="1"/>
          <p:nvPr/>
        </p:nvSpPr>
        <p:spPr>
          <a:xfrm>
            <a:off x="1295400" y="3947160"/>
            <a:ext cx="99441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a:t>
            </a:r>
          </a:p>
        </p:txBody>
      </p:sp>
      <p:sp>
        <p:nvSpPr>
          <p:cNvPr id="10" name="TextBox 9"/>
          <p:cNvSpPr txBox="1"/>
          <p:nvPr/>
        </p:nvSpPr>
        <p:spPr>
          <a:xfrm>
            <a:off x="1295400" y="4301490"/>
            <a:ext cx="99441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 @param wheel_radians how far the wheel turned, in rad</a:t>
            </a:r>
          </a:p>
        </p:txBody>
      </p:sp>
      <p:sp>
        <p:nvSpPr>
          <p:cNvPr id="11" name="TextBox 10"/>
          <p:cNvSpPr txBox="1"/>
          <p:nvPr/>
        </p:nvSpPr>
        <p:spPr>
          <a:xfrm>
            <a:off x="1295400" y="4655820"/>
            <a:ext cx="99441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 @param wheel_radius_meters the wheel radius in meters</a:t>
            </a:r>
          </a:p>
        </p:txBody>
      </p:sp>
      <p:sp>
        <p:nvSpPr>
          <p:cNvPr id="12" name="TextBox 11"/>
          <p:cNvSpPr txBox="1"/>
          <p:nvPr/>
        </p:nvSpPr>
        <p:spPr>
          <a:xfrm>
            <a:off x="1295400" y="5010150"/>
            <a:ext cx="99441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 @return the distance driven in meters</a:t>
            </a:r>
          </a:p>
        </p:txBody>
      </p:sp>
      <p:sp>
        <p:nvSpPr>
          <p:cNvPr id="13" name="TextBox 12"/>
          <p:cNvSpPr txBox="1"/>
          <p:nvPr/>
        </p:nvSpPr>
        <p:spPr>
          <a:xfrm>
            <a:off x="1295400" y="5364480"/>
            <a:ext cx="9944100" cy="35433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a:t>
            </a:r>
          </a:p>
        </p:txBody>
      </p:sp>
      <p:sp>
        <p:nvSpPr>
          <p:cNvPr id="14" name="TextBox 13"/>
          <p:cNvSpPr txBox="1"/>
          <p:nvPr/>
        </p:nvSpPr>
        <p:spPr>
          <a:xfrm>
            <a:off x="1295400" y="5718810"/>
            <a:ext cx="9944100" cy="35433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radiansToMeters(</a:t>
            </a:r>
          </a:p>
        </p:txBody>
      </p:sp>
      <p:sp>
        <p:nvSpPr>
          <p:cNvPr id="15" name="TextBox 14"/>
          <p:cNvSpPr txBox="1"/>
          <p:nvPr/>
        </p:nvSpPr>
        <p:spPr>
          <a:xfrm>
            <a:off x="1295400" y="6073140"/>
            <a:ext cx="9944100" cy="35433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wheel_radians,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wheel_radius_meters) {</a:t>
            </a:r>
          </a:p>
        </p:txBody>
      </p:sp>
      <p:sp>
        <p:nvSpPr>
          <p:cNvPr id="16" name="Oval 15"/>
          <p:cNvSpPr/>
          <p:nvPr/>
        </p:nvSpPr>
        <p:spPr>
          <a:xfrm>
            <a:off x="10782300" y="357949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2300" y="357949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8" name="Oval 17"/>
          <p:cNvSpPr/>
          <p:nvPr/>
        </p:nvSpPr>
        <p:spPr>
          <a:xfrm>
            <a:off x="10782300" y="428815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2300" y="428815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 name="Oval 19"/>
          <p:cNvSpPr/>
          <p:nvPr/>
        </p:nvSpPr>
        <p:spPr>
          <a:xfrm>
            <a:off x="10782300" y="499681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2300" y="499681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Oval 21"/>
          <p:cNvSpPr/>
          <p:nvPr/>
        </p:nvSpPr>
        <p:spPr>
          <a:xfrm>
            <a:off x="1200150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015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TextBox 23"/>
          <p:cNvSpPr txBox="1"/>
          <p:nvPr/>
        </p:nvSpPr>
        <p:spPr>
          <a:xfrm>
            <a:off x="12611100" y="28194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What it does</a:t>
            </a:r>
          </a:p>
        </p:txBody>
      </p:sp>
      <p:sp>
        <p:nvSpPr>
          <p:cNvPr id="25" name="TextBox 24"/>
          <p:cNvSpPr txBox="1"/>
          <p:nvPr/>
        </p:nvSpPr>
        <p:spPr>
          <a:xfrm>
            <a:off x="12611100" y="32385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sentence, first</a:t>
            </a:r>
          </a:p>
        </p:txBody>
      </p:sp>
      <p:sp>
        <p:nvSpPr>
          <p:cNvPr id="26" name="Oval 25"/>
          <p:cNvSpPr/>
          <p:nvPr/>
        </p:nvSpPr>
        <p:spPr>
          <a:xfrm>
            <a:off x="1200150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0015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TextBox 27"/>
          <p:cNvSpPr txBox="1"/>
          <p:nvPr/>
        </p:nvSpPr>
        <p:spPr>
          <a:xfrm>
            <a:off x="12611100" y="4248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@param</a:t>
            </a:r>
          </a:p>
        </p:txBody>
      </p:sp>
      <p:sp>
        <p:nvSpPr>
          <p:cNvPr id="29" name="TextBox 28"/>
          <p:cNvSpPr txBox="1"/>
          <p:nvPr/>
        </p:nvSpPr>
        <p:spPr>
          <a:xfrm>
            <a:off x="12611100" y="4667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line per parameter</a:t>
            </a:r>
          </a:p>
        </p:txBody>
      </p:sp>
      <p:sp>
        <p:nvSpPr>
          <p:cNvPr id="30" name="Oval 29"/>
          <p:cNvSpPr/>
          <p:nvPr/>
        </p:nvSpPr>
        <p:spPr>
          <a:xfrm>
            <a:off x="1200150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0015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2" name="TextBox 31"/>
          <p:cNvSpPr txBox="1"/>
          <p:nvPr/>
        </p:nvSpPr>
        <p:spPr>
          <a:xfrm>
            <a:off x="12611100" y="5676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@return</a:t>
            </a:r>
          </a:p>
        </p:txBody>
      </p:sp>
      <p:sp>
        <p:nvSpPr>
          <p:cNvPr id="33" name="TextBox 32"/>
          <p:cNvSpPr txBox="1"/>
          <p:nvPr/>
        </p:nvSpPr>
        <p:spPr>
          <a:xfrm>
            <a:off x="12611100" y="60960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comes back</a:t>
            </a:r>
          </a:p>
        </p:txBody>
      </p:sp>
      <p:sp>
        <p:nvSpPr>
          <p:cNvPr id="34" name="Rounded Rectangle 33"/>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ursor-fill.png"/>
          <p:cNvPicPr>
            <a:picLocks noChangeAspect="1"/>
          </p:cNvPicPr>
          <p:nvPr/>
        </p:nvPicPr>
        <p:blipFill>
          <a:blip r:embed="rId3"/>
          <a:stretch>
            <a:fillRect/>
          </a:stretch>
        </p:blipFill>
        <p:spPr>
          <a:xfrm>
            <a:off x="1333500" y="7829550"/>
            <a:ext cx="530986" cy="533400"/>
          </a:xfrm>
          <a:prstGeom prst="rect">
            <a:avLst/>
          </a:prstGeom>
        </p:spPr>
      </p:pic>
      <p:sp>
        <p:nvSpPr>
          <p:cNvPr id="36" name="TextBox 35"/>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Hover a call in VS Code  </a:t>
            </a:r>
            <a:r>
              <a:rPr sz="2100" b="0" i="0">
                <a:solidFill>
                  <a:srgbClr val="F0E8E8"/>
                </a:solidFill>
                <a:latin typeface="Geist"/>
                <a:ea typeface="Geist"/>
                <a:cs typeface="Geist"/>
              </a:rPr>
              <a:t>and this description pops up.</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ANATOMY OF A METHOD</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Errors you'll meet today</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2382500" cy="1581150"/>
          </a:xfrm>
          <a:prstGeom prst="roundRect">
            <a:avLst>
              <a:gd name="adj" fmla="val 84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14400" y="2857500"/>
            <a:ext cx="76200" cy="1581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33500" y="3086100"/>
            <a:ext cx="11620500" cy="419100"/>
          </a:xfrm>
          <a:prstGeom prst="rect">
            <a:avLst/>
          </a:prstGeom>
          <a:noFill/>
        </p:spPr>
        <p:txBody>
          <a:bodyPr wrap="square" lIns="0" rIns="0" tIns="0" bIns="0" anchor="t">
            <a:spAutoFit/>
          </a:bodyPr>
          <a:lstStyle/>
          <a:p>
            <a:pPr algn="l"/>
            <a:r>
              <a:rPr sz="2100" b="1" i="0">
                <a:solidFill>
                  <a:srgbClr val="D5000E"/>
                </a:solidFill>
                <a:latin typeface="Geist Mono"/>
                <a:ea typeface="Geist Mono"/>
                <a:cs typeface="Geist Mono"/>
              </a:rPr>
              <a:t>error: </a:t>
            </a:r>
            <a:r>
              <a:rPr sz="2100" b="0" i="0">
                <a:solidFill>
                  <a:srgbClr val="F0E8E8"/>
                </a:solidFill>
                <a:latin typeface="Geist Mono"/>
                <a:ea typeface="Geist Mono"/>
                <a:cs typeface="Geist Mono"/>
              </a:rPr>
              <a:t>cannot find symbol</a:t>
            </a:r>
          </a:p>
        </p:txBody>
      </p:sp>
      <p:sp>
        <p:nvSpPr>
          <p:cNvPr id="8" name="TextBox 7"/>
          <p:cNvSpPr txBox="1"/>
          <p:nvPr/>
        </p:nvSpPr>
        <p:spPr>
          <a:xfrm>
            <a:off x="1333500" y="3638550"/>
            <a:ext cx="11620500" cy="666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name doesn't match. Capital letters count: linearSpeed, not linearspeed.</a:t>
            </a:r>
          </a:p>
        </p:txBody>
      </p:sp>
      <p:sp>
        <p:nvSpPr>
          <p:cNvPr id="9" name="Rounded Rectangle 8"/>
          <p:cNvSpPr/>
          <p:nvPr/>
        </p:nvSpPr>
        <p:spPr>
          <a:xfrm>
            <a:off x="914400" y="4667250"/>
            <a:ext cx="12382500" cy="1581150"/>
          </a:xfrm>
          <a:prstGeom prst="roundRect">
            <a:avLst>
              <a:gd name="adj" fmla="val 84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14400" y="4667250"/>
            <a:ext cx="76200" cy="1581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33500" y="4895850"/>
            <a:ext cx="11620500" cy="419100"/>
          </a:xfrm>
          <a:prstGeom prst="rect">
            <a:avLst/>
          </a:prstGeom>
          <a:noFill/>
        </p:spPr>
        <p:txBody>
          <a:bodyPr wrap="square" lIns="0" rIns="0" tIns="0" bIns="0" anchor="t">
            <a:spAutoFit/>
          </a:bodyPr>
          <a:lstStyle/>
          <a:p>
            <a:pPr algn="l"/>
            <a:r>
              <a:rPr sz="2100" b="1" i="0">
                <a:solidFill>
                  <a:srgbClr val="D5000E"/>
                </a:solidFill>
                <a:latin typeface="Geist Mono"/>
                <a:ea typeface="Geist Mono"/>
                <a:cs typeface="Geist Mono"/>
              </a:rPr>
              <a:t>error: </a:t>
            </a:r>
            <a:r>
              <a:rPr sz="2100" b="0" i="0">
                <a:solidFill>
                  <a:srgbClr val="F0E8E8"/>
                </a:solidFill>
                <a:latin typeface="Geist Mono"/>
                <a:ea typeface="Geist Mono"/>
                <a:cs typeface="Geist Mono"/>
              </a:rPr>
              <a:t>missing return statement</a:t>
            </a:r>
          </a:p>
        </p:txBody>
      </p:sp>
      <p:sp>
        <p:nvSpPr>
          <p:cNvPr id="12" name="TextBox 11"/>
          <p:cNvSpPr txBox="1"/>
          <p:nvPr/>
        </p:nvSpPr>
        <p:spPr>
          <a:xfrm>
            <a:off x="1333500" y="5448300"/>
            <a:ext cx="11620500" cy="666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signature promises a double, but the body never returns one.</a:t>
            </a:r>
          </a:p>
        </p:txBody>
      </p:sp>
      <p:sp>
        <p:nvSpPr>
          <p:cNvPr id="13" name="Rounded Rectangle 12"/>
          <p:cNvSpPr/>
          <p:nvPr/>
        </p:nvSpPr>
        <p:spPr>
          <a:xfrm>
            <a:off x="914400" y="6477000"/>
            <a:ext cx="12382500" cy="1581150"/>
          </a:xfrm>
          <a:prstGeom prst="roundRect">
            <a:avLst>
              <a:gd name="adj" fmla="val 84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14400" y="6477000"/>
            <a:ext cx="76200" cy="1581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33500" y="6705600"/>
            <a:ext cx="11620500" cy="419100"/>
          </a:xfrm>
          <a:prstGeom prst="rect">
            <a:avLst/>
          </a:prstGeom>
          <a:noFill/>
        </p:spPr>
        <p:txBody>
          <a:bodyPr wrap="square" lIns="0" rIns="0" tIns="0" bIns="0" anchor="t">
            <a:spAutoFit/>
          </a:bodyPr>
          <a:lstStyle/>
          <a:p>
            <a:pPr algn="l"/>
            <a:r>
              <a:rPr sz="2100" b="1" i="0">
                <a:solidFill>
                  <a:srgbClr val="D5000E"/>
                </a:solidFill>
                <a:latin typeface="Geist Mono"/>
                <a:ea typeface="Geist Mono"/>
                <a:cs typeface="Geist Mono"/>
              </a:rPr>
              <a:t>error: </a:t>
            </a:r>
            <a:r>
              <a:rPr sz="2100" b="0" i="0">
                <a:solidFill>
                  <a:srgbClr val="F0E8E8"/>
                </a:solidFill>
                <a:latin typeface="Geist Mono"/>
                <a:ea typeface="Geist Mono"/>
                <a:cs typeface="Geist Mono"/>
              </a:rPr>
              <a:t>incompatible types</a:t>
            </a:r>
          </a:p>
        </p:txBody>
      </p:sp>
      <p:sp>
        <p:nvSpPr>
          <p:cNvPr id="16" name="TextBox 15"/>
          <p:cNvSpPr txBox="1"/>
          <p:nvPr/>
        </p:nvSpPr>
        <p:spPr>
          <a:xfrm>
            <a:off x="1333500" y="7258050"/>
            <a:ext cx="11620500" cy="666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answer isn't the declared type, or you used a void method's answer.</a:t>
            </a:r>
          </a:p>
        </p:txBody>
      </p:sp>
      <p:pic>
        <p:nvPicPr>
          <p:cNvPr id="17" name="Picture 16" descr="dozer_wide_left.png"/>
          <p:cNvPicPr>
            <a:picLocks noChangeAspect="1"/>
          </p:cNvPicPr>
          <p:nvPr/>
        </p:nvPicPr>
        <p:blipFill>
          <a:blip r:embed="rId3"/>
          <a:stretch>
            <a:fillRect/>
          </a:stretch>
        </p:blipFill>
        <p:spPr>
          <a:xfrm>
            <a:off x="14001750" y="4476750"/>
            <a:ext cx="3143250" cy="1931978"/>
          </a:xfrm>
          <a:prstGeom prst="rect">
            <a:avLst/>
          </a:prstGeom>
        </p:spPr>
      </p:pic>
      <p:sp>
        <p:nvSpPr>
          <p:cNvPr id="18" name="TextBox 17"/>
          <p:cNvSpPr txBox="1"/>
          <p:nvPr/>
        </p:nvSpPr>
        <p:spPr>
          <a:xfrm>
            <a:off x="13716000" y="7905750"/>
            <a:ext cx="3714750" cy="762000"/>
          </a:xfrm>
          <a:prstGeom prst="rect">
            <a:avLst/>
          </a:prstGeom>
          <a:noFill/>
        </p:spPr>
        <p:txBody>
          <a:bodyPr wrap="square" lIns="0" rIns="0" tIns="0" bIns="0" anchor="t">
            <a:spAutoFit/>
          </a:bodyPr>
          <a:lstStyle/>
          <a:p>
            <a:pPr algn="ctr">
              <a:lnSpc>
                <a:spcPct val="130000"/>
              </a:lnSpc>
            </a:pPr>
            <a:r>
              <a:rPr sz="1800" b="0" i="0">
                <a:solidFill>
                  <a:srgbClr val="9A7878"/>
                </a:solidFill>
                <a:latin typeface="Geist"/>
                <a:ea typeface="Geist"/>
                <a:cs typeface="Geist"/>
              </a:rPr>
              <a:t>Red errors before you start? That's on purpose.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Drive math</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Meters, speeds, and arcade drive that never clips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Math is easier when it never touches a motor.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Radians to meters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7048500"/>
            <a:ext cx="11430000" cy="571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43000" y="4762500"/>
            <a:ext cx="2286000" cy="2286000"/>
          </a:xfrm>
          <a:prstGeom prst="ellipse">
            <a:avLst/>
          </a:prstGeom>
          <a:solidFill>
            <a:srgbClr val="111111"/>
          </a:solidFill>
          <a:ln w="571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152650" y="57721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171700" y="6877050"/>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24681" y="4762500"/>
            <a:ext cx="2286000" cy="2286000"/>
          </a:xfrm>
          <a:prstGeom prst="ellipse">
            <a:avLst/>
          </a:prstGeom>
          <a:solidFill>
            <a:srgbClr val="111111"/>
          </a:solidFill>
          <a:ln w="571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334331" y="57721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353381" y="6877050"/>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66950" y="5886450"/>
            <a:ext cx="1181100" cy="381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381250" y="5448300"/>
            <a:ext cx="1143000" cy="381000"/>
          </a:xfrm>
          <a:prstGeom prst="rect">
            <a:avLst/>
          </a:prstGeom>
          <a:noFill/>
        </p:spPr>
        <p:txBody>
          <a:bodyPr wrap="square" lIns="0" rIns="0" tIns="0" bIns="0" anchor="t">
            <a:spAutoFit/>
          </a:bodyPr>
          <a:lstStyle/>
          <a:p>
            <a:pPr algn="ctr"/>
            <a:r>
              <a:rPr sz="2250" b="1" i="0">
                <a:solidFill>
                  <a:srgbClr val="F0E8E8"/>
                </a:solidFill>
                <a:latin typeface="Geist Mono"/>
                <a:ea typeface="Geist Mono"/>
                <a:cs typeface="Geist Mono"/>
              </a:rPr>
              <a:t>r</a:t>
            </a:r>
          </a:p>
        </p:txBody>
      </p:sp>
      <p:sp>
        <p:nvSpPr>
          <p:cNvPr id="14" name="Rectangle 13"/>
          <p:cNvSpPr/>
          <p:nvPr/>
        </p:nvSpPr>
        <p:spPr>
          <a:xfrm>
            <a:off x="2286000" y="7334250"/>
            <a:ext cx="7181681" cy="952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66950" y="7219950"/>
            <a:ext cx="38100" cy="3238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448631" y="7219950"/>
            <a:ext cx="38100" cy="3238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286000" y="7620000"/>
            <a:ext cx="7181681"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meters = radians × r</a:t>
            </a:r>
          </a:p>
        </p:txBody>
      </p:sp>
      <p:sp>
        <p:nvSpPr>
          <p:cNvPr id="18" name="TextBox 17"/>
          <p:cNvSpPr txBox="1"/>
          <p:nvPr/>
        </p:nvSpPr>
        <p:spPr>
          <a:xfrm>
            <a:off x="2286000" y="8058150"/>
            <a:ext cx="7181681" cy="3810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full turn: 6.28 rad × 0.0762 m ≈ 0.479 m</a:t>
            </a:r>
          </a:p>
        </p:txBody>
      </p:sp>
      <p:sp>
        <p:nvSpPr>
          <p:cNvPr id="19" name="Rectangle 18"/>
          <p:cNvSpPr/>
          <p:nvPr/>
        </p:nvSpPr>
        <p:spPr>
          <a:xfrm>
            <a:off x="3600450" y="5886450"/>
            <a:ext cx="4225121"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7791281" y="5829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00500" y="5429250"/>
            <a:ext cx="3943181"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rolls one full turn: 2π rad</a:t>
            </a:r>
          </a:p>
        </p:txBody>
      </p:sp>
      <p:cxnSp>
        <p:nvCxnSpPr>
          <p:cNvPr id="22" name="Connector 21"/>
          <p:cNvCxnSpPr/>
          <p:nvPr/>
        </p:nvCxnSpPr>
        <p:spPr>
          <a:xfrm flipV="1">
            <a:off x="1738017" y="4860292"/>
            <a:ext cx="85394" cy="42131"/>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823411" y="4825414"/>
            <a:ext cx="88605" cy="34878"/>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912016" y="4798033"/>
            <a:ext cx="91201" cy="27381"/>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003217" y="4778338"/>
            <a:ext cx="93164" cy="19695"/>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096381" y="4766466"/>
            <a:ext cx="94479" cy="11872"/>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2152760" y="4728366"/>
            <a:ext cx="171340" cy="7620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247900" y="4724400"/>
            <a:ext cx="171340" cy="7620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a:off x="2381140" y="4766466"/>
            <a:ext cx="94479" cy="11872"/>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475619" y="4778338"/>
            <a:ext cx="93164" cy="19695"/>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568783" y="4798033"/>
            <a:ext cx="91201" cy="27381"/>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659984" y="4825414"/>
            <a:ext cx="88605" cy="34878"/>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748589" y="4860292"/>
            <a:ext cx="85394" cy="42131"/>
          </a:xfrm>
          <a:prstGeom prst="line">
            <a:avLst/>
          </a:prstGeom>
          <a:ln w="7620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52500" y="4229100"/>
            <a:ext cx="2667000" cy="381000"/>
          </a:xfrm>
          <a:prstGeom prst="rect">
            <a:avLst/>
          </a:prstGeom>
          <a:noFill/>
        </p:spPr>
        <p:txBody>
          <a:bodyPr wrap="square" lIns="0" rIns="0" tIns="0" bIns="0" anchor="t">
            <a:spAutoFit/>
          </a:bodyPr>
          <a:lstStyle/>
          <a:p>
            <a:pPr algn="ctr"/>
            <a:r>
              <a:rPr sz="1800" b="1" i="0">
                <a:solidFill>
                  <a:srgbClr val="D5000E"/>
                </a:solidFill>
                <a:latin typeface="Geist"/>
                <a:ea typeface="Geist"/>
                <a:cs typeface="Geist"/>
              </a:rPr>
              <a:t>1 rad: arc = r</a:t>
            </a:r>
          </a:p>
        </p:txBody>
      </p:sp>
      <p:sp>
        <p:nvSpPr>
          <p:cNvPr id="35" name="Rounded Rectangle 34"/>
          <p:cNvSpPr/>
          <p:nvPr/>
        </p:nvSpPr>
        <p:spPr>
          <a:xfrm>
            <a:off x="12763500" y="2857500"/>
            <a:ext cx="4610100" cy="5334000"/>
          </a:xfrm>
          <a:prstGeom prst="roundRect">
            <a:avLst>
              <a:gd name="adj" fmla="val 330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3144500" y="3200400"/>
            <a:ext cx="381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OUR WHEEL</a:t>
            </a:r>
          </a:p>
        </p:txBody>
      </p:sp>
      <p:sp>
        <p:nvSpPr>
          <p:cNvPr id="37" name="TextBox 36"/>
          <p:cNvSpPr txBox="1"/>
          <p:nvPr/>
        </p:nvSpPr>
        <p:spPr>
          <a:xfrm>
            <a:off x="13144500" y="3619500"/>
            <a:ext cx="4000500" cy="47625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radius r = 0.0762 m</a:t>
            </a:r>
          </a:p>
        </p:txBody>
      </p:sp>
      <p:sp>
        <p:nvSpPr>
          <p:cNvPr id="38" name="Rounded Rectangle 37"/>
          <p:cNvSpPr/>
          <p:nvPr/>
        </p:nvSpPr>
        <p:spPr>
          <a:xfrm>
            <a:off x="13144500" y="4381500"/>
            <a:ext cx="38481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3373100" y="4381500"/>
            <a:ext cx="1714500" cy="7620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1 rad</a:t>
            </a:r>
          </a:p>
        </p:txBody>
      </p:sp>
      <p:sp>
        <p:nvSpPr>
          <p:cNvPr id="40" name="TextBox 39"/>
          <p:cNvSpPr txBox="1"/>
          <p:nvPr/>
        </p:nvSpPr>
        <p:spPr>
          <a:xfrm>
            <a:off x="15087600" y="4381500"/>
            <a:ext cx="1714500" cy="762000"/>
          </a:xfrm>
          <a:prstGeom prst="rect">
            <a:avLst/>
          </a:prstGeom>
          <a:noFill/>
        </p:spPr>
        <p:txBody>
          <a:bodyPr wrap="square" lIns="0" rIns="0" tIns="0" bIns="0" anchor="ctr">
            <a:spAutoFit/>
          </a:bodyPr>
          <a:lstStyle/>
          <a:p>
            <a:pPr algn="r"/>
            <a:r>
              <a:rPr sz="1950" b="1" i="0">
                <a:solidFill>
                  <a:srgbClr val="E8C27A"/>
                </a:solidFill>
                <a:latin typeface="Geist Mono"/>
                <a:ea typeface="Geist Mono"/>
                <a:cs typeface="Geist Mono"/>
              </a:rPr>
              <a:t>0.0762 m</a:t>
            </a:r>
          </a:p>
        </p:txBody>
      </p:sp>
      <p:sp>
        <p:nvSpPr>
          <p:cNvPr id="41" name="Rounded Rectangle 40"/>
          <p:cNvSpPr/>
          <p:nvPr/>
        </p:nvSpPr>
        <p:spPr>
          <a:xfrm>
            <a:off x="13144500" y="5334000"/>
            <a:ext cx="38481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3373100" y="5334000"/>
            <a:ext cx="1714500" cy="7620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6.28 rad</a:t>
            </a:r>
          </a:p>
        </p:txBody>
      </p:sp>
      <p:sp>
        <p:nvSpPr>
          <p:cNvPr id="43" name="TextBox 42"/>
          <p:cNvSpPr txBox="1"/>
          <p:nvPr/>
        </p:nvSpPr>
        <p:spPr>
          <a:xfrm>
            <a:off x="15087600" y="5334000"/>
            <a:ext cx="1714500" cy="762000"/>
          </a:xfrm>
          <a:prstGeom prst="rect">
            <a:avLst/>
          </a:prstGeom>
          <a:noFill/>
        </p:spPr>
        <p:txBody>
          <a:bodyPr wrap="square" lIns="0" rIns="0" tIns="0" bIns="0" anchor="ctr">
            <a:spAutoFit/>
          </a:bodyPr>
          <a:lstStyle/>
          <a:p>
            <a:pPr algn="r"/>
            <a:r>
              <a:rPr sz="1950" b="1" i="0">
                <a:solidFill>
                  <a:srgbClr val="E8C27A"/>
                </a:solidFill>
                <a:latin typeface="Geist Mono"/>
                <a:ea typeface="Geist Mono"/>
                <a:cs typeface="Geist Mono"/>
              </a:rPr>
              <a:t>0.479 m</a:t>
            </a:r>
          </a:p>
        </p:txBody>
      </p:sp>
      <p:sp>
        <p:nvSpPr>
          <p:cNvPr id="44" name="Rounded Rectangle 43"/>
          <p:cNvSpPr/>
          <p:nvPr/>
        </p:nvSpPr>
        <p:spPr>
          <a:xfrm>
            <a:off x="13144500" y="6286500"/>
            <a:ext cx="38481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3373100" y="6286500"/>
            <a:ext cx="1714500" cy="7620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26.2 rad</a:t>
            </a:r>
          </a:p>
        </p:txBody>
      </p:sp>
      <p:sp>
        <p:nvSpPr>
          <p:cNvPr id="46" name="TextBox 45"/>
          <p:cNvSpPr txBox="1"/>
          <p:nvPr/>
        </p:nvSpPr>
        <p:spPr>
          <a:xfrm>
            <a:off x="15087600" y="6286500"/>
            <a:ext cx="1714500" cy="762000"/>
          </a:xfrm>
          <a:prstGeom prst="rect">
            <a:avLst/>
          </a:prstGeom>
          <a:noFill/>
        </p:spPr>
        <p:txBody>
          <a:bodyPr wrap="square" lIns="0" rIns="0" tIns="0" bIns="0" anchor="ctr">
            <a:spAutoFit/>
          </a:bodyPr>
          <a:lstStyle/>
          <a:p>
            <a:pPr algn="r"/>
            <a:r>
              <a:rPr sz="1950" b="1" i="0">
                <a:solidFill>
                  <a:srgbClr val="E8C27A"/>
                </a:solidFill>
                <a:latin typeface="Geist Mono"/>
                <a:ea typeface="Geist Mono"/>
                <a:cs typeface="Geist Mono"/>
              </a:rPr>
              <a:t>2.00 m</a:t>
            </a:r>
          </a:p>
        </p:txBody>
      </p:sp>
      <p:sp>
        <p:nvSpPr>
          <p:cNvPr id="47" name="TextBox 46"/>
          <p:cNvSpPr txBox="1"/>
          <p:nvPr/>
        </p:nvSpPr>
        <p:spPr>
          <a:xfrm>
            <a:off x="13144500" y="7334250"/>
            <a:ext cx="4000500" cy="666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Same math for speed: rad/s × r = m/s</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radiansToMeters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3143250"/>
            <a:ext cx="10953750" cy="2346960"/>
          </a:xfrm>
          <a:prstGeom prst="roundRect">
            <a:avLst>
              <a:gd name="adj" fmla="val 649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316730"/>
            <a:ext cx="1091565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316730"/>
            <a:ext cx="57150" cy="39624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524250"/>
            <a:ext cx="1042035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static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radiansToMeters(</a:t>
            </a:r>
          </a:p>
        </p:txBody>
      </p:sp>
      <p:sp>
        <p:nvSpPr>
          <p:cNvPr id="10" name="TextBox 9"/>
          <p:cNvSpPr txBox="1"/>
          <p:nvPr/>
        </p:nvSpPr>
        <p:spPr>
          <a:xfrm>
            <a:off x="1295400" y="3920490"/>
            <a:ext cx="1042035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wheel_radians,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wheel_radius_meters) {</a:t>
            </a:r>
          </a:p>
        </p:txBody>
      </p:sp>
      <p:sp>
        <p:nvSpPr>
          <p:cNvPr id="11" name="TextBox 10"/>
          <p:cNvSpPr txBox="1"/>
          <p:nvPr/>
        </p:nvSpPr>
        <p:spPr>
          <a:xfrm>
            <a:off x="1295400" y="4316730"/>
            <a:ext cx="1042035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return</a:t>
            </a:r>
            <a:r>
              <a:rPr sz="1950" b="0" i="0">
                <a:solidFill>
                  <a:srgbClr val="F0E8E8"/>
                </a:solidFill>
                <a:latin typeface="Geist Mono"/>
                <a:ea typeface="Geist Mono"/>
                <a:cs typeface="Geist Mono"/>
              </a:rPr>
              <a:t> wheel_radians * wheel_radius_meters;</a:t>
            </a:r>
          </a:p>
        </p:txBody>
      </p:sp>
      <p:sp>
        <p:nvSpPr>
          <p:cNvPr id="12" name="TextBox 11"/>
          <p:cNvSpPr txBox="1"/>
          <p:nvPr/>
        </p:nvSpPr>
        <p:spPr>
          <a:xfrm>
            <a:off x="1295400" y="4712970"/>
            <a:ext cx="1042035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3" name="Oval 12"/>
          <p:cNvSpPr/>
          <p:nvPr/>
        </p:nvSpPr>
        <p:spPr>
          <a:xfrm>
            <a:off x="11258550" y="39281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258550" y="39281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 name="Oval 14"/>
          <p:cNvSpPr/>
          <p:nvPr/>
        </p:nvSpPr>
        <p:spPr>
          <a:xfrm>
            <a:off x="11258550" y="43243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58550" y="43243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14400" y="605790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DifferentialDriveMech.java</a:t>
            </a:r>
          </a:p>
        </p:txBody>
      </p:sp>
      <p:sp>
        <p:nvSpPr>
          <p:cNvPr id="18" name="Rounded Rectangle 17"/>
          <p:cNvSpPr/>
          <p:nvPr/>
        </p:nvSpPr>
        <p:spPr>
          <a:xfrm>
            <a:off x="914400" y="6477000"/>
            <a:ext cx="1095375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722376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33450" y="722376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95400" y="6858000"/>
            <a:ext cx="104203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getLeftMeters() {</a:t>
            </a:r>
          </a:p>
        </p:txBody>
      </p:sp>
      <p:sp>
        <p:nvSpPr>
          <p:cNvPr id="22" name="TextBox 21"/>
          <p:cNvSpPr txBox="1"/>
          <p:nvPr/>
        </p:nvSpPr>
        <p:spPr>
          <a:xfrm>
            <a:off x="1295400" y="722376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DriveMath.radiansToMeters(</a:t>
            </a:r>
          </a:p>
        </p:txBody>
      </p:sp>
      <p:sp>
        <p:nvSpPr>
          <p:cNvPr id="23" name="TextBox 22"/>
          <p:cNvSpPr txBox="1"/>
          <p:nvPr/>
        </p:nvSpPr>
        <p:spPr>
          <a:xfrm>
            <a:off x="1295400" y="758952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inputs_.leftPositionRad, Constants.WHEEL_RADIUS_METERS);</a:t>
            </a:r>
          </a:p>
        </p:txBody>
      </p:sp>
      <p:sp>
        <p:nvSpPr>
          <p:cNvPr id="24" name="TextBox 23"/>
          <p:cNvSpPr txBox="1"/>
          <p:nvPr/>
        </p:nvSpPr>
        <p:spPr>
          <a:xfrm>
            <a:off x="1295400" y="795528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5" name="Oval 24"/>
          <p:cNvSpPr/>
          <p:nvPr/>
        </p:nvSpPr>
        <p:spPr>
          <a:xfrm>
            <a:off x="11258550" y="721614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58550" y="721614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247775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4777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3087350" y="31051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Units in the names</a:t>
            </a:r>
          </a:p>
        </p:txBody>
      </p:sp>
      <p:sp>
        <p:nvSpPr>
          <p:cNvPr id="30" name="TextBox 29"/>
          <p:cNvSpPr txBox="1"/>
          <p:nvPr/>
        </p:nvSpPr>
        <p:spPr>
          <a:xfrm>
            <a:off x="13087350" y="35242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Radians and meters, so you can't mix them up</a:t>
            </a:r>
          </a:p>
        </p:txBody>
      </p:sp>
      <p:sp>
        <p:nvSpPr>
          <p:cNvPr id="31" name="Oval 30"/>
          <p:cNvSpPr/>
          <p:nvPr/>
        </p:nvSpPr>
        <p:spPr>
          <a:xfrm>
            <a:off x="12477750" y="4953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477750" y="4953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3087350" y="491490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answer</a:t>
            </a:r>
          </a:p>
        </p:txBody>
      </p:sp>
      <p:sp>
        <p:nvSpPr>
          <p:cNvPr id="34" name="TextBox 33"/>
          <p:cNvSpPr txBox="1"/>
          <p:nvPr/>
        </p:nvSpPr>
        <p:spPr>
          <a:xfrm>
            <a:off x="13087350" y="533400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Radians × radius = arc length</a:t>
            </a:r>
          </a:p>
        </p:txBody>
      </p:sp>
      <p:sp>
        <p:nvSpPr>
          <p:cNvPr id="35" name="Oval 34"/>
          <p:cNvSpPr/>
          <p:nvPr/>
        </p:nvSpPr>
        <p:spPr>
          <a:xfrm>
            <a:off x="12477750" y="676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477750" y="676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3087350" y="67246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Already called</a:t>
            </a:r>
          </a:p>
        </p:txBody>
      </p:sp>
      <p:sp>
        <p:nvSpPr>
          <p:cNvPr id="38" name="TextBox 37"/>
          <p:cNvSpPr txBox="1"/>
          <p:nvPr/>
        </p:nvSpPr>
        <p:spPr>
          <a:xfrm>
            <a:off x="13087350" y="71437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drivetrain uses it to report meters</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Linear speed: the average of the sides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5334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2794000" y="4443068"/>
            <a:ext cx="1524000" cy="1400865"/>
          </a:xfrm>
          <a:prstGeom prst="rect">
            <a:avLst/>
          </a:prstGeom>
        </p:spPr>
      </p:pic>
      <p:sp>
        <p:nvSpPr>
          <p:cNvPr id="7" name="Rectangle 6"/>
          <p:cNvSpPr/>
          <p:nvPr/>
        </p:nvSpPr>
        <p:spPr>
          <a:xfrm>
            <a:off x="2279650" y="4471924"/>
            <a:ext cx="76200" cy="15351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sosceles Triangle 7"/>
          <p:cNvSpPr/>
          <p:nvPr/>
        </p:nvSpPr>
        <p:spPr>
          <a:xfrm>
            <a:off x="2211070" y="431800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56150" y="4471924"/>
            <a:ext cx="76200" cy="15351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4687570" y="431800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4750" y="4953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+2</a:t>
            </a:r>
          </a:p>
        </p:txBody>
      </p:sp>
      <p:sp>
        <p:nvSpPr>
          <p:cNvPr id="12" name="TextBox 11"/>
          <p:cNvSpPr txBox="1"/>
          <p:nvPr/>
        </p:nvSpPr>
        <p:spPr>
          <a:xfrm>
            <a:off x="5080000" y="4953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+2</a:t>
            </a:r>
          </a:p>
        </p:txBody>
      </p:sp>
      <p:sp>
        <p:nvSpPr>
          <p:cNvPr id="13" name="TextBox 12"/>
          <p:cNvSpPr txBox="1"/>
          <p:nvPr/>
        </p:nvSpPr>
        <p:spPr>
          <a:xfrm>
            <a:off x="1295400" y="66675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Straight</a:t>
            </a:r>
          </a:p>
        </p:txBody>
      </p:sp>
      <p:sp>
        <p:nvSpPr>
          <p:cNvPr id="14" name="TextBox 13"/>
          <p:cNvSpPr txBox="1"/>
          <p:nvPr/>
        </p:nvSpPr>
        <p:spPr>
          <a:xfrm>
            <a:off x="1295400" y="7239000"/>
            <a:ext cx="45212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(2 + 2) / 2 = 2 m/s</a:t>
            </a:r>
          </a:p>
        </p:txBody>
      </p:sp>
      <p:sp>
        <p:nvSpPr>
          <p:cNvPr id="15" name="Rounded Rectangle 14"/>
          <p:cNvSpPr/>
          <p:nvPr/>
        </p:nvSpPr>
        <p:spPr>
          <a:xfrm>
            <a:off x="6502400" y="2857500"/>
            <a:ext cx="5283200" cy="5334000"/>
          </a:xfrm>
          <a:prstGeom prst="roundRect">
            <a:avLst>
              <a:gd name="adj" fmla="val 288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ozer_top.png"/>
          <p:cNvPicPr>
            <a:picLocks noChangeAspect="1"/>
          </p:cNvPicPr>
          <p:nvPr/>
        </p:nvPicPr>
        <p:blipFill>
          <a:blip r:embed="rId3"/>
          <a:stretch>
            <a:fillRect/>
          </a:stretch>
        </p:blipFill>
        <p:spPr>
          <a:xfrm rot="16200000">
            <a:off x="8382000" y="4443068"/>
            <a:ext cx="1524000" cy="1400865"/>
          </a:xfrm>
          <a:prstGeom prst="rect">
            <a:avLst/>
          </a:prstGeom>
        </p:spPr>
      </p:pic>
      <p:sp>
        <p:nvSpPr>
          <p:cNvPr id="17" name="Rectangle 16"/>
          <p:cNvSpPr/>
          <p:nvPr/>
        </p:nvSpPr>
        <p:spPr>
          <a:xfrm>
            <a:off x="7867650" y="4884674"/>
            <a:ext cx="76200" cy="7096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7799070" y="473075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44150" y="4059174"/>
            <a:ext cx="76200" cy="23606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10275570" y="390525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2750" y="4953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+1</a:t>
            </a:r>
          </a:p>
        </p:txBody>
      </p:sp>
      <p:sp>
        <p:nvSpPr>
          <p:cNvPr id="22" name="TextBox 21"/>
          <p:cNvSpPr txBox="1"/>
          <p:nvPr/>
        </p:nvSpPr>
        <p:spPr>
          <a:xfrm>
            <a:off x="10668000" y="4953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+3</a:t>
            </a:r>
          </a:p>
        </p:txBody>
      </p:sp>
      <p:sp>
        <p:nvSpPr>
          <p:cNvPr id="23" name="TextBox 22"/>
          <p:cNvSpPr txBox="1"/>
          <p:nvPr/>
        </p:nvSpPr>
        <p:spPr>
          <a:xfrm>
            <a:off x="6883400" y="66675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Curve</a:t>
            </a:r>
          </a:p>
        </p:txBody>
      </p:sp>
      <p:sp>
        <p:nvSpPr>
          <p:cNvPr id="24" name="TextBox 23"/>
          <p:cNvSpPr txBox="1"/>
          <p:nvPr/>
        </p:nvSpPr>
        <p:spPr>
          <a:xfrm>
            <a:off x="6883400" y="7239000"/>
            <a:ext cx="45212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(1 + 3) / 2 = 2 m/s</a:t>
            </a:r>
          </a:p>
        </p:txBody>
      </p:sp>
      <p:sp>
        <p:nvSpPr>
          <p:cNvPr id="25" name="Rounded Rectangle 24"/>
          <p:cNvSpPr/>
          <p:nvPr/>
        </p:nvSpPr>
        <p:spPr>
          <a:xfrm>
            <a:off x="12090400" y="2857500"/>
            <a:ext cx="5283200" cy="5334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dozer_top.png"/>
          <p:cNvPicPr>
            <a:picLocks noChangeAspect="1"/>
          </p:cNvPicPr>
          <p:nvPr/>
        </p:nvPicPr>
        <p:blipFill>
          <a:blip r:embed="rId3"/>
          <a:stretch>
            <a:fillRect/>
          </a:stretch>
        </p:blipFill>
        <p:spPr>
          <a:xfrm rot="16200000">
            <a:off x="13970000" y="4443068"/>
            <a:ext cx="1524000" cy="1400865"/>
          </a:xfrm>
          <a:prstGeom prst="rect">
            <a:avLst/>
          </a:prstGeom>
        </p:spPr>
      </p:pic>
      <p:sp>
        <p:nvSpPr>
          <p:cNvPr id="27" name="Rectangle 26"/>
          <p:cNvSpPr/>
          <p:nvPr/>
        </p:nvSpPr>
        <p:spPr>
          <a:xfrm>
            <a:off x="13455650" y="4692650"/>
            <a:ext cx="76200" cy="709676"/>
          </a:xfrm>
          <a:prstGeom prst="rect">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10800000">
            <a:off x="13387070" y="5342890"/>
            <a:ext cx="213360" cy="21336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5932150" y="4884674"/>
            <a:ext cx="76200" cy="7096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a:off x="15863570" y="473075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350750" y="4953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-1</a:t>
            </a:r>
          </a:p>
        </p:txBody>
      </p:sp>
      <p:sp>
        <p:nvSpPr>
          <p:cNvPr id="32" name="TextBox 31"/>
          <p:cNvSpPr txBox="1"/>
          <p:nvPr/>
        </p:nvSpPr>
        <p:spPr>
          <a:xfrm>
            <a:off x="16256000" y="4953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+1</a:t>
            </a:r>
          </a:p>
        </p:txBody>
      </p:sp>
      <p:sp>
        <p:nvSpPr>
          <p:cNvPr id="33" name="TextBox 32"/>
          <p:cNvSpPr txBox="1"/>
          <p:nvPr/>
        </p:nvSpPr>
        <p:spPr>
          <a:xfrm>
            <a:off x="12471400" y="66675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Spin</a:t>
            </a:r>
          </a:p>
        </p:txBody>
      </p:sp>
      <p:sp>
        <p:nvSpPr>
          <p:cNvPr id="34" name="TextBox 33"/>
          <p:cNvSpPr txBox="1"/>
          <p:nvPr/>
        </p:nvSpPr>
        <p:spPr>
          <a:xfrm>
            <a:off x="12471400" y="7239000"/>
            <a:ext cx="45212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(-1 + 1) / 2 = 0 m/s</a:t>
            </a:r>
          </a:p>
        </p:txBody>
      </p:sp>
      <p:sp>
        <p:nvSpPr>
          <p:cNvPr id="35" name="TextBox 34"/>
          <p:cNvSpPr txBox="1"/>
          <p:nvPr/>
        </p:nvSpPr>
        <p:spPr>
          <a:xfrm>
            <a:off x="914400" y="8477250"/>
            <a:ext cx="16459200" cy="476250"/>
          </a:xfrm>
          <a:prstGeom prst="rect">
            <a:avLst/>
          </a:prstGeom>
          <a:noFill/>
        </p:spPr>
        <p:txBody>
          <a:bodyPr wrap="square" lIns="0" rIns="0" tIns="0" bIns="0" anchor="t">
            <a:spAutoFit/>
          </a:bodyPr>
          <a:lstStyle/>
          <a:p>
            <a:pPr algn="l"/>
            <a:r>
              <a:rPr sz="2100" b="0" i="0">
                <a:solidFill>
                  <a:srgbClr val="9A7878"/>
                </a:solidFill>
                <a:latin typeface="Geist Mono"/>
                <a:ea typeface="Geist Mono"/>
                <a:cs typeface="Geist Mono"/>
              </a:rPr>
              <a:t>linearSpeed(left, right)</a:t>
            </a:r>
            <a:r>
              <a:rPr sz="2100" b="0" i="0">
                <a:solidFill>
                  <a:srgbClr val="9A7878"/>
                </a:solidFill>
                <a:latin typeface="Geist"/>
                <a:ea typeface="Geist"/>
                <a:cs typeface="Geist"/>
              </a:rPr>
              <a:t> = </a:t>
            </a:r>
            <a:r>
              <a:rPr sz="2100" b="1" i="0">
                <a:solidFill>
                  <a:srgbClr val="9A7878"/>
                </a:solidFill>
                <a:latin typeface="Geist"/>
                <a:ea typeface="Geist"/>
                <a:cs typeface="Geist"/>
              </a:rPr>
              <a:t>(left + right) / 2</a:t>
            </a:r>
            <a:r>
              <a:rPr sz="2100" b="0" i="0">
                <a:solidFill>
                  <a:srgbClr val="9A7878"/>
                </a:solidFill>
                <a:latin typeface="Geist"/>
                <a:ea typeface="Geist"/>
                <a:cs typeface="Geist"/>
              </a:rPr>
              <a:t>, in meters per second</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Angular speed: how fast it turns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5250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3619500" y="4286250"/>
            <a:ext cx="3429000" cy="2857500"/>
          </a:xfrm>
          <a:prstGeom prst="roundRect">
            <a:avLst>
              <a:gd name="adj" fmla="val 6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dozer_top.png"/>
          <p:cNvPicPr>
            <a:picLocks noChangeAspect="1"/>
          </p:cNvPicPr>
          <p:nvPr/>
        </p:nvPicPr>
        <p:blipFill>
          <a:blip r:embed="rId3"/>
          <a:stretch>
            <a:fillRect/>
          </a:stretch>
        </p:blipFill>
        <p:spPr>
          <a:xfrm rot="16200000">
            <a:off x="4524375" y="4970791"/>
            <a:ext cx="1619250" cy="1488419"/>
          </a:xfrm>
          <a:prstGeom prst="rect">
            <a:avLst/>
          </a:prstGeom>
        </p:spPr>
      </p:pic>
      <p:sp>
        <p:nvSpPr>
          <p:cNvPr id="8" name="Rounded Rectangle 7"/>
          <p:cNvSpPr/>
          <p:nvPr/>
        </p:nvSpPr>
        <p:spPr>
          <a:xfrm>
            <a:off x="3028950" y="5048250"/>
            <a:ext cx="419100" cy="13335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219950" y="5048250"/>
            <a:ext cx="419100" cy="13335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628900" y="4810125"/>
            <a:ext cx="76200" cy="1617726"/>
          </a:xfrm>
          <a:prstGeom prst="rect">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10800000">
            <a:off x="2560320" y="6368415"/>
            <a:ext cx="213360" cy="21336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62900" y="5002149"/>
            <a:ext cx="76200" cy="161772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Isosceles Triangle 12"/>
          <p:cNvSpPr/>
          <p:nvPr/>
        </p:nvSpPr>
        <p:spPr>
          <a:xfrm>
            <a:off x="7894320" y="4848225"/>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33500" y="5524500"/>
            <a:ext cx="1047750" cy="381000"/>
          </a:xfrm>
          <a:prstGeom prst="rect">
            <a:avLst/>
          </a:prstGeom>
          <a:noFill/>
        </p:spPr>
        <p:txBody>
          <a:bodyPr wrap="square" lIns="0" rIns="0" tIns="0" bIns="0" anchor="t">
            <a:spAutoFit/>
          </a:bodyPr>
          <a:lstStyle/>
          <a:p>
            <a:pPr algn="r"/>
            <a:r>
              <a:rPr sz="1800" b="1" i="0">
                <a:solidFill>
                  <a:srgbClr val="E8C27A"/>
                </a:solidFill>
                <a:latin typeface="Geist Mono"/>
                <a:ea typeface="Geist Mono"/>
                <a:cs typeface="Geist Mono"/>
              </a:rPr>
              <a:t>-1 m/s</a:t>
            </a:r>
          </a:p>
        </p:txBody>
      </p:sp>
      <p:sp>
        <p:nvSpPr>
          <p:cNvPr id="15" name="TextBox 14"/>
          <p:cNvSpPr txBox="1"/>
          <p:nvPr/>
        </p:nvSpPr>
        <p:spPr>
          <a:xfrm>
            <a:off x="8286750" y="5524500"/>
            <a:ext cx="1143000" cy="381000"/>
          </a:xfrm>
          <a:prstGeom prst="rect">
            <a:avLst/>
          </a:prstGeom>
          <a:noFill/>
        </p:spPr>
        <p:txBody>
          <a:bodyPr wrap="square" lIns="0" rIns="0" tIns="0" bIns="0" anchor="t">
            <a:spAutoFit/>
          </a:bodyPr>
          <a:lstStyle/>
          <a:p>
            <a:pPr algn="l"/>
            <a:r>
              <a:rPr sz="1800" b="1" i="0">
                <a:solidFill>
                  <a:srgbClr val="E8C27A"/>
                </a:solidFill>
                <a:latin typeface="Geist Mono"/>
                <a:ea typeface="Geist Mono"/>
                <a:cs typeface="Geist Mono"/>
              </a:rPr>
              <a:t>+1 m/s</a:t>
            </a:r>
          </a:p>
        </p:txBody>
      </p:sp>
      <p:sp>
        <p:nvSpPr>
          <p:cNvPr id="16" name="Rectangle 15"/>
          <p:cNvSpPr/>
          <p:nvPr/>
        </p:nvSpPr>
        <p:spPr>
          <a:xfrm>
            <a:off x="3224212" y="7605712"/>
            <a:ext cx="4219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224212" y="7453312"/>
            <a:ext cx="28575" cy="3333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415212" y="7453312"/>
            <a:ext cx="28575" cy="3333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228975" y="6410325"/>
            <a:ext cx="19050" cy="1066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419975" y="6410325"/>
            <a:ext cx="19050" cy="1066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429000" y="7791450"/>
            <a:ext cx="3810000" cy="381000"/>
          </a:xfrm>
          <a:prstGeom prst="rect">
            <a:avLst/>
          </a:prstGeom>
          <a:noFill/>
        </p:spPr>
        <p:txBody>
          <a:bodyPr wrap="square" lIns="0" rIns="0" tIns="0" bIns="0" anchor="t">
            <a:spAutoFit/>
          </a:bodyPr>
          <a:lstStyle/>
          <a:p>
            <a:pPr algn="ctr"/>
            <a:r>
              <a:rPr sz="1800" b="0" i="0">
                <a:solidFill>
                  <a:srgbClr val="F0E8E8"/>
                </a:solidFill>
                <a:latin typeface="Geist"/>
                <a:ea typeface="Geist"/>
                <a:cs typeface="Geist"/>
              </a:rPr>
              <a:t>track width 0.61 m</a:t>
            </a:r>
          </a:p>
        </p:txBody>
      </p:sp>
      <p:cxnSp>
        <p:nvCxnSpPr>
          <p:cNvPr id="22" name="Connector 21"/>
          <p:cNvCxnSpPr/>
          <p:nvPr/>
        </p:nvCxnSpPr>
        <p:spPr>
          <a:xfrm flipH="1" flipV="1">
            <a:off x="6542334" y="3746366"/>
            <a:ext cx="64692" cy="3792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6467504" y="3710577"/>
            <a:ext cx="74830" cy="3578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6383163" y="3677221"/>
            <a:ext cx="84341" cy="333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6290020" y="3646577"/>
            <a:ext cx="93143" cy="306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6188856" y="3618903"/>
            <a:ext cx="101164" cy="276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6080520" y="3594430"/>
            <a:ext cx="108336" cy="2447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5965920" y="3573364"/>
            <a:ext cx="114600" cy="210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5846018" y="3555882"/>
            <a:ext cx="119902" cy="174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5721821" y="3542131"/>
            <a:ext cx="124197" cy="137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5594369" y="3532225"/>
            <a:ext cx="127452" cy="99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5464733" y="3526248"/>
            <a:ext cx="129636" cy="597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05425" y="3497673"/>
            <a:ext cx="187883"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174692" y="3495675"/>
            <a:ext cx="187883"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5" name="Connector 34"/>
          <p:cNvCxnSpPr/>
          <p:nvPr/>
        </p:nvCxnSpPr>
        <p:spPr>
          <a:xfrm flipH="1">
            <a:off x="5073631" y="3526248"/>
            <a:ext cx="129636" cy="597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946179" y="3532225"/>
            <a:ext cx="127452" cy="99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4821982" y="3542131"/>
            <a:ext cx="124197" cy="137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4702080" y="3555882"/>
            <a:ext cx="119902" cy="174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4587480" y="3573364"/>
            <a:ext cx="114600" cy="210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4479144" y="3594430"/>
            <a:ext cx="108336" cy="2447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377980" y="3618903"/>
            <a:ext cx="101164" cy="276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4284837" y="3646577"/>
            <a:ext cx="93143" cy="306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4200496" y="3677221"/>
            <a:ext cx="84341" cy="333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4125666" y="3710577"/>
            <a:ext cx="74830" cy="3578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4060974" y="3746366"/>
            <a:ext cx="64692" cy="3792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3984774" y="3746366"/>
            <a:ext cx="140892" cy="76021"/>
          </a:xfrm>
          <a:prstGeom prst="line">
            <a:avLst/>
          </a:prstGeom>
          <a:ln w="5715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429000" y="2952750"/>
            <a:ext cx="3810000" cy="381000"/>
          </a:xfrm>
          <a:prstGeom prst="rect">
            <a:avLst/>
          </a:prstGeom>
          <a:noFill/>
        </p:spPr>
        <p:txBody>
          <a:bodyPr wrap="square" lIns="0" rIns="0" tIns="0" bIns="0" anchor="t">
            <a:spAutoFit/>
          </a:bodyPr>
          <a:lstStyle/>
          <a:p>
            <a:pPr algn="ctr"/>
            <a:r>
              <a:rPr sz="1800" b="1" i="0">
                <a:solidFill>
                  <a:srgbClr val="D5000E"/>
                </a:solidFill>
                <a:latin typeface="Geist"/>
                <a:ea typeface="Geist"/>
                <a:cs typeface="Geist"/>
              </a:rPr>
              <a:t>turning left (+)</a:t>
            </a:r>
          </a:p>
        </p:txBody>
      </p:sp>
      <p:sp>
        <p:nvSpPr>
          <p:cNvPr id="48" name="Rounded Rectangle 47"/>
          <p:cNvSpPr/>
          <p:nvPr/>
        </p:nvSpPr>
        <p:spPr>
          <a:xfrm>
            <a:off x="10858500" y="2762250"/>
            <a:ext cx="65151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1239500" y="3105150"/>
            <a:ext cx="5715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FORMULA</a:t>
            </a:r>
          </a:p>
        </p:txBody>
      </p:sp>
      <p:sp>
        <p:nvSpPr>
          <p:cNvPr id="50" name="TextBox 49"/>
          <p:cNvSpPr txBox="1"/>
          <p:nvPr/>
        </p:nvSpPr>
        <p:spPr>
          <a:xfrm>
            <a:off x="11239500" y="3619500"/>
            <a:ext cx="5905500" cy="5715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(right - left) / track width</a:t>
            </a:r>
          </a:p>
        </p:txBody>
      </p:sp>
      <p:sp>
        <p:nvSpPr>
          <p:cNvPr id="51" name="TextBox 50"/>
          <p:cNvSpPr txBox="1"/>
          <p:nvPr/>
        </p:nvSpPr>
        <p:spPr>
          <a:xfrm>
            <a:off x="11239500" y="4667250"/>
            <a:ext cx="5715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OUR EXAMPLE</a:t>
            </a:r>
          </a:p>
        </p:txBody>
      </p:sp>
      <p:sp>
        <p:nvSpPr>
          <p:cNvPr id="52" name="TextBox 51"/>
          <p:cNvSpPr txBox="1"/>
          <p:nvPr/>
        </p:nvSpPr>
        <p:spPr>
          <a:xfrm>
            <a:off x="11239500" y="5143500"/>
            <a:ext cx="5905500" cy="476250"/>
          </a:xfrm>
          <a:prstGeom prst="rect">
            <a:avLst/>
          </a:prstGeom>
          <a:noFill/>
        </p:spPr>
        <p:txBody>
          <a:bodyPr wrap="square" lIns="0" rIns="0" tIns="0" bIns="0" anchor="t">
            <a:spAutoFit/>
          </a:bodyPr>
          <a:lstStyle/>
          <a:p>
            <a:pPr algn="l"/>
            <a:r>
              <a:rPr sz="2250" b="0" i="0">
                <a:solidFill>
                  <a:srgbClr val="E8C27A"/>
                </a:solidFill>
                <a:latin typeface="Geist Mono"/>
                <a:ea typeface="Geist Mono"/>
                <a:cs typeface="Geist Mono"/>
              </a:rPr>
              <a:t>(1 - (-1)) / 0.61</a:t>
            </a:r>
          </a:p>
        </p:txBody>
      </p:sp>
      <p:sp>
        <p:nvSpPr>
          <p:cNvPr id="53" name="TextBox 52"/>
          <p:cNvSpPr txBox="1"/>
          <p:nvPr/>
        </p:nvSpPr>
        <p:spPr>
          <a:xfrm>
            <a:off x="11239500" y="5715000"/>
            <a:ext cx="5905500" cy="5715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 3.3 rad/s</a:t>
            </a:r>
          </a:p>
        </p:txBody>
      </p:sp>
      <p:sp>
        <p:nvSpPr>
          <p:cNvPr id="54" name="TextBox 53"/>
          <p:cNvSpPr txBox="1"/>
          <p:nvPr/>
        </p:nvSpPr>
        <p:spPr>
          <a:xfrm>
            <a:off x="11239500" y="6477000"/>
            <a:ext cx="5715000" cy="66675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About π rad (half a turn) each second.</a:t>
            </a:r>
          </a:p>
        </p:txBody>
      </p:sp>
      <p:sp>
        <p:nvSpPr>
          <p:cNvPr id="55" name="TextBox 54"/>
          <p:cNvSpPr txBox="1"/>
          <p:nvPr/>
        </p:nvSpPr>
        <p:spPr>
          <a:xfrm>
            <a:off x="11239500" y="7334250"/>
            <a:ext cx="57150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Positive</a:t>
            </a:r>
            <a:r>
              <a:rPr sz="1950" b="0" i="0">
                <a:solidFill>
                  <a:srgbClr val="F0E8E8"/>
                </a:solidFill>
                <a:latin typeface="Geist"/>
                <a:ea typeface="Geist"/>
                <a:cs typeface="Geist"/>
              </a:rPr>
              <a:t> = turning left</a:t>
            </a:r>
          </a:p>
        </p:txBody>
      </p:sp>
      <p:sp>
        <p:nvSpPr>
          <p:cNvPr id="56" name="TextBox 55"/>
          <p:cNvSpPr txBox="1"/>
          <p:nvPr/>
        </p:nvSpPr>
        <p:spPr>
          <a:xfrm>
            <a:off x="11239500" y="7808595"/>
            <a:ext cx="57150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Same speeds</a:t>
            </a:r>
            <a:r>
              <a:rPr sz="1950" b="0" i="0">
                <a:solidFill>
                  <a:srgbClr val="F0E8E8"/>
                </a:solidFill>
                <a:latin typeface="Geist"/>
                <a:ea typeface="Geist"/>
                <a:cs typeface="Geist"/>
              </a:rPr>
              <a:t> = 0, not turning</a:t>
            </a:r>
          </a:p>
        </p:txBody>
      </p:sp>
      <p:sp>
        <p:nvSpPr>
          <p:cNvPr id="57" name="TextBox 5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8" name="TextBox 5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Write them yourself: linearSpeed and angularSpeed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3143250"/>
            <a:ext cx="10953750" cy="4376738"/>
          </a:xfrm>
          <a:prstGeom prst="roundRect">
            <a:avLst>
              <a:gd name="adj" fmla="val 34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524250"/>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524250"/>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167312"/>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167312"/>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4203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static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linearSpeed(</a:t>
            </a:r>
          </a:p>
        </p:txBody>
      </p:sp>
      <p:sp>
        <p:nvSpPr>
          <p:cNvPr id="12" name="TextBox 11"/>
          <p:cNvSpPr txBox="1"/>
          <p:nvPr/>
        </p:nvSpPr>
        <p:spPr>
          <a:xfrm>
            <a:off x="1295400" y="3852862"/>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left_meters_per_second,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right_meters_per_second) {</a:t>
            </a:r>
          </a:p>
        </p:txBody>
      </p:sp>
      <p:sp>
        <p:nvSpPr>
          <p:cNvPr id="13" name="TextBox 12"/>
          <p:cNvSpPr txBox="1"/>
          <p:nvPr/>
        </p:nvSpPr>
        <p:spPr>
          <a:xfrm>
            <a:off x="1295400" y="4181475"/>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return</a:t>
            </a:r>
            <a:r>
              <a:rPr sz="1725" b="0" i="0">
                <a:solidFill>
                  <a:srgbClr val="F0E8E8"/>
                </a:solidFill>
                <a:latin typeface="Geist Mono"/>
                <a:ea typeface="Geist Mono"/>
                <a:cs typeface="Geist Mono"/>
              </a:rPr>
              <a:t> (left_meters_per_second + right_meters_per_second) / </a:t>
            </a:r>
            <a:r>
              <a:rPr sz="1725" b="0" i="0">
                <a:solidFill>
                  <a:srgbClr val="E8C27A"/>
                </a:solidFill>
                <a:latin typeface="Geist Mono"/>
                <a:ea typeface="Geist Mono"/>
                <a:cs typeface="Geist Mono"/>
              </a:rPr>
              <a:t>2.0</a:t>
            </a:r>
            <a:r>
              <a:rPr sz="1725" b="0" i="0">
                <a:solidFill>
                  <a:srgbClr val="F0E8E8"/>
                </a:solidFill>
                <a:latin typeface="Geist Mono"/>
                <a:ea typeface="Geist Mono"/>
                <a:cs typeface="Geist Mono"/>
              </a:rPr>
              <a:t>;</a:t>
            </a:r>
          </a:p>
        </p:txBody>
      </p:sp>
      <p:sp>
        <p:nvSpPr>
          <p:cNvPr id="14" name="TextBox 13"/>
          <p:cNvSpPr txBox="1"/>
          <p:nvPr/>
        </p:nvSpPr>
        <p:spPr>
          <a:xfrm>
            <a:off x="1295400" y="4510088"/>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15" name="TextBox 14"/>
          <p:cNvSpPr txBox="1"/>
          <p:nvPr/>
        </p:nvSpPr>
        <p:spPr>
          <a:xfrm>
            <a:off x="1295400" y="4838700"/>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6" name="TextBox 15"/>
          <p:cNvSpPr txBox="1"/>
          <p:nvPr/>
        </p:nvSpPr>
        <p:spPr>
          <a:xfrm>
            <a:off x="1295400" y="5167312"/>
            <a:ext cx="104203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static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angularSpeed(</a:t>
            </a:r>
          </a:p>
        </p:txBody>
      </p:sp>
      <p:sp>
        <p:nvSpPr>
          <p:cNvPr id="17" name="TextBox 16"/>
          <p:cNvSpPr txBox="1"/>
          <p:nvPr/>
        </p:nvSpPr>
        <p:spPr>
          <a:xfrm>
            <a:off x="1295400" y="5495925"/>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left_meters_per_second,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right_meters_per_second,</a:t>
            </a:r>
          </a:p>
        </p:txBody>
      </p:sp>
      <p:sp>
        <p:nvSpPr>
          <p:cNvPr id="18" name="TextBox 17"/>
          <p:cNvSpPr txBox="1"/>
          <p:nvPr/>
        </p:nvSpPr>
        <p:spPr>
          <a:xfrm>
            <a:off x="1295400" y="5824538"/>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track_width_meters) {</a:t>
            </a:r>
          </a:p>
        </p:txBody>
      </p:sp>
      <p:sp>
        <p:nvSpPr>
          <p:cNvPr id="19" name="TextBox 18"/>
          <p:cNvSpPr txBox="1"/>
          <p:nvPr/>
        </p:nvSpPr>
        <p:spPr>
          <a:xfrm>
            <a:off x="1295400" y="6153150"/>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return</a:t>
            </a:r>
            <a:r>
              <a:rPr sz="1725" b="0" i="0">
                <a:solidFill>
                  <a:srgbClr val="F0E8E8"/>
                </a:solidFill>
                <a:latin typeface="Geist Mono"/>
                <a:ea typeface="Geist Mono"/>
                <a:cs typeface="Geist Mono"/>
              </a:rPr>
              <a:t> (right_meters_per_second - left_meters_per_second)</a:t>
            </a:r>
          </a:p>
        </p:txBody>
      </p:sp>
      <p:sp>
        <p:nvSpPr>
          <p:cNvPr id="20" name="TextBox 19"/>
          <p:cNvSpPr txBox="1"/>
          <p:nvPr/>
        </p:nvSpPr>
        <p:spPr>
          <a:xfrm>
            <a:off x="1295400" y="6481762"/>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 track_width_meters;</a:t>
            </a:r>
          </a:p>
        </p:txBody>
      </p:sp>
      <p:sp>
        <p:nvSpPr>
          <p:cNvPr id="21" name="TextBox 20"/>
          <p:cNvSpPr txBox="1"/>
          <p:nvPr/>
        </p:nvSpPr>
        <p:spPr>
          <a:xfrm>
            <a:off x="1295400" y="6810375"/>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2" name="Oval 21"/>
          <p:cNvSpPr/>
          <p:nvPr/>
        </p:nvSpPr>
        <p:spPr>
          <a:xfrm>
            <a:off x="11258550" y="349805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58550" y="34980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1258550" y="382666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58550" y="382666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1258550" y="415528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258550" y="41552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Oval 27"/>
          <p:cNvSpPr/>
          <p:nvPr/>
        </p:nvSpPr>
        <p:spPr>
          <a:xfrm>
            <a:off x="11258550" y="5798344"/>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58550" y="579834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0" name="Oval 29"/>
          <p:cNvSpPr/>
          <p:nvPr/>
        </p:nvSpPr>
        <p:spPr>
          <a:xfrm>
            <a:off x="1247775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4777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3087350" y="31051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Signature</a:t>
            </a:r>
          </a:p>
        </p:txBody>
      </p:sp>
      <p:sp>
        <p:nvSpPr>
          <p:cNvPr id="33" name="TextBox 32"/>
          <p:cNvSpPr txBox="1"/>
          <p:nvPr/>
        </p:nvSpPr>
        <p:spPr>
          <a:xfrm>
            <a:off x="13087350" y="35242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public static double, then the exact name</a:t>
            </a:r>
          </a:p>
        </p:txBody>
      </p:sp>
      <p:sp>
        <p:nvSpPr>
          <p:cNvPr id="34" name="Oval 33"/>
          <p:cNvSpPr/>
          <p:nvPr/>
        </p:nvSpPr>
        <p:spPr>
          <a:xfrm>
            <a:off x="12477750" y="4572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4777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3087350" y="453390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Parameters</a:t>
            </a:r>
          </a:p>
        </p:txBody>
      </p:sp>
      <p:sp>
        <p:nvSpPr>
          <p:cNvPr id="37" name="TextBox 36"/>
          <p:cNvSpPr txBox="1"/>
          <p:nvPr/>
        </p:nvSpPr>
        <p:spPr>
          <a:xfrm>
            <a:off x="13087350" y="495300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Two doubles, named with units</a:t>
            </a:r>
          </a:p>
        </p:txBody>
      </p:sp>
      <p:sp>
        <p:nvSpPr>
          <p:cNvPr id="38" name="Oval 37"/>
          <p:cNvSpPr/>
          <p:nvPr/>
        </p:nvSpPr>
        <p:spPr>
          <a:xfrm>
            <a:off x="12477750" y="6000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47775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3087350" y="59626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answer</a:t>
            </a:r>
          </a:p>
        </p:txBody>
      </p:sp>
      <p:sp>
        <p:nvSpPr>
          <p:cNvPr id="41" name="TextBox 40"/>
          <p:cNvSpPr txBox="1"/>
          <p:nvPr/>
        </p:nvSpPr>
        <p:spPr>
          <a:xfrm>
            <a:off x="13087350" y="63817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average of the sides</a:t>
            </a:r>
          </a:p>
        </p:txBody>
      </p:sp>
      <p:sp>
        <p:nvSpPr>
          <p:cNvPr id="42" name="Oval 41"/>
          <p:cNvSpPr/>
          <p:nvPr/>
        </p:nvSpPr>
        <p:spPr>
          <a:xfrm>
            <a:off x="12477750" y="7429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47775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4" name="TextBox 43"/>
          <p:cNvSpPr txBox="1"/>
          <p:nvPr/>
        </p:nvSpPr>
        <p:spPr>
          <a:xfrm>
            <a:off x="13087350" y="739140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third parameter</a:t>
            </a:r>
          </a:p>
        </p:txBody>
      </p:sp>
      <p:sp>
        <p:nvSpPr>
          <p:cNvPr id="45" name="TextBox 44"/>
          <p:cNvSpPr txBox="1"/>
          <p:nvPr/>
        </p:nvSpPr>
        <p:spPr>
          <a:xfrm>
            <a:off x="13087350" y="781050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angularSpeed also needs the track width</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Working it by hand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2114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left</a:t>
            </a:r>
          </a:p>
        </p:txBody>
      </p:sp>
      <p:sp>
        <p:nvSpPr>
          <p:cNvPr id="7" name="TextBox 6"/>
          <p:cNvSpPr txBox="1"/>
          <p:nvPr/>
        </p:nvSpPr>
        <p:spPr>
          <a:xfrm>
            <a:off x="3562350" y="2857500"/>
            <a:ext cx="2114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right</a:t>
            </a:r>
          </a:p>
        </p:txBody>
      </p:sp>
      <p:sp>
        <p:nvSpPr>
          <p:cNvPr id="8" name="TextBox 7"/>
          <p:cNvSpPr txBox="1"/>
          <p:nvPr/>
        </p:nvSpPr>
        <p:spPr>
          <a:xfrm>
            <a:off x="5943600" y="2857500"/>
            <a:ext cx="2495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linear</a:t>
            </a:r>
          </a:p>
        </p:txBody>
      </p:sp>
      <p:sp>
        <p:nvSpPr>
          <p:cNvPr id="9" name="TextBox 8"/>
          <p:cNvSpPr txBox="1"/>
          <p:nvPr/>
        </p:nvSpPr>
        <p:spPr>
          <a:xfrm>
            <a:off x="8705850" y="2857500"/>
            <a:ext cx="26860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angular</a:t>
            </a:r>
          </a:p>
        </p:txBody>
      </p:sp>
      <p:sp>
        <p:nvSpPr>
          <p:cNvPr id="10" name="TextBox 9"/>
          <p:cNvSpPr txBox="1"/>
          <p:nvPr/>
        </p:nvSpPr>
        <p:spPr>
          <a:xfrm>
            <a:off x="11658600" y="2857500"/>
            <a:ext cx="57150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Robot</a:t>
            </a:r>
          </a:p>
        </p:txBody>
      </p:sp>
      <p:sp>
        <p:nvSpPr>
          <p:cNvPr id="11" name="Rectangle 10"/>
          <p:cNvSpPr/>
          <p:nvPr/>
        </p:nvSpPr>
        <p:spPr>
          <a:xfrm>
            <a:off x="904875" y="46005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361950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13" name="TextBox 12"/>
          <p:cNvSpPr txBox="1"/>
          <p:nvPr/>
        </p:nvSpPr>
        <p:spPr>
          <a:xfrm>
            <a:off x="3562350" y="361950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14" name="TextBox 13"/>
          <p:cNvSpPr txBox="1"/>
          <p:nvPr/>
        </p:nvSpPr>
        <p:spPr>
          <a:xfrm>
            <a:off x="5943600" y="3619500"/>
            <a:ext cx="2419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15" name="TextBox 14"/>
          <p:cNvSpPr txBox="1"/>
          <p:nvPr/>
        </p:nvSpPr>
        <p:spPr>
          <a:xfrm>
            <a:off x="8705850" y="3619500"/>
            <a:ext cx="26098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0.0</a:t>
            </a:r>
          </a:p>
        </p:txBody>
      </p:sp>
      <p:sp>
        <p:nvSpPr>
          <p:cNvPr id="16" name="TextBox 15"/>
          <p:cNvSpPr txBox="1"/>
          <p:nvPr/>
        </p:nvSpPr>
        <p:spPr>
          <a:xfrm>
            <a:off x="11658600" y="3619500"/>
            <a:ext cx="56388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Straight</a:t>
            </a:r>
          </a:p>
        </p:txBody>
      </p:sp>
      <p:sp>
        <p:nvSpPr>
          <p:cNvPr id="17" name="Rectangle 16"/>
          <p:cNvSpPr/>
          <p:nvPr/>
        </p:nvSpPr>
        <p:spPr>
          <a:xfrm>
            <a:off x="904875" y="56483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466725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19" name="TextBox 18"/>
          <p:cNvSpPr txBox="1"/>
          <p:nvPr/>
        </p:nvSpPr>
        <p:spPr>
          <a:xfrm>
            <a:off x="3562350" y="466725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3.0</a:t>
            </a:r>
          </a:p>
        </p:txBody>
      </p:sp>
      <p:sp>
        <p:nvSpPr>
          <p:cNvPr id="20" name="TextBox 19"/>
          <p:cNvSpPr txBox="1"/>
          <p:nvPr/>
        </p:nvSpPr>
        <p:spPr>
          <a:xfrm>
            <a:off x="5943600" y="4667250"/>
            <a:ext cx="2419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21" name="TextBox 20"/>
          <p:cNvSpPr txBox="1"/>
          <p:nvPr/>
        </p:nvSpPr>
        <p:spPr>
          <a:xfrm>
            <a:off x="8705850" y="4667250"/>
            <a:ext cx="26098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3.3</a:t>
            </a:r>
          </a:p>
        </p:txBody>
      </p:sp>
      <p:sp>
        <p:nvSpPr>
          <p:cNvPr id="22" name="TextBox 21"/>
          <p:cNvSpPr txBox="1"/>
          <p:nvPr/>
        </p:nvSpPr>
        <p:spPr>
          <a:xfrm>
            <a:off x="11658600" y="4667250"/>
            <a:ext cx="56388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Curves left</a:t>
            </a:r>
          </a:p>
        </p:txBody>
      </p:sp>
      <p:sp>
        <p:nvSpPr>
          <p:cNvPr id="23" name="Rectangle 22"/>
          <p:cNvSpPr/>
          <p:nvPr/>
        </p:nvSpPr>
        <p:spPr>
          <a:xfrm>
            <a:off x="904875" y="66960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81100" y="571500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25" name="TextBox 24"/>
          <p:cNvSpPr txBox="1"/>
          <p:nvPr/>
        </p:nvSpPr>
        <p:spPr>
          <a:xfrm>
            <a:off x="3562350" y="571500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26" name="TextBox 25"/>
          <p:cNvSpPr txBox="1"/>
          <p:nvPr/>
        </p:nvSpPr>
        <p:spPr>
          <a:xfrm>
            <a:off x="5943600" y="5715000"/>
            <a:ext cx="2419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0.0</a:t>
            </a:r>
          </a:p>
        </p:txBody>
      </p:sp>
      <p:sp>
        <p:nvSpPr>
          <p:cNvPr id="27" name="TextBox 26"/>
          <p:cNvSpPr txBox="1"/>
          <p:nvPr/>
        </p:nvSpPr>
        <p:spPr>
          <a:xfrm>
            <a:off x="8705850" y="5715000"/>
            <a:ext cx="26098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3.3</a:t>
            </a:r>
          </a:p>
        </p:txBody>
      </p:sp>
      <p:sp>
        <p:nvSpPr>
          <p:cNvPr id="28" name="TextBox 27"/>
          <p:cNvSpPr txBox="1"/>
          <p:nvPr/>
        </p:nvSpPr>
        <p:spPr>
          <a:xfrm>
            <a:off x="11658600" y="5715000"/>
            <a:ext cx="56388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Spins left in place</a:t>
            </a:r>
          </a:p>
        </p:txBody>
      </p:sp>
      <p:sp>
        <p:nvSpPr>
          <p:cNvPr id="29" name="Rounded Rectangle 28"/>
          <p:cNvSpPr/>
          <p:nvPr/>
        </p:nvSpPr>
        <p:spPr>
          <a:xfrm>
            <a:off x="914400" y="6762750"/>
            <a:ext cx="16459200" cy="952500"/>
          </a:xfrm>
          <a:prstGeom prst="roundRect">
            <a:avLst>
              <a:gd name="adj" fmla="val 12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04875" y="77438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1100" y="676275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3.0</a:t>
            </a:r>
          </a:p>
        </p:txBody>
      </p:sp>
      <p:sp>
        <p:nvSpPr>
          <p:cNvPr id="32" name="TextBox 31"/>
          <p:cNvSpPr txBox="1"/>
          <p:nvPr/>
        </p:nvSpPr>
        <p:spPr>
          <a:xfrm>
            <a:off x="3562350" y="6762750"/>
            <a:ext cx="2038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33" name="TextBox 32"/>
          <p:cNvSpPr txBox="1"/>
          <p:nvPr/>
        </p:nvSpPr>
        <p:spPr>
          <a:xfrm>
            <a:off x="5943600" y="6762750"/>
            <a:ext cx="24193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2.0</a:t>
            </a:r>
          </a:p>
        </p:txBody>
      </p:sp>
      <p:sp>
        <p:nvSpPr>
          <p:cNvPr id="34" name="TextBox 33"/>
          <p:cNvSpPr txBox="1"/>
          <p:nvPr/>
        </p:nvSpPr>
        <p:spPr>
          <a:xfrm>
            <a:off x="8705850" y="6762750"/>
            <a:ext cx="260985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-3.3</a:t>
            </a:r>
          </a:p>
        </p:txBody>
      </p:sp>
      <p:sp>
        <p:nvSpPr>
          <p:cNvPr id="35" name="TextBox 34"/>
          <p:cNvSpPr txBox="1"/>
          <p:nvPr/>
        </p:nvSpPr>
        <p:spPr>
          <a:xfrm>
            <a:off x="11658600" y="6762750"/>
            <a:ext cx="56388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Curves right</a:t>
            </a:r>
          </a:p>
        </p:txBody>
      </p:sp>
      <p:sp>
        <p:nvSpPr>
          <p:cNvPr id="36" name="Rounded Rectangle 35"/>
          <p:cNvSpPr/>
          <p:nvPr/>
        </p:nvSpPr>
        <p:spPr>
          <a:xfrm>
            <a:off x="914400" y="8001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33500" y="800100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Units:  </a:t>
            </a:r>
            <a:r>
              <a:rPr sz="2100" b="0" i="0">
                <a:solidFill>
                  <a:srgbClr val="F0E8E8"/>
                </a:solidFill>
                <a:latin typeface="Geist"/>
                <a:ea typeface="Geist"/>
                <a:cs typeface="Geist"/>
              </a:rPr>
              <a:t>sides and linear in m/s, angular in rad/s. Track width 0.61 m.</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Arcade drive that never clips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2043112" y="6748462"/>
            <a:ext cx="15116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43112" y="4163105"/>
            <a:ext cx="15116175" cy="28575"/>
          </a:xfrm>
          <a:prstGeom prst="rect">
            <a:avLst/>
          </a:prstGeom>
          <a:solidFill>
            <a:srgbClr val="D5000E"/>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005943"/>
            <a:ext cx="1143000" cy="342900"/>
          </a:xfrm>
          <a:prstGeom prst="rect">
            <a:avLst/>
          </a:prstGeom>
          <a:noFill/>
        </p:spPr>
        <p:txBody>
          <a:bodyPr wrap="square" lIns="0" rIns="0" tIns="0" bIns="0" anchor="t">
            <a:spAutoFit/>
          </a:bodyPr>
          <a:lstStyle/>
          <a:p>
            <a:pPr algn="r"/>
            <a:r>
              <a:rPr sz="1800" b="1" i="0">
                <a:solidFill>
                  <a:srgbClr val="D5000E"/>
                </a:solidFill>
                <a:latin typeface="Geist Mono"/>
                <a:ea typeface="Geist Mono"/>
                <a:cs typeface="Geist Mono"/>
              </a:rPr>
              <a:t>1.0</a:t>
            </a:r>
          </a:p>
        </p:txBody>
      </p:sp>
      <p:sp>
        <p:nvSpPr>
          <p:cNvPr id="8" name="TextBox 7"/>
          <p:cNvSpPr txBox="1"/>
          <p:nvPr/>
        </p:nvSpPr>
        <p:spPr>
          <a:xfrm>
            <a:off x="914400" y="6591300"/>
            <a:ext cx="1143000" cy="342900"/>
          </a:xfrm>
          <a:prstGeom prst="rect">
            <a:avLst/>
          </a:prstGeom>
          <a:noFill/>
        </p:spPr>
        <p:txBody>
          <a:bodyPr wrap="square" lIns="0" rIns="0" tIns="0" bIns="0" anchor="t">
            <a:spAutoFit/>
          </a:bodyPr>
          <a:lstStyle/>
          <a:p>
            <a:pPr algn="r"/>
            <a:r>
              <a:rPr sz="1800" b="0" i="0">
                <a:solidFill>
                  <a:srgbClr val="9A7878"/>
                </a:solidFill>
                <a:latin typeface="Geist Mono"/>
                <a:ea typeface="Geist Mono"/>
                <a:cs typeface="Geist Mono"/>
              </a:rPr>
              <a:t>0</a:t>
            </a:r>
          </a:p>
        </p:txBody>
      </p:sp>
      <p:sp>
        <p:nvSpPr>
          <p:cNvPr id="9" name="Rectangle 8"/>
          <p:cNvSpPr/>
          <p:nvPr/>
        </p:nvSpPr>
        <p:spPr>
          <a:xfrm>
            <a:off x="3200400" y="3660321"/>
            <a:ext cx="1333500" cy="3102429"/>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09900" y="3241221"/>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1.2</a:t>
            </a:r>
          </a:p>
        </p:txBody>
      </p:sp>
      <p:sp>
        <p:nvSpPr>
          <p:cNvPr id="11" name="TextBox 10"/>
          <p:cNvSpPr txBox="1"/>
          <p:nvPr/>
        </p:nvSpPr>
        <p:spPr>
          <a:xfrm>
            <a:off x="32004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L</a:t>
            </a:r>
          </a:p>
        </p:txBody>
      </p:sp>
      <p:sp>
        <p:nvSpPr>
          <p:cNvPr id="12" name="Rectangle 11"/>
          <p:cNvSpPr/>
          <p:nvPr/>
        </p:nvSpPr>
        <p:spPr>
          <a:xfrm>
            <a:off x="5105400" y="5728607"/>
            <a:ext cx="1333500" cy="1034143"/>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914900" y="5309507"/>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0.4</a:t>
            </a:r>
          </a:p>
        </p:txBody>
      </p:sp>
      <p:sp>
        <p:nvSpPr>
          <p:cNvPr id="14" name="TextBox 13"/>
          <p:cNvSpPr txBox="1"/>
          <p:nvPr/>
        </p:nvSpPr>
        <p:spPr>
          <a:xfrm>
            <a:off x="51054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R</a:t>
            </a:r>
          </a:p>
        </p:txBody>
      </p:sp>
      <p:sp>
        <p:nvSpPr>
          <p:cNvPr id="15" name="TextBox 14"/>
          <p:cNvSpPr txBox="1"/>
          <p:nvPr/>
        </p:nvSpPr>
        <p:spPr>
          <a:xfrm>
            <a:off x="2628900" y="7334250"/>
            <a:ext cx="43815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Math says</a:t>
            </a:r>
          </a:p>
        </p:txBody>
      </p:sp>
      <p:sp>
        <p:nvSpPr>
          <p:cNvPr id="16" name="TextBox 15"/>
          <p:cNvSpPr txBox="1"/>
          <p:nvPr/>
        </p:nvSpPr>
        <p:spPr>
          <a:xfrm>
            <a:off x="2628900" y="7753350"/>
            <a:ext cx="4381500" cy="3810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3 : 1</a:t>
            </a:r>
          </a:p>
        </p:txBody>
      </p:sp>
      <p:sp>
        <p:nvSpPr>
          <p:cNvPr id="17" name="Rectangle 16"/>
          <p:cNvSpPr/>
          <p:nvPr/>
        </p:nvSpPr>
        <p:spPr>
          <a:xfrm>
            <a:off x="7091362" y="4809445"/>
            <a:ext cx="4629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7524750" y="4747532"/>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43900" y="4177393"/>
            <a:ext cx="1333500" cy="2585357"/>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53400" y="3758293"/>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1.0</a:t>
            </a:r>
          </a:p>
        </p:txBody>
      </p:sp>
      <p:sp>
        <p:nvSpPr>
          <p:cNvPr id="21" name="TextBox 20"/>
          <p:cNvSpPr txBox="1"/>
          <p:nvPr/>
        </p:nvSpPr>
        <p:spPr>
          <a:xfrm>
            <a:off x="83439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L</a:t>
            </a:r>
          </a:p>
        </p:txBody>
      </p:sp>
      <p:sp>
        <p:nvSpPr>
          <p:cNvPr id="22" name="Rectangle 21"/>
          <p:cNvSpPr/>
          <p:nvPr/>
        </p:nvSpPr>
        <p:spPr>
          <a:xfrm>
            <a:off x="10248900" y="5728607"/>
            <a:ext cx="1333500" cy="1034143"/>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058400" y="5309507"/>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0.4</a:t>
            </a:r>
          </a:p>
        </p:txBody>
      </p:sp>
      <p:sp>
        <p:nvSpPr>
          <p:cNvPr id="24" name="TextBox 23"/>
          <p:cNvSpPr txBox="1"/>
          <p:nvPr/>
        </p:nvSpPr>
        <p:spPr>
          <a:xfrm>
            <a:off x="102489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R</a:t>
            </a:r>
          </a:p>
        </p:txBody>
      </p:sp>
      <p:sp>
        <p:nvSpPr>
          <p:cNvPr id="25" name="TextBox 24"/>
          <p:cNvSpPr txBox="1"/>
          <p:nvPr/>
        </p:nvSpPr>
        <p:spPr>
          <a:xfrm>
            <a:off x="7772400" y="7334250"/>
            <a:ext cx="43815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Motor clips</a:t>
            </a:r>
          </a:p>
        </p:txBody>
      </p:sp>
      <p:sp>
        <p:nvSpPr>
          <p:cNvPr id="26" name="TextBox 25"/>
          <p:cNvSpPr txBox="1"/>
          <p:nvPr/>
        </p:nvSpPr>
        <p:spPr>
          <a:xfrm>
            <a:off x="7772400" y="7753350"/>
            <a:ext cx="4381500" cy="381000"/>
          </a:xfrm>
          <a:prstGeom prst="rect">
            <a:avLst/>
          </a:prstGeom>
          <a:noFill/>
        </p:spPr>
        <p:txBody>
          <a:bodyPr wrap="square" lIns="0" rIns="0" tIns="0" bIns="0" anchor="t">
            <a:spAutoFit/>
          </a:bodyPr>
          <a:lstStyle/>
          <a:p>
            <a:pPr algn="ctr"/>
            <a:r>
              <a:rPr sz="1800" b="0" i="0">
                <a:solidFill>
                  <a:srgbClr val="D5000E"/>
                </a:solidFill>
                <a:latin typeface="Geist"/>
                <a:ea typeface="Geist"/>
                <a:cs typeface="Geist"/>
              </a:rPr>
              <a:t>2.5 : 1  turn changed</a:t>
            </a:r>
          </a:p>
        </p:txBody>
      </p:sp>
      <p:sp>
        <p:nvSpPr>
          <p:cNvPr id="27" name="Rectangle 26"/>
          <p:cNvSpPr/>
          <p:nvPr/>
        </p:nvSpPr>
        <p:spPr>
          <a:xfrm>
            <a:off x="12234862" y="4809445"/>
            <a:ext cx="4629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2668250" y="4747532"/>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487400" y="4177393"/>
            <a:ext cx="1333500" cy="2585357"/>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296900" y="3758293"/>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1.0</a:t>
            </a:r>
          </a:p>
        </p:txBody>
      </p:sp>
      <p:sp>
        <p:nvSpPr>
          <p:cNvPr id="31" name="TextBox 30"/>
          <p:cNvSpPr txBox="1"/>
          <p:nvPr/>
        </p:nvSpPr>
        <p:spPr>
          <a:xfrm>
            <a:off x="134874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L</a:t>
            </a:r>
          </a:p>
        </p:txBody>
      </p:sp>
      <p:sp>
        <p:nvSpPr>
          <p:cNvPr id="32" name="Rectangle 31"/>
          <p:cNvSpPr/>
          <p:nvPr/>
        </p:nvSpPr>
        <p:spPr>
          <a:xfrm>
            <a:off x="15392400" y="5901826"/>
            <a:ext cx="1333500" cy="860924"/>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5201900" y="5482726"/>
            <a:ext cx="1714500" cy="342900"/>
          </a:xfrm>
          <a:prstGeom prst="rect">
            <a:avLst/>
          </a:prstGeom>
          <a:noFill/>
        </p:spPr>
        <p:txBody>
          <a:bodyPr wrap="square" lIns="0" rIns="0" tIns="0" bIns="0" anchor="t">
            <a:spAutoFit/>
          </a:bodyPr>
          <a:lstStyle/>
          <a:p>
            <a:pPr algn="ctr"/>
            <a:r>
              <a:rPr sz="1950" b="1" i="0">
                <a:solidFill>
                  <a:srgbClr val="E8C27A"/>
                </a:solidFill>
                <a:latin typeface="Geist Mono"/>
                <a:ea typeface="Geist Mono"/>
                <a:cs typeface="Geist Mono"/>
              </a:rPr>
              <a:t>0.33</a:t>
            </a:r>
          </a:p>
        </p:txBody>
      </p:sp>
      <p:sp>
        <p:nvSpPr>
          <p:cNvPr id="34" name="TextBox 33"/>
          <p:cNvSpPr txBox="1"/>
          <p:nvPr/>
        </p:nvSpPr>
        <p:spPr>
          <a:xfrm>
            <a:off x="15392400" y="6858000"/>
            <a:ext cx="13335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R</a:t>
            </a:r>
          </a:p>
        </p:txBody>
      </p:sp>
      <p:sp>
        <p:nvSpPr>
          <p:cNvPr id="35" name="TextBox 34"/>
          <p:cNvSpPr txBox="1"/>
          <p:nvPr/>
        </p:nvSpPr>
        <p:spPr>
          <a:xfrm>
            <a:off x="12915900" y="7334250"/>
            <a:ext cx="43815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Divide both by 1.2</a:t>
            </a:r>
          </a:p>
        </p:txBody>
      </p:sp>
      <p:sp>
        <p:nvSpPr>
          <p:cNvPr id="36" name="TextBox 35"/>
          <p:cNvSpPr txBox="1"/>
          <p:nvPr/>
        </p:nvSpPr>
        <p:spPr>
          <a:xfrm>
            <a:off x="12915900" y="7753350"/>
            <a:ext cx="4381500" cy="3810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3 : 1  same shape</a:t>
            </a:r>
          </a:p>
        </p:txBody>
      </p:sp>
      <p:sp>
        <p:nvSpPr>
          <p:cNvPr id="37" name="Rounded Rectangle 36"/>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333500" y="82867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Too big?  </a:t>
            </a:r>
            <a:r>
              <a:rPr sz="2100" b="0" i="0">
                <a:solidFill>
                  <a:srgbClr val="F0E8E8"/>
                </a:solidFill>
                <a:latin typeface="Geist"/>
                <a:ea typeface="Geist"/>
                <a:cs typeface="Geist"/>
              </a:rPr>
              <a:t>Divide both by whichever is bigger. Both under 1.0? Leave them alone.</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 MATH</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arcadeToWheelSpeeds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3143250"/>
            <a:ext cx="11239500" cy="4157662"/>
          </a:xfrm>
          <a:prstGeom prst="roundRect">
            <a:avLst>
              <a:gd name="adj" fmla="val 366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542949"/>
            <a:ext cx="11201400" cy="339566"/>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542949"/>
            <a:ext cx="57150" cy="33956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240780"/>
            <a:ext cx="11201400" cy="339566"/>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240780"/>
            <a:ext cx="57150" cy="33956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706100" cy="339566"/>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static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arcadeToWheelSpeeds(</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forward,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turn) {</a:t>
            </a:r>
          </a:p>
        </p:txBody>
      </p:sp>
      <p:sp>
        <p:nvSpPr>
          <p:cNvPr id="12" name="TextBox 11"/>
          <p:cNvSpPr txBox="1"/>
          <p:nvPr/>
        </p:nvSpPr>
        <p:spPr>
          <a:xfrm>
            <a:off x="1295400" y="3863816"/>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 = forward + turn;</a:t>
            </a:r>
          </a:p>
        </p:txBody>
      </p:sp>
      <p:sp>
        <p:nvSpPr>
          <p:cNvPr id="13" name="TextBox 12"/>
          <p:cNvSpPr txBox="1"/>
          <p:nvPr/>
        </p:nvSpPr>
        <p:spPr>
          <a:xfrm>
            <a:off x="1295400" y="4203382"/>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right = forward - turn;</a:t>
            </a:r>
          </a:p>
        </p:txBody>
      </p:sp>
      <p:sp>
        <p:nvSpPr>
          <p:cNvPr id="14" name="TextBox 13"/>
          <p:cNvSpPr txBox="1"/>
          <p:nvPr/>
        </p:nvSpPr>
        <p:spPr>
          <a:xfrm>
            <a:off x="1295400" y="4542949"/>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biggest = Math.max(Math.abs(left), Math.abs(right));</a:t>
            </a:r>
          </a:p>
        </p:txBody>
      </p:sp>
      <p:sp>
        <p:nvSpPr>
          <p:cNvPr id="15" name="TextBox 14"/>
          <p:cNvSpPr txBox="1"/>
          <p:nvPr/>
        </p:nvSpPr>
        <p:spPr>
          <a:xfrm>
            <a:off x="1295400" y="4882515"/>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if</a:t>
            </a:r>
            <a:r>
              <a:rPr sz="1725" b="0" i="0">
                <a:solidFill>
                  <a:srgbClr val="F0E8E8"/>
                </a:solidFill>
                <a:latin typeface="Geist Mono"/>
                <a:ea typeface="Geist Mono"/>
                <a:cs typeface="Geist Mono"/>
              </a:rPr>
              <a:t> (biggest &gt; </a:t>
            </a:r>
            <a:r>
              <a:rPr sz="1725" b="0" i="0">
                <a:solidFill>
                  <a:srgbClr val="E8C27A"/>
                </a:solidFill>
                <a:latin typeface="Geist Mono"/>
                <a:ea typeface="Geist Mono"/>
                <a:cs typeface="Geist Mono"/>
              </a:rPr>
              <a:t>1.0</a:t>
            </a:r>
            <a:r>
              <a:rPr sz="1725" b="0" i="0">
                <a:solidFill>
                  <a:srgbClr val="F0E8E8"/>
                </a:solidFill>
                <a:latin typeface="Geist Mono"/>
                <a:ea typeface="Geist Mono"/>
                <a:cs typeface="Geist Mono"/>
              </a:rPr>
              <a:t>) {</a:t>
            </a:r>
          </a:p>
        </p:txBody>
      </p:sp>
      <p:sp>
        <p:nvSpPr>
          <p:cNvPr id="16" name="TextBox 15"/>
          <p:cNvSpPr txBox="1"/>
          <p:nvPr/>
        </p:nvSpPr>
        <p:spPr>
          <a:xfrm>
            <a:off x="1295400" y="5222081"/>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left /= biggest;</a:t>
            </a:r>
          </a:p>
        </p:txBody>
      </p:sp>
      <p:sp>
        <p:nvSpPr>
          <p:cNvPr id="17" name="TextBox 16"/>
          <p:cNvSpPr txBox="1"/>
          <p:nvPr/>
        </p:nvSpPr>
        <p:spPr>
          <a:xfrm>
            <a:off x="1295400" y="5561648"/>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right /= biggest;</a:t>
            </a:r>
          </a:p>
        </p:txBody>
      </p:sp>
      <p:sp>
        <p:nvSpPr>
          <p:cNvPr id="18" name="TextBox 17"/>
          <p:cNvSpPr txBox="1"/>
          <p:nvPr/>
        </p:nvSpPr>
        <p:spPr>
          <a:xfrm>
            <a:off x="1295400" y="5901214"/>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9" name="TextBox 18"/>
          <p:cNvSpPr txBox="1"/>
          <p:nvPr/>
        </p:nvSpPr>
        <p:spPr>
          <a:xfrm>
            <a:off x="1295400" y="6240780"/>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return</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 right};</a:t>
            </a:r>
          </a:p>
        </p:txBody>
      </p:sp>
      <p:sp>
        <p:nvSpPr>
          <p:cNvPr id="20" name="TextBox 19"/>
          <p:cNvSpPr txBox="1"/>
          <p:nvPr/>
        </p:nvSpPr>
        <p:spPr>
          <a:xfrm>
            <a:off x="1295400" y="6580346"/>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1" name="Oval 20"/>
          <p:cNvSpPr/>
          <p:nvPr/>
        </p:nvSpPr>
        <p:spPr>
          <a:xfrm>
            <a:off x="11544300" y="384309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544300" y="384309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1544300" y="452223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544300" y="452223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1544300" y="486179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544300" y="486179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1544300" y="6220063"/>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544300" y="622006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Oval 28"/>
          <p:cNvSpPr/>
          <p:nvPr/>
        </p:nvSpPr>
        <p:spPr>
          <a:xfrm>
            <a:off x="1266825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3277850" y="31051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Mix</a:t>
            </a:r>
          </a:p>
        </p:txBody>
      </p:sp>
      <p:sp>
        <p:nvSpPr>
          <p:cNvPr id="32" name="TextBox 31"/>
          <p:cNvSpPr txBox="1"/>
          <p:nvPr/>
        </p:nvSpPr>
        <p:spPr>
          <a:xfrm>
            <a:off x="13277850" y="35242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 forward + turn, right = forward - turn</a:t>
            </a:r>
          </a:p>
        </p:txBody>
      </p:sp>
      <p:sp>
        <p:nvSpPr>
          <p:cNvPr id="33" name="Oval 32"/>
          <p:cNvSpPr/>
          <p:nvPr/>
        </p:nvSpPr>
        <p:spPr>
          <a:xfrm>
            <a:off x="12668250" y="4572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682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3277850" y="45339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Find the bigger size</a:t>
            </a:r>
          </a:p>
        </p:txBody>
      </p:sp>
      <p:sp>
        <p:nvSpPr>
          <p:cNvPr id="36" name="TextBox 35"/>
          <p:cNvSpPr txBox="1"/>
          <p:nvPr/>
        </p:nvSpPr>
        <p:spPr>
          <a:xfrm>
            <a:off x="13277850" y="49530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Math.abs ignores the sign, Math.max picks</a:t>
            </a:r>
          </a:p>
        </p:txBody>
      </p:sp>
      <p:sp>
        <p:nvSpPr>
          <p:cNvPr id="37" name="Oval 36"/>
          <p:cNvSpPr/>
          <p:nvPr/>
        </p:nvSpPr>
        <p:spPr>
          <a:xfrm>
            <a:off x="12668250" y="6000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66825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3277850" y="59626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Only if past 1.0</a:t>
            </a:r>
          </a:p>
        </p:txBody>
      </p:sp>
      <p:sp>
        <p:nvSpPr>
          <p:cNvPr id="40" name="TextBox 39"/>
          <p:cNvSpPr txBox="1"/>
          <p:nvPr/>
        </p:nvSpPr>
        <p:spPr>
          <a:xfrm>
            <a:off x="13277850" y="63817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Divide both, so the shape stays</a:t>
            </a:r>
          </a:p>
        </p:txBody>
      </p:sp>
      <p:sp>
        <p:nvSpPr>
          <p:cNvPr id="41" name="Oval 40"/>
          <p:cNvSpPr/>
          <p:nvPr/>
        </p:nvSpPr>
        <p:spPr>
          <a:xfrm>
            <a:off x="12668250" y="7429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66825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3" name="TextBox 42"/>
          <p:cNvSpPr txBox="1"/>
          <p:nvPr/>
        </p:nvSpPr>
        <p:spPr>
          <a:xfrm>
            <a:off x="13277850" y="73914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Two answers back</a:t>
            </a:r>
          </a:p>
        </p:txBody>
      </p:sp>
      <p:sp>
        <p:nvSpPr>
          <p:cNvPr id="44" name="TextBox 43"/>
          <p:cNvSpPr txBox="1"/>
          <p:nvPr/>
        </p:nvSpPr>
        <p:spPr>
          <a:xfrm>
            <a:off x="13277850" y="78105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In an array: {left, right}</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Arrays and loops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Returning two answers, and averaging many</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Arrays count from 0. Yes, even mine!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return, two answers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5715000" cy="381000"/>
          </a:xfrm>
          <a:prstGeom prst="rect">
            <a:avLst/>
          </a:prstGeom>
          <a:noFill/>
        </p:spPr>
        <p:txBody>
          <a:bodyPr wrap="square" lIns="0" rIns="0" tIns="0" bIns="0" anchor="t">
            <a:spAutoFit/>
          </a:bodyPr>
          <a:lstStyle/>
          <a:p>
            <a:pPr algn="l"/>
            <a:r>
              <a:rPr sz="1950" b="0" i="0">
                <a:solidFill>
                  <a:srgbClr val="9A7878"/>
                </a:solidFill>
                <a:latin typeface="Geist Mono"/>
                <a:ea typeface="Geist Mono"/>
                <a:cs typeface="Geist Mono"/>
              </a:rPr>
              <a:t>double[] speeds</a:t>
            </a:r>
          </a:p>
        </p:txBody>
      </p:sp>
      <p:sp>
        <p:nvSpPr>
          <p:cNvPr id="6" name="Rounded Rectangle 5"/>
          <p:cNvSpPr/>
          <p:nvPr/>
        </p:nvSpPr>
        <p:spPr>
          <a:xfrm>
            <a:off x="914400" y="3333750"/>
            <a:ext cx="2667000" cy="1714500"/>
          </a:xfrm>
          <a:prstGeom prst="roundRect">
            <a:avLst>
              <a:gd name="adj" fmla="val 7777"/>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333750"/>
            <a:ext cx="2667000" cy="1714500"/>
          </a:xfrm>
          <a:prstGeom prst="rect">
            <a:avLst/>
          </a:prstGeom>
          <a:noFill/>
        </p:spPr>
        <p:txBody>
          <a:bodyPr wrap="square" lIns="0" rIns="0" tIns="0" bIns="0" anchor="ctr">
            <a:spAutoFit/>
          </a:bodyPr>
          <a:lstStyle/>
          <a:p>
            <a:pPr algn="ctr"/>
            <a:r>
              <a:rPr sz="4200" b="1" i="0">
                <a:solidFill>
                  <a:srgbClr val="E8C27A"/>
                </a:solidFill>
                <a:latin typeface="Geist Mono"/>
                <a:ea typeface="Geist Mono"/>
                <a:cs typeface="Geist Mono"/>
              </a:rPr>
              <a:t>0.7</a:t>
            </a:r>
          </a:p>
        </p:txBody>
      </p:sp>
      <p:sp>
        <p:nvSpPr>
          <p:cNvPr id="8" name="TextBox 7"/>
          <p:cNvSpPr txBox="1"/>
          <p:nvPr/>
        </p:nvSpPr>
        <p:spPr>
          <a:xfrm>
            <a:off x="914400" y="5200650"/>
            <a:ext cx="2667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speeds[0]</a:t>
            </a:r>
          </a:p>
        </p:txBody>
      </p:sp>
      <p:sp>
        <p:nvSpPr>
          <p:cNvPr id="9" name="TextBox 8"/>
          <p:cNvSpPr txBox="1"/>
          <p:nvPr/>
        </p:nvSpPr>
        <p:spPr>
          <a:xfrm>
            <a:off x="914400" y="5638800"/>
            <a:ext cx="26670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left</a:t>
            </a:r>
          </a:p>
        </p:txBody>
      </p:sp>
      <p:sp>
        <p:nvSpPr>
          <p:cNvPr id="10" name="Rounded Rectangle 9"/>
          <p:cNvSpPr/>
          <p:nvPr/>
        </p:nvSpPr>
        <p:spPr>
          <a:xfrm>
            <a:off x="3771900" y="3333750"/>
            <a:ext cx="2667000" cy="1714500"/>
          </a:xfrm>
          <a:prstGeom prst="roundRect">
            <a:avLst>
              <a:gd name="adj" fmla="val 777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771900" y="3333750"/>
            <a:ext cx="2667000" cy="1714500"/>
          </a:xfrm>
          <a:prstGeom prst="rect">
            <a:avLst/>
          </a:prstGeom>
          <a:noFill/>
        </p:spPr>
        <p:txBody>
          <a:bodyPr wrap="square" lIns="0" rIns="0" tIns="0" bIns="0" anchor="ctr">
            <a:spAutoFit/>
          </a:bodyPr>
          <a:lstStyle/>
          <a:p>
            <a:pPr algn="ctr"/>
            <a:r>
              <a:rPr sz="4200" b="1" i="0">
                <a:solidFill>
                  <a:srgbClr val="E8C27A"/>
                </a:solidFill>
                <a:latin typeface="Geist Mono"/>
                <a:ea typeface="Geist Mono"/>
                <a:cs typeface="Geist Mono"/>
              </a:rPr>
              <a:t>0.3</a:t>
            </a:r>
          </a:p>
        </p:txBody>
      </p:sp>
      <p:sp>
        <p:nvSpPr>
          <p:cNvPr id="12" name="TextBox 11"/>
          <p:cNvSpPr txBox="1"/>
          <p:nvPr/>
        </p:nvSpPr>
        <p:spPr>
          <a:xfrm>
            <a:off x="3771900" y="5200650"/>
            <a:ext cx="2667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speeds[1]</a:t>
            </a:r>
          </a:p>
        </p:txBody>
      </p:sp>
      <p:sp>
        <p:nvSpPr>
          <p:cNvPr id="13" name="TextBox 12"/>
          <p:cNvSpPr txBox="1"/>
          <p:nvPr/>
        </p:nvSpPr>
        <p:spPr>
          <a:xfrm>
            <a:off x="3771900" y="5638800"/>
            <a:ext cx="2667000" cy="3429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right</a:t>
            </a:r>
          </a:p>
        </p:txBody>
      </p:sp>
      <p:sp>
        <p:nvSpPr>
          <p:cNvPr id="14" name="TextBox 13"/>
          <p:cNvSpPr txBox="1"/>
          <p:nvPr/>
        </p:nvSpPr>
        <p:spPr>
          <a:xfrm>
            <a:off x="6858000" y="3333750"/>
            <a:ext cx="10477500" cy="1714500"/>
          </a:xfrm>
          <a:prstGeom prst="rect">
            <a:avLst/>
          </a:prstGeom>
          <a:noFill/>
        </p:spPr>
        <p:txBody>
          <a:bodyPr wrap="square" lIns="0" rIns="0" tIns="0" bIns="0" anchor="t">
            <a:spAutoFit/>
          </a:bodyPr>
          <a:lstStyle/>
          <a:p>
            <a:pPr algn="l">
              <a:lnSpc>
                <a:spcPct val="150000"/>
              </a:lnSpc>
            </a:pPr>
            <a:r>
              <a:rPr sz="2100" b="0" i="0">
                <a:solidFill>
                  <a:srgbClr val="F0E8E8"/>
                </a:solidFill>
                <a:latin typeface="Geist"/>
                <a:ea typeface="Geist"/>
                <a:cs typeface="Geist"/>
              </a:rPr>
              <a:t>forward </a:t>
            </a:r>
            <a:r>
              <a:rPr sz="2100" b="0" i="0">
                <a:solidFill>
                  <a:srgbClr val="F0E8E8"/>
                </a:solidFill>
                <a:latin typeface="Geist Mono"/>
                <a:ea typeface="Geist Mono"/>
                <a:cs typeface="Geist Mono"/>
              </a:rPr>
              <a:t>0.5</a:t>
            </a:r>
            <a:r>
              <a:rPr sz="2100" b="0" i="0">
                <a:solidFill>
                  <a:srgbClr val="F0E8E8"/>
                </a:solidFill>
                <a:latin typeface="Geist"/>
                <a:ea typeface="Geist"/>
                <a:cs typeface="Geist"/>
              </a:rPr>
              <a:t>, turn </a:t>
            </a:r>
            <a:r>
              <a:rPr sz="2100" b="0" i="0">
                <a:solidFill>
                  <a:srgbClr val="F0E8E8"/>
                </a:solidFill>
                <a:latin typeface="Geist Mono"/>
                <a:ea typeface="Geist Mono"/>
                <a:cs typeface="Geist Mono"/>
              </a:rPr>
              <a:t>0.2</a:t>
            </a:r>
            <a:r>
              <a:rPr sz="2100" b="0" i="0">
                <a:solidFill>
                  <a:srgbClr val="F0E8E8"/>
                </a:solidFill>
                <a:latin typeface="Geist"/>
                <a:ea typeface="Geist"/>
                <a:cs typeface="Geist"/>
              </a:rPr>
              <a:t>:</a:t>
            </a:r>
          </a:p>
          <a:p>
            <a:pPr algn="l">
              <a:lnSpc>
                <a:spcPct val="150000"/>
              </a:lnSpc>
            </a:pPr>
            <a:r>
              <a:rPr sz="2100" b="0" i="0">
                <a:solidFill>
                  <a:srgbClr val="F0E8E8"/>
                </a:solidFill>
                <a:latin typeface="Geist"/>
                <a:ea typeface="Geist"/>
                <a:cs typeface="Geist"/>
              </a:rPr>
              <a:t>left = 0.5 + 0.2 = </a:t>
            </a:r>
            <a:r>
              <a:rPr sz="2100" b="0" i="0">
                <a:solidFill>
                  <a:srgbClr val="F0E8E8"/>
                </a:solidFill>
                <a:latin typeface="Geist Mono"/>
                <a:ea typeface="Geist Mono"/>
                <a:cs typeface="Geist Mono"/>
              </a:rPr>
              <a:t>0.7</a:t>
            </a:r>
          </a:p>
          <a:p>
            <a:pPr algn="l">
              <a:lnSpc>
                <a:spcPct val="150000"/>
              </a:lnSpc>
            </a:pPr>
            <a:r>
              <a:rPr sz="2100" b="0" i="0">
                <a:solidFill>
                  <a:srgbClr val="F0E8E8"/>
                </a:solidFill>
                <a:latin typeface="Geist"/>
                <a:ea typeface="Geist"/>
                <a:cs typeface="Geist"/>
              </a:rPr>
              <a:t>right = 0.5 - 0.2 = </a:t>
            </a:r>
            <a:r>
              <a:rPr sz="2100" b="0" i="0">
                <a:solidFill>
                  <a:srgbClr val="F0E8E8"/>
                </a:solidFill>
                <a:latin typeface="Geist Mono"/>
                <a:ea typeface="Geist Mono"/>
                <a:cs typeface="Geist Mono"/>
              </a:rPr>
              <a:t>0.3</a:t>
            </a:r>
          </a:p>
        </p:txBody>
      </p:sp>
      <p:sp>
        <p:nvSpPr>
          <p:cNvPr id="15" name="TextBox 14"/>
          <p:cNvSpPr txBox="1"/>
          <p:nvPr/>
        </p:nvSpPr>
        <p:spPr>
          <a:xfrm>
            <a:off x="914400" y="643890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DifferentialDriveMech.java</a:t>
            </a:r>
          </a:p>
        </p:txBody>
      </p:sp>
      <p:sp>
        <p:nvSpPr>
          <p:cNvPr id="16" name="Rounded Rectangle 15"/>
          <p:cNvSpPr/>
          <p:nvPr/>
        </p:nvSpPr>
        <p:spPr>
          <a:xfrm>
            <a:off x="914400" y="6858000"/>
            <a:ext cx="1095375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760476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760476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7970520"/>
            <a:ext cx="1091565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33450" y="797052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95400" y="7239000"/>
            <a:ext cx="1042035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arcadeDrive(</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forward,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turn) {</a:t>
            </a:r>
          </a:p>
        </p:txBody>
      </p:sp>
      <p:sp>
        <p:nvSpPr>
          <p:cNvPr id="22" name="TextBox 21"/>
          <p:cNvSpPr txBox="1"/>
          <p:nvPr/>
        </p:nvSpPr>
        <p:spPr>
          <a:xfrm>
            <a:off x="1295400" y="760476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speeds = DriveMath.arcadeToWheelSpeeds(forward, turn);</a:t>
            </a:r>
          </a:p>
        </p:txBody>
      </p:sp>
      <p:sp>
        <p:nvSpPr>
          <p:cNvPr id="23" name="TextBox 22"/>
          <p:cNvSpPr txBox="1"/>
          <p:nvPr/>
        </p:nvSpPr>
        <p:spPr>
          <a:xfrm>
            <a:off x="1295400" y="797052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setDutyCycles(speeds[</a:t>
            </a:r>
            <a:r>
              <a:rPr sz="1800" b="0" i="0">
                <a:solidFill>
                  <a:srgbClr val="E8C27A"/>
                </a:solidFill>
                <a:latin typeface="Geist Mono"/>
                <a:ea typeface="Geist Mono"/>
                <a:cs typeface="Geist Mono"/>
              </a:rPr>
              <a:t>0</a:t>
            </a:r>
            <a:r>
              <a:rPr sz="1800" b="0" i="0">
                <a:solidFill>
                  <a:srgbClr val="F0E8E8"/>
                </a:solidFill>
                <a:latin typeface="Geist Mono"/>
                <a:ea typeface="Geist Mono"/>
                <a:cs typeface="Geist Mono"/>
              </a:rPr>
              <a:t>], speeds[</a:t>
            </a:r>
            <a:r>
              <a:rPr sz="1800" b="0" i="0">
                <a:solidFill>
                  <a:srgbClr val="E8C27A"/>
                </a:solidFill>
                <a:latin typeface="Geist Mono"/>
                <a:ea typeface="Geist Mono"/>
                <a:cs typeface="Geist Mono"/>
              </a:rPr>
              <a:t>1</a:t>
            </a:r>
            <a:r>
              <a:rPr sz="1800" b="0" i="0">
                <a:solidFill>
                  <a:srgbClr val="F0E8E8"/>
                </a:solidFill>
                <a:latin typeface="Geist Mono"/>
                <a:ea typeface="Geist Mono"/>
                <a:cs typeface="Geist Mono"/>
              </a:rPr>
              <a:t>]);</a:t>
            </a:r>
          </a:p>
        </p:txBody>
      </p:sp>
      <p:sp>
        <p:nvSpPr>
          <p:cNvPr id="24" name="TextBox 23"/>
          <p:cNvSpPr txBox="1"/>
          <p:nvPr/>
        </p:nvSpPr>
        <p:spPr>
          <a:xfrm>
            <a:off x="1295400" y="8336280"/>
            <a:ext cx="1042035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5" name="TextBox 24"/>
          <p:cNvSpPr txBox="1"/>
          <p:nvPr/>
        </p:nvSpPr>
        <p:spPr>
          <a:xfrm>
            <a:off x="12382500" y="6858000"/>
            <a:ext cx="4991100" cy="1619250"/>
          </a:xfrm>
          <a:prstGeom prst="rect">
            <a:avLst/>
          </a:prstGeom>
          <a:noFill/>
        </p:spPr>
        <p:txBody>
          <a:bodyPr wrap="square" lIns="0" rIns="0" tIns="0" bIns="0" anchor="t">
            <a:spAutoFit/>
          </a:bodyPr>
          <a:lstStyle/>
          <a:p>
            <a:pPr algn="l">
              <a:lnSpc>
                <a:spcPct val="135000"/>
              </a:lnSpc>
            </a:pPr>
            <a:r>
              <a:rPr sz="1950" b="0" i="0">
                <a:solidFill>
                  <a:srgbClr val="9A7878"/>
                </a:solidFill>
                <a:latin typeface="Geist Mono"/>
                <a:ea typeface="Geist Mono"/>
                <a:cs typeface="Geist Mono"/>
              </a:rPr>
              <a:t>double[]</a:t>
            </a:r>
            <a:r>
              <a:rPr sz="1950" b="0" i="0">
                <a:solidFill>
                  <a:srgbClr val="9A7878"/>
                </a:solidFill>
                <a:latin typeface="Geist"/>
                <a:ea typeface="Geist"/>
                <a:cs typeface="Geist"/>
              </a:rPr>
              <a:t> is the type: an array of doubles. </a:t>
            </a:r>
            <a:r>
              <a:rPr sz="1950" b="0" i="0">
                <a:solidFill>
                  <a:srgbClr val="9A7878"/>
                </a:solidFill>
                <a:latin typeface="Geist Mono"/>
                <a:ea typeface="Geist Mono"/>
                <a:cs typeface="Geist Mono"/>
              </a:rPr>
              <a:t>[0]</a:t>
            </a:r>
            <a:r>
              <a:rPr sz="1950" b="0" i="0">
                <a:solidFill>
                  <a:srgbClr val="9A7878"/>
                </a:solidFill>
                <a:latin typeface="Geist"/>
                <a:ea typeface="Geist"/>
                <a:cs typeface="Geist"/>
              </a:rPr>
              <a:t> is the first box.</a:t>
            </a:r>
          </a:p>
        </p:txBody>
      </p:sp>
      <p:pic>
        <p:nvPicPr>
          <p:cNvPr id="26" name="Picture 25" descr="code-slash.png"/>
          <p:cNvPicPr>
            <a:picLocks noChangeAspect="1"/>
          </p:cNvPicPr>
          <p:nvPr/>
        </p:nvPicPr>
        <p:blipFill>
          <a:blip r:embed="rId3"/>
          <a:stretch>
            <a:fillRect/>
          </a:stretch>
        </p:blipFill>
        <p:spPr>
          <a:xfrm>
            <a:off x="12382500" y="8610600"/>
            <a:ext cx="224518" cy="209550"/>
          </a:xfrm>
          <a:prstGeom prst="rect">
            <a:avLst/>
          </a:prstGeom>
        </p:spPr>
      </p:pic>
      <p:sp>
        <p:nvSpPr>
          <p:cNvPr id="27" name="TextBox 26"/>
          <p:cNvSpPr txBox="1"/>
          <p:nvPr/>
        </p:nvSpPr>
        <p:spPr>
          <a:xfrm>
            <a:off x="127635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Arrays</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Arrays: a row of numbered boxes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249680"/>
          </a:xfrm>
          <a:prstGeom prst="roundRect">
            <a:avLst>
              <a:gd name="adj" fmla="val 1219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925800" cy="48768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 recent_speeds_ = </a:t>
            </a:r>
            <a:r>
              <a:rPr sz="2400" b="0" i="0">
                <a:solidFill>
                  <a:srgbClr val="E0785F"/>
                </a:solidFill>
                <a:latin typeface="Geist Mono"/>
                <a:ea typeface="Geist Mono"/>
                <a:cs typeface="Geist Mono"/>
              </a:rPr>
              <a:t>new</a:t>
            </a:r>
            <a:r>
              <a:rPr sz="2400" b="0" i="0">
                <a:solidFill>
                  <a:srgbClr val="F0E8E8"/>
                </a:solidFill>
                <a:latin typeface="Geist Mono"/>
                <a:ea typeface="Geist Mono"/>
                <a:cs typeface="Geist Mono"/>
              </a:rPr>
              <a:t> </a:t>
            </a:r>
            <a:r>
              <a:rPr sz="2400" b="0" i="0">
                <a:solidFill>
                  <a:srgbClr val="E0785F"/>
                </a:solidFill>
                <a:latin typeface="Geist Mono"/>
                <a:ea typeface="Geist Mono"/>
                <a:cs typeface="Geist Mono"/>
              </a:rPr>
              <a:t>double</a:t>
            </a:r>
            <a:r>
              <a:rPr sz="2400" b="0" i="0">
                <a:solidFill>
                  <a:srgbClr val="F0E8E8"/>
                </a:solidFill>
                <a:latin typeface="Geist Mono"/>
                <a:ea typeface="Geist Mono"/>
                <a:cs typeface="Geist Mono"/>
              </a:rPr>
              <a:t>[</a:t>
            </a:r>
            <a:r>
              <a:rPr sz="2400" b="0" i="0">
                <a:solidFill>
                  <a:srgbClr val="E8C27A"/>
                </a:solidFill>
                <a:latin typeface="Geist Mono"/>
                <a:ea typeface="Geist Mono"/>
                <a:cs typeface="Geist Mono"/>
              </a:rPr>
              <a:t>5</a:t>
            </a:r>
            <a:r>
              <a:rPr sz="2400" b="0" i="0">
                <a:solidFill>
                  <a:srgbClr val="F0E8E8"/>
                </a:solidFill>
                <a:latin typeface="Geist Mono"/>
                <a:ea typeface="Geist Mono"/>
                <a:cs typeface="Geist Mono"/>
              </a:rPr>
              <a:t>];</a:t>
            </a:r>
          </a:p>
        </p:txBody>
      </p:sp>
      <p:sp>
        <p:nvSpPr>
          <p:cNvPr id="7" name="Rounded Rectangle 6"/>
          <p:cNvSpPr/>
          <p:nvPr/>
        </p:nvSpPr>
        <p:spPr>
          <a:xfrm>
            <a:off x="91440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4.8</a:t>
            </a:r>
          </a:p>
        </p:txBody>
      </p:sp>
      <p:sp>
        <p:nvSpPr>
          <p:cNvPr id="9" name="TextBox 8"/>
          <p:cNvSpPr txBox="1"/>
          <p:nvPr/>
        </p:nvSpPr>
        <p:spPr>
          <a:xfrm>
            <a:off x="914400" y="6019800"/>
            <a:ext cx="2000250" cy="381000"/>
          </a:xfrm>
          <a:prstGeom prst="rect">
            <a:avLst/>
          </a:prstGeom>
          <a:noFill/>
        </p:spPr>
        <p:txBody>
          <a:bodyPr wrap="square" lIns="0" rIns="0" tIns="0" bIns="0" anchor="t">
            <a:spAutoFit/>
          </a:bodyPr>
          <a:lstStyle/>
          <a:p>
            <a:pPr algn="ctr"/>
            <a:r>
              <a:rPr sz="2100" b="1" i="0">
                <a:solidFill>
                  <a:srgbClr val="D5000E"/>
                </a:solidFill>
                <a:latin typeface="Geist Mono"/>
                <a:ea typeface="Geist Mono"/>
                <a:cs typeface="Geist Mono"/>
              </a:rPr>
              <a:t>[0]</a:t>
            </a:r>
          </a:p>
        </p:txBody>
      </p:sp>
      <p:sp>
        <p:nvSpPr>
          <p:cNvPr id="10" name="Rounded Rectangle 9"/>
          <p:cNvSpPr/>
          <p:nvPr/>
        </p:nvSpPr>
        <p:spPr>
          <a:xfrm>
            <a:off x="310515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10515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5.1</a:t>
            </a:r>
          </a:p>
        </p:txBody>
      </p:sp>
      <p:sp>
        <p:nvSpPr>
          <p:cNvPr id="12" name="TextBox 11"/>
          <p:cNvSpPr txBox="1"/>
          <p:nvPr/>
        </p:nvSpPr>
        <p:spPr>
          <a:xfrm>
            <a:off x="3105150" y="6019800"/>
            <a:ext cx="2000250" cy="381000"/>
          </a:xfrm>
          <a:prstGeom prst="rect">
            <a:avLst/>
          </a:prstGeom>
          <a:noFill/>
        </p:spPr>
        <p:txBody>
          <a:bodyPr wrap="square" lIns="0" rIns="0" tIns="0" bIns="0" anchor="t">
            <a:spAutoFit/>
          </a:bodyPr>
          <a:lstStyle/>
          <a:p>
            <a:pPr algn="ctr"/>
            <a:r>
              <a:rPr sz="2100" b="0" i="0">
                <a:solidFill>
                  <a:srgbClr val="9A7878"/>
                </a:solidFill>
                <a:latin typeface="Geist Mono"/>
                <a:ea typeface="Geist Mono"/>
                <a:cs typeface="Geist Mono"/>
              </a:rPr>
              <a:t>[1]</a:t>
            </a:r>
          </a:p>
        </p:txBody>
      </p:sp>
      <p:sp>
        <p:nvSpPr>
          <p:cNvPr id="13" name="Rounded Rectangle 12"/>
          <p:cNvSpPr/>
          <p:nvPr/>
        </p:nvSpPr>
        <p:spPr>
          <a:xfrm>
            <a:off x="529590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9590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4.9</a:t>
            </a:r>
          </a:p>
        </p:txBody>
      </p:sp>
      <p:sp>
        <p:nvSpPr>
          <p:cNvPr id="15" name="TextBox 14"/>
          <p:cNvSpPr txBox="1"/>
          <p:nvPr/>
        </p:nvSpPr>
        <p:spPr>
          <a:xfrm>
            <a:off x="5295900" y="6019800"/>
            <a:ext cx="2000250" cy="381000"/>
          </a:xfrm>
          <a:prstGeom prst="rect">
            <a:avLst/>
          </a:prstGeom>
          <a:noFill/>
        </p:spPr>
        <p:txBody>
          <a:bodyPr wrap="square" lIns="0" rIns="0" tIns="0" bIns="0" anchor="t">
            <a:spAutoFit/>
          </a:bodyPr>
          <a:lstStyle/>
          <a:p>
            <a:pPr algn="ctr"/>
            <a:r>
              <a:rPr sz="2100" b="0" i="0">
                <a:solidFill>
                  <a:srgbClr val="9A7878"/>
                </a:solidFill>
                <a:latin typeface="Geist Mono"/>
                <a:ea typeface="Geist Mono"/>
                <a:cs typeface="Geist Mono"/>
              </a:rPr>
              <a:t>[2]</a:t>
            </a:r>
          </a:p>
        </p:txBody>
      </p:sp>
      <p:sp>
        <p:nvSpPr>
          <p:cNvPr id="16" name="Rounded Rectangle 15"/>
          <p:cNvSpPr/>
          <p:nvPr/>
        </p:nvSpPr>
        <p:spPr>
          <a:xfrm>
            <a:off x="748665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8665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5.2</a:t>
            </a:r>
          </a:p>
        </p:txBody>
      </p:sp>
      <p:sp>
        <p:nvSpPr>
          <p:cNvPr id="18" name="TextBox 17"/>
          <p:cNvSpPr txBox="1"/>
          <p:nvPr/>
        </p:nvSpPr>
        <p:spPr>
          <a:xfrm>
            <a:off x="7486650" y="6019800"/>
            <a:ext cx="2000250" cy="381000"/>
          </a:xfrm>
          <a:prstGeom prst="rect">
            <a:avLst/>
          </a:prstGeom>
          <a:noFill/>
        </p:spPr>
        <p:txBody>
          <a:bodyPr wrap="square" lIns="0" rIns="0" tIns="0" bIns="0" anchor="t">
            <a:spAutoFit/>
          </a:bodyPr>
          <a:lstStyle/>
          <a:p>
            <a:pPr algn="ctr"/>
            <a:r>
              <a:rPr sz="2100" b="0" i="0">
                <a:solidFill>
                  <a:srgbClr val="9A7878"/>
                </a:solidFill>
                <a:latin typeface="Geist Mono"/>
                <a:ea typeface="Geist Mono"/>
                <a:cs typeface="Geist Mono"/>
              </a:rPr>
              <a:t>[3]</a:t>
            </a:r>
          </a:p>
        </p:txBody>
      </p:sp>
      <p:sp>
        <p:nvSpPr>
          <p:cNvPr id="19" name="Rounded Rectangle 18"/>
          <p:cNvSpPr/>
          <p:nvPr/>
        </p:nvSpPr>
        <p:spPr>
          <a:xfrm>
            <a:off x="9677400" y="4476750"/>
            <a:ext cx="200025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77400" y="4476750"/>
            <a:ext cx="2000250" cy="1428750"/>
          </a:xfrm>
          <a:prstGeom prst="rect">
            <a:avLst/>
          </a:prstGeom>
          <a:noFill/>
        </p:spPr>
        <p:txBody>
          <a:bodyPr wrap="square" lIns="0" rIns="0" tIns="0" bIns="0" anchor="ctr">
            <a:spAutoFit/>
          </a:bodyPr>
          <a:lstStyle/>
          <a:p>
            <a:pPr algn="ctr"/>
            <a:r>
              <a:rPr sz="3300" b="1" i="0">
                <a:solidFill>
                  <a:srgbClr val="E8C27A"/>
                </a:solidFill>
                <a:latin typeface="Geist Mono"/>
                <a:ea typeface="Geist Mono"/>
                <a:cs typeface="Geist Mono"/>
              </a:rPr>
              <a:t>5.0</a:t>
            </a:r>
          </a:p>
        </p:txBody>
      </p:sp>
      <p:sp>
        <p:nvSpPr>
          <p:cNvPr id="21" name="TextBox 20"/>
          <p:cNvSpPr txBox="1"/>
          <p:nvPr/>
        </p:nvSpPr>
        <p:spPr>
          <a:xfrm>
            <a:off x="9677400" y="6019800"/>
            <a:ext cx="2000250" cy="381000"/>
          </a:xfrm>
          <a:prstGeom prst="rect">
            <a:avLst/>
          </a:prstGeom>
          <a:noFill/>
        </p:spPr>
        <p:txBody>
          <a:bodyPr wrap="square" lIns="0" rIns="0" tIns="0" bIns="0" anchor="t">
            <a:spAutoFit/>
          </a:bodyPr>
          <a:lstStyle/>
          <a:p>
            <a:pPr algn="ctr"/>
            <a:r>
              <a:rPr sz="2100" b="1" i="0">
                <a:solidFill>
                  <a:srgbClr val="D5000E"/>
                </a:solidFill>
                <a:latin typeface="Geist Mono"/>
                <a:ea typeface="Geist Mono"/>
                <a:cs typeface="Geist Mono"/>
              </a:rPr>
              <a:t>[4]</a:t>
            </a:r>
          </a:p>
        </p:txBody>
      </p:sp>
      <p:sp>
        <p:nvSpPr>
          <p:cNvPr id="22" name="Rectangle 21"/>
          <p:cNvSpPr/>
          <p:nvPr/>
        </p:nvSpPr>
        <p:spPr>
          <a:xfrm>
            <a:off x="900112" y="6653212"/>
            <a:ext cx="107918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00112" y="6538912"/>
            <a:ext cx="28575" cy="2571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663362" y="6538912"/>
            <a:ext cx="28575" cy="2571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819900"/>
            <a:ext cx="10763250" cy="381000"/>
          </a:xfrm>
          <a:prstGeom prst="rect">
            <a:avLst/>
          </a:prstGeom>
          <a:noFill/>
        </p:spPr>
        <p:txBody>
          <a:bodyPr wrap="square" lIns="0" rIns="0" tIns="0" bIns="0" anchor="t">
            <a:spAutoFit/>
          </a:bodyPr>
          <a:lstStyle/>
          <a:p>
            <a:pPr algn="ctr"/>
            <a:r>
              <a:rPr sz="1950" b="0" i="0">
                <a:solidFill>
                  <a:srgbClr val="F0E8E8"/>
                </a:solidFill>
                <a:latin typeface="Geist Mono"/>
                <a:ea typeface="Geist Mono"/>
                <a:cs typeface="Geist Mono"/>
              </a:rPr>
              <a:t>recent_speeds_.length is 5</a:t>
            </a:r>
          </a:p>
        </p:txBody>
      </p:sp>
      <p:sp>
        <p:nvSpPr>
          <p:cNvPr id="26" name="TextBox 25"/>
          <p:cNvSpPr txBox="1"/>
          <p:nvPr/>
        </p:nvSpPr>
        <p:spPr>
          <a:xfrm>
            <a:off x="12001500" y="4476750"/>
            <a:ext cx="5334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First</a:t>
            </a:r>
            <a:r>
              <a:rPr sz="2250" b="0" i="0">
                <a:solidFill>
                  <a:srgbClr val="F0E8E8"/>
                </a:solidFill>
                <a:latin typeface="Geist"/>
                <a:ea typeface="Geist"/>
                <a:cs typeface="Geist"/>
              </a:rPr>
              <a:t> index: 0</a:t>
            </a:r>
          </a:p>
        </p:txBody>
      </p:sp>
      <p:sp>
        <p:nvSpPr>
          <p:cNvPr id="27" name="TextBox 26"/>
          <p:cNvSpPr txBox="1"/>
          <p:nvPr/>
        </p:nvSpPr>
        <p:spPr>
          <a:xfrm>
            <a:off x="12001500" y="5095875"/>
            <a:ext cx="5334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Last</a:t>
            </a:r>
            <a:r>
              <a:rPr sz="2250" b="0" i="0">
                <a:solidFill>
                  <a:srgbClr val="F0E8E8"/>
                </a:solidFill>
                <a:latin typeface="Geist"/>
                <a:ea typeface="Geist"/>
                <a:cs typeface="Geist"/>
              </a:rPr>
              <a:t> index: length - 1</a:t>
            </a:r>
          </a:p>
        </p:txBody>
      </p:sp>
      <p:sp>
        <p:nvSpPr>
          <p:cNvPr id="28" name="TextBox 27"/>
          <p:cNvSpPr txBox="1"/>
          <p:nvPr/>
        </p:nvSpPr>
        <p:spPr>
          <a:xfrm>
            <a:off x="12001500" y="5715000"/>
            <a:ext cx="53340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Length</a:t>
            </a:r>
            <a:r>
              <a:rPr sz="2250" b="0" i="0">
                <a:solidFill>
                  <a:srgbClr val="F0E8E8"/>
                </a:solidFill>
                <a:latin typeface="Geist"/>
                <a:ea typeface="Geist"/>
                <a:cs typeface="Geist"/>
              </a:rPr>
              <a:t>: </a:t>
            </a:r>
            <a:r>
              <a:rPr sz="2250" b="0" i="0">
                <a:solidFill>
                  <a:srgbClr val="F0E8E8"/>
                </a:solidFill>
                <a:latin typeface="Geist Mono"/>
                <a:ea typeface="Geist Mono"/>
                <a:cs typeface="Geist Mono"/>
              </a:rPr>
              <a:t>.length</a:t>
            </a:r>
          </a:p>
        </p:txBody>
      </p:sp>
      <p:sp>
        <p:nvSpPr>
          <p:cNvPr id="29" name="Rounded Rectangle 28"/>
          <p:cNvSpPr/>
          <p:nvPr/>
        </p:nvSpPr>
        <p:spPr>
          <a:xfrm>
            <a:off x="914400" y="7620000"/>
            <a:ext cx="123825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33500" y="7620000"/>
            <a:ext cx="11620500" cy="10477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Index 5?  </a:t>
            </a:r>
            <a:r>
              <a:rPr sz="2100" b="0" i="0">
                <a:solidFill>
                  <a:srgbClr val="F0E8E8"/>
                </a:solidFill>
                <a:latin typeface="Geist"/>
                <a:ea typeface="Geist"/>
                <a:cs typeface="Geist"/>
              </a:rPr>
              <a:t>ArrayIndexOutOfBoundsException. There is no box 5.</a:t>
            </a:r>
          </a:p>
        </p:txBody>
      </p:sp>
      <p:pic>
        <p:nvPicPr>
          <p:cNvPr id="31" name="Picture 30" descr="dozer_wide_left.png"/>
          <p:cNvPicPr>
            <a:picLocks noChangeAspect="1"/>
          </p:cNvPicPr>
          <p:nvPr/>
        </p:nvPicPr>
        <p:blipFill>
          <a:blip r:embed="rId3"/>
          <a:stretch>
            <a:fillRect/>
          </a:stretch>
        </p:blipFill>
        <p:spPr>
          <a:xfrm>
            <a:off x="14859000" y="7239000"/>
            <a:ext cx="2190750" cy="1346530"/>
          </a:xfrm>
          <a:prstGeom prst="rect">
            <a:avLst/>
          </a:prstGeom>
        </p:spPr>
      </p:pic>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for loop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3143250"/>
            <a:ext cx="1524000" cy="533400"/>
          </a:xfrm>
          <a:prstGeom prst="rect">
            <a:avLst/>
          </a:prstGeom>
          <a:noFill/>
        </p:spPr>
        <p:txBody>
          <a:bodyPr wrap="square" lIns="0" rIns="0" tIns="0" bIns="0" anchor="t">
            <a:spAutoFit/>
          </a:bodyPr>
          <a:lstStyle/>
          <a:p>
            <a:pPr algn="l"/>
            <a:r>
              <a:rPr sz="3000" b="1" i="0">
                <a:solidFill>
                  <a:srgbClr val="E0785F"/>
                </a:solidFill>
                <a:latin typeface="Geist Mono"/>
                <a:ea typeface="Geist Mono"/>
                <a:cs typeface="Geist Mono"/>
              </a:rPr>
              <a:t>for (</a:t>
            </a:r>
          </a:p>
        </p:txBody>
      </p:sp>
      <p:sp>
        <p:nvSpPr>
          <p:cNvPr id="7" name="TextBox 6"/>
          <p:cNvSpPr txBox="1"/>
          <p:nvPr/>
        </p:nvSpPr>
        <p:spPr>
          <a:xfrm>
            <a:off x="2571750" y="3143250"/>
            <a:ext cx="2438400" cy="5334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int i = 0</a:t>
            </a:r>
          </a:p>
        </p:txBody>
      </p:sp>
      <p:sp>
        <p:nvSpPr>
          <p:cNvPr id="8" name="Rectangle 7"/>
          <p:cNvSpPr/>
          <p:nvPr/>
        </p:nvSpPr>
        <p:spPr>
          <a:xfrm>
            <a:off x="2595562" y="3719512"/>
            <a:ext cx="20097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362200" y="3848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start</a:t>
            </a:r>
          </a:p>
        </p:txBody>
      </p:sp>
      <p:sp>
        <p:nvSpPr>
          <p:cNvPr id="10" name="TextBox 9"/>
          <p:cNvSpPr txBox="1"/>
          <p:nvPr/>
        </p:nvSpPr>
        <p:spPr>
          <a:xfrm>
            <a:off x="4629150" y="3143250"/>
            <a:ext cx="838200" cy="5334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 </a:t>
            </a:r>
          </a:p>
        </p:txBody>
      </p:sp>
      <p:sp>
        <p:nvSpPr>
          <p:cNvPr id="11" name="TextBox 10"/>
          <p:cNvSpPr txBox="1"/>
          <p:nvPr/>
        </p:nvSpPr>
        <p:spPr>
          <a:xfrm>
            <a:off x="5086350" y="3143250"/>
            <a:ext cx="4267200" cy="5334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i &lt; values.length</a:t>
            </a:r>
          </a:p>
        </p:txBody>
      </p:sp>
      <p:sp>
        <p:nvSpPr>
          <p:cNvPr id="12" name="Rectangle 11"/>
          <p:cNvSpPr/>
          <p:nvPr/>
        </p:nvSpPr>
        <p:spPr>
          <a:xfrm>
            <a:off x="5110162" y="3719512"/>
            <a:ext cx="3838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791200" y="3848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check</a:t>
            </a:r>
          </a:p>
        </p:txBody>
      </p:sp>
      <p:sp>
        <p:nvSpPr>
          <p:cNvPr id="14" name="TextBox 13"/>
          <p:cNvSpPr txBox="1"/>
          <p:nvPr/>
        </p:nvSpPr>
        <p:spPr>
          <a:xfrm>
            <a:off x="8972550" y="3143250"/>
            <a:ext cx="838200" cy="5334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 </a:t>
            </a:r>
          </a:p>
        </p:txBody>
      </p:sp>
      <p:sp>
        <p:nvSpPr>
          <p:cNvPr id="15" name="TextBox 14"/>
          <p:cNvSpPr txBox="1"/>
          <p:nvPr/>
        </p:nvSpPr>
        <p:spPr>
          <a:xfrm>
            <a:off x="9429750" y="3143250"/>
            <a:ext cx="1066800" cy="533400"/>
          </a:xfrm>
          <a:prstGeom prst="rect">
            <a:avLst/>
          </a:prstGeom>
          <a:noFill/>
        </p:spPr>
        <p:txBody>
          <a:bodyPr wrap="square" lIns="0" rIns="0" tIns="0" bIns="0" anchor="t">
            <a:spAutoFit/>
          </a:bodyPr>
          <a:lstStyle/>
          <a:p>
            <a:pPr algn="l"/>
            <a:r>
              <a:rPr sz="3000" b="1" i="0">
                <a:solidFill>
                  <a:srgbClr val="E8C27A"/>
                </a:solidFill>
                <a:latin typeface="Geist Mono"/>
                <a:ea typeface="Geist Mono"/>
                <a:cs typeface="Geist Mono"/>
              </a:rPr>
              <a:t>i++</a:t>
            </a:r>
          </a:p>
        </p:txBody>
      </p:sp>
      <p:sp>
        <p:nvSpPr>
          <p:cNvPr id="16" name="Rectangle 15"/>
          <p:cNvSpPr/>
          <p:nvPr/>
        </p:nvSpPr>
        <p:spPr>
          <a:xfrm>
            <a:off x="9453562" y="3719512"/>
            <a:ext cx="638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34400" y="3848100"/>
            <a:ext cx="2476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step</a:t>
            </a:r>
          </a:p>
        </p:txBody>
      </p:sp>
      <p:sp>
        <p:nvSpPr>
          <p:cNvPr id="18" name="TextBox 17"/>
          <p:cNvSpPr txBox="1"/>
          <p:nvPr/>
        </p:nvSpPr>
        <p:spPr>
          <a:xfrm>
            <a:off x="10115550" y="3143250"/>
            <a:ext cx="1066800" cy="533400"/>
          </a:xfrm>
          <a:prstGeom prst="rect">
            <a:avLst/>
          </a:prstGeom>
          <a:noFill/>
        </p:spPr>
        <p:txBody>
          <a:bodyPr wrap="square" lIns="0" rIns="0" tIns="0" bIns="0" anchor="t">
            <a:spAutoFit/>
          </a:bodyPr>
          <a:lstStyle/>
          <a:p>
            <a:pPr algn="l"/>
            <a:r>
              <a:rPr sz="3000" b="1" i="0">
                <a:solidFill>
                  <a:srgbClr val="F0E8E8"/>
                </a:solidFill>
                <a:latin typeface="Geist Mono"/>
                <a:ea typeface="Geist Mono"/>
                <a:cs typeface="Geist Mono"/>
              </a:rPr>
              <a:t>) {</a:t>
            </a:r>
          </a:p>
        </p:txBody>
      </p:sp>
      <p:sp>
        <p:nvSpPr>
          <p:cNvPr id="19" name="Rounded Rectangle 18"/>
          <p:cNvSpPr/>
          <p:nvPr/>
        </p:nvSpPr>
        <p:spPr>
          <a:xfrm>
            <a:off x="914400" y="5715000"/>
            <a:ext cx="314325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4400" y="5943600"/>
            <a:ext cx="314325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Start</a:t>
            </a:r>
          </a:p>
        </p:txBody>
      </p:sp>
      <p:sp>
        <p:nvSpPr>
          <p:cNvPr id="21" name="TextBox 20"/>
          <p:cNvSpPr txBox="1"/>
          <p:nvPr/>
        </p:nvSpPr>
        <p:spPr>
          <a:xfrm>
            <a:off x="914400" y="6515100"/>
            <a:ext cx="3143250" cy="381000"/>
          </a:xfrm>
          <a:prstGeom prst="rect">
            <a:avLst/>
          </a:prstGeom>
          <a:noFill/>
        </p:spPr>
        <p:txBody>
          <a:bodyPr wrap="square" lIns="0" rIns="0" tIns="0" bIns="0" anchor="t">
            <a:spAutoFit/>
          </a:bodyPr>
          <a:lstStyle/>
          <a:p>
            <a:pPr algn="ctr"/>
            <a:r>
              <a:rPr sz="1950" b="0" i="0">
                <a:solidFill>
                  <a:srgbClr val="E8C27A"/>
                </a:solidFill>
                <a:latin typeface="Geist Mono"/>
                <a:ea typeface="Geist Mono"/>
                <a:cs typeface="Geist Mono"/>
              </a:rPr>
              <a:t>i = 0</a:t>
            </a:r>
          </a:p>
        </p:txBody>
      </p:sp>
      <p:sp>
        <p:nvSpPr>
          <p:cNvPr id="22" name="Rectangle 21"/>
          <p:cNvSpPr/>
          <p:nvPr/>
        </p:nvSpPr>
        <p:spPr>
          <a:xfrm>
            <a:off x="4100512" y="6415088"/>
            <a:ext cx="4438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4514850" y="63531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724400" y="5715000"/>
            <a:ext cx="3143250" cy="1428750"/>
          </a:xfrm>
          <a:prstGeom prst="roundRect">
            <a:avLst>
              <a:gd name="adj" fmla="val 1066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724400" y="5943600"/>
            <a:ext cx="314325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Check</a:t>
            </a:r>
          </a:p>
        </p:txBody>
      </p:sp>
      <p:sp>
        <p:nvSpPr>
          <p:cNvPr id="26" name="TextBox 25"/>
          <p:cNvSpPr txBox="1"/>
          <p:nvPr/>
        </p:nvSpPr>
        <p:spPr>
          <a:xfrm>
            <a:off x="4724400" y="6515100"/>
            <a:ext cx="3143250" cy="381000"/>
          </a:xfrm>
          <a:prstGeom prst="rect">
            <a:avLst/>
          </a:prstGeom>
          <a:noFill/>
        </p:spPr>
        <p:txBody>
          <a:bodyPr wrap="square" lIns="0" rIns="0" tIns="0" bIns="0" anchor="t">
            <a:spAutoFit/>
          </a:bodyPr>
          <a:lstStyle/>
          <a:p>
            <a:pPr algn="ctr"/>
            <a:r>
              <a:rPr sz="1950" b="0" i="0">
                <a:solidFill>
                  <a:srgbClr val="E8C27A"/>
                </a:solidFill>
                <a:latin typeface="Geist Mono"/>
                <a:ea typeface="Geist Mono"/>
                <a:cs typeface="Geist Mono"/>
              </a:rPr>
              <a:t>i &lt; length?</a:t>
            </a:r>
          </a:p>
        </p:txBody>
      </p:sp>
      <p:sp>
        <p:nvSpPr>
          <p:cNvPr id="27" name="Rectangle 26"/>
          <p:cNvSpPr/>
          <p:nvPr/>
        </p:nvSpPr>
        <p:spPr>
          <a:xfrm>
            <a:off x="7910512" y="6415088"/>
            <a:ext cx="4438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8324850" y="63531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34400" y="5715000"/>
            <a:ext cx="314325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534400" y="5943600"/>
            <a:ext cx="314325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Body</a:t>
            </a:r>
          </a:p>
        </p:txBody>
      </p:sp>
      <p:sp>
        <p:nvSpPr>
          <p:cNvPr id="31" name="TextBox 30"/>
          <p:cNvSpPr txBox="1"/>
          <p:nvPr/>
        </p:nvSpPr>
        <p:spPr>
          <a:xfrm>
            <a:off x="8534400" y="6515100"/>
            <a:ext cx="3143250" cy="381000"/>
          </a:xfrm>
          <a:prstGeom prst="rect">
            <a:avLst/>
          </a:prstGeom>
          <a:noFill/>
        </p:spPr>
        <p:txBody>
          <a:bodyPr wrap="square" lIns="0" rIns="0" tIns="0" bIns="0" anchor="t">
            <a:spAutoFit/>
          </a:bodyPr>
          <a:lstStyle/>
          <a:p>
            <a:pPr algn="ctr"/>
            <a:r>
              <a:rPr sz="1950" b="0" i="0">
                <a:solidFill>
                  <a:srgbClr val="E8C27A"/>
                </a:solidFill>
                <a:latin typeface="Geist Mono"/>
                <a:ea typeface="Geist Mono"/>
                <a:cs typeface="Geist Mono"/>
              </a:rPr>
              <a:t>runs once</a:t>
            </a:r>
          </a:p>
        </p:txBody>
      </p:sp>
      <p:sp>
        <p:nvSpPr>
          <p:cNvPr id="32" name="Rectangle 31"/>
          <p:cNvSpPr/>
          <p:nvPr/>
        </p:nvSpPr>
        <p:spPr>
          <a:xfrm>
            <a:off x="11720512" y="6415088"/>
            <a:ext cx="4438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Isosceles Triangle 32"/>
          <p:cNvSpPr/>
          <p:nvPr/>
        </p:nvSpPr>
        <p:spPr>
          <a:xfrm rot="5400000">
            <a:off x="12134850" y="63531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2344400" y="5715000"/>
            <a:ext cx="314325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2344400" y="5943600"/>
            <a:ext cx="314325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Step</a:t>
            </a:r>
          </a:p>
        </p:txBody>
      </p:sp>
      <p:sp>
        <p:nvSpPr>
          <p:cNvPr id="36" name="TextBox 35"/>
          <p:cNvSpPr txBox="1"/>
          <p:nvPr/>
        </p:nvSpPr>
        <p:spPr>
          <a:xfrm>
            <a:off x="12344400" y="6515100"/>
            <a:ext cx="3143250" cy="381000"/>
          </a:xfrm>
          <a:prstGeom prst="rect">
            <a:avLst/>
          </a:prstGeom>
          <a:noFill/>
        </p:spPr>
        <p:txBody>
          <a:bodyPr wrap="square" lIns="0" rIns="0" tIns="0" bIns="0" anchor="t">
            <a:spAutoFit/>
          </a:bodyPr>
          <a:lstStyle/>
          <a:p>
            <a:pPr algn="ctr"/>
            <a:r>
              <a:rPr sz="1950" b="0" i="0">
                <a:solidFill>
                  <a:srgbClr val="E8C27A"/>
                </a:solidFill>
                <a:latin typeface="Geist Mono"/>
                <a:ea typeface="Geist Mono"/>
                <a:cs typeface="Geist Mono"/>
              </a:rPr>
              <a:t>i++</a:t>
            </a:r>
          </a:p>
        </p:txBody>
      </p:sp>
      <p:sp>
        <p:nvSpPr>
          <p:cNvPr id="37" name="Rectangle 36"/>
          <p:cNvSpPr/>
          <p:nvPr/>
        </p:nvSpPr>
        <p:spPr>
          <a:xfrm>
            <a:off x="13901738" y="7129462"/>
            <a:ext cx="28575" cy="600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281738" y="7700962"/>
            <a:ext cx="7648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281738" y="7342822"/>
            <a:ext cx="28575" cy="3867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a:off x="6219825" y="72199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7025" y="7791450"/>
            <a:ext cx="66675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back to the check, until it's false</a:t>
            </a:r>
          </a:p>
        </p:txBody>
      </p:sp>
      <p:sp>
        <p:nvSpPr>
          <p:cNvPr id="42" name="TextBox 41"/>
          <p:cNvSpPr txBox="1"/>
          <p:nvPr/>
        </p:nvSpPr>
        <p:spPr>
          <a:xfrm>
            <a:off x="14573250" y="5162550"/>
            <a:ext cx="2857500" cy="381000"/>
          </a:xfrm>
          <a:prstGeom prst="rect">
            <a:avLst/>
          </a:prstGeom>
          <a:noFill/>
        </p:spPr>
        <p:txBody>
          <a:bodyPr wrap="square" lIns="0" rIns="0" tIns="0" bIns="0" anchor="t">
            <a:spAutoFit/>
          </a:bodyPr>
          <a:lstStyle/>
          <a:p>
            <a:pPr algn="l"/>
            <a:r>
              <a:rPr sz="1800" b="1" i="0">
                <a:solidFill>
                  <a:srgbClr val="D5000E"/>
                </a:solidFill>
                <a:latin typeface="Geist"/>
                <a:ea typeface="Geist"/>
                <a:cs typeface="Geist"/>
              </a:rPr>
              <a:t>false: done</a:t>
            </a:r>
          </a:p>
        </p:txBody>
      </p:sp>
      <p:sp>
        <p:nvSpPr>
          <p:cNvPr id="43" name="Rectangle 42"/>
          <p:cNvSpPr/>
          <p:nvPr/>
        </p:nvSpPr>
        <p:spPr>
          <a:xfrm>
            <a:off x="7067550" y="5319712"/>
            <a:ext cx="28575" cy="3714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7067550" y="5319712"/>
            <a:ext cx="7239952"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Isosceles Triangle 44"/>
          <p:cNvSpPr/>
          <p:nvPr/>
        </p:nvSpPr>
        <p:spPr>
          <a:xfrm rot="5400000">
            <a:off x="14277975" y="525780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code-slash.png"/>
          <p:cNvPicPr>
            <a:picLocks noChangeAspect="1"/>
          </p:cNvPicPr>
          <p:nvPr/>
        </p:nvPicPr>
        <p:blipFill>
          <a:blip r:embed="rId3"/>
          <a:stretch>
            <a:fillRect/>
          </a:stretch>
        </p:blipFill>
        <p:spPr>
          <a:xfrm>
            <a:off x="914400" y="8610600"/>
            <a:ext cx="224518" cy="209550"/>
          </a:xfrm>
          <a:prstGeom prst="rect">
            <a:avLst/>
          </a:prstGeom>
        </p:spPr>
      </p:pic>
      <p:sp>
        <p:nvSpPr>
          <p:cNvPr id="47" name="TextBox 46"/>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Loops</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average: add them up, divide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DriveMath.java</a:t>
            </a:r>
          </a:p>
        </p:txBody>
      </p:sp>
      <p:sp>
        <p:nvSpPr>
          <p:cNvPr id="6" name="Rounded Rectangle 5"/>
          <p:cNvSpPr/>
          <p:nvPr/>
        </p:nvSpPr>
        <p:spPr>
          <a:xfrm>
            <a:off x="914400" y="3143250"/>
            <a:ext cx="9525000" cy="3322320"/>
          </a:xfrm>
          <a:prstGeom prst="roundRect">
            <a:avLst>
              <a:gd name="adj" fmla="val 458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621530"/>
            <a:ext cx="94869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62153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524250"/>
            <a:ext cx="8991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average(</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values) {</a:t>
            </a:r>
          </a:p>
        </p:txBody>
      </p:sp>
      <p:sp>
        <p:nvSpPr>
          <p:cNvPr id="10" name="TextBox 9"/>
          <p:cNvSpPr txBox="1"/>
          <p:nvPr/>
        </p:nvSpPr>
        <p:spPr>
          <a:xfrm>
            <a:off x="1295400" y="3890010"/>
            <a:ext cx="8991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total =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1" name="TextBox 10"/>
          <p:cNvSpPr txBox="1"/>
          <p:nvPr/>
        </p:nvSpPr>
        <p:spPr>
          <a:xfrm>
            <a:off x="1295400" y="4255770"/>
            <a:ext cx="8991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a:t>
            </a:r>
            <a:r>
              <a:rPr sz="1800" b="0" i="0">
                <a:solidFill>
                  <a:srgbClr val="E0785F"/>
                </a:solidFill>
                <a:latin typeface="Geist Mono"/>
                <a:ea typeface="Geist Mono"/>
                <a:cs typeface="Geist Mono"/>
              </a:rPr>
              <a:t>int</a:t>
            </a:r>
            <a:r>
              <a:rPr sz="1800" b="0" i="0">
                <a:solidFill>
                  <a:srgbClr val="F0E8E8"/>
                </a:solidFill>
                <a:latin typeface="Geist Mono"/>
                <a:ea typeface="Geist Mono"/>
                <a:cs typeface="Geist Mono"/>
              </a:rPr>
              <a:t> i = </a:t>
            </a:r>
            <a:r>
              <a:rPr sz="1800" b="0" i="0">
                <a:solidFill>
                  <a:srgbClr val="E8C27A"/>
                </a:solidFill>
                <a:latin typeface="Geist Mono"/>
                <a:ea typeface="Geist Mono"/>
                <a:cs typeface="Geist Mono"/>
              </a:rPr>
              <a:t>0</a:t>
            </a:r>
            <a:r>
              <a:rPr sz="1800" b="0" i="0">
                <a:solidFill>
                  <a:srgbClr val="F0E8E8"/>
                </a:solidFill>
                <a:latin typeface="Geist Mono"/>
                <a:ea typeface="Geist Mono"/>
                <a:cs typeface="Geist Mono"/>
              </a:rPr>
              <a:t>; i &lt; values.length; i++) {</a:t>
            </a:r>
          </a:p>
        </p:txBody>
      </p:sp>
      <p:sp>
        <p:nvSpPr>
          <p:cNvPr id="12" name="TextBox 11"/>
          <p:cNvSpPr txBox="1"/>
          <p:nvPr/>
        </p:nvSpPr>
        <p:spPr>
          <a:xfrm>
            <a:off x="1295400" y="4621530"/>
            <a:ext cx="8991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total += values[i];</a:t>
            </a:r>
          </a:p>
        </p:txBody>
      </p:sp>
      <p:sp>
        <p:nvSpPr>
          <p:cNvPr id="13" name="TextBox 12"/>
          <p:cNvSpPr txBox="1"/>
          <p:nvPr/>
        </p:nvSpPr>
        <p:spPr>
          <a:xfrm>
            <a:off x="1295400" y="4987290"/>
            <a:ext cx="8991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4" name="TextBox 13"/>
          <p:cNvSpPr txBox="1"/>
          <p:nvPr/>
        </p:nvSpPr>
        <p:spPr>
          <a:xfrm>
            <a:off x="1295400" y="5353050"/>
            <a:ext cx="8991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total / values.length;</a:t>
            </a:r>
          </a:p>
        </p:txBody>
      </p:sp>
      <p:sp>
        <p:nvSpPr>
          <p:cNvPr id="15" name="TextBox 14"/>
          <p:cNvSpPr txBox="1"/>
          <p:nvPr/>
        </p:nvSpPr>
        <p:spPr>
          <a:xfrm>
            <a:off x="1295400" y="5718810"/>
            <a:ext cx="8991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6" name="Oval 15"/>
          <p:cNvSpPr/>
          <p:nvPr/>
        </p:nvSpPr>
        <p:spPr>
          <a:xfrm>
            <a:off x="9829800" y="388239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29800" y="3882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8" name="Oval 17"/>
          <p:cNvSpPr/>
          <p:nvPr/>
        </p:nvSpPr>
        <p:spPr>
          <a:xfrm>
            <a:off x="9829800" y="42481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 name="Oval 19"/>
          <p:cNvSpPr/>
          <p:nvPr/>
        </p:nvSpPr>
        <p:spPr>
          <a:xfrm>
            <a:off x="9829800" y="46139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29800" y="46139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Oval 21"/>
          <p:cNvSpPr/>
          <p:nvPr/>
        </p:nvSpPr>
        <p:spPr>
          <a:xfrm>
            <a:off x="9829800" y="534543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9800" y="53454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4" name="Oval 23"/>
          <p:cNvSpPr/>
          <p:nvPr/>
        </p:nvSpPr>
        <p:spPr>
          <a:xfrm>
            <a:off x="914400" y="695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695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TextBox 25"/>
          <p:cNvSpPr txBox="1"/>
          <p:nvPr/>
        </p:nvSpPr>
        <p:spPr>
          <a:xfrm>
            <a:off x="1524000" y="6915150"/>
            <a:ext cx="419100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Running total</a:t>
            </a:r>
          </a:p>
        </p:txBody>
      </p:sp>
      <p:sp>
        <p:nvSpPr>
          <p:cNvPr id="27" name="TextBox 26"/>
          <p:cNvSpPr txBox="1"/>
          <p:nvPr/>
        </p:nvSpPr>
        <p:spPr>
          <a:xfrm>
            <a:off x="1524000" y="7315200"/>
            <a:ext cx="41910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starts at 0</a:t>
            </a:r>
          </a:p>
        </p:txBody>
      </p:sp>
      <p:sp>
        <p:nvSpPr>
          <p:cNvPr id="28" name="Oval 27"/>
          <p:cNvSpPr/>
          <p:nvPr/>
        </p:nvSpPr>
        <p:spPr>
          <a:xfrm>
            <a:off x="5867400" y="695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67400" y="695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TextBox 29"/>
          <p:cNvSpPr txBox="1"/>
          <p:nvPr/>
        </p:nvSpPr>
        <p:spPr>
          <a:xfrm>
            <a:off x="6477000" y="6915150"/>
            <a:ext cx="419100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Every index</a:t>
            </a:r>
          </a:p>
        </p:txBody>
      </p:sp>
      <p:sp>
        <p:nvSpPr>
          <p:cNvPr id="31" name="TextBox 30"/>
          <p:cNvSpPr txBox="1"/>
          <p:nvPr/>
        </p:nvSpPr>
        <p:spPr>
          <a:xfrm>
            <a:off x="6477000" y="7315200"/>
            <a:ext cx="41910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0 to length - 1</a:t>
            </a:r>
          </a:p>
        </p:txBody>
      </p:sp>
      <p:sp>
        <p:nvSpPr>
          <p:cNvPr id="32" name="Oval 31"/>
          <p:cNvSpPr/>
          <p:nvPr/>
        </p:nvSpPr>
        <p:spPr>
          <a:xfrm>
            <a:off x="914400" y="8001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800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TextBox 33"/>
          <p:cNvSpPr txBox="1"/>
          <p:nvPr/>
        </p:nvSpPr>
        <p:spPr>
          <a:xfrm>
            <a:off x="1524000" y="7962900"/>
            <a:ext cx="419100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Add this one</a:t>
            </a:r>
          </a:p>
        </p:txBody>
      </p:sp>
      <p:sp>
        <p:nvSpPr>
          <p:cNvPr id="35" name="TextBox 34"/>
          <p:cNvSpPr txBox="1"/>
          <p:nvPr/>
        </p:nvSpPr>
        <p:spPr>
          <a:xfrm>
            <a:off x="1524000" y="8362950"/>
            <a:ext cx="4191000" cy="381000"/>
          </a:xfrm>
          <a:prstGeom prst="rect">
            <a:avLst/>
          </a:prstGeom>
          <a:noFill/>
        </p:spPr>
        <p:txBody>
          <a:bodyPr wrap="square" lIns="0" rIns="0" tIns="0" bIns="0" anchor="t">
            <a:spAutoFit/>
          </a:bodyPr>
          <a:lstStyle/>
          <a:p>
            <a:pPr algn="l"/>
            <a:r>
              <a:rPr sz="1725" b="0" i="0">
                <a:solidFill>
                  <a:srgbClr val="9A7878"/>
                </a:solidFill>
                <a:latin typeface="Geist Mono"/>
                <a:ea typeface="Geist Mono"/>
                <a:cs typeface="Geist Mono"/>
              </a:rPr>
              <a:t>total += values[i]</a:t>
            </a:r>
          </a:p>
        </p:txBody>
      </p:sp>
      <p:sp>
        <p:nvSpPr>
          <p:cNvPr id="36" name="Oval 35"/>
          <p:cNvSpPr/>
          <p:nvPr/>
        </p:nvSpPr>
        <p:spPr>
          <a:xfrm>
            <a:off x="5867400" y="8001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67400" y="800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8" name="TextBox 37"/>
          <p:cNvSpPr txBox="1"/>
          <p:nvPr/>
        </p:nvSpPr>
        <p:spPr>
          <a:xfrm>
            <a:off x="6477000" y="7962900"/>
            <a:ext cx="419100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Divide</a:t>
            </a:r>
          </a:p>
        </p:txBody>
      </p:sp>
      <p:sp>
        <p:nvSpPr>
          <p:cNvPr id="39" name="TextBox 38"/>
          <p:cNvSpPr txBox="1"/>
          <p:nvPr/>
        </p:nvSpPr>
        <p:spPr>
          <a:xfrm>
            <a:off x="6477000" y="8362950"/>
            <a:ext cx="4191000" cy="3810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by the count</a:t>
            </a:r>
          </a:p>
        </p:txBody>
      </p:sp>
      <p:sp>
        <p:nvSpPr>
          <p:cNvPr id="40" name="TextBox 39"/>
          <p:cNvSpPr txBox="1"/>
          <p:nvPr/>
        </p:nvSpPr>
        <p:spPr>
          <a:xfrm>
            <a:off x="11049000" y="2819400"/>
            <a:ext cx="6286500" cy="381000"/>
          </a:xfrm>
          <a:prstGeom prst="rect">
            <a:avLst/>
          </a:prstGeom>
          <a:noFill/>
        </p:spPr>
        <p:txBody>
          <a:bodyPr wrap="square" lIns="0" rIns="0" tIns="0" bIns="0" anchor="t">
            <a:spAutoFit/>
          </a:bodyPr>
          <a:lstStyle/>
          <a:p>
            <a:pPr algn="l"/>
            <a:r>
              <a:rPr sz="1950" b="1" i="0">
                <a:solidFill>
                  <a:srgbClr val="9A7878"/>
                </a:solidFill>
                <a:latin typeface="Geist"/>
                <a:ea typeface="Geist"/>
                <a:cs typeface="Geist"/>
              </a:rPr>
              <a:t>Trace: </a:t>
            </a:r>
            <a:r>
              <a:rPr sz="1950" b="0" i="0">
                <a:solidFill>
                  <a:srgbClr val="9A7878"/>
                </a:solidFill>
                <a:latin typeface="Geist Mono"/>
                <a:ea typeface="Geist Mono"/>
                <a:cs typeface="Geist Mono"/>
              </a:rPr>
              <a:t>values = {2, 4, 6}</a:t>
            </a:r>
          </a:p>
        </p:txBody>
      </p:sp>
      <p:sp>
        <p:nvSpPr>
          <p:cNvPr id="41" name="Rounded Rectangle 40"/>
          <p:cNvSpPr/>
          <p:nvPr/>
        </p:nvSpPr>
        <p:spPr>
          <a:xfrm>
            <a:off x="11049000" y="3333750"/>
            <a:ext cx="63246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315700" y="3333750"/>
            <a:ext cx="12573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i</a:t>
            </a:r>
          </a:p>
        </p:txBody>
      </p:sp>
      <p:sp>
        <p:nvSpPr>
          <p:cNvPr id="43" name="TextBox 42"/>
          <p:cNvSpPr txBox="1"/>
          <p:nvPr/>
        </p:nvSpPr>
        <p:spPr>
          <a:xfrm>
            <a:off x="12839700" y="3333750"/>
            <a:ext cx="2209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values[i]</a:t>
            </a:r>
          </a:p>
        </p:txBody>
      </p:sp>
      <p:sp>
        <p:nvSpPr>
          <p:cNvPr id="44" name="TextBox 43"/>
          <p:cNvSpPr txBox="1"/>
          <p:nvPr/>
        </p:nvSpPr>
        <p:spPr>
          <a:xfrm>
            <a:off x="15316200" y="3333750"/>
            <a:ext cx="20574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total</a:t>
            </a:r>
          </a:p>
        </p:txBody>
      </p:sp>
      <p:sp>
        <p:nvSpPr>
          <p:cNvPr id="45" name="Rectangle 44"/>
          <p:cNvSpPr/>
          <p:nvPr/>
        </p:nvSpPr>
        <p:spPr>
          <a:xfrm>
            <a:off x="11039475" y="4886325"/>
            <a:ext cx="6343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1315700" y="4095750"/>
            <a:ext cx="11811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a:t>
            </a:r>
          </a:p>
        </p:txBody>
      </p:sp>
      <p:sp>
        <p:nvSpPr>
          <p:cNvPr id="47" name="TextBox 46"/>
          <p:cNvSpPr txBox="1"/>
          <p:nvPr/>
        </p:nvSpPr>
        <p:spPr>
          <a:xfrm>
            <a:off x="12839700" y="4095750"/>
            <a:ext cx="2133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a:t>
            </a:r>
          </a:p>
        </p:txBody>
      </p:sp>
      <p:sp>
        <p:nvSpPr>
          <p:cNvPr id="48" name="TextBox 47"/>
          <p:cNvSpPr txBox="1"/>
          <p:nvPr/>
        </p:nvSpPr>
        <p:spPr>
          <a:xfrm>
            <a:off x="15316200" y="4095750"/>
            <a:ext cx="19812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a:t>
            </a:r>
          </a:p>
        </p:txBody>
      </p:sp>
      <p:sp>
        <p:nvSpPr>
          <p:cNvPr id="49" name="Rectangle 48"/>
          <p:cNvSpPr/>
          <p:nvPr/>
        </p:nvSpPr>
        <p:spPr>
          <a:xfrm>
            <a:off x="11039475" y="5743575"/>
            <a:ext cx="6343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1315700" y="4953000"/>
            <a:ext cx="11811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a:t>
            </a:r>
          </a:p>
        </p:txBody>
      </p:sp>
      <p:sp>
        <p:nvSpPr>
          <p:cNvPr id="51" name="TextBox 50"/>
          <p:cNvSpPr txBox="1"/>
          <p:nvPr/>
        </p:nvSpPr>
        <p:spPr>
          <a:xfrm>
            <a:off x="12839700" y="4953000"/>
            <a:ext cx="2133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a:t>
            </a:r>
          </a:p>
        </p:txBody>
      </p:sp>
      <p:sp>
        <p:nvSpPr>
          <p:cNvPr id="52" name="TextBox 51"/>
          <p:cNvSpPr txBox="1"/>
          <p:nvPr/>
        </p:nvSpPr>
        <p:spPr>
          <a:xfrm>
            <a:off x="15316200" y="4953000"/>
            <a:ext cx="19812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6</a:t>
            </a:r>
          </a:p>
        </p:txBody>
      </p:sp>
      <p:sp>
        <p:nvSpPr>
          <p:cNvPr id="53" name="Rectangle 52"/>
          <p:cNvSpPr/>
          <p:nvPr/>
        </p:nvSpPr>
        <p:spPr>
          <a:xfrm>
            <a:off x="11039475" y="6600825"/>
            <a:ext cx="6343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1315700" y="5810250"/>
            <a:ext cx="11811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2</a:t>
            </a:r>
          </a:p>
        </p:txBody>
      </p:sp>
      <p:sp>
        <p:nvSpPr>
          <p:cNvPr id="55" name="TextBox 54"/>
          <p:cNvSpPr txBox="1"/>
          <p:nvPr/>
        </p:nvSpPr>
        <p:spPr>
          <a:xfrm>
            <a:off x="12839700" y="5810250"/>
            <a:ext cx="2133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6</a:t>
            </a:r>
          </a:p>
        </p:txBody>
      </p:sp>
      <p:sp>
        <p:nvSpPr>
          <p:cNvPr id="56" name="TextBox 55"/>
          <p:cNvSpPr txBox="1"/>
          <p:nvPr/>
        </p:nvSpPr>
        <p:spPr>
          <a:xfrm>
            <a:off x="15316200" y="5810250"/>
            <a:ext cx="19812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12</a:t>
            </a:r>
          </a:p>
        </p:txBody>
      </p:sp>
      <p:sp>
        <p:nvSpPr>
          <p:cNvPr id="57" name="Rounded Rectangle 56"/>
          <p:cNvSpPr/>
          <p:nvPr/>
        </p:nvSpPr>
        <p:spPr>
          <a:xfrm>
            <a:off x="11049000" y="6858000"/>
            <a:ext cx="6324600" cy="1047750"/>
          </a:xfrm>
          <a:prstGeom prst="roundRect">
            <a:avLst>
              <a:gd name="adj" fmla="val 12727"/>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1049000" y="6858000"/>
            <a:ext cx="6324600" cy="1047750"/>
          </a:xfrm>
          <a:prstGeom prst="rect">
            <a:avLst/>
          </a:prstGeom>
          <a:noFill/>
        </p:spPr>
        <p:txBody>
          <a:bodyPr wrap="square" lIns="0" rIns="0" tIns="0" bIns="0" anchor="ctr">
            <a:spAutoFit/>
          </a:bodyPr>
          <a:lstStyle/>
          <a:p>
            <a:pPr algn="ctr"/>
            <a:r>
              <a:rPr sz="2700" b="0" i="0">
                <a:solidFill>
                  <a:srgbClr val="F0E8E8"/>
                </a:solidFill>
                <a:latin typeface="Geist Mono"/>
                <a:ea typeface="Geist Mono"/>
                <a:cs typeface="Geist Mono"/>
              </a:rPr>
              <a:t>12 / 3</a:t>
            </a:r>
            <a:r>
              <a:rPr sz="2700" b="0" i="0">
                <a:solidFill>
                  <a:srgbClr val="F0E8E8"/>
                </a:solidFill>
                <a:latin typeface="Geist"/>
                <a:ea typeface="Geist"/>
                <a:cs typeface="Geist"/>
              </a:rPr>
              <a:t>  =  </a:t>
            </a:r>
            <a:r>
              <a:rPr sz="2700" b="1" i="0">
                <a:solidFill>
                  <a:srgbClr val="E8C27A"/>
                </a:solidFill>
                <a:latin typeface="Geist Mono"/>
                <a:ea typeface="Geist Mono"/>
                <a:cs typeface="Geist Mono"/>
              </a:rPr>
              <a:t>4.0</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Keeping the last 5, with %</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3524250" y="3429000"/>
            <a:ext cx="1333500" cy="952500"/>
          </a:xfrm>
          <a:prstGeom prst="roundRect">
            <a:avLst>
              <a:gd name="adj" fmla="val 14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524250" y="3429000"/>
            <a:ext cx="1333500" cy="952500"/>
          </a:xfrm>
          <a:prstGeom prst="rect">
            <a:avLst/>
          </a:prstGeom>
          <a:noFill/>
        </p:spPr>
        <p:txBody>
          <a:bodyPr wrap="square" lIns="0" rIns="0" tIns="0" bIns="0" anchor="ctr">
            <a:spAutoFit/>
          </a:bodyPr>
          <a:lstStyle/>
          <a:p>
            <a:pPr algn="ctr"/>
            <a:r>
              <a:rPr sz="2250" b="1" i="0">
                <a:solidFill>
                  <a:srgbClr val="D5000E"/>
                </a:solidFill>
                <a:latin typeface="Geist Mono"/>
                <a:ea typeface="Geist Mono"/>
                <a:cs typeface="Geist Mono"/>
              </a:rPr>
              <a:t>[0]</a:t>
            </a:r>
          </a:p>
        </p:txBody>
      </p:sp>
      <p:cxnSp>
        <p:nvCxnSpPr>
          <p:cNvPr id="7" name="Connector 6"/>
          <p:cNvCxnSpPr/>
          <p:nvPr/>
        </p:nvCxnSpPr>
        <p:spPr>
          <a:xfrm>
            <a:off x="5006623" y="4079094"/>
            <a:ext cx="93970" cy="449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100593" y="4124028"/>
            <a:ext cx="91503" cy="497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192096" y="4173794"/>
            <a:ext cx="88788" cy="544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280884" y="4228255"/>
            <a:ext cx="85833" cy="5900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366717" y="4287264"/>
            <a:ext cx="82645" cy="6339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449362" y="4350661"/>
            <a:ext cx="79233" cy="676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528595" y="4418275"/>
            <a:ext cx="75606" cy="716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04201" y="4489921"/>
            <a:ext cx="71773" cy="75485"/>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26601" y="4811139"/>
            <a:ext cx="1333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26601" y="4811139"/>
            <a:ext cx="1333500" cy="9525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[1]</a:t>
            </a:r>
          </a:p>
        </p:txBody>
      </p:sp>
      <p:cxnSp>
        <p:nvCxnSpPr>
          <p:cNvPr id="17" name="Connector 16"/>
          <p:cNvCxnSpPr/>
          <p:nvPr/>
        </p:nvCxnSpPr>
        <p:spPr>
          <a:xfrm flipH="1">
            <a:off x="6166360" y="6116813"/>
            <a:ext cx="13697" cy="1032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6147306" y="6220069"/>
            <a:ext cx="19054" cy="10240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122948" y="6322472"/>
            <a:ext cx="24358" cy="1012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6093351" y="6423744"/>
            <a:ext cx="29597" cy="998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6058595" y="6523611"/>
            <a:ext cx="34756" cy="981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6018775" y="6621802"/>
            <a:ext cx="39820" cy="9624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973999" y="6718051"/>
            <a:ext cx="44776" cy="940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5924387" y="6812096"/>
            <a:ext cx="49612" cy="91587"/>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699967" y="7047486"/>
            <a:ext cx="1333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699967" y="7047486"/>
            <a:ext cx="1333500" cy="9525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a:t>
            </a:r>
          </a:p>
        </p:txBody>
      </p:sp>
      <p:cxnSp>
        <p:nvCxnSpPr>
          <p:cNvPr id="27" name="Connector 26"/>
          <p:cNvCxnSpPr/>
          <p:nvPr/>
        </p:nvCxnSpPr>
        <p:spPr>
          <a:xfrm flipH="1">
            <a:off x="4502247" y="7862505"/>
            <a:ext cx="102435" cy="188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398968" y="7881386"/>
            <a:ext cx="103279" cy="135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4295125" y="7894909"/>
            <a:ext cx="103843" cy="81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171950" y="7883988"/>
            <a:ext cx="1422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067825" y="7886700"/>
            <a:ext cx="1422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flipH="1" flipV="1">
            <a:off x="3983032" y="7894909"/>
            <a:ext cx="103843" cy="81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3879753" y="7881386"/>
            <a:ext cx="103279" cy="135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3777318" y="7862505"/>
            <a:ext cx="102435" cy="18881"/>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348533" y="7047486"/>
            <a:ext cx="1333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2348533" y="7047486"/>
            <a:ext cx="1333500" cy="9525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[3]</a:t>
            </a:r>
          </a:p>
        </p:txBody>
      </p:sp>
      <p:cxnSp>
        <p:nvCxnSpPr>
          <p:cNvPr id="37" name="Connector 36"/>
          <p:cNvCxnSpPr/>
          <p:nvPr/>
        </p:nvCxnSpPr>
        <p:spPr>
          <a:xfrm flipH="1" flipV="1">
            <a:off x="2408001" y="6812096"/>
            <a:ext cx="49612" cy="915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363225" y="6718051"/>
            <a:ext cx="44776" cy="940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323405" y="6621802"/>
            <a:ext cx="39820" cy="9624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288649" y="6523611"/>
            <a:ext cx="34756" cy="981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259052" y="6423744"/>
            <a:ext cx="29597" cy="998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234694" y="6322472"/>
            <a:ext cx="24358" cy="1012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215640" y="6220069"/>
            <a:ext cx="19054" cy="10240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201943" y="6116813"/>
            <a:ext cx="13697" cy="103256"/>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621899" y="4811139"/>
            <a:ext cx="1333500" cy="952500"/>
          </a:xfrm>
          <a:prstGeom prst="roundRect">
            <a:avLst>
              <a:gd name="adj" fmla="val 14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621899" y="4811139"/>
            <a:ext cx="1333500" cy="9525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[4]</a:t>
            </a:r>
          </a:p>
        </p:txBody>
      </p:sp>
      <p:cxnSp>
        <p:nvCxnSpPr>
          <p:cNvPr id="47" name="Connector 46"/>
          <p:cNvCxnSpPr/>
          <p:nvPr/>
        </p:nvCxnSpPr>
        <p:spPr>
          <a:xfrm flipV="1">
            <a:off x="2706026" y="4489921"/>
            <a:ext cx="71773" cy="75485"/>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777799" y="4418275"/>
            <a:ext cx="75606" cy="7164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853405" y="4350661"/>
            <a:ext cx="79233" cy="6761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932638" y="4287264"/>
            <a:ext cx="82645" cy="6339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015283" y="4228255"/>
            <a:ext cx="85833" cy="5900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101116" y="4173794"/>
            <a:ext cx="88788" cy="5446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189904" y="4124028"/>
            <a:ext cx="91503" cy="4976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281407" y="4079094"/>
            <a:ext cx="93970" cy="44934"/>
          </a:xfrm>
          <a:prstGeom prst="line">
            <a:avLst/>
          </a:prstGeom>
          <a:ln w="3810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2667000" y="5619750"/>
            <a:ext cx="3048000" cy="571500"/>
          </a:xfrm>
          <a:prstGeom prst="rect">
            <a:avLst/>
          </a:prstGeom>
          <a:noFill/>
        </p:spPr>
        <p:txBody>
          <a:bodyPr wrap="square" lIns="0" rIns="0" tIns="0" bIns="0" anchor="t">
            <a:spAutoFit/>
          </a:bodyPr>
          <a:lstStyle/>
          <a:p>
            <a:pPr algn="ctr"/>
            <a:r>
              <a:rPr sz="1950" b="1" i="0">
                <a:solidFill>
                  <a:srgbClr val="D5000E"/>
                </a:solidFill>
                <a:latin typeface="Geist"/>
                <a:ea typeface="Geist"/>
                <a:cs typeface="Geist"/>
              </a:rPr>
              <a:t>wraps 4 → 0</a:t>
            </a:r>
          </a:p>
        </p:txBody>
      </p:sp>
      <p:sp>
        <p:nvSpPr>
          <p:cNvPr id="56" name="TextBox 55"/>
          <p:cNvSpPr txBox="1"/>
          <p:nvPr/>
        </p:nvSpPr>
        <p:spPr>
          <a:xfrm>
            <a:off x="7620000" y="2724150"/>
            <a:ext cx="9753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57" name="Rounded Rectangle 56"/>
          <p:cNvSpPr/>
          <p:nvPr/>
        </p:nvSpPr>
        <p:spPr>
          <a:xfrm>
            <a:off x="7620000" y="3143250"/>
            <a:ext cx="9753600" cy="2103120"/>
          </a:xfrm>
          <a:prstGeom prst="roundRect">
            <a:avLst>
              <a:gd name="adj" fmla="val 724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7639050" y="3859530"/>
            <a:ext cx="97155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7639050" y="3859530"/>
            <a:ext cx="57150" cy="33528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001000" y="3524250"/>
            <a:ext cx="9220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recent_speeds_[next_slot_] = drive_.getLinearSpeed();</a:t>
            </a:r>
          </a:p>
        </p:txBody>
      </p:sp>
      <p:sp>
        <p:nvSpPr>
          <p:cNvPr id="61" name="TextBox 60"/>
          <p:cNvSpPr txBox="1"/>
          <p:nvPr/>
        </p:nvSpPr>
        <p:spPr>
          <a:xfrm>
            <a:off x="8001000" y="3859530"/>
            <a:ext cx="9220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next_slot_ = (next_slot_ + </a:t>
            </a:r>
            <a:r>
              <a:rPr sz="1650" b="0" i="0">
                <a:solidFill>
                  <a:srgbClr val="E8C27A"/>
                </a:solidFill>
                <a:latin typeface="Geist Mono"/>
                <a:ea typeface="Geist Mono"/>
                <a:cs typeface="Geist Mono"/>
              </a:rPr>
              <a:t>1</a:t>
            </a:r>
            <a:r>
              <a:rPr sz="1650" b="0" i="0">
                <a:solidFill>
                  <a:srgbClr val="F0E8E8"/>
                </a:solidFill>
                <a:latin typeface="Geist Mono"/>
                <a:ea typeface="Geist Mono"/>
                <a:cs typeface="Geist Mono"/>
              </a:rPr>
              <a:t>) % recent_speeds_.length;</a:t>
            </a:r>
          </a:p>
        </p:txBody>
      </p:sp>
      <p:sp>
        <p:nvSpPr>
          <p:cNvPr id="62" name="TextBox 61"/>
          <p:cNvSpPr txBox="1"/>
          <p:nvPr/>
        </p:nvSpPr>
        <p:spPr>
          <a:xfrm>
            <a:off x="8001000" y="4194810"/>
            <a:ext cx="9220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MwLog.log(</a:t>
            </a:r>
            <a:r>
              <a:rPr sz="1650" b="0" i="0">
                <a:solidFill>
                  <a:srgbClr val="9FD29A"/>
                </a:solidFill>
                <a:latin typeface="Geist Mono"/>
                <a:ea typeface="Geist Mono"/>
                <a:cs typeface="Geist Mono"/>
              </a:rPr>
              <a:t>"Robot/SmoothedSpeed"</a:t>
            </a:r>
            <a:r>
              <a:rPr sz="1650" b="0" i="0">
                <a:solidFill>
                  <a:srgbClr val="F0E8E8"/>
                </a:solidFill>
                <a:latin typeface="Geist Mono"/>
                <a:ea typeface="Geist Mono"/>
                <a:cs typeface="Geist Mono"/>
              </a:rPr>
              <a:t>,</a:t>
            </a:r>
          </a:p>
        </p:txBody>
      </p:sp>
      <p:sp>
        <p:nvSpPr>
          <p:cNvPr id="63" name="TextBox 62"/>
          <p:cNvSpPr txBox="1"/>
          <p:nvPr/>
        </p:nvSpPr>
        <p:spPr>
          <a:xfrm>
            <a:off x="8001000" y="4530090"/>
            <a:ext cx="9220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DriveMath.average(recent_speeds_));</a:t>
            </a:r>
          </a:p>
        </p:txBody>
      </p:sp>
      <p:sp>
        <p:nvSpPr>
          <p:cNvPr id="64" name="Rounded Rectangle 63"/>
          <p:cNvSpPr/>
          <p:nvPr/>
        </p:nvSpPr>
        <p:spPr>
          <a:xfrm>
            <a:off x="7620000" y="6096000"/>
            <a:ext cx="97536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886700" y="6096000"/>
            <a:ext cx="2971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next_slot_</a:t>
            </a:r>
          </a:p>
        </p:txBody>
      </p:sp>
      <p:sp>
        <p:nvSpPr>
          <p:cNvPr id="66" name="TextBox 65"/>
          <p:cNvSpPr txBox="1"/>
          <p:nvPr/>
        </p:nvSpPr>
        <p:spPr>
          <a:xfrm>
            <a:off x="11125200" y="6096000"/>
            <a:ext cx="2590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+ 1</a:t>
            </a:r>
          </a:p>
        </p:txBody>
      </p:sp>
      <p:sp>
        <p:nvSpPr>
          <p:cNvPr id="67" name="TextBox 66"/>
          <p:cNvSpPr txBox="1"/>
          <p:nvPr/>
        </p:nvSpPr>
        <p:spPr>
          <a:xfrm>
            <a:off x="13982700" y="6096000"/>
            <a:ext cx="33909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 5</a:t>
            </a:r>
          </a:p>
        </p:txBody>
      </p:sp>
      <p:sp>
        <p:nvSpPr>
          <p:cNvPr id="68" name="Rectangle 67"/>
          <p:cNvSpPr/>
          <p:nvPr/>
        </p:nvSpPr>
        <p:spPr>
          <a:xfrm>
            <a:off x="7610475" y="7648575"/>
            <a:ext cx="9772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7886700" y="6858000"/>
            <a:ext cx="2895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3</a:t>
            </a:r>
          </a:p>
        </p:txBody>
      </p:sp>
      <p:sp>
        <p:nvSpPr>
          <p:cNvPr id="70" name="TextBox 69"/>
          <p:cNvSpPr txBox="1"/>
          <p:nvPr/>
        </p:nvSpPr>
        <p:spPr>
          <a:xfrm>
            <a:off x="11125200" y="6858000"/>
            <a:ext cx="2514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a:t>
            </a:r>
          </a:p>
        </p:txBody>
      </p:sp>
      <p:sp>
        <p:nvSpPr>
          <p:cNvPr id="71" name="TextBox 70"/>
          <p:cNvSpPr txBox="1"/>
          <p:nvPr/>
        </p:nvSpPr>
        <p:spPr>
          <a:xfrm>
            <a:off x="13982700" y="6858000"/>
            <a:ext cx="33147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a:t>
            </a:r>
          </a:p>
        </p:txBody>
      </p:sp>
      <p:sp>
        <p:nvSpPr>
          <p:cNvPr id="72" name="Rounded Rectangle 71"/>
          <p:cNvSpPr/>
          <p:nvPr/>
        </p:nvSpPr>
        <p:spPr>
          <a:xfrm>
            <a:off x="7620000" y="7715250"/>
            <a:ext cx="9753600" cy="762000"/>
          </a:xfrm>
          <a:prstGeom prst="roundRect">
            <a:avLst>
              <a:gd name="adj" fmla="val 15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7610475" y="8505825"/>
            <a:ext cx="97726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7886700" y="7715250"/>
            <a:ext cx="2895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4</a:t>
            </a:r>
          </a:p>
        </p:txBody>
      </p:sp>
      <p:sp>
        <p:nvSpPr>
          <p:cNvPr id="75" name="TextBox 74"/>
          <p:cNvSpPr txBox="1"/>
          <p:nvPr/>
        </p:nvSpPr>
        <p:spPr>
          <a:xfrm>
            <a:off x="11125200" y="7715250"/>
            <a:ext cx="25146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5</a:t>
            </a:r>
          </a:p>
        </p:txBody>
      </p:sp>
      <p:sp>
        <p:nvSpPr>
          <p:cNvPr id="76" name="TextBox 75"/>
          <p:cNvSpPr txBox="1"/>
          <p:nvPr/>
        </p:nvSpPr>
        <p:spPr>
          <a:xfrm>
            <a:off x="13982700" y="7715250"/>
            <a:ext cx="3314700" cy="762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a:t>
            </a:r>
          </a:p>
        </p:txBody>
      </p:sp>
      <p:sp>
        <p:nvSpPr>
          <p:cNvPr id="77" name="TextBox 7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8" name="TextBox 7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ARRAYS AND LOOPS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Raw vs smoothed speed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171575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47875" y="7800975"/>
            <a:ext cx="10115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765810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047875" y="6213475"/>
            <a:ext cx="1011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607060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a:t>
            </a:r>
          </a:p>
        </p:txBody>
      </p:sp>
      <p:sp>
        <p:nvSpPr>
          <p:cNvPr id="10" name="Rectangle 9"/>
          <p:cNvSpPr/>
          <p:nvPr/>
        </p:nvSpPr>
        <p:spPr>
          <a:xfrm>
            <a:off x="2047875" y="4625975"/>
            <a:ext cx="1011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448310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a:t>
            </a:r>
          </a:p>
        </p:txBody>
      </p:sp>
      <p:sp>
        <p:nvSpPr>
          <p:cNvPr id="12" name="Rectangle 11"/>
          <p:cNvSpPr/>
          <p:nvPr/>
        </p:nvSpPr>
        <p:spPr>
          <a:xfrm>
            <a:off x="2047875" y="3038475"/>
            <a:ext cx="10115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2895600"/>
            <a:ext cx="6096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a:t>
            </a:r>
          </a:p>
        </p:txBody>
      </p:sp>
      <p:sp>
        <p:nvSpPr>
          <p:cNvPr id="14" name="TextBox 13"/>
          <p:cNvSpPr txBox="1"/>
          <p:nvPr/>
        </p:nvSpPr>
        <p:spPr>
          <a:xfrm>
            <a:off x="1676400" y="79057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15" name="TextBox 14"/>
          <p:cNvSpPr txBox="1"/>
          <p:nvPr/>
        </p:nvSpPr>
        <p:spPr>
          <a:xfrm>
            <a:off x="5041900" y="79057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16" name="TextBox 15"/>
          <p:cNvSpPr txBox="1"/>
          <p:nvPr/>
        </p:nvSpPr>
        <p:spPr>
          <a:xfrm>
            <a:off x="8407400" y="79057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17" name="TextBox 16"/>
          <p:cNvSpPr txBox="1"/>
          <p:nvPr/>
        </p:nvSpPr>
        <p:spPr>
          <a:xfrm>
            <a:off x="11772900" y="790575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18" name="TextBox 17"/>
          <p:cNvSpPr txBox="1"/>
          <p:nvPr/>
        </p:nvSpPr>
        <p:spPr>
          <a:xfrm>
            <a:off x="1104900" y="26289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m/s</a:t>
            </a:r>
          </a:p>
        </p:txBody>
      </p:sp>
      <p:cxnSp>
        <p:nvCxnSpPr>
          <p:cNvPr id="19" name="Connector 18"/>
          <p:cNvCxnSpPr/>
          <p:nvPr/>
        </p:nvCxnSpPr>
        <p:spPr>
          <a:xfrm flipV="1">
            <a:off x="2057400" y="7712031"/>
            <a:ext cx="134620" cy="9846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192020" y="7389923"/>
            <a:ext cx="134620" cy="32210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326640" y="7316862"/>
            <a:ext cx="134620" cy="7306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461260" y="7103778"/>
            <a:ext cx="134620" cy="21308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595880" y="6744175"/>
            <a:ext cx="134620" cy="35960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730500" y="6691562"/>
            <a:ext cx="134620" cy="5261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865120" y="6185090"/>
            <a:ext cx="134620" cy="50647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999740" y="5985645"/>
            <a:ext cx="134620" cy="19944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134360" y="5985645"/>
            <a:ext cx="134620" cy="27088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268980" y="5639113"/>
            <a:ext cx="134620" cy="61741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403600" y="5639113"/>
            <a:ext cx="134620" cy="3541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538220" y="5351407"/>
            <a:ext cx="134620" cy="32312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672840" y="5066623"/>
            <a:ext cx="134620" cy="28478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807460" y="4717370"/>
            <a:ext cx="134620" cy="34925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942080" y="4717370"/>
            <a:ext cx="134620" cy="6296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076700" y="4420706"/>
            <a:ext cx="134620" cy="35963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211320" y="4420706"/>
            <a:ext cx="134620" cy="12322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345940" y="4153015"/>
            <a:ext cx="134620" cy="39092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480560" y="4153015"/>
            <a:ext cx="134620" cy="59670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615180" y="3595834"/>
            <a:ext cx="134620" cy="115388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749800" y="3595834"/>
            <a:ext cx="134620" cy="18615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884420" y="3759976"/>
            <a:ext cx="134620" cy="2200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019040" y="3759976"/>
            <a:ext cx="134620" cy="43225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153660" y="3861569"/>
            <a:ext cx="134620" cy="33066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288280" y="3805243"/>
            <a:ext cx="134620" cy="5632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422900" y="3702706"/>
            <a:ext cx="134620" cy="10253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557520" y="3702706"/>
            <a:ext cx="134620" cy="22425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692140" y="3926958"/>
            <a:ext cx="134620" cy="10704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826760" y="4034006"/>
            <a:ext cx="134620" cy="15429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961380" y="3782522"/>
            <a:ext cx="134620" cy="40577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096000" y="3782522"/>
            <a:ext cx="134620" cy="25021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230620" y="3826090"/>
            <a:ext cx="134620" cy="20664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365240" y="3789561"/>
            <a:ext cx="134620" cy="3652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499860" y="3546533"/>
            <a:ext cx="134620" cy="24302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634480" y="3546533"/>
            <a:ext cx="134620" cy="22926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769100" y="3775801"/>
            <a:ext cx="134620" cy="13824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903720" y="3794810"/>
            <a:ext cx="134620" cy="11923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038340" y="3794810"/>
            <a:ext cx="134620" cy="17480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172960" y="3969617"/>
            <a:ext cx="134620" cy="12229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307580" y="3608524"/>
            <a:ext cx="134620" cy="48339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442200" y="3589794"/>
            <a:ext cx="134620" cy="1873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76820" y="3589794"/>
            <a:ext cx="134620" cy="55044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711440" y="4091959"/>
            <a:ext cx="134620" cy="4827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7846060" y="3904831"/>
            <a:ext cx="134620" cy="18712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7980680" y="3699130"/>
            <a:ext cx="134620" cy="20570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115300" y="3699130"/>
            <a:ext cx="134620" cy="13588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8235633" y="3820730"/>
            <a:ext cx="163195" cy="28575"/>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6" name="Connector 65"/>
          <p:cNvCxnSpPr/>
          <p:nvPr/>
        </p:nvCxnSpPr>
        <p:spPr>
          <a:xfrm flipV="1">
            <a:off x="8384540" y="3704748"/>
            <a:ext cx="134620" cy="13445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519160" y="3704748"/>
            <a:ext cx="134620" cy="12378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653780" y="3577247"/>
            <a:ext cx="134620" cy="25128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788400" y="3577247"/>
            <a:ext cx="134620" cy="15597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923020" y="3733221"/>
            <a:ext cx="134620" cy="29050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057640" y="4023728"/>
            <a:ext cx="134620" cy="17043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192260" y="3596524"/>
            <a:ext cx="134620" cy="59764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326880" y="3596524"/>
            <a:ext cx="134620" cy="26754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461500" y="3864066"/>
            <a:ext cx="134620" cy="8952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596120" y="3953586"/>
            <a:ext cx="134620" cy="64981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9730740" y="4054825"/>
            <a:ext cx="134620" cy="54857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865360" y="4054825"/>
            <a:ext cx="134620" cy="86248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999980" y="4917305"/>
            <a:ext cx="134620" cy="58968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134600" y="5506986"/>
            <a:ext cx="134620" cy="14623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269220" y="5653220"/>
            <a:ext cx="134620" cy="85064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403840" y="6187125"/>
            <a:ext cx="134620" cy="31674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538460" y="6187125"/>
            <a:ext cx="134620" cy="81117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673080" y="6998296"/>
            <a:ext cx="134620" cy="6857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807700" y="6969832"/>
            <a:ext cx="134620" cy="9704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942320" y="6969832"/>
            <a:ext cx="134620" cy="57862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1076940" y="7548461"/>
            <a:ext cx="134620" cy="22369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211560" y="7772153"/>
            <a:ext cx="134620" cy="3834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1346180" y="7721426"/>
            <a:ext cx="134620" cy="8907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1480800" y="7721426"/>
            <a:ext cx="134620" cy="8907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11601132" y="7796212"/>
            <a:ext cx="163195" cy="28575"/>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1" name="Connector 90"/>
          <p:cNvCxnSpPr/>
          <p:nvPr/>
        </p:nvCxnSpPr>
        <p:spPr>
          <a:xfrm flipV="1">
            <a:off x="11750040" y="7677370"/>
            <a:ext cx="134620" cy="13313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1884660" y="7677370"/>
            <a:ext cx="134620" cy="13313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12004993" y="7796212"/>
            <a:ext cx="163195" cy="28575"/>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flipV="1">
            <a:off x="2057400" y="7787255"/>
            <a:ext cx="134620" cy="232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2192020" y="7697800"/>
            <a:ext cx="134620" cy="894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326640" y="7532778"/>
            <a:ext cx="134620" cy="1650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461260" y="7286524"/>
            <a:ext cx="134620" cy="2462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595880" y="7050177"/>
            <a:ext cx="134620" cy="23634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730500" y="6815303"/>
            <a:ext cx="134620" cy="2348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865120" y="6582476"/>
            <a:ext cx="134620" cy="2328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999740" y="6313445"/>
            <a:ext cx="134620" cy="26903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134360" y="6071375"/>
            <a:ext cx="134620" cy="24207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268980" y="6015493"/>
            <a:ext cx="134620" cy="558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403600" y="5873930"/>
            <a:ext cx="134620" cy="14156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538220" y="5563675"/>
            <a:ext cx="134620" cy="3102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672840" y="5412595"/>
            <a:ext cx="134620" cy="15108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807460" y="5070980"/>
            <a:ext cx="134620" cy="3416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942080" y="4873769"/>
            <a:ext cx="134620" cy="1972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076700" y="4724644"/>
            <a:ext cx="134620" cy="14912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211320" y="4605753"/>
            <a:ext cx="134620" cy="1188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4345940" y="4470950"/>
            <a:ext cx="134620" cy="1348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4480560" y="4435283"/>
            <a:ext cx="134620" cy="356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4615180" y="4070060"/>
            <a:ext cx="134620" cy="3652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4749800" y="3911152"/>
            <a:ext cx="134620" cy="1589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4884420" y="3695781"/>
            <a:ext cx="134620" cy="21537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5019040" y="3695781"/>
            <a:ext cx="134620" cy="2130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5153660" y="3908803"/>
            <a:ext cx="134620" cy="4030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5288280" y="3866451"/>
            <a:ext cx="134620" cy="8265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5422900" y="3866451"/>
            <a:ext cx="134620" cy="2365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5557520" y="3890103"/>
            <a:ext cx="134620" cy="366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5692140" y="3845097"/>
            <a:ext cx="134620" cy="8162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5826760" y="3845097"/>
            <a:ext cx="134620" cy="14387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5961380" y="3911113"/>
            <a:ext cx="134620" cy="7785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096000" y="3889359"/>
            <a:ext cx="134620" cy="217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6230620" y="3889359"/>
            <a:ext cx="134620" cy="6014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6365240" y="3949499"/>
            <a:ext cx="134620" cy="1289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6499860" y="3934671"/>
            <a:ext cx="134620" cy="1437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634480" y="3817897"/>
            <a:ext cx="134620" cy="1167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6769100" y="3817897"/>
            <a:ext cx="134620" cy="4938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6903720" y="3867282"/>
            <a:ext cx="134620" cy="6346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31" name="Rectangle 130"/>
          <p:cNvSpPr/>
          <p:nvPr/>
        </p:nvSpPr>
        <p:spPr>
          <a:xfrm>
            <a:off x="7009765" y="3902172"/>
            <a:ext cx="19177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2" name="Connector 131"/>
          <p:cNvCxnSpPr/>
          <p:nvPr/>
        </p:nvCxnSpPr>
        <p:spPr>
          <a:xfrm flipV="1">
            <a:off x="7172960" y="3912084"/>
            <a:ext cx="134620" cy="1706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307580" y="3838973"/>
            <a:ext cx="134620" cy="731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442200" y="3757202"/>
            <a:ext cx="134620" cy="8177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7576820" y="3757202"/>
            <a:ext cx="134620" cy="3476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7711440" y="3791963"/>
            <a:ext cx="134620" cy="7520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7846060" y="3867167"/>
            <a:ext cx="134620" cy="7669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7980680" y="3943860"/>
            <a:ext cx="134620" cy="147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8115300" y="3860519"/>
            <a:ext cx="134620" cy="9808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8249920" y="3855732"/>
            <a:ext cx="134620" cy="478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384540" y="3855732"/>
            <a:ext cx="134620" cy="965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8519160" y="3847567"/>
            <a:ext cx="134620" cy="178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8653780" y="3801785"/>
            <a:ext cx="134620" cy="457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8788400" y="3732569"/>
            <a:ext cx="134620" cy="692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8923020" y="3649182"/>
            <a:ext cx="134620" cy="8338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9057640" y="3649182"/>
            <a:ext cx="134620" cy="16155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9192260" y="3810740"/>
            <a:ext cx="134620" cy="914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9326880" y="3902236"/>
            <a:ext cx="134620" cy="132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9461500" y="3884255"/>
            <a:ext cx="134620" cy="312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9596120" y="3884255"/>
            <a:ext cx="134620" cy="30063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9730740" y="4184886"/>
            <a:ext cx="134620" cy="21529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9865360" y="4400185"/>
            <a:ext cx="134620" cy="32165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9999980" y="4721843"/>
            <a:ext cx="134620" cy="2309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0134600" y="4952789"/>
            <a:ext cx="134620" cy="24567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0269220" y="5198460"/>
            <a:ext cx="134620" cy="44868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0403840" y="5647141"/>
            <a:ext cx="134620" cy="43469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10538460" y="6081831"/>
            <a:ext cx="134620" cy="37623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10673080" y="6458070"/>
            <a:ext cx="134620" cy="31455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10807700" y="6772629"/>
            <a:ext cx="134620" cy="38303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0942320" y="7155659"/>
            <a:ext cx="134620" cy="989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1076940" y="7254570"/>
            <a:ext cx="134620" cy="20801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11211560" y="7462589"/>
            <a:ext cx="134620" cy="26624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11346180" y="7728830"/>
            <a:ext cx="134620" cy="5618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11480800" y="7785016"/>
            <a:ext cx="134620" cy="766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65" name="Rectangle 164"/>
          <p:cNvSpPr/>
          <p:nvPr/>
        </p:nvSpPr>
        <p:spPr>
          <a:xfrm>
            <a:off x="11586845" y="7764110"/>
            <a:ext cx="19177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6" name="Connector 165"/>
          <p:cNvCxnSpPr/>
          <p:nvPr/>
        </p:nvCxnSpPr>
        <p:spPr>
          <a:xfrm flipV="1">
            <a:off x="11750040" y="7763784"/>
            <a:ext cx="134620" cy="2890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11884660" y="7754022"/>
            <a:ext cx="134620" cy="976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12019280" y="7754022"/>
            <a:ext cx="134620" cy="2009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69" name="Rectangle 168"/>
          <p:cNvSpPr/>
          <p:nvPr/>
        </p:nvSpPr>
        <p:spPr>
          <a:xfrm>
            <a:off x="2057400" y="8486775"/>
            <a:ext cx="381000" cy="762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Box 169"/>
          <p:cNvSpPr txBox="1"/>
          <p:nvPr/>
        </p:nvSpPr>
        <p:spPr>
          <a:xfrm>
            <a:off x="2571750" y="8343900"/>
            <a:ext cx="34290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Robot/LinearSpeed</a:t>
            </a:r>
          </a:p>
        </p:txBody>
      </p:sp>
      <p:sp>
        <p:nvSpPr>
          <p:cNvPr id="171" name="Rectangle 170"/>
          <p:cNvSpPr/>
          <p:nvPr/>
        </p:nvSpPr>
        <p:spPr>
          <a:xfrm>
            <a:off x="6057900" y="8486775"/>
            <a:ext cx="381000" cy="76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extBox 171"/>
          <p:cNvSpPr txBox="1"/>
          <p:nvPr/>
        </p:nvSpPr>
        <p:spPr>
          <a:xfrm>
            <a:off x="6572250" y="8343900"/>
            <a:ext cx="34290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Robot/SmoothedSpeed</a:t>
            </a:r>
          </a:p>
        </p:txBody>
      </p:sp>
      <p:sp>
        <p:nvSpPr>
          <p:cNvPr id="173" name="Oval 172"/>
          <p:cNvSpPr/>
          <p:nvPr/>
        </p:nvSpPr>
        <p:spPr>
          <a:xfrm>
            <a:off x="6896100" y="2794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6896100" y="279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5" name="Oval 174"/>
          <p:cNvSpPr/>
          <p:nvPr/>
        </p:nvSpPr>
        <p:spPr>
          <a:xfrm>
            <a:off x="10588625" y="52197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0588625" y="5219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7" name="Oval 176"/>
          <p:cNvSpPr/>
          <p:nvPr/>
        </p:nvSpPr>
        <p:spPr>
          <a:xfrm>
            <a:off x="13049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3049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9" name="TextBox 178"/>
          <p:cNvSpPr txBox="1"/>
          <p:nvPr/>
        </p:nvSpPr>
        <p:spPr>
          <a:xfrm>
            <a:off x="13658850" y="2819400"/>
            <a:ext cx="3714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Calmer</a:t>
            </a:r>
          </a:p>
        </p:txBody>
      </p:sp>
      <p:sp>
        <p:nvSpPr>
          <p:cNvPr id="180" name="TextBox 179"/>
          <p:cNvSpPr txBox="1"/>
          <p:nvPr/>
        </p:nvSpPr>
        <p:spPr>
          <a:xfrm>
            <a:off x="13658850" y="3238500"/>
            <a:ext cx="3714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average of 5 hides the jitter</a:t>
            </a:r>
          </a:p>
        </p:txBody>
      </p:sp>
      <p:sp>
        <p:nvSpPr>
          <p:cNvPr id="181" name="Oval 180"/>
          <p:cNvSpPr/>
          <p:nvPr/>
        </p:nvSpPr>
        <p:spPr>
          <a:xfrm>
            <a:off x="13049250" y="4572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1304925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83" name="TextBox 182"/>
          <p:cNvSpPr txBox="1"/>
          <p:nvPr/>
        </p:nvSpPr>
        <p:spPr>
          <a:xfrm>
            <a:off x="13658850" y="4533900"/>
            <a:ext cx="3714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little late</a:t>
            </a:r>
          </a:p>
        </p:txBody>
      </p:sp>
      <p:sp>
        <p:nvSpPr>
          <p:cNvPr id="184" name="TextBox 183"/>
          <p:cNvSpPr txBox="1"/>
          <p:nvPr/>
        </p:nvSpPr>
        <p:spPr>
          <a:xfrm>
            <a:off x="13658850" y="4953000"/>
            <a:ext cx="3714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It lags the raw line by a couple of loops</a:t>
            </a:r>
          </a:p>
        </p:txBody>
      </p:sp>
      <p:sp>
        <p:nvSpPr>
          <p:cNvPr id="185" name="Oval 184"/>
          <p:cNvSpPr/>
          <p:nvPr/>
        </p:nvSpPr>
        <p:spPr>
          <a:xfrm>
            <a:off x="13049250" y="6286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3049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7" name="TextBox 186"/>
          <p:cNvSpPr txBox="1"/>
          <p:nvPr/>
        </p:nvSpPr>
        <p:spPr>
          <a:xfrm>
            <a:off x="13658850" y="6248400"/>
            <a:ext cx="3714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Check it</a:t>
            </a:r>
          </a:p>
        </p:txBody>
      </p:sp>
      <p:sp>
        <p:nvSpPr>
          <p:cNvPr id="188" name="TextBox 187"/>
          <p:cNvSpPr txBox="1"/>
          <p:nvPr/>
        </p:nvSpPr>
        <p:spPr>
          <a:xfrm>
            <a:off x="13658850" y="6667500"/>
            <a:ext cx="3714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Full speed reads about 5 m/s</a:t>
            </a:r>
          </a:p>
        </p:txBody>
      </p:sp>
      <p:sp>
        <p:nvSpPr>
          <p:cNvPr id="189" name="TextBox 18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0" name="TextBox 18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Methods in the drivetrain</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it all calls together</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Methods calling methods calling methods. It's methods all the way down!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METHODS IN THE DRIVETRAIN</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setLeft, setRight, arcadeDrive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95375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DifferentialDriveMech.java</a:t>
            </a:r>
          </a:p>
        </p:txBody>
      </p:sp>
      <p:sp>
        <p:nvSpPr>
          <p:cNvPr id="6" name="Rounded Rectangle 5"/>
          <p:cNvSpPr/>
          <p:nvPr/>
        </p:nvSpPr>
        <p:spPr>
          <a:xfrm>
            <a:off x="914400" y="3143250"/>
            <a:ext cx="10953750" cy="4705350"/>
          </a:xfrm>
          <a:prstGeom prst="roundRect">
            <a:avLst>
              <a:gd name="adj" fmla="val 323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52862"/>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52862"/>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167312"/>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167312"/>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481762"/>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481762"/>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6810375"/>
            <a:ext cx="1091565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6810375"/>
            <a:ext cx="57150" cy="32861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524250"/>
            <a:ext cx="104203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setLeftDutyCycle(</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left) {</a:t>
            </a:r>
          </a:p>
        </p:txBody>
      </p:sp>
      <p:sp>
        <p:nvSpPr>
          <p:cNvPr id="16" name="TextBox 15"/>
          <p:cNvSpPr txBox="1"/>
          <p:nvPr/>
        </p:nvSpPr>
        <p:spPr>
          <a:xfrm>
            <a:off x="1295400" y="3852862"/>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left_request_.Output = clamp(left);</a:t>
            </a:r>
          </a:p>
        </p:txBody>
      </p:sp>
      <p:sp>
        <p:nvSpPr>
          <p:cNvPr id="17" name="TextBox 16"/>
          <p:cNvSpPr txBox="1"/>
          <p:nvPr/>
        </p:nvSpPr>
        <p:spPr>
          <a:xfrm>
            <a:off x="1295400" y="4181475"/>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18" name="TextBox 17"/>
          <p:cNvSpPr txBox="1"/>
          <p:nvPr/>
        </p:nvSpPr>
        <p:spPr>
          <a:xfrm>
            <a:off x="1295400" y="4510088"/>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9" name="TextBox 18"/>
          <p:cNvSpPr txBox="1"/>
          <p:nvPr/>
        </p:nvSpPr>
        <p:spPr>
          <a:xfrm>
            <a:off x="1295400" y="4838700"/>
            <a:ext cx="104203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setRightDutyCycle(</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right) {</a:t>
            </a:r>
          </a:p>
        </p:txBody>
      </p:sp>
      <p:sp>
        <p:nvSpPr>
          <p:cNvPr id="20" name="TextBox 19"/>
          <p:cNvSpPr txBox="1"/>
          <p:nvPr/>
        </p:nvSpPr>
        <p:spPr>
          <a:xfrm>
            <a:off x="1295400" y="5167312"/>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right_request_.Output = clamp(right);</a:t>
            </a:r>
          </a:p>
        </p:txBody>
      </p:sp>
      <p:sp>
        <p:nvSpPr>
          <p:cNvPr id="21" name="TextBox 20"/>
          <p:cNvSpPr txBox="1"/>
          <p:nvPr/>
        </p:nvSpPr>
        <p:spPr>
          <a:xfrm>
            <a:off x="1295400" y="5495925"/>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2" name="TextBox 21"/>
          <p:cNvSpPr txBox="1"/>
          <p:nvPr/>
        </p:nvSpPr>
        <p:spPr>
          <a:xfrm>
            <a:off x="1295400" y="5824538"/>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3" name="TextBox 22"/>
          <p:cNvSpPr txBox="1"/>
          <p:nvPr/>
        </p:nvSpPr>
        <p:spPr>
          <a:xfrm>
            <a:off x="1295400" y="6153150"/>
            <a:ext cx="1042035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arcadeDrive(</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forward,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turn) {</a:t>
            </a:r>
          </a:p>
        </p:txBody>
      </p:sp>
      <p:sp>
        <p:nvSpPr>
          <p:cNvPr id="24" name="TextBox 23"/>
          <p:cNvSpPr txBox="1"/>
          <p:nvPr/>
        </p:nvSpPr>
        <p:spPr>
          <a:xfrm>
            <a:off x="1295400" y="6481762"/>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speeds = DriveMath.arcadeToWheelSpeeds(forward, turn);</a:t>
            </a:r>
          </a:p>
        </p:txBody>
      </p:sp>
      <p:sp>
        <p:nvSpPr>
          <p:cNvPr id="25" name="TextBox 24"/>
          <p:cNvSpPr txBox="1"/>
          <p:nvPr/>
        </p:nvSpPr>
        <p:spPr>
          <a:xfrm>
            <a:off x="1295400" y="6810375"/>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setDutyCycles(speeds[</a:t>
            </a:r>
            <a:r>
              <a:rPr sz="1725" b="0" i="0">
                <a:solidFill>
                  <a:srgbClr val="E8C27A"/>
                </a:solidFill>
                <a:latin typeface="Geist Mono"/>
                <a:ea typeface="Geist Mono"/>
                <a:cs typeface="Geist Mono"/>
              </a:rPr>
              <a:t>0</a:t>
            </a:r>
            <a:r>
              <a:rPr sz="1725" b="0" i="0">
                <a:solidFill>
                  <a:srgbClr val="F0E8E8"/>
                </a:solidFill>
                <a:latin typeface="Geist Mono"/>
                <a:ea typeface="Geist Mono"/>
                <a:cs typeface="Geist Mono"/>
              </a:rPr>
              <a:t>], speeds[</a:t>
            </a:r>
            <a:r>
              <a:rPr sz="1725" b="0" i="0">
                <a:solidFill>
                  <a:srgbClr val="E8C27A"/>
                </a:solidFill>
                <a:latin typeface="Geist Mono"/>
                <a:ea typeface="Geist Mono"/>
                <a:cs typeface="Geist Mono"/>
              </a:rPr>
              <a:t>1</a:t>
            </a:r>
            <a:r>
              <a:rPr sz="1725" b="0" i="0">
                <a:solidFill>
                  <a:srgbClr val="F0E8E8"/>
                </a:solidFill>
                <a:latin typeface="Geist Mono"/>
                <a:ea typeface="Geist Mono"/>
                <a:cs typeface="Geist Mono"/>
              </a:rPr>
              <a:t>]);</a:t>
            </a:r>
          </a:p>
        </p:txBody>
      </p:sp>
      <p:sp>
        <p:nvSpPr>
          <p:cNvPr id="26" name="TextBox 25"/>
          <p:cNvSpPr txBox="1"/>
          <p:nvPr/>
        </p:nvSpPr>
        <p:spPr>
          <a:xfrm>
            <a:off x="1295400" y="7138988"/>
            <a:ext cx="1042035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7" name="Oval 26"/>
          <p:cNvSpPr/>
          <p:nvPr/>
        </p:nvSpPr>
        <p:spPr>
          <a:xfrm>
            <a:off x="11258550" y="382666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58550" y="382666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Oval 28"/>
          <p:cNvSpPr/>
          <p:nvPr/>
        </p:nvSpPr>
        <p:spPr>
          <a:xfrm>
            <a:off x="11258550" y="514111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58550" y="51411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Oval 30"/>
          <p:cNvSpPr/>
          <p:nvPr/>
        </p:nvSpPr>
        <p:spPr>
          <a:xfrm>
            <a:off x="11258550" y="645556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58550" y="645556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Oval 32"/>
          <p:cNvSpPr/>
          <p:nvPr/>
        </p:nvSpPr>
        <p:spPr>
          <a:xfrm>
            <a:off x="1247775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4777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5" name="TextBox 34"/>
          <p:cNvSpPr txBox="1"/>
          <p:nvPr/>
        </p:nvSpPr>
        <p:spPr>
          <a:xfrm>
            <a:off x="13087350" y="31051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Left only</a:t>
            </a:r>
          </a:p>
        </p:txBody>
      </p:sp>
      <p:sp>
        <p:nvSpPr>
          <p:cNvPr id="36" name="TextBox 35"/>
          <p:cNvSpPr txBox="1"/>
          <p:nvPr/>
        </p:nvSpPr>
        <p:spPr>
          <a:xfrm>
            <a:off x="13087350" y="35242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Clamp it, store it in left_request_</a:t>
            </a:r>
          </a:p>
        </p:txBody>
      </p:sp>
      <p:sp>
        <p:nvSpPr>
          <p:cNvPr id="37" name="Oval 36"/>
          <p:cNvSpPr/>
          <p:nvPr/>
        </p:nvSpPr>
        <p:spPr>
          <a:xfrm>
            <a:off x="12477750" y="4857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477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TextBox 38"/>
          <p:cNvSpPr txBox="1"/>
          <p:nvPr/>
        </p:nvSpPr>
        <p:spPr>
          <a:xfrm>
            <a:off x="13087350" y="48196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only</a:t>
            </a:r>
          </a:p>
        </p:txBody>
      </p:sp>
      <p:sp>
        <p:nvSpPr>
          <p:cNvPr id="40" name="TextBox 39"/>
          <p:cNvSpPr txBox="1"/>
          <p:nvPr/>
        </p:nvSpPr>
        <p:spPr>
          <a:xfrm>
            <a:off x="13087350" y="52387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Same, for right_request_</a:t>
            </a:r>
          </a:p>
        </p:txBody>
      </p:sp>
      <p:sp>
        <p:nvSpPr>
          <p:cNvPr id="41" name="Oval 40"/>
          <p:cNvSpPr/>
          <p:nvPr/>
        </p:nvSpPr>
        <p:spPr>
          <a:xfrm>
            <a:off x="12477750" y="6572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47775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3" name="TextBox 42"/>
          <p:cNvSpPr txBox="1"/>
          <p:nvPr/>
        </p:nvSpPr>
        <p:spPr>
          <a:xfrm>
            <a:off x="13087350" y="6534150"/>
            <a:ext cx="4286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Arcade</a:t>
            </a:r>
          </a:p>
        </p:txBody>
      </p:sp>
      <p:sp>
        <p:nvSpPr>
          <p:cNvPr id="44" name="TextBox 43"/>
          <p:cNvSpPr txBox="1"/>
          <p:nvPr/>
        </p:nvSpPr>
        <p:spPr>
          <a:xfrm>
            <a:off x="13087350" y="6953250"/>
            <a:ext cx="4286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math, then both sides at once</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METHODS IN THE DRIVETRAIN</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Who calls whom</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4953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Robot.java</a:t>
            </a:r>
          </a:p>
        </p:txBody>
      </p:sp>
      <p:sp>
        <p:nvSpPr>
          <p:cNvPr id="6" name="TextBox 5"/>
          <p:cNvSpPr txBox="1"/>
          <p:nvPr/>
        </p:nvSpPr>
        <p:spPr>
          <a:xfrm>
            <a:off x="914400" y="3143250"/>
            <a:ext cx="4953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What you want</a:t>
            </a:r>
          </a:p>
        </p:txBody>
      </p:sp>
      <p:sp>
        <p:nvSpPr>
          <p:cNvPr id="7" name="Rounded Rectangle 6"/>
          <p:cNvSpPr/>
          <p:nvPr/>
        </p:nvSpPr>
        <p:spPr>
          <a:xfrm>
            <a:off x="914400" y="3619500"/>
            <a:ext cx="4953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67500" y="2762250"/>
            <a:ext cx="4953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DifferentialDriveMech</a:t>
            </a:r>
          </a:p>
        </p:txBody>
      </p:sp>
      <p:sp>
        <p:nvSpPr>
          <p:cNvPr id="9" name="TextBox 8"/>
          <p:cNvSpPr txBox="1"/>
          <p:nvPr/>
        </p:nvSpPr>
        <p:spPr>
          <a:xfrm>
            <a:off x="6667500" y="3143250"/>
            <a:ext cx="4953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drivetrain</a:t>
            </a:r>
          </a:p>
        </p:txBody>
      </p:sp>
      <p:sp>
        <p:nvSpPr>
          <p:cNvPr id="10" name="Rounded Rectangle 9"/>
          <p:cNvSpPr/>
          <p:nvPr/>
        </p:nvSpPr>
        <p:spPr>
          <a:xfrm>
            <a:off x="6667500" y="3619500"/>
            <a:ext cx="4953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420600" y="2762250"/>
            <a:ext cx="4953000" cy="38100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DriveMath</a:t>
            </a:r>
          </a:p>
        </p:txBody>
      </p:sp>
      <p:sp>
        <p:nvSpPr>
          <p:cNvPr id="12" name="TextBox 11"/>
          <p:cNvSpPr txBox="1"/>
          <p:nvPr/>
        </p:nvSpPr>
        <p:spPr>
          <a:xfrm>
            <a:off x="12420600" y="3143250"/>
            <a:ext cx="4953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Pure math</a:t>
            </a:r>
          </a:p>
        </p:txBody>
      </p:sp>
      <p:sp>
        <p:nvSpPr>
          <p:cNvPr id="13" name="Rounded Rectangle 12"/>
          <p:cNvSpPr/>
          <p:nvPr/>
        </p:nvSpPr>
        <p:spPr>
          <a:xfrm>
            <a:off x="12420600" y="3619500"/>
            <a:ext cx="4953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4019550"/>
            <a:ext cx="3810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DRIVING</a:t>
            </a:r>
          </a:p>
        </p:txBody>
      </p:sp>
      <p:sp>
        <p:nvSpPr>
          <p:cNvPr id="15" name="Rounded Rectangle 14"/>
          <p:cNvSpPr/>
          <p:nvPr/>
        </p:nvSpPr>
        <p:spPr>
          <a:xfrm>
            <a:off x="1295400" y="4438650"/>
            <a:ext cx="4191000" cy="1047750"/>
          </a:xfrm>
          <a:prstGeom prst="roundRect">
            <a:avLst>
              <a:gd name="adj" fmla="val 1272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95400" y="4438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teleopPeriodic()</a:t>
            </a:r>
          </a:p>
        </p:txBody>
      </p:sp>
      <p:sp>
        <p:nvSpPr>
          <p:cNvPr id="17" name="Rectangle 16"/>
          <p:cNvSpPr/>
          <p:nvPr/>
        </p:nvSpPr>
        <p:spPr>
          <a:xfrm>
            <a:off x="5505450" y="4943475"/>
            <a:ext cx="138684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6858000" y="4886325"/>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048500" y="4438650"/>
            <a:ext cx="4191000" cy="1047750"/>
          </a:xfrm>
          <a:prstGeom prst="roundRect">
            <a:avLst>
              <a:gd name="adj" fmla="val 1272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48500" y="4438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arcadeDrive(f, t)</a:t>
            </a:r>
          </a:p>
        </p:txBody>
      </p:sp>
      <p:sp>
        <p:nvSpPr>
          <p:cNvPr id="21" name="Rectangle 20"/>
          <p:cNvSpPr/>
          <p:nvPr/>
        </p:nvSpPr>
        <p:spPr>
          <a:xfrm>
            <a:off x="11258550" y="4943475"/>
            <a:ext cx="138684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12611100" y="4886325"/>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801600" y="4438650"/>
            <a:ext cx="4191000" cy="1047750"/>
          </a:xfrm>
          <a:prstGeom prst="roundRect">
            <a:avLst>
              <a:gd name="adj" fmla="val 12727"/>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801600" y="4438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arcadeToWheelSpeeds</a:t>
            </a:r>
          </a:p>
        </p:txBody>
      </p:sp>
      <p:sp>
        <p:nvSpPr>
          <p:cNvPr id="25" name="TextBox 24"/>
          <p:cNvSpPr txBox="1"/>
          <p:nvPr/>
        </p:nvSpPr>
        <p:spPr>
          <a:xfrm>
            <a:off x="7048500" y="5562600"/>
            <a:ext cx="4191000" cy="3238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then setDutyCycles</a:t>
            </a:r>
          </a:p>
        </p:txBody>
      </p:sp>
      <p:sp>
        <p:nvSpPr>
          <p:cNvPr id="26" name="TextBox 25"/>
          <p:cNvSpPr txBox="1"/>
          <p:nvPr/>
        </p:nvSpPr>
        <p:spPr>
          <a:xfrm>
            <a:off x="1295400" y="6305550"/>
            <a:ext cx="3810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READING</a:t>
            </a:r>
          </a:p>
        </p:txBody>
      </p:sp>
      <p:sp>
        <p:nvSpPr>
          <p:cNvPr id="27" name="Rounded Rectangle 26"/>
          <p:cNvSpPr/>
          <p:nvPr/>
        </p:nvSpPr>
        <p:spPr>
          <a:xfrm>
            <a:off x="1295400" y="6724650"/>
            <a:ext cx="4191000" cy="1047750"/>
          </a:xfrm>
          <a:prstGeom prst="roundRect">
            <a:avLst>
              <a:gd name="adj" fmla="val 1272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95400" y="6724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robotPeriodic()</a:t>
            </a:r>
          </a:p>
        </p:txBody>
      </p:sp>
      <p:sp>
        <p:nvSpPr>
          <p:cNvPr id="29" name="Rectangle 28"/>
          <p:cNvSpPr/>
          <p:nvPr/>
        </p:nvSpPr>
        <p:spPr>
          <a:xfrm>
            <a:off x="5505450" y="7229475"/>
            <a:ext cx="138684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5400000">
            <a:off x="6858000" y="7172325"/>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048500" y="6724650"/>
            <a:ext cx="4191000" cy="1047750"/>
          </a:xfrm>
          <a:prstGeom prst="roundRect">
            <a:avLst>
              <a:gd name="adj" fmla="val 12727"/>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48500" y="6724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getLinearSpeed()</a:t>
            </a:r>
          </a:p>
        </p:txBody>
      </p:sp>
      <p:sp>
        <p:nvSpPr>
          <p:cNvPr id="33" name="Rectangle 32"/>
          <p:cNvSpPr/>
          <p:nvPr/>
        </p:nvSpPr>
        <p:spPr>
          <a:xfrm>
            <a:off x="11258550" y="7229475"/>
            <a:ext cx="138684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12611100" y="7172325"/>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2801600" y="6724650"/>
            <a:ext cx="4191000" cy="1047750"/>
          </a:xfrm>
          <a:prstGeom prst="roundRect">
            <a:avLst>
              <a:gd name="adj" fmla="val 12727"/>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801600" y="6724650"/>
            <a:ext cx="4191000" cy="1047750"/>
          </a:xfrm>
          <a:prstGeom prst="rect">
            <a:avLst/>
          </a:prstGeom>
          <a:noFill/>
        </p:spPr>
        <p:txBody>
          <a:bodyPr wrap="square" lIns="0" rIns="0" tIns="0" bIns="0" anchor="ctr">
            <a:spAutoFit/>
          </a:bodyPr>
          <a:lstStyle/>
          <a:p>
            <a:pPr algn="ctr"/>
            <a:r>
              <a:rPr sz="2100" b="1" i="0">
                <a:solidFill>
                  <a:srgbClr val="F0E8E8"/>
                </a:solidFill>
                <a:latin typeface="Geist Mono"/>
                <a:ea typeface="Geist Mono"/>
                <a:cs typeface="Geist Mono"/>
              </a:rPr>
              <a:t>linearSpeed</a:t>
            </a:r>
          </a:p>
        </p:txBody>
      </p:sp>
      <p:sp>
        <p:nvSpPr>
          <p:cNvPr id="37" name="TextBox 36"/>
          <p:cNvSpPr txBox="1"/>
          <p:nvPr/>
        </p:nvSpPr>
        <p:spPr>
          <a:xfrm>
            <a:off x="7048500" y="7848600"/>
            <a:ext cx="4191000" cy="3238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after radiansToMeters</a:t>
            </a:r>
          </a:p>
        </p:txBody>
      </p:sp>
      <p:sp>
        <p:nvSpPr>
          <p:cNvPr id="38" name="TextBox 37"/>
          <p:cNvSpPr txBox="1"/>
          <p:nvPr/>
        </p:nvSpPr>
        <p:spPr>
          <a:xfrm>
            <a:off x="914400" y="885825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Each arrow is a method call. Each file has one kind of job.</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METHODS IN THE DRIVETRAIN</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loop: read, think, write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8514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714750"/>
            <a:ext cx="46609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readInputs()</a:t>
            </a:r>
          </a:p>
        </p:txBody>
      </p:sp>
      <p:sp>
        <p:nvSpPr>
          <p:cNvPr id="7" name="TextBox 6"/>
          <p:cNvSpPr txBox="1"/>
          <p:nvPr/>
        </p:nvSpPr>
        <p:spPr>
          <a:xfrm>
            <a:off x="1066800" y="4305300"/>
            <a:ext cx="4546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Sensors: where are you, how fast?</a:t>
            </a:r>
          </a:p>
        </p:txBody>
      </p:sp>
      <p:sp>
        <p:nvSpPr>
          <p:cNvPr id="8" name="Rectangle 7"/>
          <p:cNvSpPr/>
          <p:nvPr/>
        </p:nvSpPr>
        <p:spPr>
          <a:xfrm>
            <a:off x="5827712" y="4176712"/>
            <a:ext cx="691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64897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18300" y="3143250"/>
            <a:ext cx="4851400" cy="2095500"/>
          </a:xfrm>
          <a:prstGeom prst="roundRect">
            <a:avLst>
              <a:gd name="adj" fmla="val 727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13550" y="3714750"/>
            <a:ext cx="4660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Your code</a:t>
            </a:r>
          </a:p>
        </p:txBody>
      </p:sp>
      <p:sp>
        <p:nvSpPr>
          <p:cNvPr id="12" name="TextBox 11"/>
          <p:cNvSpPr txBox="1"/>
          <p:nvPr/>
        </p:nvSpPr>
        <p:spPr>
          <a:xfrm>
            <a:off x="6870700" y="4305300"/>
            <a:ext cx="4546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Periodic methods say what you want</a:t>
            </a:r>
          </a:p>
        </p:txBody>
      </p:sp>
      <p:sp>
        <p:nvSpPr>
          <p:cNvPr id="13" name="Rectangle 12"/>
          <p:cNvSpPr/>
          <p:nvPr/>
        </p:nvSpPr>
        <p:spPr>
          <a:xfrm>
            <a:off x="11631612" y="4176712"/>
            <a:ext cx="6915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22936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522200" y="3143250"/>
            <a:ext cx="48514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617450" y="3714750"/>
            <a:ext cx="46609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writeOutputs()</a:t>
            </a:r>
          </a:p>
        </p:txBody>
      </p:sp>
      <p:sp>
        <p:nvSpPr>
          <p:cNvPr id="17" name="TextBox 16"/>
          <p:cNvSpPr txBox="1"/>
          <p:nvPr/>
        </p:nvSpPr>
        <p:spPr>
          <a:xfrm>
            <a:off x="12674600" y="4305300"/>
            <a:ext cx="4546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Requests go to the motors</a:t>
            </a:r>
          </a:p>
        </p:txBody>
      </p:sp>
      <p:sp>
        <p:nvSpPr>
          <p:cNvPr id="18" name="Rectangle 17"/>
          <p:cNvSpPr/>
          <p:nvPr/>
        </p:nvSpPr>
        <p:spPr>
          <a:xfrm>
            <a:off x="14933612" y="5300662"/>
            <a:ext cx="28575" cy="8096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325812" y="6081712"/>
            <a:ext cx="116363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325812" y="5514022"/>
            <a:ext cx="28575" cy="5962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3263900" y="53911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810500" y="5886450"/>
            <a:ext cx="2667000" cy="4191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10500" y="5886450"/>
            <a:ext cx="2667000" cy="419100"/>
          </a:xfrm>
          <a:prstGeom prst="rect">
            <a:avLst/>
          </a:prstGeom>
          <a:noFill/>
        </p:spPr>
        <p:txBody>
          <a:bodyPr wrap="square" lIns="0" rIns="0" tIns="0" bIns="0" anchor="ctr">
            <a:spAutoFit/>
          </a:bodyPr>
          <a:lstStyle/>
          <a:p>
            <a:pPr algn="ctr"/>
            <a:r>
              <a:rPr sz="1950" b="1" i="0">
                <a:solidFill>
                  <a:srgbClr val="D5000E"/>
                </a:solidFill>
                <a:latin typeface="Geist"/>
                <a:ea typeface="Geist"/>
                <a:cs typeface="Geist"/>
              </a:rPr>
              <a:t>every 20 ms</a:t>
            </a:r>
          </a:p>
        </p:txBody>
      </p:sp>
      <p:sp>
        <p:nvSpPr>
          <p:cNvPr id="24" name="Rounded Rectangle 23"/>
          <p:cNvSpPr/>
          <p:nvPr/>
        </p:nvSpPr>
        <p:spPr>
          <a:xfrm>
            <a:off x="914400" y="6667500"/>
            <a:ext cx="5283200" cy="2000250"/>
          </a:xfrm>
          <a:prstGeom prst="roundRect">
            <a:avLst>
              <a:gd name="adj" fmla="val 761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5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Inputs</a:t>
            </a:r>
          </a:p>
        </p:txBody>
      </p:sp>
      <p:sp>
        <p:nvSpPr>
          <p:cNvPr id="26" name="TextBox 25"/>
          <p:cNvSpPr txBox="1"/>
          <p:nvPr/>
        </p:nvSpPr>
        <p:spPr>
          <a:xfrm>
            <a:off x="1295400" y="7610475"/>
            <a:ext cx="452120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Only sensors. readInputs is the only place that reads them.</a:t>
            </a:r>
          </a:p>
        </p:txBody>
      </p:sp>
      <p:sp>
        <p:nvSpPr>
          <p:cNvPr id="27" name="Rounded Rectangle 26"/>
          <p:cNvSpPr/>
          <p:nvPr/>
        </p:nvSpPr>
        <p:spPr>
          <a:xfrm>
            <a:off x="6502400" y="6667500"/>
            <a:ext cx="5283200" cy="2000250"/>
          </a:xfrm>
          <a:prstGeom prst="roundRect">
            <a:avLst>
              <a:gd name="adj" fmla="val 761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83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Logic</a:t>
            </a:r>
          </a:p>
        </p:txBody>
      </p:sp>
      <p:sp>
        <p:nvSpPr>
          <p:cNvPr id="29" name="TextBox 28"/>
          <p:cNvSpPr txBox="1"/>
          <p:nvPr/>
        </p:nvSpPr>
        <p:spPr>
          <a:xfrm>
            <a:off x="6883400" y="7610475"/>
            <a:ext cx="452120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Your methods: math and choices, using the saved readings.</a:t>
            </a:r>
          </a:p>
        </p:txBody>
      </p:sp>
      <p:sp>
        <p:nvSpPr>
          <p:cNvPr id="30" name="Rounded Rectangle 29"/>
          <p:cNvSpPr/>
          <p:nvPr/>
        </p:nvSpPr>
        <p:spPr>
          <a:xfrm>
            <a:off x="12090400" y="6667500"/>
            <a:ext cx="5283200" cy="2000250"/>
          </a:xfrm>
          <a:prstGeom prst="roundRect">
            <a:avLst>
              <a:gd name="adj" fmla="val 761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471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Outputs</a:t>
            </a:r>
          </a:p>
        </p:txBody>
      </p:sp>
      <p:sp>
        <p:nvSpPr>
          <p:cNvPr id="32" name="TextBox 31"/>
          <p:cNvSpPr txBox="1"/>
          <p:nvPr/>
        </p:nvSpPr>
        <p:spPr>
          <a:xfrm>
            <a:off x="12471400" y="7610475"/>
            <a:ext cx="452120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Only motor requests. writeOutputs is the only place that sets motors.</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METHODS IN THE DRIVETRAIN</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Auto, built from your methods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95250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238750"/>
            <a:ext cx="94869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2387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581650"/>
            <a:ext cx="94869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816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autonomousInit() {</a:t>
            </a:r>
          </a:p>
        </p:txBody>
      </p:sp>
      <p:sp>
        <p:nvSpPr>
          <p:cNvPr id="12" name="TextBox 11"/>
          <p:cNvSpPr txBox="1"/>
          <p:nvPr/>
        </p:nvSpPr>
        <p:spPr>
          <a:xfrm>
            <a:off x="1295400" y="386715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drive_.resetEncoders();</a:t>
            </a:r>
          </a:p>
        </p:txBody>
      </p:sp>
      <p:sp>
        <p:nvSpPr>
          <p:cNvPr id="13" name="TextBox 12"/>
          <p:cNvSpPr txBox="1"/>
          <p:nvPr/>
        </p:nvSpPr>
        <p:spPr>
          <a:xfrm>
            <a:off x="1295400" y="421005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4" name="TextBox 13"/>
          <p:cNvSpPr txBox="1"/>
          <p:nvPr/>
        </p:nvSpPr>
        <p:spPr>
          <a:xfrm>
            <a:off x="1295400" y="455295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5" name="TextBox 14"/>
          <p:cNvSpPr txBox="1"/>
          <p:nvPr/>
        </p:nvSpPr>
        <p:spPr>
          <a:xfrm>
            <a:off x="1295400" y="489585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autonomousPeriodic() {</a:t>
            </a:r>
          </a:p>
        </p:txBody>
      </p:sp>
      <p:sp>
        <p:nvSpPr>
          <p:cNvPr id="16" name="TextBox 15"/>
          <p:cNvSpPr txBox="1"/>
          <p:nvPr/>
        </p:nvSpPr>
        <p:spPr>
          <a:xfrm>
            <a:off x="1295400" y="523875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(drive_.getDistanceMeters() &lt;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 {</a:t>
            </a:r>
          </a:p>
        </p:txBody>
      </p:sp>
      <p:sp>
        <p:nvSpPr>
          <p:cNvPr id="17" name="TextBox 16"/>
          <p:cNvSpPr txBox="1"/>
          <p:nvPr/>
        </p:nvSpPr>
        <p:spPr>
          <a:xfrm>
            <a:off x="1295400" y="558165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0.4</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8" name="TextBox 17"/>
          <p:cNvSpPr txBox="1"/>
          <p:nvPr/>
        </p:nvSpPr>
        <p:spPr>
          <a:xfrm>
            <a:off x="1295400" y="592455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 </a:t>
            </a:r>
            <a:r>
              <a:rPr sz="1800" b="0" i="0">
                <a:solidFill>
                  <a:srgbClr val="E0785F"/>
                </a:solidFill>
                <a:latin typeface="Geist Mono"/>
                <a:ea typeface="Geist Mono"/>
                <a:cs typeface="Geist Mono"/>
              </a:rPr>
              <a:t>else</a:t>
            </a:r>
            <a:r>
              <a:rPr sz="1800" b="0" i="0">
                <a:solidFill>
                  <a:srgbClr val="F0E8E8"/>
                </a:solidFill>
                <a:latin typeface="Geist Mono"/>
                <a:ea typeface="Geist Mono"/>
                <a:cs typeface="Geist Mono"/>
              </a:rPr>
              <a:t> {</a:t>
            </a:r>
          </a:p>
        </p:txBody>
      </p:sp>
      <p:sp>
        <p:nvSpPr>
          <p:cNvPr id="19" name="TextBox 18"/>
          <p:cNvSpPr txBox="1"/>
          <p:nvPr/>
        </p:nvSpPr>
        <p:spPr>
          <a:xfrm>
            <a:off x="1295400" y="626745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0" name="TextBox 19"/>
          <p:cNvSpPr txBox="1"/>
          <p:nvPr/>
        </p:nvSpPr>
        <p:spPr>
          <a:xfrm>
            <a:off x="1295400" y="661035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1" name="TextBox 20"/>
          <p:cNvSpPr txBox="1"/>
          <p:nvPr/>
        </p:nvSpPr>
        <p:spPr>
          <a:xfrm>
            <a:off x="1295400" y="695325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2" name="Oval 21"/>
          <p:cNvSpPr/>
          <p:nvPr/>
        </p:nvSpPr>
        <p:spPr>
          <a:xfrm>
            <a:off x="9829800" y="38481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98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9829800" y="52197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29800" y="5219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9829800" y="55626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29800" y="55626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Oval 27"/>
          <p:cNvSpPr/>
          <p:nvPr/>
        </p:nvSpPr>
        <p:spPr>
          <a:xfrm>
            <a:off x="1104900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0490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TextBox 29"/>
          <p:cNvSpPr txBox="1"/>
          <p:nvPr/>
        </p:nvSpPr>
        <p:spPr>
          <a:xfrm>
            <a:off x="11658600" y="3105150"/>
            <a:ext cx="3200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 at 0</a:t>
            </a:r>
          </a:p>
        </p:txBody>
      </p:sp>
      <p:sp>
        <p:nvSpPr>
          <p:cNvPr id="31" name="TextBox 30"/>
          <p:cNvSpPr txBox="1"/>
          <p:nvPr/>
        </p:nvSpPr>
        <p:spPr>
          <a:xfrm>
            <a:off x="11658600" y="3524250"/>
            <a:ext cx="3200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Reset the encoders when auto begins</a:t>
            </a:r>
          </a:p>
        </p:txBody>
      </p:sp>
      <p:sp>
        <p:nvSpPr>
          <p:cNvPr id="32" name="Oval 31"/>
          <p:cNvSpPr/>
          <p:nvPr/>
        </p:nvSpPr>
        <p:spPr>
          <a:xfrm>
            <a:off x="1104900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04900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TextBox 33"/>
          <p:cNvSpPr txBox="1"/>
          <p:nvPr/>
        </p:nvSpPr>
        <p:spPr>
          <a:xfrm>
            <a:off x="11658600" y="4724400"/>
            <a:ext cx="3200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Uses your math</a:t>
            </a:r>
          </a:p>
        </p:txBody>
      </p:sp>
      <p:sp>
        <p:nvSpPr>
          <p:cNvPr id="35" name="TextBox 34"/>
          <p:cNvSpPr txBox="1"/>
          <p:nvPr/>
        </p:nvSpPr>
        <p:spPr>
          <a:xfrm>
            <a:off x="11658600" y="5143500"/>
            <a:ext cx="3200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Distance comes from radiansToMeters</a:t>
            </a:r>
          </a:p>
        </p:txBody>
      </p:sp>
      <p:sp>
        <p:nvSpPr>
          <p:cNvPr id="36" name="Oval 35"/>
          <p:cNvSpPr/>
          <p:nvPr/>
        </p:nvSpPr>
        <p:spPr>
          <a:xfrm>
            <a:off x="11049000" y="6381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04900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8" name="TextBox 37"/>
          <p:cNvSpPr txBox="1"/>
          <p:nvPr/>
        </p:nvSpPr>
        <p:spPr>
          <a:xfrm>
            <a:off x="11658600" y="6343650"/>
            <a:ext cx="32004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Uses your arcade</a:t>
            </a:r>
          </a:p>
        </p:txBody>
      </p:sp>
      <p:sp>
        <p:nvSpPr>
          <p:cNvPr id="39" name="TextBox 38"/>
          <p:cNvSpPr txBox="1"/>
          <p:nvPr/>
        </p:nvSpPr>
        <p:spPr>
          <a:xfrm>
            <a:off x="11658600" y="6762750"/>
            <a:ext cx="32004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Forward at 0.4, no turn</a:t>
            </a:r>
          </a:p>
        </p:txBody>
      </p:sp>
      <p:sp>
        <p:nvSpPr>
          <p:cNvPr id="40" name="Rounded Rectangle 39"/>
          <p:cNvSpPr/>
          <p:nvPr/>
        </p:nvSpPr>
        <p:spPr>
          <a:xfrm>
            <a:off x="11049000" y="7239000"/>
            <a:ext cx="62865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15987712" y="7319962"/>
            <a:ext cx="28575" cy="1171575"/>
          </a:xfrm>
          <a:prstGeom prst="rect">
            <a:avLst/>
          </a:prstGeom>
          <a:solidFill>
            <a:srgbClr val="D5000E"/>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6097250" y="7296150"/>
            <a:ext cx="1143000" cy="28575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2 m</a:t>
            </a:r>
          </a:p>
        </p:txBody>
      </p:sp>
      <p:pic>
        <p:nvPicPr>
          <p:cNvPr id="43" name="Picture 42" descr="dozer_top.png"/>
          <p:cNvPicPr>
            <a:picLocks noChangeAspect="1"/>
          </p:cNvPicPr>
          <p:nvPr/>
        </p:nvPicPr>
        <p:blipFill>
          <a:blip r:embed="rId3"/>
          <a:stretch>
            <a:fillRect/>
          </a:stretch>
        </p:blipFill>
        <p:spPr>
          <a:xfrm>
            <a:off x="11477625" y="7511757"/>
            <a:ext cx="857250" cy="787986"/>
          </a:xfrm>
          <a:prstGeom prst="rect">
            <a:avLst/>
          </a:prstGeom>
        </p:spPr>
      </p:pic>
      <p:sp>
        <p:nvSpPr>
          <p:cNvPr id="44" name="Rectangle 43"/>
          <p:cNvSpPr/>
          <p:nvPr/>
        </p:nvSpPr>
        <p:spPr>
          <a:xfrm>
            <a:off x="12458700" y="7886700"/>
            <a:ext cx="32346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Isosceles Triangle 44"/>
          <p:cNvSpPr/>
          <p:nvPr/>
        </p:nvSpPr>
        <p:spPr>
          <a:xfrm rot="5400000">
            <a:off x="15659100" y="7829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3335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TURN</a:t>
            </a:r>
          </a:p>
        </p:txBody>
      </p:sp>
      <p:sp>
        <p:nvSpPr>
          <p:cNvPr id="4" name="TextBox 3"/>
          <p:cNvSpPr txBox="1"/>
          <p:nvPr/>
        </p:nvSpPr>
        <p:spPr>
          <a:xfrm>
            <a:off x="1524000" y="17145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Drive Math and Methods</a:t>
            </a:r>
          </a:p>
        </p:txBody>
      </p:sp>
      <p:sp>
        <p:nvSpPr>
          <p:cNvPr id="5" name="TextBox 4"/>
          <p:cNvSpPr txBox="1"/>
          <p:nvPr/>
        </p:nvSpPr>
        <p:spPr>
          <a:xfrm>
            <a:off x="1524000" y="2571750"/>
            <a:ext cx="12382500" cy="571500"/>
          </a:xfrm>
          <a:prstGeom prst="rect">
            <a:avLst/>
          </a:prstGeom>
          <a:noFill/>
        </p:spPr>
        <p:txBody>
          <a:bodyPr wrap="square" lIns="0" rIns="0" tIns="0" bIns="0" anchor="t">
            <a:spAutoFit/>
          </a:bodyPr>
          <a:lstStyle/>
          <a:p>
            <a:pPr algn="l"/>
            <a:r>
              <a:rPr sz="2100" b="0" i="0">
                <a:solidFill>
                  <a:srgbClr val="F0E8E8"/>
                </a:solidFill>
                <a:latin typeface="Geist"/>
                <a:ea typeface="Geist"/>
                <a:cs typeface="Geist"/>
              </a:rPr>
              <a:t>Write five DriveMath methods and three drivetrain methods, then drive and verify.</a:t>
            </a:r>
          </a:p>
        </p:txBody>
      </p:sp>
      <p:sp>
        <p:nvSpPr>
          <p:cNvPr id="6" name="TextBox 5"/>
          <p:cNvSpPr txBox="1"/>
          <p:nvPr/>
        </p:nvSpPr>
        <p:spPr>
          <a:xfrm>
            <a:off x="1524000" y="3333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8 CHECKPOINTS</a:t>
            </a:r>
          </a:p>
        </p:txBody>
      </p:sp>
      <p:pic>
        <p:nvPicPr>
          <p:cNvPr id="7" name="Picture 6" descr="check-circle-fill.png"/>
          <p:cNvPicPr>
            <a:picLocks noChangeAspect="1"/>
          </p:cNvPicPr>
          <p:nvPr/>
        </p:nvPicPr>
        <p:blipFill>
          <a:blip r:embed="rId3"/>
          <a:stretch>
            <a:fillRect/>
          </a:stretch>
        </p:blipFill>
        <p:spPr>
          <a:xfrm>
            <a:off x="1524000" y="3790950"/>
            <a:ext cx="285750" cy="285750"/>
          </a:xfrm>
          <a:prstGeom prst="rect">
            <a:avLst/>
          </a:prstGeom>
        </p:spPr>
      </p:pic>
      <p:sp>
        <p:nvSpPr>
          <p:cNvPr id="8" name="TextBox 7"/>
          <p:cNvSpPr txBox="1"/>
          <p:nvPr/>
        </p:nvSpPr>
        <p:spPr>
          <a:xfrm>
            <a:off x="2000250" y="373380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radiansToMeters</a:t>
            </a:r>
          </a:p>
        </p:txBody>
      </p:sp>
      <p:sp>
        <p:nvSpPr>
          <p:cNvPr id="9" name="TextBox 8"/>
          <p:cNvSpPr txBox="1"/>
          <p:nvPr/>
        </p:nvSpPr>
        <p:spPr>
          <a:xfrm>
            <a:off x="6191250" y="375285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Wheel radians to meters</a:t>
            </a:r>
          </a:p>
        </p:txBody>
      </p:sp>
      <p:pic>
        <p:nvPicPr>
          <p:cNvPr id="10" name="Picture 9" descr="check-circle-fill.png"/>
          <p:cNvPicPr>
            <a:picLocks noChangeAspect="1"/>
          </p:cNvPicPr>
          <p:nvPr/>
        </p:nvPicPr>
        <p:blipFill>
          <a:blip r:embed="rId3"/>
          <a:stretch>
            <a:fillRect/>
          </a:stretch>
        </p:blipFill>
        <p:spPr>
          <a:xfrm>
            <a:off x="1524000" y="4305300"/>
            <a:ext cx="285750" cy="285750"/>
          </a:xfrm>
          <a:prstGeom prst="rect">
            <a:avLst/>
          </a:prstGeom>
        </p:spPr>
      </p:pic>
      <p:sp>
        <p:nvSpPr>
          <p:cNvPr id="11" name="TextBox 10"/>
          <p:cNvSpPr txBox="1"/>
          <p:nvPr/>
        </p:nvSpPr>
        <p:spPr>
          <a:xfrm>
            <a:off x="2000250" y="424815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linearSpeed</a:t>
            </a:r>
          </a:p>
        </p:txBody>
      </p:sp>
      <p:sp>
        <p:nvSpPr>
          <p:cNvPr id="12" name="TextBox 11"/>
          <p:cNvSpPr txBox="1"/>
          <p:nvPr/>
        </p:nvSpPr>
        <p:spPr>
          <a:xfrm>
            <a:off x="6191250" y="426720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 write it: the forward speed</a:t>
            </a:r>
          </a:p>
        </p:txBody>
      </p:sp>
      <p:pic>
        <p:nvPicPr>
          <p:cNvPr id="13" name="Picture 12" descr="check-circle-fill.png"/>
          <p:cNvPicPr>
            <a:picLocks noChangeAspect="1"/>
          </p:cNvPicPr>
          <p:nvPr/>
        </p:nvPicPr>
        <p:blipFill>
          <a:blip r:embed="rId3"/>
          <a:stretch>
            <a:fillRect/>
          </a:stretch>
        </p:blipFill>
        <p:spPr>
          <a:xfrm>
            <a:off x="1524000" y="4819650"/>
            <a:ext cx="285750" cy="285750"/>
          </a:xfrm>
          <a:prstGeom prst="rect">
            <a:avLst/>
          </a:prstGeom>
        </p:spPr>
      </p:pic>
      <p:sp>
        <p:nvSpPr>
          <p:cNvPr id="14" name="TextBox 13"/>
          <p:cNvSpPr txBox="1"/>
          <p:nvPr/>
        </p:nvSpPr>
        <p:spPr>
          <a:xfrm>
            <a:off x="2000250" y="476250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angularSpeed</a:t>
            </a:r>
          </a:p>
        </p:txBody>
      </p:sp>
      <p:sp>
        <p:nvSpPr>
          <p:cNvPr id="15" name="TextBox 14"/>
          <p:cNvSpPr txBox="1"/>
          <p:nvPr/>
        </p:nvSpPr>
        <p:spPr>
          <a:xfrm>
            <a:off x="6191250" y="478155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 write it: the turning speed</a:t>
            </a:r>
          </a:p>
        </p:txBody>
      </p:sp>
      <p:pic>
        <p:nvPicPr>
          <p:cNvPr id="16" name="Picture 15" descr="check-circle-fill.png"/>
          <p:cNvPicPr>
            <a:picLocks noChangeAspect="1"/>
          </p:cNvPicPr>
          <p:nvPr/>
        </p:nvPicPr>
        <p:blipFill>
          <a:blip r:embed="rId3"/>
          <a:stretch>
            <a:fillRect/>
          </a:stretch>
        </p:blipFill>
        <p:spPr>
          <a:xfrm>
            <a:off x="1524000" y="5334000"/>
            <a:ext cx="285750" cy="285750"/>
          </a:xfrm>
          <a:prstGeom prst="rect">
            <a:avLst/>
          </a:prstGeom>
        </p:spPr>
      </p:pic>
      <p:sp>
        <p:nvSpPr>
          <p:cNvPr id="17" name="TextBox 16"/>
          <p:cNvSpPr txBox="1"/>
          <p:nvPr/>
        </p:nvSpPr>
        <p:spPr>
          <a:xfrm>
            <a:off x="2000250" y="527685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arcadeToWheelSpeeds</a:t>
            </a:r>
          </a:p>
        </p:txBody>
      </p:sp>
      <p:sp>
        <p:nvSpPr>
          <p:cNvPr id="18" name="TextBox 17"/>
          <p:cNvSpPr txBox="1"/>
          <p:nvPr/>
        </p:nvSpPr>
        <p:spPr>
          <a:xfrm>
            <a:off x="6191250" y="529590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{left, right}, never past 1.0</a:t>
            </a:r>
          </a:p>
        </p:txBody>
      </p:sp>
      <p:pic>
        <p:nvPicPr>
          <p:cNvPr id="19" name="Picture 18" descr="check-circle-fill.png"/>
          <p:cNvPicPr>
            <a:picLocks noChangeAspect="1"/>
          </p:cNvPicPr>
          <p:nvPr/>
        </p:nvPicPr>
        <p:blipFill>
          <a:blip r:embed="rId3"/>
          <a:stretch>
            <a:fillRect/>
          </a:stretch>
        </p:blipFill>
        <p:spPr>
          <a:xfrm>
            <a:off x="1524000" y="5848350"/>
            <a:ext cx="285750" cy="285750"/>
          </a:xfrm>
          <a:prstGeom prst="rect">
            <a:avLst/>
          </a:prstGeom>
        </p:spPr>
      </p:pic>
      <p:sp>
        <p:nvSpPr>
          <p:cNvPr id="20" name="TextBox 19"/>
          <p:cNvSpPr txBox="1"/>
          <p:nvPr/>
        </p:nvSpPr>
        <p:spPr>
          <a:xfrm>
            <a:off x="2000250" y="5791200"/>
            <a:ext cx="4000500" cy="4191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average</a:t>
            </a:r>
          </a:p>
        </p:txBody>
      </p:sp>
      <p:sp>
        <p:nvSpPr>
          <p:cNvPr id="21" name="TextBox 20"/>
          <p:cNvSpPr txBox="1"/>
          <p:nvPr/>
        </p:nvSpPr>
        <p:spPr>
          <a:xfrm>
            <a:off x="6191250" y="581025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Add up an array with a for loop</a:t>
            </a:r>
          </a:p>
        </p:txBody>
      </p:sp>
      <p:pic>
        <p:nvPicPr>
          <p:cNvPr id="22" name="Picture 21" descr="check-circle-fill.png"/>
          <p:cNvPicPr>
            <a:picLocks noChangeAspect="1"/>
          </p:cNvPicPr>
          <p:nvPr/>
        </p:nvPicPr>
        <p:blipFill>
          <a:blip r:embed="rId3"/>
          <a:stretch>
            <a:fillRect/>
          </a:stretch>
        </p:blipFill>
        <p:spPr>
          <a:xfrm>
            <a:off x="1524000" y="6362700"/>
            <a:ext cx="285750" cy="285750"/>
          </a:xfrm>
          <a:prstGeom prst="rect">
            <a:avLst/>
          </a:prstGeom>
        </p:spPr>
      </p:pic>
      <p:sp>
        <p:nvSpPr>
          <p:cNvPr id="23" name="TextBox 22"/>
          <p:cNvSpPr txBox="1"/>
          <p:nvPr/>
        </p:nvSpPr>
        <p:spPr>
          <a:xfrm>
            <a:off x="2000250" y="6305550"/>
            <a:ext cx="4000500" cy="4191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Arcade forward</a:t>
            </a:r>
          </a:p>
        </p:txBody>
      </p:sp>
      <p:sp>
        <p:nvSpPr>
          <p:cNvPr id="24" name="TextBox 23"/>
          <p:cNvSpPr txBox="1"/>
          <p:nvPr/>
        </p:nvSpPr>
        <p:spPr>
          <a:xfrm>
            <a:off x="6191250" y="632460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Stick forward, robot drives forward</a:t>
            </a:r>
          </a:p>
        </p:txBody>
      </p:sp>
      <p:pic>
        <p:nvPicPr>
          <p:cNvPr id="25" name="Picture 24" descr="check-circle-fill.png"/>
          <p:cNvPicPr>
            <a:picLocks noChangeAspect="1"/>
          </p:cNvPicPr>
          <p:nvPr/>
        </p:nvPicPr>
        <p:blipFill>
          <a:blip r:embed="rId3"/>
          <a:stretch>
            <a:fillRect/>
          </a:stretch>
        </p:blipFill>
        <p:spPr>
          <a:xfrm>
            <a:off x="1524000" y="6877050"/>
            <a:ext cx="285750" cy="285750"/>
          </a:xfrm>
          <a:prstGeom prst="rect">
            <a:avLst/>
          </a:prstGeom>
        </p:spPr>
      </p:pic>
      <p:sp>
        <p:nvSpPr>
          <p:cNvPr id="26" name="TextBox 25"/>
          <p:cNvSpPr txBox="1"/>
          <p:nvPr/>
        </p:nvSpPr>
        <p:spPr>
          <a:xfrm>
            <a:off x="2000250" y="6819900"/>
            <a:ext cx="4000500" cy="4191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Arcade turn</a:t>
            </a:r>
          </a:p>
        </p:txBody>
      </p:sp>
      <p:sp>
        <p:nvSpPr>
          <p:cNvPr id="27" name="TextBox 26"/>
          <p:cNvSpPr txBox="1"/>
          <p:nvPr/>
        </p:nvSpPr>
        <p:spPr>
          <a:xfrm>
            <a:off x="6191250" y="683895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Stick right, right side reverses</a:t>
            </a:r>
          </a:p>
        </p:txBody>
      </p:sp>
      <p:pic>
        <p:nvPicPr>
          <p:cNvPr id="28" name="Picture 27" descr="check-circle-fill.png"/>
          <p:cNvPicPr>
            <a:picLocks noChangeAspect="1"/>
          </p:cNvPicPr>
          <p:nvPr/>
        </p:nvPicPr>
        <p:blipFill>
          <a:blip r:embed="rId3"/>
          <a:stretch>
            <a:fillRect/>
          </a:stretch>
        </p:blipFill>
        <p:spPr>
          <a:xfrm>
            <a:off x="1524000" y="7391400"/>
            <a:ext cx="285750" cy="285750"/>
          </a:xfrm>
          <a:prstGeom prst="rect">
            <a:avLst/>
          </a:prstGeom>
        </p:spPr>
      </p:pic>
      <p:sp>
        <p:nvSpPr>
          <p:cNvPr id="29" name="TextBox 28"/>
          <p:cNvSpPr txBox="1"/>
          <p:nvPr/>
        </p:nvSpPr>
        <p:spPr>
          <a:xfrm>
            <a:off x="2000250" y="7334250"/>
            <a:ext cx="4000500" cy="4191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Smoothed speed</a:t>
            </a:r>
          </a:p>
        </p:txBody>
      </p:sp>
      <p:sp>
        <p:nvSpPr>
          <p:cNvPr id="30" name="TextBox 29"/>
          <p:cNvSpPr txBox="1"/>
          <p:nvPr/>
        </p:nvSpPr>
        <p:spPr>
          <a:xfrm>
            <a:off x="6191250" y="7353300"/>
            <a:ext cx="6858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Full speed reads about 5 m/s</a:t>
            </a:r>
          </a:p>
        </p:txBody>
      </p:sp>
      <p:sp>
        <p:nvSpPr>
          <p:cNvPr id="31" name="TextBox 30"/>
          <p:cNvSpPr txBox="1"/>
          <p:nvPr/>
        </p:nvSpPr>
        <p:spPr>
          <a:xfrm>
            <a:off x="1524000" y="79629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metersToRadians, slow mode on a bumper, squared turn with Math.copySign</a:t>
            </a:r>
          </a:p>
        </p:txBody>
      </p:sp>
      <p:sp>
        <p:nvSpPr>
          <p:cNvPr id="32" name="TextBox 31"/>
          <p:cNvSpPr txBox="1"/>
          <p:nvPr/>
        </p:nvSpPr>
        <p:spPr>
          <a:xfrm>
            <a:off x="1524000" y="838200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Drive Math and Methods</a:t>
            </a:r>
          </a:p>
        </p:txBody>
      </p:sp>
      <p:pic>
        <p:nvPicPr>
          <p:cNvPr id="33" name="Picture 32" descr="dozer.png"/>
          <p:cNvPicPr>
            <a:picLocks noChangeAspect="1"/>
          </p:cNvPicPr>
          <p:nvPr/>
        </p:nvPicPr>
        <p:blipFill>
          <a:blip r:embed="rId4"/>
          <a:stretch>
            <a:fillRect/>
          </a:stretch>
        </p:blipFill>
        <p:spPr>
          <a:xfrm>
            <a:off x="14287500" y="5715000"/>
            <a:ext cx="2667000" cy="1639254"/>
          </a:xfrm>
          <a:prstGeom prst="rect">
            <a:avLst/>
          </a:prstGeom>
        </p:spPr>
      </p:pic>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why we split code into methods</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Name the parts of a method</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Define a method and call it</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Convert radians to meters and m/s</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Return two answers in an array</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Average an array with a for loop</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Methods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Arrays</a:t>
            </a:r>
          </a:p>
        </p:txBody>
      </p:sp>
      <p:pic>
        <p:nvPicPr>
          <p:cNvPr id="23" name="Picture 22" descr="code-slash.png"/>
          <p:cNvPicPr>
            <a:picLocks noChangeAspect="1"/>
          </p:cNvPicPr>
          <p:nvPr/>
        </p:nvPicPr>
        <p:blipFill>
          <a:blip r:embed="rId4"/>
          <a:stretch>
            <a:fillRect/>
          </a:stretch>
        </p:blipFill>
        <p:spPr>
          <a:xfrm>
            <a:off x="9334500" y="5486400"/>
            <a:ext cx="326571" cy="304800"/>
          </a:xfrm>
          <a:prstGeom prst="rect">
            <a:avLst/>
          </a:prstGeom>
        </p:spPr>
      </p:pic>
      <p:sp>
        <p:nvSpPr>
          <p:cNvPr id="24" name="TextBox 23"/>
          <p:cNvSpPr txBox="1"/>
          <p:nvPr/>
        </p:nvSpPr>
        <p:spPr>
          <a:xfrm>
            <a:off x="9867900" y="5429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Loops</a:t>
            </a:r>
          </a:p>
        </p:txBody>
      </p:sp>
      <p:sp>
        <p:nvSpPr>
          <p:cNvPr id="25" name="TextBox 24"/>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6" name="Rounded Rectangle 25"/>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NEXT UP</a:t>
            </a:r>
          </a:p>
        </p:txBody>
      </p:sp>
      <p:sp>
        <p:nvSpPr>
          <p:cNvPr id="28" name="TextBox 27"/>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Objects and Odometry</a:t>
            </a:r>
          </a:p>
        </p:txBody>
      </p:sp>
      <p:sp>
        <p:nvSpPr>
          <p:cNvPr id="29" name="TextBox 28"/>
          <p:cNvSpPr txBox="1"/>
          <p:nvPr/>
        </p:nvSpPr>
        <p:spPr>
          <a:xfrm>
            <a:off x="13716000" y="5048250"/>
            <a:ext cx="3333750" cy="1619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Write an abstract OI class, then track where the robot is with kinematics and a pose estimator.</a:t>
            </a:r>
          </a:p>
        </p:txBody>
      </p:sp>
      <p:pic>
        <p:nvPicPr>
          <p:cNvPr id="30" name="Picture 29" descr="dozer.png"/>
          <p:cNvPicPr>
            <a:picLocks noChangeAspect="1"/>
          </p:cNvPicPr>
          <p:nvPr/>
        </p:nvPicPr>
        <p:blipFill>
          <a:blip r:embed="rId5"/>
          <a:stretch>
            <a:fillRect/>
          </a:stretch>
        </p:blipFill>
        <p:spPr>
          <a:xfrm>
            <a:off x="14478000" y="6858000"/>
            <a:ext cx="2095500" cy="1287986"/>
          </a:xfrm>
          <a:prstGeom prst="rect">
            <a:avLst/>
          </a:prstGeom>
        </p:spPr>
      </p:pic>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